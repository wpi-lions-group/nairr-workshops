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7" r:id="rId2"/>
  </p:sldMasterIdLst>
  <p:notesMasterIdLst>
    <p:notesMasterId r:id="rId22"/>
  </p:notesMasterIdLst>
  <p:handoutMasterIdLst>
    <p:handoutMasterId r:id="rId23"/>
  </p:handoutMasterIdLst>
  <p:sldIdLst>
    <p:sldId id="256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456" userDrawn="1">
          <p15:clr>
            <a:srgbClr val="A4A3A4"/>
          </p15:clr>
        </p15:guide>
        <p15:guide id="5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CD95"/>
    <a:srgbClr val="46A0DC"/>
    <a:srgbClr val="B7A079"/>
    <a:srgbClr val="2C6A8C"/>
    <a:srgbClr val="000000"/>
    <a:srgbClr val="FFFFFF"/>
    <a:srgbClr val="6D6D6D"/>
    <a:srgbClr val="AB192D"/>
    <a:srgbClr val="C4122F"/>
    <a:srgbClr val="B2B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CAE3F-13B0-841E-A2EA-9E78A981068D}" v="202" dt="2026-01-09T14:15:46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3" autoAdjust="0"/>
    <p:restoredTop sz="83647" autoAdjust="0"/>
  </p:normalViewPr>
  <p:slideViewPr>
    <p:cSldViewPr snapToGrid="0" showGuides="1">
      <p:cViewPr>
        <p:scale>
          <a:sx n="71" d="100"/>
          <a:sy n="71" d="100"/>
        </p:scale>
        <p:origin x="216" y="248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49CD-19C8-44C0-A36B-1667EDB131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7A2D6-6A74-4789-8A27-67CDFFE8E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7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C511E-AA3B-43E3-B946-406AB5E4C4BB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4A049-8685-4352-9DC2-828F08FD54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5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9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64FA-E745-5CEA-91F4-5C37E65E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29A986-E226-48E7-B38C-EE5DAD834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2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14F08452-64B2-0141-43DC-48857BEBB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879D0EDA-F6B7-1BFE-330F-3365A5769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FDFD-D12E-B283-56BE-017ADA42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499342D-4175-4159-87EB-FBC8098EC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3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B82F622B-F8CE-142D-AE92-6A5A66CF6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8C1B91EC-9CDA-B3EF-657A-6BADCF9D5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003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5F93-D7E1-6025-455A-4926D9B0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64FD8F9-F7A8-87F0-2126-4AFECE7B4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4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082768FF-3FDB-656C-6B85-1FB41862F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9DA84450-FC22-77AA-8D7B-E0C92D409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altLang="zh-CN" dirty="0"/>
              <a:t>In this notebook, we move from hardware concepts to software implementation. As you run the code, notice the </a:t>
            </a:r>
            <a:r>
              <a:rPr lang="en-US" altLang="zh-CN" b="1" dirty="0"/>
              <a:t>'Occlusion'</a:t>
            </a:r>
            <a:r>
              <a:rPr lang="en-US" altLang="zh-CN" dirty="0"/>
              <a:t> effect: the LiDAR cannot see behind obstacles, creating blind spots (shadows). This raw geometric data — the </a:t>
            </a:r>
            <a:r>
              <a:rPr lang="en-US" altLang="zh-CN" b="1" dirty="0"/>
              <a:t>Green Dots</a:t>
            </a:r>
            <a:r>
              <a:rPr lang="en-US" altLang="zh-CN" dirty="0"/>
              <a:t> — is the foundation of our next two modules: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2 — Obstacle Awareness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LiDAR points illustrate how autonomous systems identify geometry, detect obstacles, and reason about free space.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3 — Reinforcement Learning (Conceptual Bridge)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real autonomous systems, LiDAR data can be converted into state representations for AI-driven navigation.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our workshop, we will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simulate this idea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a training environment where the agent learns to avoid collisions through trial-and-error.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72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B661-2B08-7AAB-B87C-320281E8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13DF8-73D4-024F-9AB3-9A2AB314E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5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2B4DB4E6-568E-C75B-D8A9-6648D13657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64129E2C-F81C-725C-DF14-055223278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43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29E0-7B9F-F36E-5B11-6192E17B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CC49A89-F9FB-BD99-0F23-2FBA852A16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6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67532010-CCF6-4914-CB02-99364CF6F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E80DD4B7-FB34-4D35-E64B-2AE35BFCE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97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0D7F-41A3-F010-F0C7-22CFCF2A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EA9C507-DFED-4275-5713-270D78470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7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AFFEE6ED-BD5E-44A4-595C-2F076FFB7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97BA127A-314A-BAF0-BB2A-1712A8494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18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33E8-DC38-DF56-ADD2-CB608812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2534B1F-A6FD-CA48-2018-6F1643480C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8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5BFD8033-85A0-ADB1-8574-A19ABCDF8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E92FEDDC-8122-C269-1271-6AFC8151D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33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00E7-6881-4E72-3F8C-D1DE787F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ED3267A-1244-E09D-EAA7-EB842EA742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9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34E6634B-0193-D423-2299-600262CCEE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5F4E9A5A-8F6E-1D94-4272-73C92A1192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80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E1DC-CF06-5901-0BB2-4673E233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B9331DF-78E7-DB68-ACDF-6E2BD71EDB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10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7BFC4EDB-6060-B639-8511-97EA86AA7D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6AF0AEA3-B28B-E7EB-63FF-16F556FF4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302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46EB2-0A9F-523D-A890-9F0EE071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B27A947-2AF8-012B-7E6D-3FDF5817AF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E4EEC-242E-4699-A735-AC67A337252C}" type="slidenum">
              <a:rPr lang="en-US"/>
              <a:pPr/>
              <a:t>11</a:t>
            </a:fld>
            <a:endParaRPr 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2EE3031C-9431-25CA-3DFF-633A81702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EDAB5F5D-9287-E60B-17C3-33ECC498A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5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eyWatermark-2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49092" y="2703302"/>
            <a:ext cx="4242908" cy="4154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537925"/>
            <a:ext cx="9144000" cy="1524001"/>
          </a:xfrm>
        </p:spPr>
        <p:txBody>
          <a:bodyPr>
            <a:no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0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2">
    <p:bg>
      <p:bgPr>
        <a:solidFill>
          <a:srgbClr val="A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537925"/>
            <a:ext cx="9144000" cy="152400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6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215900" dist="76200" dir="54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</p:spPr>
        <p:txBody>
          <a:bodyPr anchor="b" anchorCtr="0"/>
          <a:lstStyle>
            <a:lvl1pPr algn="l">
              <a:defRPr lang="en-US" sz="4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25475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 descr="greyWatermark-2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49092" y="2703302"/>
            <a:ext cx="4242908" cy="4154698"/>
          </a:xfrm>
          <a:prstGeom prst="rect">
            <a:avLst/>
          </a:prstGeom>
        </p:spPr>
      </p:pic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0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" y="6391657"/>
            <a:ext cx="612396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709" y="1524001"/>
            <a:ext cx="7058691" cy="46481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447147" y="3581135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3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" y="1524000"/>
            <a:ext cx="7823200" cy="4648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737600" y="1524000"/>
            <a:ext cx="2844800" cy="4648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9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31" y="1066834"/>
            <a:ext cx="4459738" cy="4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59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64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5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1331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70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494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20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4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2795" y="6391657"/>
            <a:ext cx="61239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062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709" y="1524001"/>
            <a:ext cx="7058691" cy="46481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447147" y="3581135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45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" y="1524000"/>
            <a:ext cx="78232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737600" y="1524000"/>
            <a:ext cx="2844800" cy="4648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7920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31" y="1066834"/>
            <a:ext cx="4459738" cy="4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387664"/>
            <a:ext cx="609600" cy="394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315200" y="6400800"/>
            <a:ext cx="4470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Worcester Polytechnic Institute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63" r:id="rId3"/>
    <p:sldLayoutId id="2147483695" r:id="rId4"/>
    <p:sldLayoutId id="2147483664" r:id="rId5"/>
    <p:sldLayoutId id="2147483665" r:id="rId6"/>
    <p:sldLayoutId id="2147483666" r:id="rId7"/>
    <p:sldLayoutId id="2147483667" r:id="rId8"/>
    <p:sldLayoutId id="2147483683" r:id="rId9"/>
    <p:sldLayoutId id="2147483696" r:id="rId10"/>
    <p:sldLayoutId id="2147483708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1200"/>
        </a:spcBef>
        <a:buClr>
          <a:schemeClr val="bg2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94360" indent="-27432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Verdana" pitchFamily="34" charset="0"/>
        <a:buChar char="─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6868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1430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Courier New" pitchFamily="49" charset="0"/>
        <a:buChar char="o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716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391657"/>
            <a:ext cx="609600" cy="3139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315200" y="6400800"/>
            <a:ext cx="4470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Worcester Polytechnic Institute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9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1200"/>
        </a:spcBef>
        <a:buClr>
          <a:schemeClr val="bg2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94360" indent="-27432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Verdana" pitchFamily="34" charset="0"/>
        <a:buChar char="─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6868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1430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Courier New" pitchFamily="49" charset="0"/>
        <a:buChar char="o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716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5693" y="2418348"/>
            <a:ext cx="12420601" cy="1519989"/>
          </a:xfrm>
        </p:spPr>
        <p:txBody>
          <a:bodyPr/>
          <a:lstStyle/>
          <a:p>
            <a:r>
              <a:rPr lang="en-US" altLang="zh-CN" sz="3600" dirty="0"/>
              <a:t>AI-Enabled</a:t>
            </a:r>
            <a:r>
              <a:rPr lang="zh-CN" altLang="en-US" sz="3600" dirty="0"/>
              <a:t> </a:t>
            </a:r>
            <a:r>
              <a:rPr lang="en-US" altLang="zh-CN" sz="3600" dirty="0"/>
              <a:t>Sensing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Controlling</a:t>
            </a:r>
            <a:br>
              <a:rPr lang="en-US" altLang="zh-CN" sz="3600" dirty="0"/>
            </a:br>
            <a:endParaRPr 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09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52143-F380-D20D-1BEF-1FC41599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"/>
                <a:ea typeface="Verdana"/>
              </a:rPr>
              <a:t>The Jist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74DE4-22D1-C583-966D-CE8807B5D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pPr marL="0" indent="0">
              <a:buNone/>
            </a:pPr>
            <a:r>
              <a:rPr lang="en-US" b="1">
                <a:latin typeface="Verdana"/>
                <a:ea typeface="Verdana"/>
              </a:rPr>
              <a:t>AI-Enabled Sensing and Controlling</a:t>
            </a:r>
            <a:r>
              <a:rPr lang="en-US">
                <a:latin typeface="Verdana"/>
                <a:ea typeface="Verdana"/>
              </a:rPr>
              <a:t> refers to using artificial intelligence to perceive the environment (sensing) and make decisions/take actions (controlling) based on that perception.</a:t>
            </a:r>
            <a:endParaRPr lang="en-US"/>
          </a:p>
          <a:p>
            <a:endParaRPr lang="en-US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1158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1C95-4DC7-D7C6-8BB1-070F402B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Sensing Component: Camera-Based Perception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92C40-8985-58AE-78E9-6E364B2AF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/>
              <a:t>What the Camera "Sees":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Object Detection:</a:t>
            </a:r>
            <a:r>
              <a:rPr lang="en-US">
                <a:latin typeface="Verdana"/>
                <a:ea typeface="Verdana"/>
              </a:rPr>
              <a:t> Identifying and localizing vehicles, pedestrians, cyclists, traffic signs, lane markings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Classification:</a:t>
            </a:r>
            <a:r>
              <a:rPr lang="en-US">
                <a:latin typeface="Verdana"/>
                <a:ea typeface="Verdana"/>
              </a:rPr>
              <a:t> Determining object types (car, truck, motorcycle, bus)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Tracking:</a:t>
            </a:r>
            <a:r>
              <a:rPr lang="en-US">
                <a:latin typeface="Verdana"/>
                <a:ea typeface="Verdana"/>
              </a:rPr>
              <a:t> Following objects across frames to understand motion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Depth Estimation:</a:t>
            </a:r>
            <a:r>
              <a:rPr lang="en-US">
                <a:latin typeface="Verdana"/>
                <a:ea typeface="Verdana"/>
              </a:rPr>
              <a:t> Understanding distance to objects (monocular or stereo cameras)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Verdana"/>
                <a:ea typeface="Verdana"/>
              </a:rPr>
              <a:t>Segmentation:</a:t>
            </a:r>
            <a:r>
              <a:rPr lang="en-US" dirty="0">
                <a:solidFill>
                  <a:srgbClr val="000000"/>
                </a:solidFill>
                <a:latin typeface="Verdana"/>
                <a:ea typeface="Verdana"/>
              </a:rPr>
              <a:t> </a:t>
            </a:r>
            <a:r>
              <a:rPr lang="en-US">
                <a:latin typeface="Verdana"/>
                <a:ea typeface="Verdana"/>
              </a:rPr>
              <a:t>Pixel-level understanding of drivable areas, obstacles, sky, etc.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3C89B-B1D1-5EFF-11A8-406D4777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B0EE2-B596-E435-ABEE-54D81E59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16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0C39-0562-2CE2-2AF4-B82503B8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FDD9-D0E6-6DA0-52FE-F9FDE54E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Sensing Component: Camera-Based Perception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F6B5-1DB1-0301-5F06-7B489180B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Verdana"/>
                <a:ea typeface="Verdana"/>
              </a:rPr>
              <a:t>AI Models Used:</a:t>
            </a:r>
            <a:endParaRPr lang="en-US" dirty="0">
              <a:latin typeface="Verdana"/>
              <a:ea typeface="Verdana"/>
            </a:endParaRP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Convolutional Neural Networks (CNNs):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Extract visual features from camera images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YOLOv3, Faster R-CNN, MobileNet for object detection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Process images at 30+ FPS for real-time operation</a:t>
            </a:r>
            <a:endParaRPr lang="en-US"/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Multi-Task Networks: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Simultaneously detect objects, lanes, and traffic signs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Efficient for embedded automotive hardware</a:t>
            </a:r>
            <a:endParaRPr lang="en-US"/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Temporal Models (RNNs/Transformers):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Track objects across video frames</a:t>
            </a:r>
            <a:endParaRPr lang="en-US"/>
          </a:p>
          <a:p>
            <a:pPr lvl="2">
              <a:buFont typeface="Wingdings" pitchFamily="34" charset="0"/>
              <a:buChar char="§"/>
            </a:pPr>
            <a:r>
              <a:rPr lang="en-US">
                <a:latin typeface="Verdana"/>
                <a:ea typeface="Verdana"/>
              </a:rPr>
              <a:t>Predict future trajectories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68C7B-F8DC-F0D3-78B4-C0500B20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9E3D8-967C-9DF1-5EDF-E0E0C666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59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9D94-1E5A-C3B3-95C8-7BE18B946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DDB0-7D8D-0403-F5B3-10E2ECFC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Sensing Component: Camera-Based Perception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DF71-2136-6B2A-E044-BA0ECD00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Key Advantages: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Cost-effective:</a:t>
            </a:r>
            <a:r>
              <a:rPr lang="en-US">
                <a:latin typeface="Verdana"/>
                <a:ea typeface="Verdana"/>
              </a:rPr>
              <a:t> Cameras are cheaper than LiDAR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Rich information:</a:t>
            </a:r>
            <a:r>
              <a:rPr lang="en-US">
                <a:latin typeface="Verdana"/>
                <a:ea typeface="Verdana"/>
              </a:rPr>
              <a:t> Color, texture, text on signs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Proven technology:</a:t>
            </a:r>
            <a:r>
              <a:rPr lang="en-US">
                <a:latin typeface="Verdana"/>
                <a:ea typeface="Verdana"/>
              </a:rPr>
              <a:t> Mature computer vision algorithms</a:t>
            </a:r>
          </a:p>
          <a:p>
            <a:pPr lvl="1"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Passive sensing:</a:t>
            </a:r>
            <a:r>
              <a:rPr lang="en-US">
                <a:latin typeface="Verdana"/>
                <a:ea typeface="Verdana"/>
              </a:rPr>
              <a:t> No active emissions needed</a:t>
            </a:r>
          </a:p>
          <a:p>
            <a:r>
              <a:rPr lang="en-US">
                <a:latin typeface="Verdana"/>
                <a:ea typeface="Verdana"/>
              </a:rPr>
              <a:t>Challenges:</a:t>
            </a:r>
            <a:endParaRPr lang="en-US" dirty="0">
              <a:latin typeface="Verdana"/>
              <a:ea typeface="Verdana"/>
            </a:endParaRPr>
          </a:p>
          <a:p>
            <a:pPr lvl="1">
              <a:spcBef>
                <a:spcPts val="600"/>
              </a:spcBef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Weather sensitivity:</a:t>
            </a:r>
            <a:r>
              <a:rPr lang="en-US">
                <a:latin typeface="Verdana"/>
                <a:ea typeface="Verdana"/>
              </a:rPr>
              <a:t> Rain, fog, glare affect performance</a:t>
            </a:r>
          </a:p>
          <a:p>
            <a:pPr lvl="1">
              <a:spcBef>
                <a:spcPts val="600"/>
              </a:spcBef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Lighting conditions:</a:t>
            </a:r>
            <a:r>
              <a:rPr lang="en-US">
                <a:latin typeface="Verdana"/>
                <a:ea typeface="Verdana"/>
              </a:rPr>
              <a:t> Shadows, night driving, backlighting</a:t>
            </a:r>
          </a:p>
          <a:p>
            <a:pPr lvl="1">
              <a:spcBef>
                <a:spcPts val="600"/>
              </a:spcBef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Depth ambiguity:</a:t>
            </a:r>
            <a:r>
              <a:rPr lang="en-US">
                <a:latin typeface="Verdana"/>
                <a:ea typeface="Verdana"/>
              </a:rPr>
              <a:t> Harder to judge exact distances than LiDAR</a:t>
            </a:r>
          </a:p>
          <a:p>
            <a:pPr lvl="1">
              <a:spcBef>
                <a:spcPts val="600"/>
              </a:spcBef>
              <a:buFont typeface="Arial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Adversarial vulnerability:</a:t>
            </a:r>
            <a:r>
              <a:rPr lang="en-US">
                <a:latin typeface="Verdana"/>
                <a:ea typeface="Verdana"/>
              </a:rPr>
              <a:t> Susceptible to attacks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BC90E-2992-4934-23C9-15E7F6056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1981A-1EF2-6719-5B9D-0FDD0C16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5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59CE-0FC4-DFA7-C2EB-7B577C5C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Controlling Component: Decision Making &amp; Actuation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210A-7C2E-FFC5-33A6-2B603D4E9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>
                <a:latin typeface="Verdana"/>
                <a:ea typeface="Verdana"/>
              </a:rPr>
              <a:t>Perception to Action Pipeline:</a:t>
            </a:r>
            <a:endParaRPr lang="en-US"/>
          </a:p>
          <a:p>
            <a:pPr marL="320040" lvl="1" indent="0">
              <a:buNone/>
            </a:pPr>
            <a:r>
              <a:rPr lang="en-US">
                <a:latin typeface="Verdana"/>
                <a:ea typeface="Verdana"/>
              </a:rPr>
              <a:t>Camera → AI Detection → Scene Understanding → Decision Logic → Vehicle Control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1. Scene Understanding: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Fuse detections from multiple cameras (360° coverage)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Build occupancy grid or semantic map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Identify critical objects (e.g., vehicles in collision path)</a:t>
            </a:r>
          </a:p>
          <a:p>
            <a:r>
              <a:rPr lang="en-US">
                <a:latin typeface="Verdana"/>
                <a:ea typeface="Verdana"/>
              </a:rPr>
              <a:t>2. Decision Making: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Path Planning: Determine safe trajectory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Behavior Planning: Decide to slow down, change lanes, stop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Threat Assessment: Prioritize objects by collision risk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Rule Compliance: Follow traffic laws</a:t>
            </a:r>
          </a:p>
          <a:p>
            <a:r>
              <a:rPr lang="en-US">
                <a:latin typeface="Verdana"/>
                <a:ea typeface="Verdana"/>
              </a:rPr>
              <a:t>3. Control Execution: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Longitudinal Control: Acceleration/braking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Lateral Control: Steering adjustments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Emergency Response: Automatic emergency braking (AEB)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B0EBE-72AA-5CEE-C221-91A3A4FD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EB0BC-22B3-CD1C-A537-30CA875A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4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EA22-600F-AB4B-8676-89E6B180F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4453-293D-9D89-67D4-16839280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Controlling Component: Decision Making &amp; Actuation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7496-F426-BC93-3250-846BE121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75000"/>
              </a:lnSpc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AI Control Strategies:</a:t>
            </a:r>
            <a:endParaRPr lang="en-US" dirty="0">
              <a:solidFill>
                <a:srgbClr val="000000"/>
              </a:solidFill>
              <a:latin typeface="Verdana"/>
              <a:ea typeface="Verdana"/>
            </a:endParaRPr>
          </a:p>
          <a:p>
            <a:pPr lvl="1">
              <a:lnSpc>
                <a:spcPct val="75000"/>
              </a:lnSpc>
              <a:buFont typeface="Arial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Rule-Based Control: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If vehicle detected &lt; 10m ahead → Apply brakes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If lane marking crossed → Steer back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Transparent, verifiable, but limited flexibility</a:t>
            </a:r>
            <a:endParaRPr lang="en-US"/>
          </a:p>
          <a:p>
            <a:pPr lvl="1">
              <a:lnSpc>
                <a:spcPct val="75000"/>
              </a:lnSpc>
              <a:buFont typeface="Arial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Learning-Based Control: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Imitation Learning: Learn from human drivers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Reinforcement Learning: Optimize driving policies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End-to-End Learning: Direct camera-to-control mapping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More adaptive but harder to validate for safety</a:t>
            </a:r>
            <a:endParaRPr lang="en-US"/>
          </a:p>
          <a:p>
            <a:pPr lvl="1">
              <a:lnSpc>
                <a:spcPct val="75000"/>
              </a:lnSpc>
              <a:buFont typeface="Arial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Hybrid Approaches (Most Common):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AI for perception and prediction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Validated algorithms for control</a:t>
            </a:r>
            <a:endParaRPr lang="en-US"/>
          </a:p>
          <a:p>
            <a:pPr lvl="2">
              <a:lnSpc>
                <a:spcPct val="75000"/>
              </a:lnSpc>
              <a:buFont typeface="Wingdings" pitchFamily="34" charset="0"/>
              <a:buChar char="§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Human-interpretable decision logic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F7452-E786-2D04-25C2-447F89FD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BADCD-6781-FAD7-64D7-AAF4F48B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72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5301-ACA8-214B-4736-A6B2FFC5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B5B03-2F51-7FC4-62F9-5B8E24466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ADAS (Advanced Driver Assistance Systems):</a:t>
            </a:r>
          </a:p>
          <a:p>
            <a:r>
              <a:rPr lang="en-US">
                <a:latin typeface="Verdana"/>
                <a:ea typeface="Verdana"/>
              </a:rPr>
              <a:t>Adaptive Cruise Control (ACC):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Camera detects lead vehicle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Maintains safe following distance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Adjusts speed automatically</a:t>
            </a:r>
          </a:p>
          <a:p>
            <a:r>
              <a:rPr lang="en-US">
                <a:latin typeface="Verdana"/>
                <a:ea typeface="Verdana"/>
              </a:rPr>
              <a:t>Automatic Emergency Braking (AEB):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Detects imminent collision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Warns driver, then brakes if no response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Critical safety feature in modern vehicles</a:t>
            </a:r>
          </a:p>
          <a:p>
            <a:r>
              <a:rPr lang="en-US">
                <a:latin typeface="Verdana"/>
                <a:ea typeface="Verdana"/>
              </a:rPr>
              <a:t>Lane Keeping Assist (LKA):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Cameras detect lane markings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Gently steers to keep vehicle centered</a:t>
            </a:r>
          </a:p>
          <a:p>
            <a:pPr lvl="1"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Prevents unintentional lane departure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F23CC-E208-7495-C7B3-CEE3832CD5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>
                <a:latin typeface="Verdana"/>
                <a:ea typeface="Verdana"/>
              </a:rPr>
              <a:t>Blind Spot Detection:</a:t>
            </a:r>
            <a:endParaRPr lang="en-US" dirty="0">
              <a:latin typeface="Verdana"/>
              <a:ea typeface="Verdana"/>
            </a:endParaRPr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Side cameras monitor adjacent lanes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Alerts driver to vehicles in blind spots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Traffic Sign Recognition: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Reads speed limits, stop signs, yield signs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latin typeface="Verdana"/>
                <a:ea typeface="Verdana"/>
              </a:rPr>
              <a:t>Displays to driver or adjusts cruise control</a:t>
            </a:r>
          </a:p>
          <a:p>
            <a:pPr>
              <a:lnSpc>
                <a:spcPct val="120000"/>
              </a:lnSpc>
            </a:pPr>
            <a:r>
              <a:rPr lang="en-US">
                <a:latin typeface="Verdana"/>
                <a:ea typeface="Verdana"/>
              </a:rPr>
              <a:t>Autonomous Driving Levels:</a:t>
            </a:r>
          </a:p>
          <a:p>
            <a:pPr marL="594360"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Verdana"/>
                <a:ea typeface="Verdana"/>
              </a:rPr>
              <a:t>Level 2 (Tesla Autopilot, GM Super Cruise):</a:t>
            </a: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 </a:t>
            </a:r>
            <a:r>
              <a:rPr lang="en-US" sz="2000">
                <a:solidFill>
                  <a:srgbClr val="000000"/>
                </a:solidFill>
                <a:latin typeface="Verdana"/>
                <a:ea typeface="Verdana"/>
              </a:rPr>
              <a:t>Camera-based partial automation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Level 3+: Cameras + LiDAR + Radar for redundancy</a:t>
            </a:r>
            <a:endParaRPr lang="en-US"/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Verdana"/>
                <a:ea typeface="Verdana"/>
              </a:rPr>
              <a:t>Tesla's Approach: Camera-only "vision" system(controversial in industry)</a:t>
            </a:r>
            <a:endParaRPr lang="en-US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B3F74-D31D-FD19-F823-634AC73E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0C7D2-8DD0-C2C7-5105-DC81BE57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24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1FD1-295F-ECE8-80A4-D4DB383A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 Example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690448E-7BD5-5793-5E5D-C2BEFFE32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9403" y="1524000"/>
            <a:ext cx="3693193" cy="46482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50261-8E7C-3892-D161-9D7B320F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B10B5-A92A-28A8-3579-C93410E0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1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E8A1-81CD-32C6-CC6A-85700EED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BAB36004-90C6-1CEF-8CB8-22D9870B6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How LiDAR Lets Robots “See” the World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D6D9F-8930-116B-9B86-450C0035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2" name="Picture 2" descr="The hardware components of the Waymo Driver mounted on the roof of a Jaguar I-Pace SUV ride-hailing vehicle operated by Waymo.">
            <a:extLst>
              <a:ext uri="{FF2B5EF4-FFF2-40B4-BE49-F238E27FC236}">
                <a16:creationId xmlns:a16="http://schemas.microsoft.com/office/drawing/2014/main" id="{DCCA3733-29C1-0077-E853-42C92939D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60" y="2080109"/>
            <a:ext cx="4664150" cy="26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B0157A9-9B12-CAE1-B4A6-FC3DD4E58C2C}"/>
              </a:ext>
            </a:extLst>
          </p:cNvPr>
          <p:cNvSpPr txBox="1"/>
          <p:nvPr/>
        </p:nvSpPr>
        <p:spPr>
          <a:xfrm>
            <a:off x="609599" y="1436632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From Raw Data to Intelligence.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513BC1D-F12C-7BEE-3B67-DCE7ED390D6B}"/>
                  </a:ext>
                </a:extLst>
              </p:cNvPr>
              <p:cNvSpPr txBox="1"/>
              <p:nvPr/>
            </p:nvSpPr>
            <p:spPr>
              <a:xfrm>
                <a:off x="5823284" y="2051254"/>
                <a:ext cx="6100010" cy="1812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400" b="1" dirty="0">
                    <a:effectLst/>
                  </a:rPr>
                  <a:t>What is LiDAR?</a:t>
                </a:r>
                <a:endParaRPr lang="en-US" altLang="zh-CN" sz="1400" dirty="0">
                  <a:effectLst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sz="1400" dirty="0">
                    <a:effectLst/>
                  </a:rPr>
                  <a:t>Stands for </a:t>
                </a:r>
                <a:r>
                  <a:rPr lang="en-US" altLang="zh-CN" sz="1400" b="1" dirty="0">
                    <a:effectLst/>
                  </a:rPr>
                  <a:t>Light Detection and Ranging</a:t>
                </a:r>
                <a:r>
                  <a:rPr lang="en-US" altLang="zh-CN" sz="1400" dirty="0">
                    <a:effectLst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sz="1400" b="1" dirty="0" err="1">
                    <a:effectLst/>
                  </a:rPr>
                  <a:t>ToF</a:t>
                </a:r>
                <a:r>
                  <a:rPr lang="en-US" altLang="zh-CN" sz="1400" b="1" dirty="0">
                    <a:effectLst/>
                  </a:rPr>
                  <a:t> (Time of Flight) Principle:</a:t>
                </a:r>
                <a:r>
                  <a:rPr lang="en-US" altLang="zh-CN" sz="1400" dirty="0">
                    <a:effectLst/>
                  </a:rPr>
                  <a:t> The sensor emits a laser pulse and measures the time </a:t>
                </a:r>
                <a14:m>
                  <m:oMath xmlns:m="http://schemas.openxmlformats.org/officeDocument/2006/math">
                    <m:r>
                      <a:rPr lang="en-US" altLang="zh-CN" sz="1400" b="0" i="0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400" i="0" dirty="0" smtClean="0">
                        <a:effectLst/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400" dirty="0">
                    <a:effectLst/>
                  </a:rPr>
                  <a:t>it takes to bounce back.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sz="1400" b="1" dirty="0">
                    <a:effectLst/>
                  </a:rPr>
                  <a:t>Formula:</a:t>
                </a:r>
                <a:r>
                  <a:rPr lang="en-US" altLang="zh-CN" sz="1400" dirty="0"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i="1" dirty="0" smtClean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400" i="1" dirty="0" smtClean="0">
                            <a:effectLst/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zh-CN" sz="1400" i="0" dirty="0" smtClean="0">
                            <a:effectLst/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40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1400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400" dirty="0">
                    <a:effectLst/>
                  </a:rPr>
                  <a:t> (where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1400" dirty="0">
                    <a:effectLst/>
                  </a:rPr>
                  <a:t> is the speed of light).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513BC1D-F12C-7BEE-3B67-DCE7ED390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284" y="2051254"/>
                <a:ext cx="6100010" cy="1812419"/>
              </a:xfrm>
              <a:prstGeom prst="rect">
                <a:avLst/>
              </a:prstGeom>
              <a:blipFill>
                <a:blip r:embed="rId4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">
            <a:extLst>
              <a:ext uri="{FF2B5EF4-FFF2-40B4-BE49-F238E27FC236}">
                <a16:creationId xmlns:a16="http://schemas.microsoft.com/office/drawing/2014/main" id="{44D07A45-61D6-5675-3347-7822668F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60" y="4977838"/>
            <a:ext cx="7657224" cy="1202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Advantage: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Active Sensing: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Works in total darkness (unlike cameras).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 Depth: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centimeter-level 3D geometry immediately.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Real-world Use: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backbone of Self-Driving Cars, Warehouse Robots (AGVs), and Drones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950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7DCE-FCE8-D89D-0281-F96C5140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D1EBA801-BC0C-D735-89E5-94417A85A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Data Representation: The Point Cloud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1660B-7ACC-8CB8-FFDF-978F0FFF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283CB7-7115-B797-2E9C-A22B823D85A4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BC2AEA-E236-F0B8-5A24-CE62260B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051254"/>
            <a:ext cx="5826668" cy="27443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377AA3-7352-DA99-61D9-827A1B3EFC90}"/>
              </a:ext>
            </a:extLst>
          </p:cNvPr>
          <p:cNvSpPr txBox="1"/>
          <p:nvPr/>
        </p:nvSpPr>
        <p:spPr>
          <a:xfrm>
            <a:off x="609599" y="1436632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From Beams</a:t>
            </a:r>
            <a:r>
              <a:rPr lang="zh-CN" altLang="en-US" b="1" dirty="0"/>
              <a:t> </a:t>
            </a:r>
            <a:r>
              <a:rPr lang="en-US" altLang="zh-CN" b="1" dirty="0"/>
              <a:t>to</a:t>
            </a:r>
            <a:r>
              <a:rPr lang="zh-CN" altLang="en-US" b="1" dirty="0"/>
              <a:t> </a:t>
            </a:r>
            <a:r>
              <a:rPr lang="en-US" altLang="zh-CN" b="1" dirty="0"/>
              <a:t>Points.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C87E14F-4E81-C431-C6C0-E5C43A6B9737}"/>
                  </a:ext>
                </a:extLst>
              </p:cNvPr>
              <p:cNvSpPr txBox="1"/>
              <p:nvPr/>
            </p:nvSpPr>
            <p:spPr>
              <a:xfrm>
                <a:off x="6713837" y="2051254"/>
                <a:ext cx="4992889" cy="1341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400" b="1" dirty="0">
                    <a:effectLst/>
                  </a:rPr>
                  <a:t>The "Point Cloud":</a:t>
                </a:r>
                <a:endParaRPr lang="en-US" altLang="zh-CN" sz="1400" dirty="0">
                  <a:effectLst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effectLst/>
                  </a:rPr>
                  <a:t>The output isn't a photo; it’s a collection of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 dirty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i="1" dirty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400" i="1" dirty="0" smtClean="0"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400" dirty="0">
                    <a:effectLst/>
                  </a:rPr>
                  <a:t>coordinates.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effectLst/>
                  </a:rPr>
                  <a:t>It represents the </a:t>
                </a:r>
                <a:r>
                  <a:rPr lang="en-US" altLang="zh-CN" sz="1400" b="1" dirty="0">
                    <a:effectLst/>
                  </a:rPr>
                  <a:t>physical skeleton</a:t>
                </a:r>
                <a:r>
                  <a:rPr lang="en-US" altLang="zh-CN" sz="1400" dirty="0">
                    <a:effectLst/>
                  </a:rPr>
                  <a:t> of the world.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C87E14F-4E81-C431-C6C0-E5C43A6B9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837" y="2051254"/>
                <a:ext cx="4992889" cy="1341393"/>
              </a:xfrm>
              <a:prstGeom prst="rect">
                <a:avLst/>
              </a:prstGeom>
              <a:blipFill>
                <a:blip r:embed="rId4"/>
                <a:stretch>
                  <a:fillRect l="-254" b="-3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C8FD1770-B9F6-3932-D331-F424FA63689C}"/>
              </a:ext>
            </a:extLst>
          </p:cNvPr>
          <p:cNvSpPr txBox="1"/>
          <p:nvPr/>
        </p:nvSpPr>
        <p:spPr>
          <a:xfrm>
            <a:off x="609598" y="5074039"/>
            <a:ext cx="9268327" cy="88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b="1" dirty="0"/>
              <a:t>Critical Concepts: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/>
              <a:t>Occlusion:</a:t>
            </a:r>
            <a:r>
              <a:rPr lang="en-US" altLang="zh-CN" sz="1200" dirty="0"/>
              <a:t> LiDAR cannot see through walls—it creates "shadows" behind objects.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/>
              <a:t>Sparsity:</a:t>
            </a:r>
            <a:r>
              <a:rPr lang="en-US" altLang="zh-CN" sz="1200" dirty="0"/>
              <a:t> The further the object, the fewer points we collect.</a:t>
            </a:r>
          </a:p>
        </p:txBody>
      </p:sp>
    </p:spTree>
    <p:extLst>
      <p:ext uri="{BB962C8B-B14F-4D97-AF65-F5344CB8AC3E}">
        <p14:creationId xmlns:p14="http://schemas.microsoft.com/office/powerpoint/2010/main" val="122820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72A0-A0AC-688B-724B-C93103E3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4A7EE253-BCD7-E55A-E45F-850931BFB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Hands-on Simulation — Building the LiDAR Engine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D2E9B-3436-C31F-2F9A-948F94DC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063B5D-A97F-EB9F-9000-E2E64470C6BB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0325591-FC8D-8B6B-0E11-CB08443F7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1660358"/>
            <a:ext cx="4191001" cy="41014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9B12913-227A-F0B9-54E2-6D61F54C845E}"/>
              </a:ext>
            </a:extLst>
          </p:cNvPr>
          <p:cNvSpPr txBox="1"/>
          <p:nvPr/>
        </p:nvSpPr>
        <p:spPr>
          <a:xfrm>
            <a:off x="4800599" y="1660358"/>
            <a:ext cx="7291138" cy="130606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/>
              <a:t>1. Environment Modeling (The "Digital Twin")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Virtual Space</a:t>
            </a:r>
            <a:r>
              <a:rPr lang="en-US" altLang="zh-CN" sz="1400" dirty="0"/>
              <a:t>: A 2D coordinate system representing an 18 x 18 warehouse.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Dynamic Obstacles</a:t>
            </a:r>
            <a:r>
              <a:rPr lang="en-US" altLang="zh-CN" sz="1400" dirty="0"/>
              <a:t>: Randomized generation of</a:t>
            </a:r>
            <a:r>
              <a:rPr lang="zh-CN" altLang="en-US" sz="1400" dirty="0"/>
              <a:t> </a:t>
            </a:r>
            <a:r>
              <a:rPr lang="en-US" altLang="zh-CN" sz="1400" dirty="0"/>
              <a:t>polygonal obstacles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using the shapely library to mimic real-world hazards like crates or pillars.</a:t>
            </a:r>
          </a:p>
          <a:p>
            <a:pPr algn="ctr">
              <a:lnSpc>
                <a:spcPct val="150000"/>
              </a:lnSpc>
            </a:pPr>
            <a:endParaRPr kumimoji="1" lang="zh-CN" altLang="en-US" sz="1400" dirty="0" err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E8AA8B-1A15-9D9E-CD50-C7D0A14CCACB}"/>
              </a:ext>
            </a:extLst>
          </p:cNvPr>
          <p:cNvSpPr txBox="1"/>
          <p:nvPr/>
        </p:nvSpPr>
        <p:spPr>
          <a:xfrm>
            <a:off x="4800598" y="3212432"/>
            <a:ext cx="7391401" cy="231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400" b="1" dirty="0"/>
              <a:t>2. The Ray Casting Engine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360° Scanning</a:t>
            </a:r>
            <a:r>
              <a:rPr lang="en-US" altLang="zh-CN" sz="1400" dirty="0"/>
              <a:t>: Simulating a hardware sensor by firing 360 virtual laser beams (1 beam per degree).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Geometric Intersection</a:t>
            </a:r>
            <a:r>
              <a:rPr lang="en-US" altLang="zh-CN" sz="1400" dirty="0"/>
              <a:t>: Using </a:t>
            </a:r>
            <a:r>
              <a:rPr lang="en-US" altLang="zh-CN" sz="1400" dirty="0" err="1"/>
              <a:t>shapely.geometry</a:t>
            </a:r>
            <a:r>
              <a:rPr lang="en-US" altLang="zh-CN" sz="1400" dirty="0"/>
              <a:t> to calculate exact mathematical intersections between laser rays and obstacle boundaries.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Range Extraction</a:t>
            </a:r>
            <a:r>
              <a:rPr lang="en-US" altLang="zh-CN" sz="1400" dirty="0"/>
              <a:t>: Determining the precise distance by identifying the nearest intersection point for each beam.</a:t>
            </a:r>
          </a:p>
        </p:txBody>
      </p:sp>
    </p:spTree>
    <p:extLst>
      <p:ext uri="{BB962C8B-B14F-4D97-AF65-F5344CB8AC3E}">
        <p14:creationId xmlns:p14="http://schemas.microsoft.com/office/powerpoint/2010/main" val="535117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9602-E7C6-6E27-F6AA-A99EB508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24991A0F-18CC-7974-6994-3BE9CE852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Turning LiDAR Data into Perception &amp; Planning</a:t>
            </a:r>
            <a:endParaRPr lang="en-US" altLang="zh-CN" sz="24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64B19-B46B-7887-9EC4-B2D4ACF7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5463F7-F55F-F035-8D35-5D4CD793B006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BFB832E3-9E4D-688C-0939-C1E6A66EE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051254"/>
            <a:ext cx="4374146" cy="32806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7E91FA1-74F6-5A4C-E072-2A0BF1C260FA}"/>
              </a:ext>
            </a:extLst>
          </p:cNvPr>
          <p:cNvSpPr txBox="1"/>
          <p:nvPr/>
        </p:nvSpPr>
        <p:spPr>
          <a:xfrm>
            <a:off x="609599" y="1436632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From Sensing</a:t>
            </a:r>
            <a:r>
              <a:rPr lang="zh-CN" altLang="en-US" b="1" dirty="0"/>
              <a:t> </a:t>
            </a:r>
            <a:r>
              <a:rPr lang="en-US" altLang="zh-CN" b="1" dirty="0"/>
              <a:t>to Intelligence.</a:t>
            </a:r>
            <a:endParaRPr lang="zh-CN" altLang="en-US" b="1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F481833-EB43-0EF5-6557-0E78CBB22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456" y="2051254"/>
            <a:ext cx="7037544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Sense: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 raw LiDAR distances (The Green Dots)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obstacles and "Safe Zones.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 steering and speed.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585840-8856-AE47-7443-5413FADC4C3C}"/>
              </a:ext>
            </a:extLst>
          </p:cNvPr>
          <p:cNvSpPr txBox="1"/>
          <p:nvPr/>
        </p:nvSpPr>
        <p:spPr>
          <a:xfrm>
            <a:off x="158045" y="5697887"/>
            <a:ext cx="6807200" cy="4938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1600" dirty="0"/>
              <a:t>Moving from "What is around me?" to "What should I do?</a:t>
            </a:r>
            <a:endParaRPr kumimoji="1" lang="zh-CN" alt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825889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F838-A73A-F983-341F-99C1CBE0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BD01A131-D152-69C9-70A8-A80D11032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Turning LiDAR Data into Perception &amp; Planning</a:t>
            </a:r>
            <a:endParaRPr lang="en-US" altLang="zh-CN" sz="24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4CF5A-79FC-0A14-47CE-B0418DB2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C2AD12-B7D1-6704-71D4-7BC575FEF782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48890580-6EDE-91E3-55F0-40875E3FB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051254"/>
            <a:ext cx="4374146" cy="32806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C7309EC-BF0E-9101-570F-B3D70E627E24}"/>
              </a:ext>
            </a:extLst>
          </p:cNvPr>
          <p:cNvSpPr txBox="1"/>
          <p:nvPr/>
        </p:nvSpPr>
        <p:spPr>
          <a:xfrm>
            <a:off x="609599" y="1436632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From Sensing</a:t>
            </a:r>
            <a:r>
              <a:rPr lang="zh-CN" altLang="en-US" b="1" dirty="0"/>
              <a:t> </a:t>
            </a:r>
            <a:r>
              <a:rPr lang="en-US" altLang="zh-CN" b="1" dirty="0"/>
              <a:t>to Intelligence.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85E8DF-B63C-7FCC-97D3-A011EBD38DA6}"/>
              </a:ext>
            </a:extLst>
          </p:cNvPr>
          <p:cNvSpPr txBox="1"/>
          <p:nvPr/>
        </p:nvSpPr>
        <p:spPr>
          <a:xfrm>
            <a:off x="158045" y="5697887"/>
            <a:ext cx="6807200" cy="4938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1600" dirty="0"/>
              <a:t>Moving from "What is around me?" to "What should I do?</a:t>
            </a:r>
            <a:endParaRPr kumimoji="1" lang="zh-CN" altLang="en-US" sz="1600" dirty="0" err="1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3F03F3-05FD-1090-A84A-369667BEB3D6}"/>
              </a:ext>
            </a:extLst>
          </p:cNvPr>
          <p:cNvSpPr txBox="1"/>
          <p:nvPr/>
        </p:nvSpPr>
        <p:spPr>
          <a:xfrm>
            <a:off x="5266640" y="2171987"/>
            <a:ext cx="6096000" cy="1341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AI use perception to support: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Short-term reactions:</a:t>
            </a:r>
            <a:r>
              <a:rPr lang="zh-CN" altLang="en-US" sz="1400" b="1" dirty="0"/>
              <a:t> </a:t>
            </a:r>
            <a:r>
              <a:rPr lang="en-US" altLang="zh-CN" sz="1400" dirty="0"/>
              <a:t>avoiding collisions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Mid-term planning:</a:t>
            </a:r>
            <a:r>
              <a:rPr lang="zh-CN" altLang="en-US" sz="1400" b="1" dirty="0"/>
              <a:t> </a:t>
            </a:r>
            <a:r>
              <a:rPr lang="en-US" altLang="zh-CN" sz="1400" dirty="0"/>
              <a:t>deciding where to move next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Long-term goals:</a:t>
            </a:r>
            <a:r>
              <a:rPr lang="zh-CN" altLang="en-US" sz="1400" b="1" dirty="0"/>
              <a:t> </a:t>
            </a:r>
            <a:r>
              <a:rPr lang="en-US" altLang="zh-CN" sz="1400" dirty="0"/>
              <a:t>reaching destinations safely</a:t>
            </a:r>
          </a:p>
        </p:txBody>
      </p:sp>
    </p:spTree>
    <p:extLst>
      <p:ext uri="{BB962C8B-B14F-4D97-AF65-F5344CB8AC3E}">
        <p14:creationId xmlns:p14="http://schemas.microsoft.com/office/powerpoint/2010/main" val="3824213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DE35-D342-5BDB-A8E8-33781274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E7931064-CB7B-302E-BBB4-6B7B587CF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Why LiDAR Perception is Foundational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92EBB-9C3E-5F09-80FE-7B1165E0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E52B47-DEEC-4271-EF44-FC8CF90A10BE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368A8127-D1E9-DFF9-F9A5-9F1418684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051254"/>
            <a:ext cx="4374146" cy="32806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6A66DD4-896A-CBEB-9A8A-D00F03C01330}"/>
              </a:ext>
            </a:extLst>
          </p:cNvPr>
          <p:cNvSpPr txBox="1"/>
          <p:nvPr/>
        </p:nvSpPr>
        <p:spPr>
          <a:xfrm>
            <a:off x="609599" y="1436632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From Sensing</a:t>
            </a:r>
            <a:r>
              <a:rPr lang="zh-CN" altLang="en-US" b="1" dirty="0"/>
              <a:t> </a:t>
            </a:r>
            <a:r>
              <a:rPr lang="en-US" altLang="zh-CN" b="1" dirty="0"/>
              <a:t>to Intelligence.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DEE225-752B-7458-BCA2-D4C3080AF496}"/>
              </a:ext>
            </a:extLst>
          </p:cNvPr>
          <p:cNvSpPr txBox="1"/>
          <p:nvPr/>
        </p:nvSpPr>
        <p:spPr>
          <a:xfrm>
            <a:off x="158045" y="5697887"/>
            <a:ext cx="6807200" cy="4938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1600" dirty="0"/>
              <a:t>Moving from "What is around me?" to "What should I do?</a:t>
            </a:r>
            <a:endParaRPr kumimoji="1" lang="zh-CN" altLang="en-US" sz="1600" dirty="0" err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398B29-B506-7142-4715-16F9562EF4C4}"/>
              </a:ext>
            </a:extLst>
          </p:cNvPr>
          <p:cNvSpPr txBox="1"/>
          <p:nvPr/>
        </p:nvSpPr>
        <p:spPr>
          <a:xfrm>
            <a:off x="6257365" y="2832846"/>
            <a:ext cx="5325036" cy="204395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1600" dirty="0" err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05BAF1-52C7-80E0-CA95-79868F304191}"/>
              </a:ext>
            </a:extLst>
          </p:cNvPr>
          <p:cNvSpPr txBox="1"/>
          <p:nvPr/>
        </p:nvSpPr>
        <p:spPr>
          <a:xfrm>
            <a:off x="5271247" y="2113292"/>
            <a:ext cx="6096000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Enables </a:t>
            </a:r>
            <a:r>
              <a:rPr lang="en-US" altLang="zh-CN" sz="1800" b="1" dirty="0"/>
              <a:t>safe autonomy</a:t>
            </a:r>
            <a:endParaRPr lang="en-US" altLang="zh-CN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Supports </a:t>
            </a:r>
            <a:r>
              <a:rPr lang="en-US" altLang="zh-CN" sz="1800" b="1" dirty="0"/>
              <a:t>navigation</a:t>
            </a:r>
            <a:endParaRPr lang="en-US" altLang="zh-CN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Forms the base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Obstacle avoidance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Path 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And eventually… Reinforcement Learning control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1800" dirty="0" err="1"/>
          </a:p>
        </p:txBody>
      </p:sp>
    </p:spTree>
    <p:extLst>
      <p:ext uri="{BB962C8B-B14F-4D97-AF65-F5344CB8AC3E}">
        <p14:creationId xmlns:p14="http://schemas.microsoft.com/office/powerpoint/2010/main" val="165466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D4E00-2B5B-9453-6205-659AD6D9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242D0FFF-3CE5-B480-5E1D-52210C2ED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Deep Reinforcement Learning for Autonomous Driving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FB8D0-033A-54E6-DF30-F8D770DE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06CF7E-02E1-47B5-CBFC-91E25BCD7B5B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E83483-9403-635E-8572-B02B427AEB1C}"/>
              </a:ext>
            </a:extLst>
          </p:cNvPr>
          <p:cNvSpPr txBox="1"/>
          <p:nvPr/>
        </p:nvSpPr>
        <p:spPr>
          <a:xfrm>
            <a:off x="950258" y="159125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Perception → Planning/Decision → Control</a:t>
            </a:r>
          </a:p>
          <a:p>
            <a:r>
              <a:rPr lang="zh-CN" altLang="en-US" dirty="0"/>
              <a:t>      ↑                       ↑                       ↑</a:t>
            </a:r>
          </a:p>
          <a:p>
            <a:r>
              <a:rPr lang="zh-CN" altLang="en-US" dirty="0"/>
              <a:t> Completed       This Session         Execution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BE3349-562E-5005-1D3F-3DA7125708CF}"/>
              </a:ext>
            </a:extLst>
          </p:cNvPr>
          <p:cNvSpPr txBox="1"/>
          <p:nvPr/>
        </p:nvSpPr>
        <p:spPr>
          <a:xfrm>
            <a:off x="950258" y="2901027"/>
            <a:ext cx="10757648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What We Covered</a:t>
            </a:r>
            <a:r>
              <a:rPr lang="en-US" altLang="zh-CN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How LiDAR captures 3D point cloud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How to detect vehicles, pedestrians, obstacles from point clouds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Output: position, velocity, and class of surrounding objects</a:t>
            </a:r>
          </a:p>
        </p:txBody>
      </p:sp>
    </p:spTree>
    <p:extLst>
      <p:ext uri="{BB962C8B-B14F-4D97-AF65-F5344CB8AC3E}">
        <p14:creationId xmlns:p14="http://schemas.microsoft.com/office/powerpoint/2010/main" val="3128661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BA04-049E-A450-C8D0-B0EAB74E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5732B87C-7EF0-1C05-F714-906091879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From Perception to Decision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FE94D-8B23-7259-220B-B27A6EDD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05CA6B-22E8-F97D-0727-57AC00CC2253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FA5A6D2-04F5-58C4-D5E0-62F799C2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052917"/>
            <a:ext cx="6519097" cy="27521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0FD59C9-F1B4-B798-7253-10DCB621CA34}"/>
              </a:ext>
            </a:extLst>
          </p:cNvPr>
          <p:cNvSpPr txBox="1"/>
          <p:nvPr/>
        </p:nvSpPr>
        <p:spPr>
          <a:xfrm>
            <a:off x="7297272" y="2052917"/>
            <a:ext cx="4285129" cy="231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400" b="1" dirty="0"/>
              <a:t>The Decision Module Must Answer</a:t>
            </a:r>
            <a:r>
              <a:rPr lang="en-US" altLang="zh-CN" sz="14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Should I change lanes?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Speed up or slow down?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When to overtake?</a:t>
            </a:r>
          </a:p>
          <a:p>
            <a:pPr>
              <a:lnSpc>
                <a:spcPct val="150000"/>
              </a:lnSpc>
            </a:pP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en-US" altLang="zh-CN" sz="1400" b="1" dirty="0"/>
              <a:t>Core Challenge</a:t>
            </a:r>
            <a:r>
              <a:rPr lang="en-US" altLang="zh-CN" sz="1400" dirty="0"/>
              <a:t>: How to convert perception data into driving actions?</a:t>
            </a:r>
          </a:p>
        </p:txBody>
      </p:sp>
    </p:spTree>
    <p:extLst>
      <p:ext uri="{BB962C8B-B14F-4D97-AF65-F5344CB8AC3E}">
        <p14:creationId xmlns:p14="http://schemas.microsoft.com/office/powerpoint/2010/main" val="3970919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1C72-8954-F273-241A-E8A31CFF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A25C63D1-D4BB-FF56-1530-3869E03BF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From Perception to Decision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1F818-A64C-034E-22E6-F64F218C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2F9EB-0CD5-9E1A-0DBE-896DB367757E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E5E5E3-86AB-55C1-900A-88209F6CE221}"/>
              </a:ext>
            </a:extLst>
          </p:cNvPr>
          <p:cNvSpPr txBox="1"/>
          <p:nvPr/>
        </p:nvSpPr>
        <p:spPr>
          <a:xfrm>
            <a:off x="609599" y="1651791"/>
            <a:ext cx="12227860" cy="2533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What is Reinforcement Learning?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Core Idea</a:t>
            </a:r>
            <a:r>
              <a:rPr lang="en-US" altLang="zh-CN" dirty="0"/>
              <a:t>: Learn optimal decisions through trial and error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Similar to How Humans Learn to Drive</a:t>
            </a:r>
            <a:r>
              <a:rPr lang="en-US" altLang="zh-CN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Beginner: Doesn't know when to change lanes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Tries changing lanes → Nearly crashes (negative feedback) → Learns to check mirrors first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Practice repeatedly → Develops driving intuition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3011C9-C73E-102A-00A3-FE678F43E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47" y="4209832"/>
            <a:ext cx="77216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2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4AF8-EBCB-7CD7-F2DD-9678D758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8" name="Rectangle 6">
            <a:extLst>
              <a:ext uri="{FF2B5EF4-FFF2-40B4-BE49-F238E27FC236}">
                <a16:creationId xmlns:a16="http://schemas.microsoft.com/office/drawing/2014/main" id="{F87F1633-9E9B-1170-46C7-A38F8A9C1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391242"/>
            <a:ext cx="11313695" cy="800100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altLang="zh-CN" sz="2400" dirty="0"/>
              <a:t>From Perception to Decision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DA463-D970-643D-7FBD-334812BA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364ABB-EE84-1447-3CB1-A809E7F865A2}"/>
              </a:ext>
            </a:extLst>
          </p:cNvPr>
          <p:cNvSpPr txBox="1"/>
          <p:nvPr/>
        </p:nvSpPr>
        <p:spPr>
          <a:xfrm>
            <a:off x="3537284" y="64970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kumimoji="1" lang="zh-CN" altLang="en-US" sz="1600" dirty="0" err="1"/>
          </a:p>
        </p:txBody>
      </p:sp>
      <p:pic>
        <p:nvPicPr>
          <p:cNvPr id="2" name="下载">
            <a:hlinkClick r:id="" action="ppaction://media"/>
            <a:extLst>
              <a:ext uri="{FF2B5EF4-FFF2-40B4-BE49-F238E27FC236}">
                <a16:creationId xmlns:a16="http://schemas.microsoft.com/office/drawing/2014/main" id="{3C5D879E-168E-8F8F-9F46-DBDA1A0D64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599" y="1743915"/>
            <a:ext cx="9519396" cy="237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8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5e1d76e6ed25a0b9acc172e1212e12c5ea2ecb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PI-White">
  <a:themeElements>
    <a:clrScheme name="Custom 56">
      <a:dk1>
        <a:sysClr val="windowText" lastClr="000000"/>
      </a:dk1>
      <a:lt1>
        <a:sysClr val="window" lastClr="FFFFFF"/>
      </a:lt1>
      <a:dk2>
        <a:srgbClr val="6D6D6D"/>
      </a:dk2>
      <a:lt2>
        <a:srgbClr val="AB192D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>
    <a:spDef>
      <a:spPr bwMode="auto">
        <a:solidFill>
          <a:schemeClr val="accent2"/>
        </a:solidFill>
        <a:ln w="12700" cap="sq" algn="ctr">
          <a:solidFill>
            <a:schemeClr val="tx2"/>
          </a:solidFill>
          <a:miter lim="800000"/>
          <a:headEnd/>
          <a:tailEnd/>
        </a:ln>
        <a:effectLst/>
      </a:spPr>
      <a:bodyPr wrap="none" anchor="ctr"/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txDef>
      <a:spPr>
        <a:noFill/>
      </a:spPr>
      <a:bodyPr wrap="none" rtlCol="0">
        <a:noAutofit/>
      </a:bodyPr>
      <a:lstStyle>
        <a:defPPr algn="ctr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PI_University_Powerpointtemplate_wide" id="{169610D4-6B23-46D7-92F3-E58BB23491DB}" vid="{709D365B-B6D9-411E-B430-54A4FB0A846C}"/>
    </a:ext>
  </a:extLst>
</a:theme>
</file>

<file path=ppt/theme/theme2.xml><?xml version="1.0" encoding="utf-8"?>
<a:theme xmlns:a="http://schemas.openxmlformats.org/drawingml/2006/main" name="WPI_Gray">
  <a:themeElements>
    <a:clrScheme name="Custom 57">
      <a:dk1>
        <a:srgbClr val="FFFFFF"/>
      </a:dk1>
      <a:lt1>
        <a:srgbClr val="6D6D6D"/>
      </a:lt1>
      <a:dk2>
        <a:srgbClr val="000000"/>
      </a:dk2>
      <a:lt2>
        <a:srgbClr val="FFFFFF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D9CD95"/>
      </a:accent6>
      <a:hlink>
        <a:srgbClr val="46A0DC"/>
      </a:hlink>
      <a:folHlink>
        <a:srgbClr val="808DA9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12700" cap="sq" algn="ctr">
          <a:solidFill>
            <a:schemeClr val="tx1"/>
          </a:solidFill>
          <a:miter lim="800000"/>
          <a:headEnd/>
          <a:tailEnd/>
        </a:ln>
        <a:effectLst/>
      </a:spPr>
      <a:bodyPr wrap="none" rtlCol="0" anchor="ctr"/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tx1"/>
          </a:solidFill>
          <a:prstDash val="solid"/>
          <a:round/>
          <a:headEnd type="triangle" w="med" len="med"/>
          <a:tailEnd type="triangl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 algn="ctr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PI_University_Powerpointtemplate_wide" id="{169610D4-6B23-46D7-92F3-E58BB23491DB}" vid="{46E8A7CB-6953-4D0F-BF88-5516405B82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89c76f5-ca15-41f9-884b-55ec15a0672a}" enabled="0" method="" siteId="{589c76f5-ca15-41f9-884b-55ec15a067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WPI_University_Powerpointtemplate_wide</Template>
  <TotalTime>1276</TotalTime>
  <Words>766</Words>
  <Application>Microsoft Office PowerPoint</Application>
  <PresentationFormat>Widescreen</PresentationFormat>
  <Paragraphs>101</Paragraphs>
  <Slides>19</Slides>
  <Notes>11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WPI-White</vt:lpstr>
      <vt:lpstr>WPI_Gray</vt:lpstr>
      <vt:lpstr>AI-Enabled Sensing and Controlling </vt:lpstr>
      <vt:lpstr>The Jist</vt:lpstr>
      <vt:lpstr>Sensing Component: Camera-Based Perception</vt:lpstr>
      <vt:lpstr>Sensing Component: Camera-Based Perception</vt:lpstr>
      <vt:lpstr>Sensing Component: Camera-Based Perception</vt:lpstr>
      <vt:lpstr>Controlling Component: Decision Making &amp; Actuation</vt:lpstr>
      <vt:lpstr>Controlling Component: Decision Making &amp; Actuation</vt:lpstr>
      <vt:lpstr>Real-World Applications</vt:lpstr>
      <vt:lpstr>System Architecture Example</vt:lpstr>
      <vt:lpstr>How LiDAR Lets Robots “See” the World</vt:lpstr>
      <vt:lpstr>Data Representation: The Point Cloud</vt:lpstr>
      <vt:lpstr>Hands-on Simulation — Building the LiDAR Engine</vt:lpstr>
      <vt:lpstr>Turning LiDAR Data into Perception &amp; Planning</vt:lpstr>
      <vt:lpstr>Turning LiDAR Data into Perception &amp; Planning</vt:lpstr>
      <vt:lpstr>Why LiDAR Perception is Foundational</vt:lpstr>
      <vt:lpstr>Deep Reinforcement Learning for Autonomous Driving</vt:lpstr>
      <vt:lpstr>From Perception to Decision Input</vt:lpstr>
      <vt:lpstr>From Perception to Decision Input</vt:lpstr>
      <vt:lpstr>From Perception to Decision Input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Yiming</dc:creator>
  <cp:lastModifiedBy>xu tommy</cp:lastModifiedBy>
  <cp:revision>137</cp:revision>
  <dcterms:created xsi:type="dcterms:W3CDTF">2024-12-19T23:50:21Z</dcterms:created>
  <dcterms:modified xsi:type="dcterms:W3CDTF">2026-01-09T14:18:10Z</dcterms:modified>
</cp:coreProperties>
</file>