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handoutMasterIdLst>
    <p:handoutMasterId r:id="rId35"/>
  </p:handoutMasterIdLst>
  <p:sldIdLst>
    <p:sldId id="257" r:id="rId5"/>
    <p:sldId id="268" r:id="rId6"/>
    <p:sldId id="272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/>
          <a:lstStyle/>
          <a:p>
            <a:r>
              <a:rPr lang="en-US" b="1" dirty="0"/>
              <a:t>Edge AI and Cybersecurity in Action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5.1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Edge AI matters for cybersecurity</a:t>
            </a:r>
          </a:p>
          <a:p>
            <a:r>
              <a:rPr lang="en-US" dirty="0"/>
              <a:t>Part 1 – Network Traffic Analysis (data &amp; features)</a:t>
            </a:r>
          </a:p>
          <a:p>
            <a:r>
              <a:rPr lang="en-US" dirty="0"/>
              <a:t>Part 2 – Edge AI Anomaly Detection (models &amp; deployment readiness)</a:t>
            </a:r>
          </a:p>
          <a:p>
            <a:r>
              <a:rPr lang="en-US" dirty="0"/>
              <a:t>Part 3 – Stream Inference &amp; Alerts (real-time monitoring)</a:t>
            </a:r>
          </a:p>
          <a:p>
            <a:r>
              <a:rPr lang="en-US" dirty="0"/>
              <a:t>How this theory connects to the 5.1 notebooks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4B535-316B-FE30-1C83-E05BCB90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5768BA3-D77B-3D94-28F3-A32832CD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Cybersecurity Meets Edge AI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D67433-7362-7B38-01AE-10172970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Cybersecurity Threat Landscape</a:t>
            </a:r>
            <a:endParaRPr lang="en-US" dirty="0"/>
          </a:p>
          <a:p>
            <a:r>
              <a:rPr lang="en-US" dirty="0"/>
              <a:t>Increasing volume and sophistication of attacks:</a:t>
            </a:r>
          </a:p>
          <a:p>
            <a:pPr lvl="1"/>
            <a:r>
              <a:rPr lang="en-US" dirty="0"/>
              <a:t>DDoS, port scans, brute-force, data exfiltration, malware</a:t>
            </a:r>
          </a:p>
          <a:p>
            <a:r>
              <a:rPr lang="en-US" dirty="0"/>
              <a:t>Traditional defenses:</a:t>
            </a:r>
          </a:p>
          <a:p>
            <a:pPr lvl="1"/>
            <a:r>
              <a:rPr lang="en-US" dirty="0"/>
              <a:t>Signature-based IDS/IPS</a:t>
            </a:r>
          </a:p>
          <a:p>
            <a:pPr lvl="1"/>
            <a:r>
              <a:rPr lang="en-US" dirty="0"/>
              <a:t>Rule-based firewalls and SIEM systems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Zero-day attacks and unknown patterns</a:t>
            </a:r>
          </a:p>
          <a:p>
            <a:pPr lvl="1"/>
            <a:r>
              <a:rPr lang="en-US" dirty="0"/>
              <a:t>High false-positive and false-negative rates</a:t>
            </a:r>
          </a:p>
        </p:txBody>
      </p:sp>
    </p:spTree>
    <p:extLst>
      <p:ext uri="{BB962C8B-B14F-4D97-AF65-F5344CB8AC3E}">
        <p14:creationId xmlns:p14="http://schemas.microsoft.com/office/powerpoint/2010/main" val="406998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3BBF-9163-0930-3CA2-AA6BDCEA0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3791E27-68E3-CDF6-FFD9-EC938B39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Cybersecurity Meets Edge AI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1578736-624B-2C9E-6ED2-7BF693272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Edge AI for Security?</a:t>
            </a:r>
            <a:endParaRPr lang="en-US" dirty="0"/>
          </a:p>
          <a:p>
            <a:r>
              <a:rPr lang="en-US" b="1" dirty="0"/>
              <a:t>Latency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Need near real-time detection close to data source</a:t>
            </a:r>
          </a:p>
          <a:p>
            <a:r>
              <a:rPr lang="en-US" b="1" dirty="0"/>
              <a:t>Bandwidth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Not all traffic can be shipped to the cloud</a:t>
            </a:r>
          </a:p>
          <a:p>
            <a:r>
              <a:rPr lang="en-US" b="1" dirty="0"/>
              <a:t>Privacy &amp; Compliance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Sensitive data must stay on-prem / at the edge</a:t>
            </a:r>
          </a:p>
          <a:p>
            <a:r>
              <a:rPr lang="en-US" b="1" dirty="0"/>
              <a:t>Scalability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Many distributed devices/agents → local inference needed</a:t>
            </a:r>
          </a:p>
        </p:txBody>
      </p:sp>
    </p:spTree>
    <p:extLst>
      <p:ext uri="{BB962C8B-B14F-4D97-AF65-F5344CB8AC3E}">
        <p14:creationId xmlns:p14="http://schemas.microsoft.com/office/powerpoint/2010/main" val="3040104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31216-17D6-E81E-8D80-7697746E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508495C-587D-54A6-8742-4C6D092D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Motivation: Cybersecurity Meets Edge AI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D3EFA6B-82A0-A3B6-6582-BF60ADB1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Workshop 5.1 Pipeline</a:t>
            </a:r>
            <a:endParaRPr lang="en-US" dirty="0"/>
          </a:p>
          <a:p>
            <a:r>
              <a:rPr lang="en-US" dirty="0"/>
              <a:t>End-to-end pipeline:</a:t>
            </a:r>
          </a:p>
          <a:p>
            <a:pPr lvl="1"/>
            <a:r>
              <a:rPr lang="en-US" dirty="0"/>
              <a:t>Network traffic data → Feature engineering → Model training → Edge deployment → Real-time alerts</a:t>
            </a:r>
          </a:p>
          <a:p>
            <a:r>
              <a:rPr lang="en-US" dirty="0"/>
              <a:t>Three modules:</a:t>
            </a:r>
          </a:p>
          <a:p>
            <a:pPr lvl="1"/>
            <a:r>
              <a:rPr lang="en-US" b="1" dirty="0"/>
              <a:t>01</a:t>
            </a:r>
            <a:r>
              <a:rPr lang="en-US" dirty="0"/>
              <a:t>: Understand and preprocess network data</a:t>
            </a:r>
          </a:p>
          <a:p>
            <a:pPr lvl="1"/>
            <a:r>
              <a:rPr lang="en-US" b="1" dirty="0"/>
              <a:t>02</a:t>
            </a:r>
            <a:r>
              <a:rPr lang="en-US" dirty="0"/>
              <a:t>: Train and compare edge-ready models</a:t>
            </a:r>
          </a:p>
          <a:p>
            <a:pPr lvl="1"/>
            <a:r>
              <a:rPr lang="en-US" b="1" dirty="0"/>
              <a:t>03</a:t>
            </a:r>
            <a:r>
              <a:rPr lang="en-US" dirty="0"/>
              <a:t>: Build a streaming inference &amp; alerting system</a:t>
            </a:r>
          </a:p>
        </p:txBody>
      </p:sp>
    </p:spTree>
    <p:extLst>
      <p:ext uri="{BB962C8B-B14F-4D97-AF65-F5344CB8AC3E}">
        <p14:creationId xmlns:p14="http://schemas.microsoft.com/office/powerpoint/2010/main" val="1822019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FF5B-020A-DBA5-25BB-79618C5A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D5BD5AE-0D4E-BC30-0F04-E4C3407D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3953DEE-79AE-78D0-EAFE-80FFE7D3A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Network Traffic Data Basics</a:t>
            </a:r>
            <a:endParaRPr lang="en-US" dirty="0"/>
          </a:p>
          <a:p>
            <a:r>
              <a:rPr lang="en-US" dirty="0"/>
              <a:t>Data resembles CICIDS2017-style flows:</a:t>
            </a:r>
          </a:p>
          <a:p>
            <a:pPr lvl="1"/>
            <a:r>
              <a:rPr lang="en-US" dirty="0"/>
              <a:t>Each row = aggregated network flow/session</a:t>
            </a:r>
          </a:p>
          <a:p>
            <a:pPr lvl="1"/>
            <a:r>
              <a:rPr lang="en-US" dirty="0"/>
              <a:t>Columns = statistical features (e.g., durations, bytes, packets)</a:t>
            </a:r>
          </a:p>
          <a:p>
            <a:r>
              <a:rPr lang="en-US" dirty="0"/>
              <a:t>Labels:</a:t>
            </a:r>
          </a:p>
          <a:p>
            <a:pPr lvl="1"/>
            <a:r>
              <a:rPr lang="en-US" dirty="0"/>
              <a:t>Benign vs various attack types (e.g., DoS, Brute Force, Port Scan)</a:t>
            </a:r>
          </a:p>
        </p:txBody>
      </p:sp>
    </p:spTree>
    <p:extLst>
      <p:ext uri="{BB962C8B-B14F-4D97-AF65-F5344CB8AC3E}">
        <p14:creationId xmlns:p14="http://schemas.microsoft.com/office/powerpoint/2010/main" val="1373811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FB9D-1F2C-9D37-A7E7-F11D7D43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352123F-33C3-94C6-29C0-4D1F2B1E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B5239C7-F8A8-FD5A-68A4-5950BB98A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From Packets to Features</a:t>
            </a:r>
            <a:endParaRPr lang="en-US" dirty="0"/>
          </a:p>
          <a:p>
            <a:r>
              <a:rPr lang="en-US" dirty="0"/>
              <a:t>Raw packets (PCAP) → Flow-based features:</a:t>
            </a:r>
          </a:p>
          <a:p>
            <a:pPr lvl="1"/>
            <a:r>
              <a:rPr lang="en-US" dirty="0"/>
              <a:t>Source/destination IP and ports</a:t>
            </a:r>
          </a:p>
          <a:p>
            <a:pPr lvl="1"/>
            <a:r>
              <a:rPr lang="en-US" dirty="0"/>
              <a:t>Protocol (TCP/UDP/ICMP)</a:t>
            </a:r>
          </a:p>
          <a:p>
            <a:pPr lvl="1"/>
            <a:r>
              <a:rPr lang="en-US" dirty="0"/>
              <a:t>Number of packets &amp; bytes (forward/backward)</a:t>
            </a:r>
          </a:p>
          <a:p>
            <a:pPr lvl="1"/>
            <a:r>
              <a:rPr lang="en-US" dirty="0"/>
              <a:t>Flags (SYN, ACK, RST, etc.)</a:t>
            </a:r>
          </a:p>
          <a:p>
            <a:pPr lvl="1"/>
            <a:r>
              <a:rPr lang="en-US" dirty="0"/>
              <a:t>Inter-arrival times, duration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Condense sequence of packets into a meaningful feature vector</a:t>
            </a:r>
          </a:p>
          <a:p>
            <a:pPr lvl="1"/>
            <a:r>
              <a:rPr lang="en-US" dirty="0"/>
              <a:t>Suitable for ML models</a:t>
            </a:r>
          </a:p>
        </p:txBody>
      </p:sp>
    </p:spTree>
    <p:extLst>
      <p:ext uri="{BB962C8B-B14F-4D97-AF65-F5344CB8AC3E}">
        <p14:creationId xmlns:p14="http://schemas.microsoft.com/office/powerpoint/2010/main" val="3716325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C2CB-AD76-24D7-7775-8778A920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7F7EADC-8471-1088-4438-CE782864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68FF4E4-295C-F203-EC6C-18F43FA8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Feature Types for Cybersecurity</a:t>
            </a:r>
            <a:endParaRPr lang="en-US" dirty="0"/>
          </a:p>
          <a:p>
            <a:r>
              <a:rPr lang="en-US" dirty="0"/>
              <a:t>Examples of common features:</a:t>
            </a:r>
          </a:p>
          <a:p>
            <a:pPr lvl="1"/>
            <a:r>
              <a:rPr lang="en-US" dirty="0"/>
              <a:t>Traffic volume:</a:t>
            </a:r>
          </a:p>
          <a:p>
            <a:pPr lvl="2"/>
            <a:r>
              <a:rPr lang="en-US" dirty="0"/>
              <a:t>Total bytes, packets</a:t>
            </a:r>
          </a:p>
          <a:p>
            <a:pPr lvl="1"/>
            <a:r>
              <a:rPr lang="en-US" dirty="0"/>
              <a:t>Temporal behavior:</a:t>
            </a:r>
          </a:p>
          <a:p>
            <a:pPr lvl="2"/>
            <a:r>
              <a:rPr lang="en-US" dirty="0"/>
              <a:t>Flow duration, packet inter-arrival times</a:t>
            </a:r>
          </a:p>
          <a:p>
            <a:pPr lvl="1"/>
            <a:r>
              <a:rPr lang="en-US" dirty="0"/>
              <a:t>Directionality:</a:t>
            </a:r>
          </a:p>
          <a:p>
            <a:pPr lvl="2"/>
            <a:r>
              <a:rPr lang="en-US" dirty="0"/>
              <a:t>Forward vs backward bytes/packets</a:t>
            </a:r>
          </a:p>
          <a:p>
            <a:pPr lvl="1"/>
            <a:r>
              <a:rPr lang="en-US" dirty="0"/>
              <a:t>Ratios &amp; statistics:</a:t>
            </a:r>
          </a:p>
          <a:p>
            <a:pPr lvl="2"/>
            <a:r>
              <a:rPr lang="en-US" dirty="0"/>
              <a:t>Packet size statistics, error rates</a:t>
            </a:r>
          </a:p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Attacks often exhibit unusual volumes, patterns, or timing</a:t>
            </a:r>
          </a:p>
        </p:txBody>
      </p:sp>
    </p:spTree>
    <p:extLst>
      <p:ext uri="{BB962C8B-B14F-4D97-AF65-F5344CB8AC3E}">
        <p14:creationId xmlns:p14="http://schemas.microsoft.com/office/powerpoint/2010/main" val="2934288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A467-9266-138B-B003-1EFA4B60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C32FF77-50F6-C6A5-88CF-CF466008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8D98A48-C5E2-52F3-1D83-1BE2E1B50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Dataset in Our Workshop</a:t>
            </a:r>
            <a:endParaRPr lang="en-US" dirty="0"/>
          </a:p>
          <a:p>
            <a:r>
              <a:rPr lang="en-US" dirty="0"/>
              <a:t>Notebook: </a:t>
            </a:r>
            <a:r>
              <a:rPr lang="en-US" b="1" dirty="0"/>
              <a:t>01_network_traffic_analysis</a:t>
            </a:r>
            <a:endParaRPr lang="en-US" dirty="0"/>
          </a:p>
          <a:p>
            <a:r>
              <a:rPr lang="en-US" dirty="0"/>
              <a:t>Files (example, from `data/`):</a:t>
            </a:r>
          </a:p>
          <a:p>
            <a:pPr lvl="1"/>
            <a:r>
              <a:rPr lang="en-US" dirty="0"/>
              <a:t>`cleaned_network_traffic.csv`</a:t>
            </a:r>
          </a:p>
          <a:p>
            <a:pPr lvl="1"/>
            <a:r>
              <a:rPr lang="en-US" dirty="0"/>
              <a:t>Precomputed `</a:t>
            </a:r>
            <a:r>
              <a:rPr lang="en-US" dirty="0" err="1"/>
              <a:t>feature_names.pkl</a:t>
            </a:r>
            <a:r>
              <a:rPr lang="en-US" dirty="0"/>
              <a:t>`</a:t>
            </a:r>
          </a:p>
          <a:p>
            <a:pPr lvl="1"/>
            <a:r>
              <a:rPr lang="en-US" dirty="0"/>
              <a:t>Pre-fitted `</a:t>
            </a:r>
            <a:r>
              <a:rPr lang="en-US" dirty="0" err="1"/>
              <a:t>scaler.pkl</a:t>
            </a:r>
            <a:r>
              <a:rPr lang="en-US" dirty="0"/>
              <a:t>`</a:t>
            </a:r>
          </a:p>
          <a:p>
            <a:r>
              <a:rPr lang="en-US" dirty="0"/>
              <a:t>Contains:</a:t>
            </a:r>
          </a:p>
          <a:p>
            <a:pPr lvl="1"/>
            <a:r>
              <a:rPr lang="en-US" dirty="0"/>
              <a:t>Features precomputed from raw traffic</a:t>
            </a:r>
          </a:p>
          <a:p>
            <a:pPr lvl="1"/>
            <a:r>
              <a:rPr lang="en-US" dirty="0"/>
              <a:t>Labels indicating benign/malicious flows</a:t>
            </a:r>
          </a:p>
        </p:txBody>
      </p:sp>
    </p:spTree>
    <p:extLst>
      <p:ext uri="{BB962C8B-B14F-4D97-AF65-F5344CB8AC3E}">
        <p14:creationId xmlns:p14="http://schemas.microsoft.com/office/powerpoint/2010/main" val="1770318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8E1E-B9D5-721E-0C99-E3B38E74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727C5F-9A90-DCB2-1216-1521E026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A8EC9DD-9631-93F8-F440-A15F01D81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Exploration &amp; Cleaning</a:t>
            </a:r>
            <a:endParaRPr lang="en-US" dirty="0"/>
          </a:p>
          <a:p>
            <a:r>
              <a:rPr lang="en-US" dirty="0"/>
              <a:t>Typical preprocessing steps:</a:t>
            </a:r>
          </a:p>
          <a:p>
            <a:pPr lvl="1"/>
            <a:r>
              <a:rPr lang="en-US" dirty="0"/>
              <a:t>Handle missing values</a:t>
            </a:r>
          </a:p>
          <a:p>
            <a:pPr lvl="1"/>
            <a:r>
              <a:rPr lang="en-US" dirty="0"/>
              <a:t>Remove obviously corrupted records</a:t>
            </a:r>
          </a:p>
          <a:p>
            <a:pPr lvl="1"/>
            <a:r>
              <a:rPr lang="en-US" dirty="0"/>
              <a:t>Optional: balance classes or handle skew</a:t>
            </a:r>
          </a:p>
          <a:p>
            <a:r>
              <a:rPr lang="en-US" dirty="0"/>
              <a:t>Exploratory analysis:</a:t>
            </a:r>
          </a:p>
          <a:p>
            <a:pPr lvl="1"/>
            <a:r>
              <a:rPr lang="en-US" dirty="0"/>
              <a:t>Distribution of key features</a:t>
            </a:r>
          </a:p>
          <a:p>
            <a:pPr lvl="1"/>
            <a:r>
              <a:rPr lang="en-US" dirty="0"/>
              <a:t>Class distribution (benign vs attacks)</a:t>
            </a:r>
          </a:p>
          <a:p>
            <a:pPr lvl="1"/>
            <a:r>
              <a:rPr lang="en-US" dirty="0"/>
              <a:t>Correlations between features and labels</a:t>
            </a:r>
          </a:p>
        </p:txBody>
      </p:sp>
    </p:spTree>
    <p:extLst>
      <p:ext uri="{BB962C8B-B14F-4D97-AF65-F5344CB8AC3E}">
        <p14:creationId xmlns:p14="http://schemas.microsoft.com/office/powerpoint/2010/main" val="153595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C5B9-7F20-5722-9E21-9552B7ED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1956AA9-A559-54D3-3D94-31917CD4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7BD0A38-571E-2A39-9A6D-F57AF467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Feature Scaling &amp; Normalization</a:t>
            </a:r>
            <a:endParaRPr lang="en-US" dirty="0"/>
          </a:p>
          <a:p>
            <a:r>
              <a:rPr lang="en-US" dirty="0"/>
              <a:t>Why scale?</a:t>
            </a:r>
          </a:p>
          <a:p>
            <a:pPr lvl="1"/>
            <a:r>
              <a:rPr lang="en-US" dirty="0"/>
              <a:t>Many ML models are sensitive to feature scales</a:t>
            </a:r>
          </a:p>
          <a:p>
            <a:pPr lvl="1"/>
            <a:r>
              <a:rPr lang="en-US" dirty="0"/>
              <a:t>Distance-based methods and gradient-based optimization benefit</a:t>
            </a:r>
          </a:p>
          <a:p>
            <a:r>
              <a:rPr lang="en-US" dirty="0"/>
              <a:t>Approaches:</a:t>
            </a:r>
          </a:p>
          <a:p>
            <a:pPr lvl="1"/>
            <a:r>
              <a:rPr lang="en-US" dirty="0"/>
              <a:t>Standardization (zero mean, unit variance)</a:t>
            </a:r>
          </a:p>
          <a:p>
            <a:pPr lvl="1"/>
            <a:r>
              <a:rPr lang="en-US" dirty="0"/>
              <a:t>Min–max scaling</a:t>
            </a:r>
          </a:p>
          <a:p>
            <a:r>
              <a:rPr lang="en-US" dirty="0"/>
              <a:t>In this workshop:</a:t>
            </a:r>
          </a:p>
          <a:p>
            <a:pPr lvl="1"/>
            <a:r>
              <a:rPr lang="en-US" dirty="0"/>
              <a:t>Use `</a:t>
            </a:r>
            <a:r>
              <a:rPr lang="en-US" dirty="0" err="1"/>
              <a:t>scaler.pkl</a:t>
            </a:r>
            <a:r>
              <a:rPr lang="en-US" dirty="0"/>
              <a:t>` to normalize features consistently across notebooks</a:t>
            </a:r>
          </a:p>
        </p:txBody>
      </p:sp>
    </p:spTree>
    <p:extLst>
      <p:ext uri="{BB962C8B-B14F-4D97-AF65-F5344CB8AC3E}">
        <p14:creationId xmlns:p14="http://schemas.microsoft.com/office/powerpoint/2010/main" val="749002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BD25-510D-6130-D3FF-0D361994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33A69CD-D41C-DE88-EE01-F440E7AE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A0164C9-9053-0A29-F36B-290EEA056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Visualization &amp; Insights</a:t>
            </a:r>
            <a:endParaRPr lang="en-US" dirty="0"/>
          </a:p>
          <a:p>
            <a:r>
              <a:rPr lang="en-US" dirty="0"/>
              <a:t>Visual tools:</a:t>
            </a:r>
          </a:p>
          <a:p>
            <a:pPr lvl="1"/>
            <a:r>
              <a:rPr lang="en-US" dirty="0"/>
              <a:t>Histograms of feature distributions</a:t>
            </a:r>
          </a:p>
          <a:p>
            <a:pPr lvl="1"/>
            <a:r>
              <a:rPr lang="en-US" dirty="0"/>
              <a:t>Pairwise plots / correlation heatmaps</a:t>
            </a:r>
          </a:p>
          <a:p>
            <a:pPr lvl="1"/>
            <a:r>
              <a:rPr lang="en-US" dirty="0"/>
              <a:t>Boxplots for benign vs attack</a:t>
            </a: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Identify features that separate benign and malicious flows</a:t>
            </a:r>
          </a:p>
          <a:p>
            <a:pPr lvl="1"/>
            <a:r>
              <a:rPr lang="en-US" dirty="0"/>
              <a:t>Develop intuition about attack patterns</a:t>
            </a:r>
          </a:p>
        </p:txBody>
      </p:sp>
    </p:spTree>
    <p:extLst>
      <p:ext uri="{BB962C8B-B14F-4D97-AF65-F5344CB8AC3E}">
        <p14:creationId xmlns:p14="http://schemas.microsoft.com/office/powerpoint/2010/main" val="3795903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493B-812D-2B8B-3BB2-9EB194A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FA90E90-021C-757D-A61D-DD0CAFED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Network Traffic Analysis (Notebook 01)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AFA3902-DEA2-46A7-15EA-EC641BFF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Notebook 01 – What You’ll Do</a:t>
            </a:r>
            <a:endParaRPr lang="en-US" dirty="0"/>
          </a:p>
          <a:p>
            <a:r>
              <a:rPr lang="en-US" dirty="0"/>
              <a:t>Load `cleaned_network_traffic.csv`</a:t>
            </a:r>
          </a:p>
          <a:p>
            <a:r>
              <a:rPr lang="en-US" dirty="0"/>
              <a:t>Inspect feature distributions and correlations</a:t>
            </a:r>
          </a:p>
          <a:p>
            <a:r>
              <a:rPr lang="en-US" dirty="0"/>
              <a:t>Apply scaling using the provided scaler</a:t>
            </a:r>
          </a:p>
          <a:p>
            <a:r>
              <a:rPr lang="en-US" dirty="0"/>
              <a:t>Understand the meaning of each feature</a:t>
            </a:r>
          </a:p>
          <a:p>
            <a:r>
              <a:rPr lang="en-US" dirty="0"/>
              <a:t>Prepare the dataset for model training in Notebook 02</a:t>
            </a:r>
          </a:p>
        </p:txBody>
      </p:sp>
    </p:spTree>
    <p:extLst>
      <p:ext uri="{BB962C8B-B14F-4D97-AF65-F5344CB8AC3E}">
        <p14:creationId xmlns:p14="http://schemas.microsoft.com/office/powerpoint/2010/main" val="152570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3107-B92A-00A3-B572-6A244211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9B59261-8773-6D63-98C9-B60A52BF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CD2C359-569D-13D7-DEDA-709C7A4F7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From Features to Models</a:t>
            </a:r>
            <a:endParaRPr lang="en-US" dirty="0"/>
          </a:p>
          <a:p>
            <a:r>
              <a:rPr lang="en-US" dirty="0"/>
              <a:t>Inputs:</a:t>
            </a:r>
          </a:p>
          <a:p>
            <a:pPr lvl="1"/>
            <a:r>
              <a:rPr lang="en-US" dirty="0"/>
              <a:t>Cleaned and scaled network traffic dataset</a:t>
            </a:r>
          </a:p>
          <a:p>
            <a:r>
              <a:rPr lang="en-US" dirty="0"/>
              <a:t>Task:</a:t>
            </a:r>
          </a:p>
          <a:p>
            <a:pPr lvl="1"/>
            <a:r>
              <a:rPr lang="en-US" dirty="0"/>
              <a:t>Classify each network flow as benign or attack</a:t>
            </a:r>
          </a:p>
          <a:p>
            <a:r>
              <a:rPr lang="en-US" dirty="0"/>
              <a:t>Constraints:</a:t>
            </a:r>
          </a:p>
          <a:p>
            <a:pPr lvl="1"/>
            <a:r>
              <a:rPr lang="en-US" dirty="0"/>
              <a:t>Models must be </a:t>
            </a:r>
            <a:r>
              <a:rPr lang="en-US" b="1" dirty="0"/>
              <a:t>lightweight</a:t>
            </a:r>
            <a:r>
              <a:rPr lang="en-US" dirty="0"/>
              <a:t> and </a:t>
            </a:r>
            <a:r>
              <a:rPr lang="en-US" b="1" dirty="0"/>
              <a:t>fast</a:t>
            </a:r>
            <a:r>
              <a:rPr lang="en-US" dirty="0"/>
              <a:t> enough for edge devices</a:t>
            </a:r>
          </a:p>
        </p:txBody>
      </p:sp>
    </p:spTree>
    <p:extLst>
      <p:ext uri="{BB962C8B-B14F-4D97-AF65-F5344CB8AC3E}">
        <p14:creationId xmlns:p14="http://schemas.microsoft.com/office/powerpoint/2010/main" val="394985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E380-939A-54C8-EE35-3521A27F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234E0B0-8EE5-2D45-3338-255511AB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1F3666-DC8B-1454-508C-AF63E5E0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Model Zoo in This Workshop</a:t>
            </a:r>
            <a:endParaRPr lang="en-US" dirty="0"/>
          </a:p>
          <a:p>
            <a:r>
              <a:rPr lang="en-US" dirty="0"/>
              <a:t>Classical ML models: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</a:t>
            </a:r>
          </a:p>
          <a:p>
            <a:pPr lvl="1"/>
            <a:r>
              <a:rPr lang="en-US" dirty="0"/>
              <a:t>Random Forest</a:t>
            </a:r>
          </a:p>
          <a:p>
            <a:pPr lvl="1"/>
            <a:r>
              <a:rPr lang="en-US" dirty="0"/>
              <a:t>Linear SVM / other SVM variants</a:t>
            </a:r>
          </a:p>
          <a:p>
            <a:r>
              <a:rPr lang="en-US" dirty="0"/>
              <a:t>Deep Learning:</a:t>
            </a:r>
          </a:p>
          <a:p>
            <a:pPr lvl="1"/>
            <a:r>
              <a:rPr lang="en-US" dirty="0"/>
              <a:t>Custom </a:t>
            </a:r>
            <a:r>
              <a:rPr lang="en-US" b="1" dirty="0" err="1"/>
              <a:t>EdgeSecurityNet</a:t>
            </a:r>
            <a:r>
              <a:rPr lang="en-US" dirty="0"/>
              <a:t> (lightweight DNN)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Compare multiple models on:</a:t>
            </a:r>
          </a:p>
          <a:p>
            <a:pPr lvl="2"/>
            <a:r>
              <a:rPr lang="en-US" dirty="0"/>
              <a:t>Accuracy</a:t>
            </a:r>
          </a:p>
          <a:p>
            <a:pPr lvl="2"/>
            <a:r>
              <a:rPr lang="en-US" dirty="0"/>
              <a:t>F1-score</a:t>
            </a:r>
          </a:p>
          <a:p>
            <a:pPr lvl="2"/>
            <a:r>
              <a:rPr lang="en-US" dirty="0"/>
              <a:t>Inference time</a:t>
            </a:r>
          </a:p>
          <a:p>
            <a:pPr lvl="2"/>
            <a:r>
              <a:rPr lang="en-US" dirty="0"/>
              <a:t>Model size</a:t>
            </a:r>
          </a:p>
        </p:txBody>
      </p:sp>
    </p:spTree>
    <p:extLst>
      <p:ext uri="{BB962C8B-B14F-4D97-AF65-F5344CB8AC3E}">
        <p14:creationId xmlns:p14="http://schemas.microsoft.com/office/powerpoint/2010/main" val="2856944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C316-2750-7537-81D5-D6F4C906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54CD3BD-0DD6-4E7E-FBCC-D5D94FB9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7C804F3-1050-0BDD-C1B5-AE9CD2A48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EdgeSecurityNet</a:t>
            </a:r>
            <a:r>
              <a:rPr lang="en-US" b="1" dirty="0"/>
              <a:t> – Architecture</a:t>
            </a:r>
            <a:endParaRPr lang="en-US" dirty="0"/>
          </a:p>
          <a:p>
            <a:r>
              <a:rPr lang="en-US" dirty="0"/>
              <a:t>Input:</a:t>
            </a:r>
          </a:p>
          <a:p>
            <a:pPr lvl="1"/>
            <a:r>
              <a:rPr lang="en-US" dirty="0"/>
              <a:t>~21 engineered network features</a:t>
            </a:r>
          </a:p>
          <a:p>
            <a:r>
              <a:rPr lang="en-US" dirty="0"/>
              <a:t>Hidden Layers:</a:t>
            </a:r>
          </a:p>
          <a:p>
            <a:pPr lvl="1"/>
            <a:r>
              <a:rPr lang="en-US" dirty="0"/>
              <a:t>Layer 1: 32 neurons + </a:t>
            </a:r>
            <a:r>
              <a:rPr lang="en-US" dirty="0" err="1"/>
              <a:t>BatchNorm</a:t>
            </a:r>
            <a:r>
              <a:rPr lang="en-US" dirty="0"/>
              <a:t> + </a:t>
            </a:r>
            <a:r>
              <a:rPr lang="en-US" dirty="0" err="1"/>
              <a:t>ReLU</a:t>
            </a:r>
            <a:r>
              <a:rPr lang="en-US" dirty="0"/>
              <a:t> + Dropout</a:t>
            </a:r>
          </a:p>
          <a:p>
            <a:pPr lvl="1"/>
            <a:r>
              <a:rPr lang="en-US" dirty="0"/>
              <a:t>Layer 2: 16 neurons + </a:t>
            </a:r>
            <a:r>
              <a:rPr lang="en-US" dirty="0" err="1"/>
              <a:t>BatchNorm</a:t>
            </a:r>
            <a:r>
              <a:rPr lang="en-US" dirty="0"/>
              <a:t> + </a:t>
            </a:r>
            <a:r>
              <a:rPr lang="en-US" dirty="0" err="1"/>
              <a:t>ReLU</a:t>
            </a:r>
            <a:r>
              <a:rPr lang="en-US" dirty="0"/>
              <a:t> + Dropout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Single sigmoid activation for binary classification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~15KB model size (approx.) – suitable for IoT / edge devices</a:t>
            </a:r>
          </a:p>
          <a:p>
            <a:pPr lvl="1"/>
            <a:r>
              <a:rPr lang="en-US" dirty="0"/>
              <a:t>Designed for low-latency inference on CPU</a:t>
            </a:r>
          </a:p>
        </p:txBody>
      </p:sp>
    </p:spTree>
    <p:extLst>
      <p:ext uri="{BB962C8B-B14F-4D97-AF65-F5344CB8AC3E}">
        <p14:creationId xmlns:p14="http://schemas.microsoft.com/office/powerpoint/2010/main" val="3718858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EA1B-5CF4-439E-5741-E6ED6D01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923A5BF-01D4-361F-D54D-C961E537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4D43892-9BE5-E833-1D1F-0ED280280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EdgeSecurityNet</a:t>
            </a:r>
            <a:r>
              <a:rPr lang="en-US" b="1" dirty="0"/>
              <a:t> – Architecture</a:t>
            </a:r>
            <a:endParaRPr lang="en-US" dirty="0"/>
          </a:p>
          <a:p>
            <a:r>
              <a:rPr lang="en-US" dirty="0"/>
              <a:t>Input:</a:t>
            </a:r>
          </a:p>
          <a:p>
            <a:pPr lvl="1"/>
            <a:r>
              <a:rPr lang="en-US" dirty="0"/>
              <a:t>~21 engineered network features</a:t>
            </a:r>
          </a:p>
          <a:p>
            <a:r>
              <a:rPr lang="en-US" dirty="0"/>
              <a:t>Hidden Layers:</a:t>
            </a:r>
          </a:p>
          <a:p>
            <a:pPr lvl="1"/>
            <a:r>
              <a:rPr lang="en-US" dirty="0"/>
              <a:t>Layer 1: 32 neurons + </a:t>
            </a:r>
            <a:r>
              <a:rPr lang="en-US" dirty="0" err="1"/>
              <a:t>BatchNorm</a:t>
            </a:r>
            <a:r>
              <a:rPr lang="en-US" dirty="0"/>
              <a:t> + </a:t>
            </a:r>
            <a:r>
              <a:rPr lang="en-US" dirty="0" err="1"/>
              <a:t>ReLU</a:t>
            </a:r>
            <a:r>
              <a:rPr lang="en-US" dirty="0"/>
              <a:t> + Dropout</a:t>
            </a:r>
          </a:p>
          <a:p>
            <a:pPr lvl="1"/>
            <a:r>
              <a:rPr lang="en-US" dirty="0"/>
              <a:t>Layer 2: 16 neurons + </a:t>
            </a:r>
            <a:r>
              <a:rPr lang="en-US" dirty="0" err="1"/>
              <a:t>BatchNorm</a:t>
            </a:r>
            <a:r>
              <a:rPr lang="en-US" dirty="0"/>
              <a:t> + </a:t>
            </a:r>
            <a:r>
              <a:rPr lang="en-US" dirty="0" err="1"/>
              <a:t>ReLU</a:t>
            </a:r>
            <a:r>
              <a:rPr lang="en-US" dirty="0"/>
              <a:t> + Dropout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Single sigmoid activation for binary classification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~15KB model size (approx.) – suitable for IoT / edge devices</a:t>
            </a:r>
          </a:p>
          <a:p>
            <a:pPr lvl="1"/>
            <a:r>
              <a:rPr lang="en-US" dirty="0"/>
              <a:t>Designed for low-latency inference on CPU</a:t>
            </a:r>
          </a:p>
        </p:txBody>
      </p:sp>
    </p:spTree>
    <p:extLst>
      <p:ext uri="{BB962C8B-B14F-4D97-AF65-F5344CB8AC3E}">
        <p14:creationId xmlns:p14="http://schemas.microsoft.com/office/powerpoint/2010/main" val="3076951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2127-BC0A-95D1-AAB6-D2F6D0698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5422F83-EFD7-86CB-4530-49D6CE08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951249-58B6-9197-7DE0-F5765AF47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Training &amp; Evaluation Pipeline</a:t>
            </a:r>
            <a:endParaRPr lang="en-US" dirty="0"/>
          </a:p>
          <a:p>
            <a:r>
              <a:rPr lang="en-US" dirty="0"/>
              <a:t>Workflow:</a:t>
            </a:r>
          </a:p>
          <a:p>
            <a:pPr lvl="1"/>
            <a:r>
              <a:rPr lang="en-US" dirty="0"/>
              <a:t>Train/</a:t>
            </a:r>
            <a:r>
              <a:rPr lang="en-US" dirty="0" err="1"/>
              <a:t>val</a:t>
            </a:r>
            <a:r>
              <a:rPr lang="en-US" dirty="0"/>
              <a:t>/test split</a:t>
            </a:r>
          </a:p>
          <a:p>
            <a:pPr lvl="1"/>
            <a:r>
              <a:rPr lang="en-US" dirty="0"/>
              <a:t>Train each model on the same data</a:t>
            </a:r>
          </a:p>
          <a:p>
            <a:pPr lvl="1"/>
            <a:r>
              <a:rPr lang="en-US" dirty="0"/>
              <a:t>Tune basic hyperparameters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Accuracy, Precision, Recall, F1-score</a:t>
            </a:r>
          </a:p>
          <a:p>
            <a:pPr lvl="1"/>
            <a:r>
              <a:rPr lang="en-US" dirty="0"/>
              <a:t>ROC-AUC (optional)</a:t>
            </a:r>
          </a:p>
          <a:p>
            <a:pPr lvl="1"/>
            <a:r>
              <a:rPr lang="en-US" dirty="0"/>
              <a:t>Inference time per sample / batch</a:t>
            </a:r>
          </a:p>
          <a:p>
            <a:pPr lvl="1"/>
            <a:r>
              <a:rPr lang="en-US" dirty="0"/>
              <a:t>Model size on disk (e.g., `.pt`, `.</a:t>
            </a:r>
            <a:r>
              <a:rPr lang="en-US" dirty="0" err="1"/>
              <a:t>joblib</a:t>
            </a:r>
            <a:r>
              <a:rPr lang="en-US" dirty="0"/>
              <a:t>`)</a:t>
            </a:r>
          </a:p>
        </p:txBody>
      </p:sp>
    </p:spTree>
    <p:extLst>
      <p:ext uri="{BB962C8B-B14F-4D97-AF65-F5344CB8AC3E}">
        <p14:creationId xmlns:p14="http://schemas.microsoft.com/office/powerpoint/2010/main" val="1088861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524A-2B31-C91F-36F2-E19C6517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904E01E-1FA3-F3DA-A280-5B011364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BD97B86-F70D-3E58-2D6C-FD80873FF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Edge Deployment Scoring</a:t>
            </a:r>
            <a:endParaRPr lang="en-US" dirty="0"/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Not only accuracy matters for edge scenarios</a:t>
            </a:r>
          </a:p>
          <a:p>
            <a:r>
              <a:rPr lang="en-US" dirty="0"/>
              <a:t>Components of a deployment score:</a:t>
            </a:r>
          </a:p>
          <a:p>
            <a:pPr lvl="1"/>
            <a:r>
              <a:rPr lang="en-US" dirty="0"/>
              <a:t>Classification performance (accuracy/F1)</a:t>
            </a:r>
          </a:p>
          <a:p>
            <a:pPr lvl="1"/>
            <a:r>
              <a:rPr lang="en-US" dirty="0"/>
              <a:t>Latency (inference time)</a:t>
            </a:r>
          </a:p>
          <a:p>
            <a:pPr lvl="1"/>
            <a:r>
              <a:rPr lang="en-US" dirty="0"/>
              <a:t>Model size (memory/storage)</a:t>
            </a:r>
          </a:p>
          <a:p>
            <a:pPr lvl="1"/>
            <a:r>
              <a:rPr lang="en-US" dirty="0"/>
              <a:t>Resource usage (CPU/GPU)</a:t>
            </a:r>
          </a:p>
          <a:p>
            <a:r>
              <a:rPr lang="en-US" dirty="0"/>
              <a:t>Example scoring:</a:t>
            </a:r>
          </a:p>
          <a:p>
            <a:pPr lvl="1"/>
            <a:r>
              <a:rPr lang="en-US" dirty="0"/>
              <a:t>Weighted combination of accuracy and efficiency metrics</a:t>
            </a:r>
          </a:p>
          <a:p>
            <a:pPr lvl="1"/>
            <a:r>
              <a:rPr lang="en-US" dirty="0"/>
              <a:t>Helps choose the best </a:t>
            </a:r>
            <a:r>
              <a:rPr lang="en-US" b="1" dirty="0"/>
              <a:t>edge-ready</a:t>
            </a:r>
            <a:r>
              <a:rPr lang="en-US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426743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0047C-F292-DC63-042D-403185B2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AAB1843-F724-6D2A-2527-47A0B168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21B9ED8-AF4A-04C7-9CF9-AE68132A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 Export &amp; Formats</a:t>
            </a:r>
            <a:endParaRPr lang="en-US" dirty="0"/>
          </a:p>
          <a:p>
            <a:r>
              <a:rPr lang="en-US" dirty="0"/>
              <a:t>For classical models:</a:t>
            </a:r>
          </a:p>
          <a:p>
            <a:pPr lvl="1"/>
            <a:r>
              <a:rPr lang="en-US" dirty="0"/>
              <a:t>Save with `</a:t>
            </a:r>
            <a:r>
              <a:rPr lang="en-US" dirty="0" err="1"/>
              <a:t>joblib</a:t>
            </a:r>
            <a:r>
              <a:rPr lang="en-US" dirty="0"/>
              <a:t>` or `pickle` (`.</a:t>
            </a:r>
            <a:r>
              <a:rPr lang="en-US" dirty="0" err="1"/>
              <a:t>joblib</a:t>
            </a:r>
            <a:r>
              <a:rPr lang="en-US" dirty="0"/>
              <a:t>` files)</a:t>
            </a:r>
          </a:p>
          <a:p>
            <a:r>
              <a:rPr lang="en-US" dirty="0"/>
              <a:t>For neural networks:</a:t>
            </a:r>
          </a:p>
          <a:p>
            <a:pPr lvl="1"/>
            <a:r>
              <a:rPr lang="en-US" dirty="0"/>
              <a:t>Save </a:t>
            </a:r>
            <a:r>
              <a:rPr lang="en-US" dirty="0" err="1"/>
              <a:t>PyTorch</a:t>
            </a:r>
            <a:r>
              <a:rPr lang="en-US" dirty="0"/>
              <a:t> state </a:t>
            </a:r>
            <a:r>
              <a:rPr lang="en-US" dirty="0" err="1"/>
              <a:t>dict</a:t>
            </a:r>
            <a:r>
              <a:rPr lang="en-US" dirty="0"/>
              <a:t> or full model (`.pt`)</a:t>
            </a:r>
          </a:p>
          <a:p>
            <a:pPr lvl="1"/>
            <a:r>
              <a:rPr lang="en-US" dirty="0"/>
              <a:t>Export to ONNX (`.</a:t>
            </a:r>
            <a:r>
              <a:rPr lang="en-US" dirty="0" err="1"/>
              <a:t>onnx</a:t>
            </a:r>
            <a:r>
              <a:rPr lang="en-US" dirty="0"/>
              <a:t>`) for deployment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Portability between platforms</a:t>
            </a:r>
          </a:p>
          <a:p>
            <a:pPr lvl="1"/>
            <a:r>
              <a:rPr lang="en-US" dirty="0"/>
              <a:t>Compatibility with runtimes like ONNX Runtime on edge devices</a:t>
            </a:r>
          </a:p>
        </p:txBody>
      </p:sp>
    </p:spTree>
    <p:extLst>
      <p:ext uri="{BB962C8B-B14F-4D97-AF65-F5344CB8AC3E}">
        <p14:creationId xmlns:p14="http://schemas.microsoft.com/office/powerpoint/2010/main" val="1517361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4A12-62B3-1356-CD7B-C47906A3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A318F54-7F4D-DE4C-E027-40ADD607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Edge AI Anomaly Detection (Notebook 02)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815058D-A8A9-C404-2561-CD36D744C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Notebook 02 – What You’ll Do</a:t>
            </a:r>
            <a:endParaRPr lang="en-US" dirty="0"/>
          </a:p>
          <a:p>
            <a:r>
              <a:rPr lang="en-US" dirty="0"/>
              <a:t>Train multiple models on the network traffic dataset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Accuracy, F1-score, ROC-AUC</a:t>
            </a:r>
          </a:p>
          <a:p>
            <a:pPr lvl="1"/>
            <a:r>
              <a:rPr lang="en-US" dirty="0"/>
              <a:t>Inference speed and model size</a:t>
            </a:r>
          </a:p>
          <a:p>
            <a:r>
              <a:rPr lang="en-US" dirty="0"/>
              <a:t>Evaluate </a:t>
            </a:r>
            <a:r>
              <a:rPr lang="en-US" dirty="0" err="1"/>
              <a:t>EdgeSecurityNet</a:t>
            </a:r>
            <a:r>
              <a:rPr lang="en-US" dirty="0"/>
              <a:t> vs classical ML models</a:t>
            </a:r>
          </a:p>
          <a:p>
            <a:r>
              <a:rPr lang="en-US" dirty="0"/>
              <a:t>Export best models to:</a:t>
            </a:r>
          </a:p>
          <a:p>
            <a:pPr lvl="1"/>
            <a:r>
              <a:rPr lang="en-US" dirty="0"/>
              <a:t>`.</a:t>
            </a:r>
            <a:r>
              <a:rPr lang="en-US" dirty="0" err="1"/>
              <a:t>joblib</a:t>
            </a:r>
            <a:r>
              <a:rPr lang="en-US" dirty="0"/>
              <a:t>`</a:t>
            </a:r>
          </a:p>
          <a:p>
            <a:pPr lvl="1"/>
            <a:r>
              <a:rPr lang="en-US" dirty="0"/>
              <a:t>`.pt`</a:t>
            </a:r>
          </a:p>
          <a:p>
            <a:pPr lvl="1"/>
            <a:r>
              <a:rPr lang="en-US" dirty="0"/>
              <a:t>`.</a:t>
            </a:r>
            <a:r>
              <a:rPr lang="en-US" dirty="0" err="1"/>
              <a:t>onnx</a:t>
            </a:r>
            <a:r>
              <a:rPr lang="en-US" dirty="0"/>
              <a:t>`</a:t>
            </a:r>
          </a:p>
          <a:p>
            <a:r>
              <a:rPr lang="en-US" dirty="0"/>
              <a:t>Select a “best overall” model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4065196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DE99-5D06-7BDF-7A8E-73CB8618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807B3CC-75DA-C645-D2CC-619978AD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15B32F-6036-F9CE-F288-69D9C9458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From Batch to Streaming</a:t>
            </a:r>
            <a:endParaRPr lang="en-US" dirty="0"/>
          </a:p>
          <a:p>
            <a:r>
              <a:rPr lang="en-US" dirty="0"/>
              <a:t>Real-world requirement:</a:t>
            </a:r>
          </a:p>
          <a:p>
            <a:pPr lvl="1"/>
            <a:r>
              <a:rPr lang="en-US" dirty="0"/>
              <a:t>Network traffic arrives as a </a:t>
            </a:r>
            <a:r>
              <a:rPr lang="en-US" b="1" dirty="0"/>
              <a:t>stream</a:t>
            </a:r>
            <a:r>
              <a:rPr lang="en-US" dirty="0"/>
              <a:t>, not as a static dataset</a:t>
            </a:r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Apply trained models to live traffic flows</a:t>
            </a:r>
          </a:p>
          <a:p>
            <a:pPr lvl="1"/>
            <a:r>
              <a:rPr lang="en-US" dirty="0"/>
              <a:t>Generate alerts in real time</a:t>
            </a:r>
          </a:p>
          <a:p>
            <a:pPr lvl="1"/>
            <a:r>
              <a:rPr lang="en-US" dirty="0"/>
              <a:t>Log and summarize security events</a:t>
            </a:r>
          </a:p>
        </p:txBody>
      </p:sp>
    </p:spTree>
    <p:extLst>
      <p:ext uri="{BB962C8B-B14F-4D97-AF65-F5344CB8AC3E}">
        <p14:creationId xmlns:p14="http://schemas.microsoft.com/office/powerpoint/2010/main" val="3437557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DA4B3-6B4E-AFF2-F619-D244257D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3FE36C6-4170-A5C1-BEBA-80839C34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17CD70-F772-7D23-20A9-8D601E128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Streaming Inference Concept</a:t>
            </a:r>
            <a:endParaRPr lang="en-US" dirty="0"/>
          </a:p>
          <a:p>
            <a:r>
              <a:rPr lang="en-US" dirty="0"/>
              <a:t>Stream:</a:t>
            </a:r>
          </a:p>
          <a:p>
            <a:pPr lvl="1"/>
            <a:r>
              <a:rPr lang="en-US" dirty="0"/>
              <a:t>Simulated or real-time data source of network events</a:t>
            </a:r>
          </a:p>
          <a:p>
            <a:r>
              <a:rPr lang="en-US" dirty="0"/>
              <a:t>Components:</a:t>
            </a:r>
          </a:p>
          <a:p>
            <a:pPr lvl="1"/>
            <a:r>
              <a:rPr lang="en-US" dirty="0"/>
              <a:t>Data ingestion (batches or single events)</a:t>
            </a:r>
          </a:p>
          <a:p>
            <a:pPr lvl="1"/>
            <a:r>
              <a:rPr lang="en-US" dirty="0"/>
              <a:t>Feature extraction / scaling</a:t>
            </a:r>
          </a:p>
          <a:p>
            <a:pPr lvl="1"/>
            <a:r>
              <a:rPr lang="en-US" dirty="0"/>
              <a:t>Model inference</a:t>
            </a:r>
          </a:p>
          <a:p>
            <a:pPr lvl="1"/>
            <a:r>
              <a:rPr lang="en-US" dirty="0"/>
              <a:t>Alert generation and logging</a:t>
            </a:r>
          </a:p>
          <a:p>
            <a:r>
              <a:rPr lang="en-US" dirty="0"/>
              <a:t>Key properties: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Throughput</a:t>
            </a:r>
          </a:p>
          <a:p>
            <a:pPr lvl="1"/>
            <a:r>
              <a:rPr lang="en-US" dirty="0"/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389173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256B-CCF5-7688-E3AD-1B3B23A2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3434F62-0AC6-87C0-8F60-48DF5575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177790-6C00-FC9E-3ED7-FBFE30546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Alerting Logic</a:t>
            </a:r>
            <a:endParaRPr lang="en-US" dirty="0"/>
          </a:p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If predicted probability of “attack” &gt; threshold:</a:t>
            </a:r>
          </a:p>
          <a:p>
            <a:pPr lvl="2"/>
            <a:r>
              <a:rPr lang="en-US" dirty="0"/>
              <a:t>Raise alert</a:t>
            </a:r>
          </a:p>
          <a:p>
            <a:r>
              <a:rPr lang="en-US" dirty="0"/>
              <a:t>Additional aspects:</a:t>
            </a:r>
          </a:p>
          <a:p>
            <a:pPr lvl="1"/>
            <a:r>
              <a:rPr lang="en-US" dirty="0"/>
              <a:t>Alert severity levels (info/warn/critical)</a:t>
            </a:r>
          </a:p>
          <a:p>
            <a:pPr lvl="1"/>
            <a:r>
              <a:rPr lang="en-US" dirty="0"/>
              <a:t>Aggregation of repeated alerts (e.g., rate limiting)</a:t>
            </a:r>
          </a:p>
          <a:p>
            <a:pPr lvl="1"/>
            <a:r>
              <a:rPr lang="en-US" dirty="0"/>
              <a:t>Logging to file / dashboard / external system</a:t>
            </a:r>
          </a:p>
        </p:txBody>
      </p:sp>
    </p:spTree>
    <p:extLst>
      <p:ext uri="{BB962C8B-B14F-4D97-AF65-F5344CB8AC3E}">
        <p14:creationId xmlns:p14="http://schemas.microsoft.com/office/powerpoint/2010/main" val="368603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6C3E-7F16-A427-1ABA-397A9E73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FC7160F-822D-259A-43CB-7173555A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3E0C4D-9E58-62AF-EC6E-CFB812037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Edge Monitoring Metrics</a:t>
            </a:r>
            <a:endParaRPr lang="en-US" dirty="0"/>
          </a:p>
          <a:p>
            <a:r>
              <a:rPr lang="en-US" dirty="0"/>
              <a:t>Besides classification:</a:t>
            </a:r>
          </a:p>
          <a:p>
            <a:pPr lvl="1"/>
            <a:r>
              <a:rPr lang="en-US" dirty="0"/>
              <a:t>Monitor:</a:t>
            </a:r>
          </a:p>
          <a:p>
            <a:pPr lvl="2"/>
            <a:r>
              <a:rPr lang="en-US" dirty="0"/>
              <a:t>Inference latency per event</a:t>
            </a:r>
          </a:p>
          <a:p>
            <a:pPr lvl="2"/>
            <a:r>
              <a:rPr lang="en-US" dirty="0"/>
              <a:t>Number of events processed per second</a:t>
            </a:r>
          </a:p>
          <a:p>
            <a:pPr lvl="2"/>
            <a:r>
              <a:rPr lang="en-US" dirty="0"/>
              <a:t>System resource usage (CPU, memory)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Confirm model is </a:t>
            </a:r>
            <a:r>
              <a:rPr lang="en-US" b="1" dirty="0"/>
              <a:t>meeting real-time requirements</a:t>
            </a:r>
            <a:r>
              <a:rPr lang="en-US" dirty="0"/>
              <a:t> on target hardware</a:t>
            </a:r>
          </a:p>
        </p:txBody>
      </p:sp>
    </p:spTree>
    <p:extLst>
      <p:ext uri="{BB962C8B-B14F-4D97-AF65-F5344CB8AC3E}">
        <p14:creationId xmlns:p14="http://schemas.microsoft.com/office/powerpoint/2010/main" val="2969246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1F51D-0510-5490-E696-309A7ECD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D099AE0-3E6D-D27F-9655-7D333540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BE38392-D7FD-3608-FF7A-0BCF239F9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Reporting</a:t>
            </a:r>
            <a:endParaRPr lang="en-US" dirty="0"/>
          </a:p>
          <a:p>
            <a:r>
              <a:rPr lang="en-US" dirty="0"/>
              <a:t>Components of a security report:</a:t>
            </a:r>
          </a:p>
          <a:p>
            <a:pPr lvl="1"/>
            <a:r>
              <a:rPr lang="en-US" dirty="0"/>
              <a:t>Total number of events</a:t>
            </a:r>
          </a:p>
          <a:p>
            <a:pPr lvl="1"/>
            <a:r>
              <a:rPr lang="en-US" dirty="0"/>
              <a:t>Number and types of alerts</a:t>
            </a:r>
          </a:p>
          <a:p>
            <a:pPr lvl="1"/>
            <a:r>
              <a:rPr lang="en-US" dirty="0"/>
              <a:t>Top attacking IPs / ports (if available)</a:t>
            </a:r>
          </a:p>
          <a:p>
            <a:pPr lvl="1"/>
            <a:r>
              <a:rPr lang="en-US" dirty="0"/>
              <a:t>Time windows with highest activity</a:t>
            </a:r>
          </a:p>
          <a:p>
            <a:r>
              <a:rPr lang="en-US" dirty="0"/>
              <a:t>Outputs:</a:t>
            </a:r>
          </a:p>
          <a:p>
            <a:pPr lvl="1"/>
            <a:r>
              <a:rPr lang="en-US" dirty="0"/>
              <a:t>JSON report summaries (e.g., `</a:t>
            </a:r>
            <a:r>
              <a:rPr lang="en-US" dirty="0" err="1"/>
              <a:t>security_report</a:t>
            </a:r>
            <a:r>
              <a:rPr lang="en-US" dirty="0"/>
              <a:t>_*.</a:t>
            </a:r>
            <a:r>
              <a:rPr lang="en-US" dirty="0" err="1"/>
              <a:t>json</a:t>
            </a:r>
            <a:r>
              <a:rPr lang="en-US" dirty="0"/>
              <a:t>`)</a:t>
            </a:r>
          </a:p>
          <a:p>
            <a:pPr lvl="1"/>
            <a:r>
              <a:rPr lang="en-US" dirty="0"/>
              <a:t>Text summaries (`</a:t>
            </a:r>
            <a:r>
              <a:rPr lang="en-US" dirty="0" err="1"/>
              <a:t>security_summary</a:t>
            </a:r>
            <a:r>
              <a:rPr lang="en-US" dirty="0"/>
              <a:t>_*.txt`)</a:t>
            </a:r>
          </a:p>
        </p:txBody>
      </p:sp>
    </p:spTree>
    <p:extLst>
      <p:ext uri="{BB962C8B-B14F-4D97-AF65-F5344CB8AC3E}">
        <p14:creationId xmlns:p14="http://schemas.microsoft.com/office/powerpoint/2010/main" val="277232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63D6-0FE3-73D7-91DB-5641D8F5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BE8820E-BFAF-B33A-1D58-601573CF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078E6C4-B8E6-EE03-967A-033134B43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Notebook 03 – What You’ll Do</a:t>
            </a:r>
            <a:endParaRPr lang="en-US" dirty="0"/>
          </a:p>
          <a:p>
            <a:r>
              <a:rPr lang="en-US" dirty="0"/>
              <a:t>Simulate a streaming source of network events</a:t>
            </a:r>
          </a:p>
          <a:p>
            <a:r>
              <a:rPr lang="en-US" dirty="0"/>
              <a:t>Apply the chosen deployment model (e.g., </a:t>
            </a:r>
            <a:r>
              <a:rPr lang="en-US" dirty="0" err="1"/>
              <a:t>EdgeSecurityNet</a:t>
            </a:r>
            <a:r>
              <a:rPr lang="en-US" dirty="0"/>
              <a:t> or best classical model)</a:t>
            </a:r>
          </a:p>
          <a:p>
            <a:r>
              <a:rPr lang="en-US" dirty="0"/>
              <a:t>Generate alerts based on model predictions</a:t>
            </a:r>
          </a:p>
          <a:p>
            <a:r>
              <a:rPr lang="en-US" dirty="0"/>
              <a:t>Log events and alerts to disk (`</a:t>
            </a:r>
            <a:r>
              <a:rPr lang="en-US" dirty="0" err="1"/>
              <a:t>security_reports</a:t>
            </a:r>
            <a:r>
              <a:rPr lang="en-US" dirty="0"/>
              <a:t>/`)</a:t>
            </a:r>
          </a:p>
          <a:p>
            <a:r>
              <a:rPr lang="en-US" dirty="0"/>
              <a:t>Analyze:</a:t>
            </a:r>
          </a:p>
          <a:p>
            <a:pPr lvl="1"/>
            <a:r>
              <a:rPr lang="en-US" dirty="0"/>
              <a:t>Alert patterns over time</a:t>
            </a:r>
          </a:p>
          <a:p>
            <a:pPr lvl="1"/>
            <a:r>
              <a:rPr lang="en-US" dirty="0"/>
              <a:t>Latency and throughput</a:t>
            </a:r>
          </a:p>
          <a:p>
            <a:pPr lvl="1"/>
            <a:r>
              <a:rPr lang="en-US" dirty="0"/>
              <a:t>Overall system performance</a:t>
            </a:r>
          </a:p>
        </p:txBody>
      </p:sp>
    </p:spTree>
    <p:extLst>
      <p:ext uri="{BB962C8B-B14F-4D97-AF65-F5344CB8AC3E}">
        <p14:creationId xmlns:p14="http://schemas.microsoft.com/office/powerpoint/2010/main" val="1106277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A298-C939-1CFD-4771-F4F02E5D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DA77A12-5F76-73D4-C5FF-4E6C9215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Stream Inference &amp; Alerts (Notebook 03)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49418DF-2F2F-4F5A-4A67-F18567561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Edge Deployment Scenarios</a:t>
            </a:r>
            <a:endParaRPr lang="en-US" dirty="0"/>
          </a:p>
          <a:p>
            <a:r>
              <a:rPr lang="en-US" dirty="0"/>
              <a:t>Possible real-world targets:</a:t>
            </a:r>
          </a:p>
          <a:p>
            <a:pPr lvl="1"/>
            <a:r>
              <a:rPr lang="en-US" dirty="0"/>
              <a:t>On-premise gateways or firewalls</a:t>
            </a:r>
          </a:p>
          <a:p>
            <a:pPr lvl="1"/>
            <a:r>
              <a:rPr lang="en-US" dirty="0"/>
              <a:t>Routers/edge devices in industrial networks</a:t>
            </a:r>
          </a:p>
          <a:p>
            <a:pPr lvl="1"/>
            <a:r>
              <a:rPr lang="en-US" dirty="0"/>
              <a:t>Smart home gateways and IoT hubs</a:t>
            </a:r>
          </a:p>
          <a:p>
            <a:r>
              <a:rPr lang="en-US" dirty="0"/>
              <a:t>Considerations:</a:t>
            </a:r>
          </a:p>
          <a:p>
            <a:pPr lvl="1"/>
            <a:r>
              <a:rPr lang="en-US" dirty="0"/>
              <a:t>Hardware constraints (CPU/RAM)</a:t>
            </a:r>
          </a:p>
          <a:p>
            <a:pPr lvl="1"/>
            <a:r>
              <a:rPr lang="en-US" dirty="0"/>
              <a:t>Network bandwidth</a:t>
            </a:r>
          </a:p>
          <a:p>
            <a:pPr lvl="1"/>
            <a:r>
              <a:rPr lang="en-US" dirty="0"/>
              <a:t>Integration with existing SIEM / SOC tools</a:t>
            </a:r>
          </a:p>
        </p:txBody>
      </p:sp>
    </p:spTree>
    <p:extLst>
      <p:ext uri="{BB962C8B-B14F-4D97-AF65-F5344CB8AC3E}">
        <p14:creationId xmlns:p14="http://schemas.microsoft.com/office/powerpoint/2010/main" val="43453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C982-527F-F429-19FC-4AECB105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AD112F1-4EA1-6F48-AE91-4863DA7C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Putting It All Together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59CDAD2-23E9-032E-1A92-2665B723D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Next Steps &amp; Q&amp;A</a:t>
            </a:r>
            <a:endParaRPr lang="en-US" dirty="0"/>
          </a:p>
          <a:p>
            <a:r>
              <a:rPr lang="en-US" dirty="0"/>
              <a:t>Questions on:</a:t>
            </a:r>
          </a:p>
          <a:p>
            <a:pPr lvl="1"/>
            <a:r>
              <a:rPr lang="en-US" dirty="0"/>
              <a:t>Network features and datasets</a:t>
            </a:r>
          </a:p>
          <a:p>
            <a:pPr lvl="1"/>
            <a:r>
              <a:rPr lang="en-US" dirty="0" err="1"/>
              <a:t>EdgeSecurityNet</a:t>
            </a:r>
            <a:r>
              <a:rPr lang="en-US" dirty="0"/>
              <a:t> and model comparison</a:t>
            </a:r>
          </a:p>
          <a:p>
            <a:pPr lvl="1"/>
            <a:r>
              <a:rPr lang="en-US" dirty="0"/>
              <a:t>Streaming and alerting design</a:t>
            </a:r>
          </a:p>
          <a:p>
            <a:r>
              <a:rPr lang="en-US" dirty="0"/>
              <a:t>Practice flow:</a:t>
            </a:r>
          </a:p>
          <a:p>
            <a:pPr lvl="1"/>
            <a:r>
              <a:rPr lang="en-US" dirty="0"/>
              <a:t>Run notebooks 01 → 02 → 03</a:t>
            </a:r>
          </a:p>
          <a:p>
            <a:r>
              <a:rPr lang="en-US" dirty="0"/>
              <a:t>Encourage:</a:t>
            </a:r>
          </a:p>
          <a:p>
            <a:pPr lvl="1"/>
            <a:r>
              <a:rPr lang="en-US" dirty="0"/>
              <a:t>Trying different thresholds and alerting rules</a:t>
            </a:r>
          </a:p>
          <a:p>
            <a:pPr lvl="1"/>
            <a:r>
              <a:rPr lang="en-US" dirty="0"/>
              <a:t>Testing on different hardware</a:t>
            </a:r>
          </a:p>
          <a:p>
            <a:pPr lvl="1"/>
            <a:r>
              <a:rPr lang="en-US"/>
              <a:t>Integrating </a:t>
            </a:r>
            <a:r>
              <a:rPr lang="en-US" dirty="0"/>
              <a:t>with real or simulated network traffic</a:t>
            </a:r>
          </a:p>
        </p:txBody>
      </p:sp>
    </p:spTree>
    <p:extLst>
      <p:ext uri="{BB962C8B-B14F-4D97-AF65-F5344CB8AC3E}">
        <p14:creationId xmlns:p14="http://schemas.microsoft.com/office/powerpoint/2010/main" val="3231760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93</TotalTime>
  <Words>1659</Words>
  <Application>Microsoft Office PowerPoint</Application>
  <PresentationFormat>Custom</PresentationFormat>
  <Paragraphs>286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Tech 16x9</vt:lpstr>
      <vt:lpstr>Edge AI and Cybersecurity in Action</vt:lpstr>
      <vt:lpstr>Agenda</vt:lpstr>
      <vt:lpstr>1. Motivation: Cybersecurity Meets Edge AI</vt:lpstr>
      <vt:lpstr>1. Motivation: Cybersecurity Meets Edge AI</vt:lpstr>
      <vt:lpstr>1. Motivation: Cybersecurity Meets Edge AI</vt:lpstr>
      <vt:lpstr>2. Network Traffic Analysis (Notebook 01)</vt:lpstr>
      <vt:lpstr>2. Network Traffic Analysis (Notebook 01)</vt:lpstr>
      <vt:lpstr>2. Network Traffic Analysis (Notebook 01)</vt:lpstr>
      <vt:lpstr>2. Network Traffic Analysis (Notebook 01)</vt:lpstr>
      <vt:lpstr>2. Network Traffic Analysis (Notebook 01)</vt:lpstr>
      <vt:lpstr>2. Network Traffic Analysis (Notebook 01)</vt:lpstr>
      <vt:lpstr>2. Network Traffic Analysis (Notebook 01)</vt:lpstr>
      <vt:lpstr>2. Network Traffic Analysis (Notebook 01)</vt:lpstr>
      <vt:lpstr>3. Edge AI Anomaly Detection (Notebook 02)</vt:lpstr>
      <vt:lpstr>3. Edge AI Anomaly Detection (Notebook 02)</vt:lpstr>
      <vt:lpstr>3. Edge AI Anomaly Detection (Notebook 02)</vt:lpstr>
      <vt:lpstr>3. Edge AI Anomaly Detection (Notebook 02)</vt:lpstr>
      <vt:lpstr>3. Edge AI Anomaly Detection (Notebook 02)</vt:lpstr>
      <vt:lpstr>3. Edge AI Anomaly Detection (Notebook 02)</vt:lpstr>
      <vt:lpstr>3. Edge AI Anomaly Detection (Notebook 02)</vt:lpstr>
      <vt:lpstr>3. Edge AI Anomaly Detection (Notebook 02)</vt:lpstr>
      <vt:lpstr>4. Stream Inference &amp; Alerts (Notebook 03)</vt:lpstr>
      <vt:lpstr>4. Stream Inference &amp; Alerts (Notebook 03)</vt:lpstr>
      <vt:lpstr>4. Stream Inference &amp; Alerts (Notebook 03)</vt:lpstr>
      <vt:lpstr>4. Stream Inference &amp; Alerts (Notebook 03)</vt:lpstr>
      <vt:lpstr>4. Stream Inference &amp; Alerts (Notebook 03)</vt:lpstr>
      <vt:lpstr>4. Stream Inference &amp; Alerts (Notebook 03)</vt:lpstr>
      <vt:lpstr>4. Stream Inference &amp; Alerts (Notebook 03)</vt:lpstr>
      <vt:lpstr>5. Putting It All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Alves</dc:creator>
  <cp:lastModifiedBy>Lucas Alves</cp:lastModifiedBy>
  <cp:revision>3</cp:revision>
  <dcterms:created xsi:type="dcterms:W3CDTF">2025-11-18T03:05:33Z</dcterms:created>
  <dcterms:modified xsi:type="dcterms:W3CDTF">2025-11-19T23:58:29Z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