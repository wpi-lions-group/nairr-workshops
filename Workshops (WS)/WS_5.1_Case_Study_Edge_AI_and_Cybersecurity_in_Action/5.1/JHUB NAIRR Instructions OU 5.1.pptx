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20">
          <p15:clr>
            <a:srgbClr val="A4A3A4"/>
          </p15:clr>
        </p15:guide>
        <p15:guide id="2" orient="horz" pos="960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pos="456">
          <p15:clr>
            <a:srgbClr val="A4A3A4"/>
          </p15:clr>
        </p15:guide>
        <p15:guide id="5" pos="729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gB8pDSONNX3q3xS5GgQAkzntdk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>
        <p:guide orient="horz" pos="720"/>
        <p:guide orient="horz" pos="960"/>
        <p:guide orient="horz" pos="3888"/>
        <p:guide pos="456"/>
        <p:guide pos="729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41" name="Google Shape;1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50" name="Google Shape;1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>
          <a:extLst>
            <a:ext uri="{FF2B5EF4-FFF2-40B4-BE49-F238E27FC236}">
              <a16:creationId xmlns:a16="http://schemas.microsoft.com/office/drawing/2014/main" id="{9039B7D5-0A0C-96AF-92D0-98A5FC0DA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>
            <a:extLst>
              <a:ext uri="{FF2B5EF4-FFF2-40B4-BE49-F238E27FC236}">
                <a16:creationId xmlns:a16="http://schemas.microsoft.com/office/drawing/2014/main" id="{77F39F58-9A7F-A4B1-3E82-C60250D328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7:notes">
            <a:extLst>
              <a:ext uri="{FF2B5EF4-FFF2-40B4-BE49-F238E27FC236}">
                <a16:creationId xmlns:a16="http://schemas.microsoft.com/office/drawing/2014/main" id="{4E0407AF-58BE-0CFC-3B07-2B3D8333D7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56112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1"/>
          <p:cNvPicPr preferRelativeResize="0"/>
          <p:nvPr userDrawn="1"/>
        </p:nvPicPr>
        <p:blipFill>
          <a:blip r:embed="rId2">
            <a:alphaModFix/>
          </a:blip>
          <a:srcRect t="26669" b="28271"/>
          <a:stretch>
            <a:fillRect/>
          </a:stretch>
        </p:blipFill>
        <p:spPr>
          <a:xfrm>
            <a:off x="7692126" y="4229848"/>
            <a:ext cx="4154698" cy="187213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" name="Google Shape;18;p11"/>
          <p:cNvSpPr txBox="1">
            <a:spLocks noGrp="1"/>
          </p:cNvSpPr>
          <p:nvPr>
            <p:ph type="title"/>
          </p:nvPr>
        </p:nvSpPr>
        <p:spPr>
          <a:xfrm>
            <a:off x="625475" y="1447800"/>
            <a:ext cx="91440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sz="4000" b="1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body" idx="1"/>
          </p:nvPr>
        </p:nvSpPr>
        <p:spPr>
          <a:xfrm>
            <a:off x="625475" y="3124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11"/>
          <p:cNvSpPr txBox="1">
            <a:spLocks noGrp="1"/>
          </p:cNvSpPr>
          <p:nvPr>
            <p:ph type="ftr" idx="11"/>
          </p:nvPr>
        </p:nvSpPr>
        <p:spPr>
          <a:xfrm>
            <a:off x="625475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Caption">
  <p:cSld name="PhotoCa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>
            <a:spLocks noGrp="1"/>
          </p:cNvSpPr>
          <p:nvPr>
            <p:ph type="pic" idx="2"/>
          </p:nvPr>
        </p:nvSpPr>
        <p:spPr>
          <a:xfrm>
            <a:off x="609600" y="1524000"/>
            <a:ext cx="7823100" cy="4648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Google Shape;28;p12"/>
          <p:cNvSpPr txBox="1">
            <a:spLocks noGrp="1"/>
          </p:cNvSpPr>
          <p:nvPr>
            <p:ph type="body" idx="1"/>
          </p:nvPr>
        </p:nvSpPr>
        <p:spPr>
          <a:xfrm>
            <a:off x="8737600" y="1524000"/>
            <a:ext cx="2844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Verdana"/>
              <a:buNone/>
              <a:defRPr sz="2000"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marL="1371600" lvl="2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marL="1828800" lvl="3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marL="2286000" lvl="4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/>
            </a:lvl2pPr>
            <a:lvl3pPr marL="137160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/>
            </a:lvl4pPr>
            <a:lvl5pPr marL="2286000" lvl="4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 txBox="1">
            <a:spLocks noGrp="1"/>
          </p:cNvSpPr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sz="32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body" idx="1"/>
          </p:nvPr>
        </p:nvSpPr>
        <p:spPr>
          <a:xfrm>
            <a:off x="4523709" y="1524001"/>
            <a:ext cx="70587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683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200"/>
              <a:buChar char="─"/>
              <a:defRPr sz="2200"/>
            </a:lvl2pPr>
            <a:lvl3pPr marL="1371600" lvl="2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3pPr>
            <a:lvl4pPr marL="1828800" lvl="3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 sz="1800"/>
            </a:lvl4pPr>
            <a:lvl5pPr marL="2286000" lvl="4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7" name="Google Shape;37;p14"/>
          <p:cNvSpPr txBox="1">
            <a:spLocks noGrp="1"/>
          </p:cNvSpPr>
          <p:nvPr>
            <p:ph type="body" idx="2"/>
          </p:nvPr>
        </p:nvSpPr>
        <p:spPr>
          <a:xfrm>
            <a:off x="591890" y="1524000"/>
            <a:ext cx="3564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9" name="Google Shape;39;p14"/>
          <p:cNvCxnSpPr/>
          <p:nvPr/>
        </p:nvCxnSpPr>
        <p:spPr>
          <a:xfrm rot="5400000">
            <a:off x="2447156" y="3581143"/>
            <a:ext cx="3810000" cy="2100"/>
          </a:xfrm>
          <a:prstGeom prst="straightConnector1">
            <a:avLst/>
          </a:prstGeom>
          <a:noFill/>
          <a:ln w="15875" cap="flat" cmpd="sng">
            <a:solidFill>
              <a:srgbClr val="B5B5B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p14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Red">
  <p:cSld name="BlankRed">
    <p:bg>
      <p:bgPr>
        <a:solidFill>
          <a:schemeClr val="lt2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50;p17">
            <a:extLst>
              <a:ext uri="{FF2B5EF4-FFF2-40B4-BE49-F238E27FC236}">
                <a16:creationId xmlns:a16="http://schemas.microsoft.com/office/drawing/2014/main" id="{8F79F7F1-9258-6186-B869-5085A9F5219B}"/>
              </a:ext>
            </a:extLst>
          </p:cNvPr>
          <p:cNvPicPr preferRelativeResize="0"/>
          <p:nvPr userDrawn="1"/>
        </p:nvPicPr>
        <p:blipFill>
          <a:blip r:embed="rId2">
            <a:alphaModFix amt="10000"/>
          </a:blip>
          <a:srcRect/>
          <a:stretch/>
        </p:blipFill>
        <p:spPr>
          <a:xfrm>
            <a:off x="4009882" y="1342882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dir="5400000" algn="ctr" rotWithShape="0">
              <a:srgbClr val="000000"/>
            </a:outerShdw>
          </a:effec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6" descr="greyWatermark-20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49092" y="2703302"/>
            <a:ext cx="4242908" cy="415469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6"/>
          <p:cNvSpPr txBox="1">
            <a:spLocks noGrp="1"/>
          </p:cNvSpPr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sz="4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subTitle" idx="1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47" name="Google Shape;47;p16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711200" y="1102893"/>
            <a:ext cx="3383439" cy="872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2">
  <p:cSld name="Title2">
    <p:bg>
      <p:bgPr>
        <a:solidFill>
          <a:schemeClr val="tx2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7"/>
          <p:cNvPicPr preferRelativeResize="0"/>
          <p:nvPr userDrawn="1"/>
        </p:nvPicPr>
        <p:blipFill>
          <a:blip r:embed="rId2">
            <a:alphaModFix amt="10000"/>
          </a:blip>
          <a:srcRect/>
          <a:stretch/>
        </p:blipFill>
        <p:spPr>
          <a:xfrm>
            <a:off x="8019764" y="2702755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dir="5400000" algn="ctr" rotWithShape="0">
              <a:srgbClr val="000000"/>
            </a:outerShdw>
          </a:effectLst>
        </p:spPr>
      </p:pic>
      <p:sp>
        <p:nvSpPr>
          <p:cNvPr id="51" name="Google Shape;51;p17"/>
          <p:cNvSpPr txBox="1">
            <a:spLocks noGrp="1"/>
          </p:cNvSpPr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Verdana"/>
              <a:buNone/>
              <a:defRPr sz="4000" b="1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subTitle" idx="1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8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8"/>
          <p:cNvSpPr txBox="1">
            <a:spLocks noGrp="1"/>
          </p:cNvSpPr>
          <p:nvPr>
            <p:ph type="body" idx="1"/>
          </p:nvPr>
        </p:nvSpPr>
        <p:spPr>
          <a:xfrm>
            <a:off x="10160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marL="137160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marL="1828800" lvl="3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marL="2286000" lvl="4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2"/>
          </p:nvPr>
        </p:nvSpPr>
        <p:spPr>
          <a:xfrm>
            <a:off x="61976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marL="137160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marL="1828800" lvl="3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marL="2286000" lvl="4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9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body" idx="1"/>
          </p:nvPr>
        </p:nvSpPr>
        <p:spPr>
          <a:xfrm>
            <a:off x="10160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body" idx="2"/>
          </p:nvPr>
        </p:nvSpPr>
        <p:spPr>
          <a:xfrm>
            <a:off x="10160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marL="1371600" lvl="2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marL="1828800" lvl="3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marL="2286000" lvl="4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body" idx="3"/>
          </p:nvPr>
        </p:nvSpPr>
        <p:spPr>
          <a:xfrm>
            <a:off x="61976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body" idx="4"/>
          </p:nvPr>
        </p:nvSpPr>
        <p:spPr>
          <a:xfrm>
            <a:off x="61976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marL="1371600" lvl="2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marL="1828800" lvl="3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marL="2286000" lvl="4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0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1"/>
          <p:cNvSpPr txBox="1">
            <a:spLocks noGrp="1"/>
          </p:cNvSpPr>
          <p:nvPr>
            <p:ph type="sldNum" idx="12"/>
          </p:nvPr>
        </p:nvSpPr>
        <p:spPr>
          <a:xfrm>
            <a:off x="1" y="6391657"/>
            <a:ext cx="61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sz="3200" b="1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Char char="─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Char char="o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020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3020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3020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3020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3;p10"/>
          <p:cNvSpPr/>
          <p:nvPr/>
        </p:nvSpPr>
        <p:spPr>
          <a:xfrm>
            <a:off x="609600" y="1234967"/>
            <a:ext cx="11582400" cy="4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" name="Google Shape;14;p10"/>
          <p:cNvSpPr txBox="1"/>
          <p:nvPr/>
        </p:nvSpPr>
        <p:spPr>
          <a:xfrm>
            <a:off x="7315200" y="6400800"/>
            <a:ext cx="4470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Oakland University</a:t>
            </a:r>
            <a:endParaRPr dirty="0"/>
          </a:p>
        </p:txBody>
      </p:sp>
      <p:sp>
        <p:nvSpPr>
          <p:cNvPr id="15" name="Google Shape;15;p10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hub.nairr250048.projects.jetstream-cloud.org/hub/user-redirect/git-pull?repo=https%3A%2F%2Fgithub.com%2Flc-leonardo%2FWorkshop_EdgeAI&amp;urlpath=lab%2Ftree%2FWorkshop_EdgeAI%2F5.1&amp;branch=main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lt1"/>
          </a:fgClr>
          <a:bgClr>
            <a:schemeClr val="bg1"/>
          </a:bgClr>
        </a:patt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"/>
          <p:cNvSpPr txBox="1">
            <a:spLocks noGrp="1"/>
          </p:cNvSpPr>
          <p:nvPr>
            <p:ph type="title"/>
          </p:nvPr>
        </p:nvSpPr>
        <p:spPr>
          <a:xfrm>
            <a:off x="611868" y="1447800"/>
            <a:ext cx="9422946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JupyterHub NAIRR Instructions</a:t>
            </a:r>
            <a:endParaRPr/>
          </a:p>
        </p:txBody>
      </p:sp>
      <p:sp>
        <p:nvSpPr>
          <p:cNvPr id="145" name="Google Shape;145;p1"/>
          <p:cNvSpPr txBox="1">
            <a:spLocks noGrp="1"/>
          </p:cNvSpPr>
          <p:nvPr>
            <p:ph type="body" idx="1"/>
          </p:nvPr>
        </p:nvSpPr>
        <p:spPr>
          <a:xfrm>
            <a:off x="625475" y="3124200"/>
            <a:ext cx="91440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Workshop Lab Environments</a:t>
            </a:r>
            <a:endParaRPr/>
          </a:p>
        </p:txBody>
      </p:sp>
      <p:sp>
        <p:nvSpPr>
          <p:cNvPr id="146" name="Google Shape;146;p1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47" name="Google Shape;147;p1"/>
          <p:cNvSpPr txBox="1">
            <a:spLocks noGrp="1"/>
          </p:cNvSpPr>
          <p:nvPr>
            <p:ph type="ftr" idx="11"/>
          </p:nvPr>
        </p:nvSpPr>
        <p:spPr>
          <a:xfrm>
            <a:off x="625475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JupyterHub </a:t>
            </a:r>
            <a:endParaRPr/>
          </a:p>
        </p:txBody>
      </p:sp>
      <p:sp>
        <p:nvSpPr>
          <p:cNvPr id="154" name="Google Shape;154;p2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55" name="Google Shape;155;p2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6" name="Google Shape;156;p2" descr="JupyterHub | Cuahsi.or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987" b="987"/>
          <a:stretch/>
        </p:blipFill>
        <p:spPr>
          <a:xfrm>
            <a:off x="609600" y="1524000"/>
            <a:ext cx="782320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"/>
          <p:cNvSpPr txBox="1">
            <a:spLocks noGrp="1"/>
          </p:cNvSpPr>
          <p:nvPr>
            <p:ph type="body" idx="1"/>
          </p:nvPr>
        </p:nvSpPr>
        <p:spPr>
          <a:xfrm>
            <a:off x="8737600" y="1524000"/>
            <a:ext cx="28448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Font typeface="Verdana"/>
              <a:buNone/>
            </a:pPr>
            <a:r>
              <a:rPr lang="en-US" sz="1600">
                <a:latin typeface="Verdana"/>
                <a:ea typeface="Verdana"/>
                <a:cs typeface="Verdana"/>
                <a:sym typeface="Verdana"/>
              </a:rPr>
              <a:t>JupyterHub is a multi-user server designed to deliver Jupyter Notebooks to groups of users.</a:t>
            </a:r>
            <a:endParaRPr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Verdana"/>
              <a:buNone/>
            </a:pPr>
            <a:r>
              <a:rPr lang="en-US" sz="1600">
                <a:latin typeface="Verdana"/>
                <a:ea typeface="Verdana"/>
                <a:cs typeface="Verdana"/>
                <a:sym typeface="Verdana"/>
              </a:rPr>
              <a:t>It manages authentication and spawns individual notebook servers for each person.</a:t>
            </a:r>
            <a:endParaRPr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Verdana"/>
              <a:buNone/>
            </a:pPr>
            <a:r>
              <a:rPr lang="en-US" sz="1600">
                <a:latin typeface="Verdana"/>
                <a:ea typeface="Verdana"/>
                <a:cs typeface="Verdana"/>
                <a:sym typeface="Verdana"/>
              </a:rPr>
              <a:t>This provides a consistent computational environment without requiring users to install software locally.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Account Creation</a:t>
            </a:r>
            <a:endParaRPr/>
          </a:p>
        </p:txBody>
      </p:sp>
      <p:sp>
        <p:nvSpPr>
          <p:cNvPr id="163" name="Google Shape;163;p3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74320" lvl="0" indent="-27432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For our current workshops, JupyterHub accounts use a universal password you can only receive during the workshop.</a:t>
            </a:r>
            <a:endParaRPr/>
          </a:p>
          <a:p>
            <a:pPr marL="274320" lvl="0" indent="-27432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Using this password you can login to our JupyterHub with any username but there are limited slots.</a:t>
            </a:r>
            <a:endParaRPr/>
          </a:p>
          <a:p>
            <a:pPr marL="594360" lvl="1" indent="-27432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Char char="-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The limit is 1 account per person.</a:t>
            </a:r>
            <a:endParaRPr/>
          </a:p>
          <a:p>
            <a:pPr marL="274320" lvl="0" indent="-27432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Future workshops will use your ACCESS login or Github/Gitlab account but for the moment, in the next couple of workshops, the universal password will be used.</a:t>
            </a:r>
            <a:endParaRPr/>
          </a:p>
          <a:p>
            <a:pPr marL="274320" lvl="0" indent="-27432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The password will be given after these slides.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4" name="Google Shape;164;p3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3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"/>
          <p:cNvSpPr txBox="1">
            <a:spLocks noGrp="1"/>
          </p:cNvSpPr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Lab Environments</a:t>
            </a:r>
            <a:endParaRPr/>
          </a:p>
        </p:txBody>
      </p:sp>
      <p:sp>
        <p:nvSpPr>
          <p:cNvPr id="172" name="Google Shape;172;p4"/>
          <p:cNvSpPr txBox="1">
            <a:spLocks noGrp="1"/>
          </p:cNvSpPr>
          <p:nvPr>
            <p:ph type="body" idx="2"/>
          </p:nvPr>
        </p:nvSpPr>
        <p:spPr>
          <a:xfrm>
            <a:off x="591890" y="1524000"/>
            <a:ext cx="3564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>
                <a:latin typeface="Verdana"/>
                <a:ea typeface="Verdana"/>
                <a:cs typeface="Verdana"/>
                <a:sym typeface="Verdana"/>
              </a:rPr>
              <a:t>When you login into </a:t>
            </a:r>
            <a:r>
              <a:rPr lang="en-US" dirty="0" err="1">
                <a:latin typeface="Verdana"/>
                <a:ea typeface="Verdana"/>
                <a:cs typeface="Verdana"/>
                <a:sym typeface="Verdana"/>
              </a:rPr>
              <a:t>JupyterHub</a:t>
            </a:r>
            <a:r>
              <a:rPr lang="en-US" dirty="0">
                <a:latin typeface="Verdana"/>
                <a:ea typeface="Verdana"/>
                <a:cs typeface="Verdana"/>
                <a:sym typeface="Verdana"/>
              </a:rPr>
              <a:t> you'll will see either one or many virtual environments.</a:t>
            </a:r>
            <a:endParaRPr dirty="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rPr lang="en-US" dirty="0">
                <a:latin typeface="Verdana"/>
                <a:ea typeface="Verdana"/>
                <a:cs typeface="Verdana"/>
                <a:sym typeface="Verdana"/>
              </a:rPr>
              <a:t>The example on the side shows exactly one environment that is designed specifically for the 5.1 Workshop.</a:t>
            </a:r>
            <a:endParaRPr lang="en-US" dirty="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rPr lang="en-US" dirty="0">
                <a:latin typeface="Verdana"/>
                <a:ea typeface="Verdana"/>
                <a:cs typeface="Verdana"/>
                <a:sym typeface="Verdana"/>
              </a:rPr>
              <a:t>Each  environment for these workshops are built with all the packages and specific version python.</a:t>
            </a:r>
            <a:endParaRPr lang="en-US" dirty="0"/>
          </a:p>
        </p:txBody>
      </p:sp>
      <p:sp>
        <p:nvSpPr>
          <p:cNvPr id="173" name="Google Shape;173;p4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74" name="Google Shape;174;p4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D64CCE-55D3-375C-45EF-4FA315C616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8629"/>
          <a:stretch>
            <a:fillRect/>
          </a:stretch>
        </p:blipFill>
        <p:spPr>
          <a:xfrm>
            <a:off x="4910880" y="2625612"/>
            <a:ext cx="6773220" cy="9938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Starting a Server</a:t>
            </a:r>
            <a:endParaRPr/>
          </a:p>
        </p:txBody>
      </p:sp>
      <p:sp>
        <p:nvSpPr>
          <p:cNvPr id="180" name="Google Shape;180;p5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81" name="Google Shape;181;p5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2" name="Google Shape;182;p5" descr="A screenshot of a computer error&#10;&#10;AI-generated content may be incorrect.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7703" r="11090"/>
          <a:stretch/>
        </p:blipFill>
        <p:spPr>
          <a:xfrm>
            <a:off x="609600" y="1524000"/>
            <a:ext cx="782320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5"/>
          <p:cNvSpPr txBox="1">
            <a:spLocks noGrp="1"/>
          </p:cNvSpPr>
          <p:nvPr>
            <p:ph type="body" idx="1"/>
          </p:nvPr>
        </p:nvSpPr>
        <p:spPr>
          <a:xfrm>
            <a:off x="8737600" y="1524000"/>
            <a:ext cx="28448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Starting a server will communicate with our Jetstream2 services to deploy a container to host a notebook environment.</a:t>
            </a:r>
            <a:endParaRPr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On the side is the process and event log of this server creation.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Starting a Sever</a:t>
            </a:r>
            <a:endParaRPr/>
          </a:p>
        </p:txBody>
      </p:sp>
      <p:pic>
        <p:nvPicPr>
          <p:cNvPr id="189" name="Google Shape;189;p6" descr="A screenshot of a computer&#10;&#10;AI-generated content may be incorrec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959370" y="1524000"/>
            <a:ext cx="827326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6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6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/>
          <p:cNvSpPr txBox="1">
            <a:spLocks noGrp="1"/>
          </p:cNvSpPr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Accessing our lab materials</a:t>
            </a:r>
            <a:endParaRPr/>
          </a:p>
        </p:txBody>
      </p:sp>
      <p:pic>
        <p:nvPicPr>
          <p:cNvPr id="197" name="Google Shape;197;p7" descr="A screenshot of a computer&#10;&#10;AI-generated content may be incorrec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523709" y="1865193"/>
            <a:ext cx="7058691" cy="396581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 txBox="1">
            <a:spLocks noGrp="1"/>
          </p:cNvSpPr>
          <p:nvPr>
            <p:ph type="body" idx="2"/>
          </p:nvPr>
        </p:nvSpPr>
        <p:spPr>
          <a:xfrm>
            <a:off x="591890" y="1524000"/>
            <a:ext cx="3564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All enviorments have the nbgitpuller software installed which allows our us to easily clone any repository into our servers using a simple link.</a:t>
            </a:r>
            <a:endParaRPr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Links will be provided after these slides but an example of what process look like is on the side.</a:t>
            </a:r>
            <a:endParaRPr/>
          </a:p>
        </p:txBody>
      </p:sp>
      <p:sp>
        <p:nvSpPr>
          <p:cNvPr id="199" name="Google Shape;199;p7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00" name="Google Shape;200;p7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>
          <a:extLst>
            <a:ext uri="{FF2B5EF4-FFF2-40B4-BE49-F238E27FC236}">
              <a16:creationId xmlns:a16="http://schemas.microsoft.com/office/drawing/2014/main" id="{CA5EC487-4967-9456-1094-27EC07F1B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>
            <a:extLst>
              <a:ext uri="{FF2B5EF4-FFF2-40B4-BE49-F238E27FC236}">
                <a16:creationId xmlns:a16="http://schemas.microsoft.com/office/drawing/2014/main" id="{D8153F0E-7CBF-2446-E7F1-C52012D55B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</a:pPr>
            <a:r>
              <a:rPr lang="en-US" dirty="0">
                <a:latin typeface="Verdana"/>
                <a:ea typeface="Verdana"/>
                <a:cs typeface="Verdana"/>
                <a:sym typeface="Verdana"/>
              </a:rPr>
              <a:t>For 5.1</a:t>
            </a:r>
            <a:endParaRPr dirty="0"/>
          </a:p>
        </p:txBody>
      </p:sp>
      <p:sp>
        <p:nvSpPr>
          <p:cNvPr id="198" name="Google Shape;198;p7">
            <a:extLst>
              <a:ext uri="{FF2B5EF4-FFF2-40B4-BE49-F238E27FC236}">
                <a16:creationId xmlns:a16="http://schemas.microsoft.com/office/drawing/2014/main" id="{1813C8B5-8C21-A892-D9EB-F062471F99B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91890" y="1524000"/>
            <a:ext cx="3564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/>
              <a:t>Once you have a server up, please click this link here. You should be redirected then to the server again but now have all the files and notebooks needed for today's workshop. </a:t>
            </a: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lang="en-US" dirty="0"/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/>
              <a:t>Once loaded, you'll be dropped straight into the 5.1 workshop folder.</a:t>
            </a:r>
            <a:endParaRPr dirty="0"/>
          </a:p>
        </p:txBody>
      </p:sp>
      <p:sp>
        <p:nvSpPr>
          <p:cNvPr id="199" name="Google Shape;199;p7">
            <a:extLst>
              <a:ext uri="{FF2B5EF4-FFF2-40B4-BE49-F238E27FC236}">
                <a16:creationId xmlns:a16="http://schemas.microsoft.com/office/drawing/2014/main" id="{BB037A47-1D95-28A0-F910-362C3E13C68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00" name="Google Shape;200;p7">
            <a:extLst>
              <a:ext uri="{FF2B5EF4-FFF2-40B4-BE49-F238E27FC236}">
                <a16:creationId xmlns:a16="http://schemas.microsoft.com/office/drawing/2014/main" id="{098547BD-AFFD-FA80-C01A-79EF973E04B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78892-67E2-A3CD-4141-0E4793931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2810" y="1524000"/>
            <a:ext cx="7399190" cy="1512276"/>
          </a:xfrm>
        </p:spPr>
        <p:txBody>
          <a:bodyPr>
            <a:normAutofit/>
          </a:bodyPr>
          <a:lstStyle/>
          <a:p>
            <a:r>
              <a:rPr lang="en-US" dirty="0">
                <a:hlinkClick r:id="rId3"/>
              </a:rPr>
              <a:t>Click me to pull in our code!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2D9ED0-385C-EB3C-2594-7E0643726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895" y="2376282"/>
            <a:ext cx="3115110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53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"/>
          <p:cNvSpPr txBox="1"/>
          <p:nvPr/>
        </p:nvSpPr>
        <p:spPr>
          <a:xfrm>
            <a:off x="1387475" y="2590800"/>
            <a:ext cx="9422946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Live Demo</a:t>
            </a:r>
            <a:endParaRPr sz="3200" b="1" i="0" u="none" strike="noStrike" cap="none">
              <a:solidFill>
                <a:srgbClr val="26262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"/>
          <p:cNvSpPr txBox="1"/>
          <p:nvPr/>
        </p:nvSpPr>
        <p:spPr>
          <a:xfrm>
            <a:off x="1387475" y="2590800"/>
            <a:ext cx="9422946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Links, Passwords, &amp; Git Repository</a:t>
            </a:r>
            <a:endParaRPr sz="3200" b="1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I-White">
  <a:themeElements>
    <a:clrScheme name="Custom 2">
      <a:dk1>
        <a:srgbClr val="000000"/>
      </a:dk1>
      <a:lt1>
        <a:srgbClr val="FFFFFF"/>
      </a:lt1>
      <a:dk2>
        <a:srgbClr val="6D6D6D"/>
      </a:dk2>
      <a:lt2>
        <a:srgbClr val="947A4F"/>
      </a:lt2>
      <a:accent1>
        <a:srgbClr val="625135"/>
      </a:accent1>
      <a:accent2>
        <a:srgbClr val="B2B7BB"/>
      </a:accent2>
      <a:accent3>
        <a:srgbClr val="2C6A8C"/>
      </a:accent3>
      <a:accent4>
        <a:srgbClr val="000000"/>
      </a:accent4>
      <a:accent5>
        <a:srgbClr val="46A0DC"/>
      </a:accent5>
      <a:accent6>
        <a:srgbClr val="6D6D6D"/>
      </a:accent6>
      <a:hlink>
        <a:srgbClr val="46A0DC"/>
      </a:hlink>
      <a:folHlink>
        <a:srgbClr val="808D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351</Words>
  <Application>Microsoft Office PowerPoint</Application>
  <PresentationFormat>Widescreen</PresentationFormat>
  <Paragraphs>41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Times New Roman</vt:lpstr>
      <vt:lpstr>Verdana</vt:lpstr>
      <vt:lpstr>WPI-White</vt:lpstr>
      <vt:lpstr>JupyterHub NAIRR Instructions</vt:lpstr>
      <vt:lpstr>JupyterHub </vt:lpstr>
      <vt:lpstr>Account Creation</vt:lpstr>
      <vt:lpstr>Lab Environments</vt:lpstr>
      <vt:lpstr>Starting a Server</vt:lpstr>
      <vt:lpstr>Starting a Sever</vt:lpstr>
      <vt:lpstr>Accessing our lab materials</vt:lpstr>
      <vt:lpstr>For 5.1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Melissa</dc:creator>
  <cp:lastModifiedBy>Matt Horvath</cp:lastModifiedBy>
  <cp:revision>7</cp:revision>
  <dcterms:created xsi:type="dcterms:W3CDTF">2015-05-27T13:16:15Z</dcterms:created>
  <dcterms:modified xsi:type="dcterms:W3CDTF">2026-06-26T18:48:59Z</dcterms:modified>
</cp:coreProperties>
</file>