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Lst>
  <p:sldSz cx="9144000" cy="5143500"/>
  <p:notesSz cx="6858000" cy="9144000"/>
  <p:embeddedFontLst>
    <p:embeddedFont>
      <p:font typeface="Helvetica Neue" panose="02000503000000020004"/>
      <p:regular r:id="rId56"/>
    </p:embeddedFont>
    <p:embeddedFont>
      <p:font typeface="Roboto Mono" panose="00000009000000000000"/>
      <p:regular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368FC2B-AFB1-4F07-8A4D-405918A23FD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7" Type="http://schemas.openxmlformats.org/officeDocument/2006/relationships/font" Target="fonts/font2.fntdata"/><Relationship Id="rId56" Type="http://schemas.openxmlformats.org/officeDocument/2006/relationships/font" Target="fonts/font1.fntdata"/><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L="914400" marR="0" lvl="1"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L="1371600" marR="0" lvl="2"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L="1828800" marR="0" lvl="3"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L="2286000" marR="0" lvl="4"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L="2743200" marR="0" lvl="5"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L="3200400" marR="0" lvl="6"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L="3657600" marR="0" lvl="7"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L="4114800" marR="0" lvl="8"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 name="Shape 64"/>
        <p:cNvGrpSpPr/>
        <p:nvPr/>
      </p:nvGrpSpPr>
      <p:grpSpPr>
        <a:xfrm>
          <a:off x="0" y="0"/>
          <a:ext cx="0" cy="0"/>
          <a:chOff x="0" y="0"/>
          <a:chExt cx="0" cy="0"/>
        </a:xfrm>
      </p:grpSpPr>
      <p:sp>
        <p:nvSpPr>
          <p:cNvPr id="65" name="Google Shape;65;p1: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39700" lvl="0" indent="0" algn="l" rtl="0">
              <a:lnSpc>
                <a:spcPct val="115000"/>
              </a:lnSpc>
              <a:spcBef>
                <a:spcPts val="0"/>
              </a:spcBef>
              <a:spcAft>
                <a:spcPts val="0"/>
              </a:spcAft>
              <a:buClr>
                <a:schemeClr val="dk1"/>
              </a:buClr>
              <a:buSzPts val="1100"/>
              <a:buFont typeface="Arial" panose="020B0604020202090204"/>
              <a:buNone/>
            </a:pPr>
            <a:r>
              <a:rPr lang="zh-CN" sz="1050">
                <a:solidFill>
                  <a:srgbClr val="0E0E0E"/>
                </a:solidFill>
              </a:rPr>
              <a:t>Good morning everyone,</a:t>
            </a:r>
            <a:endParaRPr sz="1050">
              <a:solidFill>
                <a:srgbClr val="0E0E0E"/>
              </a:solidFill>
            </a:endParaRPr>
          </a:p>
          <a:p>
            <a:pPr marL="139700" lvl="0" indent="0" algn="l" rtl="0">
              <a:lnSpc>
                <a:spcPct val="115000"/>
              </a:lnSpc>
              <a:spcBef>
                <a:spcPts val="0"/>
              </a:spcBef>
              <a:spcAft>
                <a:spcPts val="0"/>
              </a:spcAft>
              <a:buClr>
                <a:schemeClr val="dk1"/>
              </a:buClr>
              <a:buSzPts val="1100"/>
              <a:buFont typeface="Arial" panose="020B0604020202090204"/>
              <a:buNone/>
            </a:pPr>
            <a:r>
              <a:rPr lang="zh-CN" sz="1050">
                <a:solidFill>
                  <a:srgbClr val="0E0E0E"/>
                </a:solidFill>
              </a:rPr>
              <a:t>welcome to the NAIRR Workshop Series on Cybersecurity, Edge AI, and Autonomous Driving.</a:t>
            </a:r>
            <a:endParaRPr sz="1050">
              <a:solidFill>
                <a:srgbClr val="0E0E0E"/>
              </a:solidFill>
            </a:endParaRPr>
          </a:p>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66" name="Google Shape;66;p1: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 name="Shape 71"/>
        <p:cNvGrpSpPr/>
        <p:nvPr/>
      </p:nvGrpSpPr>
      <p:grpSpPr>
        <a:xfrm>
          <a:off x="0" y="0"/>
          <a:ext cx="0" cy="0"/>
          <a:chOff x="0" y="0"/>
          <a:chExt cx="0" cy="0"/>
        </a:xfrm>
      </p:grpSpPr>
      <p:sp>
        <p:nvSpPr>
          <p:cNvPr id="72" name="Google Shape;72;g396d4a5dad6_3_3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73" name="Google Shape;73;g396d4a5dad6_3_35: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8" name="Shape 78"/>
        <p:cNvGrpSpPr/>
        <p:nvPr/>
      </p:nvGrpSpPr>
      <p:grpSpPr>
        <a:xfrm>
          <a:off x="0" y="0"/>
          <a:ext cx="0" cy="0"/>
          <a:chOff x="0" y="0"/>
          <a:chExt cx="0" cy="0"/>
        </a:xfrm>
      </p:grpSpPr>
      <p:sp>
        <p:nvSpPr>
          <p:cNvPr id="79" name="Google Shape;79;p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0"/>
              </a:spcBef>
              <a:spcAft>
                <a:spcPts val="0"/>
              </a:spcAft>
              <a:buClr>
                <a:schemeClr val="dk1"/>
              </a:buClr>
              <a:buSzPts val="1100"/>
              <a:buFont typeface="Arial" panose="020B0604020202090204"/>
              <a:buNone/>
            </a:pPr>
            <a:r>
              <a:rPr lang="zh-CN" sz="1050">
                <a:solidFill>
                  <a:srgbClr val="0E0E0E"/>
                </a:solidFill>
              </a:rPr>
              <a:t>Before we begin, let me briefly introduce our group.</a:t>
            </a:r>
            <a:endParaRPr sz="1050">
              <a:solidFill>
                <a:srgbClr val="0E0E0E"/>
              </a:solidFill>
            </a:endParaRPr>
          </a:p>
          <a:p>
            <a:pPr marL="139700" lvl="0" indent="0" algn="l" rtl="0">
              <a:lnSpc>
                <a:spcPct val="115000"/>
              </a:lnSpc>
              <a:spcBef>
                <a:spcPts val="0"/>
              </a:spcBef>
              <a:spcAft>
                <a:spcPts val="0"/>
              </a:spcAft>
              <a:buClr>
                <a:schemeClr val="dk1"/>
              </a:buClr>
              <a:buSzPts val="1100"/>
              <a:buFont typeface="Arial" panose="020B0604020202090204"/>
              <a:buNone/>
            </a:pPr>
            <a:endParaRPr sz="1050">
              <a:solidFill>
                <a:srgbClr val="0E0E0E"/>
              </a:solidFill>
            </a:endParaRPr>
          </a:p>
          <a:p>
            <a:pPr marL="139700" lvl="0" indent="0" algn="l" rtl="0">
              <a:lnSpc>
                <a:spcPct val="115000"/>
              </a:lnSpc>
              <a:spcBef>
                <a:spcPts val="0"/>
              </a:spcBef>
              <a:spcAft>
                <a:spcPts val="0"/>
              </a:spcAft>
              <a:buClr>
                <a:schemeClr val="dk1"/>
              </a:buClr>
              <a:buSzPts val="1100"/>
              <a:buFont typeface="Arial" panose="020B0604020202090204"/>
              <a:buNone/>
            </a:pPr>
            <a:r>
              <a:rPr lang="zh-CN" sz="1050">
                <a:solidFill>
                  <a:srgbClr val="0E0E0E"/>
                </a:solidFill>
              </a:rPr>
              <a:t>We are part of the Lions Group at Worcester Polytechnic Institute, led by Prof. Jun Dai and Prof. Xiaoyan Sun.</a:t>
            </a:r>
            <a:endParaRPr sz="1050">
              <a:solidFill>
                <a:srgbClr val="0E0E0E"/>
              </a:solidFill>
            </a:endParaRPr>
          </a:p>
          <a:p>
            <a:pPr marL="139700" lvl="0" indent="0" algn="l" rtl="0">
              <a:lnSpc>
                <a:spcPct val="115000"/>
              </a:lnSpc>
              <a:spcBef>
                <a:spcPts val="0"/>
              </a:spcBef>
              <a:spcAft>
                <a:spcPts val="0"/>
              </a:spcAft>
              <a:buClr>
                <a:schemeClr val="dk1"/>
              </a:buClr>
              <a:buSzPts val="1100"/>
              <a:buFont typeface="Arial" panose="020B0604020202090204"/>
              <a:buNone/>
            </a:pPr>
            <a:endParaRPr sz="1050">
              <a:solidFill>
                <a:srgbClr val="0E0E0E"/>
              </a:solidFill>
            </a:endParaRPr>
          </a:p>
          <a:p>
            <a:pPr marL="139700" lvl="0" indent="0" algn="l" rtl="0">
              <a:lnSpc>
                <a:spcPct val="115000"/>
              </a:lnSpc>
              <a:spcBef>
                <a:spcPts val="0"/>
              </a:spcBef>
              <a:spcAft>
                <a:spcPts val="0"/>
              </a:spcAft>
              <a:buClr>
                <a:schemeClr val="dk1"/>
              </a:buClr>
              <a:buSzPts val="1100"/>
              <a:buFont typeface="Arial" panose="020B0604020202090204"/>
              <a:buNone/>
            </a:pPr>
            <a:r>
              <a:rPr lang="zh-CN" sz="1050">
                <a:solidFill>
                  <a:srgbClr val="0E0E0E"/>
                </a:solidFill>
              </a:rPr>
              <a:t>Our group focuses on research in cybersecurity and AI.</a:t>
            </a:r>
            <a:endParaRPr sz="1050">
              <a:solidFill>
                <a:srgbClr val="0E0E0E"/>
              </a:solidFill>
            </a:endParaRPr>
          </a:p>
          <a:p>
            <a:pPr marL="139700" lvl="0" indent="0" algn="l" rtl="0">
              <a:lnSpc>
                <a:spcPct val="115000"/>
              </a:lnSpc>
              <a:spcBef>
                <a:spcPts val="0"/>
              </a:spcBef>
              <a:spcAft>
                <a:spcPts val="0"/>
              </a:spcAft>
              <a:buClr>
                <a:schemeClr val="dk1"/>
              </a:buClr>
              <a:buSzPts val="1100"/>
              <a:buFont typeface="Arial" panose="020B0604020202090204"/>
              <a:buNone/>
            </a:pPr>
            <a:endParaRPr sz="1050">
              <a:solidFill>
                <a:srgbClr val="0E0E0E"/>
              </a:solidFill>
            </a:endParaRPr>
          </a:p>
          <a:p>
            <a:pPr marL="139700" lvl="0" indent="0" algn="l" rtl="0">
              <a:lnSpc>
                <a:spcPct val="115000"/>
              </a:lnSpc>
              <a:spcBef>
                <a:spcPts val="0"/>
              </a:spcBef>
              <a:spcAft>
                <a:spcPts val="0"/>
              </a:spcAft>
              <a:buClr>
                <a:schemeClr val="dk1"/>
              </a:buClr>
              <a:buSzPts val="1100"/>
              <a:buFont typeface="Arial" panose="020B0604020202090204"/>
              <a:buNone/>
            </a:pPr>
            <a:r>
              <a:rPr lang="zh-CN" sz="1050">
                <a:solidFill>
                  <a:srgbClr val="0E0E0E"/>
                </a:solidFill>
              </a:rPr>
              <a:t>This work is a collaborative effort among members of the group.</a:t>
            </a:r>
            <a:endParaRPr sz="1050">
              <a:solidFill>
                <a:srgbClr val="0E0E0E"/>
              </a:solidFill>
            </a:endParaRPr>
          </a:p>
          <a:p>
            <a:pPr marL="0" lvl="0" indent="0" algn="l" rtl="0">
              <a:lnSpc>
                <a:spcPct val="100000"/>
              </a:lnSpc>
              <a:spcBef>
                <a:spcPts val="0"/>
              </a:spcBef>
              <a:spcAft>
                <a:spcPts val="0"/>
              </a:spcAft>
              <a:buSzPts val="1100"/>
              <a:buNone/>
            </a:pPr>
          </a:p>
        </p:txBody>
      </p:sp>
      <p:sp>
        <p:nvSpPr>
          <p:cNvPr id="80" name="Google Shape;80;p2: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0" name="Shape 100"/>
        <p:cNvGrpSpPr/>
        <p:nvPr/>
      </p:nvGrpSpPr>
      <p:grpSpPr>
        <a:xfrm>
          <a:off x="0" y="0"/>
          <a:ext cx="0" cy="0"/>
          <a:chOff x="0" y="0"/>
          <a:chExt cx="0" cy="0"/>
        </a:xfrm>
      </p:grpSpPr>
      <p:sp>
        <p:nvSpPr>
          <p:cNvPr id="101" name="Google Shape;101;p3: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02" name="Google Shape;102;p3: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5" name="Shape 105"/>
        <p:cNvGrpSpPr/>
        <p:nvPr/>
      </p:nvGrpSpPr>
      <p:grpSpPr>
        <a:xfrm>
          <a:off x="0" y="0"/>
          <a:ext cx="0" cy="0"/>
          <a:chOff x="0" y="0"/>
          <a:chExt cx="0" cy="0"/>
        </a:xfrm>
      </p:grpSpPr>
      <p:sp>
        <p:nvSpPr>
          <p:cNvPr id="106" name="Google Shape;106;p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07" name="Google Shape;107;p4: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3" name="Shape 113"/>
        <p:cNvGrpSpPr/>
        <p:nvPr/>
      </p:nvGrpSpPr>
      <p:grpSpPr>
        <a:xfrm>
          <a:off x="0" y="0"/>
          <a:ext cx="0" cy="0"/>
          <a:chOff x="0" y="0"/>
          <a:chExt cx="0" cy="0"/>
        </a:xfrm>
      </p:grpSpPr>
      <p:sp>
        <p:nvSpPr>
          <p:cNvPr id="114" name="Google Shape;114;p5: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zh-CN">
                <a:solidFill>
                  <a:schemeClr val="dk1"/>
                </a:solidFill>
              </a:rPr>
              <a:t>An </a:t>
            </a:r>
            <a:r>
              <a:rPr lang="zh-CN" b="1">
                <a:solidFill>
                  <a:schemeClr val="dk1"/>
                </a:solidFill>
              </a:rPr>
              <a:t>Intrusion Detection System (IDS)</a:t>
            </a:r>
            <a:r>
              <a:rPr lang="zh-CN">
                <a:solidFill>
                  <a:schemeClr val="dk1"/>
                </a:solidFill>
              </a:rPr>
              <a:t> is a security technology designed to monitor network traffic or system activities for malicious activities or policy violations. Unlike a firewall, which acts as a gatekeeper to prevent unauthorized access, an IDS functions like a security camera and alarm system, analyzing internal and external patterns to identify threats that may have already bypassed initial defenses.</a:t>
            </a:r>
            <a:endParaRPr sz="1200" b="0" i="0" u="none" strike="noStrike" cap="none">
              <a:solidFill>
                <a:schemeClr val="dk1"/>
              </a:solidFill>
              <a:latin typeface="Calibri"/>
              <a:ea typeface="Calibri"/>
              <a:cs typeface="Calibri"/>
              <a:sym typeface="Calibri"/>
            </a:endParaRPr>
          </a:p>
        </p:txBody>
      </p:sp>
      <p:sp>
        <p:nvSpPr>
          <p:cNvPr id="115" name="Google Shape;115;p5: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8" name="Shape 118"/>
        <p:cNvGrpSpPr/>
        <p:nvPr/>
      </p:nvGrpSpPr>
      <p:grpSpPr>
        <a:xfrm>
          <a:off x="0" y="0"/>
          <a:ext cx="0" cy="0"/>
          <a:chOff x="0" y="0"/>
          <a:chExt cx="0" cy="0"/>
        </a:xfrm>
      </p:grpSpPr>
      <p:sp>
        <p:nvSpPr>
          <p:cNvPr id="119" name="Google Shape;119;p6: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0" name="Google Shape;120;p6: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1" name="Google Shape;121;p6: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7" name="Shape 127"/>
        <p:cNvGrpSpPr/>
        <p:nvPr/>
      </p:nvGrpSpPr>
      <p:grpSpPr>
        <a:xfrm>
          <a:off x="0" y="0"/>
          <a:ext cx="0" cy="0"/>
          <a:chOff x="0" y="0"/>
          <a:chExt cx="0" cy="0"/>
        </a:xfrm>
      </p:grpSpPr>
      <p:sp>
        <p:nvSpPr>
          <p:cNvPr id="128" name="Google Shape;128;p7: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9" name="Google Shape;129;p7: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0" name="Google Shape;130;p7: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zh-CN">
                <a:solidFill>
                  <a:schemeClr val="dk1"/>
                </a:solidFill>
              </a:rPr>
              <a:t>"When we talk about monitoring a system, we often see clean dashboards or high-level summaries. But this is what the 'truth' looks like at the ground level. These are </a:t>
            </a:r>
            <a:r>
              <a:rPr lang="zh-CN" b="1">
                <a:solidFill>
                  <a:schemeClr val="dk1"/>
                </a:solidFill>
              </a:rPr>
              <a:t>raw system-level logs</a:t>
            </a:r>
            <a:r>
              <a:rPr lang="zh-CN">
                <a:solidFill>
                  <a:schemeClr val="dk1"/>
                </a:solidFill>
              </a:rPr>
              <a:t>—unstructured, dense, and captured directly from the kernel using tools like Falco or modern BPF probes."</a:t>
            </a:r>
            <a:endParaRPr>
              <a:solidFill>
                <a:schemeClr val="dk1"/>
              </a:solidFill>
            </a:endParaRPr>
          </a:p>
          <a:p>
            <a:pPr marL="0" lvl="0" indent="0" algn="l" rtl="0">
              <a:lnSpc>
                <a:spcPct val="100000"/>
              </a:lnSpc>
              <a:spcBef>
                <a:spcPts val="0"/>
              </a:spcBef>
              <a:spcAft>
                <a:spcPts val="0"/>
              </a:spcAft>
              <a:buSzPts val="1400"/>
              <a:buNone/>
            </a:pPr>
            <a:endParaRPr>
              <a:solidFill>
                <a:schemeClr val="dk1"/>
              </a:solidFill>
            </a:endParaRPr>
          </a:p>
          <a:p>
            <a:pPr marL="0" lvl="0" indent="0" algn="l" rtl="0">
              <a:lnSpc>
                <a:spcPct val="100000"/>
              </a:lnSpc>
              <a:spcBef>
                <a:spcPts val="0"/>
              </a:spcBef>
              <a:spcAft>
                <a:spcPts val="0"/>
              </a:spcAft>
              <a:buSzPts val="1400"/>
              <a:buNone/>
            </a:pPr>
            <a:r>
              <a:rPr lang="zh-CN">
                <a:solidFill>
                  <a:schemeClr val="dk1"/>
                </a:solidFill>
              </a:rPr>
              <a:t>"The first few lines show the environment setup: initializing buffers, loading event sources, and detecting CPUs. But the real action starts in the bottom half. These are records of </a:t>
            </a:r>
            <a:r>
              <a:rPr lang="zh-CN" b="1">
                <a:solidFill>
                  <a:schemeClr val="dk1"/>
                </a:solidFill>
              </a:rPr>
              <a:t>System Calls (syscalls)</a:t>
            </a:r>
            <a:r>
              <a:rPr lang="zh-CN">
                <a:solidFill>
                  <a:schemeClr val="dk1"/>
                </a:solidFill>
              </a:rPr>
              <a:t>. Every time a program wants to talk to the network, open a file, or create a new process, it must ask the kernel. That request is what we see captured here."</a:t>
            </a:r>
            <a:endParaRPr>
              <a:solidFill>
                <a:schemeClr val="dk1"/>
              </a:solidFill>
            </a:endParaRPr>
          </a:p>
          <a:p>
            <a:pPr marL="0" lvl="0" indent="0" algn="l" rtl="0">
              <a:lnSpc>
                <a:spcPct val="100000"/>
              </a:lnSpc>
              <a:spcBef>
                <a:spcPts val="0"/>
              </a:spcBef>
              <a:spcAft>
                <a:spcPts val="0"/>
              </a:spcAft>
              <a:buSzPts val="1400"/>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zh-CN" sz="1300" b="1">
                <a:solidFill>
                  <a:schemeClr val="dk1"/>
                </a:solidFill>
              </a:rPr>
              <a:t>3. Deep Dive: Anatomy of a Log Entry (The </a:t>
            </a:r>
            <a:r>
              <a:rPr lang="zh-CN" sz="1300" b="1">
                <a:solidFill>
                  <a:srgbClr val="188038"/>
                </a:solidFill>
                <a:latin typeface="Roboto Mono" panose="00000009000000000000"/>
                <a:ea typeface="Roboto Mono" panose="00000009000000000000"/>
                <a:cs typeface="Roboto Mono" panose="00000009000000000000"/>
                <a:sym typeface="Roboto Mono" panose="00000009000000000000"/>
              </a:rPr>
              <a:t>accept</a:t>
            </a:r>
            <a:r>
              <a:rPr lang="zh-CN" sz="1300" b="1">
                <a:solidFill>
                  <a:schemeClr val="dk1"/>
                </a:solidFill>
              </a:rPr>
              <a:t> Example)</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a:solidFill>
                  <a:schemeClr val="dk1"/>
                </a:solidFill>
              </a:rPr>
              <a:t>"Let’s look at the line starting with </a:t>
            </a:r>
            <a:r>
              <a:rPr lang="zh-CN">
                <a:solidFill>
                  <a:srgbClr val="188038"/>
                </a:solidFill>
                <a:latin typeface="Roboto Mono" panose="00000009000000000000"/>
                <a:ea typeface="Roboto Mono" panose="00000009000000000000"/>
                <a:cs typeface="Roboto Mono" panose="00000009000000000000"/>
                <a:sym typeface="Roboto Mono" panose="00000009000000000000"/>
              </a:rPr>
              <a:t>20:23:15... Syscall:accept</a:t>
            </a:r>
            <a:r>
              <a:rPr lang="zh-CN">
                <a:solidFill>
                  <a:schemeClr val="dk1"/>
                </a:solidFill>
              </a:rPr>
              <a:t>. To a human, it looks like alphabet soup. To a security or DevOps engineer, it’s a detailed story. Let’s break down what one single log entry tells us:"</a:t>
            </a:r>
            <a:endParaRPr>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b="1">
                <a:solidFill>
                  <a:schemeClr val="dk1"/>
                </a:solidFill>
              </a:rPr>
              <a:t>A. The 'When' and 'Who' (Context)</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zh-CN" b="1">
                <a:solidFill>
                  <a:schemeClr val="dk1"/>
                </a:solidFill>
              </a:rPr>
              <a:t>Timestamp:</a:t>
            </a:r>
            <a:r>
              <a:rPr lang="zh-CN">
                <a:solidFill>
                  <a:schemeClr val="dk1"/>
                </a:solidFill>
              </a:rPr>
              <a:t> </a:t>
            </a:r>
            <a:r>
              <a:rPr lang="zh-CN">
                <a:solidFill>
                  <a:srgbClr val="188038"/>
                </a:solidFill>
                <a:latin typeface="Roboto Mono" panose="00000009000000000000"/>
                <a:ea typeface="Roboto Mono" panose="00000009000000000000"/>
                <a:cs typeface="Roboto Mono" panose="00000009000000000000"/>
                <a:sym typeface="Roboto Mono" panose="00000009000000000000"/>
              </a:rPr>
              <a:t>20:23:15.597...</a:t>
            </a:r>
            <a:r>
              <a:rPr lang="zh-CN">
                <a:solidFill>
                  <a:schemeClr val="dk1"/>
                </a:solidFill>
              </a:rPr>
              <a:t> – Precise down to the microsecond. In high-speed systems, this precision is vital for correlating events.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zh-CN" b="1">
                <a:solidFill>
                  <a:schemeClr val="dk1"/>
                </a:solidFill>
              </a:rPr>
              <a:t>Process Name:</a:t>
            </a:r>
            <a:r>
              <a:rPr lang="zh-CN">
                <a:solidFill>
                  <a:schemeClr val="dk1"/>
                </a:solidFill>
              </a:rPr>
              <a:t> </a:t>
            </a:r>
            <a:r>
              <a:rPr lang="zh-CN">
                <a:solidFill>
                  <a:srgbClr val="188038"/>
                </a:solidFill>
                <a:latin typeface="Roboto Mono" panose="00000009000000000000"/>
                <a:ea typeface="Roboto Mono" panose="00000009000000000000"/>
                <a:cs typeface="Roboto Mono" panose="00000009000000000000"/>
                <a:sym typeface="Roboto Mono" panose="00000009000000000000"/>
              </a:rPr>
              <a:t>Name:smbd</a:t>
            </a:r>
            <a:r>
              <a:rPr lang="zh-CN">
                <a:solidFill>
                  <a:schemeClr val="dk1"/>
                </a:solidFill>
              </a:rPr>
              <a:t> – This tells us the </a:t>
            </a:r>
            <a:r>
              <a:rPr lang="zh-CN" b="1">
                <a:solidFill>
                  <a:schemeClr val="dk1"/>
                </a:solidFill>
              </a:rPr>
              <a:t>Samba daemon</a:t>
            </a:r>
            <a:r>
              <a:rPr lang="zh-CN">
                <a:solidFill>
                  <a:schemeClr val="dk1"/>
                </a:solidFill>
              </a:rPr>
              <a:t> (used for file sharing) is the one performing the action.</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zh-CN" b="1">
                <a:solidFill>
                  <a:schemeClr val="dk1"/>
                </a:solidFill>
              </a:rPr>
              <a:t>Process ID (PID):</a:t>
            </a:r>
            <a:r>
              <a:rPr lang="zh-CN">
                <a:solidFill>
                  <a:schemeClr val="dk1"/>
                </a:solidFill>
              </a:rPr>
              <a:t> </a:t>
            </a:r>
            <a:r>
              <a:rPr lang="zh-CN">
                <a:solidFill>
                  <a:srgbClr val="188038"/>
                </a:solidFill>
                <a:latin typeface="Roboto Mono" panose="00000009000000000000"/>
                <a:ea typeface="Roboto Mono" panose="00000009000000000000"/>
                <a:cs typeface="Roboto Mono" panose="00000009000000000000"/>
                <a:sym typeface="Roboto Mono" panose="00000009000000000000"/>
              </a:rPr>
              <a:t>PID:1407875</a:t>
            </a:r>
            <a:r>
              <a:rPr lang="zh-CN">
                <a:solidFill>
                  <a:schemeClr val="dk1"/>
                </a:solidFill>
              </a:rPr>
              <a:t> – This allows us to track this exact instance of the program across the entire system.</a:t>
            </a:r>
            <a:endParaRPr>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b="1">
                <a:solidFill>
                  <a:schemeClr val="dk1"/>
                </a:solidFill>
              </a:rPr>
              <a:t>B. The 'What' (The Action)</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zh-CN" b="1">
                <a:solidFill>
                  <a:schemeClr val="dk1"/>
                </a:solidFill>
              </a:rPr>
              <a:t>Syscall Type:</a:t>
            </a:r>
            <a:r>
              <a:rPr lang="zh-CN">
                <a:solidFill>
                  <a:schemeClr val="dk1"/>
                </a:solidFill>
              </a:rPr>
              <a:t> </a:t>
            </a:r>
            <a:r>
              <a:rPr lang="zh-CN">
                <a:solidFill>
                  <a:srgbClr val="188038"/>
                </a:solidFill>
                <a:latin typeface="Roboto Mono" panose="00000009000000000000"/>
                <a:ea typeface="Roboto Mono" panose="00000009000000000000"/>
                <a:cs typeface="Roboto Mono" panose="00000009000000000000"/>
                <a:sym typeface="Roboto Mono" panose="00000009000000000000"/>
              </a:rPr>
              <a:t>Syscall:accept</a:t>
            </a:r>
            <a:r>
              <a:rPr lang="zh-CN">
                <a:solidFill>
                  <a:schemeClr val="dk1"/>
                </a:solidFill>
              </a:rPr>
              <a:t> – This is the 'verb' of the sentence. The program is 'accepting' an incoming network connection request.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zh-CN" b="1">
                <a:solidFill>
                  <a:schemeClr val="dk1"/>
                </a:solidFill>
              </a:rPr>
              <a:t>File Descriptor (FD):</a:t>
            </a:r>
            <a:r>
              <a:rPr lang="zh-CN">
                <a:solidFill>
                  <a:schemeClr val="dk1"/>
                </a:solidFill>
              </a:rPr>
              <a:t> </a:t>
            </a:r>
            <a:r>
              <a:rPr lang="zh-CN">
                <a:solidFill>
                  <a:srgbClr val="188038"/>
                </a:solidFill>
                <a:latin typeface="Roboto Mono" panose="00000009000000000000"/>
                <a:ea typeface="Roboto Mono" panose="00000009000000000000"/>
                <a:cs typeface="Roboto Mono" panose="00000009000000000000"/>
                <a:sym typeface="Roboto Mono" panose="00000009000000000000"/>
              </a:rPr>
              <a:t>fd=5</a:t>
            </a:r>
            <a:r>
              <a:rPr lang="zh-CN">
                <a:solidFill>
                  <a:schemeClr val="dk1"/>
                </a:solidFill>
              </a:rPr>
              <a:t> – The kernel has assigned index 5 to this specific connection for the process to use.</a:t>
            </a:r>
            <a:endParaRPr>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b="1">
                <a:solidFill>
                  <a:schemeClr val="dk1"/>
                </a:solidFill>
              </a:rPr>
              <a:t>C. The 'Where' (Network Detail)</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zh-CN" b="1">
                <a:solidFill>
                  <a:schemeClr val="dk1"/>
                </a:solidFill>
              </a:rPr>
              <a:t>Connection Tuple:</a:t>
            </a:r>
            <a:r>
              <a:rPr lang="zh-CN">
                <a:solidFill>
                  <a:schemeClr val="dk1"/>
                </a:solidFill>
              </a:rPr>
              <a:t> </a:t>
            </a:r>
            <a:r>
              <a:rPr lang="zh-CN">
                <a:solidFill>
                  <a:srgbClr val="188038"/>
                </a:solidFill>
                <a:latin typeface="Roboto Mono" panose="00000009000000000000"/>
                <a:ea typeface="Roboto Mono" panose="00000009000000000000"/>
                <a:cs typeface="Roboto Mono" panose="00000009000000000000"/>
                <a:sym typeface="Roboto Mono" panose="00000009000000000000"/>
              </a:rPr>
              <a:t>172.17.0.2:37254 -&gt; 172.17.0.3:445</a:t>
            </a:r>
            <a:endParaRPr>
              <a:solidFill>
                <a:srgbClr val="188038"/>
              </a:solidFill>
              <a:latin typeface="Roboto Mono" panose="00000009000000000000"/>
              <a:ea typeface="Roboto Mono" panose="00000009000000000000"/>
              <a:cs typeface="Roboto Mono" panose="00000009000000000000"/>
              <a:sym typeface="Roboto Mono" panose="00000009000000000000"/>
            </a:endParaRPr>
          </a:p>
          <a:p>
            <a:pPr marL="914400" lvl="1" indent="-298450" algn="l" rtl="0">
              <a:lnSpc>
                <a:spcPct val="115000"/>
              </a:lnSpc>
              <a:spcBef>
                <a:spcPts val="0"/>
              </a:spcBef>
              <a:spcAft>
                <a:spcPts val="0"/>
              </a:spcAft>
              <a:buClr>
                <a:schemeClr val="dk1"/>
              </a:buClr>
              <a:buSzPts val="1100"/>
              <a:buChar char="○"/>
            </a:pPr>
            <a:r>
              <a:rPr lang="zh-CN">
                <a:solidFill>
                  <a:schemeClr val="dk1"/>
                </a:solidFill>
              </a:rPr>
              <a:t>Here, we see the source IP and port connecting to the destination. Since it's port </a:t>
            </a:r>
            <a:r>
              <a:rPr lang="zh-CN" b="1">
                <a:solidFill>
                  <a:schemeClr val="dk1"/>
                </a:solidFill>
              </a:rPr>
              <a:t>445</a:t>
            </a:r>
            <a:r>
              <a:rPr lang="zh-CN">
                <a:solidFill>
                  <a:schemeClr val="dk1"/>
                </a:solidFill>
              </a:rPr>
              <a:t>, we know someone is trying to access a Windows-style file share (SMB).</a:t>
            </a:r>
            <a:endParaRPr>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b="1">
                <a:solidFill>
                  <a:schemeClr val="dk1"/>
                </a:solidFill>
              </a:rPr>
              <a:t>D. The 'Environment' (Cloud-Native Metadata)</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zh-CN" b="1">
                <a:solidFill>
                  <a:schemeClr val="dk1"/>
                </a:solidFill>
              </a:rPr>
              <a:t>Container Identity:</a:t>
            </a:r>
            <a:r>
              <a:rPr lang="zh-CN">
                <a:solidFill>
                  <a:schemeClr val="dk1"/>
                </a:solidFill>
              </a:rPr>
              <a:t> </a:t>
            </a:r>
            <a:r>
              <a:rPr lang="zh-CN">
                <a:solidFill>
                  <a:srgbClr val="188038"/>
                </a:solidFill>
                <a:latin typeface="Roboto Mono" panose="00000009000000000000"/>
                <a:ea typeface="Roboto Mono" panose="00000009000000000000"/>
                <a:cs typeface="Roboto Mono" panose="00000009000000000000"/>
                <a:sym typeface="Roboto Mono" panose="00000009000000000000"/>
              </a:rPr>
              <a:t>container_name=my-metasploitable</a:t>
            </a:r>
            <a:endParaRPr>
              <a:solidFill>
                <a:srgbClr val="188038"/>
              </a:solidFill>
              <a:latin typeface="Roboto Mono" panose="00000009000000000000"/>
              <a:ea typeface="Roboto Mono" panose="00000009000000000000"/>
              <a:cs typeface="Roboto Mono" panose="00000009000000000000"/>
              <a:sym typeface="Roboto Mono" panose="00000009000000000000"/>
            </a:endParaRPr>
          </a:p>
          <a:p>
            <a:pPr marL="457200" lvl="0" indent="-298450" algn="l" rtl="0">
              <a:lnSpc>
                <a:spcPct val="115000"/>
              </a:lnSpc>
              <a:spcBef>
                <a:spcPts val="0"/>
              </a:spcBef>
              <a:spcAft>
                <a:spcPts val="0"/>
              </a:spcAft>
              <a:buClr>
                <a:schemeClr val="dk1"/>
              </a:buClr>
              <a:buSzPts val="1100"/>
              <a:buChar char="●"/>
            </a:pPr>
            <a:r>
              <a:rPr lang="zh-CN" b="1">
                <a:solidFill>
                  <a:schemeClr val="dk1"/>
                </a:solidFill>
              </a:rPr>
              <a:t>Container ID:</a:t>
            </a:r>
            <a:r>
              <a:rPr lang="zh-CN">
                <a:solidFill>
                  <a:schemeClr val="dk1"/>
                </a:solidFill>
              </a:rPr>
              <a:t> </a:t>
            </a:r>
            <a:r>
              <a:rPr lang="zh-CN">
                <a:solidFill>
                  <a:srgbClr val="188038"/>
                </a:solidFill>
                <a:latin typeface="Roboto Mono" panose="00000009000000000000"/>
                <a:ea typeface="Roboto Mono" panose="00000009000000000000"/>
                <a:cs typeface="Roboto Mono" panose="00000009000000000000"/>
                <a:sym typeface="Roboto Mono" panose="00000009000000000000"/>
              </a:rPr>
              <a:t>36ed6cbeb804...</a:t>
            </a:r>
            <a:endParaRPr>
              <a:solidFill>
                <a:srgbClr val="188038"/>
              </a:solidFill>
              <a:latin typeface="Roboto Mono" panose="00000009000000000000"/>
              <a:ea typeface="Roboto Mono" panose="00000009000000000000"/>
              <a:cs typeface="Roboto Mono" panose="00000009000000000000"/>
              <a:sym typeface="Roboto Mono" panose="00000009000000000000"/>
            </a:endParaRPr>
          </a:p>
          <a:p>
            <a:pPr marL="914400" lvl="1" indent="-298450" algn="l" rtl="0">
              <a:lnSpc>
                <a:spcPct val="115000"/>
              </a:lnSpc>
              <a:spcBef>
                <a:spcPts val="0"/>
              </a:spcBef>
              <a:spcAft>
                <a:spcPts val="0"/>
              </a:spcAft>
              <a:buClr>
                <a:schemeClr val="dk1"/>
              </a:buClr>
              <a:buSzPts val="1100"/>
              <a:buChar char="○"/>
            </a:pPr>
            <a:r>
              <a:rPr lang="zh-CN">
                <a:solidFill>
                  <a:schemeClr val="dk1"/>
                </a:solidFill>
              </a:rPr>
              <a:t>This is the most critical part for modern infrastructure. The log doesn't just say 'a process did this'; it tells us exactly </a:t>
            </a:r>
            <a:r>
              <a:rPr lang="zh-CN" b="1">
                <a:solidFill>
                  <a:schemeClr val="dk1"/>
                </a:solidFill>
              </a:rPr>
              <a:t>which container</a:t>
            </a:r>
            <a:r>
              <a:rPr lang="zh-CN">
                <a:solidFill>
                  <a:schemeClr val="dk1"/>
                </a:solidFill>
              </a:rPr>
              <a:t> it happened in. Given the name 'metasploitable', we can infer this log is likely from a security lab or a penetration testing exercise.</a:t>
            </a:r>
            <a:endParaRPr>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a:solidFill>
                <a:schemeClr val="dk1"/>
              </a:solidFill>
            </a:endParaRPr>
          </a:p>
          <a:p>
            <a:pPr marL="0" lvl="0" indent="0" algn="l" rtl="0">
              <a:lnSpc>
                <a:spcPct val="100000"/>
              </a:lnSpc>
              <a:spcBef>
                <a:spcPts val="0"/>
              </a:spcBef>
              <a:spcAft>
                <a:spcPts val="0"/>
              </a:spcAft>
              <a:buSzPts val="1400"/>
              <a:buNone/>
            </a:pP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7" name="Shape 137"/>
        <p:cNvGrpSpPr/>
        <p:nvPr/>
      </p:nvGrpSpPr>
      <p:grpSpPr>
        <a:xfrm>
          <a:off x="0" y="0"/>
          <a:ext cx="0" cy="0"/>
          <a:chOff x="0" y="0"/>
          <a:chExt cx="0" cy="0"/>
        </a:xfrm>
      </p:grpSpPr>
      <p:sp>
        <p:nvSpPr>
          <p:cNvPr id="138" name="Google Shape;138;p8: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9" name="Google Shape;139;p8: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0" name="Google Shape;140;p8: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panose="020B0604020202090204"/>
              <a:buNone/>
            </a:pPr>
            <a:r>
              <a:rPr lang="zh-CN">
                <a:solidFill>
                  <a:schemeClr val="dk1"/>
                </a:solidFill>
              </a:rPr>
              <a:t>"While raw text logs tell us </a:t>
            </a:r>
            <a:r>
              <a:rPr lang="zh-CN" i="1">
                <a:solidFill>
                  <a:schemeClr val="dk1"/>
                </a:solidFill>
              </a:rPr>
              <a:t>what</a:t>
            </a:r>
            <a:r>
              <a:rPr lang="zh-CN">
                <a:solidFill>
                  <a:schemeClr val="dk1"/>
                </a:solidFill>
              </a:rPr>
              <a:t> happened, </a:t>
            </a:r>
            <a:r>
              <a:rPr lang="zh-CN" b="1">
                <a:solidFill>
                  <a:schemeClr val="dk1"/>
                </a:solidFill>
              </a:rPr>
              <a:t>provenance-based logs</a:t>
            </a:r>
            <a:r>
              <a:rPr lang="zh-CN">
                <a:solidFill>
                  <a:schemeClr val="dk1"/>
                </a:solidFill>
              </a:rPr>
              <a:t> show us </a:t>
            </a:r>
            <a:r>
              <a:rPr lang="zh-CN" i="1">
                <a:solidFill>
                  <a:schemeClr val="dk1"/>
                </a:solidFill>
              </a:rPr>
              <a:t>why</a:t>
            </a:r>
            <a:r>
              <a:rPr lang="zh-CN">
                <a:solidFill>
                  <a:schemeClr val="dk1"/>
                </a:solidFill>
              </a:rPr>
              <a:t> it happened. Instead of reading thousands of lines of text, we represent system activity as a </a:t>
            </a:r>
            <a:r>
              <a:rPr lang="zh-CN" b="1">
                <a:solidFill>
                  <a:schemeClr val="dk1"/>
                </a:solidFill>
              </a:rPr>
              <a:t>causality graph</a:t>
            </a:r>
            <a:r>
              <a:rPr lang="zh-CN">
                <a:solidFill>
                  <a:schemeClr val="dk1"/>
                </a:solidFill>
              </a:rPr>
              <a:t>. This allows us to see the 'family tree' of every action in the system."</a:t>
            </a:r>
            <a:endParaRPr>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zh-CN" sz="1300" b="1">
                <a:solidFill>
                  <a:schemeClr val="dk1"/>
                </a:solidFill>
              </a:rPr>
              <a:t>2. Decoding the Graph</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a:solidFill>
                  <a:schemeClr val="dk1"/>
                </a:solidFill>
              </a:rPr>
              <a:t>"As you can see in the </a:t>
            </a:r>
            <a:r>
              <a:rPr lang="zh-CN" b="1">
                <a:solidFill>
                  <a:schemeClr val="dk1"/>
                </a:solidFill>
              </a:rPr>
              <a:t>Legend</a:t>
            </a:r>
            <a:r>
              <a:rPr lang="zh-CN">
                <a:solidFill>
                  <a:schemeClr val="dk1"/>
                </a:solidFill>
              </a:rPr>
              <a:t>, we use different shapes and colors to categorize the data:</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zh-CN" b="1">
                <a:solidFill>
                  <a:schemeClr val="dk1"/>
                </a:solidFill>
              </a:rPr>
              <a:t>Diamonds</a:t>
            </a:r>
            <a:r>
              <a:rPr lang="zh-CN">
                <a:solidFill>
                  <a:schemeClr val="dk1"/>
                </a:solidFill>
              </a:rPr>
              <a:t> are Processes, </a:t>
            </a:r>
            <a:r>
              <a:rPr lang="zh-CN" b="1">
                <a:solidFill>
                  <a:schemeClr val="dk1"/>
                </a:solidFill>
              </a:rPr>
              <a:t>Rectangles</a:t>
            </a:r>
            <a:r>
              <a:rPr lang="zh-CN">
                <a:solidFill>
                  <a:schemeClr val="dk1"/>
                </a:solidFill>
              </a:rPr>
              <a:t> are Files, and </a:t>
            </a:r>
            <a:r>
              <a:rPr lang="zh-CN" b="1">
                <a:solidFill>
                  <a:schemeClr val="dk1"/>
                </a:solidFill>
              </a:rPr>
              <a:t>Ovals</a:t>
            </a:r>
            <a:r>
              <a:rPr lang="zh-CN">
                <a:solidFill>
                  <a:schemeClr val="dk1"/>
                </a:solidFill>
              </a:rPr>
              <a:t> are Network Flow.</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zh-CN" b="1">
                <a:solidFill>
                  <a:schemeClr val="dk1"/>
                </a:solidFill>
              </a:rPr>
              <a:t>Solid lines</a:t>
            </a:r>
            <a:r>
              <a:rPr lang="zh-CN">
                <a:solidFill>
                  <a:schemeClr val="dk1"/>
                </a:solidFill>
              </a:rPr>
              <a:t> represent benign, everyday activity (shown in blue), like Outlook writing a Word document.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zh-CN" b="1">
                <a:solidFill>
                  <a:schemeClr val="dk1"/>
                </a:solidFill>
              </a:rPr>
              <a:t>Dashed lines</a:t>
            </a:r>
            <a:r>
              <a:rPr lang="zh-CN">
                <a:solidFill>
                  <a:schemeClr val="dk1"/>
                </a:solidFill>
              </a:rPr>
              <a:t> (highlighted in red) represent an attack path."</a:t>
            </a:r>
            <a:endParaRPr>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zh-CN" sz="1300" b="1">
                <a:solidFill>
                  <a:schemeClr val="dk1"/>
                </a:solidFill>
              </a:rPr>
              <a:t>3. Identifying the Attack Chain</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a:solidFill>
                  <a:schemeClr val="dk1"/>
                </a:solidFill>
              </a:rPr>
              <a:t>"The power of this visualization is how easily it exposes a threat. If we follow the red path, we see a clear story:</a:t>
            </a:r>
            <a:endParaRPr>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zh-CN">
                <a:solidFill>
                  <a:schemeClr val="dk1"/>
                </a:solidFill>
              </a:rPr>
              <a:t>An infected </a:t>
            </a:r>
            <a:r>
              <a:rPr lang="zh-CN" b="1">
                <a:solidFill>
                  <a:schemeClr val="dk1"/>
                </a:solidFill>
              </a:rPr>
              <a:t>Chrome.exe</a:t>
            </a:r>
            <a:r>
              <a:rPr lang="zh-CN">
                <a:solidFill>
                  <a:schemeClr val="dk1"/>
                </a:solidFill>
              </a:rPr>
              <a:t> executes a malicious </a:t>
            </a:r>
            <a:r>
              <a:rPr lang="zh-CN" b="1">
                <a:solidFill>
                  <a:schemeClr val="dk1"/>
                </a:solidFill>
              </a:rPr>
              <a:t>Agent</a:t>
            </a:r>
            <a:r>
              <a:rPr lang="zh-CN">
                <a:solidFill>
                  <a:schemeClr val="dk1"/>
                </a:solidFill>
              </a:rPr>
              <a:t>.</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zh-CN">
                <a:solidFill>
                  <a:schemeClr val="dk1"/>
                </a:solidFill>
              </a:rPr>
              <a:t>This Agent </a:t>
            </a:r>
            <a:r>
              <a:rPr lang="zh-CN" b="1">
                <a:solidFill>
                  <a:schemeClr val="dk1"/>
                </a:solidFill>
              </a:rPr>
              <a:t>Forks</a:t>
            </a:r>
            <a:r>
              <a:rPr lang="zh-CN">
                <a:solidFill>
                  <a:schemeClr val="dk1"/>
                </a:solidFill>
              </a:rPr>
              <a:t> a tool called </a:t>
            </a:r>
            <a:r>
              <a:rPr lang="zh-CN">
                <a:solidFill>
                  <a:srgbClr val="188038"/>
                </a:solidFill>
                <a:latin typeface="Roboto Mono" panose="00000009000000000000"/>
                <a:ea typeface="Roboto Mono" panose="00000009000000000000"/>
                <a:cs typeface="Roboto Mono" panose="00000009000000000000"/>
                <a:sym typeface="Roboto Mono" panose="00000009000000000000"/>
              </a:rPr>
              <a:t>find.exe</a:t>
            </a:r>
            <a:r>
              <a:rPr lang="zh-CN">
                <a:solidFill>
                  <a:schemeClr val="dk1"/>
                </a:solidFill>
              </a:rPr>
              <a:t> to scout the system.</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zh-CN">
                <a:solidFill>
                  <a:schemeClr val="dk1"/>
                </a:solidFill>
              </a:rPr>
              <a:t>Finally, it bundles data into a ZIP file and uses </a:t>
            </a:r>
            <a:r>
              <a:rPr lang="zh-CN" b="1">
                <a:solidFill>
                  <a:schemeClr val="dk1"/>
                </a:solidFill>
              </a:rPr>
              <a:t>Sendto</a:t>
            </a:r>
            <a:r>
              <a:rPr lang="zh-CN">
                <a:solidFill>
                  <a:schemeClr val="dk1"/>
                </a:solidFill>
              </a:rPr>
              <a:t> to exfiltrate that data to an external server: </a:t>
            </a:r>
            <a:r>
              <a:rPr lang="zh-CN">
                <a:solidFill>
                  <a:srgbClr val="188038"/>
                </a:solidFill>
                <a:latin typeface="Roboto Mono" panose="00000009000000000000"/>
                <a:ea typeface="Roboto Mono" panose="00000009000000000000"/>
                <a:cs typeface="Roboto Mono" panose="00000009000000000000"/>
                <a:sym typeface="Roboto Mono" panose="00000009000000000000"/>
              </a:rPr>
              <a:t>News.com</a:t>
            </a:r>
            <a:r>
              <a:rPr lang="zh-CN">
                <a:solidFill>
                  <a:schemeClr val="dk1"/>
                </a:solidFill>
              </a:rPr>
              <a:t> on port </a:t>
            </a:r>
            <a:r>
              <a:rPr lang="zh-CN">
                <a:solidFill>
                  <a:srgbClr val="188038"/>
                </a:solidFill>
                <a:latin typeface="Roboto Mono" panose="00000009000000000000"/>
                <a:ea typeface="Roboto Mono" panose="00000009000000000000"/>
                <a:cs typeface="Roboto Mono" panose="00000009000000000000"/>
                <a:sym typeface="Roboto Mono" panose="00000009000000000000"/>
              </a:rPr>
              <a:t>9999</a:t>
            </a:r>
            <a:r>
              <a:rPr lang="zh-CN">
                <a:solidFill>
                  <a:schemeClr val="dk1"/>
                </a:solidFill>
              </a:rPr>
              <a:t>."</a:t>
            </a:r>
            <a:endParaRPr>
              <a:solidFill>
                <a:schemeClr val="dk1"/>
              </a:solidFill>
            </a:endParaRPr>
          </a:p>
          <a:p>
            <a:pPr marL="0" lvl="0" indent="0" algn="l" rtl="0">
              <a:lnSpc>
                <a:spcPct val="100000"/>
              </a:lnSpc>
              <a:spcBef>
                <a:spcPts val="1200"/>
              </a:spcBef>
              <a:spcAft>
                <a:spcPts val="0"/>
              </a:spcAft>
              <a:buSzPts val="14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7" name="Shape 147"/>
        <p:cNvGrpSpPr/>
        <p:nvPr/>
      </p:nvGrpSpPr>
      <p:grpSpPr>
        <a:xfrm>
          <a:off x="0" y="0"/>
          <a:ext cx="0" cy="0"/>
          <a:chOff x="0" y="0"/>
          <a:chExt cx="0" cy="0"/>
        </a:xfrm>
      </p:grpSpPr>
      <p:sp>
        <p:nvSpPr>
          <p:cNvPr id="148" name="Google Shape;148;p9: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49" name="Google Shape;149;p9: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0" name="Google Shape;150;p9: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panose="020B0604020202090204"/>
              <a:buNone/>
            </a:pPr>
            <a:r>
              <a:rPr lang="zh-CN">
                <a:solidFill>
                  <a:schemeClr val="dk1"/>
                </a:solidFill>
              </a:rPr>
              <a:t>"We’ve looked at raw text and visual graphs, but if we want to build a </a:t>
            </a:r>
            <a:r>
              <a:rPr lang="zh-CN" b="1">
                <a:solidFill>
                  <a:schemeClr val="dk1"/>
                </a:solidFill>
              </a:rPr>
              <a:t>Machine Learning model</a:t>
            </a:r>
            <a:r>
              <a:rPr lang="zh-CN">
                <a:solidFill>
                  <a:schemeClr val="dk1"/>
                </a:solidFill>
              </a:rPr>
              <a:t> to detect threats, we need to transform that data into a structured format. This is where </a:t>
            </a:r>
            <a:r>
              <a:rPr lang="zh-CN" b="1">
                <a:solidFill>
                  <a:schemeClr val="dk1"/>
                </a:solidFill>
              </a:rPr>
              <a:t>manually labeled feature engineering</a:t>
            </a:r>
            <a:r>
              <a:rPr lang="zh-CN">
                <a:solidFill>
                  <a:schemeClr val="dk1"/>
                </a:solidFill>
              </a:rPr>
              <a:t> comes in."</a:t>
            </a:r>
            <a:endParaRPr>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zh-CN" sz="1300" b="1">
                <a:solidFill>
                  <a:schemeClr val="dk1"/>
                </a:solidFill>
              </a:rPr>
              <a:t>2. Structuring the Data</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a:solidFill>
                  <a:schemeClr val="dk1"/>
                </a:solidFill>
              </a:rPr>
              <a:t>"As shown in this table, we take specific attributes of a connection and turn them into quantifiable variables. This process is the bridge between raw system activity and an AI’s ability to 'learn' what a 'normal' versus an 'attack' state looks like."</a:t>
            </a:r>
            <a:endParaRPr>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zh-CN" sz="1300" b="1">
                <a:solidFill>
                  <a:schemeClr val="dk1"/>
                </a:solidFill>
              </a:rPr>
              <a:t>3. Key Feature Examples</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a:solidFill>
                  <a:schemeClr val="dk1"/>
                </a:solidFill>
              </a:rPr>
              <a:t>"Let’s look at a few specific rows:</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zh-CN" b="1">
                <a:solidFill>
                  <a:schemeClr val="dk1"/>
                </a:solidFill>
              </a:rPr>
              <a:t>Duration &amp; Bytes (Rows 1, 5, 6):</a:t>
            </a:r>
            <a:r>
              <a:rPr lang="zh-CN">
                <a:solidFill>
                  <a:schemeClr val="dk1"/>
                </a:solidFill>
              </a:rPr>
              <a:t> These are </a:t>
            </a:r>
            <a:r>
              <a:rPr lang="zh-CN" b="1">
                <a:solidFill>
                  <a:schemeClr val="dk1"/>
                </a:solidFill>
              </a:rPr>
              <a:t>Continuous</a:t>
            </a:r>
            <a:r>
              <a:rPr lang="zh-CN">
                <a:solidFill>
                  <a:schemeClr val="dk1"/>
                </a:solidFill>
              </a:rPr>
              <a:t> features. They track the length of time and the volume of data transferred. A sudden spike in 'Src Bytes' could indicate data exfiltration.</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zh-CN" b="1">
                <a:solidFill>
                  <a:schemeClr val="dk1"/>
                </a:solidFill>
              </a:rPr>
              <a:t>Protocol &amp; Service (Rows 2, 3):</a:t>
            </a:r>
            <a:r>
              <a:rPr lang="zh-CN">
                <a:solidFill>
                  <a:schemeClr val="dk1"/>
                </a:solidFill>
              </a:rPr>
              <a:t> These are </a:t>
            </a:r>
            <a:r>
              <a:rPr lang="zh-CN" b="1">
                <a:solidFill>
                  <a:schemeClr val="dk1"/>
                </a:solidFill>
              </a:rPr>
              <a:t>Categorical</a:t>
            </a:r>
            <a:r>
              <a:rPr lang="zh-CN">
                <a:solidFill>
                  <a:schemeClr val="dk1"/>
                </a:solidFill>
              </a:rPr>
              <a:t> strings, like 'TCP' or 'HTTP', which help the model understand the context of the communication.</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zh-CN" b="1">
                <a:solidFill>
                  <a:schemeClr val="dk1"/>
                </a:solidFill>
              </a:rPr>
              <a:t>The 'Land' Feature (Row 7):</a:t>
            </a:r>
            <a:r>
              <a:rPr lang="zh-CN">
                <a:solidFill>
                  <a:schemeClr val="dk1"/>
                </a:solidFill>
              </a:rPr>
              <a:t> This is a </a:t>
            </a:r>
            <a:r>
              <a:rPr lang="zh-CN" b="1">
                <a:solidFill>
                  <a:schemeClr val="dk1"/>
                </a:solidFill>
              </a:rPr>
              <a:t>Binary</a:t>
            </a:r>
            <a:r>
              <a:rPr lang="zh-CN">
                <a:solidFill>
                  <a:schemeClr val="dk1"/>
                </a:solidFill>
              </a:rPr>
              <a:t> indicator. It checks if the source and destination IP/Ports are the same—a classic sign of a 'Land Attack' designed to crash a system.</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zh-CN" b="1">
                <a:solidFill>
                  <a:schemeClr val="dk1"/>
                </a:solidFill>
              </a:rPr>
              <a:t>The 'Hot' Indicator (Row 10):</a:t>
            </a:r>
            <a:r>
              <a:rPr lang="zh-CN">
                <a:solidFill>
                  <a:schemeClr val="dk1"/>
                </a:solidFill>
              </a:rPr>
              <a:t> This tracks system events like entering a sensitive directory or executing programs, giving the model a behavioral score."</a:t>
            </a:r>
            <a:endParaRPr>
              <a:solidFill>
                <a:schemeClr val="dk1"/>
              </a:solidFill>
            </a:endParaRPr>
          </a:p>
          <a:p>
            <a:pPr marL="0" lvl="0" indent="0" algn="l" rtl="0">
              <a:lnSpc>
                <a:spcPct val="100000"/>
              </a:lnSpc>
              <a:spcBef>
                <a:spcPts val="1200"/>
              </a:spcBef>
              <a:spcAft>
                <a:spcPts val="0"/>
              </a:spcAft>
              <a:buSzPts val="14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7" name="Shape 157"/>
        <p:cNvGrpSpPr/>
        <p:nvPr/>
      </p:nvGrpSpPr>
      <p:grpSpPr>
        <a:xfrm>
          <a:off x="0" y="0"/>
          <a:ext cx="0" cy="0"/>
          <a:chOff x="0" y="0"/>
          <a:chExt cx="0" cy="0"/>
        </a:xfrm>
      </p:grpSpPr>
      <p:sp>
        <p:nvSpPr>
          <p:cNvPr id="158" name="Google Shape;158;p10: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9" name="Google Shape;159;p10: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0" name="Google Shape;160;p10: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zh-CN"/>
              <a:t>Signature-based Intrusion Detection System: This system works on the principle of matching. The data is analyzed and compared with the signature of known attacks. In case of any matching, an alert is issued. An advantage of this system is it has more accuracy and standard alarms understood by the user.</a:t>
            </a:r>
            <a:endParaRPr 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8" name="Shape 168"/>
        <p:cNvGrpSpPr/>
        <p:nvPr/>
      </p:nvGrpSpPr>
      <p:grpSpPr>
        <a:xfrm>
          <a:off x="0" y="0"/>
          <a:ext cx="0" cy="0"/>
          <a:chOff x="0" y="0"/>
          <a:chExt cx="0" cy="0"/>
        </a:xfrm>
      </p:grpSpPr>
      <p:sp>
        <p:nvSpPr>
          <p:cNvPr id="169" name="Google Shape;169;p11: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70" name="Google Shape;170;p11: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1" name="Google Shape;171;p11: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zh-CN"/>
              <a:t>Anomaly-based Intrusion Detection System: It consists of a statistical model of normal network traffic which consists of the bandwidth used, the protocols defined for the traffic, the ports, and devices that are part of the network. It regularly monitors the network traffic and compares it with the statistical model. In case of any anomaly or discrepancy, the administrator is alerted. An advantage of this system is it can detect new and unique attacks.</a:t>
            </a:r>
            <a:endParaRPr 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9" name="Shape 179"/>
        <p:cNvGrpSpPr/>
        <p:nvPr/>
      </p:nvGrpSpPr>
      <p:grpSpPr>
        <a:xfrm>
          <a:off x="0" y="0"/>
          <a:ext cx="0" cy="0"/>
          <a:chOff x="0" y="0"/>
          <a:chExt cx="0" cy="0"/>
        </a:xfrm>
      </p:grpSpPr>
      <p:sp>
        <p:nvSpPr>
          <p:cNvPr id="180" name="Google Shape;180;p12: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Clr>
                <a:schemeClr val="dk1"/>
              </a:buClr>
              <a:buSzPts val="1100"/>
              <a:buFont typeface="Arial" panose="020B0604020202090204"/>
              <a:buNone/>
            </a:pPr>
            <a:r>
              <a:rPr lang="zh-CN" sz="1300" b="1">
                <a:solidFill>
                  <a:schemeClr val="dk1"/>
                </a:solidFill>
              </a:rPr>
              <a:t>1. Introduction: The Need for Automation</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a:solidFill>
                  <a:schemeClr val="dk1"/>
                </a:solidFill>
              </a:rPr>
              <a:t>"We’ve seen how rich system logs can be, but analyzing them manually is impossible at scale. This is where Machine Learning changes the game. Instead of relying on humans to write thousands of hard-coded rules, we let the system </a:t>
            </a:r>
            <a:r>
              <a:rPr lang="zh-CN" b="1">
                <a:solidFill>
                  <a:schemeClr val="dk1"/>
                </a:solidFill>
              </a:rPr>
              <a:t>automatically learn patterns</a:t>
            </a:r>
            <a:r>
              <a:rPr lang="zh-CN">
                <a:solidFill>
                  <a:schemeClr val="dk1"/>
                </a:solidFill>
              </a:rPr>
              <a:t> from the data itself."</a:t>
            </a:r>
            <a:endParaRPr>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zh-CN" sz="1300" b="1">
                <a:solidFill>
                  <a:schemeClr val="dk1"/>
                </a:solidFill>
              </a:rPr>
              <a:t>2. Case Study: The UNICORN Framework</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a:solidFill>
                  <a:schemeClr val="dk1"/>
                </a:solidFill>
              </a:rPr>
              <a:t>"Look at the diagram on the left, which illustrates a framework called </a:t>
            </a:r>
            <a:r>
              <a:rPr lang="zh-CN" b="1">
                <a:solidFill>
                  <a:schemeClr val="dk1"/>
                </a:solidFill>
              </a:rPr>
              <a:t>UNICORN</a:t>
            </a:r>
            <a:r>
              <a:rPr lang="zh-CN">
                <a:solidFill>
                  <a:schemeClr val="dk1"/>
                </a:solidFill>
              </a:rPr>
              <a:t>. It follows a four-step pipeline to turn behavior into intelligence:</a:t>
            </a:r>
            <a:endParaRPr>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zh-CN" b="1">
                <a:solidFill>
                  <a:schemeClr val="dk1"/>
                </a:solidFill>
              </a:rPr>
              <a:t>Graph Construction:</a:t>
            </a:r>
            <a:r>
              <a:rPr lang="zh-CN">
                <a:solidFill>
                  <a:schemeClr val="dk1"/>
                </a:solidFill>
              </a:rPr>
              <a:t> It starts with a streaming provenance graph, capturing system execution in real-time.</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zh-CN" b="1">
                <a:solidFill>
                  <a:schemeClr val="dk1"/>
                </a:solidFill>
              </a:rPr>
              <a:t>Feature Summarization:</a:t>
            </a:r>
            <a:r>
              <a:rPr lang="zh-CN">
                <a:solidFill>
                  <a:schemeClr val="dk1"/>
                </a:solidFill>
              </a:rPr>
              <a:t> It periodically breaks the graph into histograms to capture local behaviors.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zh-CN" b="1">
                <a:solidFill>
                  <a:schemeClr val="dk1"/>
                </a:solidFill>
              </a:rPr>
              <a:t>Graph Sketching:</a:t>
            </a:r>
            <a:r>
              <a:rPr lang="zh-CN">
                <a:solidFill>
                  <a:schemeClr val="dk1"/>
                </a:solidFill>
              </a:rPr>
              <a:t> These histograms are compressed into fixed-size 'sketches'—think of this as a digital fingerprint of the system's current state.</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zh-CN" b="1">
                <a:solidFill>
                  <a:schemeClr val="dk1"/>
                </a:solidFill>
              </a:rPr>
              <a:t>Clustering:</a:t>
            </a:r>
            <a:r>
              <a:rPr lang="zh-CN">
                <a:solidFill>
                  <a:schemeClr val="dk1"/>
                </a:solidFill>
              </a:rPr>
              <a:t> Finally, these fingerprints are clustered. 'Normal' behavior stays in one group, while 'Attacks' appear as outliers that don't fit the pattern."</a:t>
            </a:r>
            <a:endParaRPr>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zh-CN" sz="1300" b="1">
                <a:solidFill>
                  <a:schemeClr val="dk1"/>
                </a:solidFill>
              </a:rPr>
              <a:t>3. Key Advantages of the ML Approach</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a:solidFill>
                  <a:schemeClr val="dk1"/>
                </a:solidFill>
              </a:rPr>
              <a:t>"Why is this approach superior to traditional methods?</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zh-CN" b="1">
                <a:solidFill>
                  <a:schemeClr val="dk1"/>
                </a:solidFill>
              </a:rPr>
              <a:t>Handling Complexity:</a:t>
            </a:r>
            <a:r>
              <a:rPr lang="zh-CN">
                <a:solidFill>
                  <a:schemeClr val="dk1"/>
                </a:solidFill>
              </a:rPr>
              <a:t> It can process high-dimensional data—syscalls, network flows, and provenance—all at once.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zh-CN" b="1">
                <a:solidFill>
                  <a:schemeClr val="dk1"/>
                </a:solidFill>
              </a:rPr>
              <a:t>Generalization:</a:t>
            </a:r>
            <a:r>
              <a:rPr lang="zh-CN">
                <a:solidFill>
                  <a:schemeClr val="dk1"/>
                </a:solidFill>
              </a:rPr>
              <a:t> Traditional IDS looks for 'signatures' (exact matches of known viruses). ML looks for </a:t>
            </a:r>
            <a:r>
              <a:rPr lang="zh-CN" b="1">
                <a:solidFill>
                  <a:schemeClr val="dk1"/>
                </a:solidFill>
              </a:rPr>
              <a:t>behavioral patterns</a:t>
            </a:r>
            <a:r>
              <a:rPr lang="zh-CN">
                <a:solidFill>
                  <a:schemeClr val="dk1"/>
                </a:solidFill>
              </a:rPr>
              <a:t>. This means it can detect 'Zero-day' attacks—threats it has never seen before—simply because they </a:t>
            </a:r>
            <a:r>
              <a:rPr lang="zh-CN" i="1">
                <a:solidFill>
                  <a:schemeClr val="dk1"/>
                </a:solidFill>
              </a:rPr>
              <a:t>behave</a:t>
            </a:r>
            <a:r>
              <a:rPr lang="zh-CN">
                <a:solidFill>
                  <a:schemeClr val="dk1"/>
                </a:solidFill>
              </a:rPr>
              <a:t> differently than normal operations.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zh-CN" b="1">
                <a:solidFill>
                  <a:schemeClr val="dk1"/>
                </a:solidFill>
              </a:rPr>
              <a:t>Model Diversity:</a:t>
            </a:r>
            <a:r>
              <a:rPr lang="zh-CN">
                <a:solidFill>
                  <a:schemeClr val="dk1"/>
                </a:solidFill>
              </a:rPr>
              <a:t> We can use everything from classic models like Random Forest (RF) to cutting-edge Deep Learning like Graph Neural Networks (GNN) to analyze these complex relationships."</a:t>
            </a:r>
            <a:endParaRPr>
              <a:solidFill>
                <a:schemeClr val="dk1"/>
              </a:solidFill>
            </a:endParaRPr>
          </a:p>
          <a:p>
            <a:pPr marL="0" lvl="0" indent="0" algn="l" rtl="0">
              <a:lnSpc>
                <a:spcPct val="100000"/>
              </a:lnSpc>
              <a:spcBef>
                <a:spcPts val="1200"/>
              </a:spcBef>
              <a:spcAft>
                <a:spcPts val="0"/>
              </a:spcAft>
              <a:buSzPts val="1400"/>
              <a:buNone/>
            </a:pPr>
            <a:endParaRPr sz="1200">
              <a:solidFill>
                <a:schemeClr val="dk1"/>
              </a:solidFill>
              <a:latin typeface="Calibri"/>
              <a:ea typeface="Calibri"/>
              <a:cs typeface="Calibri"/>
              <a:sym typeface="Calibri"/>
            </a:endParaRPr>
          </a:p>
        </p:txBody>
      </p:sp>
      <p:sp>
        <p:nvSpPr>
          <p:cNvPr id="181" name="Google Shape;181;p12: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8" name="Shape 188"/>
        <p:cNvGrpSpPr/>
        <p:nvPr/>
      </p:nvGrpSpPr>
      <p:grpSpPr>
        <a:xfrm>
          <a:off x="0" y="0"/>
          <a:ext cx="0" cy="0"/>
          <a:chOff x="0" y="0"/>
          <a:chExt cx="0" cy="0"/>
        </a:xfrm>
      </p:grpSpPr>
      <p:sp>
        <p:nvSpPr>
          <p:cNvPr id="189" name="Google Shape;189;p13: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90" name="Google Shape;190;p13: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5" name="Shape 195"/>
        <p:cNvGrpSpPr/>
        <p:nvPr/>
      </p:nvGrpSpPr>
      <p:grpSpPr>
        <a:xfrm>
          <a:off x="0" y="0"/>
          <a:ext cx="0" cy="0"/>
          <a:chOff x="0" y="0"/>
          <a:chExt cx="0" cy="0"/>
        </a:xfrm>
      </p:grpSpPr>
      <p:sp>
        <p:nvSpPr>
          <p:cNvPr id="196" name="Google Shape;196;g396d4a5dad6_5_26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96d4a5dad6_5_26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solidFill>
                  <a:schemeClr val="dk1"/>
                </a:solidFill>
              </a:rPr>
              <a:t>"Think of Logistic Regression as a security guard with a simple scorecard. For every person entering, he checks a few things: 'Are they running?' (+10 points) 'Are they wearing a mask?' (+40 points). He adds it all up into a final score from 0 to 100. If your score is over 50, you’re flagged as a threat. It’s </a:t>
            </a:r>
            <a:r>
              <a:rPr lang="zh-CN" b="1">
                <a:solidFill>
                  <a:schemeClr val="dk1"/>
                </a:solidFill>
              </a:rPr>
              <a:t>fast, simple, and direct</a:t>
            </a:r>
            <a:r>
              <a:rPr lang="zh-CN">
                <a:solidFill>
                  <a:schemeClr val="dk1"/>
                </a:solidFill>
              </a:rPr>
              <a:t>."</a:t>
            </a:r>
            <a:endParaRPr lang="zh-CN">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0" name="Shape 210"/>
        <p:cNvGrpSpPr/>
        <p:nvPr/>
      </p:nvGrpSpPr>
      <p:grpSpPr>
        <a:xfrm>
          <a:off x="0" y="0"/>
          <a:ext cx="0" cy="0"/>
          <a:chOff x="0" y="0"/>
          <a:chExt cx="0" cy="0"/>
        </a:xfrm>
      </p:grpSpPr>
      <p:sp>
        <p:nvSpPr>
          <p:cNvPr id="211" name="Google Shape;211;p14: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14: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panose="020B0604020202090204"/>
              <a:buNone/>
            </a:pPr>
            <a:r>
              <a:rPr lang="zh-CN" sz="1300" b="1">
                <a:solidFill>
                  <a:schemeClr val="dk1"/>
                </a:solidFill>
              </a:rPr>
              <a:t>1. The Input Matrix ($X$)</a:t>
            </a:r>
            <a:endParaRPr sz="1300" b="1">
              <a:solidFill>
                <a:schemeClr val="dk1"/>
              </a:solidFill>
            </a:endParaRPr>
          </a:p>
          <a:p>
            <a:pPr marL="0" lvl="0" indent="0" algn="l" rtl="0">
              <a:lnSpc>
                <a:spcPct val="115000"/>
              </a:lnSpc>
              <a:spcBef>
                <a:spcPts val="400"/>
              </a:spcBef>
              <a:spcAft>
                <a:spcPts val="0"/>
              </a:spcAft>
              <a:buClr>
                <a:schemeClr val="dk1"/>
              </a:buClr>
              <a:buSzPts val="1100"/>
              <a:buFont typeface="Arial" panose="020B0604020202090204"/>
              <a:buNone/>
            </a:pPr>
            <a:r>
              <a:rPr lang="zh-CN">
                <a:solidFill>
                  <a:schemeClr val="dk1"/>
                </a:solidFill>
              </a:rPr>
              <a:t>"To understand these results, we must look at the data structure. The matrix </a:t>
            </a:r>
            <a:r>
              <a:rPr lang="zh-CN" b="1">
                <a:solidFill>
                  <a:schemeClr val="dk1"/>
                </a:solidFill>
              </a:rPr>
              <a:t>$X$</a:t>
            </a:r>
            <a:r>
              <a:rPr lang="zh-CN">
                <a:solidFill>
                  <a:schemeClr val="dk1"/>
                </a:solidFill>
              </a:rPr>
              <a:t> represents our input features—the 'raw system data' we discussed earlier. In this specific model run, $X$ contains thousands of observations. Each row is a system event, and each column is a feature that the model uses to calculate the value of </a:t>
            </a:r>
            <a:r>
              <a:rPr lang="zh-CN" b="1">
                <a:solidFill>
                  <a:schemeClr val="dk1"/>
                </a:solidFill>
              </a:rPr>
              <a:t>$z$</a:t>
            </a:r>
            <a:r>
              <a:rPr lang="zh-CN">
                <a:solidFill>
                  <a:schemeClr val="dk1"/>
                </a:solidFill>
              </a:rPr>
              <a:t>."</a:t>
            </a:r>
            <a:endParaRPr>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sz="1300" b="1">
                <a:solidFill>
                  <a:schemeClr val="dk1"/>
                </a:solidFill>
              </a:rPr>
              <a:t>2. Predicting the Outcome ($Y$)</a:t>
            </a:r>
            <a:endParaRPr sz="1300" b="1">
              <a:solidFill>
                <a:schemeClr val="dk1"/>
              </a:solidFill>
            </a:endParaRPr>
          </a:p>
          <a:p>
            <a:pPr marL="0" lvl="0" indent="0" algn="l" rtl="0">
              <a:lnSpc>
                <a:spcPct val="115000"/>
              </a:lnSpc>
              <a:spcBef>
                <a:spcPts val="400"/>
              </a:spcBef>
              <a:spcAft>
                <a:spcPts val="0"/>
              </a:spcAft>
              <a:buClr>
                <a:schemeClr val="dk1"/>
              </a:buClr>
              <a:buSzPts val="1100"/>
              <a:buFont typeface="Arial" panose="020B0604020202090204"/>
              <a:buNone/>
            </a:pPr>
            <a:r>
              <a:rPr lang="zh-CN">
                <a:solidFill>
                  <a:schemeClr val="dk1"/>
                </a:solidFill>
              </a:rPr>
              <a:t>"Our target matrix </a:t>
            </a:r>
            <a:r>
              <a:rPr lang="zh-CN" b="1">
                <a:solidFill>
                  <a:schemeClr val="dk1"/>
                </a:solidFill>
              </a:rPr>
              <a:t>$Y$</a:t>
            </a:r>
            <a:r>
              <a:rPr lang="zh-CN">
                <a:solidFill>
                  <a:schemeClr val="dk1"/>
                </a:solidFill>
              </a:rPr>
              <a:t> is binary. As shown in the confusion matrix:</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zh-CN" b="1">
                <a:solidFill>
                  <a:schemeClr val="dk1"/>
                </a:solidFill>
              </a:rPr>
              <a:t>Class 0</a:t>
            </a:r>
            <a:r>
              <a:rPr lang="zh-CN">
                <a:solidFill>
                  <a:schemeClr val="dk1"/>
                </a:solidFill>
              </a:rPr>
              <a:t> represents benign activity.</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zh-CN" b="1">
                <a:solidFill>
                  <a:schemeClr val="dk1"/>
                </a:solidFill>
              </a:rPr>
              <a:t>Class 1</a:t>
            </a:r>
            <a:r>
              <a:rPr lang="zh-CN">
                <a:solidFill>
                  <a:schemeClr val="dk1"/>
                </a:solidFill>
              </a:rPr>
              <a:t> represents an attack.</a:t>
            </a:r>
            <a:br>
              <a:rPr lang="zh-CN">
                <a:solidFill>
                  <a:schemeClr val="dk1"/>
                </a:solidFill>
              </a:rPr>
            </a:br>
            <a:endParaRPr>
              <a:solidFill>
                <a:schemeClr val="dk1"/>
              </a:solidFill>
            </a:endParaRPr>
          </a:p>
          <a:p>
            <a:pPr marL="0" lvl="0" indent="0" algn="l" rtl="0">
              <a:lnSpc>
                <a:spcPct val="115000"/>
              </a:lnSpc>
              <a:spcBef>
                <a:spcPts val="0"/>
              </a:spcBef>
              <a:spcAft>
                <a:spcPts val="0"/>
              </a:spcAft>
              <a:buNone/>
            </a:pPr>
            <a:r>
              <a:rPr lang="zh-CN">
                <a:solidFill>
                  <a:schemeClr val="dk1"/>
                </a:solidFill>
              </a:rPr>
              <a:t>The Sigmoid function 'squashes' our linear calculations into a probability. If that probability is closer to 1, the model predicts Class 1."</a:t>
            </a:r>
            <a:r>
              <a:rPr lang="zh-CN" b="1">
                <a:solidFill>
                  <a:schemeClr val="dk1"/>
                </a:solidFill>
              </a:rPr>
              <a:t>"Don't let the math scare you. This formula is just a 'Probability Converter'."</a:t>
            </a:r>
            <a:endParaRPr b="1">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zh-CN" b="1">
                <a:solidFill>
                  <a:schemeClr val="dk1"/>
                </a:solidFill>
              </a:rPr>
              <a:t>The Input ($z$):</a:t>
            </a:r>
            <a:r>
              <a:rPr lang="zh-CN">
                <a:solidFill>
                  <a:schemeClr val="dk1"/>
                </a:solidFill>
              </a:rPr>
              <a:t> "The $z$ is the total 'Suspicion Score' we calculated from the network traffic. Maybe it's 10 points, maybe it's 100."</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zh-CN" b="1">
                <a:solidFill>
                  <a:schemeClr val="dk1"/>
                </a:solidFill>
              </a:rPr>
              <a:t>The Magic Box (The Formula):</a:t>
            </a:r>
            <a:r>
              <a:rPr lang="zh-CN">
                <a:solidFill>
                  <a:schemeClr val="dk1"/>
                </a:solidFill>
              </a:rPr>
              <a:t> "This formula acts like a funnel. No matter how high or low the score is, it crushes it into a range between </a:t>
            </a:r>
            <a:r>
              <a:rPr lang="zh-CN" b="1">
                <a:solidFill>
                  <a:schemeClr val="dk1"/>
                </a:solidFill>
              </a:rPr>
              <a:t>0 and 1</a:t>
            </a:r>
            <a:r>
              <a:rPr lang="zh-CN">
                <a:solidFill>
                  <a:schemeClr val="dk1"/>
                </a:solidFill>
              </a:rPr>
              <a:t>."</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zh-CN" b="1">
                <a:solidFill>
                  <a:schemeClr val="dk1"/>
                </a:solidFill>
              </a:rPr>
              <a:t>The Result ($P$):</a:t>
            </a:r>
            <a:r>
              <a:rPr lang="zh-CN">
                <a:solidFill>
                  <a:schemeClr val="dk1"/>
                </a:solidFill>
              </a:rPr>
              <a:t> "If the result is 0.9, it means there's a 90% chance this is an attack. If it's 0.1, it's probably just a regular user."</a:t>
            </a:r>
            <a:endParaRPr>
              <a:solidFill>
                <a:schemeClr val="dk1"/>
              </a:solidFill>
            </a:endParaRPr>
          </a:p>
          <a:p>
            <a:pPr marL="0" lvl="0" indent="0" algn="l" rtl="0">
              <a:lnSpc>
                <a:spcPct val="115000"/>
              </a:lnSpc>
              <a:spcBef>
                <a:spcPts val="1200"/>
              </a:spcBef>
              <a:spcAft>
                <a:spcPts val="0"/>
              </a:spcAft>
              <a:buNone/>
            </a:pPr>
            <a:endParaRPr>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sz="1300" b="1">
                <a:solidFill>
                  <a:schemeClr val="dk1"/>
                </a:solidFill>
              </a:rPr>
              <a:t>3. Evaluating the Confusion Matrix</a:t>
            </a:r>
            <a:endParaRPr sz="1300" b="1">
              <a:solidFill>
                <a:schemeClr val="dk1"/>
              </a:solidFill>
            </a:endParaRPr>
          </a:p>
          <a:p>
            <a:pPr marL="0" lvl="0" indent="0" algn="l" rtl="0">
              <a:lnSpc>
                <a:spcPct val="115000"/>
              </a:lnSpc>
              <a:spcBef>
                <a:spcPts val="400"/>
              </a:spcBef>
              <a:spcAft>
                <a:spcPts val="0"/>
              </a:spcAft>
              <a:buClr>
                <a:schemeClr val="dk1"/>
              </a:buClr>
              <a:buSzPts val="1100"/>
              <a:buFont typeface="Arial" panose="020B0604020202090204"/>
              <a:buNone/>
            </a:pPr>
            <a:r>
              <a:rPr lang="zh-CN">
                <a:solidFill>
                  <a:schemeClr val="dk1"/>
                </a:solidFill>
              </a:rPr>
              <a:t>"Now, let’s look at the </a:t>
            </a:r>
            <a:r>
              <a:rPr lang="zh-CN" b="1">
                <a:solidFill>
                  <a:schemeClr val="dk1"/>
                </a:solidFill>
              </a:rPr>
              <a:t>Testing Confusion Matrix</a:t>
            </a:r>
            <a:r>
              <a:rPr lang="zh-CN">
                <a:solidFill>
                  <a:schemeClr val="dk1"/>
                </a:solidFill>
              </a:rPr>
              <a:t> to see the actual counts:</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zh-CN" b="1">
                <a:solidFill>
                  <a:schemeClr val="dk1"/>
                </a:solidFill>
              </a:rPr>
              <a:t>True Negatives (Top-Left, 12,015):</a:t>
            </a:r>
            <a:r>
              <a:rPr lang="zh-CN">
                <a:solidFill>
                  <a:schemeClr val="dk1"/>
                </a:solidFill>
              </a:rPr>
              <a:t> The model correctly identified these as safe.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zh-CN" b="1">
                <a:solidFill>
                  <a:schemeClr val="dk1"/>
                </a:solidFill>
              </a:rPr>
              <a:t>True Positives (Bottom-Right, 10,424):</a:t>
            </a:r>
            <a:r>
              <a:rPr lang="zh-CN">
                <a:solidFill>
                  <a:schemeClr val="dk1"/>
                </a:solidFill>
              </a:rPr>
              <a:t> The model successfully caught these attacks.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zh-CN" b="1">
                <a:solidFill>
                  <a:schemeClr val="dk1"/>
                </a:solidFill>
              </a:rPr>
              <a:t>The Errors:</a:t>
            </a:r>
            <a:r>
              <a:rPr lang="zh-CN">
                <a:solidFill>
                  <a:schemeClr val="dk1"/>
                </a:solidFill>
              </a:rPr>
              <a:t> The matrix also reveals </a:t>
            </a:r>
            <a:r>
              <a:rPr lang="zh-CN" b="1">
                <a:solidFill>
                  <a:schemeClr val="dk1"/>
                </a:solidFill>
              </a:rPr>
              <a:t>1,354 False Positives</a:t>
            </a:r>
            <a:r>
              <a:rPr lang="zh-CN">
                <a:solidFill>
                  <a:schemeClr val="dk1"/>
                </a:solidFill>
              </a:rPr>
              <a:t> (crying wolf) and </a:t>
            </a:r>
            <a:r>
              <a:rPr lang="zh-CN" b="1">
                <a:solidFill>
                  <a:schemeClr val="dk1"/>
                </a:solidFill>
              </a:rPr>
              <a:t>1,400 False Negatives</a:t>
            </a:r>
            <a:r>
              <a:rPr lang="zh-CN">
                <a:solidFill>
                  <a:schemeClr val="dk1"/>
                </a:solidFill>
              </a:rPr>
              <a:t> (missing the attack). These specific numbers are what drive our Precision and Recall metrics."</a:t>
            </a:r>
            <a:endParaRPr>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sz="1300" b="1">
                <a:solidFill>
                  <a:schemeClr val="dk1"/>
                </a:solidFill>
              </a:rPr>
              <a:t>4. Analyzing the Performance Metrics</a:t>
            </a:r>
            <a:endParaRPr sz="1300" b="1">
              <a:solidFill>
                <a:schemeClr val="dk1"/>
              </a:solidFill>
            </a:endParaRPr>
          </a:p>
          <a:p>
            <a:pPr marL="0" lvl="0" indent="0" algn="l" rtl="0">
              <a:lnSpc>
                <a:spcPct val="115000"/>
              </a:lnSpc>
              <a:spcBef>
                <a:spcPts val="400"/>
              </a:spcBef>
              <a:spcAft>
                <a:spcPts val="0"/>
              </a:spcAft>
              <a:buClr>
                <a:schemeClr val="dk1"/>
              </a:buClr>
              <a:buSzPts val="1100"/>
              <a:buFont typeface="Arial" panose="020B0604020202090204"/>
              <a:buNone/>
            </a:pPr>
            <a:r>
              <a:rPr lang="zh-CN">
                <a:solidFill>
                  <a:schemeClr val="dk1"/>
                </a:solidFill>
              </a:rPr>
              <a:t>"Looking at the text output at the top, the model achieves an </a:t>
            </a:r>
            <a:r>
              <a:rPr lang="zh-CN" b="1">
                <a:solidFill>
                  <a:schemeClr val="dk1"/>
                </a:solidFill>
              </a:rPr>
              <a:t>Accuracy of 89.07%</a:t>
            </a:r>
            <a:r>
              <a:rPr lang="zh-CN">
                <a:solidFill>
                  <a:schemeClr val="dk1"/>
                </a:solidFill>
              </a:rPr>
              <a:t> on the test set.</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zh-CN" b="1">
                <a:solidFill>
                  <a:schemeClr val="dk1"/>
                </a:solidFill>
              </a:rPr>
              <a:t>Precision (88.50%)</a:t>
            </a:r>
            <a:r>
              <a:rPr lang="zh-CN">
                <a:solidFill>
                  <a:schemeClr val="dk1"/>
                </a:solidFill>
              </a:rPr>
              <a:t>: When the model flags an attack, it's right nearly 89% of the time.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zh-CN" b="1">
                <a:solidFill>
                  <a:schemeClr val="dk1"/>
                </a:solidFill>
              </a:rPr>
              <a:t>Recall (88.16%)</a:t>
            </a:r>
            <a:r>
              <a:rPr lang="zh-CN">
                <a:solidFill>
                  <a:schemeClr val="dk1"/>
                </a:solidFill>
              </a:rPr>
              <a:t>: The model identifies 88% of all actual attacks present in the data.</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zh-CN" b="1">
                <a:solidFill>
                  <a:schemeClr val="dk1"/>
                </a:solidFill>
              </a:rPr>
              <a:t>Consistency</a:t>
            </a:r>
            <a:r>
              <a:rPr lang="zh-CN">
                <a:solidFill>
                  <a:schemeClr val="dk1"/>
                </a:solidFill>
              </a:rPr>
              <a:t>: Notice how the training and testing metrics are almost identical (89.11% vs 89.07%). This is a great sign—it means our matrix $X$ was well-structured, and the model has </a:t>
            </a:r>
            <a:r>
              <a:rPr lang="zh-CN" b="1">
                <a:solidFill>
                  <a:schemeClr val="dk1"/>
                </a:solidFill>
              </a:rPr>
              <a:t>generalized</a:t>
            </a:r>
            <a:r>
              <a:rPr lang="zh-CN">
                <a:solidFill>
                  <a:schemeClr val="dk1"/>
                </a:solidFill>
              </a:rPr>
              <a:t> well to new data rather than just memorizing the training set."</a:t>
            </a:r>
            <a:endParaRPr>
              <a:solidFill>
                <a:schemeClr val="dk1"/>
              </a:solidFill>
            </a:endParaRPr>
          </a:p>
          <a:p>
            <a:pPr marL="0" lvl="0" indent="0" algn="l" rtl="0">
              <a:lnSpc>
                <a:spcPct val="100000"/>
              </a:lnSpc>
              <a:spcBef>
                <a:spcPts val="1200"/>
              </a:spcBef>
              <a:spcAft>
                <a:spcPts val="0"/>
              </a:spcAft>
              <a:buSzPts val="1400"/>
              <a:buNone/>
            </a:pPr>
          </a:p>
        </p:txBody>
      </p:sp>
      <p:sp>
        <p:nvSpPr>
          <p:cNvPr id="213" name="Google Shape;213;p14: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9" name="Shape 219"/>
        <p:cNvGrpSpPr/>
        <p:nvPr/>
      </p:nvGrpSpPr>
      <p:grpSpPr>
        <a:xfrm>
          <a:off x="0" y="0"/>
          <a:ext cx="0" cy="0"/>
          <a:chOff x="0" y="0"/>
          <a:chExt cx="0" cy="0"/>
        </a:xfrm>
      </p:grpSpPr>
      <p:sp>
        <p:nvSpPr>
          <p:cNvPr id="220" name="Google Shape;220;g396d4a5dad6_5_24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96d4a5dad6_5_24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0" name="Shape 240"/>
        <p:cNvGrpSpPr/>
        <p:nvPr/>
      </p:nvGrpSpPr>
      <p:grpSpPr>
        <a:xfrm>
          <a:off x="0" y="0"/>
          <a:ext cx="0" cy="0"/>
          <a:chOff x="0" y="0"/>
          <a:chExt cx="0" cy="0"/>
        </a:xfrm>
      </p:grpSpPr>
      <p:sp>
        <p:nvSpPr>
          <p:cNvPr id="241" name="Google Shape;241;p15: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 name="Google Shape;242;p15: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panose="020B0604020202090204"/>
              <a:buNone/>
            </a:pPr>
            <a:r>
              <a:rPr lang="zh-CN">
                <a:solidFill>
                  <a:schemeClr val="dk1"/>
                </a:solidFill>
              </a:rPr>
              <a:t>"While Logistic Regression uses a sigmoid curve to separate classes, </a:t>
            </a:r>
            <a:r>
              <a:rPr lang="zh-CN" b="1">
                <a:solidFill>
                  <a:schemeClr val="dk1"/>
                </a:solidFill>
              </a:rPr>
              <a:t>Gaussian Naive Bayes</a:t>
            </a:r>
            <a:r>
              <a:rPr lang="zh-CN">
                <a:solidFill>
                  <a:schemeClr val="dk1"/>
                </a:solidFill>
              </a:rPr>
              <a:t> takes a different approach. It assumes that the data for each class—whether it's benign system traffic or a malicious attack—follows a </a:t>
            </a:r>
            <a:r>
              <a:rPr lang="zh-CN" b="1">
                <a:solidFill>
                  <a:schemeClr val="dk1"/>
                </a:solidFill>
              </a:rPr>
              <a:t>Normal Distribution</a:t>
            </a:r>
            <a:r>
              <a:rPr lang="zh-CN">
                <a:solidFill>
                  <a:schemeClr val="dk1"/>
                </a:solidFill>
              </a:rPr>
              <a:t>, commonly known as the Bell Curve."</a:t>
            </a:r>
            <a:endParaRPr>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sz="1300" b="1">
                <a:solidFill>
                  <a:schemeClr val="dk1"/>
                </a:solidFill>
              </a:rPr>
              <a:t>2. Visualizing the Decision Process</a:t>
            </a:r>
            <a:endParaRPr sz="1300" b="1">
              <a:solidFill>
                <a:schemeClr val="dk1"/>
              </a:solidFill>
            </a:endParaRPr>
          </a:p>
          <a:p>
            <a:pPr marL="0" lvl="0" indent="0" algn="l" rtl="0">
              <a:lnSpc>
                <a:spcPct val="115000"/>
              </a:lnSpc>
              <a:spcBef>
                <a:spcPts val="400"/>
              </a:spcBef>
              <a:spcAft>
                <a:spcPts val="0"/>
              </a:spcAft>
              <a:buClr>
                <a:schemeClr val="dk1"/>
              </a:buClr>
              <a:buSzPts val="1100"/>
              <a:buFont typeface="Arial" panose="020B0604020202090204"/>
              <a:buNone/>
            </a:pPr>
            <a:r>
              <a:rPr lang="zh-CN">
                <a:solidFill>
                  <a:schemeClr val="dk1"/>
                </a:solidFill>
              </a:rPr>
              <a:t>"Look at the graph in the center. We have two distributions representing two classes:</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zh-CN" b="1">
                <a:solidFill>
                  <a:schemeClr val="dk1"/>
                </a:solidFill>
              </a:rPr>
              <a:t>Class A (Red Curve):</a:t>
            </a:r>
            <a:r>
              <a:rPr lang="zh-CN">
                <a:solidFill>
                  <a:schemeClr val="dk1"/>
                </a:solidFill>
              </a:rPr>
              <a:t> Let's say this represents 'Normal' behavior.</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zh-CN" b="1">
                <a:solidFill>
                  <a:schemeClr val="dk1"/>
                </a:solidFill>
              </a:rPr>
              <a:t>Class B (Green Curve):</a:t>
            </a:r>
            <a:r>
              <a:rPr lang="zh-CN">
                <a:solidFill>
                  <a:schemeClr val="dk1"/>
                </a:solidFill>
              </a:rPr>
              <a:t> This represents 'Attack' behavior.</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zh-CN" b="1">
                <a:solidFill>
                  <a:schemeClr val="dk1"/>
                </a:solidFill>
              </a:rPr>
              <a:t>The Data Point ($x$):</a:t>
            </a:r>
            <a:r>
              <a:rPr lang="zh-CN">
                <a:solidFill>
                  <a:schemeClr val="dk1"/>
                </a:solidFill>
              </a:rPr>
              <a:t> The black dot on the x-axis represents a new system event we just observed."</a:t>
            </a:r>
            <a:endParaRPr>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sz="1300" b="1">
                <a:solidFill>
                  <a:schemeClr val="dk1"/>
                </a:solidFill>
              </a:rPr>
              <a:t>3. Probability Density and Z-Scores</a:t>
            </a:r>
            <a:endParaRPr sz="1300" b="1">
              <a:solidFill>
                <a:schemeClr val="dk1"/>
              </a:solidFill>
            </a:endParaRPr>
          </a:p>
          <a:p>
            <a:pPr marL="0" lvl="0" indent="0" algn="l" rtl="0">
              <a:lnSpc>
                <a:spcPct val="115000"/>
              </a:lnSpc>
              <a:spcBef>
                <a:spcPts val="400"/>
              </a:spcBef>
              <a:spcAft>
                <a:spcPts val="0"/>
              </a:spcAft>
              <a:buClr>
                <a:schemeClr val="dk1"/>
              </a:buClr>
              <a:buSzPts val="1100"/>
              <a:buFont typeface="Arial" panose="020B0604020202090204"/>
              <a:buNone/>
            </a:pPr>
            <a:r>
              <a:rPr lang="zh-CN">
                <a:solidFill>
                  <a:schemeClr val="dk1"/>
                </a:solidFill>
              </a:rPr>
              <a:t>"To decide which class $x$ belongs to, the model calculates the likelihood of observing that value in both distributions:</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zh-CN" b="1">
                <a:solidFill>
                  <a:schemeClr val="dk1"/>
                </a:solidFill>
              </a:rPr>
              <a:t>Red Dot ($p(x|A)$):</a:t>
            </a:r>
            <a:r>
              <a:rPr lang="zh-CN">
                <a:solidFill>
                  <a:schemeClr val="dk1"/>
                </a:solidFill>
              </a:rPr>
              <a:t> This is the probability that $x$ came from the 'Normal' distribution.</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zh-CN" b="1">
                <a:solidFill>
                  <a:schemeClr val="dk1"/>
                </a:solidFill>
              </a:rPr>
              <a:t>Green Dot ($p(x|B)$):</a:t>
            </a:r>
            <a:r>
              <a:rPr lang="zh-CN">
                <a:solidFill>
                  <a:schemeClr val="dk1"/>
                </a:solidFill>
              </a:rPr>
              <a:t> This is the probability that $x$ came from the 'Attack' distribution.</a:t>
            </a:r>
            <a:br>
              <a:rPr lang="zh-CN">
                <a:solidFill>
                  <a:schemeClr val="dk1"/>
                </a:solidFill>
              </a:rPr>
            </a:br>
            <a:r>
              <a:rPr lang="zh-CN">
                <a:solidFill>
                  <a:schemeClr val="dk1"/>
                </a:solidFill>
              </a:rPr>
              <a:t>In this specific example, the red dot is higher than the green dot, so the model would classify this event as </a:t>
            </a:r>
            <a:r>
              <a:rPr lang="zh-CN" b="1">
                <a:solidFill>
                  <a:schemeClr val="dk1"/>
                </a:solidFill>
              </a:rPr>
              <a:t>Class A (Normal)</a:t>
            </a:r>
            <a:r>
              <a:rPr lang="zh-CN">
                <a:solidFill>
                  <a:schemeClr val="dk1"/>
                </a:solidFill>
              </a:rPr>
              <a:t>."</a:t>
            </a:r>
            <a:endParaRPr>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sz="1300" b="1">
                <a:solidFill>
                  <a:schemeClr val="dk1"/>
                </a:solidFill>
              </a:rPr>
              <a:t>4. The Math: Probability Density Function</a:t>
            </a:r>
            <a:endParaRPr sz="1300" b="1">
              <a:solidFill>
                <a:schemeClr val="dk1"/>
              </a:solidFill>
            </a:endParaRPr>
          </a:p>
          <a:p>
            <a:pPr marL="0" lvl="0" indent="0" algn="l" rtl="0">
              <a:lnSpc>
                <a:spcPct val="115000"/>
              </a:lnSpc>
              <a:spcBef>
                <a:spcPts val="400"/>
              </a:spcBef>
              <a:spcAft>
                <a:spcPts val="0"/>
              </a:spcAft>
              <a:buClr>
                <a:schemeClr val="dk1"/>
              </a:buClr>
              <a:buSzPts val="1100"/>
              <a:buFont typeface="Arial" panose="020B0604020202090204"/>
              <a:buNone/>
            </a:pPr>
            <a:r>
              <a:rPr lang="zh-CN">
                <a:solidFill>
                  <a:schemeClr val="dk1"/>
                </a:solidFill>
              </a:rPr>
              <a:t>"On the right, we see the formula that powers this logic:</a:t>
            </a:r>
            <a:endParaRPr>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a:solidFill>
                  <a:schemeClr val="dk1"/>
                </a:solidFill>
              </a:rPr>
              <a:t>$$P(x_i | y) = \frac{1}{\sigma \sqrt{2\pi}} e^{ -\frac{(x-\mu)^2}{2\sigma^2} }$$</a:t>
            </a:r>
            <a:endParaRPr>
              <a:solidFill>
                <a:schemeClr val="dk1"/>
              </a:solidFill>
            </a:endParaRPr>
          </a:p>
          <a:p>
            <a:pPr marL="0" lvl="0" indent="0" algn="l" rtl="0">
              <a:lnSpc>
                <a:spcPct val="115000"/>
              </a:lnSpc>
              <a:spcBef>
                <a:spcPts val="0"/>
              </a:spcBef>
              <a:spcAft>
                <a:spcPts val="0"/>
              </a:spcAft>
              <a:buClr>
                <a:schemeClr val="dk1"/>
              </a:buClr>
              <a:buSzPts val="1100"/>
              <a:buFont typeface="Arial" panose="020B0604020202090204"/>
              <a:buNone/>
            </a:pPr>
            <a:r>
              <a:rPr lang="zh-CN">
                <a:solidFill>
                  <a:schemeClr val="dk1"/>
                </a:solidFill>
              </a:rPr>
              <a:t>This is the </a:t>
            </a:r>
            <a:r>
              <a:rPr lang="zh-CN" b="1">
                <a:solidFill>
                  <a:schemeClr val="dk1"/>
                </a:solidFill>
              </a:rPr>
              <a:t>Gaussian Probability Density Function</a:t>
            </a:r>
            <a:r>
              <a:rPr lang="zh-CN">
                <a:solidFill>
                  <a:schemeClr val="dk1"/>
                </a:solidFill>
              </a:rPr>
              <a:t>. It uses two key parameters:</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zh-CN" b="1">
                <a:solidFill>
                  <a:schemeClr val="dk1"/>
                </a:solidFill>
              </a:rPr>
              <a:t>$\mu$ (Mean):</a:t>
            </a:r>
            <a:r>
              <a:rPr lang="zh-CN">
                <a:solidFill>
                  <a:schemeClr val="dk1"/>
                </a:solidFill>
              </a:rPr>
              <a:t> The center of the curve.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zh-CN" b="1">
                <a:solidFill>
                  <a:schemeClr val="dk1"/>
                </a:solidFill>
              </a:rPr>
              <a:t>$\sigma$ (Standard Deviation):</a:t>
            </a:r>
            <a:r>
              <a:rPr lang="zh-CN">
                <a:solidFill>
                  <a:schemeClr val="dk1"/>
                </a:solidFill>
              </a:rPr>
              <a:t> The spread or width of the curve.</a:t>
            </a:r>
            <a:br>
              <a:rPr lang="zh-CN">
                <a:solidFill>
                  <a:schemeClr val="dk1"/>
                </a:solidFill>
              </a:rPr>
            </a:br>
            <a:r>
              <a:rPr lang="zh-CN">
                <a:solidFill>
                  <a:schemeClr val="dk1"/>
                </a:solidFill>
              </a:rPr>
              <a:t>By calculating the 'Z-score distance'—how many standard deviations $x$ is from the mean—the model determines which 'neighborhood' the data point most likely belongs to."</a:t>
            </a:r>
            <a:endParaRPr>
              <a:solidFill>
                <a:schemeClr val="dk1"/>
              </a:solidFill>
            </a:endParaRPr>
          </a:p>
          <a:p>
            <a:pPr marL="0" lvl="0" indent="0" algn="l" rtl="0">
              <a:lnSpc>
                <a:spcPct val="100000"/>
              </a:lnSpc>
              <a:spcBef>
                <a:spcPts val="1200"/>
              </a:spcBef>
              <a:spcAft>
                <a:spcPts val="0"/>
              </a:spcAft>
              <a:buSzPts val="1400"/>
              <a:buNone/>
            </a:pPr>
          </a:p>
        </p:txBody>
      </p:sp>
      <p:sp>
        <p:nvSpPr>
          <p:cNvPr id="243" name="Google Shape;243;p15: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9" name="Shape 249"/>
        <p:cNvGrpSpPr/>
        <p:nvPr/>
      </p:nvGrpSpPr>
      <p:grpSpPr>
        <a:xfrm>
          <a:off x="0" y="0"/>
          <a:ext cx="0" cy="0"/>
          <a:chOff x="0" y="0"/>
          <a:chExt cx="0" cy="0"/>
        </a:xfrm>
      </p:grpSpPr>
      <p:sp>
        <p:nvSpPr>
          <p:cNvPr id="250" name="Google Shape;250;g396d4a5dad6_5_28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96d4a5dad6_5_28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solidFill>
                  <a:schemeClr val="dk1"/>
                </a:solidFill>
              </a:rPr>
              <a:t>"SVM is a perfectionist. It doesn't just want to separate the 'Good Guys' from the 'Bad Guys'; it wants to build the </a:t>
            </a:r>
            <a:r>
              <a:rPr lang="zh-CN" b="1">
                <a:solidFill>
                  <a:schemeClr val="dk1"/>
                </a:solidFill>
              </a:rPr>
              <a:t>widest possible empty space</a:t>
            </a:r>
            <a:r>
              <a:rPr lang="zh-CN">
                <a:solidFill>
                  <a:schemeClr val="dk1"/>
                </a:solidFill>
              </a:rPr>
              <a:t> between them. By creating this 'safety buffer,' SVM ensures that even if a hacker changes their behavior slightly, they still won't be able to sneak across that wide gap unnoticed."</a:t>
            </a:r>
            <a:endParaRPr lang="zh-CN">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5" name="Shape 265"/>
        <p:cNvGrpSpPr/>
        <p:nvPr/>
      </p:nvGrpSpPr>
      <p:grpSpPr>
        <a:xfrm>
          <a:off x="0" y="0"/>
          <a:ext cx="0" cy="0"/>
          <a:chOff x="0" y="0"/>
          <a:chExt cx="0" cy="0"/>
        </a:xfrm>
      </p:grpSpPr>
      <p:sp>
        <p:nvSpPr>
          <p:cNvPr id="266" name="Google Shape;266;p16: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16: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panose="020B0604020202090204"/>
              <a:buNone/>
            </a:pPr>
            <a:r>
              <a:rPr lang="zh-CN">
                <a:solidFill>
                  <a:schemeClr val="dk1"/>
                </a:solidFill>
              </a:rPr>
              <a:t>"We’ve discussed probabilistic models like Naive Bayes, but </a:t>
            </a:r>
            <a:r>
              <a:rPr lang="zh-CN" b="1">
                <a:solidFill>
                  <a:schemeClr val="dk1"/>
                </a:solidFill>
              </a:rPr>
              <a:t>Support Vector Machines (SVM)</a:t>
            </a:r>
            <a:r>
              <a:rPr lang="zh-CN">
                <a:solidFill>
                  <a:schemeClr val="dk1"/>
                </a:solidFill>
              </a:rPr>
              <a:t> take a more geometric approach. Imagine our system logs plotted on a map. SVM’s goal is to find the perfect 'border'—a </a:t>
            </a:r>
            <a:r>
              <a:rPr lang="zh-CN" b="1">
                <a:solidFill>
                  <a:schemeClr val="dk1"/>
                </a:solidFill>
              </a:rPr>
              <a:t>Hyperplane</a:t>
            </a:r>
            <a:r>
              <a:rPr lang="zh-CN">
                <a:solidFill>
                  <a:schemeClr val="dk1"/>
                </a:solidFill>
              </a:rPr>
              <a:t>—that separates normal behavior from malicious attacks with as much breathing room as possible."</a:t>
            </a:r>
            <a:endParaRPr>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sz="1300" b="1">
                <a:solidFill>
                  <a:schemeClr val="dk1"/>
                </a:solidFill>
              </a:rPr>
              <a:t>2. The Geometry of Classification</a:t>
            </a:r>
            <a:endParaRPr sz="1300" b="1">
              <a:solidFill>
                <a:schemeClr val="dk1"/>
              </a:solidFill>
            </a:endParaRPr>
          </a:p>
          <a:p>
            <a:pPr marL="0" lvl="0" indent="0" algn="l" rtl="0">
              <a:lnSpc>
                <a:spcPct val="115000"/>
              </a:lnSpc>
              <a:spcBef>
                <a:spcPts val="400"/>
              </a:spcBef>
              <a:spcAft>
                <a:spcPts val="0"/>
              </a:spcAft>
              <a:buClr>
                <a:schemeClr val="dk1"/>
              </a:buClr>
              <a:buSzPts val="1100"/>
              <a:buFont typeface="Arial" panose="020B0604020202090204"/>
              <a:buNone/>
            </a:pPr>
            <a:r>
              <a:rPr lang="zh-CN">
                <a:solidFill>
                  <a:schemeClr val="dk1"/>
                </a:solidFill>
              </a:rPr>
              <a:t>"Looking at the graph on the left, we have two classes of data points. The green line is our decision boundary. To make this boundary as robust as possible, we calculate the distance from each data point $x_i$ to that line.</a:t>
            </a:r>
            <a:endParaRPr>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a:solidFill>
                  <a:schemeClr val="dk1"/>
                </a:solidFill>
              </a:rPr>
              <a:t>As shown in the first formula:</a:t>
            </a:r>
            <a:endParaRPr>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a:solidFill>
                  <a:schemeClr val="dk1"/>
                </a:solidFill>
              </a:rPr>
              <a:t>$$d_i = \frac{w^T x_i + b}{\|w\|}$$</a:t>
            </a:r>
            <a:endParaRPr>
              <a:solidFill>
                <a:schemeClr val="dk1"/>
              </a:solidFill>
            </a:endParaRPr>
          </a:p>
          <a:p>
            <a:pPr marL="0" lvl="0" indent="0" algn="l" rtl="0">
              <a:lnSpc>
                <a:spcPct val="115000"/>
              </a:lnSpc>
              <a:spcBef>
                <a:spcPts val="0"/>
              </a:spcBef>
              <a:spcAft>
                <a:spcPts val="0"/>
              </a:spcAft>
              <a:buClr>
                <a:schemeClr val="dk1"/>
              </a:buClr>
              <a:buSzPts val="1100"/>
              <a:buFont typeface="Arial" panose="020B0604020202090204"/>
              <a:buNone/>
            </a:pPr>
            <a:r>
              <a:rPr lang="zh-CN">
                <a:solidFill>
                  <a:schemeClr val="dk1"/>
                </a:solidFill>
              </a:rPr>
              <a:t>Here, $w$ represents the weight vector (the orientation of the line), $b$ is the bias (its position), and the denominator is the Euclidean norm used to normalize the distance. SVM tries to maximize the 'margin'—the space between the closest points of each class and the boundary."</a:t>
            </a:r>
            <a:endParaRPr>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sz="1300" b="1">
                <a:solidFill>
                  <a:schemeClr val="dk1"/>
                </a:solidFill>
              </a:rPr>
              <a:t>3. The Linear SVM Classifier</a:t>
            </a:r>
            <a:endParaRPr sz="1300" b="1">
              <a:solidFill>
                <a:schemeClr val="dk1"/>
              </a:solidFill>
            </a:endParaRPr>
          </a:p>
          <a:p>
            <a:pPr marL="0" lvl="0" indent="0" algn="l" rtl="0">
              <a:lnSpc>
                <a:spcPct val="115000"/>
              </a:lnSpc>
              <a:spcBef>
                <a:spcPts val="400"/>
              </a:spcBef>
              <a:spcAft>
                <a:spcPts val="0"/>
              </a:spcAft>
              <a:buClr>
                <a:schemeClr val="dk1"/>
              </a:buClr>
              <a:buSzPts val="1100"/>
              <a:buFont typeface="Arial" panose="020B0604020202090204"/>
              <a:buNone/>
            </a:pPr>
            <a:r>
              <a:rPr lang="zh-CN">
                <a:solidFill>
                  <a:schemeClr val="dk1"/>
                </a:solidFill>
              </a:rPr>
              <a:t>"Once the model is trained and the hyperplane is set, classifying new data becomes a simple mathematical check. Look at the </a:t>
            </a:r>
            <a:r>
              <a:rPr lang="zh-CN" b="1">
                <a:solidFill>
                  <a:schemeClr val="dk1"/>
                </a:solidFill>
              </a:rPr>
              <a:t>Linear SVM Classifier</a:t>
            </a:r>
            <a:r>
              <a:rPr lang="zh-CN">
                <a:solidFill>
                  <a:schemeClr val="dk1"/>
                </a:solidFill>
              </a:rPr>
              <a:t> logic at the bottom:</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zh-CN">
                <a:solidFill>
                  <a:schemeClr val="dk1"/>
                </a:solidFill>
              </a:rPr>
              <a:t>If the result of $w^T x + b$ is greater than or equal to </a:t>
            </a:r>
            <a:r>
              <a:rPr lang="zh-CN" b="1">
                <a:solidFill>
                  <a:schemeClr val="dk1"/>
                </a:solidFill>
              </a:rPr>
              <a:t>0</a:t>
            </a:r>
            <a:r>
              <a:rPr lang="zh-CN">
                <a:solidFill>
                  <a:schemeClr val="dk1"/>
                </a:solidFill>
              </a:rPr>
              <a:t>, the model predicts a label of </a:t>
            </a:r>
            <a:r>
              <a:rPr lang="zh-CN" b="1">
                <a:solidFill>
                  <a:schemeClr val="dk1"/>
                </a:solidFill>
              </a:rPr>
              <a:t>1</a:t>
            </a:r>
            <a:r>
              <a:rPr lang="zh-CN">
                <a:solidFill>
                  <a:schemeClr val="dk1"/>
                </a:solidFill>
              </a:rPr>
              <a:t> (e.g., an Attack).</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zh-CN">
                <a:solidFill>
                  <a:schemeClr val="dk1"/>
                </a:solidFill>
              </a:rPr>
              <a:t>If the result is less than </a:t>
            </a:r>
            <a:r>
              <a:rPr lang="zh-CN" b="1">
                <a:solidFill>
                  <a:schemeClr val="dk1"/>
                </a:solidFill>
              </a:rPr>
              <a:t>0</a:t>
            </a:r>
            <a:r>
              <a:rPr lang="zh-CN">
                <a:solidFill>
                  <a:schemeClr val="dk1"/>
                </a:solidFill>
              </a:rPr>
              <a:t>, it predicts </a:t>
            </a:r>
            <a:r>
              <a:rPr lang="zh-CN" b="1">
                <a:solidFill>
                  <a:schemeClr val="dk1"/>
                </a:solidFill>
              </a:rPr>
              <a:t>-1</a:t>
            </a:r>
            <a:r>
              <a:rPr lang="zh-CN">
                <a:solidFill>
                  <a:schemeClr val="dk1"/>
                </a:solidFill>
              </a:rPr>
              <a:t> (e.g., Benign).</a:t>
            </a:r>
            <a:br>
              <a:rPr lang="zh-CN">
                <a:solidFill>
                  <a:schemeClr val="dk1"/>
                </a:solidFill>
              </a:rPr>
            </a:br>
            <a:r>
              <a:rPr lang="zh-CN">
                <a:solidFill>
                  <a:schemeClr val="dk1"/>
                </a:solidFill>
              </a:rPr>
              <a:t>This predicted label, $\hat{y}$, tells us instantly whether a new log entry should trigger an alert."</a:t>
            </a:r>
            <a:endParaRPr>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sz="1300" b="1">
                <a:solidFill>
                  <a:schemeClr val="dk1"/>
                </a:solidFill>
              </a:rPr>
              <a:t>4. Why SVM for Intrusion Detection?</a:t>
            </a:r>
            <a:endParaRPr sz="1300" b="1">
              <a:solidFill>
                <a:schemeClr val="dk1"/>
              </a:solidFill>
            </a:endParaRPr>
          </a:p>
          <a:p>
            <a:pPr marL="0" lvl="0" indent="0" algn="l" rtl="0">
              <a:lnSpc>
                <a:spcPct val="115000"/>
              </a:lnSpc>
              <a:spcBef>
                <a:spcPts val="400"/>
              </a:spcBef>
              <a:spcAft>
                <a:spcPts val="0"/>
              </a:spcAft>
              <a:buClr>
                <a:schemeClr val="dk1"/>
              </a:buClr>
              <a:buSzPts val="1100"/>
              <a:buFont typeface="Arial" panose="020B0604020202090204"/>
              <a:buNone/>
            </a:pPr>
            <a:r>
              <a:rPr lang="zh-CN">
                <a:solidFill>
                  <a:schemeClr val="dk1"/>
                </a:solidFill>
              </a:rPr>
              <a:t>"The real strength of SVM lies in its 'Support Vectors'—the specific data points closest to the boundary. Because the model only cares about these critical points, it is highly effective in high-dimensional spaces (where logs have many features) and is less likely to be distracted by outliers or noise in the data."</a:t>
            </a:r>
            <a:endParaRPr>
              <a:solidFill>
                <a:schemeClr val="dk1"/>
              </a:solidFill>
            </a:endParaRPr>
          </a:p>
          <a:p>
            <a:pPr marL="0" lvl="0" indent="0" algn="l" rtl="0">
              <a:lnSpc>
                <a:spcPct val="100000"/>
              </a:lnSpc>
              <a:spcBef>
                <a:spcPts val="1200"/>
              </a:spcBef>
              <a:spcAft>
                <a:spcPts val="0"/>
              </a:spcAft>
              <a:buSzPts val="1400"/>
              <a:buNone/>
            </a:pPr>
            <a:endParaRPr sz="1200">
              <a:solidFill>
                <a:schemeClr val="dk1"/>
              </a:solidFill>
              <a:latin typeface="Calibri"/>
              <a:ea typeface="Calibri"/>
              <a:cs typeface="Calibri"/>
              <a:sym typeface="Calibri"/>
            </a:endParaRPr>
          </a:p>
        </p:txBody>
      </p:sp>
      <p:sp>
        <p:nvSpPr>
          <p:cNvPr id="268" name="Google Shape;268;p16: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4" name="Shape 274"/>
        <p:cNvGrpSpPr/>
        <p:nvPr/>
      </p:nvGrpSpPr>
      <p:grpSpPr>
        <a:xfrm>
          <a:off x="0" y="0"/>
          <a:ext cx="0" cy="0"/>
          <a:chOff x="0" y="0"/>
          <a:chExt cx="0" cy="0"/>
        </a:xfrm>
      </p:grpSpPr>
      <p:sp>
        <p:nvSpPr>
          <p:cNvPr id="275" name="Google Shape;275;g396d4a5dad6_5_30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396d4a5dad6_5_30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solidFill>
                  <a:schemeClr val="dk1"/>
                </a:solidFill>
              </a:rPr>
              <a:t>"A Decision Tree works like a simple flowchart. It asks one question at a time: 'Is the file size big?' If Yes, 'Is it from an unknown IP?' If Yes, then 'Alert!'. Security teams love this because it’s </a:t>
            </a:r>
            <a:r>
              <a:rPr lang="zh-CN" b="1">
                <a:solidFill>
                  <a:schemeClr val="dk1"/>
                </a:solidFill>
              </a:rPr>
              <a:t>transparent</a:t>
            </a:r>
            <a:r>
              <a:rPr lang="zh-CN">
                <a:solidFill>
                  <a:schemeClr val="dk1"/>
                </a:solidFill>
              </a:rPr>
              <a:t>. If it catches a virus, you can look back at the 'map' and see exactly which questions led to that conclusion."</a:t>
            </a:r>
            <a:endParaRPr lang="zh-CN">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1" name="Shape 291"/>
        <p:cNvGrpSpPr/>
        <p:nvPr/>
      </p:nvGrpSpPr>
      <p:grpSpPr>
        <a:xfrm>
          <a:off x="0" y="0"/>
          <a:ext cx="0" cy="0"/>
          <a:chOff x="0" y="0"/>
          <a:chExt cx="0" cy="0"/>
        </a:xfrm>
      </p:grpSpPr>
      <p:sp>
        <p:nvSpPr>
          <p:cNvPr id="292" name="Google Shape;292;p17: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3" name="Google Shape;293;p17: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Clr>
                <a:schemeClr val="dk1"/>
              </a:buClr>
              <a:buSzPts val="1100"/>
              <a:buFont typeface="Arial" panose="020B0604020202090204"/>
              <a:buNone/>
            </a:pPr>
            <a:r>
              <a:rPr lang="zh-CN" sz="1300" b="1">
                <a:solidFill>
                  <a:schemeClr val="dk1"/>
                </a:solidFill>
              </a:rPr>
              <a:t>1. The Logic of the Tree</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a:solidFill>
                  <a:schemeClr val="dk1"/>
                </a:solidFill>
              </a:rPr>
              <a:t>"We previously discussed the </a:t>
            </a:r>
            <a:r>
              <a:rPr lang="zh-CN" b="1">
                <a:solidFill>
                  <a:schemeClr val="dk1"/>
                </a:solidFill>
              </a:rPr>
              <a:t>Decision Tree</a:t>
            </a:r>
            <a:r>
              <a:rPr lang="zh-CN">
                <a:solidFill>
                  <a:schemeClr val="dk1"/>
                </a:solidFill>
              </a:rPr>
              <a:t>. As you can see in the diagram, it works by asking a series of hierarchical questions. For an Intrusion Detection System (IDS), these questions might be: 'Is the user logged in?' or 'Is this a guest login?' By following these branches, we eventually reach a 'leaf' that classifies the event as either Benign or an Attack."</a:t>
            </a:r>
            <a:endParaRPr>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zh-CN" sz="1300" b="1">
                <a:solidFill>
                  <a:schemeClr val="dk1"/>
                </a:solidFill>
              </a:rPr>
              <a:t>2. Measuring Importance</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a:solidFill>
                  <a:schemeClr val="dk1"/>
                </a:solidFill>
              </a:rPr>
              <a:t>"But which questions are the most important? Not all system features are created equal. Look at the </a:t>
            </a:r>
            <a:r>
              <a:rPr lang="zh-CN" b="1">
                <a:solidFill>
                  <a:schemeClr val="dk1"/>
                </a:solidFill>
              </a:rPr>
              <a:t>Feature Importances</a:t>
            </a:r>
            <a:r>
              <a:rPr lang="zh-CN">
                <a:solidFill>
                  <a:schemeClr val="dk1"/>
                </a:solidFill>
              </a:rPr>
              <a:t> bar chart for the Decision Tree.</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zh-CN">
                <a:solidFill>
                  <a:schemeClr val="dk1"/>
                </a:solidFill>
              </a:rPr>
              <a:t>We calculate this by looking at which features reduce the most 'Entropy' or 'Gini Impurity' across the tree.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zh-CN">
                <a:solidFill>
                  <a:schemeClr val="dk1"/>
                </a:solidFill>
              </a:rPr>
              <a:t>In this specific model, </a:t>
            </a:r>
            <a:r>
              <a:rPr lang="zh-CN" b="1">
                <a:solidFill>
                  <a:srgbClr val="188038"/>
                </a:solidFill>
                <a:latin typeface="Roboto Mono" panose="00000009000000000000"/>
                <a:ea typeface="Roboto Mono" panose="00000009000000000000"/>
                <a:cs typeface="Roboto Mono" panose="00000009000000000000"/>
                <a:sym typeface="Roboto Mono" panose="00000009000000000000"/>
              </a:rPr>
              <a:t>is_host_login</a:t>
            </a:r>
            <a:r>
              <a:rPr lang="zh-CN">
                <a:solidFill>
                  <a:schemeClr val="dk1"/>
                </a:solidFill>
              </a:rPr>
              <a:t> and </a:t>
            </a:r>
            <a:r>
              <a:rPr lang="zh-CN" b="1">
                <a:solidFill>
                  <a:srgbClr val="188038"/>
                </a:solidFill>
                <a:latin typeface="Roboto Mono" panose="00000009000000000000"/>
                <a:ea typeface="Roboto Mono" panose="00000009000000000000"/>
                <a:cs typeface="Roboto Mono" panose="00000009000000000000"/>
                <a:sym typeface="Roboto Mono" panose="00000009000000000000"/>
              </a:rPr>
              <a:t>is_guest_login</a:t>
            </a:r>
            <a:r>
              <a:rPr lang="zh-CN">
                <a:solidFill>
                  <a:schemeClr val="dk1"/>
                </a:solidFill>
              </a:rPr>
              <a:t> are the dominant features. This tells us that in our dataset, the login status is the most critical indicator of whether an activity is malicious."</a:t>
            </a:r>
            <a:endParaRPr>
              <a:solidFill>
                <a:schemeClr val="dk1"/>
              </a:solidFill>
            </a:endParaRPr>
          </a:p>
          <a:p>
            <a:pPr marL="0" lvl="0" indent="0" algn="l" rtl="0">
              <a:lnSpc>
                <a:spcPct val="100000"/>
              </a:lnSpc>
              <a:spcBef>
                <a:spcPts val="1200"/>
              </a:spcBef>
              <a:spcAft>
                <a:spcPts val="0"/>
              </a:spcAft>
              <a:buSzPts val="1400"/>
              <a:buNone/>
            </a:pPr>
            <a:endParaRPr sz="1200">
              <a:solidFill>
                <a:schemeClr val="dk1"/>
              </a:solidFill>
              <a:latin typeface="Calibri"/>
              <a:ea typeface="Calibri"/>
              <a:cs typeface="Calibri"/>
              <a:sym typeface="Calibri"/>
            </a:endParaRPr>
          </a:p>
        </p:txBody>
      </p:sp>
      <p:sp>
        <p:nvSpPr>
          <p:cNvPr id="294" name="Google Shape;294;p17: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0" name="Shape 300"/>
        <p:cNvGrpSpPr/>
        <p:nvPr/>
      </p:nvGrpSpPr>
      <p:grpSpPr>
        <a:xfrm>
          <a:off x="0" y="0"/>
          <a:ext cx="0" cy="0"/>
          <a:chOff x="0" y="0"/>
          <a:chExt cx="0" cy="0"/>
        </a:xfrm>
      </p:grpSpPr>
      <p:sp>
        <p:nvSpPr>
          <p:cNvPr id="301" name="Google Shape;301;g396d4a5dad6_5_32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396d4a5dad6_5_32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solidFill>
                  <a:schemeClr val="dk1"/>
                </a:solidFill>
              </a:rPr>
              <a:t>"One person can be wrong, but a crowd is usually right. Random Forest is just a group of 100 Decision Trees. Each tree looks at a different part of the data. At the end, they all </a:t>
            </a:r>
            <a:r>
              <a:rPr lang="zh-CN" b="1">
                <a:solidFill>
                  <a:schemeClr val="dk1"/>
                </a:solidFill>
              </a:rPr>
              <a:t>vote</a:t>
            </a:r>
            <a:r>
              <a:rPr lang="zh-CN">
                <a:solidFill>
                  <a:schemeClr val="dk1"/>
                </a:solidFill>
              </a:rPr>
              <a:t>. If 80 trees say 'Attack' and 20 say 'Normal,' the system sounds the alarm. This makes it incredibly </a:t>
            </a:r>
            <a:r>
              <a:rPr lang="zh-CN" b="1">
                <a:solidFill>
                  <a:schemeClr val="dk1"/>
                </a:solidFill>
              </a:rPr>
              <a:t>reliable</a:t>
            </a:r>
            <a:r>
              <a:rPr lang="zh-CN">
                <a:solidFill>
                  <a:schemeClr val="dk1"/>
                </a:solidFill>
              </a:rPr>
              <a:t> because one 'confused' tree can't ruin the whole result."</a:t>
            </a:r>
            <a:endParaRPr lang="zh-CN">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7" name="Shape 317"/>
        <p:cNvGrpSpPr/>
        <p:nvPr/>
      </p:nvGrpSpPr>
      <p:grpSpPr>
        <a:xfrm>
          <a:off x="0" y="0"/>
          <a:ext cx="0" cy="0"/>
          <a:chOff x="0" y="0"/>
          <a:chExt cx="0" cy="0"/>
        </a:xfrm>
      </p:grpSpPr>
      <p:sp>
        <p:nvSpPr>
          <p:cNvPr id="318" name="Google Shape;318;p18: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9" name="Google Shape;319;p18: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800"/>
              </a:spcBef>
              <a:spcAft>
                <a:spcPts val="0"/>
              </a:spcAft>
              <a:buClr>
                <a:schemeClr val="dk1"/>
              </a:buClr>
              <a:buSzPts val="1100"/>
              <a:buFont typeface="Arial" panose="020B0604020202090204"/>
              <a:buNone/>
            </a:pPr>
            <a:r>
              <a:rPr lang="zh-CN" sz="1700" b="1">
                <a:solidFill>
                  <a:schemeClr val="dk1"/>
                </a:solidFill>
              </a:rPr>
              <a:t>Part 2: Random Forest – Strength in Numbers</a:t>
            </a:r>
            <a:endParaRPr sz="1700" b="1">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zh-CN" sz="1300" b="1">
                <a:solidFill>
                  <a:schemeClr val="dk1"/>
                </a:solidFill>
              </a:rPr>
              <a:t>1. From a Tree to a Forest</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a:solidFill>
                  <a:schemeClr val="dk1"/>
                </a:solidFill>
              </a:rPr>
              <a:t>"A single Decision Tree is easy to understand, but it can be 'brittle'—it might overfit to noise in the data. To fix this, we use a </a:t>
            </a:r>
            <a:r>
              <a:rPr lang="zh-CN" b="1">
                <a:solidFill>
                  <a:schemeClr val="dk1"/>
                </a:solidFill>
              </a:rPr>
              <a:t>Random Forest</a:t>
            </a:r>
            <a:r>
              <a:rPr lang="zh-CN">
                <a:solidFill>
                  <a:schemeClr val="dk1"/>
                </a:solidFill>
              </a:rPr>
              <a:t>. Think of this as a </a:t>
            </a:r>
            <a:r>
              <a:rPr lang="zh-CN" b="1">
                <a:solidFill>
                  <a:schemeClr val="dk1"/>
                </a:solidFill>
              </a:rPr>
              <a:t>Democratic Committee of Trees</a:t>
            </a:r>
            <a:r>
              <a:rPr lang="zh-CN">
                <a:solidFill>
                  <a:schemeClr val="dk1"/>
                </a:solidFill>
              </a:rPr>
              <a:t>. Instead of one tree making the call, the algorithm creates hundreds of different trees."</a:t>
            </a:r>
            <a:endParaRPr>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zh-CN" sz="1300" b="1">
                <a:solidFill>
                  <a:schemeClr val="dk1"/>
                </a:solidFill>
              </a:rPr>
              <a:t>2. The Secret Sauce: Randomness</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a:solidFill>
                  <a:schemeClr val="dk1"/>
                </a:solidFill>
              </a:rPr>
              <a:t>"As shown in the 'Working of Random Forest' diagram, this model uses two layers of randomness:</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zh-CN" b="1">
                <a:solidFill>
                  <a:schemeClr val="dk1"/>
                </a:solidFill>
              </a:rPr>
              <a:t>Bagging (Bootstrap Aggregating):</a:t>
            </a:r>
            <a:r>
              <a:rPr lang="zh-CN">
                <a:solidFill>
                  <a:schemeClr val="dk1"/>
                </a:solidFill>
              </a:rPr>
              <a:t> Each tree is trained on a random subset of the data.</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zh-CN" b="1">
                <a:solidFill>
                  <a:schemeClr val="dk1"/>
                </a:solidFill>
              </a:rPr>
              <a:t>Random Features:</a:t>
            </a:r>
            <a:r>
              <a:rPr lang="zh-CN">
                <a:solidFill>
                  <a:schemeClr val="dk1"/>
                </a:solidFill>
              </a:rPr>
              <a:t> When splitting a node, the tree only looks at a random selection of features (e.g., it might only consider 'bytes' and 'duration' for one split, ignoring 'protocol'). This ensures the trees are different from one another."</a:t>
            </a:r>
            <a:endParaRPr>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zh-CN" sz="1300" b="1">
                <a:solidFill>
                  <a:schemeClr val="dk1"/>
                </a:solidFill>
              </a:rPr>
              <a:t>3. The Final Verdict: Voting</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a:solidFill>
                  <a:schemeClr val="dk1"/>
                </a:solidFill>
              </a:rPr>
              <a:t>"When a new system log comes in, every tree in the forest makes its own prediction (Class A or Class B). We then use </a:t>
            </a:r>
            <a:r>
              <a:rPr lang="zh-CN" b="1">
                <a:solidFill>
                  <a:schemeClr val="dk1"/>
                </a:solidFill>
              </a:rPr>
              <a:t>Majority Voting</a:t>
            </a:r>
            <a:r>
              <a:rPr lang="zh-CN">
                <a:solidFill>
                  <a:schemeClr val="dk1"/>
                </a:solidFill>
              </a:rPr>
              <a:t>. If 90 trees say 'Attack' and 10 say 'Normal,' the final output is 'Attack.' This 'wisdom of the crowd' makes the model much more accurate and trustworthy."</a:t>
            </a:r>
            <a:endParaRPr>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a:solidFill>
                <a:schemeClr val="dk1"/>
              </a:solidFill>
            </a:endParaRPr>
          </a:p>
          <a:p>
            <a:pPr marL="0" lvl="0" indent="0" algn="l" rtl="0">
              <a:lnSpc>
                <a:spcPct val="115000"/>
              </a:lnSpc>
              <a:spcBef>
                <a:spcPts val="1800"/>
              </a:spcBef>
              <a:spcAft>
                <a:spcPts val="0"/>
              </a:spcAft>
              <a:buClr>
                <a:schemeClr val="dk1"/>
              </a:buClr>
              <a:buSzPts val="1100"/>
              <a:buFont typeface="Arial" panose="020B0604020202090204"/>
              <a:buNone/>
            </a:pPr>
            <a:r>
              <a:rPr lang="zh-CN" sz="1700" b="1">
                <a:solidFill>
                  <a:schemeClr val="dk1"/>
                </a:solidFill>
              </a:rPr>
              <a:t>Part 3: Comparing Feature Importance</a:t>
            </a:r>
            <a:endParaRPr sz="1700" b="1">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zh-CN" sz="1300" b="1">
                <a:solidFill>
                  <a:schemeClr val="dk1"/>
                </a:solidFill>
              </a:rPr>
              <a:t>1. Stability in Importance</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a:solidFill>
                  <a:schemeClr val="dk1"/>
                </a:solidFill>
              </a:rPr>
              <a:t>"Finally, let’s look at the </a:t>
            </a:r>
            <a:r>
              <a:rPr lang="zh-CN" b="1">
                <a:solidFill>
                  <a:schemeClr val="dk1"/>
                </a:solidFill>
              </a:rPr>
              <a:t>Feature Importance for the Random Forest</a:t>
            </a:r>
            <a:r>
              <a:rPr lang="zh-CN">
                <a:solidFill>
                  <a:schemeClr val="dk1"/>
                </a:solidFill>
              </a:rPr>
              <a:t>. You’ll notice it looks slightly different from the single Decision Tree chart.</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zh-CN">
                <a:solidFill>
                  <a:schemeClr val="dk1"/>
                </a:solidFill>
              </a:rPr>
              <a:t>While </a:t>
            </a:r>
            <a:r>
              <a:rPr lang="zh-CN" b="1">
                <a:solidFill>
                  <a:srgbClr val="188038"/>
                </a:solidFill>
                <a:latin typeface="Roboto Mono" panose="00000009000000000000"/>
                <a:ea typeface="Roboto Mono" panose="00000009000000000000"/>
                <a:cs typeface="Roboto Mono" panose="00000009000000000000"/>
                <a:sym typeface="Roboto Mono" panose="00000009000000000000"/>
              </a:rPr>
              <a:t>is_host_login</a:t>
            </a:r>
            <a:r>
              <a:rPr lang="zh-CN">
                <a:solidFill>
                  <a:schemeClr val="dk1"/>
                </a:solidFill>
              </a:rPr>
              <a:t> remains the top feature, the importance scores for other features like </a:t>
            </a:r>
            <a:r>
              <a:rPr lang="zh-CN">
                <a:solidFill>
                  <a:srgbClr val="188038"/>
                </a:solidFill>
                <a:latin typeface="Roboto Mono" panose="00000009000000000000"/>
                <a:ea typeface="Roboto Mono" panose="00000009000000000000"/>
                <a:cs typeface="Roboto Mono" panose="00000009000000000000"/>
                <a:sym typeface="Roboto Mono" panose="00000009000000000000"/>
              </a:rPr>
              <a:t>srv_diff_host_rate</a:t>
            </a:r>
            <a:r>
              <a:rPr lang="zh-CN">
                <a:solidFill>
                  <a:schemeClr val="dk1"/>
                </a:solidFill>
              </a:rPr>
              <a:t> or </a:t>
            </a:r>
            <a:r>
              <a:rPr lang="zh-CN">
                <a:solidFill>
                  <a:srgbClr val="188038"/>
                </a:solidFill>
                <a:latin typeface="Roboto Mono" panose="00000009000000000000"/>
                <a:ea typeface="Roboto Mono" panose="00000009000000000000"/>
                <a:cs typeface="Roboto Mono" panose="00000009000000000000"/>
                <a:sym typeface="Roboto Mono" panose="00000009000000000000"/>
              </a:rPr>
              <a:t>dst_bytes</a:t>
            </a:r>
            <a:r>
              <a:rPr lang="zh-CN">
                <a:solidFill>
                  <a:schemeClr val="dk1"/>
                </a:solidFill>
              </a:rPr>
              <a:t> are more distributed.</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zh-CN">
                <a:solidFill>
                  <a:schemeClr val="dk1"/>
                </a:solidFill>
              </a:rPr>
              <a:t>This is a hallmark of Random Forest: because different trees are forced to look at different features, the model gains a more </a:t>
            </a:r>
            <a:r>
              <a:rPr lang="zh-CN" b="1">
                <a:solidFill>
                  <a:schemeClr val="dk1"/>
                </a:solidFill>
              </a:rPr>
              <a:t>holistic view</a:t>
            </a:r>
            <a:r>
              <a:rPr lang="zh-CN">
                <a:solidFill>
                  <a:schemeClr val="dk1"/>
                </a:solidFill>
              </a:rPr>
              <a:t> of the data. It doesn't put all its eggs in one basket."</a:t>
            </a:r>
            <a:endParaRPr>
              <a:solidFill>
                <a:schemeClr val="dk1"/>
              </a:solidFill>
            </a:endParaRPr>
          </a:p>
          <a:p>
            <a:pPr marL="0" lvl="0" indent="0" algn="l" rtl="0">
              <a:lnSpc>
                <a:spcPct val="100000"/>
              </a:lnSpc>
              <a:spcBef>
                <a:spcPts val="1200"/>
              </a:spcBef>
              <a:spcAft>
                <a:spcPts val="0"/>
              </a:spcAft>
              <a:buSzPts val="1400"/>
              <a:buNone/>
            </a:pPr>
            <a:endParaRPr sz="1200">
              <a:solidFill>
                <a:schemeClr val="dk1"/>
              </a:solidFill>
              <a:latin typeface="Calibri"/>
              <a:ea typeface="Calibri"/>
              <a:cs typeface="Calibri"/>
              <a:sym typeface="Calibri"/>
            </a:endParaRPr>
          </a:p>
        </p:txBody>
      </p:sp>
      <p:sp>
        <p:nvSpPr>
          <p:cNvPr id="320" name="Google Shape;320;p18: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6" name="Shape 326"/>
        <p:cNvGrpSpPr/>
        <p:nvPr/>
      </p:nvGrpSpPr>
      <p:grpSpPr>
        <a:xfrm>
          <a:off x="0" y="0"/>
          <a:ext cx="0" cy="0"/>
          <a:chOff x="0" y="0"/>
          <a:chExt cx="0" cy="0"/>
        </a:xfrm>
      </p:grpSpPr>
      <p:sp>
        <p:nvSpPr>
          <p:cNvPr id="327" name="Google Shape;327;g396d4a5dad6_5_34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396d4a5dad6_5_34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solidFill>
                  <a:schemeClr val="dk1"/>
                </a:solidFill>
              </a:rPr>
              <a:t>Imagine a detective holding a small </a:t>
            </a:r>
            <a:r>
              <a:rPr lang="zh-CN" b="1">
                <a:solidFill>
                  <a:schemeClr val="dk1"/>
                </a:solidFill>
              </a:rPr>
              <a:t>magnifying glass</a:t>
            </a:r>
            <a:r>
              <a:rPr lang="zh-CN">
                <a:solidFill>
                  <a:schemeClr val="dk1"/>
                </a:solidFill>
              </a:rPr>
              <a:t>. Instead of looking at the whole crime scene at once, he slides the glass across the floor, inch by inch, looking for specific clues like a fingerprint or a shoe mark.</a:t>
            </a:r>
            <a:endParaRPr lang="zh-CN">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2" name="Shape 342"/>
        <p:cNvGrpSpPr/>
        <p:nvPr/>
      </p:nvGrpSpPr>
      <p:grpSpPr>
        <a:xfrm>
          <a:off x="0" y="0"/>
          <a:ext cx="0" cy="0"/>
          <a:chOff x="0" y="0"/>
          <a:chExt cx="0" cy="0"/>
        </a:xfrm>
      </p:grpSpPr>
      <p:sp>
        <p:nvSpPr>
          <p:cNvPr id="343" name="Google Shape;343;p19: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4" name="Google Shape;344;p19: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panose="020B0604020202090204"/>
              <a:buNone/>
            </a:pPr>
            <a:r>
              <a:rPr lang="zh-CN">
                <a:solidFill>
                  <a:schemeClr val="dk1"/>
                </a:solidFill>
              </a:rPr>
              <a:t>This script explains how a </a:t>
            </a:r>
            <a:r>
              <a:rPr lang="zh-CN" b="1">
                <a:solidFill>
                  <a:schemeClr val="dk1"/>
                </a:solidFill>
              </a:rPr>
              <a:t>Convolutional Neural Network (CNN)</a:t>
            </a:r>
            <a:r>
              <a:rPr lang="zh-CN">
                <a:solidFill>
                  <a:schemeClr val="dk1"/>
                </a:solidFill>
              </a:rPr>
              <a:t>—famously used for image recognition—can be adapted for an </a:t>
            </a:r>
            <a:r>
              <a:rPr lang="zh-CN" b="1">
                <a:solidFill>
                  <a:schemeClr val="dk1"/>
                </a:solidFill>
              </a:rPr>
              <a:t>Intrusion Detection System (IDS)</a:t>
            </a:r>
            <a:r>
              <a:rPr lang="zh-CN">
                <a:solidFill>
                  <a:schemeClr val="dk1"/>
                </a:solidFill>
              </a:rPr>
              <a:t> by treating network features as a structured "image" of system behavior.</a:t>
            </a:r>
            <a:endParaRPr>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a:solidFill>
                <a:schemeClr val="dk1"/>
              </a:solidFill>
            </a:endParaRPr>
          </a:p>
          <a:p>
            <a:pPr marL="0" lvl="0" indent="0" algn="l" rtl="0">
              <a:lnSpc>
                <a:spcPct val="115000"/>
              </a:lnSpc>
              <a:spcBef>
                <a:spcPts val="0"/>
              </a:spcBef>
              <a:spcAft>
                <a:spcPts val="0"/>
              </a:spcAft>
              <a:buClr>
                <a:schemeClr val="dk1"/>
              </a:buClr>
              <a:buSzPts val="1100"/>
              <a:buFont typeface="Arial" panose="020B0604020202090204"/>
              <a:buNone/>
            </a:pPr>
            <a:r>
              <a:rPr lang="zh-CN" sz="1700" b="1">
                <a:solidFill>
                  <a:schemeClr val="dk1"/>
                </a:solidFill>
              </a:rPr>
              <a:t>Presentation Script: CNNs – From Pixels to Packets</a:t>
            </a:r>
            <a:endParaRPr sz="1700" b="1">
              <a:solidFill>
                <a:schemeClr val="dk1"/>
              </a:solidFill>
            </a:endParaRPr>
          </a:p>
          <a:p>
            <a:pPr marL="0" lvl="0" indent="0" algn="l" rtl="0">
              <a:lnSpc>
                <a:spcPct val="115000"/>
              </a:lnSpc>
              <a:spcBef>
                <a:spcPts val="400"/>
              </a:spcBef>
              <a:spcAft>
                <a:spcPts val="0"/>
              </a:spcAft>
              <a:buClr>
                <a:schemeClr val="dk1"/>
              </a:buClr>
              <a:buSzPts val="1100"/>
              <a:buFont typeface="Arial" panose="020B0604020202090204"/>
              <a:buNone/>
            </a:pPr>
            <a:r>
              <a:rPr lang="zh-CN" sz="1300" b="1">
                <a:solidFill>
                  <a:schemeClr val="dk1"/>
                </a:solidFill>
              </a:rPr>
              <a:t>1. Introduction: Why Use a Vision Model for Security?</a:t>
            </a:r>
            <a:endParaRPr sz="1300" b="1">
              <a:solidFill>
                <a:schemeClr val="dk1"/>
              </a:solidFill>
            </a:endParaRPr>
          </a:p>
          <a:p>
            <a:pPr marL="0" lvl="0" indent="0" algn="l" rtl="0">
              <a:lnSpc>
                <a:spcPct val="115000"/>
              </a:lnSpc>
              <a:spcBef>
                <a:spcPts val="400"/>
              </a:spcBef>
              <a:spcAft>
                <a:spcPts val="0"/>
              </a:spcAft>
              <a:buClr>
                <a:schemeClr val="dk1"/>
              </a:buClr>
              <a:buSzPts val="1100"/>
              <a:buFont typeface="Arial" panose="020B0604020202090204"/>
              <a:buNone/>
            </a:pPr>
            <a:r>
              <a:rPr lang="zh-CN">
                <a:solidFill>
                  <a:schemeClr val="dk1"/>
                </a:solidFill>
              </a:rPr>
              <a:t>"We’ve looked at traditional models, but now we’re entering the realm of </a:t>
            </a:r>
            <a:r>
              <a:rPr lang="zh-CN" b="1">
                <a:solidFill>
                  <a:schemeClr val="dk1"/>
                </a:solidFill>
              </a:rPr>
              <a:t>Deep Learning</a:t>
            </a:r>
            <a:r>
              <a:rPr lang="zh-CN">
                <a:solidFill>
                  <a:schemeClr val="dk1"/>
                </a:solidFill>
              </a:rPr>
              <a:t>. This slide shows a </a:t>
            </a:r>
            <a:r>
              <a:rPr lang="zh-CN" b="1">
                <a:solidFill>
                  <a:schemeClr val="dk1"/>
                </a:solidFill>
              </a:rPr>
              <a:t>Convolutional Neural Network (CNN)</a:t>
            </a:r>
            <a:r>
              <a:rPr lang="zh-CN">
                <a:solidFill>
                  <a:schemeClr val="dk1"/>
                </a:solidFill>
              </a:rPr>
              <a:t>. While CNNs are typically used for images (like identifying a '2' in the input), they are incredibly powerful for IDS because they excel at finding </a:t>
            </a:r>
            <a:r>
              <a:rPr lang="zh-CN" b="1">
                <a:solidFill>
                  <a:schemeClr val="dk1"/>
                </a:solidFill>
              </a:rPr>
              <a:t>spatial patterns</a:t>
            </a:r>
            <a:r>
              <a:rPr lang="zh-CN">
                <a:solidFill>
                  <a:schemeClr val="dk1"/>
                </a:solidFill>
              </a:rPr>
              <a:t> in data."</a:t>
            </a:r>
            <a:endParaRPr>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sz="1300" b="1">
                <a:solidFill>
                  <a:schemeClr val="dk1"/>
                </a:solidFill>
              </a:rPr>
              <a:t>2. Translating IDS Features to a "Digital Image"</a:t>
            </a:r>
            <a:endParaRPr sz="1300" b="1">
              <a:solidFill>
                <a:schemeClr val="dk1"/>
              </a:solidFill>
            </a:endParaRPr>
          </a:p>
          <a:p>
            <a:pPr marL="0" lvl="0" indent="0" algn="l" rtl="0">
              <a:lnSpc>
                <a:spcPct val="115000"/>
              </a:lnSpc>
              <a:spcBef>
                <a:spcPts val="400"/>
              </a:spcBef>
              <a:spcAft>
                <a:spcPts val="0"/>
              </a:spcAft>
              <a:buClr>
                <a:schemeClr val="dk1"/>
              </a:buClr>
              <a:buSzPts val="1100"/>
              <a:buFont typeface="Arial" panose="020B0604020202090204"/>
              <a:buNone/>
            </a:pPr>
            <a:r>
              <a:rPr lang="zh-CN">
                <a:solidFill>
                  <a:schemeClr val="dk1"/>
                </a:solidFill>
              </a:rPr>
              <a:t>"You might ask: </a:t>
            </a:r>
            <a:r>
              <a:rPr lang="zh-CN" i="1">
                <a:solidFill>
                  <a:schemeClr val="dk1"/>
                </a:solidFill>
              </a:rPr>
              <a:t>'My system logs aren't pictures, so how does this work?'</a:t>
            </a:r>
            <a:r>
              <a:rPr lang="zh-CN">
                <a:solidFill>
                  <a:schemeClr val="dk1"/>
                </a:solidFill>
              </a:rPr>
              <a:t> In a modern IDS, we take a sequence of network features—like bytes, duration, and protocol types—and arrange them into a </a:t>
            </a:r>
            <a:r>
              <a:rPr lang="zh-CN" b="1">
                <a:solidFill>
                  <a:schemeClr val="dk1"/>
                </a:solidFill>
              </a:rPr>
              <a:t>2D matrix</a:t>
            </a:r>
            <a:r>
              <a:rPr lang="zh-CN">
                <a:solidFill>
                  <a:schemeClr val="dk1"/>
                </a:solidFill>
              </a:rPr>
              <a:t>.</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zh-CN">
                <a:solidFill>
                  <a:schemeClr val="dk1"/>
                </a:solidFill>
              </a:rPr>
              <a:t>Just as an image has pixels arranged in rows and columns, our IDS data becomes a 'snapshot' of network traffic over a short window of time.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zh-CN">
                <a:solidFill>
                  <a:schemeClr val="dk1"/>
                </a:solidFill>
              </a:rPr>
              <a:t>The CNN then 'looks' at this snapshot to find suspicious shapes or patterns that represent an attack."</a:t>
            </a:r>
            <a:endParaRPr>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sz="1300" b="1">
                <a:solidFill>
                  <a:schemeClr val="dk1"/>
                </a:solidFill>
              </a:rPr>
              <a:t>3. The Architecture: Step-by-Step</a:t>
            </a:r>
            <a:endParaRPr sz="1300" b="1">
              <a:solidFill>
                <a:schemeClr val="dk1"/>
              </a:solidFill>
            </a:endParaRPr>
          </a:p>
          <a:p>
            <a:pPr marL="0" lvl="0" indent="0" algn="l" rtl="0">
              <a:lnSpc>
                <a:spcPct val="115000"/>
              </a:lnSpc>
              <a:spcBef>
                <a:spcPts val="400"/>
              </a:spcBef>
              <a:spcAft>
                <a:spcPts val="0"/>
              </a:spcAft>
              <a:buClr>
                <a:schemeClr val="dk1"/>
              </a:buClr>
              <a:buSzPts val="1100"/>
              <a:buFont typeface="Arial" panose="020B0604020202090204"/>
              <a:buNone/>
            </a:pPr>
            <a:r>
              <a:rPr lang="zh-CN">
                <a:solidFill>
                  <a:schemeClr val="dk1"/>
                </a:solidFill>
              </a:rPr>
              <a:t>"Let's follow the data through the layers shown in the diagram:</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zh-CN" b="1">
                <a:solidFill>
                  <a:schemeClr val="dk1"/>
                </a:solidFill>
              </a:rPr>
              <a:t>Convolution Layers (Conv_1 &amp; Conv_2):</a:t>
            </a:r>
            <a:r>
              <a:rPr lang="zh-CN">
                <a:solidFill>
                  <a:schemeClr val="dk1"/>
                </a:solidFill>
              </a:rPr>
              <a:t> These layers use 'filters' (the $5 \times 5$ kernels) to slide across our data. They don't just look at one feature at a time; they look at </a:t>
            </a:r>
            <a:r>
              <a:rPr lang="zh-CN" b="1">
                <a:solidFill>
                  <a:schemeClr val="dk1"/>
                </a:solidFill>
              </a:rPr>
              <a:t>relationships</a:t>
            </a:r>
            <a:r>
              <a:rPr lang="zh-CN">
                <a:solidFill>
                  <a:schemeClr val="dk1"/>
                </a:solidFill>
              </a:rPr>
              <a:t> between neighboring features. For example, it might detect that a specific combination of small packet sizes followed by a rapid spike in CPU usage is a sign of a DDoS attack.</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zh-CN" b="1">
                <a:solidFill>
                  <a:schemeClr val="dk1"/>
                </a:solidFill>
              </a:rPr>
              <a:t>Max-Pooling:</a:t>
            </a:r>
            <a:r>
              <a:rPr lang="zh-CN">
                <a:solidFill>
                  <a:schemeClr val="dk1"/>
                </a:solidFill>
              </a:rPr>
              <a:t> These layers (the $2 \times 2$ blocks) downsample the data. They keep only the most important 'signals' and discard the noise, making the model faster and more robust.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zh-CN" b="1">
                <a:solidFill>
                  <a:schemeClr val="dk1"/>
                </a:solidFill>
              </a:rPr>
              <a:t>Flattening:</a:t>
            </a:r>
            <a:r>
              <a:rPr lang="zh-CN">
                <a:solidFill>
                  <a:schemeClr val="dk1"/>
                </a:solidFill>
              </a:rPr>
              <a:t> Once the features are extracted, we 'flatten' them into a single long vector to prepare for the final decision-making phase."</a:t>
            </a:r>
            <a:endParaRPr>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sz="1300" b="1">
                <a:solidFill>
                  <a:schemeClr val="dk1"/>
                </a:solidFill>
              </a:rPr>
              <a:t>4. The Final Decision: Fully Connected Layers</a:t>
            </a:r>
            <a:endParaRPr sz="1300" b="1">
              <a:solidFill>
                <a:schemeClr val="dk1"/>
              </a:solidFill>
            </a:endParaRPr>
          </a:p>
          <a:p>
            <a:pPr marL="0" lvl="0" indent="0" algn="l" rtl="0">
              <a:lnSpc>
                <a:spcPct val="115000"/>
              </a:lnSpc>
              <a:spcBef>
                <a:spcPts val="400"/>
              </a:spcBef>
              <a:spcAft>
                <a:spcPts val="0"/>
              </a:spcAft>
              <a:buClr>
                <a:schemeClr val="dk1"/>
              </a:buClr>
              <a:buSzPts val="1100"/>
              <a:buFont typeface="Arial" panose="020B0604020202090204"/>
              <a:buNone/>
            </a:pPr>
            <a:r>
              <a:rPr lang="zh-CN">
                <a:solidFill>
                  <a:schemeClr val="dk1"/>
                </a:solidFill>
              </a:rPr>
              <a:t>"The end of the pipeline consists of </a:t>
            </a:r>
            <a:r>
              <a:rPr lang="zh-CN" b="1">
                <a:solidFill>
                  <a:schemeClr val="dk1"/>
                </a:solidFill>
              </a:rPr>
              <a:t>Fully Connected Layers (fc_3 &amp; fc_4)</a:t>
            </a:r>
            <a:r>
              <a:rPr lang="zh-CN">
                <a:solidFill>
                  <a:schemeClr val="dk1"/>
                </a:solidFill>
              </a:rPr>
              <a:t>.</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zh-CN">
                <a:solidFill>
                  <a:schemeClr val="dk1"/>
                </a:solidFill>
              </a:rPr>
              <a:t>This is the 'brain' of the network. It takes all the patterns found by the convolution layers and maps them to a specific output.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zh-CN">
                <a:solidFill>
                  <a:schemeClr val="dk1"/>
                </a:solidFill>
              </a:rPr>
              <a:t>In the image example, it outputs a digit from 0 to 9.</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zh-CN">
                <a:solidFill>
                  <a:schemeClr val="dk1"/>
                </a:solidFill>
              </a:rPr>
              <a:t>In our </a:t>
            </a:r>
            <a:r>
              <a:rPr lang="zh-CN" b="1">
                <a:solidFill>
                  <a:schemeClr val="dk1"/>
                </a:solidFill>
              </a:rPr>
              <a:t>IDS</a:t>
            </a:r>
            <a:r>
              <a:rPr lang="zh-CN">
                <a:solidFill>
                  <a:schemeClr val="dk1"/>
                </a:solidFill>
              </a:rPr>
              <a:t>, these output nodes would represent different classes: </a:t>
            </a:r>
            <a:r>
              <a:rPr lang="zh-CN" b="1">
                <a:solidFill>
                  <a:schemeClr val="dk1"/>
                </a:solidFill>
              </a:rPr>
              <a:t>'Normal,' 'Buffer Overflow,' 'Port Scan,' or 'Malware Communication.'</a:t>
            </a:r>
            <a:r>
              <a:rPr lang="zh-CN">
                <a:solidFill>
                  <a:schemeClr val="dk1"/>
                </a:solidFill>
              </a:rPr>
              <a:t>"</a:t>
            </a:r>
            <a:endParaRPr>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zh-CN" sz="1300" b="1">
                <a:solidFill>
                  <a:schemeClr val="dk1"/>
                </a:solidFill>
              </a:rPr>
              <a:t>5. Why This Matters for Security</a:t>
            </a:r>
            <a:endParaRPr sz="1300" b="1">
              <a:solidFill>
                <a:schemeClr val="dk1"/>
              </a:solidFill>
            </a:endParaRPr>
          </a:p>
          <a:p>
            <a:pPr marL="0" lvl="0" indent="0" algn="l" rtl="0">
              <a:lnSpc>
                <a:spcPct val="115000"/>
              </a:lnSpc>
              <a:spcBef>
                <a:spcPts val="400"/>
              </a:spcBef>
              <a:spcAft>
                <a:spcPts val="0"/>
              </a:spcAft>
              <a:buClr>
                <a:schemeClr val="dk1"/>
              </a:buClr>
              <a:buSzPts val="1100"/>
              <a:buFont typeface="Arial" panose="020B0604020202090204"/>
              <a:buNone/>
            </a:pPr>
            <a:r>
              <a:rPr lang="zh-CN">
                <a:solidFill>
                  <a:schemeClr val="dk1"/>
                </a:solidFill>
              </a:rPr>
              <a:t>"The beauty of using a CNN for IDS is its ability to handle </a:t>
            </a:r>
            <a:r>
              <a:rPr lang="zh-CN" b="1">
                <a:solidFill>
                  <a:schemeClr val="dk1"/>
                </a:solidFill>
              </a:rPr>
              <a:t>high-dimensional data</a:t>
            </a:r>
            <a:r>
              <a:rPr lang="zh-CN">
                <a:solidFill>
                  <a:schemeClr val="dk1"/>
                </a:solidFill>
              </a:rPr>
              <a:t> automatically. We don't have to manually tell the model which features are important; the convolution layers learn to 'see' the attack patterns themselves, even if they are buried in a complex sequence of normal traffic."</a:t>
            </a:r>
            <a:endParaRPr>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a:solidFill>
                <a:schemeClr val="dk1"/>
              </a:solidFill>
            </a:endParaRPr>
          </a:p>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345" name="Google Shape;345;p19: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0" name="Shape 350"/>
        <p:cNvGrpSpPr/>
        <p:nvPr/>
      </p:nvGrpSpPr>
      <p:grpSpPr>
        <a:xfrm>
          <a:off x="0" y="0"/>
          <a:ext cx="0" cy="0"/>
          <a:chOff x="0" y="0"/>
          <a:chExt cx="0" cy="0"/>
        </a:xfrm>
      </p:grpSpPr>
      <p:sp>
        <p:nvSpPr>
          <p:cNvPr id="351" name="Google Shape;351;g396d4a5dad6_5_164: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352" name="Google Shape;352;g396d4a5dad6_5_164: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6" name="Shape 356"/>
        <p:cNvGrpSpPr/>
        <p:nvPr/>
      </p:nvGrpSpPr>
      <p:grpSpPr>
        <a:xfrm>
          <a:off x="0" y="0"/>
          <a:ext cx="0" cy="0"/>
          <a:chOff x="0" y="0"/>
          <a:chExt cx="0" cy="0"/>
        </a:xfrm>
      </p:grpSpPr>
      <p:sp>
        <p:nvSpPr>
          <p:cNvPr id="357" name="Google Shape;357;g396d4a5dad6_5_169: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358" name="Google Shape;358;g396d4a5dad6_5_169: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9" name="Google Shape;359;g396d4a5dad6_5_169: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zh-CN" sz="2000"/>
              <a:t>To make this more concrete, let me show simple examples of vulnerable codes. </a:t>
            </a:r>
            <a:br>
              <a:rPr lang="zh-CN" sz="2000"/>
            </a:br>
            <a:r>
              <a:rPr lang="zh-CN" sz="2000"/>
              <a:t>In this function, we define a fixed-size buffer called username, which can only hold 8 characters. </a:t>
            </a:r>
            <a:br>
              <a:rPr lang="zh-CN" sz="2000"/>
            </a:br>
            <a:r>
              <a:rPr lang="zh-CN" sz="2000"/>
              <a:t>However, the program uses gets() to read user input. The problem is that gets() does not check the input length. </a:t>
            </a:r>
            <a:br>
              <a:rPr lang="zh-CN" sz="2000"/>
            </a:br>
            <a:r>
              <a:rPr lang="zh-CN" sz="2000"/>
              <a:t>If the input is longer than the buffer, it will overflow and overwrite adjacent memory. </a:t>
            </a:r>
            <a:br>
              <a:rPr lang="zh-CN" sz="2000"/>
            </a:br>
            <a:r>
              <a:rPr lang="zh-CN" sz="2000"/>
              <a:t>This can lead to serious security issues, such as arbitrary code execution. </a:t>
            </a:r>
            <a:br>
              <a:rPr lang="zh-CN" sz="2000"/>
            </a:br>
            <a:r>
              <a:rPr lang="zh-CN" sz="2000"/>
              <a:t>This is a classic example of unsafe memory handling in C. </a:t>
            </a:r>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5" name="Shape 365"/>
        <p:cNvGrpSpPr/>
        <p:nvPr/>
      </p:nvGrpSpPr>
      <p:grpSpPr>
        <a:xfrm>
          <a:off x="0" y="0"/>
          <a:ext cx="0" cy="0"/>
          <a:chOff x="0" y="0"/>
          <a:chExt cx="0" cy="0"/>
        </a:xfrm>
      </p:grpSpPr>
      <p:sp>
        <p:nvSpPr>
          <p:cNvPr id="366" name="Google Shape;366;g396d4a5dad6_5_177: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367" name="Google Shape;367;g396d4a5dad6_5_177: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8" name="Google Shape;368;g396d4a5dad6_5_177: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zh-CN" sz="2000"/>
              <a:t>In this case, the program constructs an SQL query by directly concatenating user input. </a:t>
            </a:r>
            <a:br>
              <a:rPr lang="zh-CN" sz="2000"/>
            </a:br>
            <a:r>
              <a:rPr lang="zh-CN" sz="2000"/>
              <a:t>The problem is that the user input is not sanitized or validated. </a:t>
            </a:r>
            <a:br>
              <a:rPr lang="zh-CN" sz="2000"/>
            </a:br>
            <a:r>
              <a:rPr lang="zh-CN" sz="2000"/>
              <a:t>This means an attacker can inject malicious SQL code to change the behavior of the query. </a:t>
            </a:r>
            <a:br>
              <a:rPr lang="zh-CN" sz="2000"/>
            </a:br>
            <a:r>
              <a:rPr lang="zh-CN" sz="2000"/>
              <a:t>For example, instead of a normal username, the attacker could input something like a crafted string that bypasses authentication. </a:t>
            </a:r>
            <a:br>
              <a:rPr lang="zh-CN" sz="2000"/>
            </a:br>
            <a:r>
              <a:rPr lang="zh-CN" sz="2000"/>
              <a:t>As a result, the database may return unintended data or grant unauthorized access. </a:t>
            </a:r>
            <a:br>
              <a:rPr lang="zh-CN" sz="2000"/>
            </a:br>
            <a:r>
              <a:rPr lang="zh-CN" sz="2000"/>
              <a:t>The safer approach is to use parameterized queries, which separate code from data and prevent injection attacks. </a:t>
            </a:r>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4" name="Shape 374"/>
        <p:cNvGrpSpPr/>
        <p:nvPr/>
      </p:nvGrpSpPr>
      <p:grpSpPr>
        <a:xfrm>
          <a:off x="0" y="0"/>
          <a:ext cx="0" cy="0"/>
          <a:chOff x="0" y="0"/>
          <a:chExt cx="0" cy="0"/>
        </a:xfrm>
      </p:grpSpPr>
      <p:sp>
        <p:nvSpPr>
          <p:cNvPr id="375" name="Google Shape;375;g396d4a5dad6_5_185: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376" name="Google Shape;376;g396d4a5dad6_5_185: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7" name="Google Shape;377;g396d4a5dad6_5_185: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zh-CN" sz="2000"/>
              <a:t>In this case, the program takes user input and directly inserts it into a shell command. </a:t>
            </a:r>
            <a:br>
              <a:rPr lang="zh-CN" sz="2000"/>
            </a:br>
            <a:r>
              <a:rPr lang="zh-CN" sz="2000"/>
              <a:t>Specifically, it constructs a command like cat &lt;filename&gt; and executes it using os.system(). </a:t>
            </a:r>
            <a:br>
              <a:rPr lang="zh-CN" sz="2000"/>
            </a:br>
            <a:r>
              <a:rPr lang="zh-CN" sz="2000"/>
              <a:t>The problem is that the input is not validated or sanitized. </a:t>
            </a:r>
            <a:br>
              <a:rPr lang="zh-CN" sz="2000"/>
            </a:br>
            <a:r>
              <a:rPr lang="zh-CN" sz="2000"/>
              <a:t>If an attacker provides input containing shell control characters, such as command separators, they can execute unintended commands. </a:t>
            </a:r>
            <a:br>
              <a:rPr lang="zh-CN" sz="2000"/>
            </a:br>
            <a:r>
              <a:rPr lang="zh-CN" sz="2000"/>
              <a:t>For example, instead of a filename, the attacker could inject additional commands that the system will execute. </a:t>
            </a:r>
            <a:br>
              <a:rPr lang="zh-CN" sz="2000"/>
            </a:br>
            <a:r>
              <a:rPr lang="zh-CN" sz="2000"/>
              <a:t>This is known as command injection, and it can lead to serious security issues such as unauthorized command execution. </a:t>
            </a:r>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3" name="Shape 383"/>
        <p:cNvGrpSpPr/>
        <p:nvPr/>
      </p:nvGrpSpPr>
      <p:grpSpPr>
        <a:xfrm>
          <a:off x="0" y="0"/>
          <a:ext cx="0" cy="0"/>
          <a:chOff x="0" y="0"/>
          <a:chExt cx="0" cy="0"/>
        </a:xfrm>
      </p:grpSpPr>
      <p:sp>
        <p:nvSpPr>
          <p:cNvPr id="384" name="Google Shape;384;g396d4a5dad6_5_193: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385" name="Google Shape;385;g396d4a5dad6_5_193: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6" name="Google Shape;386;g396d4a5dad6_5_193: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zh-CN" sz="3600"/>
              <a:t>Let me start by explaining why vulnerability detection is important. </a:t>
            </a:r>
            <a:br>
              <a:rPr lang="zh-CN" sz="3600"/>
            </a:br>
            <a:r>
              <a:rPr lang="zh-CN" sz="3600"/>
              <a:t>Modern software systems are becoming increasingly complex and large-scale, and even experienced developers can unintentionally introduce vulnerabilities. </a:t>
            </a:r>
            <a:br>
              <a:rPr lang="zh-CN" sz="3600"/>
            </a:br>
            <a:r>
              <a:rPr lang="zh-CN" sz="3600"/>
              <a:t>As a result, software vulnerabilities remain a major cause of security breaches, such as data leaks, system compromise, and service disruption. </a:t>
            </a:r>
            <a:br>
              <a:rPr lang="zh-CN" sz="3600"/>
            </a:br>
            <a:r>
              <a:rPr lang="zh-CN" sz="3600"/>
              <a:t>Traditionally, detecting these vulnerabilities relies heavily on manual code review, which is both time-consuming and error-prone. </a:t>
            </a:r>
            <a:br>
              <a:rPr lang="zh-CN" sz="3600"/>
            </a:br>
            <a:r>
              <a:rPr lang="zh-CN" sz="3600"/>
              <a:t>Static analysis tools try to automate this process, but they mainly depend on manually crafted rules. These rules are hard to maintain and often fail to capture new or evolving vulnerability patterns. </a:t>
            </a:r>
            <a:br>
              <a:rPr lang="zh-CN" sz="3600"/>
            </a:br>
            <a:r>
              <a:rPr lang="zh-CN" sz="3600"/>
              <a:t>More importantly, new vulnerabilities appear much faster than these rules can keep up. </a:t>
            </a:r>
            <a:br>
              <a:rPr lang="zh-CN" sz="3600"/>
            </a:br>
            <a:r>
              <a:rPr lang="zh-CN" sz="3600"/>
              <a:t>This is where AI comes in. AI can automatically learn vulnerability patterns from large-scale code data. </a:t>
            </a:r>
            <a:br>
              <a:rPr lang="zh-CN" sz="3600"/>
            </a:br>
            <a:r>
              <a:rPr lang="zh-CN" sz="3600"/>
              <a:t>Instead of replacing human experts, it helps prioritize risky code regions and makes the review process more efficient. </a:t>
            </a:r>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3" name="Shape 393"/>
        <p:cNvGrpSpPr/>
        <p:nvPr/>
      </p:nvGrpSpPr>
      <p:grpSpPr>
        <a:xfrm>
          <a:off x="0" y="0"/>
          <a:ext cx="0" cy="0"/>
          <a:chOff x="0" y="0"/>
          <a:chExt cx="0" cy="0"/>
        </a:xfrm>
      </p:grpSpPr>
      <p:sp>
        <p:nvSpPr>
          <p:cNvPr id="394" name="Google Shape;394;g396d4a5dad6_5_202: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395" name="Google Shape;395;g396d4a5dad6_5_202: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6" name="Google Shape;396;g396d4a5dad6_5_202: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zh-CN" sz="1200" b="0" i="0" u="none" strike="noStrike" cap="none">
                <a:solidFill>
                  <a:schemeClr val="dk1"/>
                </a:solidFill>
                <a:latin typeface="Calibri"/>
                <a:ea typeface="Calibri"/>
                <a:cs typeface="Calibri"/>
                <a:sym typeface="Calibri"/>
              </a:rPr>
              <a:t>We frame vulnerability detection as a supervised learning problem.</a:t>
            </a:r>
            <a:endParaRPr sz="1200" b="0" i="0" u="none" strike="noStrike" cap="none">
              <a:solidFill>
                <a:schemeClr val="dk1"/>
              </a:solidFill>
              <a:latin typeface="Calibri"/>
              <a:ea typeface="Calibri"/>
              <a:cs typeface="Calibri"/>
              <a:sym typeface="Calibri"/>
            </a:endParaRPr>
          </a:p>
          <a:p>
            <a:pPr marL="457200" marR="0" lvl="0" indent="-228600" algn="l" rtl="0">
              <a:lnSpc>
                <a:spcPct val="100000"/>
              </a:lnSpc>
              <a:spcBef>
                <a:spcPts val="0"/>
              </a:spcBef>
              <a:spcAft>
                <a:spcPts val="0"/>
              </a:spcAft>
              <a:buSzPts val="1400"/>
              <a:buNone/>
            </a:pPr>
            <a:r>
              <a:rPr lang="zh-CN" sz="1200" b="0" i="0" u="none" strike="noStrike" cap="none">
                <a:solidFill>
                  <a:schemeClr val="dk1"/>
                </a:solidFill>
                <a:latin typeface="Calibri"/>
                <a:ea typeface="Calibri"/>
                <a:cs typeface="Calibri"/>
                <a:sym typeface="Calibri"/>
              </a:rPr>
              <a:t>Each code function is treated as one data sample.</a:t>
            </a:r>
            <a:endParaRPr sz="1200" b="0" i="0" u="none" strike="noStrike" cap="none">
              <a:solidFill>
                <a:schemeClr val="dk1"/>
              </a:solidFill>
              <a:latin typeface="Calibri"/>
              <a:ea typeface="Calibri"/>
              <a:cs typeface="Calibri"/>
              <a:sym typeface="Calibri"/>
            </a:endParaRPr>
          </a:p>
          <a:p>
            <a:pPr marL="457200" marR="0" lvl="0" indent="-228600" algn="l" rtl="0">
              <a:lnSpc>
                <a:spcPct val="100000"/>
              </a:lnSpc>
              <a:spcBef>
                <a:spcPts val="0"/>
              </a:spcBef>
              <a:spcAft>
                <a:spcPts val="0"/>
              </a:spcAft>
              <a:buSzPts val="1400"/>
              <a:buNone/>
            </a:pPr>
            <a:r>
              <a:rPr lang="zh-CN" sz="1200" b="0" i="0" u="none" strike="noStrike" cap="none">
                <a:solidFill>
                  <a:schemeClr val="dk1"/>
                </a:solidFill>
                <a:latin typeface="Calibri"/>
                <a:ea typeface="Calibri"/>
                <a:cs typeface="Calibri"/>
                <a:sym typeface="Calibri"/>
              </a:rPr>
              <a:t>The model predicts whether this function contains a vulnerability or not.</a:t>
            </a:r>
            <a:endParaRPr sz="1200" b="0" i="0" u="none" strike="noStrike" cap="none">
              <a:solidFill>
                <a:schemeClr val="dk1"/>
              </a:solidFill>
              <a:latin typeface="Calibri"/>
              <a:ea typeface="Calibri"/>
              <a:cs typeface="Calibri"/>
              <a:sym typeface="Calibri"/>
            </a:endParaRPr>
          </a:p>
          <a:p>
            <a:pPr marL="457200" marR="0" lvl="0" indent="-228600" algn="l" rtl="0">
              <a:lnSpc>
                <a:spcPct val="100000"/>
              </a:lnSpc>
              <a:spcBef>
                <a:spcPts val="0"/>
              </a:spcBef>
              <a:spcAft>
                <a:spcPts val="0"/>
              </a:spcAft>
              <a:buSzPts val="1400"/>
              <a:buNone/>
            </a:pPr>
            <a:r>
              <a:rPr lang="zh-CN" sz="1200" b="0" i="0" u="none" strike="noStrike" cap="none">
                <a:solidFill>
                  <a:schemeClr val="dk1"/>
                </a:solidFill>
                <a:latin typeface="Calibri"/>
                <a:ea typeface="Calibri"/>
                <a:cs typeface="Calibri"/>
                <a:sym typeface="Calibri"/>
              </a:rPr>
              <a:t>So fundamentally, this is a </a:t>
            </a:r>
            <a:r>
              <a:rPr lang="zh-CN" sz="1200" b="1" i="0" u="none" strike="noStrike" cap="none">
                <a:solidFill>
                  <a:schemeClr val="dk1"/>
                </a:solidFill>
                <a:latin typeface="Calibri"/>
                <a:ea typeface="Calibri"/>
                <a:cs typeface="Calibri"/>
                <a:sym typeface="Calibri"/>
              </a:rPr>
              <a:t>binary classification task</a:t>
            </a:r>
            <a:r>
              <a:rPr lang="zh-CN" sz="1200" b="0" i="0" u="none" strike="noStrike" cap="none">
                <a:solidFill>
                  <a:schemeClr val="dk1"/>
                </a:solidFill>
                <a:latin typeface="Calibri"/>
                <a:ea typeface="Calibri"/>
                <a:cs typeface="Calibri"/>
                <a:sym typeface="Calibri"/>
              </a:rPr>
              <a:t>.</a:t>
            </a:r>
            <a:endParaRPr sz="1200" b="0" i="0" u="none" strike="noStrike" cap="none">
              <a:solidFill>
                <a:schemeClr val="dk1"/>
              </a:solidFill>
              <a:latin typeface="Calibri"/>
              <a:ea typeface="Calibri"/>
              <a:cs typeface="Calibri"/>
              <a:sym typeface="Calibri"/>
            </a:endParaRPr>
          </a:p>
          <a:p>
            <a:pPr marL="457200" marR="0" lvl="0" indent="-22860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a:p>
            <a:pPr marL="457200" marR="0" lvl="0" indent="-228600" algn="l" rtl="0">
              <a:lnSpc>
                <a:spcPct val="100000"/>
              </a:lnSpc>
              <a:spcBef>
                <a:spcPts val="0"/>
              </a:spcBef>
              <a:spcAft>
                <a:spcPts val="0"/>
              </a:spcAft>
              <a:buSzPts val="1400"/>
              <a:buNone/>
            </a:pPr>
            <a:r>
              <a:rPr lang="zh-CN"/>
              <a:t>Our data comes from the MSR_data_cleaned dataset on HuggingFace, which is built from real-world CVE vulnerability records. It contains actual production code from well-known open-source projects like the Linux kernel, FFmpeg, and Apache.</a:t>
            </a:r>
            <a:endParaRPr lang="zh-CN"/>
          </a:p>
          <a:p>
            <a:pPr marL="457200" marR="0" lvl="0" indent="-228600" algn="l" rtl="0">
              <a:lnSpc>
                <a:spcPct val="100000"/>
              </a:lnSpc>
              <a:spcBef>
                <a:spcPts val="0"/>
              </a:spcBef>
              <a:spcAft>
                <a:spcPts val="0"/>
              </a:spcAft>
              <a:buSzPts val="1400"/>
              <a:buNone/>
            </a:pPr>
            <a:r>
              <a:rPr lang="zh-CN"/>
              <a:t>In terms of scale, we have over </a:t>
            </a:r>
            <a:r>
              <a:rPr lang="zh-CN" b="1"/>
              <a:t>150,000 C language functions</a:t>
            </a:r>
            <a:r>
              <a:rPr lang="zh-CN"/>
              <a:t> in total. Among these, 8,720 functions are vulnerable, accounting for 5.8%, while over 142,000 functions are non-vulnerable, making up 94.2%.</a:t>
            </a:r>
            <a:endParaRPr lang="zh-CN"/>
          </a:p>
          <a:p>
            <a:pPr marL="457200" marR="0" lvl="0" indent="-228600" algn="l" rtl="0">
              <a:lnSpc>
                <a:spcPct val="100000"/>
              </a:lnSpc>
              <a:spcBef>
                <a:spcPts val="0"/>
              </a:spcBef>
              <a:spcAft>
                <a:spcPts val="0"/>
              </a:spcAft>
              <a:buClr>
                <a:srgbClr val="000000"/>
              </a:buClr>
              <a:buSzPts val="1400"/>
              <a:buFont typeface="Arial" panose="020B0604020202090204"/>
              <a:buNone/>
            </a:pPr>
            <a:r>
              <a:rPr lang="zh-CN" sz="1200" b="1" i="0" u="none" strike="noStrike" cap="none">
                <a:solidFill>
                  <a:schemeClr val="dk1"/>
                </a:solidFill>
                <a:latin typeface="Calibri"/>
                <a:ea typeface="Calibri"/>
                <a:cs typeface="Calibri"/>
                <a:sym typeface="Calibri"/>
              </a:rPr>
              <a:t>To better understand and label these vulnerable functions, real-world vulnerability records provide essential contextual information.</a:t>
            </a:r>
            <a:endParaRPr sz="1200" b="0" i="0" u="none" strike="noStrike" cap="none">
              <a:solidFill>
                <a:schemeClr val="dk1"/>
              </a:solidFill>
              <a:latin typeface="Calibri"/>
              <a:ea typeface="Calibri"/>
              <a:cs typeface="Calibri"/>
              <a:sym typeface="Calibri"/>
            </a:endParaRPr>
          </a:p>
          <a:p>
            <a:pPr marL="457200" marR="0" lvl="0" indent="-228600" algn="l" rtl="0">
              <a:lnSpc>
                <a:spcPct val="100000"/>
              </a:lnSpc>
              <a:spcBef>
                <a:spcPts val="0"/>
              </a:spcBef>
              <a:spcAft>
                <a:spcPts val="0"/>
              </a:spcAft>
              <a:buSzPts val="1400"/>
              <a:buNone/>
            </a:pPr>
            <a:r>
              <a:rPr lang="zh-CN" sz="1200" b="0" i="0" u="none" strike="noStrike" cap="none">
                <a:solidFill>
                  <a:schemeClr val="dk1"/>
                </a:solidFill>
                <a:latin typeface="Calibri"/>
                <a:ea typeface="Calibri"/>
                <a:cs typeface="Calibri"/>
                <a:sym typeface="Calibri"/>
              </a:rPr>
              <a:t>In vulnerability analysis, each vulnerability is described using standardized identifiers and metadata.</a:t>
            </a:r>
            <a:endParaRPr sz="1200" b="0" i="0" u="none" strike="noStrike" cap="none">
              <a:solidFill>
                <a:schemeClr val="dk1"/>
              </a:solidFill>
              <a:latin typeface="Calibri"/>
              <a:ea typeface="Calibri"/>
              <a:cs typeface="Calibri"/>
              <a:sym typeface="Calibri"/>
            </a:endParaRPr>
          </a:p>
          <a:p>
            <a:pPr marL="457200" marR="0" lvl="0" indent="-228600" algn="l" rtl="0">
              <a:lnSpc>
                <a:spcPct val="100000"/>
              </a:lnSpc>
              <a:spcBef>
                <a:spcPts val="0"/>
              </a:spcBef>
              <a:spcAft>
                <a:spcPts val="0"/>
              </a:spcAft>
              <a:buSzPts val="1400"/>
              <a:buNone/>
            </a:pPr>
            <a:r>
              <a:rPr lang="zh-CN" sz="1200" b="0" i="0" u="none" strike="noStrike" cap="none">
                <a:solidFill>
                  <a:schemeClr val="dk1"/>
                </a:solidFill>
                <a:latin typeface="Calibri"/>
                <a:ea typeface="Calibri"/>
                <a:cs typeface="Calibri"/>
                <a:sym typeface="Calibri"/>
              </a:rPr>
              <a:t>CVE IDs uniquely identify individual vulnerabilities, while CWE IDs categorize them based on underlying weakness types.</a:t>
            </a:r>
            <a:endParaRPr sz="1200" b="0" i="0" u="none" strike="noStrike" cap="none">
              <a:solidFill>
                <a:schemeClr val="dk1"/>
              </a:solidFill>
              <a:latin typeface="Calibri"/>
              <a:ea typeface="Calibri"/>
              <a:cs typeface="Calibri"/>
              <a:sym typeface="Calibri"/>
            </a:endParaRPr>
          </a:p>
          <a:p>
            <a:pPr marL="457200" marR="0" lvl="0" indent="-228600" algn="l" rtl="0">
              <a:lnSpc>
                <a:spcPct val="100000"/>
              </a:lnSpc>
              <a:spcBef>
                <a:spcPts val="0"/>
              </a:spcBef>
              <a:spcAft>
                <a:spcPts val="0"/>
              </a:spcAft>
              <a:buSzPts val="1400"/>
              <a:buNone/>
            </a:pPr>
            <a:r>
              <a:rPr lang="zh-CN" sz="1200" b="0" i="0" u="none" strike="noStrike" cap="none">
                <a:solidFill>
                  <a:schemeClr val="dk1"/>
                </a:solidFill>
                <a:latin typeface="Calibri"/>
                <a:ea typeface="Calibri"/>
                <a:cs typeface="Calibri"/>
                <a:sym typeface="Calibri"/>
              </a:rPr>
              <a:t>The CVSS score quantifies the severity of a vulnerability and helps prioritize remediation efforts.</a:t>
            </a:r>
            <a:endParaRPr sz="1200" b="0" i="0" u="none" strike="noStrike" cap="none">
              <a:solidFill>
                <a:schemeClr val="dk1"/>
              </a:solidFill>
              <a:latin typeface="Calibri"/>
              <a:ea typeface="Calibri"/>
              <a:cs typeface="Calibri"/>
              <a:sym typeface="Calibri"/>
            </a:endParaRPr>
          </a:p>
          <a:p>
            <a:pPr marL="457200" marR="0" lvl="0" indent="-228600" algn="l" rtl="0">
              <a:lnSpc>
                <a:spcPct val="100000"/>
              </a:lnSpc>
              <a:spcBef>
                <a:spcPts val="0"/>
              </a:spcBef>
              <a:spcAft>
                <a:spcPts val="0"/>
              </a:spcAft>
              <a:buSzPts val="1400"/>
              <a:buNone/>
            </a:pPr>
            <a:r>
              <a:rPr lang="zh-CN" sz="1200" b="0" i="0" u="none" strike="noStrike" cap="none">
                <a:solidFill>
                  <a:schemeClr val="dk1"/>
                </a:solidFill>
                <a:latin typeface="Calibri"/>
                <a:ea typeface="Calibri"/>
                <a:cs typeface="Calibri"/>
                <a:sym typeface="Calibri"/>
              </a:rPr>
              <a:t>In addition, commit information and patch details provide insight into how vulnerabilities are fixed at the code level.</a:t>
            </a:r>
            <a:endParaRPr sz="1200" b="0" i="0" u="none" strike="noStrike" cap="none">
              <a:solidFill>
                <a:schemeClr val="dk1"/>
              </a:solidFill>
              <a:latin typeface="Calibri"/>
              <a:ea typeface="Calibri"/>
              <a:cs typeface="Calibri"/>
              <a:sym typeface="Calibri"/>
            </a:endParaRPr>
          </a:p>
          <a:p>
            <a:pPr marL="457200" marR="0" lvl="0" indent="-228600" algn="l" rtl="0">
              <a:lnSpc>
                <a:spcPct val="100000"/>
              </a:lnSpc>
              <a:spcBef>
                <a:spcPts val="0"/>
              </a:spcBef>
              <a:spcAft>
                <a:spcPts val="0"/>
              </a:spcAft>
              <a:buSzPts val="1400"/>
              <a:buNone/>
            </a:pPr>
            <a:r>
              <a:rPr lang="zh-CN" sz="1200" b="0" i="0" u="none" strike="noStrike" cap="none">
                <a:solidFill>
                  <a:schemeClr val="dk1"/>
                </a:solidFill>
                <a:latin typeface="Calibri"/>
                <a:ea typeface="Calibri"/>
                <a:cs typeface="Calibri"/>
                <a:sym typeface="Calibri"/>
              </a:rPr>
              <a:t>Together, these elements form the foundation for understanding, analyzing, and automatically detecting software vulnerabilities using AI-based approaches.</a:t>
            </a:r>
            <a:endParaRPr sz="1200" b="0" i="0" u="none" strike="noStrike" cap="none">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3" name="Shape 403"/>
        <p:cNvGrpSpPr/>
        <p:nvPr/>
      </p:nvGrpSpPr>
      <p:grpSpPr>
        <a:xfrm>
          <a:off x="0" y="0"/>
          <a:ext cx="0" cy="0"/>
          <a:chOff x="0" y="0"/>
          <a:chExt cx="0" cy="0"/>
        </a:xfrm>
      </p:grpSpPr>
      <p:sp>
        <p:nvSpPr>
          <p:cNvPr id="404" name="Google Shape;404;g396d4a5dad6_5_211: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405" name="Google Shape;405;g396d4a5dad6_5_211: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6" name="Google Shape;406;g396d4a5dad6_5_211: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zh-CN"/>
              <a:t>So how do we convert code into something AI can understand?</a:t>
            </a:r>
            <a:endParaRPr lang="zh-CN"/>
          </a:p>
          <a:p>
            <a:pPr marL="457200" marR="0" lvl="0" indent="-228600" algn="l" rtl="0">
              <a:lnSpc>
                <a:spcPct val="100000"/>
              </a:lnSpc>
              <a:spcBef>
                <a:spcPts val="0"/>
              </a:spcBef>
              <a:spcAft>
                <a:spcPts val="0"/>
              </a:spcAft>
              <a:buSzPts val="1400"/>
              <a:buNone/>
            </a:pPr>
            <a:r>
              <a:rPr lang="zh-CN" b="1"/>
              <a:t>First, tokenization.</a:t>
            </a:r>
            <a:r>
              <a:rPr lang="zh-CN"/>
              <a:t> We use a C lexer to break down the source code into tokens—things like keywords, operators, and variable names. We also preprocess the code by removing comments and string literals, since they don't affect functionality. For example, a function like 'strcpy(buffer, input)' becomes a sequence of tokens: 'strcpy', opening parenthesis, 'buffer', comma, 'input', closing parenthesis.</a:t>
            </a:r>
            <a:endParaRPr lang="zh-CN"/>
          </a:p>
          <a:p>
            <a:pPr marL="457200" marR="0" lvl="0" indent="-228600" algn="l" rtl="0">
              <a:lnSpc>
                <a:spcPct val="100000"/>
              </a:lnSpc>
              <a:spcBef>
                <a:spcPts val="0"/>
              </a:spcBef>
              <a:spcAft>
                <a:spcPts val="0"/>
              </a:spcAft>
              <a:buSzPts val="1400"/>
              <a:buNone/>
            </a:pPr>
            <a:r>
              <a:rPr lang="zh-CN" b="1"/>
              <a:t>Second, vocabulary building.</a:t>
            </a:r>
            <a:r>
              <a:rPr lang="zh-CN"/>
              <a:t> Across all 150,000 functions, we identified over 161,000 unique tokens. To reduce noise, we filtered out tokens that appear fewer than 5 times.</a:t>
            </a:r>
            <a:endParaRPr lang="zh-CN"/>
          </a:p>
          <a:p>
            <a:pPr marL="457200" marR="0" lvl="0" indent="-228600" algn="l" rtl="0">
              <a:lnSpc>
                <a:spcPct val="100000"/>
              </a:lnSpc>
              <a:spcBef>
                <a:spcPts val="0"/>
              </a:spcBef>
              <a:spcAft>
                <a:spcPts val="0"/>
              </a:spcAft>
              <a:buSzPts val="1400"/>
              <a:buNone/>
            </a:pPr>
            <a:r>
              <a:rPr lang="zh-CN" b="1"/>
              <a:t>Third, encoding.</a:t>
            </a:r>
            <a:r>
              <a:rPr lang="zh-CN"/>
              <a:t> Each token is converted to an integer ID. Then we standardize the sequence length to 300 tokens—longer functions are truncated, shorter ones are padded with zeros.</a:t>
            </a:r>
            <a:endParaRPr lang="zh-CN"/>
          </a:p>
          <a:p>
            <a:pPr marL="457200" marR="0" lvl="0" indent="-228600" algn="l" rtl="0">
              <a:lnSpc>
                <a:spcPct val="100000"/>
              </a:lnSpc>
              <a:spcBef>
                <a:spcPts val="0"/>
              </a:spcBef>
              <a:spcAft>
                <a:spcPts val="0"/>
              </a:spcAft>
              <a:buSzPts val="1400"/>
              <a:buNone/>
            </a:pPr>
            <a:r>
              <a:rPr lang="zh-CN" b="1"/>
              <a:t>Finally, embedding.</a:t>
            </a:r>
            <a:r>
              <a:rPr lang="zh-CN"/>
              <a:t> These integer IDs are transformed into 128-dimensional dense vectors through an embedding layer. This captures semantic relationships between tokens—similar code patterns get similar vector representations.</a:t>
            </a:r>
            <a:endParaRPr lang="zh-CN"/>
          </a:p>
          <a:p>
            <a:pPr marL="457200" marR="0" lvl="0" indent="-228600" algn="l" rtl="0">
              <a:lnSpc>
                <a:spcPct val="100000"/>
              </a:lnSpc>
              <a:spcBef>
                <a:spcPts val="0"/>
              </a:spcBef>
              <a:spcAft>
                <a:spcPts val="0"/>
              </a:spcAft>
              <a:buSzPts val="1400"/>
              <a:buNone/>
            </a:pPr>
            <a:r>
              <a:rPr lang="zh-CN"/>
              <a:t>The key point is: we preserve the sequential structure of the code while converting it into a numerical format the neural network can process."</a:t>
            </a:r>
            <a:endParaRPr lang="zh-CN"/>
          </a:p>
          <a:p>
            <a:pPr marL="0" lvl="0" indent="0" algn="l" rtl="0">
              <a:lnSpc>
                <a:spcPct val="100000"/>
              </a:lnSpc>
              <a:spcBef>
                <a:spcPts val="0"/>
              </a:spcBef>
              <a:spcAft>
                <a:spcPts val="0"/>
              </a:spcAft>
              <a:buSzPts val="1400"/>
              <a:buNone/>
            </a:p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5" name="Shape 415"/>
        <p:cNvGrpSpPr/>
        <p:nvPr/>
      </p:nvGrpSpPr>
      <p:grpSpPr>
        <a:xfrm>
          <a:off x="0" y="0"/>
          <a:ext cx="0" cy="0"/>
          <a:chOff x="0" y="0"/>
          <a:chExt cx="0" cy="0"/>
        </a:xfrm>
      </p:grpSpPr>
      <p:sp>
        <p:nvSpPr>
          <p:cNvPr id="416" name="Google Shape;416;g396d4a5dad6_5_221: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417" name="Google Shape;417;g396d4a5dad6_5_221: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8" name="Google Shape;418;g396d4a5dad6_5_221: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zh-CN"/>
              <a:t>"Our model is a Bi-LSTM with attention. Let me explain why.</a:t>
            </a:r>
            <a:endParaRPr lang="zh-CN"/>
          </a:p>
          <a:p>
            <a:pPr marL="457200" marR="0" lvl="0" indent="-228600" algn="l" rtl="0">
              <a:lnSpc>
                <a:spcPct val="100000"/>
              </a:lnSpc>
              <a:spcBef>
                <a:spcPts val="0"/>
              </a:spcBef>
              <a:spcAft>
                <a:spcPts val="0"/>
              </a:spcAft>
              <a:buSzPts val="1400"/>
              <a:buNone/>
            </a:pPr>
            <a:r>
              <a:rPr lang="zh-CN" b="1"/>
              <a:t>Bi-LSTM:</a:t>
            </a:r>
            <a:r>
              <a:rPr lang="zh-CN"/>
              <a:t> We read code in both directions—forward and backward—because vulnerabilities depend on context from both sides. For example, understanding a pointer requires knowing where it's allocated AND where it's freed.</a:t>
            </a:r>
            <a:endParaRPr lang="zh-CN"/>
          </a:p>
          <a:p>
            <a:pPr marL="457200" marR="0" lvl="0" indent="-228600" algn="l" rtl="0">
              <a:lnSpc>
                <a:spcPct val="100000"/>
              </a:lnSpc>
              <a:spcBef>
                <a:spcPts val="0"/>
              </a:spcBef>
              <a:spcAft>
                <a:spcPts val="0"/>
              </a:spcAft>
              <a:buSzPts val="1400"/>
              <a:buNone/>
            </a:pPr>
            <a:r>
              <a:rPr lang="zh-CN" b="1"/>
              <a:t>Attention mechanism:</a:t>
            </a:r>
            <a:r>
              <a:rPr lang="zh-CN"/>
              <a:t> Not all code is equally important. Some keywords like 'strcpy' are high-risk, while others like semicolons don't matter much. Attention automatically learns to focus on the critical parts—the vulnerability hotspots.</a:t>
            </a:r>
            <a:endParaRPr lang="zh-CN"/>
          </a:p>
          <a:p>
            <a:pPr marL="457200" marR="0" lvl="0" indent="-228600" algn="l" rtl="0">
              <a:lnSpc>
                <a:spcPct val="100000"/>
              </a:lnSpc>
              <a:spcBef>
                <a:spcPts val="0"/>
              </a:spcBef>
              <a:spcAft>
                <a:spcPts val="0"/>
              </a:spcAft>
              <a:buSzPts val="1400"/>
              <a:buNone/>
            </a:pPr>
            <a:r>
              <a:rPr lang="zh-CN"/>
              <a:t>The architecture is: embedding layer, bidirectional LSTM, attention, dense layer with dropout, and sigmoid output for binary classification.</a:t>
            </a:r>
            <a:endParaRPr lang="zh-CN"/>
          </a:p>
          <a:p>
            <a:pPr marL="457200" marR="0" lvl="0" indent="-228600" algn="l" rtl="0">
              <a:lnSpc>
                <a:spcPct val="100000"/>
              </a:lnSpc>
              <a:spcBef>
                <a:spcPts val="0"/>
              </a:spcBef>
              <a:spcAft>
                <a:spcPts val="0"/>
              </a:spcAft>
              <a:buSzPts val="1400"/>
              <a:buNone/>
            </a:pPr>
            <a:r>
              <a:rPr lang="zh-CN"/>
              <a:t>It's like teaching the model to review code the way a security expert would—scanning both ways and focusing on the dangerous patterns."</a:t>
            </a:r>
            <a:endParaRPr lang="zh-CN"/>
          </a:p>
          <a:p>
            <a:pPr marL="0" lvl="0" indent="0" algn="l" rtl="0">
              <a:lnSpc>
                <a:spcPct val="100000"/>
              </a:lnSpc>
              <a:spcBef>
                <a:spcPts val="0"/>
              </a:spcBef>
              <a:spcAft>
                <a:spcPts val="0"/>
              </a:spcAft>
              <a:buSzPts val="1400"/>
              <a:buNone/>
            </a:p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6" name="Shape 426"/>
        <p:cNvGrpSpPr/>
        <p:nvPr/>
      </p:nvGrpSpPr>
      <p:grpSpPr>
        <a:xfrm>
          <a:off x="0" y="0"/>
          <a:ext cx="0" cy="0"/>
          <a:chOff x="0" y="0"/>
          <a:chExt cx="0" cy="0"/>
        </a:xfrm>
      </p:grpSpPr>
      <p:sp>
        <p:nvSpPr>
          <p:cNvPr id="427" name="Google Shape;427;g396d4a5dad6_5_230: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428" name="Google Shape;428;g396d4a5dad6_5_230: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9" name="Google Shape;429;g396d4a5dad6_5_230: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437" name="Shape 437"/>
        <p:cNvGrpSpPr/>
        <p:nvPr/>
      </p:nvGrpSpPr>
      <p:grpSpPr>
        <a:xfrm>
          <a:off x="0" y="0"/>
          <a:ext cx="0" cy="0"/>
          <a:chOff x="0" y="0"/>
          <a:chExt cx="0" cy="0"/>
        </a:xfrm>
      </p:grpSpPr>
      <p:sp>
        <p:nvSpPr>
          <p:cNvPr id="438" name="Google Shape;438;p20: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sz="1200" b="0" i="0" u="none" strike="noStrike" cap="none">
                <a:solidFill>
                  <a:schemeClr val="dk1"/>
                </a:solidFill>
                <a:latin typeface="Calibri"/>
                <a:ea typeface="Calibri"/>
                <a:cs typeface="Calibri"/>
                <a:sym typeface="Calibri"/>
              </a:rPr>
              <a:t>"So far, we have talked about Static Analysis—which is like a detective carefully reading through a suspect's diary without ever meeting them. It’s great for finding obvious mistakes in the code, but it has a limit: it can't tell you exactly what happens when the program actually runs in the real world."</a:t>
            </a:r>
            <a:endParaRPr sz="1200" b="0" i="0" u="none" strike="noStrike" cap="none">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r>
              <a:rPr sz="1200" b="0" i="0" u="none" strike="noStrike" cap="none">
                <a:solidFill>
                  <a:schemeClr val="dk1"/>
                </a:solidFill>
                <a:latin typeface="Calibri"/>
                <a:ea typeface="Calibri"/>
                <a:cs typeface="Calibri"/>
                <a:sym typeface="Calibri"/>
              </a:rPr>
              <a:t>Introducing Fuzzing (The "Crash Test")</a:t>
            </a:r>
            <a:endParaRPr sz="1200" b="0" i="0" u="none" strike="noStrike" cap="none">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r>
              <a:rPr sz="1200" b="0" i="0" u="none" strike="noStrike" cap="none">
                <a:solidFill>
                  <a:schemeClr val="dk1"/>
                </a:solidFill>
                <a:latin typeface="Calibri"/>
                <a:ea typeface="Calibri"/>
                <a:cs typeface="Calibri"/>
                <a:sym typeface="Calibri"/>
              </a:rPr>
              <a:t>"This brings us to Fuzzing, or Fuzz Testing. If Static Analysis is 'reading,' Fuzzing is 'Stress Testing.' Think of it like a Digital Crash Test. Instead of reading the car's blueprints, we actually build the car and throw thousands of random, weird, and 'malformed' objects at it—like oversized luggage or strange fuel—to see if we can make the engine explode or the doors fall off."</a:t>
            </a:r>
            <a:endParaRPr sz="1200" b="0" i="0" u="none" strike="noStrike" cap="none">
              <a:solidFill>
                <a:schemeClr val="dk1"/>
              </a:solidFill>
              <a:latin typeface="Calibri"/>
              <a:ea typeface="Calibri"/>
              <a:cs typeface="Calibri"/>
              <a:sym typeface="Calibri"/>
            </a:endParaRPr>
          </a:p>
        </p:txBody>
      </p:sp>
      <p:sp>
        <p:nvSpPr>
          <p:cNvPr id="439" name="Google Shape;439;p20: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2" name="Shape 442"/>
        <p:cNvGrpSpPr/>
        <p:nvPr/>
      </p:nvGrpSpPr>
      <p:grpSpPr>
        <a:xfrm>
          <a:off x="0" y="0"/>
          <a:ext cx="0" cy="0"/>
          <a:chOff x="0" y="0"/>
          <a:chExt cx="0" cy="0"/>
        </a:xfrm>
      </p:grpSpPr>
      <p:sp>
        <p:nvSpPr>
          <p:cNvPr id="443" name="Google Shape;443;p21: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444" name="Google Shape;444;p21: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5" name="Google Shape;445;p21: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zh-CN"/>
              <a:t>.</a:t>
            </a:r>
            <a:endParaRPr lang="zh-CN"/>
          </a:p>
          <a:p>
            <a:pPr marL="0" lvl="0" indent="0" algn="l" rtl="0">
              <a:lnSpc>
                <a:spcPct val="100000"/>
              </a:lnSpc>
              <a:spcBef>
                <a:spcPts val="0"/>
              </a:spcBef>
              <a:spcAft>
                <a:spcPts val="0"/>
              </a:spcAft>
              <a:buSzPts val="1400"/>
              <a:buNone/>
            </a:pPr>
            <a:r>
              <a:rPr lang="zh-CN"/>
              <a:t>Here is the outline of today’s talk.</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First, I’ll briefly explain how C and C++ programs execute, because this directly affects how fuzzing works.</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Then I’ll explain why dynamic detection methods, especially fuzzing, are necessary compared to static analysis.</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After that, I’ll introduce how large language models can help fuzzing, especially in generating and mutating inputs.</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Finally, I’ll show some hands-on experimental results, including coverage improvements on real-world OSS-Fuzz projects.</a:t>
            </a:r>
            <a:endParaRPr 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451" name="Shape 451"/>
        <p:cNvGrpSpPr/>
        <p:nvPr/>
      </p:nvGrpSpPr>
      <p:grpSpPr>
        <a:xfrm>
          <a:off x="0" y="0"/>
          <a:ext cx="0" cy="0"/>
          <a:chOff x="0" y="0"/>
          <a:chExt cx="0" cy="0"/>
        </a:xfrm>
      </p:grpSpPr>
      <p:sp>
        <p:nvSpPr>
          <p:cNvPr id="452" name="Google Shape;452;p22: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453" name="Google Shape;453;p22: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4" name="Google Shape;454;p22: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zh-CN"/>
              <a:t>This diagram illustrates the core feedback-driven loop of modern fuzzing.</a:t>
            </a:r>
            <a:endParaRPr lang="zh-CN"/>
          </a:p>
          <a:p>
            <a:pPr marL="0" lvl="0" indent="0" algn="l" rtl="0">
              <a:lnSpc>
                <a:spcPct val="100000"/>
              </a:lnSpc>
              <a:spcBef>
                <a:spcPts val="0"/>
              </a:spcBef>
              <a:spcAft>
                <a:spcPts val="0"/>
              </a:spcAft>
              <a:buSzPts val="1400"/>
              <a:buNone/>
            </a:pPr>
            <a:r>
              <a:rPr lang="zh-CN"/>
              <a:t>The process starts with a set of seed inputs, which are typically valid or representative examples of the program’s expected input format. These seeds are placed into a corpus, which acts as the evolving knowledge base of the fuzzer.</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The fuzzer repeatedly selects inputs from the corpus and applies various mutation strategies to generate new test cases. Each mutated input is then passed through the fuzz harness, which serves as a wrapper that feeds the input into the software under test and executes the target code in a controlled manner.</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During execution, the fuzzer monitors runtime feedback, most importantly code coverage information. If a new input triggers previously unseen execution paths, it is considered valuable and added back into the corpus, enabling the fuzzer to progressively explore deeper and more complex program behaviors.</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At the same time, the fuzzer records findings such as crashes, hangs, or memory violations. These findings often correspond to real bugs or security vulnerabilities, making fuzzing an effective dynamic analysis technique for discovering flaws that are difficult to detect with static methods.</a:t>
            </a:r>
            <a:endParaRPr 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462" name="Shape 462"/>
        <p:cNvGrpSpPr/>
        <p:nvPr/>
      </p:nvGrpSpPr>
      <p:grpSpPr>
        <a:xfrm>
          <a:off x="0" y="0"/>
          <a:ext cx="0" cy="0"/>
          <a:chOff x="0" y="0"/>
          <a:chExt cx="0" cy="0"/>
        </a:xfrm>
      </p:grpSpPr>
      <p:sp>
        <p:nvSpPr>
          <p:cNvPr id="463" name="Google Shape;463;p23: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464" name="Google Shape;464;p23: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5" name="Google Shape;465;p23: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zh-CN"/>
              <a:t>This code snippet is a typical example of a fuzz harness file used by modern fuzzers such as LibFuzzer or OSS-Fuzz.</a:t>
            </a:r>
            <a:endParaRPr lang="zh-CN"/>
          </a:p>
          <a:p>
            <a:pPr marL="0" lvl="0" indent="0" algn="l" rtl="0">
              <a:lnSpc>
                <a:spcPct val="100000"/>
              </a:lnSpc>
              <a:spcBef>
                <a:spcPts val="0"/>
              </a:spcBef>
              <a:spcAft>
                <a:spcPts val="0"/>
              </a:spcAft>
              <a:buSzPts val="1400"/>
              <a:buNone/>
            </a:pPr>
            <a:r>
              <a:rPr lang="zh-CN"/>
              <a:t>The harness defines a special function, LLVMFuzzerTestOneInput, which serves as the entry point that the fuzzer repeatedly calls with mutated inputs.</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The parameters data and size represent the raw bytes generated by the fuzzer. The role of the harness is to translate these arbitrary bytes into inputs that the target software can consume. In this example, the fuzzed data is treated as in-memory file content and passed directly to a ZIP-processing API in the miniz library.</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Rather than fuzzing an entire application or command-line tool, the harness directly invokes a specific function of interest—mz_zip_add_mem_to_archive_file_in_place. This allows the fuzzer to focus on a well-defined execution path and efficiently explore edge cases inside the library code.</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By isolating the target functionality and eliminating unrelated logic such as argument parsing or I/O handling, the harness improves coverage, performance, and crash reproducibility. In practice, the quality of the harness largely determines how effective fuzzing will be at uncovering deep bugs and security vulnerabilities.</a:t>
            </a:r>
            <a:endParaRPr 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3" name="Shape 473"/>
        <p:cNvGrpSpPr/>
        <p:nvPr/>
      </p:nvGrpSpPr>
      <p:grpSpPr>
        <a:xfrm>
          <a:off x="0" y="0"/>
          <a:ext cx="0" cy="0"/>
          <a:chOff x="0" y="0"/>
          <a:chExt cx="0" cy="0"/>
        </a:xfrm>
      </p:grpSpPr>
      <p:sp>
        <p:nvSpPr>
          <p:cNvPr id="474" name="Google Shape;474;p24: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475" name="Google Shape;475;p24: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6" name="Google Shape;476;p24: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zh-CN"/>
              <a:t>This diagram is a call graph, which describes how functions call each other during program execution.</a:t>
            </a:r>
            <a:endParaRPr lang="zh-CN"/>
          </a:p>
          <a:p>
            <a:pPr marL="0" lvl="0" indent="0" algn="l" rtl="0">
              <a:lnSpc>
                <a:spcPct val="100000"/>
              </a:lnSpc>
              <a:spcBef>
                <a:spcPts val="0"/>
              </a:spcBef>
              <a:spcAft>
                <a:spcPts val="0"/>
              </a:spcAft>
              <a:buSzPts val="1400"/>
              <a:buNone/>
            </a:pPr>
            <a:r>
              <a:rPr lang="zh-CN"/>
              <a:t>Each node represents a function, and each directed edge indicates a possible or observed function call relationship.</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Execution starts from the program entry point (_start), flows into main, and then branches into other functions such as f0 and f1. Some functions, like f2, may be called from multiple callers, which is why multiple arrows converge on them.</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The numbers on the edges indicate how many times a call occurred, while the colors or percentages show relative execution cost or coverage. Call graphs are useful for understanding high-level program structure, but they do not show what happens inside a function.</a:t>
            </a:r>
            <a:endParaRPr 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3" name="Shape 483"/>
        <p:cNvGrpSpPr/>
        <p:nvPr/>
      </p:nvGrpSpPr>
      <p:grpSpPr>
        <a:xfrm>
          <a:off x="0" y="0"/>
          <a:ext cx="0" cy="0"/>
          <a:chOff x="0" y="0"/>
          <a:chExt cx="0" cy="0"/>
        </a:xfrm>
      </p:grpSpPr>
      <p:sp>
        <p:nvSpPr>
          <p:cNvPr id="484" name="Google Shape;484;p25: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485" name="Google Shape;485;p25: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6" name="Google Shape;486;p25: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zh-CN"/>
              <a:t>“Now we stop looking at which functions call which.</a:t>
            </a:r>
            <a:endParaRPr lang="zh-CN"/>
          </a:p>
          <a:p>
            <a:pPr marL="0" lvl="0" indent="0" algn="l" rtl="0">
              <a:lnSpc>
                <a:spcPct val="100000"/>
              </a:lnSpc>
              <a:spcBef>
                <a:spcPts val="0"/>
              </a:spcBef>
              <a:spcAft>
                <a:spcPts val="0"/>
              </a:spcAft>
              <a:buSzPts val="1400"/>
              <a:buNone/>
            </a:pPr>
            <a:r>
              <a:rPr lang="zh-CN"/>
              <a:t>Instead, we focus on what happens inside a single function, step by step.”</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1️⃣ What does a CFG describe?</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A Control Flow Graph shows all the possible ways execution can flow inside one function.</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In simple terms, it answers the question:</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“If the program is at this line, where can it go next?”</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The CFG draws all those possible next steps.</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2️⃣ What is a Basic Block?</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“Each box in the CFG is called a Basic Block.”</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A Basic Block is a chunk of code that:</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Executes straight from top to bottom</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Has no jumps in the middle</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Has one entry point</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Has one exit point</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Once execution enters a basic block, every instruction in it will run.</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So remember this:</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A Basic Block is a piece of code that always executes together.</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3️⃣ Why do we split code into Basic Blocks?</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Because real programs contain:</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if / else</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switch</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goto</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return</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Whenever the program needs to make a decision, the execution can split.</a:t>
            </a:r>
            <a:endParaRPr lang="zh-CN"/>
          </a:p>
          <a:p>
            <a:pPr marL="0" lvl="0" indent="0" algn="l" rtl="0">
              <a:lnSpc>
                <a:spcPct val="100000"/>
              </a:lnSpc>
              <a:spcBef>
                <a:spcPts val="0"/>
              </a:spcBef>
              <a:spcAft>
                <a:spcPts val="0"/>
              </a:spcAft>
              <a:buSzPts val="1400"/>
              <a:buNone/>
            </a:pPr>
            <a:r>
              <a:rPr lang="zh-CN"/>
              <a:t>At that point, the CFG cuts the code into separate basic blocks.</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Each block represents one uninterrupted execution segment.</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4️⃣ What do the arrows mean?</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The arrows show where execution may go next after finishing a block.</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Conditional statements create multiple outgoing arrows</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A goto creates a single forced jump</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A return ends the function and has no outgoing arrow</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Important point:</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The CFG shows all possible paths — not one actual run.</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5️⃣ How many paths does one execution take?</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Only one.</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Even though the CFG looks like a network of many paths,</a:t>
            </a:r>
            <a:endParaRPr lang="zh-CN"/>
          </a:p>
          <a:p>
            <a:pPr marL="0" lvl="0" indent="0" algn="l" rtl="0">
              <a:lnSpc>
                <a:spcPct val="100000"/>
              </a:lnSpc>
              <a:spcBef>
                <a:spcPts val="0"/>
              </a:spcBef>
              <a:spcAft>
                <a:spcPts val="0"/>
              </a:spcAft>
              <a:buSzPts val="1400"/>
              <a:buNone/>
            </a:pPr>
            <a:r>
              <a:rPr lang="zh-CN"/>
              <a:t>a single program run follows only one path from start to end.</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A good analogy is:</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“The CFG is a map.</a:t>
            </a:r>
            <a:endParaRPr lang="zh-CN"/>
          </a:p>
          <a:p>
            <a:pPr marL="0" lvl="0" indent="0" algn="l" rtl="0">
              <a:lnSpc>
                <a:spcPct val="100000"/>
              </a:lnSpc>
              <a:spcBef>
                <a:spcPts val="0"/>
              </a:spcBef>
              <a:spcAft>
                <a:spcPts val="0"/>
              </a:spcAft>
              <a:buSzPts val="1400"/>
              <a:buNone/>
            </a:pPr>
            <a:r>
              <a:rPr lang="zh-CN"/>
              <a:t>A program execution is one route on that map.”</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6️⃣ Why is CFG important for fuzzing?</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This explains a key idea in fuzzing:</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One fuzz input</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Executes one path in the CFG</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Other paths require different inputs</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So fuzzing works by:</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Generating many inputs to explore new paths in the CFG.</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Bugs often hide in paths that are rarely taken.</a:t>
            </a:r>
            <a:endParaRPr 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93" name="Shape 493"/>
        <p:cNvGrpSpPr/>
        <p:nvPr/>
      </p:nvGrpSpPr>
      <p:grpSpPr>
        <a:xfrm>
          <a:off x="0" y="0"/>
          <a:ext cx="0" cy="0"/>
          <a:chOff x="0" y="0"/>
          <a:chExt cx="0" cy="0"/>
        </a:xfrm>
      </p:grpSpPr>
      <p:sp>
        <p:nvSpPr>
          <p:cNvPr id="494" name="Google Shape;494;p26: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495" name="Google Shape;495;p26: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6" name="Google Shape;496;p26: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zh-CN"/>
              <a:t>When we compile a program with GCC using coverage flags, the compiler does not just produce a normal binary.</a:t>
            </a:r>
            <a:endParaRPr lang="zh-CN"/>
          </a:p>
          <a:p>
            <a:pPr marL="0" lvl="0" indent="0" algn="l" rtl="0">
              <a:lnSpc>
                <a:spcPct val="100000"/>
              </a:lnSpc>
              <a:spcBef>
                <a:spcPts val="0"/>
              </a:spcBef>
              <a:spcAft>
                <a:spcPts val="0"/>
              </a:spcAft>
              <a:buSzPts val="1400"/>
              <a:buNone/>
            </a:pPr>
            <a:r>
              <a:rPr lang="zh-CN"/>
              <a:t>It instruments the code by inserting counters at important locations, such as basic blocks and branches.</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During compilation, GCC generates a file called .gcno.</a:t>
            </a:r>
            <a:endParaRPr lang="zh-CN"/>
          </a:p>
          <a:p>
            <a:pPr marL="0" lvl="0" indent="0" algn="l" rtl="0">
              <a:lnSpc>
                <a:spcPct val="100000"/>
              </a:lnSpc>
              <a:spcBef>
                <a:spcPts val="0"/>
              </a:spcBef>
              <a:spcAft>
                <a:spcPts val="0"/>
              </a:spcAft>
              <a:buSzPts val="1400"/>
              <a:buNone/>
            </a:pPr>
            <a:r>
              <a:rPr lang="zh-CN"/>
              <a:t>This file contains the static structure of the program — essentially, where the code could go.</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When we run the program, the instrumented binary produces a .gcda file.</a:t>
            </a:r>
            <a:endParaRPr lang="zh-CN"/>
          </a:p>
          <a:p>
            <a:pPr marL="0" lvl="0" indent="0" algn="l" rtl="0">
              <a:lnSpc>
                <a:spcPct val="100000"/>
              </a:lnSpc>
              <a:spcBef>
                <a:spcPts val="0"/>
              </a:spcBef>
              <a:spcAft>
                <a:spcPts val="0"/>
              </a:spcAft>
              <a:buSzPts val="1400"/>
              <a:buNone/>
            </a:pPr>
            <a:r>
              <a:rPr lang="zh-CN"/>
              <a:t>This file records what actually happened at runtime — which lines or blocks were executed, and how many times.</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Finally, the gcov tool combines the static structure (.gcno) with the runtime data (.gcda) and turns it into coverage information that other tools can visualize.</a:t>
            </a:r>
            <a:br>
              <a:rPr lang="zh-CN"/>
            </a:br>
            <a:br>
              <a:rPr lang="zh-CN"/>
            </a:br>
            <a:br>
              <a:rPr lang="zh-CN"/>
            </a:br>
            <a:r>
              <a:rPr lang="zh-CN"/>
              <a:t>This LCOV report shows which lines of code were executed during the test run.</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Each line in the source code is annotated with a number:</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A positive number means the line was executed that many times</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A zero means the line was never executed</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Colors make this very intuitive:</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Blue or green lines were covered</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Red lines were never reached</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At the top, LCOV summarizes coverage using percentages:</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Line coverage: how many lines were executed</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Function coverage: how many functions were entered</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In this example, one branch of the if–else statement was never taken, which means the program logic is only partially tested.</a:t>
            </a:r>
            <a:endParaRPr 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5" name="Shape 505"/>
        <p:cNvGrpSpPr/>
        <p:nvPr/>
      </p:nvGrpSpPr>
      <p:grpSpPr>
        <a:xfrm>
          <a:off x="0" y="0"/>
          <a:ext cx="0" cy="0"/>
          <a:chOff x="0" y="0"/>
          <a:chExt cx="0" cy="0"/>
        </a:xfrm>
      </p:grpSpPr>
      <p:sp>
        <p:nvSpPr>
          <p:cNvPr id="506" name="Google Shape;506;p27: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507" name="Google Shape;507;p27: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8" name="Google Shape;508;p27: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zh-CN"/>
              <a:t>.</a:t>
            </a:r>
            <a:endParaRPr lang="zh-CN"/>
          </a:p>
          <a:p>
            <a:pPr marL="0" lvl="0" indent="0" algn="l" rtl="0">
              <a:lnSpc>
                <a:spcPct val="100000"/>
              </a:lnSpc>
              <a:spcBef>
                <a:spcPts val="0"/>
              </a:spcBef>
              <a:spcAft>
                <a:spcPts val="0"/>
              </a:spcAft>
              <a:buSzPts val="1400"/>
              <a:buNone/>
            </a:pPr>
            <a:r>
              <a:rPr lang="zh-CN"/>
              <a:t>Fuzzing starts from seeds.</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A seed is simply an input to the program. It can be a file like JSON or XML, a string, a number, or sometimes even a binary blob that is not human-readable.</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The quality of these seeds matters a lot, because they determine which execution paths we can reach initially.</a:t>
            </a:r>
            <a:endParaRPr 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4" name="Shape 514"/>
        <p:cNvGrpSpPr/>
        <p:nvPr/>
      </p:nvGrpSpPr>
      <p:grpSpPr>
        <a:xfrm>
          <a:off x="0" y="0"/>
          <a:ext cx="0" cy="0"/>
          <a:chOff x="0" y="0"/>
          <a:chExt cx="0" cy="0"/>
        </a:xfrm>
      </p:grpSpPr>
      <p:sp>
        <p:nvSpPr>
          <p:cNvPr id="515" name="Google Shape;515;p28: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516" name="Google Shape;516;p28: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7" name="Google Shape;517;p28: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zh-CN"/>
              <a:t>.</a:t>
            </a:r>
            <a:endParaRPr lang="zh-CN"/>
          </a:p>
          <a:p>
            <a:pPr marL="0" lvl="0" indent="0" algn="l" rtl="0">
              <a:lnSpc>
                <a:spcPct val="100000"/>
              </a:lnSpc>
              <a:spcBef>
                <a:spcPts val="0"/>
              </a:spcBef>
              <a:spcAft>
                <a:spcPts val="0"/>
              </a:spcAft>
              <a:buSzPts val="1400"/>
              <a:buNone/>
            </a:pPr>
            <a:r>
              <a:rPr lang="zh-CN"/>
              <a:t>After we have seeds, fuzzing relies on mutation strategies.</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Traditional fuzzers mutate inputs at the byte level, such as flipping bits or bytes.</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More advanced fuzzers use token-level or structure-level mutations, and grammar-based fuzzers ensure syntactic validity.</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Recently, there is increasing interest in semantic mutation, where we try to change the meaning of the input rather than just its bytes.</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This is where LLMs become particularly useful.</a:t>
            </a:r>
            <a:endParaRPr 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5" name="Shape 525"/>
        <p:cNvGrpSpPr/>
        <p:nvPr/>
      </p:nvGrpSpPr>
      <p:grpSpPr>
        <a:xfrm>
          <a:off x="0" y="0"/>
          <a:ext cx="0" cy="0"/>
          <a:chOff x="0" y="0"/>
          <a:chExt cx="0" cy="0"/>
        </a:xfrm>
      </p:grpSpPr>
      <p:sp>
        <p:nvSpPr>
          <p:cNvPr id="526" name="Google Shape;526;p29: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527" name="Google Shape;527;p29: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8" name="Google Shape;528;p29: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zh-CN"/>
              <a:t>Figure Description: LLM-Driven Autoprompting and Fuzzing Pipeline</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This figure presents an end-to-end framework that combines LLM-based autoprompting with a semantic fuzzing loop to test complex software systems, such as compilers, interpreters, and formal verification tools.</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At the top of the pipeline, the framework takes heterogeneous user-provided knowledge as input, including documentation (for example, API descriptions of std::expected), example code snippets, and formal specifications. Together, these sources define the semantic scope of the target functionality and serve as the foundation for constructing effective prompts.</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The left side of the figure illustrates the autoprompting via distillation process. In this stage, the system samples multiple candidate prompts derived from the available documentation, examples, and specifications. A generation LLM then uses these prompts to produce multiple candidate code snippets, such as small C++ programs exercising the target feature. These generated snippets are evaluated according to criteria such as correctness, diversity, or downstream performance. Based on this evaluation, the system selects the best-performing prompt, effectively distilling a refined input prompt that captures the intended semantics of the target functionality.</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The right side of the figure shows a semantic fuzzing loop guided by an LLM and feedback from the system under test (SUT). The refined prompt is fed into a generation LLM, which produces fuzzing inputs in the form of code snippets. A subset of these generated snippets is selected and executed against the SUT, which may include SMT solvers (e.g., Z3 or CVC5), compilers (e.g., GCC), or language runtimes and analysis tools. During execution, results such as failures, crashes, or coverage information are collected and used as feedback. This feedback is then used to update the input prompt, and the process iterates.</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Within the fuzzing loop, the framework supports multiple generation strategies. These include generating entirely new programs, mutating existing generated code, and applying semantic-equivalent transformations that produce syntactically different but semantically equivalent inputs. By operating at the semantic level rather than relying solely on low-level syntax mutations, these strategies enable more effective exploration of the input space.</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Overall, the figure highlights a closed-loop, LLM-assisted testing framework that automatically distills high-quality prompts from raw knowledge sources, leverages semantic code generation to drive fuzzing, and continuously improves input quality through execution feedback. This design enables semantics-aware fuzzing that goes beyond random mutations and is particularly well suited for testing complex, specification-heavy systems.</a:t>
            </a:r>
            <a:endParaRPr 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34" name="Shape 534"/>
        <p:cNvGrpSpPr/>
        <p:nvPr/>
      </p:nvGrpSpPr>
      <p:grpSpPr>
        <a:xfrm>
          <a:off x="0" y="0"/>
          <a:ext cx="0" cy="0"/>
          <a:chOff x="0" y="0"/>
          <a:chExt cx="0" cy="0"/>
        </a:xfrm>
      </p:grpSpPr>
      <p:sp>
        <p:nvSpPr>
          <p:cNvPr id="535" name="Google Shape;535;p30: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536" name="Google Shape;536;p30: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7" name="Google Shape;537;p30: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zh-CN"/>
              <a:t>.</a:t>
            </a:r>
            <a:endParaRPr lang="zh-CN"/>
          </a:p>
          <a:p>
            <a:pPr marL="0" lvl="0" indent="0" algn="l" rtl="0">
              <a:lnSpc>
                <a:spcPct val="100000"/>
              </a:lnSpc>
              <a:spcBef>
                <a:spcPts val="0"/>
              </a:spcBef>
              <a:spcAft>
                <a:spcPts val="0"/>
              </a:spcAft>
              <a:buSzPts val="1400"/>
              <a:buNone/>
            </a:pPr>
            <a:r>
              <a:rPr lang="zh-CN"/>
              <a:t>To evaluate these ideas, we conducted experiments on OSS-Fuzz, which is Google’s large-scale continuous fuzzing infrastructure for open-source software.</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We compare the traditional OSS-Fuzz setup with OSS-Fuzz-Gen, which uses LLM-generated fuzzing harnesses and inputs.</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This allows us to measure whether LLM assistance can actually improve coverage on real-world projects.</a:t>
            </a:r>
            <a:endParaRPr 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45" name="Shape 545"/>
        <p:cNvGrpSpPr/>
        <p:nvPr/>
      </p:nvGrpSpPr>
      <p:grpSpPr>
        <a:xfrm>
          <a:off x="0" y="0"/>
          <a:ext cx="0" cy="0"/>
          <a:chOff x="0" y="0"/>
          <a:chExt cx="0" cy="0"/>
        </a:xfrm>
      </p:grpSpPr>
      <p:sp>
        <p:nvSpPr>
          <p:cNvPr id="546" name="Google Shape;546;p4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547" name="Google Shape;547;p40: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3" name="Shape 553"/>
        <p:cNvGrpSpPr/>
        <p:nvPr/>
      </p:nvGrpSpPr>
      <p:grpSpPr>
        <a:xfrm>
          <a:off x="0" y="0"/>
          <a:ext cx="0" cy="0"/>
          <a:chOff x="0" y="0"/>
          <a:chExt cx="0" cy="0"/>
        </a:xfrm>
      </p:grpSpPr>
      <p:sp>
        <p:nvSpPr>
          <p:cNvPr id="554" name="Google Shape;554;g3d47a4565b8_28_3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555" name="Google Shape;555;g3d47a4565b8_28_31: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1" name="Shape 561"/>
        <p:cNvGrpSpPr/>
        <p:nvPr/>
      </p:nvGrpSpPr>
      <p:grpSpPr>
        <a:xfrm>
          <a:off x="0" y="0"/>
          <a:ext cx="0" cy="0"/>
          <a:chOff x="0" y="0"/>
          <a:chExt cx="0" cy="0"/>
        </a:xfrm>
      </p:grpSpPr>
      <p:sp>
        <p:nvSpPr>
          <p:cNvPr id="562" name="Google Shape;562;p41: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3" name="Google Shape;563;p41: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zh-CN"/>
              <a:t>To conclude, fuzzing is fundamentally about exploring program behaviors, and dynamic execution is essential for that.</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Large language models provide a new way to guide this exploration by generating and mutating inputs at the semantic level.</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Our experiments show that this approach can lead to meaningful coverage improvements on real-world codebases.</a:t>
            </a:r>
            <a:endParaRPr lang="zh-CN"/>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zh-CN"/>
              <a:t>Thank you for your attention. I’m happy to take any questions.</a:t>
            </a:r>
            <a:endParaRPr lang="zh-CN"/>
          </a:p>
        </p:txBody>
      </p:sp>
      <p:sp>
        <p:nvSpPr>
          <p:cNvPr id="564" name="Google Shape;564;p41: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panose="020B0604020202090204"/>
              <a:buNone/>
            </a:pPr>
            <a:fld id="{00000000-1234-1234-1234-123412341234}" type="slidenum">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fld>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0" matchingName="Title Slide">
  <p:cSld name="TITLE">
    <p:spTree>
      <p:nvGrpSpPr>
        <p:cNvPr id="12" name="Shape 12"/>
        <p:cNvGrpSpPr/>
        <p:nvPr/>
      </p:nvGrpSpPr>
      <p:grpSpPr>
        <a:xfrm>
          <a:off x="0" y="0"/>
          <a:ext cx="0" cy="0"/>
          <a:chOff x="0" y="0"/>
          <a:chExt cx="0" cy="0"/>
        </a:xfrm>
      </p:grpSpPr>
      <p:pic>
        <p:nvPicPr>
          <p:cNvPr id="13" name="Google Shape;13;p43" descr="greyWatermark-20.png"/>
          <p:cNvPicPr preferRelativeResize="0"/>
          <p:nvPr/>
        </p:nvPicPr>
        <p:blipFill rotWithShape="1">
          <a:blip r:embed="rId2"/>
          <a:srcRect/>
          <a:stretch>
            <a:fillRect/>
          </a:stretch>
        </p:blipFill>
        <p:spPr>
          <a:xfrm>
            <a:off x="5961819" y="2027477"/>
            <a:ext cx="3182181" cy="3116024"/>
          </a:xfrm>
          <a:prstGeom prst="rect">
            <a:avLst/>
          </a:prstGeom>
          <a:noFill/>
          <a:ln>
            <a:noFill/>
          </a:ln>
        </p:spPr>
      </p:pic>
      <p:sp>
        <p:nvSpPr>
          <p:cNvPr id="14" name="Google Shape;14;p43"/>
          <p:cNvSpPr txBox="1"/>
          <p:nvPr>
            <p:ph type="ctrTitle"/>
          </p:nvPr>
        </p:nvSpPr>
        <p:spPr>
          <a:xfrm>
            <a:off x="457200" y="1903444"/>
            <a:ext cx="6858000" cy="1143001"/>
          </a:xfrm>
          <a:prstGeom prst="rect">
            <a:avLst/>
          </a:prstGeom>
          <a:noFill/>
          <a:ln>
            <a:noFill/>
          </a:ln>
        </p:spPr>
        <p:txBody>
          <a:bodyPr spcFirstLastPara="1" wrap="square" lIns="68575" tIns="34275" rIns="68575" bIns="34275" anchor="b" anchorCtr="0">
            <a:noAutofit/>
          </a:bodyPr>
          <a:lstStyle>
            <a:lvl1pPr lvl="0" algn="l">
              <a:lnSpc>
                <a:spcPct val="100000"/>
              </a:lnSpc>
              <a:spcBef>
                <a:spcPts val="0"/>
              </a:spcBef>
              <a:spcAft>
                <a:spcPts val="0"/>
              </a:spcAft>
              <a:buClr>
                <a:srgbClr val="262626"/>
              </a:buClr>
              <a:buSzPts val="3000"/>
              <a:buFont typeface="Verdana" panose="020B0804030504040204"/>
              <a:buNone/>
              <a:defRPr sz="3000" b="1"/>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 name="Google Shape;15;p43"/>
          <p:cNvSpPr txBox="1"/>
          <p:nvPr>
            <p:ph type="subTitle" idx="1"/>
          </p:nvPr>
        </p:nvSpPr>
        <p:spPr>
          <a:xfrm>
            <a:off x="457200" y="3220180"/>
            <a:ext cx="6858000" cy="742950"/>
          </a:xfrm>
          <a:prstGeom prst="rect">
            <a:avLst/>
          </a:prstGeom>
          <a:noFill/>
          <a:ln>
            <a:noFill/>
          </a:ln>
        </p:spPr>
        <p:txBody>
          <a:bodyPr spcFirstLastPara="1" wrap="square" lIns="68575" tIns="34275" rIns="68575" bIns="34275" anchor="t" anchorCtr="0">
            <a:normAutofit/>
          </a:bodyPr>
          <a:lstStyle>
            <a:lvl1pPr lvl="0" algn="l">
              <a:lnSpc>
                <a:spcPct val="95000"/>
              </a:lnSpc>
              <a:spcBef>
                <a:spcPts val="900"/>
              </a:spcBef>
              <a:spcAft>
                <a:spcPts val="0"/>
              </a:spcAft>
              <a:buSzPts val="2100"/>
              <a:buNone/>
              <a:defRPr sz="2100">
                <a:solidFill>
                  <a:schemeClr val="dk2"/>
                </a:solidFill>
              </a:defRPr>
            </a:lvl1pPr>
            <a:lvl2pPr lvl="1" algn="ctr">
              <a:lnSpc>
                <a:spcPct val="95000"/>
              </a:lnSpc>
              <a:spcBef>
                <a:spcPts val="500"/>
              </a:spcBef>
              <a:spcAft>
                <a:spcPts val="0"/>
              </a:spcAft>
              <a:buSzPts val="1500"/>
              <a:buNone/>
              <a:defRPr>
                <a:solidFill>
                  <a:srgbClr val="888888"/>
                </a:solidFill>
              </a:defRPr>
            </a:lvl2pPr>
            <a:lvl3pPr lvl="2" algn="ctr">
              <a:lnSpc>
                <a:spcPct val="95000"/>
              </a:lnSpc>
              <a:spcBef>
                <a:spcPts val="500"/>
              </a:spcBef>
              <a:spcAft>
                <a:spcPts val="0"/>
              </a:spcAft>
              <a:buSzPts val="1400"/>
              <a:buNone/>
              <a:defRPr>
                <a:solidFill>
                  <a:srgbClr val="888888"/>
                </a:solidFill>
              </a:defRPr>
            </a:lvl3pPr>
            <a:lvl4pPr lvl="3" algn="ctr">
              <a:lnSpc>
                <a:spcPct val="95000"/>
              </a:lnSpc>
              <a:spcBef>
                <a:spcPts val="500"/>
              </a:spcBef>
              <a:spcAft>
                <a:spcPts val="0"/>
              </a:spcAft>
              <a:buSzPts val="1200"/>
              <a:buNone/>
              <a:defRPr>
                <a:solidFill>
                  <a:srgbClr val="888888"/>
                </a:solidFill>
              </a:defRPr>
            </a:lvl4pPr>
            <a:lvl5pPr lvl="4" algn="ctr">
              <a:lnSpc>
                <a:spcPct val="95000"/>
              </a:lnSpc>
              <a:spcBef>
                <a:spcPts val="500"/>
              </a:spcBef>
              <a:spcAft>
                <a:spcPts val="0"/>
              </a:spcAft>
              <a:buSzPts val="1200"/>
              <a:buNone/>
              <a:defRPr>
                <a:solidFill>
                  <a:srgbClr val="888888"/>
                </a:solidFill>
              </a:defRPr>
            </a:lvl5pPr>
            <a:lvl6pPr lvl="5" algn="ctr">
              <a:lnSpc>
                <a:spcPct val="100000"/>
              </a:lnSpc>
              <a:spcBef>
                <a:spcPts val="200"/>
              </a:spcBef>
              <a:spcAft>
                <a:spcPts val="0"/>
              </a:spcAft>
              <a:buSzPts val="1200"/>
              <a:buNone/>
              <a:defRPr>
                <a:solidFill>
                  <a:srgbClr val="888888"/>
                </a:solidFill>
              </a:defRPr>
            </a:lvl6pPr>
            <a:lvl7pPr lvl="6" algn="ctr">
              <a:lnSpc>
                <a:spcPct val="100000"/>
              </a:lnSpc>
              <a:spcBef>
                <a:spcPts val="200"/>
              </a:spcBef>
              <a:spcAft>
                <a:spcPts val="0"/>
              </a:spcAft>
              <a:buSzPts val="1200"/>
              <a:buNone/>
              <a:defRPr>
                <a:solidFill>
                  <a:srgbClr val="888888"/>
                </a:solidFill>
              </a:defRPr>
            </a:lvl7pPr>
            <a:lvl8pPr lvl="7" algn="ctr">
              <a:lnSpc>
                <a:spcPct val="100000"/>
              </a:lnSpc>
              <a:spcBef>
                <a:spcPts val="200"/>
              </a:spcBef>
              <a:spcAft>
                <a:spcPts val="0"/>
              </a:spcAft>
              <a:buSzPts val="1200"/>
              <a:buNone/>
              <a:defRPr>
                <a:solidFill>
                  <a:srgbClr val="888888"/>
                </a:solidFill>
              </a:defRPr>
            </a:lvl8pPr>
            <a:lvl9pPr lvl="8" algn="ctr">
              <a:lnSpc>
                <a:spcPct val="100000"/>
              </a:lnSpc>
              <a:spcBef>
                <a:spcPts val="200"/>
              </a:spcBef>
              <a:spcAft>
                <a:spcPts val="0"/>
              </a:spcAft>
              <a:buSzPts val="1200"/>
              <a:buNone/>
              <a:defRPr>
                <a:solidFill>
                  <a:srgbClr val="888888"/>
                </a:solidFill>
              </a:defRPr>
            </a:lvl9pPr>
          </a:lstStyle>
          <a:p/>
        </p:txBody>
      </p:sp>
      <p:pic>
        <p:nvPicPr>
          <p:cNvPr id="16" name="Google Shape;16;p43"/>
          <p:cNvPicPr preferRelativeResize="0"/>
          <p:nvPr/>
        </p:nvPicPr>
        <p:blipFill rotWithShape="1">
          <a:blip r:embed="rId3"/>
          <a:srcRect/>
          <a:stretch>
            <a:fillRect/>
          </a:stretch>
        </p:blipFill>
        <p:spPr>
          <a:xfrm>
            <a:off x="533400" y="742951"/>
            <a:ext cx="2537579" cy="82265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1_Title and Content">
  <p:cSld name="OBJECT">
    <p:spTree>
      <p:nvGrpSpPr>
        <p:cNvPr id="17" name="Shape 17"/>
        <p:cNvGrpSpPr/>
        <p:nvPr/>
      </p:nvGrpSpPr>
      <p:grpSpPr>
        <a:xfrm>
          <a:off x="0" y="0"/>
          <a:ext cx="0" cy="0"/>
          <a:chOff x="0" y="0"/>
          <a:chExt cx="0" cy="0"/>
        </a:xfrm>
      </p:grpSpPr>
      <p:sp>
        <p:nvSpPr>
          <p:cNvPr id="18" name="Google Shape;18;p44"/>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lvl1pPr lvl="0" algn="l">
              <a:lnSpc>
                <a:spcPct val="100000"/>
              </a:lnSpc>
              <a:spcBef>
                <a:spcPts val="0"/>
              </a:spcBef>
              <a:spcAft>
                <a:spcPts val="0"/>
              </a:spcAft>
              <a:buClr>
                <a:srgbClr val="262626"/>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 name="Google Shape;19;p44"/>
          <p:cNvSpPr txBox="1"/>
          <p:nvPr>
            <p:ph type="body" idx="1"/>
          </p:nvPr>
        </p:nvSpPr>
        <p:spPr>
          <a:xfrm>
            <a:off x="457200" y="1143000"/>
            <a:ext cx="8229600" cy="3486150"/>
          </a:xfrm>
          <a:prstGeom prst="rect">
            <a:avLst/>
          </a:prstGeom>
          <a:noFill/>
          <a:ln>
            <a:noFill/>
          </a:ln>
        </p:spPr>
        <p:txBody>
          <a:bodyPr spcFirstLastPara="1" wrap="square" lIns="68575" tIns="34275" rIns="68575" bIns="34275" anchor="t" anchorCtr="0">
            <a:normAutofit/>
          </a:bodyPr>
          <a:lstStyle>
            <a:lvl1pPr marL="457200" lvl="0" indent="-317500" algn="l">
              <a:lnSpc>
                <a:spcPct val="95000"/>
              </a:lnSpc>
              <a:spcBef>
                <a:spcPts val="900"/>
              </a:spcBef>
              <a:spcAft>
                <a:spcPts val="0"/>
              </a:spcAft>
              <a:buSzPts val="1400"/>
              <a:buChar char="•"/>
              <a:defRPr/>
            </a:lvl1pPr>
            <a:lvl2pPr marL="914400" lvl="1" indent="-317500" algn="l">
              <a:lnSpc>
                <a:spcPct val="95000"/>
              </a:lnSpc>
              <a:spcBef>
                <a:spcPts val="500"/>
              </a:spcBef>
              <a:spcAft>
                <a:spcPts val="0"/>
              </a:spcAft>
              <a:buSzPts val="1400"/>
              <a:buChar char="─"/>
              <a:defRPr/>
            </a:lvl2pPr>
            <a:lvl3pPr marL="1371600" lvl="2" indent="-317500" algn="l">
              <a:lnSpc>
                <a:spcPct val="95000"/>
              </a:lnSpc>
              <a:spcBef>
                <a:spcPts val="500"/>
              </a:spcBef>
              <a:spcAft>
                <a:spcPts val="0"/>
              </a:spcAft>
              <a:buSzPts val="1400"/>
              <a:buChar char="▪"/>
              <a:defRPr/>
            </a:lvl3pPr>
            <a:lvl4pPr marL="1828800" lvl="3" indent="-317500" algn="l">
              <a:lnSpc>
                <a:spcPct val="95000"/>
              </a:lnSpc>
              <a:spcBef>
                <a:spcPts val="500"/>
              </a:spcBef>
              <a:spcAft>
                <a:spcPts val="0"/>
              </a:spcAft>
              <a:buSzPts val="1400"/>
              <a:buChar char="o"/>
              <a:defRPr/>
            </a:lvl4pPr>
            <a:lvl5pPr marL="2286000" lvl="4" indent="-317500" algn="l">
              <a:lnSpc>
                <a:spcPct val="95000"/>
              </a:lnSpc>
              <a:spcBef>
                <a:spcPts val="5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p:txBody>
      </p:sp>
      <p:sp>
        <p:nvSpPr>
          <p:cNvPr id="20" name="Google Shape;20;p44"/>
          <p:cNvSpPr txBox="1"/>
          <p:nvPr>
            <p:ph type="ftr" idx="11"/>
          </p:nvPr>
        </p:nvSpPr>
        <p:spPr>
          <a:xfrm>
            <a:off x="457200" y="4800600"/>
            <a:ext cx="5105400" cy="228600"/>
          </a:xfrm>
          <a:prstGeom prst="rect">
            <a:avLst/>
          </a:prstGeom>
          <a:noFill/>
          <a:ln>
            <a:noFill/>
          </a:ln>
        </p:spPr>
        <p:txBody>
          <a:bodyPr spcFirstLastPara="1" wrap="square" lIns="68575" tIns="34275" rIns="68575" bIns="34275" anchor="t"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1" name="Google Shape;21;p44"/>
          <p:cNvSpPr txBox="1"/>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lvl1pPr marL="0" marR="0" lvl="0"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1pPr>
            <a:lvl2pPr marL="0" marR="0" lvl="1"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2pPr>
            <a:lvl3pPr marL="0" marR="0" lvl="2"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3pPr>
            <a:lvl4pPr marL="0" marR="0" lvl="3"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4pPr>
            <a:lvl5pPr marL="0" marR="0" lvl="4"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5pPr>
            <a:lvl6pPr marL="0" marR="0" lvl="5"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6pPr>
            <a:lvl7pPr marL="0" marR="0" lvl="6"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7pPr>
            <a:lvl8pPr marL="0" marR="0" lvl="7"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8pPr>
            <a:lvl9pPr marL="0" marR="0" lvl="8"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9pPr>
          </a:lstStyle>
          <a:p>
            <a:pPr marL="0" lvl="0" indent="0" algn="l"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2">
  <p:cSld name="Title2">
    <p:bg>
      <p:bgPr>
        <a:solidFill>
          <a:srgbClr val="AB192D"/>
        </a:solidFill>
        <a:effectLst/>
      </p:bgPr>
    </p:bg>
    <p:spTree>
      <p:nvGrpSpPr>
        <p:cNvPr id="22" name="Shape 22"/>
        <p:cNvGrpSpPr/>
        <p:nvPr/>
      </p:nvGrpSpPr>
      <p:grpSpPr>
        <a:xfrm>
          <a:off x="0" y="0"/>
          <a:ext cx="0" cy="0"/>
          <a:chOff x="0" y="0"/>
          <a:chExt cx="0" cy="0"/>
        </a:xfrm>
      </p:grpSpPr>
      <p:pic>
        <p:nvPicPr>
          <p:cNvPr id="23" name="Google Shape;23;p45"/>
          <p:cNvPicPr preferRelativeResize="0"/>
          <p:nvPr/>
        </p:nvPicPr>
        <p:blipFill rotWithShape="1">
          <a:blip r:embed="rId2"/>
          <a:srcRect/>
          <a:stretch>
            <a:fillRect/>
          </a:stretch>
        </p:blipFill>
        <p:spPr>
          <a:xfrm>
            <a:off x="533400" y="742951"/>
            <a:ext cx="2537578" cy="828985"/>
          </a:xfrm>
          <a:prstGeom prst="rect">
            <a:avLst/>
          </a:prstGeom>
          <a:noFill/>
          <a:ln>
            <a:noFill/>
          </a:ln>
        </p:spPr>
      </p:pic>
      <p:pic>
        <p:nvPicPr>
          <p:cNvPr id="24" name="Google Shape;24;p45"/>
          <p:cNvPicPr preferRelativeResize="0"/>
          <p:nvPr/>
        </p:nvPicPr>
        <p:blipFill rotWithShape="1">
          <a:blip r:embed="rId3"/>
          <a:srcRect/>
          <a:stretch>
            <a:fillRect/>
          </a:stretch>
        </p:blipFill>
        <p:spPr>
          <a:xfrm>
            <a:off x="5948387" y="2020490"/>
            <a:ext cx="3195613" cy="3129177"/>
          </a:xfrm>
          <a:prstGeom prst="rect">
            <a:avLst/>
          </a:prstGeom>
          <a:noFill/>
          <a:ln>
            <a:noFill/>
          </a:ln>
        </p:spPr>
      </p:pic>
      <p:sp>
        <p:nvSpPr>
          <p:cNvPr id="25" name="Google Shape;25;p45"/>
          <p:cNvSpPr txBox="1"/>
          <p:nvPr>
            <p:ph type="ctrTitle"/>
          </p:nvPr>
        </p:nvSpPr>
        <p:spPr>
          <a:xfrm>
            <a:off x="457200" y="1903444"/>
            <a:ext cx="6858000" cy="1143001"/>
          </a:xfrm>
          <a:prstGeom prst="rect">
            <a:avLst/>
          </a:prstGeom>
          <a:noFill/>
          <a:ln>
            <a:noFill/>
          </a:ln>
        </p:spPr>
        <p:txBody>
          <a:bodyPr spcFirstLastPara="1" wrap="square" lIns="68575" tIns="34275" rIns="68575" bIns="34275" anchor="b" anchorCtr="0">
            <a:noAutofit/>
          </a:bodyPr>
          <a:lstStyle>
            <a:lvl1pPr lvl="0" algn="l">
              <a:lnSpc>
                <a:spcPct val="100000"/>
              </a:lnSpc>
              <a:spcBef>
                <a:spcPts val="0"/>
              </a:spcBef>
              <a:spcAft>
                <a:spcPts val="0"/>
              </a:spcAft>
              <a:buClr>
                <a:schemeClr val="lt1"/>
              </a:buClr>
              <a:buSzPts val="3000"/>
              <a:buFont typeface="Verdana" panose="020B0804030504040204"/>
              <a:buNone/>
              <a:defRPr sz="3000" b="1">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 name="Google Shape;26;p45"/>
          <p:cNvSpPr txBox="1"/>
          <p:nvPr>
            <p:ph type="subTitle" idx="1"/>
          </p:nvPr>
        </p:nvSpPr>
        <p:spPr>
          <a:xfrm>
            <a:off x="457200" y="3220180"/>
            <a:ext cx="6858000" cy="742950"/>
          </a:xfrm>
          <a:prstGeom prst="rect">
            <a:avLst/>
          </a:prstGeom>
          <a:noFill/>
          <a:ln>
            <a:noFill/>
          </a:ln>
        </p:spPr>
        <p:txBody>
          <a:bodyPr spcFirstLastPara="1" wrap="square" lIns="68575" tIns="34275" rIns="68575" bIns="34275" anchor="t" anchorCtr="0">
            <a:normAutofit/>
          </a:bodyPr>
          <a:lstStyle>
            <a:lvl1pPr lvl="0" algn="l">
              <a:lnSpc>
                <a:spcPct val="95000"/>
              </a:lnSpc>
              <a:spcBef>
                <a:spcPts val="900"/>
              </a:spcBef>
              <a:spcAft>
                <a:spcPts val="0"/>
              </a:spcAft>
              <a:buSzPts val="2100"/>
              <a:buNone/>
              <a:defRPr sz="2100">
                <a:solidFill>
                  <a:schemeClr val="lt1"/>
                </a:solidFill>
              </a:defRPr>
            </a:lvl1pPr>
            <a:lvl2pPr lvl="1" algn="ctr">
              <a:lnSpc>
                <a:spcPct val="95000"/>
              </a:lnSpc>
              <a:spcBef>
                <a:spcPts val="500"/>
              </a:spcBef>
              <a:spcAft>
                <a:spcPts val="0"/>
              </a:spcAft>
              <a:buSzPts val="1500"/>
              <a:buNone/>
              <a:defRPr>
                <a:solidFill>
                  <a:srgbClr val="888888"/>
                </a:solidFill>
              </a:defRPr>
            </a:lvl2pPr>
            <a:lvl3pPr lvl="2" algn="ctr">
              <a:lnSpc>
                <a:spcPct val="95000"/>
              </a:lnSpc>
              <a:spcBef>
                <a:spcPts val="500"/>
              </a:spcBef>
              <a:spcAft>
                <a:spcPts val="0"/>
              </a:spcAft>
              <a:buSzPts val="1400"/>
              <a:buNone/>
              <a:defRPr>
                <a:solidFill>
                  <a:srgbClr val="888888"/>
                </a:solidFill>
              </a:defRPr>
            </a:lvl3pPr>
            <a:lvl4pPr lvl="3" algn="ctr">
              <a:lnSpc>
                <a:spcPct val="95000"/>
              </a:lnSpc>
              <a:spcBef>
                <a:spcPts val="500"/>
              </a:spcBef>
              <a:spcAft>
                <a:spcPts val="0"/>
              </a:spcAft>
              <a:buSzPts val="1200"/>
              <a:buNone/>
              <a:defRPr>
                <a:solidFill>
                  <a:srgbClr val="888888"/>
                </a:solidFill>
              </a:defRPr>
            </a:lvl4pPr>
            <a:lvl5pPr lvl="4" algn="ctr">
              <a:lnSpc>
                <a:spcPct val="95000"/>
              </a:lnSpc>
              <a:spcBef>
                <a:spcPts val="500"/>
              </a:spcBef>
              <a:spcAft>
                <a:spcPts val="0"/>
              </a:spcAft>
              <a:buSzPts val="1200"/>
              <a:buNone/>
              <a:defRPr>
                <a:solidFill>
                  <a:srgbClr val="888888"/>
                </a:solidFill>
              </a:defRPr>
            </a:lvl5pPr>
            <a:lvl6pPr lvl="5" algn="ctr">
              <a:lnSpc>
                <a:spcPct val="100000"/>
              </a:lnSpc>
              <a:spcBef>
                <a:spcPts val="200"/>
              </a:spcBef>
              <a:spcAft>
                <a:spcPts val="0"/>
              </a:spcAft>
              <a:buSzPts val="1200"/>
              <a:buNone/>
              <a:defRPr>
                <a:solidFill>
                  <a:srgbClr val="888888"/>
                </a:solidFill>
              </a:defRPr>
            </a:lvl6pPr>
            <a:lvl7pPr lvl="6" algn="ctr">
              <a:lnSpc>
                <a:spcPct val="100000"/>
              </a:lnSpc>
              <a:spcBef>
                <a:spcPts val="200"/>
              </a:spcBef>
              <a:spcAft>
                <a:spcPts val="0"/>
              </a:spcAft>
              <a:buSzPts val="1200"/>
              <a:buNone/>
              <a:defRPr>
                <a:solidFill>
                  <a:srgbClr val="888888"/>
                </a:solidFill>
              </a:defRPr>
            </a:lvl7pPr>
            <a:lvl8pPr lvl="7" algn="ctr">
              <a:lnSpc>
                <a:spcPct val="100000"/>
              </a:lnSpc>
              <a:spcBef>
                <a:spcPts val="200"/>
              </a:spcBef>
              <a:spcAft>
                <a:spcPts val="0"/>
              </a:spcAft>
              <a:buSzPts val="1200"/>
              <a:buNone/>
              <a:defRPr>
                <a:solidFill>
                  <a:srgbClr val="888888"/>
                </a:solidFill>
              </a:defRPr>
            </a:lvl8pPr>
            <a:lvl9pPr lvl="8" algn="ctr">
              <a:lnSpc>
                <a:spcPct val="100000"/>
              </a:lnSpc>
              <a:spcBef>
                <a:spcPts val="200"/>
              </a:spcBef>
              <a:spcAft>
                <a:spcPts val="0"/>
              </a:spcAft>
              <a:buSzPts val="1200"/>
              <a:buNone/>
              <a:defRPr>
                <a:solidFill>
                  <a:srgbClr val="888888"/>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BlankRed">
  <p:cSld name="BlankRed">
    <p:bg>
      <p:bgPr>
        <a:solidFill>
          <a:schemeClr val="lt2"/>
        </a:solidFill>
        <a:effectLst/>
      </p:bgPr>
    </p:bg>
    <p:spTree>
      <p:nvGrpSpPr>
        <p:cNvPr id="27" name="Shape 27"/>
        <p:cNvGrpSpPr/>
        <p:nvPr/>
      </p:nvGrpSpPr>
      <p:grpSpPr>
        <a:xfrm>
          <a:off x="0" y="0"/>
          <a:ext cx="0" cy="0"/>
          <a:chOff x="0" y="0"/>
          <a:chExt cx="0" cy="0"/>
        </a:xfrm>
      </p:grpSpPr>
      <p:pic>
        <p:nvPicPr>
          <p:cNvPr id="28" name="Google Shape;28;p46"/>
          <p:cNvPicPr preferRelativeResize="0"/>
          <p:nvPr/>
        </p:nvPicPr>
        <p:blipFill rotWithShape="1">
          <a:blip r:embed="rId2"/>
          <a:srcRect/>
          <a:stretch>
            <a:fillRect/>
          </a:stretch>
        </p:blipFill>
        <p:spPr>
          <a:xfrm>
            <a:off x="2899598" y="800126"/>
            <a:ext cx="3344803" cy="332102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showMasterSp="0" matchingName="Section Header">
  <p:cSld name="SECTION_HEADER">
    <p:spTree>
      <p:nvGrpSpPr>
        <p:cNvPr id="29" name="Shape 29"/>
        <p:cNvGrpSpPr/>
        <p:nvPr/>
      </p:nvGrpSpPr>
      <p:grpSpPr>
        <a:xfrm>
          <a:off x="0" y="0"/>
          <a:ext cx="0" cy="0"/>
          <a:chOff x="0" y="0"/>
          <a:chExt cx="0" cy="0"/>
        </a:xfrm>
      </p:grpSpPr>
      <p:sp>
        <p:nvSpPr>
          <p:cNvPr id="30" name="Google Shape;30;p47"/>
          <p:cNvSpPr/>
          <p:nvPr/>
        </p:nvSpPr>
        <p:spPr>
          <a:xfrm>
            <a:off x="0" y="0"/>
            <a:ext cx="9144000" cy="857250"/>
          </a:xfrm>
          <a:prstGeom prst="rect">
            <a:avLst/>
          </a:prstGeom>
          <a:solidFill>
            <a:schemeClr val="lt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90204"/>
              <a:buNone/>
            </a:pPr>
            <a:endParaRPr sz="1400" b="0" i="0" u="none" strike="noStrike" cap="none">
              <a:solidFill>
                <a:schemeClr val="lt1"/>
              </a:solidFill>
              <a:latin typeface="Verdana" panose="020B0804030504040204"/>
              <a:ea typeface="Verdana" panose="020B0804030504040204"/>
              <a:cs typeface="Verdana" panose="020B0804030504040204"/>
              <a:sym typeface="Verdana" panose="020B0804030504040204"/>
            </a:endParaRPr>
          </a:p>
        </p:txBody>
      </p:sp>
      <p:sp>
        <p:nvSpPr>
          <p:cNvPr id="31" name="Google Shape;31;p47"/>
          <p:cNvSpPr txBox="1"/>
          <p:nvPr>
            <p:ph type="title"/>
          </p:nvPr>
        </p:nvSpPr>
        <p:spPr>
          <a:xfrm>
            <a:off x="469106" y="1085850"/>
            <a:ext cx="6858000" cy="1257300"/>
          </a:xfrm>
          <a:prstGeom prst="rect">
            <a:avLst/>
          </a:prstGeom>
          <a:noFill/>
          <a:ln>
            <a:noFill/>
          </a:ln>
        </p:spPr>
        <p:txBody>
          <a:bodyPr spcFirstLastPara="1" wrap="square" lIns="68575" tIns="34275" rIns="68575" bIns="34275" anchor="b" anchorCtr="0">
            <a:noAutofit/>
          </a:bodyPr>
          <a:lstStyle>
            <a:lvl1pPr lvl="0" algn="l">
              <a:lnSpc>
                <a:spcPct val="100000"/>
              </a:lnSpc>
              <a:spcBef>
                <a:spcPts val="0"/>
              </a:spcBef>
              <a:spcAft>
                <a:spcPts val="0"/>
              </a:spcAft>
              <a:buClr>
                <a:srgbClr val="262626"/>
              </a:buClr>
              <a:buSzPts val="3000"/>
              <a:buFont typeface="Verdana" panose="020B0804030504040204"/>
              <a:buNone/>
              <a:defRPr sz="3000" b="1">
                <a:solidFill>
                  <a:srgbClr val="262626"/>
                </a:solidFill>
                <a:latin typeface="Verdana" panose="020B0804030504040204"/>
                <a:ea typeface="Verdana" panose="020B0804030504040204"/>
                <a:cs typeface="Verdana" panose="020B0804030504040204"/>
                <a:sym typeface="Verdana" panose="020B0804030504040204"/>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 name="Google Shape;32;p47"/>
          <p:cNvSpPr txBox="1"/>
          <p:nvPr>
            <p:ph type="body" idx="1"/>
          </p:nvPr>
        </p:nvSpPr>
        <p:spPr>
          <a:xfrm>
            <a:off x="469106" y="2343150"/>
            <a:ext cx="6858000" cy="685800"/>
          </a:xfrm>
          <a:prstGeom prst="rect">
            <a:avLst/>
          </a:prstGeom>
          <a:noFill/>
          <a:ln>
            <a:noFill/>
          </a:ln>
        </p:spPr>
        <p:txBody>
          <a:bodyPr spcFirstLastPara="1" wrap="square" lIns="68575" tIns="34275" rIns="68575" bIns="34275" anchor="t" anchorCtr="0">
            <a:normAutofit/>
          </a:bodyPr>
          <a:lstStyle>
            <a:lvl1pPr marL="457200" lvl="0" indent="-228600" algn="l">
              <a:lnSpc>
                <a:spcPct val="95000"/>
              </a:lnSpc>
              <a:spcBef>
                <a:spcPts val="900"/>
              </a:spcBef>
              <a:spcAft>
                <a:spcPts val="0"/>
              </a:spcAft>
              <a:buSzPts val="2100"/>
              <a:buNone/>
              <a:defRPr sz="2100">
                <a:solidFill>
                  <a:schemeClr val="dk2"/>
                </a:solidFill>
              </a:defRPr>
            </a:lvl1pPr>
            <a:lvl2pPr marL="914400" lvl="1" indent="-228600" algn="l">
              <a:lnSpc>
                <a:spcPct val="95000"/>
              </a:lnSpc>
              <a:spcBef>
                <a:spcPts val="500"/>
              </a:spcBef>
              <a:spcAft>
                <a:spcPts val="0"/>
              </a:spcAft>
              <a:buSzPts val="1400"/>
              <a:buNone/>
              <a:defRPr sz="1400">
                <a:solidFill>
                  <a:srgbClr val="888888"/>
                </a:solidFill>
              </a:defRPr>
            </a:lvl2pPr>
            <a:lvl3pPr marL="1371600" lvl="2" indent="-228600" algn="l">
              <a:lnSpc>
                <a:spcPct val="95000"/>
              </a:lnSpc>
              <a:spcBef>
                <a:spcPts val="500"/>
              </a:spcBef>
              <a:spcAft>
                <a:spcPts val="0"/>
              </a:spcAft>
              <a:buSzPts val="1200"/>
              <a:buNone/>
              <a:defRPr sz="1200">
                <a:solidFill>
                  <a:srgbClr val="888888"/>
                </a:solidFill>
              </a:defRPr>
            </a:lvl3pPr>
            <a:lvl4pPr marL="1828800" lvl="3" indent="-228600" algn="l">
              <a:lnSpc>
                <a:spcPct val="95000"/>
              </a:lnSpc>
              <a:spcBef>
                <a:spcPts val="500"/>
              </a:spcBef>
              <a:spcAft>
                <a:spcPts val="0"/>
              </a:spcAft>
              <a:buSzPts val="1100"/>
              <a:buNone/>
              <a:defRPr sz="1100">
                <a:solidFill>
                  <a:srgbClr val="888888"/>
                </a:solidFill>
              </a:defRPr>
            </a:lvl4pPr>
            <a:lvl5pPr marL="2286000" lvl="4" indent="-228600" algn="l">
              <a:lnSpc>
                <a:spcPct val="95000"/>
              </a:lnSpc>
              <a:spcBef>
                <a:spcPts val="500"/>
              </a:spcBef>
              <a:spcAft>
                <a:spcPts val="0"/>
              </a:spcAft>
              <a:buSzPts val="1100"/>
              <a:buNone/>
              <a:defRPr sz="1100">
                <a:solidFill>
                  <a:srgbClr val="888888"/>
                </a:solidFill>
              </a:defRPr>
            </a:lvl5pPr>
            <a:lvl6pPr marL="2743200" lvl="5" indent="-228600" algn="l">
              <a:lnSpc>
                <a:spcPct val="100000"/>
              </a:lnSpc>
              <a:spcBef>
                <a:spcPts val="200"/>
              </a:spcBef>
              <a:spcAft>
                <a:spcPts val="0"/>
              </a:spcAft>
              <a:buSzPts val="1100"/>
              <a:buNone/>
              <a:defRPr sz="1100">
                <a:solidFill>
                  <a:srgbClr val="888888"/>
                </a:solidFill>
              </a:defRPr>
            </a:lvl6pPr>
            <a:lvl7pPr marL="3200400" lvl="6" indent="-228600" algn="l">
              <a:lnSpc>
                <a:spcPct val="100000"/>
              </a:lnSpc>
              <a:spcBef>
                <a:spcPts val="200"/>
              </a:spcBef>
              <a:spcAft>
                <a:spcPts val="0"/>
              </a:spcAft>
              <a:buSzPts val="1100"/>
              <a:buNone/>
              <a:defRPr sz="1100">
                <a:solidFill>
                  <a:srgbClr val="888888"/>
                </a:solidFill>
              </a:defRPr>
            </a:lvl7pPr>
            <a:lvl8pPr marL="3657600" lvl="7" indent="-228600" algn="l">
              <a:lnSpc>
                <a:spcPct val="100000"/>
              </a:lnSpc>
              <a:spcBef>
                <a:spcPts val="200"/>
              </a:spcBef>
              <a:spcAft>
                <a:spcPts val="0"/>
              </a:spcAft>
              <a:buSzPts val="1100"/>
              <a:buNone/>
              <a:defRPr sz="1100">
                <a:solidFill>
                  <a:srgbClr val="888888"/>
                </a:solidFill>
              </a:defRPr>
            </a:lvl8pPr>
            <a:lvl9pPr marL="4114800" lvl="8" indent="-228600" algn="l">
              <a:lnSpc>
                <a:spcPct val="100000"/>
              </a:lnSpc>
              <a:spcBef>
                <a:spcPts val="200"/>
              </a:spcBef>
              <a:spcAft>
                <a:spcPts val="0"/>
              </a:spcAft>
              <a:buSzPts val="1100"/>
              <a:buNone/>
              <a:defRPr sz="1100">
                <a:solidFill>
                  <a:srgbClr val="888888"/>
                </a:solidFill>
              </a:defRPr>
            </a:lvl9pPr>
          </a:lstStyle>
          <a:p/>
        </p:txBody>
      </p:sp>
      <p:sp>
        <p:nvSpPr>
          <p:cNvPr id="33" name="Google Shape;33;p47"/>
          <p:cNvSpPr txBox="1"/>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lvl1pPr marL="0" marR="0" lvl="0"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1pPr>
            <a:lvl2pPr marL="0" marR="0" lvl="1"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2pPr>
            <a:lvl3pPr marL="0" marR="0" lvl="2"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3pPr>
            <a:lvl4pPr marL="0" marR="0" lvl="3"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4pPr>
            <a:lvl5pPr marL="0" marR="0" lvl="4"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5pPr>
            <a:lvl6pPr marL="0" marR="0" lvl="5"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6pPr>
            <a:lvl7pPr marL="0" marR="0" lvl="6"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7pPr>
            <a:lvl8pPr marL="0" marR="0" lvl="7"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8pPr>
            <a:lvl9pPr marL="0" marR="0" lvl="8"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9pPr>
          </a:lstStyle>
          <a:p>
            <a:pPr marL="0" lvl="0" indent="0" algn="l" rtl="0">
              <a:spcBef>
                <a:spcPts val="0"/>
              </a:spcBef>
              <a:spcAft>
                <a:spcPts val="0"/>
              </a:spcAft>
              <a:buNone/>
            </a:pPr>
            <a:fld id="{00000000-1234-1234-1234-123412341234}" type="slidenum">
              <a:rPr lang="zh-CN"/>
            </a:fld>
            <a:endParaRPr lang="zh-CN"/>
          </a:p>
        </p:txBody>
      </p:sp>
      <p:sp>
        <p:nvSpPr>
          <p:cNvPr id="34" name="Google Shape;34;p47"/>
          <p:cNvSpPr txBox="1"/>
          <p:nvPr>
            <p:ph type="ftr" idx="11"/>
          </p:nvPr>
        </p:nvSpPr>
        <p:spPr>
          <a:xfrm>
            <a:off x="469106" y="4800600"/>
            <a:ext cx="5105400" cy="228600"/>
          </a:xfrm>
          <a:prstGeom prst="rect">
            <a:avLst/>
          </a:prstGeom>
          <a:noFill/>
          <a:ln>
            <a:noFill/>
          </a:ln>
        </p:spPr>
        <p:txBody>
          <a:bodyPr spcFirstLastPara="1" wrap="square" lIns="68575" tIns="34275" rIns="68575" bIns="34275" anchor="t" anchorCtr="0">
            <a:noAutofit/>
          </a:bodyPr>
          <a:lstStyle>
            <a:lvl1pPr lvl="0" algn="l">
              <a:lnSpc>
                <a:spcPct val="100000"/>
              </a:lnSpc>
              <a:spcBef>
                <a:spcPts val="0"/>
              </a:spcBef>
              <a:spcAft>
                <a:spcPts val="0"/>
              </a:spcAft>
              <a:buSzPts val="1100"/>
              <a:buNone/>
              <a:defRPr sz="1200" b="0">
                <a:solidFill>
                  <a:schemeClr val="dk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pic>
        <p:nvPicPr>
          <p:cNvPr id="35" name="Google Shape;35;p47" descr="greyWatermark-20.png"/>
          <p:cNvPicPr preferRelativeResize="0"/>
          <p:nvPr/>
        </p:nvPicPr>
        <p:blipFill rotWithShape="1">
          <a:blip r:embed="rId2"/>
          <a:srcRect/>
          <a:stretch>
            <a:fillRect/>
          </a:stretch>
        </p:blipFill>
        <p:spPr>
          <a:xfrm>
            <a:off x="5961819" y="2027477"/>
            <a:ext cx="3182181" cy="3116024"/>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36" name="Shape 36"/>
        <p:cNvGrpSpPr/>
        <p:nvPr/>
      </p:nvGrpSpPr>
      <p:grpSpPr>
        <a:xfrm>
          <a:off x="0" y="0"/>
          <a:ext cx="0" cy="0"/>
          <a:chOff x="0" y="0"/>
          <a:chExt cx="0" cy="0"/>
        </a:xfrm>
      </p:grpSpPr>
      <p:sp>
        <p:nvSpPr>
          <p:cNvPr id="37" name="Google Shape;37;p48"/>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lvl1pPr lvl="0" algn="l">
              <a:lnSpc>
                <a:spcPct val="100000"/>
              </a:lnSpc>
              <a:spcBef>
                <a:spcPts val="0"/>
              </a:spcBef>
              <a:spcAft>
                <a:spcPts val="0"/>
              </a:spcAft>
              <a:buClr>
                <a:srgbClr val="262626"/>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8" name="Google Shape;38;p48"/>
          <p:cNvSpPr txBox="1"/>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lvl1pPr marL="0" marR="0" lvl="0"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1pPr>
            <a:lvl2pPr marL="0" marR="0" lvl="1"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2pPr>
            <a:lvl3pPr marL="0" marR="0" lvl="2"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3pPr>
            <a:lvl4pPr marL="0" marR="0" lvl="3"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4pPr>
            <a:lvl5pPr marL="0" marR="0" lvl="4"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5pPr>
            <a:lvl6pPr marL="0" marR="0" lvl="5"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6pPr>
            <a:lvl7pPr marL="0" marR="0" lvl="6"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7pPr>
            <a:lvl8pPr marL="0" marR="0" lvl="7"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8pPr>
            <a:lvl9pPr marL="0" marR="0" lvl="8"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9pPr>
          </a:lstStyle>
          <a:p>
            <a:pPr marL="0" lvl="0" indent="0" algn="l" rtl="0">
              <a:spcBef>
                <a:spcPts val="0"/>
              </a:spcBef>
              <a:spcAft>
                <a:spcPts val="0"/>
              </a:spcAft>
              <a:buNone/>
            </a:pPr>
            <a:fld id="{00000000-1234-1234-1234-123412341234}" type="slidenum">
              <a:rPr lang="zh-CN"/>
            </a:fld>
            <a:endParaRPr lang="zh-CN"/>
          </a:p>
        </p:txBody>
      </p:sp>
      <p:sp>
        <p:nvSpPr>
          <p:cNvPr id="39" name="Google Shape;39;p48"/>
          <p:cNvSpPr txBox="1"/>
          <p:nvPr>
            <p:ph type="ftr" idx="11"/>
          </p:nvPr>
        </p:nvSpPr>
        <p:spPr>
          <a:xfrm>
            <a:off x="457200" y="4800600"/>
            <a:ext cx="5105400" cy="228600"/>
          </a:xfrm>
          <a:prstGeom prst="rect">
            <a:avLst/>
          </a:prstGeom>
          <a:noFill/>
          <a:ln>
            <a:noFill/>
          </a:ln>
        </p:spPr>
        <p:txBody>
          <a:bodyPr spcFirstLastPara="1" wrap="square" lIns="68575" tIns="34275" rIns="68575" bIns="34275" anchor="t"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hotoCaption">
  <p:cSld name="PhotoCaption">
    <p:spTree>
      <p:nvGrpSpPr>
        <p:cNvPr id="40" name="Shape 40"/>
        <p:cNvGrpSpPr/>
        <p:nvPr/>
      </p:nvGrpSpPr>
      <p:grpSpPr>
        <a:xfrm>
          <a:off x="0" y="0"/>
          <a:ext cx="0" cy="0"/>
          <a:chOff x="0" y="0"/>
          <a:chExt cx="0" cy="0"/>
        </a:xfrm>
      </p:grpSpPr>
      <p:sp>
        <p:nvSpPr>
          <p:cNvPr id="41" name="Google Shape;41;p49"/>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lvl1pPr lvl="0" algn="l">
              <a:lnSpc>
                <a:spcPct val="100000"/>
              </a:lnSpc>
              <a:spcBef>
                <a:spcPts val="0"/>
              </a:spcBef>
              <a:spcAft>
                <a:spcPts val="0"/>
              </a:spcAft>
              <a:buClr>
                <a:srgbClr val="262626"/>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2" name="Google Shape;42;p49"/>
          <p:cNvSpPr txBox="1"/>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lvl1pPr marL="0" marR="0" lvl="0"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1pPr>
            <a:lvl2pPr marL="0" marR="0" lvl="1"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2pPr>
            <a:lvl3pPr marL="0" marR="0" lvl="2"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3pPr>
            <a:lvl4pPr marL="0" marR="0" lvl="3"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4pPr>
            <a:lvl5pPr marL="0" marR="0" lvl="4"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5pPr>
            <a:lvl6pPr marL="0" marR="0" lvl="5"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6pPr>
            <a:lvl7pPr marL="0" marR="0" lvl="6"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7pPr>
            <a:lvl8pPr marL="0" marR="0" lvl="7"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8pPr>
            <a:lvl9pPr marL="0" marR="0" lvl="8"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9pPr>
          </a:lstStyle>
          <a:p>
            <a:pPr marL="0" lvl="0" indent="0" algn="l" rtl="0">
              <a:spcBef>
                <a:spcPts val="0"/>
              </a:spcBef>
              <a:spcAft>
                <a:spcPts val="0"/>
              </a:spcAft>
              <a:buNone/>
            </a:pPr>
            <a:fld id="{00000000-1234-1234-1234-123412341234}" type="slidenum">
              <a:rPr lang="zh-CN"/>
            </a:fld>
            <a:endParaRPr lang="zh-CN"/>
          </a:p>
        </p:txBody>
      </p:sp>
      <p:sp>
        <p:nvSpPr>
          <p:cNvPr id="43" name="Google Shape;43;p49"/>
          <p:cNvSpPr txBox="1"/>
          <p:nvPr>
            <p:ph type="ftr" idx="11"/>
          </p:nvPr>
        </p:nvSpPr>
        <p:spPr>
          <a:xfrm>
            <a:off x="457200" y="4800600"/>
            <a:ext cx="5105400" cy="228600"/>
          </a:xfrm>
          <a:prstGeom prst="rect">
            <a:avLst/>
          </a:prstGeom>
          <a:noFill/>
          <a:ln>
            <a:noFill/>
          </a:ln>
        </p:spPr>
        <p:txBody>
          <a:bodyPr spcFirstLastPara="1" wrap="square" lIns="68575" tIns="34275" rIns="68575" bIns="34275" anchor="t"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4" name="Google Shape;44;p49"/>
          <p:cNvSpPr/>
          <p:nvPr>
            <p:ph type="pic" idx="2"/>
          </p:nvPr>
        </p:nvSpPr>
        <p:spPr>
          <a:xfrm>
            <a:off x="457200" y="1143000"/>
            <a:ext cx="5867400" cy="3486150"/>
          </a:xfrm>
          <a:prstGeom prst="rect">
            <a:avLst/>
          </a:prstGeom>
          <a:noFill/>
          <a:ln>
            <a:noFill/>
          </a:ln>
        </p:spPr>
      </p:sp>
      <p:sp>
        <p:nvSpPr>
          <p:cNvPr id="45" name="Google Shape;45;p49"/>
          <p:cNvSpPr txBox="1"/>
          <p:nvPr>
            <p:ph type="body" idx="1"/>
          </p:nvPr>
        </p:nvSpPr>
        <p:spPr>
          <a:xfrm>
            <a:off x="6553200" y="1143000"/>
            <a:ext cx="2133600" cy="3486150"/>
          </a:xfrm>
          <a:prstGeom prst="rect">
            <a:avLst/>
          </a:prstGeom>
          <a:noFill/>
          <a:ln>
            <a:noFill/>
          </a:ln>
        </p:spPr>
        <p:txBody>
          <a:bodyPr spcFirstLastPara="1" wrap="square" lIns="68575" tIns="34275" rIns="68575" bIns="34275" anchor="t" anchorCtr="0">
            <a:normAutofit/>
          </a:bodyPr>
          <a:lstStyle>
            <a:lvl1pPr marL="457200" lvl="0" indent="-228600" algn="l">
              <a:lnSpc>
                <a:spcPct val="95000"/>
              </a:lnSpc>
              <a:spcBef>
                <a:spcPts val="900"/>
              </a:spcBef>
              <a:spcAft>
                <a:spcPts val="0"/>
              </a:spcAft>
              <a:buSzPts val="1500"/>
              <a:buFont typeface="Verdana" panose="020B0804030504040204"/>
              <a:buNone/>
              <a:defRPr sz="1500"/>
            </a:lvl1pPr>
            <a:lvl2pPr marL="914400" lvl="1" indent="-317500" algn="l">
              <a:lnSpc>
                <a:spcPct val="95000"/>
              </a:lnSpc>
              <a:spcBef>
                <a:spcPts val="500"/>
              </a:spcBef>
              <a:spcAft>
                <a:spcPts val="0"/>
              </a:spcAft>
              <a:buSzPts val="1400"/>
              <a:buChar char="─"/>
              <a:defRPr sz="1400"/>
            </a:lvl2pPr>
            <a:lvl3pPr marL="1371600" lvl="2" indent="-304800" algn="l">
              <a:lnSpc>
                <a:spcPct val="95000"/>
              </a:lnSpc>
              <a:spcBef>
                <a:spcPts val="500"/>
              </a:spcBef>
              <a:spcAft>
                <a:spcPts val="0"/>
              </a:spcAft>
              <a:buSzPts val="1200"/>
              <a:buChar char="▪"/>
              <a:defRPr sz="1200"/>
            </a:lvl3pPr>
            <a:lvl4pPr marL="1828800" lvl="3" indent="-298450" algn="l">
              <a:lnSpc>
                <a:spcPct val="95000"/>
              </a:lnSpc>
              <a:spcBef>
                <a:spcPts val="500"/>
              </a:spcBef>
              <a:spcAft>
                <a:spcPts val="0"/>
              </a:spcAft>
              <a:buSzPts val="1100"/>
              <a:buChar char="o"/>
              <a:defRPr sz="1100"/>
            </a:lvl4pPr>
            <a:lvl5pPr marL="2286000" lvl="4" indent="-298450" algn="l">
              <a:lnSpc>
                <a:spcPct val="95000"/>
              </a:lnSpc>
              <a:spcBef>
                <a:spcPts val="500"/>
              </a:spcBef>
              <a:spcAft>
                <a:spcPts val="0"/>
              </a:spcAft>
              <a:buSzPts val="1100"/>
              <a:buChar char="•"/>
              <a:defRPr sz="1100"/>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6" name="Shape 46"/>
        <p:cNvGrpSpPr/>
        <p:nvPr/>
      </p:nvGrpSpPr>
      <p:grpSpPr>
        <a:xfrm>
          <a:off x="0" y="0"/>
          <a:ext cx="0" cy="0"/>
          <a:chOff x="0" y="0"/>
          <a:chExt cx="0" cy="0"/>
        </a:xfrm>
      </p:grpSpPr>
      <p:sp>
        <p:nvSpPr>
          <p:cNvPr id="47" name="Google Shape;47;p50"/>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lvl1pPr lvl="0" algn="l">
              <a:lnSpc>
                <a:spcPct val="100000"/>
              </a:lnSpc>
              <a:spcBef>
                <a:spcPts val="0"/>
              </a:spcBef>
              <a:spcAft>
                <a:spcPts val="0"/>
              </a:spcAft>
              <a:buClr>
                <a:srgbClr val="262626"/>
              </a:buClr>
              <a:buSzPts val="2400"/>
              <a:buFont typeface="Verdana" panose="020B0804030504040204"/>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8" name="Google Shape;48;p50"/>
          <p:cNvSpPr txBox="1"/>
          <p:nvPr>
            <p:ph type="body" idx="1"/>
          </p:nvPr>
        </p:nvSpPr>
        <p:spPr>
          <a:xfrm>
            <a:off x="762000" y="1122552"/>
            <a:ext cx="3657600" cy="479822"/>
          </a:xfrm>
          <a:prstGeom prst="rect">
            <a:avLst/>
          </a:prstGeom>
          <a:noFill/>
          <a:ln>
            <a:noFill/>
          </a:ln>
        </p:spPr>
        <p:txBody>
          <a:bodyPr spcFirstLastPara="1" wrap="square" lIns="68575" tIns="34275" rIns="68575" bIns="34275" anchor="b" anchorCtr="0">
            <a:noAutofit/>
          </a:bodyPr>
          <a:lstStyle>
            <a:lvl1pPr marL="457200" lvl="0" indent="-228600" algn="l">
              <a:lnSpc>
                <a:spcPct val="95000"/>
              </a:lnSpc>
              <a:spcBef>
                <a:spcPts val="900"/>
              </a:spcBef>
              <a:spcAft>
                <a:spcPts val="0"/>
              </a:spcAft>
              <a:buSzPts val="1500"/>
              <a:buNone/>
              <a:defRPr sz="1500" b="1">
                <a:solidFill>
                  <a:schemeClr val="dk2"/>
                </a:solidFill>
                <a:latin typeface="Verdana" panose="020B0804030504040204"/>
                <a:ea typeface="Verdana" panose="020B0804030504040204"/>
                <a:cs typeface="Verdana" panose="020B0804030504040204"/>
                <a:sym typeface="Verdana" panose="020B0804030504040204"/>
              </a:defRPr>
            </a:lvl1pPr>
            <a:lvl2pPr marL="914400" lvl="1" indent="-228600" algn="l">
              <a:lnSpc>
                <a:spcPct val="95000"/>
              </a:lnSpc>
              <a:spcBef>
                <a:spcPts val="500"/>
              </a:spcBef>
              <a:spcAft>
                <a:spcPts val="0"/>
              </a:spcAft>
              <a:buSzPts val="1500"/>
              <a:buNone/>
              <a:defRPr sz="1500" b="1"/>
            </a:lvl2pPr>
            <a:lvl3pPr marL="1371600" lvl="2" indent="-228600" algn="l">
              <a:lnSpc>
                <a:spcPct val="95000"/>
              </a:lnSpc>
              <a:spcBef>
                <a:spcPts val="500"/>
              </a:spcBef>
              <a:spcAft>
                <a:spcPts val="0"/>
              </a:spcAft>
              <a:buSzPts val="1400"/>
              <a:buNone/>
              <a:defRPr sz="1400" b="1"/>
            </a:lvl3pPr>
            <a:lvl4pPr marL="1828800" lvl="3" indent="-228600" algn="l">
              <a:lnSpc>
                <a:spcPct val="95000"/>
              </a:lnSpc>
              <a:spcBef>
                <a:spcPts val="500"/>
              </a:spcBef>
              <a:spcAft>
                <a:spcPts val="0"/>
              </a:spcAft>
              <a:buSzPts val="1200"/>
              <a:buNone/>
              <a:defRPr sz="1200" b="1"/>
            </a:lvl4pPr>
            <a:lvl5pPr marL="2286000" lvl="4" indent="-228600" algn="l">
              <a:lnSpc>
                <a:spcPct val="95000"/>
              </a:lnSpc>
              <a:spcBef>
                <a:spcPts val="500"/>
              </a:spcBef>
              <a:spcAft>
                <a:spcPts val="0"/>
              </a:spcAft>
              <a:buSzPts val="1200"/>
              <a:buNone/>
              <a:defRPr sz="1200" b="1"/>
            </a:lvl5pPr>
            <a:lvl6pPr marL="2743200" lvl="5" indent="-228600" algn="l">
              <a:lnSpc>
                <a:spcPct val="100000"/>
              </a:lnSpc>
              <a:spcBef>
                <a:spcPts val="200"/>
              </a:spcBef>
              <a:spcAft>
                <a:spcPts val="0"/>
              </a:spcAft>
              <a:buSzPts val="1200"/>
              <a:buNone/>
              <a:defRPr sz="1200" b="1"/>
            </a:lvl6pPr>
            <a:lvl7pPr marL="3200400" lvl="6" indent="-228600" algn="l">
              <a:lnSpc>
                <a:spcPct val="100000"/>
              </a:lnSpc>
              <a:spcBef>
                <a:spcPts val="200"/>
              </a:spcBef>
              <a:spcAft>
                <a:spcPts val="0"/>
              </a:spcAft>
              <a:buSzPts val="1200"/>
              <a:buNone/>
              <a:defRPr sz="1200" b="1"/>
            </a:lvl7pPr>
            <a:lvl8pPr marL="3657600" lvl="7" indent="-228600" algn="l">
              <a:lnSpc>
                <a:spcPct val="100000"/>
              </a:lnSpc>
              <a:spcBef>
                <a:spcPts val="200"/>
              </a:spcBef>
              <a:spcAft>
                <a:spcPts val="0"/>
              </a:spcAft>
              <a:buSzPts val="1200"/>
              <a:buNone/>
              <a:defRPr sz="1200" b="1"/>
            </a:lvl8pPr>
            <a:lvl9pPr marL="4114800" lvl="8" indent="-228600" algn="l">
              <a:lnSpc>
                <a:spcPct val="100000"/>
              </a:lnSpc>
              <a:spcBef>
                <a:spcPts val="200"/>
              </a:spcBef>
              <a:spcAft>
                <a:spcPts val="0"/>
              </a:spcAft>
              <a:buSzPts val="1200"/>
              <a:buNone/>
              <a:defRPr sz="1200" b="1"/>
            </a:lvl9pPr>
          </a:lstStyle>
          <a:p/>
        </p:txBody>
      </p:sp>
      <p:sp>
        <p:nvSpPr>
          <p:cNvPr id="49" name="Google Shape;49;p50"/>
          <p:cNvSpPr txBox="1"/>
          <p:nvPr>
            <p:ph type="body" idx="2"/>
          </p:nvPr>
        </p:nvSpPr>
        <p:spPr>
          <a:xfrm>
            <a:off x="762000" y="1662300"/>
            <a:ext cx="3657600" cy="2966850"/>
          </a:xfrm>
          <a:prstGeom prst="rect">
            <a:avLst/>
          </a:prstGeom>
          <a:noFill/>
          <a:ln>
            <a:noFill/>
          </a:ln>
        </p:spPr>
        <p:txBody>
          <a:bodyPr spcFirstLastPara="1" wrap="square" lIns="68575" tIns="34275" rIns="68575" bIns="34275" anchor="t" anchorCtr="0">
            <a:normAutofit/>
          </a:bodyPr>
          <a:lstStyle>
            <a:lvl1pPr marL="457200" lvl="0" indent="-323850" algn="l">
              <a:lnSpc>
                <a:spcPct val="95000"/>
              </a:lnSpc>
              <a:spcBef>
                <a:spcPts val="900"/>
              </a:spcBef>
              <a:spcAft>
                <a:spcPts val="0"/>
              </a:spcAft>
              <a:buSzPts val="1500"/>
              <a:buChar char="•"/>
              <a:defRPr sz="1500"/>
            </a:lvl1pPr>
            <a:lvl2pPr marL="914400" lvl="1" indent="-317500" algn="l">
              <a:lnSpc>
                <a:spcPct val="95000"/>
              </a:lnSpc>
              <a:spcBef>
                <a:spcPts val="500"/>
              </a:spcBef>
              <a:spcAft>
                <a:spcPts val="0"/>
              </a:spcAft>
              <a:buSzPts val="1400"/>
              <a:buChar char="─"/>
              <a:defRPr sz="1400"/>
            </a:lvl2pPr>
            <a:lvl3pPr marL="1371600" lvl="2" indent="-304800" algn="l">
              <a:lnSpc>
                <a:spcPct val="95000"/>
              </a:lnSpc>
              <a:spcBef>
                <a:spcPts val="500"/>
              </a:spcBef>
              <a:spcAft>
                <a:spcPts val="0"/>
              </a:spcAft>
              <a:buSzPts val="1200"/>
              <a:buChar char="▪"/>
              <a:defRPr sz="1200"/>
            </a:lvl3pPr>
            <a:lvl4pPr marL="1828800" lvl="3" indent="-298450" algn="l">
              <a:lnSpc>
                <a:spcPct val="95000"/>
              </a:lnSpc>
              <a:spcBef>
                <a:spcPts val="500"/>
              </a:spcBef>
              <a:spcAft>
                <a:spcPts val="0"/>
              </a:spcAft>
              <a:buSzPts val="1100"/>
              <a:buChar char="o"/>
              <a:defRPr sz="1100"/>
            </a:lvl4pPr>
            <a:lvl5pPr marL="2286000" lvl="4" indent="-298450" algn="l">
              <a:lnSpc>
                <a:spcPct val="95000"/>
              </a:lnSpc>
              <a:spcBef>
                <a:spcPts val="500"/>
              </a:spcBef>
              <a:spcAft>
                <a:spcPts val="0"/>
              </a:spcAft>
              <a:buSzPts val="1100"/>
              <a:buChar char="•"/>
              <a:defRPr sz="1100"/>
            </a:lvl5pPr>
            <a:lvl6pPr marL="2743200" lvl="5" indent="-304800" algn="l">
              <a:lnSpc>
                <a:spcPct val="100000"/>
              </a:lnSpc>
              <a:spcBef>
                <a:spcPts val="200"/>
              </a:spcBef>
              <a:spcAft>
                <a:spcPts val="0"/>
              </a:spcAft>
              <a:buSzPts val="1200"/>
              <a:buChar char="•"/>
              <a:defRPr sz="1200"/>
            </a:lvl6pPr>
            <a:lvl7pPr marL="3200400" lvl="6" indent="-304800" algn="l">
              <a:lnSpc>
                <a:spcPct val="100000"/>
              </a:lnSpc>
              <a:spcBef>
                <a:spcPts val="200"/>
              </a:spcBef>
              <a:spcAft>
                <a:spcPts val="0"/>
              </a:spcAft>
              <a:buSzPts val="1200"/>
              <a:buChar char="•"/>
              <a:defRPr sz="1200"/>
            </a:lvl7pPr>
            <a:lvl8pPr marL="3657600" lvl="7" indent="-304800" algn="l">
              <a:lnSpc>
                <a:spcPct val="100000"/>
              </a:lnSpc>
              <a:spcBef>
                <a:spcPts val="200"/>
              </a:spcBef>
              <a:spcAft>
                <a:spcPts val="0"/>
              </a:spcAft>
              <a:buSzPts val="1200"/>
              <a:buChar char="•"/>
              <a:defRPr sz="1200"/>
            </a:lvl8pPr>
            <a:lvl9pPr marL="4114800" lvl="8" indent="-304800" algn="l">
              <a:lnSpc>
                <a:spcPct val="100000"/>
              </a:lnSpc>
              <a:spcBef>
                <a:spcPts val="200"/>
              </a:spcBef>
              <a:spcAft>
                <a:spcPts val="0"/>
              </a:spcAft>
              <a:buSzPts val="1200"/>
              <a:buChar char="•"/>
              <a:defRPr sz="1200"/>
            </a:lvl9pPr>
          </a:lstStyle>
          <a:p/>
        </p:txBody>
      </p:sp>
      <p:sp>
        <p:nvSpPr>
          <p:cNvPr id="50" name="Google Shape;50;p50"/>
          <p:cNvSpPr txBox="1"/>
          <p:nvPr>
            <p:ph type="body" idx="3"/>
          </p:nvPr>
        </p:nvSpPr>
        <p:spPr>
          <a:xfrm>
            <a:off x="4648200" y="1122552"/>
            <a:ext cx="3657600" cy="479822"/>
          </a:xfrm>
          <a:prstGeom prst="rect">
            <a:avLst/>
          </a:prstGeom>
          <a:noFill/>
          <a:ln>
            <a:noFill/>
          </a:ln>
        </p:spPr>
        <p:txBody>
          <a:bodyPr spcFirstLastPara="1" wrap="square" lIns="68575" tIns="34275" rIns="68575" bIns="34275" anchor="b" anchorCtr="0">
            <a:noAutofit/>
          </a:bodyPr>
          <a:lstStyle>
            <a:lvl1pPr marL="457200" lvl="0" indent="-228600" algn="l">
              <a:lnSpc>
                <a:spcPct val="95000"/>
              </a:lnSpc>
              <a:spcBef>
                <a:spcPts val="900"/>
              </a:spcBef>
              <a:spcAft>
                <a:spcPts val="0"/>
              </a:spcAft>
              <a:buSzPts val="1500"/>
              <a:buNone/>
              <a:defRPr sz="1500" b="1">
                <a:solidFill>
                  <a:schemeClr val="dk2"/>
                </a:solidFill>
                <a:latin typeface="Verdana" panose="020B0804030504040204"/>
                <a:ea typeface="Verdana" panose="020B0804030504040204"/>
                <a:cs typeface="Verdana" panose="020B0804030504040204"/>
                <a:sym typeface="Verdana" panose="020B0804030504040204"/>
              </a:defRPr>
            </a:lvl1pPr>
            <a:lvl2pPr marL="914400" lvl="1" indent="-228600" algn="l">
              <a:lnSpc>
                <a:spcPct val="95000"/>
              </a:lnSpc>
              <a:spcBef>
                <a:spcPts val="500"/>
              </a:spcBef>
              <a:spcAft>
                <a:spcPts val="0"/>
              </a:spcAft>
              <a:buSzPts val="1500"/>
              <a:buNone/>
              <a:defRPr sz="1500" b="1"/>
            </a:lvl2pPr>
            <a:lvl3pPr marL="1371600" lvl="2" indent="-228600" algn="l">
              <a:lnSpc>
                <a:spcPct val="95000"/>
              </a:lnSpc>
              <a:spcBef>
                <a:spcPts val="500"/>
              </a:spcBef>
              <a:spcAft>
                <a:spcPts val="0"/>
              </a:spcAft>
              <a:buSzPts val="1400"/>
              <a:buNone/>
              <a:defRPr sz="1400" b="1"/>
            </a:lvl3pPr>
            <a:lvl4pPr marL="1828800" lvl="3" indent="-228600" algn="l">
              <a:lnSpc>
                <a:spcPct val="95000"/>
              </a:lnSpc>
              <a:spcBef>
                <a:spcPts val="500"/>
              </a:spcBef>
              <a:spcAft>
                <a:spcPts val="0"/>
              </a:spcAft>
              <a:buSzPts val="1200"/>
              <a:buNone/>
              <a:defRPr sz="1200" b="1"/>
            </a:lvl4pPr>
            <a:lvl5pPr marL="2286000" lvl="4" indent="-228600" algn="l">
              <a:lnSpc>
                <a:spcPct val="95000"/>
              </a:lnSpc>
              <a:spcBef>
                <a:spcPts val="500"/>
              </a:spcBef>
              <a:spcAft>
                <a:spcPts val="0"/>
              </a:spcAft>
              <a:buSzPts val="1200"/>
              <a:buNone/>
              <a:defRPr sz="1200" b="1"/>
            </a:lvl5pPr>
            <a:lvl6pPr marL="2743200" lvl="5" indent="-228600" algn="l">
              <a:lnSpc>
                <a:spcPct val="100000"/>
              </a:lnSpc>
              <a:spcBef>
                <a:spcPts val="200"/>
              </a:spcBef>
              <a:spcAft>
                <a:spcPts val="0"/>
              </a:spcAft>
              <a:buSzPts val="1200"/>
              <a:buNone/>
              <a:defRPr sz="1200" b="1"/>
            </a:lvl6pPr>
            <a:lvl7pPr marL="3200400" lvl="6" indent="-228600" algn="l">
              <a:lnSpc>
                <a:spcPct val="100000"/>
              </a:lnSpc>
              <a:spcBef>
                <a:spcPts val="200"/>
              </a:spcBef>
              <a:spcAft>
                <a:spcPts val="0"/>
              </a:spcAft>
              <a:buSzPts val="1200"/>
              <a:buNone/>
              <a:defRPr sz="1200" b="1"/>
            </a:lvl7pPr>
            <a:lvl8pPr marL="3657600" lvl="7" indent="-228600" algn="l">
              <a:lnSpc>
                <a:spcPct val="100000"/>
              </a:lnSpc>
              <a:spcBef>
                <a:spcPts val="200"/>
              </a:spcBef>
              <a:spcAft>
                <a:spcPts val="0"/>
              </a:spcAft>
              <a:buSzPts val="1200"/>
              <a:buNone/>
              <a:defRPr sz="1200" b="1"/>
            </a:lvl8pPr>
            <a:lvl9pPr marL="4114800" lvl="8" indent="-228600" algn="l">
              <a:lnSpc>
                <a:spcPct val="100000"/>
              </a:lnSpc>
              <a:spcBef>
                <a:spcPts val="200"/>
              </a:spcBef>
              <a:spcAft>
                <a:spcPts val="0"/>
              </a:spcAft>
              <a:buSzPts val="1200"/>
              <a:buNone/>
              <a:defRPr sz="1200" b="1"/>
            </a:lvl9pPr>
          </a:lstStyle>
          <a:p/>
        </p:txBody>
      </p:sp>
      <p:sp>
        <p:nvSpPr>
          <p:cNvPr id="51" name="Google Shape;51;p50"/>
          <p:cNvSpPr txBox="1"/>
          <p:nvPr>
            <p:ph type="body" idx="4"/>
          </p:nvPr>
        </p:nvSpPr>
        <p:spPr>
          <a:xfrm>
            <a:off x="4648200" y="1662300"/>
            <a:ext cx="3657600" cy="2966850"/>
          </a:xfrm>
          <a:prstGeom prst="rect">
            <a:avLst/>
          </a:prstGeom>
          <a:noFill/>
          <a:ln>
            <a:noFill/>
          </a:ln>
        </p:spPr>
        <p:txBody>
          <a:bodyPr spcFirstLastPara="1" wrap="square" lIns="68575" tIns="34275" rIns="68575" bIns="34275" anchor="t" anchorCtr="0">
            <a:normAutofit/>
          </a:bodyPr>
          <a:lstStyle>
            <a:lvl1pPr marL="457200" lvl="0" indent="-323850" algn="l">
              <a:lnSpc>
                <a:spcPct val="95000"/>
              </a:lnSpc>
              <a:spcBef>
                <a:spcPts val="900"/>
              </a:spcBef>
              <a:spcAft>
                <a:spcPts val="0"/>
              </a:spcAft>
              <a:buSzPts val="1500"/>
              <a:buChar char="•"/>
              <a:defRPr sz="1500"/>
            </a:lvl1pPr>
            <a:lvl2pPr marL="914400" lvl="1" indent="-317500" algn="l">
              <a:lnSpc>
                <a:spcPct val="95000"/>
              </a:lnSpc>
              <a:spcBef>
                <a:spcPts val="500"/>
              </a:spcBef>
              <a:spcAft>
                <a:spcPts val="0"/>
              </a:spcAft>
              <a:buSzPts val="1400"/>
              <a:buChar char="─"/>
              <a:defRPr sz="1400"/>
            </a:lvl2pPr>
            <a:lvl3pPr marL="1371600" lvl="2" indent="-304800" algn="l">
              <a:lnSpc>
                <a:spcPct val="95000"/>
              </a:lnSpc>
              <a:spcBef>
                <a:spcPts val="500"/>
              </a:spcBef>
              <a:spcAft>
                <a:spcPts val="0"/>
              </a:spcAft>
              <a:buSzPts val="1200"/>
              <a:buChar char="▪"/>
              <a:defRPr sz="1200"/>
            </a:lvl3pPr>
            <a:lvl4pPr marL="1828800" lvl="3" indent="-298450" algn="l">
              <a:lnSpc>
                <a:spcPct val="95000"/>
              </a:lnSpc>
              <a:spcBef>
                <a:spcPts val="500"/>
              </a:spcBef>
              <a:spcAft>
                <a:spcPts val="0"/>
              </a:spcAft>
              <a:buSzPts val="1100"/>
              <a:buChar char="o"/>
              <a:defRPr sz="1100"/>
            </a:lvl4pPr>
            <a:lvl5pPr marL="2286000" lvl="4" indent="-298450" algn="l">
              <a:lnSpc>
                <a:spcPct val="95000"/>
              </a:lnSpc>
              <a:spcBef>
                <a:spcPts val="500"/>
              </a:spcBef>
              <a:spcAft>
                <a:spcPts val="0"/>
              </a:spcAft>
              <a:buSzPts val="1100"/>
              <a:buChar char="•"/>
              <a:defRPr sz="1100"/>
            </a:lvl5pPr>
            <a:lvl6pPr marL="2743200" lvl="5" indent="-304800" algn="l">
              <a:lnSpc>
                <a:spcPct val="100000"/>
              </a:lnSpc>
              <a:spcBef>
                <a:spcPts val="200"/>
              </a:spcBef>
              <a:spcAft>
                <a:spcPts val="0"/>
              </a:spcAft>
              <a:buSzPts val="1200"/>
              <a:buChar char="•"/>
              <a:defRPr sz="1200"/>
            </a:lvl6pPr>
            <a:lvl7pPr marL="3200400" lvl="6" indent="-304800" algn="l">
              <a:lnSpc>
                <a:spcPct val="100000"/>
              </a:lnSpc>
              <a:spcBef>
                <a:spcPts val="200"/>
              </a:spcBef>
              <a:spcAft>
                <a:spcPts val="0"/>
              </a:spcAft>
              <a:buSzPts val="1200"/>
              <a:buChar char="•"/>
              <a:defRPr sz="1200"/>
            </a:lvl7pPr>
            <a:lvl8pPr marL="3657600" lvl="7" indent="-304800" algn="l">
              <a:lnSpc>
                <a:spcPct val="100000"/>
              </a:lnSpc>
              <a:spcBef>
                <a:spcPts val="200"/>
              </a:spcBef>
              <a:spcAft>
                <a:spcPts val="0"/>
              </a:spcAft>
              <a:buSzPts val="1200"/>
              <a:buChar char="•"/>
              <a:defRPr sz="1200"/>
            </a:lvl8pPr>
            <a:lvl9pPr marL="4114800" lvl="8" indent="-304800" algn="l">
              <a:lnSpc>
                <a:spcPct val="100000"/>
              </a:lnSpc>
              <a:spcBef>
                <a:spcPts val="200"/>
              </a:spcBef>
              <a:spcAft>
                <a:spcPts val="0"/>
              </a:spcAft>
              <a:buSzPts val="1200"/>
              <a:buChar char="•"/>
              <a:defRPr sz="1200"/>
            </a:lvl9pPr>
          </a:lstStyle>
          <a:p/>
        </p:txBody>
      </p:sp>
      <p:sp>
        <p:nvSpPr>
          <p:cNvPr id="52" name="Google Shape;52;p50"/>
          <p:cNvSpPr txBox="1"/>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lvl1pPr marL="0" marR="0" lvl="0"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1pPr>
            <a:lvl2pPr marL="0" marR="0" lvl="1"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2pPr>
            <a:lvl3pPr marL="0" marR="0" lvl="2"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3pPr>
            <a:lvl4pPr marL="0" marR="0" lvl="3"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4pPr>
            <a:lvl5pPr marL="0" marR="0" lvl="4"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5pPr>
            <a:lvl6pPr marL="0" marR="0" lvl="5"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6pPr>
            <a:lvl7pPr marL="0" marR="0" lvl="6"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7pPr>
            <a:lvl8pPr marL="0" marR="0" lvl="7"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8pPr>
            <a:lvl9pPr marL="0" marR="0" lvl="8"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9pPr>
          </a:lstStyle>
          <a:p>
            <a:pPr marL="0" lvl="0" indent="0" algn="l" rtl="0">
              <a:spcBef>
                <a:spcPts val="0"/>
              </a:spcBef>
              <a:spcAft>
                <a:spcPts val="0"/>
              </a:spcAft>
              <a:buNone/>
            </a:pPr>
            <a:fld id="{00000000-1234-1234-1234-123412341234}" type="slidenum">
              <a:rPr lang="zh-CN"/>
            </a:fld>
            <a:endParaRPr lang="zh-CN"/>
          </a:p>
        </p:txBody>
      </p:sp>
      <p:sp>
        <p:nvSpPr>
          <p:cNvPr id="53" name="Google Shape;53;p50"/>
          <p:cNvSpPr txBox="1"/>
          <p:nvPr>
            <p:ph type="ftr" idx="11"/>
          </p:nvPr>
        </p:nvSpPr>
        <p:spPr>
          <a:xfrm>
            <a:off x="457200" y="4800600"/>
            <a:ext cx="5105400" cy="228600"/>
          </a:xfrm>
          <a:prstGeom prst="rect">
            <a:avLst/>
          </a:prstGeom>
          <a:noFill/>
          <a:ln>
            <a:noFill/>
          </a:ln>
        </p:spPr>
        <p:txBody>
          <a:bodyPr spcFirstLastPara="1" wrap="square" lIns="68575" tIns="34275" rIns="68575" bIns="34275" anchor="t"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4" name="Shape 54"/>
        <p:cNvGrpSpPr/>
        <p:nvPr/>
      </p:nvGrpSpPr>
      <p:grpSpPr>
        <a:xfrm>
          <a:off x="0" y="0"/>
          <a:ext cx="0" cy="0"/>
          <a:chOff x="0" y="0"/>
          <a:chExt cx="0" cy="0"/>
        </a:xfrm>
      </p:grpSpPr>
      <p:sp>
        <p:nvSpPr>
          <p:cNvPr id="55" name="Google Shape;55;p51"/>
          <p:cNvSpPr txBox="1"/>
          <p:nvPr>
            <p:ph type="sldNum" idx="12"/>
          </p:nvPr>
        </p:nvSpPr>
        <p:spPr>
          <a:xfrm>
            <a:off x="1" y="4793743"/>
            <a:ext cx="459297" cy="273844"/>
          </a:xfrm>
          <a:prstGeom prst="rect">
            <a:avLst/>
          </a:prstGeom>
          <a:noFill/>
          <a:ln>
            <a:noFill/>
          </a:ln>
        </p:spPr>
        <p:txBody>
          <a:bodyPr spcFirstLastPara="1" wrap="square" lIns="68575" tIns="34275" rIns="68575" bIns="34275" anchor="ctr" anchorCtr="0">
            <a:noAutofit/>
          </a:bodyPr>
          <a:lstStyle>
            <a:lvl1pPr marL="0" marR="0" lvl="0"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1pPr>
            <a:lvl2pPr marL="0" marR="0" lvl="1"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2pPr>
            <a:lvl3pPr marL="0" marR="0" lvl="2"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3pPr>
            <a:lvl4pPr marL="0" marR="0" lvl="3"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4pPr>
            <a:lvl5pPr marL="0" marR="0" lvl="4"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5pPr>
            <a:lvl6pPr marL="0" marR="0" lvl="5"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6pPr>
            <a:lvl7pPr marL="0" marR="0" lvl="6"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7pPr>
            <a:lvl8pPr marL="0" marR="0" lvl="7"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8pPr>
            <a:lvl9pPr marL="0" marR="0" lvl="8"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9pPr>
          </a:lstStyle>
          <a:p>
            <a:pPr marL="0" lvl="0" indent="0" algn="l" rtl="0">
              <a:spcBef>
                <a:spcPts val="0"/>
              </a:spcBef>
              <a:spcAft>
                <a:spcPts val="0"/>
              </a:spcAft>
              <a:buNone/>
            </a:pPr>
            <a:fld id="{00000000-1234-1234-1234-123412341234}" type="slidenum">
              <a:rPr lang="zh-CN"/>
            </a:fld>
            <a:endParaRPr lang="zh-CN"/>
          </a:p>
        </p:txBody>
      </p:sp>
      <p:sp>
        <p:nvSpPr>
          <p:cNvPr id="56" name="Google Shape;56;p51"/>
          <p:cNvSpPr txBox="1"/>
          <p:nvPr>
            <p:ph type="ftr" idx="11"/>
          </p:nvPr>
        </p:nvSpPr>
        <p:spPr>
          <a:xfrm>
            <a:off x="457200" y="4800600"/>
            <a:ext cx="5105400" cy="228600"/>
          </a:xfrm>
          <a:prstGeom prst="rect">
            <a:avLst/>
          </a:prstGeom>
          <a:noFill/>
          <a:ln>
            <a:noFill/>
          </a:ln>
        </p:spPr>
        <p:txBody>
          <a:bodyPr spcFirstLastPara="1" wrap="square" lIns="68575" tIns="34275" rIns="68575" bIns="34275" anchor="t"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7" name="Shape 57"/>
        <p:cNvGrpSpPr/>
        <p:nvPr/>
      </p:nvGrpSpPr>
      <p:grpSpPr>
        <a:xfrm>
          <a:off x="0" y="0"/>
          <a:ext cx="0" cy="0"/>
          <a:chOff x="0" y="0"/>
          <a:chExt cx="0" cy="0"/>
        </a:xfrm>
      </p:grpSpPr>
      <p:sp>
        <p:nvSpPr>
          <p:cNvPr id="58" name="Google Shape;58;p52"/>
          <p:cNvSpPr txBox="1"/>
          <p:nvPr>
            <p:ph type="title"/>
          </p:nvPr>
        </p:nvSpPr>
        <p:spPr>
          <a:xfrm>
            <a:off x="457200" y="57150"/>
            <a:ext cx="8305800" cy="800100"/>
          </a:xfrm>
          <a:prstGeom prst="rect">
            <a:avLst/>
          </a:prstGeom>
          <a:noFill/>
          <a:ln>
            <a:noFill/>
          </a:ln>
        </p:spPr>
        <p:txBody>
          <a:bodyPr spcFirstLastPara="1" wrap="square" lIns="68575" tIns="34275" rIns="68575" bIns="34275" anchor="b" anchorCtr="0">
            <a:normAutofit/>
          </a:bodyPr>
          <a:lstStyle>
            <a:lvl1pPr lvl="0" algn="l">
              <a:lnSpc>
                <a:spcPct val="100000"/>
              </a:lnSpc>
              <a:spcBef>
                <a:spcPts val="0"/>
              </a:spcBef>
              <a:spcAft>
                <a:spcPts val="0"/>
              </a:spcAft>
              <a:buClr>
                <a:srgbClr val="262626"/>
              </a:buClr>
              <a:buSzPts val="2400"/>
              <a:buFont typeface="Verdana" panose="020B0804030504040204"/>
              <a:buNone/>
              <a:defRPr sz="2400" b="1"/>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9" name="Google Shape;59;p52"/>
          <p:cNvSpPr txBox="1"/>
          <p:nvPr>
            <p:ph type="body" idx="1"/>
          </p:nvPr>
        </p:nvSpPr>
        <p:spPr>
          <a:xfrm>
            <a:off x="3392782" y="1143001"/>
            <a:ext cx="5294018" cy="3486149"/>
          </a:xfrm>
          <a:prstGeom prst="rect">
            <a:avLst/>
          </a:prstGeom>
          <a:noFill/>
          <a:ln>
            <a:noFill/>
          </a:ln>
        </p:spPr>
        <p:txBody>
          <a:bodyPr spcFirstLastPara="1" wrap="square" lIns="68575" tIns="34275" rIns="68575" bIns="34275" anchor="t" anchorCtr="0">
            <a:normAutofit/>
          </a:bodyPr>
          <a:lstStyle>
            <a:lvl1pPr marL="457200" lvl="0" indent="-342900" algn="l">
              <a:lnSpc>
                <a:spcPct val="95000"/>
              </a:lnSpc>
              <a:spcBef>
                <a:spcPts val="900"/>
              </a:spcBef>
              <a:spcAft>
                <a:spcPts val="0"/>
              </a:spcAft>
              <a:buSzPts val="1800"/>
              <a:buChar char="•"/>
              <a:defRPr sz="1800"/>
            </a:lvl1pPr>
            <a:lvl2pPr marL="914400" lvl="1" indent="-336550" algn="l">
              <a:lnSpc>
                <a:spcPct val="95000"/>
              </a:lnSpc>
              <a:spcBef>
                <a:spcPts val="500"/>
              </a:spcBef>
              <a:spcAft>
                <a:spcPts val="0"/>
              </a:spcAft>
              <a:buSzPts val="1700"/>
              <a:buChar char="─"/>
              <a:defRPr sz="1700"/>
            </a:lvl2pPr>
            <a:lvl3pPr marL="1371600" lvl="2" indent="-323850" algn="l">
              <a:lnSpc>
                <a:spcPct val="95000"/>
              </a:lnSpc>
              <a:spcBef>
                <a:spcPts val="500"/>
              </a:spcBef>
              <a:spcAft>
                <a:spcPts val="0"/>
              </a:spcAft>
              <a:buSzPts val="1500"/>
              <a:buChar char="▪"/>
              <a:defRPr sz="1500"/>
            </a:lvl3pPr>
            <a:lvl4pPr marL="1828800" lvl="3" indent="-317500" algn="l">
              <a:lnSpc>
                <a:spcPct val="95000"/>
              </a:lnSpc>
              <a:spcBef>
                <a:spcPts val="500"/>
              </a:spcBef>
              <a:spcAft>
                <a:spcPts val="0"/>
              </a:spcAft>
              <a:buSzPts val="1400"/>
              <a:buChar char="o"/>
              <a:defRPr sz="1400"/>
            </a:lvl4pPr>
            <a:lvl5pPr marL="2286000" lvl="4" indent="-317500" algn="l">
              <a:lnSpc>
                <a:spcPct val="95000"/>
              </a:lnSpc>
              <a:spcBef>
                <a:spcPts val="500"/>
              </a:spcBef>
              <a:spcAft>
                <a:spcPts val="0"/>
              </a:spcAft>
              <a:buSzPts val="1400"/>
              <a:buChar char="•"/>
              <a:defRPr sz="1400"/>
            </a:lvl5pPr>
            <a:lvl6pPr marL="2743200" lvl="5" indent="-323850" algn="l">
              <a:lnSpc>
                <a:spcPct val="100000"/>
              </a:lnSpc>
              <a:spcBef>
                <a:spcPts val="300"/>
              </a:spcBef>
              <a:spcAft>
                <a:spcPts val="0"/>
              </a:spcAft>
              <a:buSzPts val="1500"/>
              <a:buChar char="•"/>
              <a:defRPr sz="1500"/>
            </a:lvl6pPr>
            <a:lvl7pPr marL="3200400" lvl="6" indent="-323850" algn="l">
              <a:lnSpc>
                <a:spcPct val="100000"/>
              </a:lnSpc>
              <a:spcBef>
                <a:spcPts val="300"/>
              </a:spcBef>
              <a:spcAft>
                <a:spcPts val="0"/>
              </a:spcAft>
              <a:buSzPts val="1500"/>
              <a:buChar char="•"/>
              <a:defRPr sz="1500"/>
            </a:lvl7pPr>
            <a:lvl8pPr marL="3657600" lvl="7" indent="-323850" algn="l">
              <a:lnSpc>
                <a:spcPct val="100000"/>
              </a:lnSpc>
              <a:spcBef>
                <a:spcPts val="300"/>
              </a:spcBef>
              <a:spcAft>
                <a:spcPts val="0"/>
              </a:spcAft>
              <a:buSzPts val="1500"/>
              <a:buChar char="•"/>
              <a:defRPr sz="1500"/>
            </a:lvl8pPr>
            <a:lvl9pPr marL="4114800" lvl="8" indent="-323850" algn="l">
              <a:lnSpc>
                <a:spcPct val="100000"/>
              </a:lnSpc>
              <a:spcBef>
                <a:spcPts val="300"/>
              </a:spcBef>
              <a:spcAft>
                <a:spcPts val="0"/>
              </a:spcAft>
              <a:buSzPts val="1500"/>
              <a:buChar char="•"/>
              <a:defRPr sz="1500"/>
            </a:lvl9pPr>
          </a:lstStyle>
          <a:p/>
        </p:txBody>
      </p:sp>
      <p:sp>
        <p:nvSpPr>
          <p:cNvPr id="60" name="Google Shape;60;p52"/>
          <p:cNvSpPr txBox="1"/>
          <p:nvPr>
            <p:ph type="body" idx="2"/>
          </p:nvPr>
        </p:nvSpPr>
        <p:spPr>
          <a:xfrm>
            <a:off x="443917" y="1143000"/>
            <a:ext cx="2673657" cy="3486150"/>
          </a:xfrm>
          <a:prstGeom prst="rect">
            <a:avLst/>
          </a:prstGeom>
          <a:noFill/>
          <a:ln>
            <a:noFill/>
          </a:ln>
        </p:spPr>
        <p:txBody>
          <a:bodyPr spcFirstLastPara="1" wrap="square" lIns="68575" tIns="34275" rIns="68575" bIns="34275" anchor="t" anchorCtr="0">
            <a:normAutofit/>
          </a:bodyPr>
          <a:lstStyle>
            <a:lvl1pPr marL="457200" lvl="0" indent="-228600" algn="l">
              <a:lnSpc>
                <a:spcPct val="95000"/>
              </a:lnSpc>
              <a:spcBef>
                <a:spcPts val="900"/>
              </a:spcBef>
              <a:spcAft>
                <a:spcPts val="0"/>
              </a:spcAft>
              <a:buSzPts val="1500"/>
              <a:buNone/>
              <a:defRPr sz="1500">
                <a:solidFill>
                  <a:schemeClr val="dk2"/>
                </a:solidFill>
              </a:defRPr>
            </a:lvl1pPr>
            <a:lvl2pPr marL="914400" lvl="1" indent="-228600" algn="l">
              <a:lnSpc>
                <a:spcPct val="95000"/>
              </a:lnSpc>
              <a:spcBef>
                <a:spcPts val="500"/>
              </a:spcBef>
              <a:spcAft>
                <a:spcPts val="0"/>
              </a:spcAft>
              <a:buSzPts val="900"/>
              <a:buNone/>
              <a:defRPr sz="900"/>
            </a:lvl2pPr>
            <a:lvl3pPr marL="1371600" lvl="2" indent="-228600" algn="l">
              <a:lnSpc>
                <a:spcPct val="95000"/>
              </a:lnSpc>
              <a:spcBef>
                <a:spcPts val="500"/>
              </a:spcBef>
              <a:spcAft>
                <a:spcPts val="0"/>
              </a:spcAft>
              <a:buSzPts val="800"/>
              <a:buNone/>
              <a:defRPr sz="800"/>
            </a:lvl3pPr>
            <a:lvl4pPr marL="1828800" lvl="3" indent="-228600" algn="l">
              <a:lnSpc>
                <a:spcPct val="95000"/>
              </a:lnSpc>
              <a:spcBef>
                <a:spcPts val="500"/>
              </a:spcBef>
              <a:spcAft>
                <a:spcPts val="0"/>
              </a:spcAft>
              <a:buSzPts val="700"/>
              <a:buNone/>
              <a:defRPr sz="700"/>
            </a:lvl4pPr>
            <a:lvl5pPr marL="2286000" lvl="4" indent="-228600" algn="l">
              <a:lnSpc>
                <a:spcPct val="95000"/>
              </a:lnSpc>
              <a:spcBef>
                <a:spcPts val="500"/>
              </a:spcBef>
              <a:spcAft>
                <a:spcPts val="0"/>
              </a:spcAft>
              <a:buSzPts val="700"/>
              <a:buNone/>
              <a:defRPr sz="700"/>
            </a:lvl5pPr>
            <a:lvl6pPr marL="2743200" lvl="5" indent="-228600" algn="l">
              <a:lnSpc>
                <a:spcPct val="100000"/>
              </a:lnSpc>
              <a:spcBef>
                <a:spcPts val="100"/>
              </a:spcBef>
              <a:spcAft>
                <a:spcPts val="0"/>
              </a:spcAft>
              <a:buSzPts val="700"/>
              <a:buNone/>
              <a:defRPr sz="700"/>
            </a:lvl6pPr>
            <a:lvl7pPr marL="3200400" lvl="6" indent="-228600" algn="l">
              <a:lnSpc>
                <a:spcPct val="100000"/>
              </a:lnSpc>
              <a:spcBef>
                <a:spcPts val="100"/>
              </a:spcBef>
              <a:spcAft>
                <a:spcPts val="0"/>
              </a:spcAft>
              <a:buSzPts val="700"/>
              <a:buNone/>
              <a:defRPr sz="700"/>
            </a:lvl7pPr>
            <a:lvl8pPr marL="3657600" lvl="7" indent="-228600" algn="l">
              <a:lnSpc>
                <a:spcPct val="100000"/>
              </a:lnSpc>
              <a:spcBef>
                <a:spcPts val="100"/>
              </a:spcBef>
              <a:spcAft>
                <a:spcPts val="0"/>
              </a:spcAft>
              <a:buSzPts val="700"/>
              <a:buNone/>
              <a:defRPr sz="700"/>
            </a:lvl8pPr>
            <a:lvl9pPr marL="4114800" lvl="8" indent="-228600" algn="l">
              <a:lnSpc>
                <a:spcPct val="100000"/>
              </a:lnSpc>
              <a:spcBef>
                <a:spcPts val="100"/>
              </a:spcBef>
              <a:spcAft>
                <a:spcPts val="0"/>
              </a:spcAft>
              <a:buSzPts val="700"/>
              <a:buNone/>
              <a:defRPr sz="700"/>
            </a:lvl9pPr>
          </a:lstStyle>
          <a:p/>
        </p:txBody>
      </p:sp>
      <p:sp>
        <p:nvSpPr>
          <p:cNvPr id="61" name="Google Shape;61;p52"/>
          <p:cNvSpPr txBox="1"/>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lvl1pPr marL="0" marR="0" lvl="0"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1pPr>
            <a:lvl2pPr marL="0" marR="0" lvl="1"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2pPr>
            <a:lvl3pPr marL="0" marR="0" lvl="2"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3pPr>
            <a:lvl4pPr marL="0" marR="0" lvl="3"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4pPr>
            <a:lvl5pPr marL="0" marR="0" lvl="4"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5pPr>
            <a:lvl6pPr marL="0" marR="0" lvl="5"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6pPr>
            <a:lvl7pPr marL="0" marR="0" lvl="6"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7pPr>
            <a:lvl8pPr marL="0" marR="0" lvl="7"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8pPr>
            <a:lvl9pPr marL="0" marR="0" lvl="8" indent="0" algn="l">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9pPr>
          </a:lstStyle>
          <a:p>
            <a:pPr marL="0" lvl="0" indent="0" algn="l" rtl="0">
              <a:spcBef>
                <a:spcPts val="0"/>
              </a:spcBef>
              <a:spcAft>
                <a:spcPts val="0"/>
              </a:spcAft>
              <a:buNone/>
            </a:pPr>
            <a:fld id="{00000000-1234-1234-1234-123412341234}" type="slidenum">
              <a:rPr lang="zh-CN"/>
            </a:fld>
            <a:endParaRPr lang="zh-CN"/>
          </a:p>
        </p:txBody>
      </p:sp>
      <p:cxnSp>
        <p:nvCxnSpPr>
          <p:cNvPr id="62" name="Google Shape;62;p52"/>
          <p:cNvCxnSpPr/>
          <p:nvPr/>
        </p:nvCxnSpPr>
        <p:spPr>
          <a:xfrm rot="5400000">
            <a:off x="1835360" y="2685851"/>
            <a:ext cx="2857500" cy="1588"/>
          </a:xfrm>
          <a:prstGeom prst="straightConnector1">
            <a:avLst/>
          </a:prstGeom>
          <a:noFill/>
          <a:ln w="15875" cap="flat" cmpd="sng">
            <a:solidFill>
              <a:srgbClr val="B5B5B5"/>
            </a:solidFill>
            <a:prstDash val="solid"/>
            <a:round/>
            <a:headEnd type="none" w="sm" len="sm"/>
            <a:tailEnd type="none" w="sm" len="sm"/>
          </a:ln>
        </p:spPr>
      </p:cxnSp>
      <p:sp>
        <p:nvSpPr>
          <p:cNvPr id="63" name="Google Shape;63;p52"/>
          <p:cNvSpPr txBox="1"/>
          <p:nvPr>
            <p:ph type="ftr" idx="11"/>
          </p:nvPr>
        </p:nvSpPr>
        <p:spPr>
          <a:xfrm>
            <a:off x="457200" y="4800600"/>
            <a:ext cx="5105400" cy="228600"/>
          </a:xfrm>
          <a:prstGeom prst="rect">
            <a:avLst/>
          </a:prstGeom>
          <a:noFill/>
          <a:ln>
            <a:noFill/>
          </a:ln>
        </p:spPr>
        <p:txBody>
          <a:bodyPr spcFirstLastPara="1" wrap="square" lIns="68575" tIns="34275" rIns="68575" bIns="34275" anchor="t"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42"/>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lvl1pPr marR="0" lvl="0" algn="l" rtl="0">
              <a:lnSpc>
                <a:spcPct val="100000"/>
              </a:lnSpc>
              <a:spcBef>
                <a:spcPts val="0"/>
              </a:spcBef>
              <a:spcAft>
                <a:spcPts val="0"/>
              </a:spcAft>
              <a:buClr>
                <a:srgbClr val="262626"/>
              </a:buClr>
              <a:buSzPts val="2400"/>
              <a:buFont typeface="Verdana" panose="020B0804030504040204"/>
              <a:buNone/>
              <a:defRPr sz="2400" b="1" i="0" u="none" strike="noStrike" cap="none">
                <a:solidFill>
                  <a:srgbClr val="262626"/>
                </a:solidFill>
                <a:latin typeface="Verdana" panose="020B0804030504040204"/>
                <a:ea typeface="Verdana" panose="020B0804030504040204"/>
                <a:cs typeface="Verdana" panose="020B0804030504040204"/>
                <a:sym typeface="Verdana" panose="020B0804030504040204"/>
              </a:defRPr>
            </a:lvl1pPr>
            <a:lvl2pPr marR="0" lvl="1" algn="l" rtl="0">
              <a:lnSpc>
                <a:spcPct val="100000"/>
              </a:lnSpc>
              <a:spcBef>
                <a:spcPts val="0"/>
              </a:spcBef>
              <a:spcAft>
                <a:spcPts val="0"/>
              </a:spcAft>
              <a:buClr>
                <a:srgbClr val="000000"/>
              </a:buClr>
              <a:buSzPts val="1100"/>
              <a:buFont typeface="Arial" panose="020B0604020202090204"/>
              <a:buNone/>
              <a:defRPr sz="1400" b="0" i="0" u="none" strike="noStrike" cap="none">
                <a:solidFill>
                  <a:schemeClr val="dk2"/>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SzPts val="1100"/>
              <a:buFont typeface="Arial" panose="020B0604020202090204"/>
              <a:buNone/>
              <a:defRPr sz="1400" b="0" i="0" u="none" strike="noStrike" cap="none">
                <a:solidFill>
                  <a:schemeClr val="dk2"/>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SzPts val="1100"/>
              <a:buFont typeface="Arial" panose="020B0604020202090204"/>
              <a:buNone/>
              <a:defRPr sz="1400" b="0" i="0" u="none" strike="noStrike" cap="none">
                <a:solidFill>
                  <a:schemeClr val="dk2"/>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SzPts val="1100"/>
              <a:buFont typeface="Arial" panose="020B0604020202090204"/>
              <a:buNone/>
              <a:defRPr sz="1400" b="0" i="0" u="none" strike="noStrike" cap="none">
                <a:solidFill>
                  <a:schemeClr val="dk2"/>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SzPts val="1100"/>
              <a:buFont typeface="Arial" panose="020B0604020202090204"/>
              <a:buNone/>
              <a:defRPr sz="1400" b="0" i="0" u="none" strike="noStrike" cap="none">
                <a:solidFill>
                  <a:schemeClr val="dk2"/>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SzPts val="1100"/>
              <a:buFont typeface="Arial" panose="020B0604020202090204"/>
              <a:buNone/>
              <a:defRPr sz="1400" b="0" i="0" u="none" strike="noStrike" cap="none">
                <a:solidFill>
                  <a:schemeClr val="dk2"/>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SzPts val="1100"/>
              <a:buFont typeface="Arial" panose="020B0604020202090204"/>
              <a:buNone/>
              <a:defRPr sz="1400" b="0" i="0" u="none" strike="noStrike" cap="none">
                <a:solidFill>
                  <a:schemeClr val="dk2"/>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SzPts val="1100"/>
              <a:buFont typeface="Arial" panose="020B0604020202090204"/>
              <a:buNone/>
              <a:defRPr sz="1400" b="0" i="0" u="none" strike="noStrike" cap="none">
                <a:solidFill>
                  <a:schemeClr val="dk2"/>
                </a:solidFill>
                <a:latin typeface="Arial" panose="020B0604020202090204"/>
                <a:ea typeface="Arial" panose="020B0604020202090204"/>
                <a:cs typeface="Arial" panose="020B0604020202090204"/>
                <a:sym typeface="Arial" panose="020B0604020202090204"/>
              </a:defRPr>
            </a:lvl9pPr>
          </a:lstStyle>
          <a:p/>
        </p:txBody>
      </p:sp>
      <p:sp>
        <p:nvSpPr>
          <p:cNvPr id="7" name="Google Shape;7;p42"/>
          <p:cNvSpPr txBox="1"/>
          <p:nvPr>
            <p:ph type="body" idx="1"/>
          </p:nvPr>
        </p:nvSpPr>
        <p:spPr>
          <a:xfrm>
            <a:off x="457200" y="1143000"/>
            <a:ext cx="8229600" cy="3486150"/>
          </a:xfrm>
          <a:prstGeom prst="rect">
            <a:avLst/>
          </a:prstGeom>
          <a:noFill/>
          <a:ln>
            <a:noFill/>
          </a:ln>
        </p:spPr>
        <p:txBody>
          <a:bodyPr spcFirstLastPara="1" wrap="square" lIns="68575" tIns="34275" rIns="68575" bIns="34275" anchor="t" anchorCtr="0">
            <a:normAutofit/>
          </a:bodyPr>
          <a:lstStyle>
            <a:lvl1pPr marL="457200" marR="0" lvl="0" indent="-342900" algn="l" rtl="0">
              <a:lnSpc>
                <a:spcPct val="95000"/>
              </a:lnSpc>
              <a:spcBef>
                <a:spcPts val="900"/>
              </a:spcBef>
              <a:spcAft>
                <a:spcPts val="0"/>
              </a:spcAft>
              <a:buClr>
                <a:schemeClr val="lt2"/>
              </a:buClr>
              <a:buSzPts val="1800"/>
              <a:buFont typeface="Arial" panose="020B0604020202090204"/>
              <a:buChar char="•"/>
              <a:defRPr sz="18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1pPr>
            <a:lvl2pPr marL="914400" marR="0" lvl="1" indent="-323850" algn="l" rtl="0">
              <a:lnSpc>
                <a:spcPct val="95000"/>
              </a:lnSpc>
              <a:spcBef>
                <a:spcPts val="500"/>
              </a:spcBef>
              <a:spcAft>
                <a:spcPts val="0"/>
              </a:spcAft>
              <a:buClr>
                <a:schemeClr val="lt2"/>
              </a:buClr>
              <a:buSzPts val="1500"/>
              <a:buFont typeface="Verdana" panose="020B0804030504040204"/>
              <a:buChar char="─"/>
              <a:defRPr sz="15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2pPr>
            <a:lvl3pPr marL="1371600" marR="0" lvl="2" indent="-317500" algn="l" rtl="0">
              <a:lnSpc>
                <a:spcPct val="95000"/>
              </a:lnSpc>
              <a:spcBef>
                <a:spcPts val="500"/>
              </a:spcBef>
              <a:spcAft>
                <a:spcPts val="0"/>
              </a:spcAft>
              <a:buClr>
                <a:schemeClr val="lt2"/>
              </a:buClr>
              <a:buSzPts val="1400"/>
              <a:buFont typeface="Noto Sans Symbols"/>
              <a:buChar char="▪"/>
              <a:defRPr sz="14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3pPr>
            <a:lvl4pPr marL="1828800" marR="0" lvl="3" indent="-304800" algn="l" rtl="0">
              <a:lnSpc>
                <a:spcPct val="95000"/>
              </a:lnSpc>
              <a:spcBef>
                <a:spcPts val="500"/>
              </a:spcBef>
              <a:spcAft>
                <a:spcPts val="0"/>
              </a:spcAft>
              <a:buClr>
                <a:schemeClr val="lt2"/>
              </a:buClr>
              <a:buSzPts val="1200"/>
              <a:buFont typeface="Courier New" panose="02070409020205090404"/>
              <a:buChar char="o"/>
              <a:defRPr sz="12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4pPr>
            <a:lvl5pPr marL="2286000" marR="0" lvl="4" indent="-304800" algn="l" rtl="0">
              <a:lnSpc>
                <a:spcPct val="95000"/>
              </a:lnSpc>
              <a:spcBef>
                <a:spcPts val="500"/>
              </a:spcBef>
              <a:spcAft>
                <a:spcPts val="0"/>
              </a:spcAft>
              <a:buClr>
                <a:schemeClr val="lt2"/>
              </a:buClr>
              <a:buSzPts val="1200"/>
              <a:buFont typeface="Arial" panose="020B0604020202090204"/>
              <a:buChar char="•"/>
              <a:defRPr sz="12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5pPr>
            <a:lvl6pPr marL="2743200" marR="0" lvl="5" indent="-304800" algn="l" rtl="0">
              <a:lnSpc>
                <a:spcPct val="100000"/>
              </a:lnSpc>
              <a:spcBef>
                <a:spcPts val="200"/>
              </a:spcBef>
              <a:spcAft>
                <a:spcPts val="0"/>
              </a:spcAft>
              <a:buClr>
                <a:schemeClr val="accent1"/>
              </a:buClr>
              <a:buSzPts val="1200"/>
              <a:buFont typeface="Arial" panose="020B0604020202090204"/>
              <a:buChar char="•"/>
              <a:defRPr sz="1200" b="0" i="0" u="none" strike="noStrike" cap="none">
                <a:solidFill>
                  <a:schemeClr val="dk2"/>
                </a:solidFill>
                <a:latin typeface="Verdana" panose="020B0804030504040204"/>
                <a:ea typeface="Verdana" panose="020B0804030504040204"/>
                <a:cs typeface="Verdana" panose="020B0804030504040204"/>
                <a:sym typeface="Verdana" panose="020B0804030504040204"/>
              </a:defRPr>
            </a:lvl6pPr>
            <a:lvl7pPr marL="3200400" marR="0" lvl="6" indent="-304800" algn="l" rtl="0">
              <a:lnSpc>
                <a:spcPct val="100000"/>
              </a:lnSpc>
              <a:spcBef>
                <a:spcPts val="200"/>
              </a:spcBef>
              <a:spcAft>
                <a:spcPts val="0"/>
              </a:spcAft>
              <a:buClr>
                <a:schemeClr val="accent1"/>
              </a:buClr>
              <a:buSzPts val="1200"/>
              <a:buFont typeface="Arial" panose="020B0604020202090204"/>
              <a:buChar char="•"/>
              <a:defRPr sz="1200" b="0" i="0" u="none" strike="noStrike" cap="none">
                <a:solidFill>
                  <a:schemeClr val="dk2"/>
                </a:solidFill>
                <a:latin typeface="Verdana" panose="020B0804030504040204"/>
                <a:ea typeface="Verdana" panose="020B0804030504040204"/>
                <a:cs typeface="Verdana" panose="020B0804030504040204"/>
                <a:sym typeface="Verdana" panose="020B0804030504040204"/>
              </a:defRPr>
            </a:lvl7pPr>
            <a:lvl8pPr marL="3657600" marR="0" lvl="7" indent="-304800" algn="l" rtl="0">
              <a:lnSpc>
                <a:spcPct val="100000"/>
              </a:lnSpc>
              <a:spcBef>
                <a:spcPts val="200"/>
              </a:spcBef>
              <a:spcAft>
                <a:spcPts val="0"/>
              </a:spcAft>
              <a:buClr>
                <a:schemeClr val="accent1"/>
              </a:buClr>
              <a:buSzPts val="1200"/>
              <a:buFont typeface="Arial" panose="020B0604020202090204"/>
              <a:buChar char="•"/>
              <a:defRPr sz="1200" b="0" i="0" u="none" strike="noStrike" cap="none">
                <a:solidFill>
                  <a:schemeClr val="dk2"/>
                </a:solidFill>
                <a:latin typeface="Verdana" panose="020B0804030504040204"/>
                <a:ea typeface="Verdana" panose="020B0804030504040204"/>
                <a:cs typeface="Verdana" panose="020B0804030504040204"/>
                <a:sym typeface="Verdana" panose="020B0804030504040204"/>
              </a:defRPr>
            </a:lvl8pPr>
            <a:lvl9pPr marL="4114800" marR="0" lvl="8" indent="-304800" algn="l" rtl="0">
              <a:lnSpc>
                <a:spcPct val="100000"/>
              </a:lnSpc>
              <a:spcBef>
                <a:spcPts val="200"/>
              </a:spcBef>
              <a:spcAft>
                <a:spcPts val="0"/>
              </a:spcAft>
              <a:buClr>
                <a:schemeClr val="accent1"/>
              </a:buClr>
              <a:buSzPts val="1200"/>
              <a:buFont typeface="Arial" panose="020B0604020202090204"/>
              <a:buChar char="•"/>
              <a:defRPr sz="1200" b="0" i="0" u="none" strike="noStrike" cap="none">
                <a:solidFill>
                  <a:schemeClr val="dk2"/>
                </a:solidFill>
                <a:latin typeface="Verdana" panose="020B0804030504040204"/>
                <a:ea typeface="Verdana" panose="020B0804030504040204"/>
                <a:cs typeface="Verdana" panose="020B0804030504040204"/>
                <a:sym typeface="Verdana" panose="020B0804030504040204"/>
              </a:defRPr>
            </a:lvl9pPr>
          </a:lstStyle>
          <a:p/>
        </p:txBody>
      </p:sp>
      <p:sp>
        <p:nvSpPr>
          <p:cNvPr id="8" name="Google Shape;8;p42"/>
          <p:cNvSpPr txBox="1"/>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lvl1pPr marL="0" marR="0" lvl="0"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1pPr>
            <a:lvl2pPr marL="0" marR="0" lvl="1"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2pPr>
            <a:lvl3pPr marL="0" marR="0" lvl="2"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3pPr>
            <a:lvl4pPr marL="0" marR="0" lvl="3"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4pPr>
            <a:lvl5pPr marL="0" marR="0" lvl="4"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5pPr>
            <a:lvl6pPr marL="0" marR="0" lvl="5"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6pPr>
            <a:lvl7pPr marL="0" marR="0" lvl="6"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7pPr>
            <a:lvl8pPr marL="0" marR="0" lvl="7"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8pPr>
            <a:lvl9pPr marL="0" marR="0" lvl="8" indent="0" algn="l" rtl="0">
              <a:lnSpc>
                <a:spcPct val="100000"/>
              </a:lnSpc>
              <a:spcBef>
                <a:spcPts val="0"/>
              </a:spcBef>
              <a:spcAft>
                <a:spcPts val="0"/>
              </a:spcAft>
              <a:buClr>
                <a:srgbClr val="000000"/>
              </a:buClr>
              <a:buSzPts val="900"/>
              <a:buFont typeface="Arial" panose="020B0604020202090204"/>
              <a:buNone/>
              <a:defRPr sz="900" b="0" i="0" u="none" strike="noStrike" cap="none">
                <a:solidFill>
                  <a:srgbClr val="262626"/>
                </a:solidFill>
                <a:latin typeface="Verdana" panose="020B0804030504040204"/>
                <a:ea typeface="Verdana" panose="020B0804030504040204"/>
                <a:cs typeface="Verdana" panose="020B0804030504040204"/>
                <a:sym typeface="Verdana" panose="020B0804030504040204"/>
              </a:defRPr>
            </a:lvl9pPr>
          </a:lstStyle>
          <a:p>
            <a:pPr marL="0" lvl="0" indent="0" algn="l" rtl="0">
              <a:spcBef>
                <a:spcPts val="0"/>
              </a:spcBef>
              <a:spcAft>
                <a:spcPts val="0"/>
              </a:spcAft>
              <a:buNone/>
            </a:pPr>
            <a:fld id="{00000000-1234-1234-1234-123412341234}" type="slidenum">
              <a:rPr lang="zh-CN"/>
            </a:fld>
            <a:endParaRPr lang="zh-CN"/>
          </a:p>
        </p:txBody>
      </p:sp>
      <p:sp>
        <p:nvSpPr>
          <p:cNvPr id="9" name="Google Shape;9;p42"/>
          <p:cNvSpPr/>
          <p:nvPr/>
        </p:nvSpPr>
        <p:spPr>
          <a:xfrm>
            <a:off x="457200" y="926225"/>
            <a:ext cx="8686800" cy="34289"/>
          </a:xfrm>
          <a:prstGeom prst="rect">
            <a:avLst/>
          </a:prstGeom>
          <a:solidFill>
            <a:schemeClr val="lt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90204"/>
              <a:buNone/>
            </a:pPr>
            <a:endParaRPr sz="1400" b="0" i="0" u="none" strike="noStrike" cap="none">
              <a:solidFill>
                <a:schemeClr val="lt1"/>
              </a:solidFill>
              <a:latin typeface="Verdana" panose="020B0804030504040204"/>
              <a:ea typeface="Verdana" panose="020B0804030504040204"/>
              <a:cs typeface="Verdana" panose="020B0804030504040204"/>
              <a:sym typeface="Verdana" panose="020B0804030504040204"/>
            </a:endParaRPr>
          </a:p>
        </p:txBody>
      </p:sp>
      <p:sp>
        <p:nvSpPr>
          <p:cNvPr id="10" name="Google Shape;10;p42"/>
          <p:cNvSpPr txBox="1"/>
          <p:nvPr/>
        </p:nvSpPr>
        <p:spPr>
          <a:xfrm>
            <a:off x="5486400" y="4800600"/>
            <a:ext cx="3352800" cy="276999"/>
          </a:xfrm>
          <a:prstGeom prst="rect">
            <a:avLst/>
          </a:prstGeom>
          <a:noFill/>
          <a:ln>
            <a:noFill/>
          </a:ln>
        </p:spPr>
        <p:txBody>
          <a:bodyPr spcFirstLastPara="1" wrap="square" lIns="68575" tIns="34275" rIns="68575" bIns="34275" anchor="t" anchorCtr="0">
            <a:spAutoFit/>
          </a:bodyPr>
          <a:lstStyle/>
          <a:p>
            <a:pPr marL="0" marR="0" lvl="0" indent="0" algn="r" rtl="0">
              <a:lnSpc>
                <a:spcPct val="100000"/>
              </a:lnSpc>
              <a:spcBef>
                <a:spcPts val="0"/>
              </a:spcBef>
              <a:spcAft>
                <a:spcPts val="0"/>
              </a:spcAft>
              <a:buClr>
                <a:srgbClr val="000000"/>
              </a:buClr>
              <a:buSzPts val="1400"/>
              <a:buFont typeface="Arial" panose="020B0604020202090204"/>
              <a:buNone/>
            </a:pPr>
            <a:r>
              <a:rPr lang="zh-CN" sz="1400" b="0" i="0" u="none" strike="noStrike" cap="none">
                <a:solidFill>
                  <a:schemeClr val="lt2"/>
                </a:solidFill>
                <a:latin typeface="Times New Roman" panose="02020503050405090304"/>
                <a:ea typeface="Times New Roman" panose="02020503050405090304"/>
                <a:cs typeface="Times New Roman" panose="02020503050405090304"/>
                <a:sym typeface="Times New Roman" panose="02020503050405090304"/>
              </a:rPr>
              <a:t>Worcester Polytechnic Institute</a:t>
            </a:r>
            <a:endParaRPr sz="1400" b="0" i="0" u="none" strike="noStrike" cap="none">
              <a:solidFill>
                <a:schemeClr val="lt2"/>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1" name="Google Shape;11;p42"/>
          <p:cNvSpPr txBox="1"/>
          <p:nvPr>
            <p:ph type="ftr" idx="11"/>
          </p:nvPr>
        </p:nvSpPr>
        <p:spPr>
          <a:xfrm>
            <a:off x="457200" y="4800600"/>
            <a:ext cx="5105400" cy="228600"/>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rgbClr val="000000"/>
              </a:buClr>
              <a:buSzPts val="1100"/>
              <a:buFont typeface="Arial" panose="020B0604020202090204"/>
              <a:buNone/>
              <a:defRPr sz="1200" b="0" i="0" u="none" strike="noStrike" cap="none">
                <a:solidFill>
                  <a:schemeClr val="dk2"/>
                </a:solidFill>
                <a:latin typeface="Verdana" panose="020B0804030504040204"/>
                <a:ea typeface="Verdana" panose="020B0804030504040204"/>
                <a:cs typeface="Verdana" panose="020B0804030504040204"/>
                <a:sym typeface="Verdana" panose="020B0804030504040204"/>
              </a:defRPr>
            </a:lvl1pPr>
            <a:lvl2pPr marR="0" lvl="1" algn="l" rtl="0">
              <a:lnSpc>
                <a:spcPct val="100000"/>
              </a:lnSpc>
              <a:spcBef>
                <a:spcPts val="0"/>
              </a:spcBef>
              <a:spcAft>
                <a:spcPts val="0"/>
              </a:spcAft>
              <a:buClr>
                <a:srgbClr val="000000"/>
              </a:buClr>
              <a:buSzPts val="1100"/>
              <a:buFont typeface="Arial" panose="020B0604020202090204"/>
              <a:buNone/>
              <a:defRPr sz="14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2pPr>
            <a:lvl3pPr marR="0" lvl="2" algn="l" rtl="0">
              <a:lnSpc>
                <a:spcPct val="100000"/>
              </a:lnSpc>
              <a:spcBef>
                <a:spcPts val="0"/>
              </a:spcBef>
              <a:spcAft>
                <a:spcPts val="0"/>
              </a:spcAft>
              <a:buClr>
                <a:srgbClr val="000000"/>
              </a:buClr>
              <a:buSzPts val="1100"/>
              <a:buFont typeface="Arial" panose="020B0604020202090204"/>
              <a:buNone/>
              <a:defRPr sz="14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3pPr>
            <a:lvl4pPr marR="0" lvl="3" algn="l" rtl="0">
              <a:lnSpc>
                <a:spcPct val="100000"/>
              </a:lnSpc>
              <a:spcBef>
                <a:spcPts val="0"/>
              </a:spcBef>
              <a:spcAft>
                <a:spcPts val="0"/>
              </a:spcAft>
              <a:buClr>
                <a:srgbClr val="000000"/>
              </a:buClr>
              <a:buSzPts val="1100"/>
              <a:buFont typeface="Arial" panose="020B0604020202090204"/>
              <a:buNone/>
              <a:defRPr sz="14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4pPr>
            <a:lvl5pPr marR="0" lvl="4" algn="l" rtl="0">
              <a:lnSpc>
                <a:spcPct val="100000"/>
              </a:lnSpc>
              <a:spcBef>
                <a:spcPts val="0"/>
              </a:spcBef>
              <a:spcAft>
                <a:spcPts val="0"/>
              </a:spcAft>
              <a:buClr>
                <a:srgbClr val="000000"/>
              </a:buClr>
              <a:buSzPts val="1100"/>
              <a:buFont typeface="Arial" panose="020B0604020202090204"/>
              <a:buNone/>
              <a:defRPr sz="14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5pPr>
            <a:lvl6pPr marR="0" lvl="5" algn="l" rtl="0">
              <a:lnSpc>
                <a:spcPct val="100000"/>
              </a:lnSpc>
              <a:spcBef>
                <a:spcPts val="0"/>
              </a:spcBef>
              <a:spcAft>
                <a:spcPts val="0"/>
              </a:spcAft>
              <a:buClr>
                <a:srgbClr val="000000"/>
              </a:buClr>
              <a:buSzPts val="1100"/>
              <a:buFont typeface="Arial" panose="020B0604020202090204"/>
              <a:buNone/>
              <a:defRPr sz="14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6pPr>
            <a:lvl7pPr marR="0" lvl="6" algn="l" rtl="0">
              <a:lnSpc>
                <a:spcPct val="100000"/>
              </a:lnSpc>
              <a:spcBef>
                <a:spcPts val="0"/>
              </a:spcBef>
              <a:spcAft>
                <a:spcPts val="0"/>
              </a:spcAft>
              <a:buClr>
                <a:srgbClr val="000000"/>
              </a:buClr>
              <a:buSzPts val="1100"/>
              <a:buFont typeface="Arial" panose="020B0604020202090204"/>
              <a:buNone/>
              <a:defRPr sz="14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7pPr>
            <a:lvl8pPr marR="0" lvl="7" algn="l" rtl="0">
              <a:lnSpc>
                <a:spcPct val="100000"/>
              </a:lnSpc>
              <a:spcBef>
                <a:spcPts val="0"/>
              </a:spcBef>
              <a:spcAft>
                <a:spcPts val="0"/>
              </a:spcAft>
              <a:buClr>
                <a:srgbClr val="000000"/>
              </a:buClr>
              <a:buSzPts val="1100"/>
              <a:buFont typeface="Arial" panose="020B0604020202090204"/>
              <a:buNone/>
              <a:defRPr sz="14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8pPr>
            <a:lvl9pPr marR="0" lvl="8" algn="l" rtl="0">
              <a:lnSpc>
                <a:spcPct val="100000"/>
              </a:lnSpc>
              <a:spcBef>
                <a:spcPts val="0"/>
              </a:spcBef>
              <a:spcAft>
                <a:spcPts val="0"/>
              </a:spcAft>
              <a:buClr>
                <a:srgbClr val="000000"/>
              </a:buClr>
              <a:buSzPts val="1100"/>
              <a:buFont typeface="Arial" panose="020B0604020202090204"/>
              <a:buNone/>
              <a:defRPr sz="14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5.jpeg"/><Relationship Id="rId7" Type="http://schemas.openxmlformats.org/officeDocument/2006/relationships/image" Target="../media/image14.jpeg"/><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 Id="rId3" Type="http://schemas.openxmlformats.org/officeDocument/2006/relationships/image" Target="../media/image10.jpeg"/><Relationship Id="rId2" Type="http://schemas.openxmlformats.org/officeDocument/2006/relationships/image" Target="../media/image9.png"/><Relationship Id="rId10" Type="http://schemas.openxmlformats.org/officeDocument/2006/relationships/notesSlide" Target="../notesSlides/notesSlide3.xml"/><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hyperlink" Target="https://docs.google.com/forms/d/e/1FAIpQLSfYlz7IJl24VsIMbgRiqswPD1c8iaETFRp5isvF4d1HsJpmQA/viewform?usp=publish-editor"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2.xml"/><Relationship Id="rId2" Type="http://schemas.openxmlformats.org/officeDocument/2006/relationships/image" Target="../media/image32.png"/><Relationship Id="rId1"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41.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image" Target="../media/image43.jpe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2.xml"/><Relationship Id="rId2" Type="http://schemas.openxmlformats.org/officeDocument/2006/relationships/image" Target="../media/image47.png"/><Relationship Id="rId1" Type="http://schemas.openxmlformats.org/officeDocument/2006/relationships/image" Target="../media/image46.jpe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2.xml"/><Relationship Id="rId2" Type="http://schemas.openxmlformats.org/officeDocument/2006/relationships/image" Target="../media/image49.jpeg"/><Relationship Id="rId1" Type="http://schemas.openxmlformats.org/officeDocument/2006/relationships/image" Target="../media/image48.jpe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50.jpe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2.xml"/><Relationship Id="rId2" Type="http://schemas.openxmlformats.org/officeDocument/2006/relationships/image" Target="../media/image52.png"/><Relationship Id="rId1" Type="http://schemas.openxmlformats.org/officeDocument/2006/relationships/image" Target="../media/image51.jpe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2.xml"/><Relationship Id="rId2" Type="http://schemas.openxmlformats.org/officeDocument/2006/relationships/image" Target="../media/image53.png"/><Relationship Id="rId1" Type="http://schemas.openxmlformats.org/officeDocument/2006/relationships/hyperlink" Target="https://docs.google.com/forms/d/e/1FAIpQLSeWm6VmdRqP1jc2hU-sAQfu6CTMRnFNIZcRbN3DBW2gzjh0ZA/viewform?usp=publish-editor" TargetMode="External"/></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2.xml"/><Relationship Id="rId2" Type="http://schemas.openxmlformats.org/officeDocument/2006/relationships/image" Target="../media/image54.png"/><Relationship Id="rId1" Type="http://schemas.openxmlformats.org/officeDocument/2006/relationships/hyperlink" Target="https://docs.google.com/forms/d/e/1FAIpQLSfLsSk2Im3z0i-C1vZZvoncM_lZDDe_UpqJ85Q3chkUuPl4Hg/viewform" TargetMode="Externa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67" name="Shape 67"/>
        <p:cNvGrpSpPr/>
        <p:nvPr/>
      </p:nvGrpSpPr>
      <p:grpSpPr>
        <a:xfrm>
          <a:off x="0" y="0"/>
          <a:ext cx="0" cy="0"/>
          <a:chOff x="0" y="0"/>
          <a:chExt cx="0" cy="0"/>
        </a:xfrm>
      </p:grpSpPr>
      <p:sp>
        <p:nvSpPr>
          <p:cNvPr id="68" name="Google Shape;68;p1"/>
          <p:cNvSpPr txBox="1"/>
          <p:nvPr>
            <p:ph type="ctrTitle"/>
          </p:nvPr>
        </p:nvSpPr>
        <p:spPr>
          <a:xfrm>
            <a:off x="457200" y="1972628"/>
            <a:ext cx="8308800" cy="2085000"/>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3000"/>
              <a:buFont typeface="Verdana" panose="020B0804030504040204"/>
              <a:buNone/>
            </a:pPr>
            <a:br>
              <a:rPr lang="zh-CN"/>
            </a:br>
            <a:br>
              <a:rPr lang="zh-CN"/>
            </a:br>
            <a:br>
              <a:rPr lang="zh-CN"/>
            </a:br>
            <a:br>
              <a:rPr lang="zh-CN"/>
            </a:br>
            <a:br>
              <a:rPr lang="zh-CN"/>
            </a:br>
            <a:r>
              <a:rPr lang="zh-CN" sz="2300">
                <a:solidFill>
                  <a:srgbClr val="292929"/>
                </a:solidFill>
                <a:latin typeface="Helvetica Neue" panose="02000503000000020004"/>
                <a:ea typeface="Helvetica Neue" panose="02000503000000020004"/>
                <a:cs typeface="Helvetica Neue" panose="02000503000000020004"/>
                <a:sym typeface="Helvetica Neue" panose="02000503000000020004"/>
              </a:rPr>
              <a:t>NAIRR Workshop Series on Cybersecurity, Edge AI, and Autonomous Driving</a:t>
            </a:r>
            <a:br>
              <a:rPr lang="zh-CN">
                <a:solidFill>
                  <a:srgbClr val="000000"/>
                </a:solidFill>
                <a:latin typeface="Helvetica Neue" panose="02000503000000020004"/>
                <a:ea typeface="Helvetica Neue" panose="02000503000000020004"/>
                <a:cs typeface="Helvetica Neue" panose="02000503000000020004"/>
                <a:sym typeface="Helvetica Neue" panose="02000503000000020004"/>
              </a:rPr>
            </a:br>
            <a:br>
              <a:rPr lang="zh-CN"/>
            </a:br>
            <a:endParaRPr lang="zh-CN"/>
          </a:p>
        </p:txBody>
      </p:sp>
      <p:sp>
        <p:nvSpPr>
          <p:cNvPr id="69" name="Google Shape;69;p1"/>
          <p:cNvSpPr txBox="1"/>
          <p:nvPr/>
        </p:nvSpPr>
        <p:spPr>
          <a:xfrm>
            <a:off x="565225" y="3958375"/>
            <a:ext cx="81393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panose="020B0604020202090204"/>
              <a:buNone/>
            </a:pPr>
            <a:r>
              <a:rPr lang="zh-CN" sz="1800">
                <a:solidFill>
                  <a:schemeClr val="dk1"/>
                </a:solidFill>
                <a:latin typeface="Verdana" panose="020B0804030504040204"/>
                <a:ea typeface="Verdana" panose="020B0804030504040204"/>
                <a:cs typeface="Verdana" panose="020B0804030504040204"/>
                <a:sym typeface="Verdana" panose="020B0804030504040204"/>
              </a:rPr>
              <a:t>WPI &amp; Oakland University</a:t>
            </a:r>
            <a:endParaRPr sz="1800" b="0" i="0" u="none" strike="noStrike" cap="none">
              <a:solidFill>
                <a:schemeClr val="dk1"/>
              </a:solidFill>
              <a:latin typeface="Verdana" panose="020B0804030504040204"/>
              <a:ea typeface="Verdana" panose="020B0804030504040204"/>
              <a:cs typeface="Verdana" panose="020B0804030504040204"/>
              <a:sym typeface="Verdana" panose="020B0804030504040204"/>
            </a:endParaRPr>
          </a:p>
        </p:txBody>
      </p:sp>
      <p:pic>
        <p:nvPicPr>
          <p:cNvPr id="70" name="Google Shape;70;p1"/>
          <p:cNvPicPr preferRelativeResize="0"/>
          <p:nvPr/>
        </p:nvPicPr>
        <p:blipFill>
          <a:blip r:embed="rId1"/>
          <a:stretch>
            <a:fillRect/>
          </a:stretch>
        </p:blipFill>
        <p:spPr>
          <a:xfrm>
            <a:off x="5664275" y="717925"/>
            <a:ext cx="1052550" cy="10058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74" name="Shape 74"/>
        <p:cNvGrpSpPr/>
        <p:nvPr/>
      </p:nvGrpSpPr>
      <p:grpSpPr>
        <a:xfrm>
          <a:off x="0" y="0"/>
          <a:ext cx="0" cy="0"/>
          <a:chOff x="0" y="0"/>
          <a:chExt cx="0" cy="0"/>
        </a:xfrm>
      </p:grpSpPr>
      <p:sp>
        <p:nvSpPr>
          <p:cNvPr id="75" name="Google Shape;75;g396d4a5dad6_3_35"/>
          <p:cNvSpPr txBox="1"/>
          <p:nvPr/>
        </p:nvSpPr>
        <p:spPr>
          <a:xfrm>
            <a:off x="407200" y="428625"/>
            <a:ext cx="61722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1"/>
              </a:solidFill>
              <a:latin typeface="Verdana" panose="020B0804030504040204"/>
              <a:ea typeface="Verdana" panose="020B0804030504040204"/>
              <a:cs typeface="Verdana" panose="020B0804030504040204"/>
              <a:sym typeface="Verdana" panose="020B0804030504040204"/>
            </a:endParaRPr>
          </a:p>
        </p:txBody>
      </p:sp>
      <p:sp>
        <p:nvSpPr>
          <p:cNvPr id="76" name="Google Shape;76;g396d4a5dad6_3_35"/>
          <p:cNvSpPr txBox="1"/>
          <p:nvPr>
            <p:ph type="title"/>
          </p:nvPr>
        </p:nvSpPr>
        <p:spPr>
          <a:xfrm>
            <a:off x="457200" y="263525"/>
            <a:ext cx="8229600" cy="600000"/>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solidFill>
                  <a:srgbClr val="000000"/>
                </a:solidFill>
                <a:latin typeface="Helvetica Neue" panose="02000503000000020004"/>
                <a:ea typeface="Helvetica Neue" panose="02000503000000020004"/>
                <a:cs typeface="Helvetica Neue" panose="02000503000000020004"/>
                <a:sym typeface="Helvetica Neue" panose="02000503000000020004"/>
              </a:rPr>
              <a:t>CARE-AI</a:t>
            </a:r>
            <a:r>
              <a:rPr lang="zh-CN">
                <a:solidFill>
                  <a:srgbClr val="000000"/>
                </a:solidFill>
                <a:latin typeface="Helvetica Neue" panose="02000503000000020004"/>
                <a:ea typeface="Helvetica Neue" panose="02000503000000020004"/>
                <a:cs typeface="Helvetica Neue" panose="02000503000000020004"/>
                <a:sym typeface="Helvetica Neue" panose="02000503000000020004"/>
              </a:rPr>
              <a:t> Team</a:t>
            </a:r>
            <a:endParaRPr lang="zh-CN">
              <a:solidFill>
                <a:srgbClr val="000000"/>
              </a:solidFill>
              <a:latin typeface="Helvetica Neue" panose="02000503000000020004"/>
              <a:ea typeface="Helvetica Neue" panose="02000503000000020004"/>
              <a:cs typeface="Helvetica Neue" panose="02000503000000020004"/>
              <a:sym typeface="Helvetica Neue" panose="02000503000000020004"/>
            </a:endParaRPr>
          </a:p>
        </p:txBody>
      </p:sp>
      <p:pic>
        <p:nvPicPr>
          <p:cNvPr id="77" name="Google Shape;77;g396d4a5dad6_3_35"/>
          <p:cNvPicPr preferRelativeResize="0"/>
          <p:nvPr/>
        </p:nvPicPr>
        <p:blipFill>
          <a:blip r:embed="rId1"/>
          <a:stretch>
            <a:fillRect/>
          </a:stretch>
        </p:blipFill>
        <p:spPr>
          <a:xfrm>
            <a:off x="742350" y="999875"/>
            <a:ext cx="7906950" cy="39483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81" name="Shape 81"/>
        <p:cNvGrpSpPr/>
        <p:nvPr/>
      </p:nvGrpSpPr>
      <p:grpSpPr>
        <a:xfrm>
          <a:off x="0" y="0"/>
          <a:ext cx="0" cy="0"/>
          <a:chOff x="0" y="0"/>
          <a:chExt cx="0" cy="0"/>
        </a:xfrm>
      </p:grpSpPr>
      <p:sp>
        <p:nvSpPr>
          <p:cNvPr id="82" name="Google Shape;82;p2"/>
          <p:cNvSpPr txBox="1"/>
          <p:nvPr>
            <p:ph type="title"/>
          </p:nvPr>
        </p:nvSpPr>
        <p:spPr>
          <a:xfrm>
            <a:off x="457200" y="263525"/>
            <a:ext cx="8229600" cy="600000"/>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solidFill>
                  <a:srgbClr val="000000"/>
                </a:solidFill>
                <a:latin typeface="Helvetica Neue" panose="02000503000000020004"/>
                <a:ea typeface="Helvetica Neue" panose="02000503000000020004"/>
                <a:cs typeface="Helvetica Neue" panose="02000503000000020004"/>
                <a:sym typeface="Helvetica Neue" panose="02000503000000020004"/>
              </a:rPr>
              <a:t>L</a:t>
            </a:r>
            <a:r>
              <a:rPr lang="zh-CN">
                <a:solidFill>
                  <a:srgbClr val="000000"/>
                </a:solidFill>
                <a:latin typeface="Helvetica Neue" panose="02000503000000020004"/>
                <a:ea typeface="Helvetica Neue" panose="02000503000000020004"/>
                <a:cs typeface="Helvetica Neue" panose="02000503000000020004"/>
                <a:sym typeface="Helvetica Neue" panose="02000503000000020004"/>
              </a:rPr>
              <a:t>IONS</a:t>
            </a:r>
            <a:r>
              <a:rPr lang="zh-CN">
                <a:solidFill>
                  <a:srgbClr val="000000"/>
                </a:solidFill>
                <a:latin typeface="Helvetica Neue" panose="02000503000000020004"/>
                <a:ea typeface="Helvetica Neue" panose="02000503000000020004"/>
                <a:cs typeface="Helvetica Neue" panose="02000503000000020004"/>
                <a:sym typeface="Helvetica Neue" panose="02000503000000020004"/>
              </a:rPr>
              <a:t> Group</a:t>
            </a:r>
            <a:endParaRPr lang="zh-CN">
              <a:solidFill>
                <a:srgbClr val="000000"/>
              </a:solidFill>
              <a:latin typeface="Helvetica Neue" panose="02000503000000020004"/>
              <a:ea typeface="Helvetica Neue" panose="02000503000000020004"/>
              <a:cs typeface="Helvetica Neue" panose="02000503000000020004"/>
              <a:sym typeface="Helvetica Neue" panose="02000503000000020004"/>
            </a:endParaRPr>
          </a:p>
        </p:txBody>
      </p:sp>
      <p:sp>
        <p:nvSpPr>
          <p:cNvPr id="83" name="Google Shape;83;p2"/>
          <p:cNvSpPr txBox="1"/>
          <p:nvPr>
            <p:ph type="sldNum" idx="12"/>
          </p:nvPr>
        </p:nvSpPr>
        <p:spPr>
          <a:xfrm>
            <a:off x="1" y="4790748"/>
            <a:ext cx="457200" cy="2955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pic>
        <p:nvPicPr>
          <p:cNvPr id="84" name="Google Shape;84;p2"/>
          <p:cNvPicPr preferRelativeResize="0"/>
          <p:nvPr/>
        </p:nvPicPr>
        <p:blipFill rotWithShape="1">
          <a:blip r:embed="rId1"/>
          <a:srcRect/>
          <a:stretch>
            <a:fillRect/>
          </a:stretch>
        </p:blipFill>
        <p:spPr>
          <a:xfrm>
            <a:off x="1141463" y="1350594"/>
            <a:ext cx="1259999" cy="1259999"/>
          </a:xfrm>
          <a:prstGeom prst="rect">
            <a:avLst/>
          </a:prstGeom>
          <a:noFill/>
          <a:ln>
            <a:noFill/>
          </a:ln>
        </p:spPr>
      </p:pic>
      <p:pic>
        <p:nvPicPr>
          <p:cNvPr id="85" name="Google Shape;85;p2"/>
          <p:cNvPicPr preferRelativeResize="0"/>
          <p:nvPr/>
        </p:nvPicPr>
        <p:blipFill rotWithShape="1">
          <a:blip r:embed="rId2"/>
          <a:srcRect l="12663" t="11963" r="13585" b="14286"/>
          <a:stretch>
            <a:fillRect/>
          </a:stretch>
        </p:blipFill>
        <p:spPr>
          <a:xfrm>
            <a:off x="1141463" y="3270425"/>
            <a:ext cx="1259999" cy="1259999"/>
          </a:xfrm>
          <a:prstGeom prst="rect">
            <a:avLst/>
          </a:prstGeom>
          <a:noFill/>
          <a:ln>
            <a:noFill/>
          </a:ln>
        </p:spPr>
      </p:pic>
      <p:pic>
        <p:nvPicPr>
          <p:cNvPr id="86" name="Google Shape;86;p2"/>
          <p:cNvPicPr preferRelativeResize="0"/>
          <p:nvPr/>
        </p:nvPicPr>
        <p:blipFill rotWithShape="1">
          <a:blip r:embed="rId3"/>
          <a:srcRect/>
          <a:stretch>
            <a:fillRect/>
          </a:stretch>
        </p:blipFill>
        <p:spPr>
          <a:xfrm>
            <a:off x="7061062" y="1350605"/>
            <a:ext cx="1080000" cy="1080000"/>
          </a:xfrm>
          <a:prstGeom prst="rect">
            <a:avLst/>
          </a:prstGeom>
          <a:noFill/>
          <a:ln>
            <a:noFill/>
          </a:ln>
        </p:spPr>
      </p:pic>
      <p:pic>
        <p:nvPicPr>
          <p:cNvPr id="87" name="Google Shape;87;p2" title="headshot.jpg"/>
          <p:cNvPicPr preferRelativeResize="0"/>
          <p:nvPr/>
        </p:nvPicPr>
        <p:blipFill rotWithShape="1">
          <a:blip r:embed="rId4"/>
          <a:srcRect l="25164" t="17712" r="17683" b="41728"/>
          <a:stretch>
            <a:fillRect/>
          </a:stretch>
        </p:blipFill>
        <p:spPr>
          <a:xfrm>
            <a:off x="3875936" y="1354204"/>
            <a:ext cx="1080001" cy="1072799"/>
          </a:xfrm>
          <a:prstGeom prst="rect">
            <a:avLst/>
          </a:prstGeom>
          <a:noFill/>
          <a:ln>
            <a:noFill/>
          </a:ln>
        </p:spPr>
      </p:pic>
      <p:pic>
        <p:nvPicPr>
          <p:cNvPr id="88" name="Google Shape;88;p2" title="Picture_TH.jpg"/>
          <p:cNvPicPr preferRelativeResize="0"/>
          <p:nvPr/>
        </p:nvPicPr>
        <p:blipFill rotWithShape="1">
          <a:blip r:embed="rId5"/>
          <a:srcRect t="9411" b="20408"/>
          <a:stretch>
            <a:fillRect/>
          </a:stretch>
        </p:blipFill>
        <p:spPr>
          <a:xfrm>
            <a:off x="7061074" y="3270421"/>
            <a:ext cx="1080000" cy="1087201"/>
          </a:xfrm>
          <a:prstGeom prst="rect">
            <a:avLst/>
          </a:prstGeom>
          <a:noFill/>
          <a:ln>
            <a:noFill/>
          </a:ln>
        </p:spPr>
      </p:pic>
      <p:pic>
        <p:nvPicPr>
          <p:cNvPr id="89" name="Google Shape;89;p2" title="6d8912544390d707e1309dec537b68fb.jpg"/>
          <p:cNvPicPr preferRelativeResize="0"/>
          <p:nvPr/>
        </p:nvPicPr>
        <p:blipFill rotWithShape="1">
          <a:blip r:embed="rId6"/>
          <a:srcRect/>
          <a:stretch>
            <a:fillRect/>
          </a:stretch>
        </p:blipFill>
        <p:spPr>
          <a:xfrm>
            <a:off x="5468521" y="3274026"/>
            <a:ext cx="1080000" cy="1080000"/>
          </a:xfrm>
          <a:prstGeom prst="rect">
            <a:avLst/>
          </a:prstGeom>
          <a:noFill/>
          <a:ln>
            <a:noFill/>
          </a:ln>
        </p:spPr>
      </p:pic>
      <p:pic>
        <p:nvPicPr>
          <p:cNvPr id="90" name="Google Shape;90;p2" title="8f467292d39d0bf0114c377e765d7114.jpg"/>
          <p:cNvPicPr preferRelativeResize="0"/>
          <p:nvPr/>
        </p:nvPicPr>
        <p:blipFill rotWithShape="1">
          <a:blip r:embed="rId7"/>
          <a:srcRect/>
          <a:stretch>
            <a:fillRect/>
          </a:stretch>
        </p:blipFill>
        <p:spPr>
          <a:xfrm>
            <a:off x="3875938" y="3274022"/>
            <a:ext cx="1080000" cy="1080000"/>
          </a:xfrm>
          <a:prstGeom prst="rect">
            <a:avLst/>
          </a:prstGeom>
          <a:noFill/>
          <a:ln>
            <a:noFill/>
          </a:ln>
        </p:spPr>
      </p:pic>
      <p:pic>
        <p:nvPicPr>
          <p:cNvPr id="91" name="Google Shape;91;p2" title="8fa7805412d61c43b28091e23990fde5.jpg"/>
          <p:cNvPicPr preferRelativeResize="0"/>
          <p:nvPr/>
        </p:nvPicPr>
        <p:blipFill rotWithShape="1">
          <a:blip r:embed="rId8"/>
          <a:srcRect/>
          <a:stretch>
            <a:fillRect/>
          </a:stretch>
        </p:blipFill>
        <p:spPr>
          <a:xfrm>
            <a:off x="5468500" y="1350605"/>
            <a:ext cx="1080000" cy="1080000"/>
          </a:xfrm>
          <a:prstGeom prst="rect">
            <a:avLst/>
          </a:prstGeom>
          <a:noFill/>
          <a:ln>
            <a:noFill/>
          </a:ln>
        </p:spPr>
      </p:pic>
      <p:sp>
        <p:nvSpPr>
          <p:cNvPr id="92" name="Google Shape;92;p2"/>
          <p:cNvSpPr txBox="1"/>
          <p:nvPr/>
        </p:nvSpPr>
        <p:spPr>
          <a:xfrm>
            <a:off x="1141468" y="2748063"/>
            <a:ext cx="1260000" cy="3849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300"/>
              <a:buFont typeface="Arial" panose="020B0604020202090204"/>
              <a:buNone/>
            </a:pPr>
            <a:r>
              <a:rPr lang="zh-CN" sz="1300" b="0" i="0" u="none" strike="noStrike" cap="none">
                <a:solidFill>
                  <a:schemeClr val="dk1"/>
                </a:solidFill>
                <a:latin typeface="Georgia" panose="02040502050405090303"/>
                <a:ea typeface="Georgia" panose="02040502050405090303"/>
                <a:cs typeface="Georgia" panose="02040502050405090303"/>
                <a:sym typeface="Georgia" panose="02040502050405090303"/>
              </a:rPr>
              <a:t>Prof. Jun Dai</a:t>
            </a:r>
            <a:endParaRPr sz="1300" b="0" i="0" u="none" strike="noStrike" cap="none">
              <a:solidFill>
                <a:schemeClr val="dk1"/>
              </a:solidFill>
              <a:latin typeface="Georgia" panose="02040502050405090303"/>
              <a:ea typeface="Georgia" panose="02040502050405090303"/>
              <a:cs typeface="Georgia" panose="02040502050405090303"/>
              <a:sym typeface="Georgia" panose="02040502050405090303"/>
            </a:endParaRPr>
          </a:p>
        </p:txBody>
      </p:sp>
      <p:sp>
        <p:nvSpPr>
          <p:cNvPr id="93" name="Google Shape;93;p2"/>
          <p:cNvSpPr txBox="1"/>
          <p:nvPr/>
        </p:nvSpPr>
        <p:spPr>
          <a:xfrm>
            <a:off x="3769882" y="2504525"/>
            <a:ext cx="1292100" cy="569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panose="020B0604020202090204"/>
              <a:buNone/>
            </a:pPr>
            <a:r>
              <a:rPr lang="zh-CN" sz="1200" b="0" i="0" u="none" strike="noStrike" cap="none">
                <a:solidFill>
                  <a:srgbClr val="111827"/>
                </a:solidFill>
                <a:highlight>
                  <a:srgbClr val="FFFFFF"/>
                </a:highlight>
                <a:latin typeface="Georgia" panose="02040502050405090303"/>
                <a:ea typeface="Georgia" panose="02040502050405090303"/>
                <a:cs typeface="Georgia" panose="02040502050405090303"/>
                <a:sym typeface="Georgia" panose="02040502050405090303"/>
              </a:rPr>
              <a:t>Cooper Dean</a:t>
            </a:r>
            <a:br>
              <a:rPr lang="zh-CN" sz="1300" b="0" i="0" u="none" strike="noStrike" cap="none">
                <a:solidFill>
                  <a:schemeClr val="dk1"/>
                </a:solidFill>
                <a:latin typeface="Georgia" panose="02040502050405090303"/>
                <a:ea typeface="Georgia" panose="02040502050405090303"/>
                <a:cs typeface="Georgia" panose="02040502050405090303"/>
                <a:sym typeface="Georgia" panose="02040502050405090303"/>
              </a:rPr>
            </a:br>
            <a:endParaRPr sz="1300" b="0" i="0" u="none" strike="noStrike" cap="none">
              <a:solidFill>
                <a:schemeClr val="dk1"/>
              </a:solidFill>
              <a:latin typeface="Georgia" panose="02040502050405090303"/>
              <a:ea typeface="Georgia" panose="02040502050405090303"/>
              <a:cs typeface="Georgia" panose="02040502050405090303"/>
              <a:sym typeface="Georgia" panose="02040502050405090303"/>
            </a:endParaRPr>
          </a:p>
        </p:txBody>
      </p:sp>
      <p:sp>
        <p:nvSpPr>
          <p:cNvPr id="94" name="Google Shape;94;p2"/>
          <p:cNvSpPr txBox="1"/>
          <p:nvPr/>
        </p:nvSpPr>
        <p:spPr>
          <a:xfrm>
            <a:off x="5362457" y="2504513"/>
            <a:ext cx="12921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panose="020B0604020202090204"/>
              <a:buNone/>
            </a:pPr>
            <a:r>
              <a:rPr lang="zh-CN" sz="1200" b="0" i="0" u="none" strike="noStrike" cap="none">
                <a:solidFill>
                  <a:srgbClr val="111827"/>
                </a:solidFill>
                <a:highlight>
                  <a:srgbClr val="FFFFFF"/>
                </a:highlight>
                <a:latin typeface="Georgia" panose="02040502050405090303"/>
                <a:ea typeface="Georgia" panose="02040502050405090303"/>
                <a:cs typeface="Georgia" panose="02040502050405090303"/>
                <a:sym typeface="Georgia" panose="02040502050405090303"/>
              </a:rPr>
              <a:t>Zhihao Zhang</a:t>
            </a:r>
            <a:endParaRPr sz="1300" b="0" i="0" u="none" strike="noStrike" cap="none">
              <a:solidFill>
                <a:schemeClr val="dk1"/>
              </a:solidFill>
              <a:latin typeface="Georgia" panose="02040502050405090303"/>
              <a:ea typeface="Georgia" panose="02040502050405090303"/>
              <a:cs typeface="Georgia" panose="02040502050405090303"/>
              <a:sym typeface="Georgia" panose="02040502050405090303"/>
            </a:endParaRPr>
          </a:p>
        </p:txBody>
      </p:sp>
      <p:sp>
        <p:nvSpPr>
          <p:cNvPr id="95" name="Google Shape;95;p2"/>
          <p:cNvSpPr txBox="1"/>
          <p:nvPr/>
        </p:nvSpPr>
        <p:spPr>
          <a:xfrm>
            <a:off x="7051357" y="2504513"/>
            <a:ext cx="12921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panose="020B0604020202090204"/>
              <a:buNone/>
            </a:pPr>
            <a:r>
              <a:rPr lang="zh-CN" sz="1200" b="0" i="0" u="none" strike="noStrike" cap="none">
                <a:solidFill>
                  <a:srgbClr val="111827"/>
                </a:solidFill>
                <a:highlight>
                  <a:srgbClr val="FFFFFF"/>
                </a:highlight>
                <a:latin typeface="Georgia" panose="02040502050405090303"/>
                <a:ea typeface="Georgia" panose="02040502050405090303"/>
                <a:cs typeface="Georgia" panose="02040502050405090303"/>
                <a:sym typeface="Georgia" panose="02040502050405090303"/>
              </a:rPr>
              <a:t>Brian Almaguer</a:t>
            </a:r>
            <a:endParaRPr sz="1300" b="0" i="0" u="none" strike="noStrike" cap="none">
              <a:solidFill>
                <a:schemeClr val="dk1"/>
              </a:solidFill>
              <a:latin typeface="Georgia" panose="02040502050405090303"/>
              <a:ea typeface="Georgia" panose="02040502050405090303"/>
              <a:cs typeface="Georgia" panose="02040502050405090303"/>
              <a:sym typeface="Georgia" panose="02040502050405090303"/>
            </a:endParaRPr>
          </a:p>
        </p:txBody>
      </p:sp>
      <p:sp>
        <p:nvSpPr>
          <p:cNvPr id="96" name="Google Shape;96;p2"/>
          <p:cNvSpPr txBox="1"/>
          <p:nvPr/>
        </p:nvSpPr>
        <p:spPr>
          <a:xfrm>
            <a:off x="586176" y="4588900"/>
            <a:ext cx="2370600" cy="3849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300"/>
              <a:buFont typeface="Arial" panose="020B0604020202090204"/>
              <a:buNone/>
            </a:pPr>
            <a:r>
              <a:rPr lang="zh-CN" sz="1300" b="0" i="0" u="none" strike="noStrike" cap="none">
                <a:solidFill>
                  <a:schemeClr val="dk1"/>
                </a:solidFill>
                <a:latin typeface="Georgia" panose="02040502050405090303"/>
                <a:ea typeface="Georgia" panose="02040502050405090303"/>
                <a:cs typeface="Georgia" panose="02040502050405090303"/>
                <a:sym typeface="Georgia" panose="02040502050405090303"/>
              </a:rPr>
              <a:t>Prof. Xiaoyan (Sherry) Sun</a:t>
            </a:r>
            <a:endParaRPr sz="1300" b="0" i="0" u="none" strike="noStrike" cap="none">
              <a:solidFill>
                <a:schemeClr val="dk1"/>
              </a:solidFill>
              <a:latin typeface="Georgia" panose="02040502050405090303"/>
              <a:ea typeface="Georgia" panose="02040502050405090303"/>
              <a:cs typeface="Georgia" panose="02040502050405090303"/>
              <a:sym typeface="Georgia" panose="02040502050405090303"/>
            </a:endParaRPr>
          </a:p>
        </p:txBody>
      </p:sp>
      <p:sp>
        <p:nvSpPr>
          <p:cNvPr id="97" name="Google Shape;97;p2"/>
          <p:cNvSpPr txBox="1"/>
          <p:nvPr/>
        </p:nvSpPr>
        <p:spPr>
          <a:xfrm>
            <a:off x="6779847" y="4421450"/>
            <a:ext cx="18351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panose="020B0604020202090204"/>
              <a:buNone/>
            </a:pPr>
            <a:r>
              <a:rPr lang="zh-CN" sz="1200" b="0" i="0" u="none" strike="noStrike" cap="none">
                <a:solidFill>
                  <a:srgbClr val="111827"/>
                </a:solidFill>
                <a:highlight>
                  <a:srgbClr val="FFFFFF"/>
                </a:highlight>
                <a:latin typeface="Georgia" panose="02040502050405090303"/>
                <a:ea typeface="Georgia" panose="02040502050405090303"/>
                <a:cs typeface="Georgia" panose="02040502050405090303"/>
                <a:sym typeface="Georgia" panose="02040502050405090303"/>
              </a:rPr>
              <a:t>Tran Ngoc Bao Huynh</a:t>
            </a:r>
            <a:endParaRPr sz="1200" b="0" i="0" u="none" strike="noStrike" cap="none">
              <a:solidFill>
                <a:srgbClr val="111827"/>
              </a:solidFill>
              <a:highlight>
                <a:srgbClr val="FFFFFF"/>
              </a:highlight>
              <a:latin typeface="Georgia" panose="02040502050405090303"/>
              <a:ea typeface="Georgia" panose="02040502050405090303"/>
              <a:cs typeface="Georgia" panose="02040502050405090303"/>
              <a:sym typeface="Georgia" panose="02040502050405090303"/>
            </a:endParaRPr>
          </a:p>
        </p:txBody>
      </p:sp>
      <p:sp>
        <p:nvSpPr>
          <p:cNvPr id="98" name="Google Shape;98;p2"/>
          <p:cNvSpPr txBox="1"/>
          <p:nvPr/>
        </p:nvSpPr>
        <p:spPr>
          <a:xfrm>
            <a:off x="5362482" y="4421438"/>
            <a:ext cx="12921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panose="020B0604020202090204"/>
              <a:buNone/>
            </a:pPr>
            <a:r>
              <a:rPr lang="zh-CN" sz="1200" b="0" i="0" u="none" strike="noStrike" cap="none">
                <a:solidFill>
                  <a:srgbClr val="111827"/>
                </a:solidFill>
                <a:highlight>
                  <a:srgbClr val="FFFFFF"/>
                </a:highlight>
                <a:latin typeface="Georgia" panose="02040502050405090303"/>
                <a:ea typeface="Georgia" panose="02040502050405090303"/>
                <a:cs typeface="Georgia" panose="02040502050405090303"/>
                <a:sym typeface="Georgia" panose="02040502050405090303"/>
              </a:rPr>
              <a:t>Chao Wang</a:t>
            </a:r>
            <a:endParaRPr sz="1300" b="0" i="0" u="none" strike="noStrike" cap="none">
              <a:solidFill>
                <a:schemeClr val="dk1"/>
              </a:solidFill>
              <a:latin typeface="Georgia" panose="02040502050405090303"/>
              <a:ea typeface="Georgia" panose="02040502050405090303"/>
              <a:cs typeface="Georgia" panose="02040502050405090303"/>
              <a:sym typeface="Georgia" panose="02040502050405090303"/>
            </a:endParaRPr>
          </a:p>
        </p:txBody>
      </p:sp>
      <p:sp>
        <p:nvSpPr>
          <p:cNvPr id="99" name="Google Shape;99;p2"/>
          <p:cNvSpPr txBox="1"/>
          <p:nvPr/>
        </p:nvSpPr>
        <p:spPr>
          <a:xfrm>
            <a:off x="3769907" y="4421450"/>
            <a:ext cx="12921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panose="020B0604020202090204"/>
              <a:buNone/>
            </a:pPr>
            <a:r>
              <a:rPr lang="zh-CN" sz="1200" b="0" i="0" u="none" strike="noStrike" cap="none">
                <a:solidFill>
                  <a:srgbClr val="111827"/>
                </a:solidFill>
                <a:highlight>
                  <a:srgbClr val="FFFFFF"/>
                </a:highlight>
                <a:latin typeface="Georgia" panose="02040502050405090303"/>
                <a:ea typeface="Georgia" panose="02040502050405090303"/>
                <a:cs typeface="Georgia" panose="02040502050405090303"/>
                <a:sym typeface="Georgia" panose="02040502050405090303"/>
              </a:rPr>
              <a:t>Haowen Xu</a:t>
            </a:r>
            <a:endParaRPr sz="1300" b="0" i="0" u="none" strike="noStrike" cap="none">
              <a:solidFill>
                <a:schemeClr val="dk1"/>
              </a:solidFill>
              <a:latin typeface="Georgia" panose="02040502050405090303"/>
              <a:ea typeface="Georgia" panose="02040502050405090303"/>
              <a:cs typeface="Georgia" panose="02040502050405090303"/>
              <a:sym typeface="Georgia" panose="020405020504050903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03" name="Shape 103"/>
        <p:cNvGrpSpPr/>
        <p:nvPr/>
      </p:nvGrpSpPr>
      <p:grpSpPr>
        <a:xfrm>
          <a:off x="0" y="0"/>
          <a:ext cx="0" cy="0"/>
          <a:chOff x="0" y="0"/>
          <a:chExt cx="0" cy="0"/>
        </a:xfrm>
      </p:grpSpPr>
      <p:sp>
        <p:nvSpPr>
          <p:cNvPr id="104" name="Google Shape;104;p3"/>
          <p:cNvSpPr txBox="1"/>
          <p:nvPr>
            <p:ph type="ctrTitle"/>
          </p:nvPr>
        </p:nvSpPr>
        <p:spPr>
          <a:xfrm>
            <a:off x="457200" y="1972628"/>
            <a:ext cx="8308658" cy="2085023"/>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3000"/>
              <a:buFont typeface="Verdana" panose="020B0804030504040204"/>
              <a:buNone/>
            </a:pPr>
            <a:br>
              <a:rPr lang="zh-CN"/>
            </a:br>
            <a:br>
              <a:rPr lang="zh-CN"/>
            </a:br>
            <a:br>
              <a:rPr lang="zh-CN"/>
            </a:br>
            <a:br>
              <a:rPr lang="zh-CN"/>
            </a:br>
            <a:br>
              <a:rPr lang="zh-CN"/>
            </a:br>
            <a:r>
              <a:rPr lang="zh-CN">
                <a:solidFill>
                  <a:srgbClr val="000000"/>
                </a:solidFill>
                <a:latin typeface="Helvetica Neue" panose="02000503000000020004"/>
                <a:ea typeface="Helvetica Neue" panose="02000503000000020004"/>
                <a:cs typeface="Helvetica Neue" panose="02000503000000020004"/>
                <a:sym typeface="Helvetica Neue" panose="02000503000000020004"/>
              </a:rPr>
              <a:t>2.1 AI for Cybersecurity: Threats and Defenses</a:t>
            </a:r>
            <a:br>
              <a:rPr lang="zh-CN">
                <a:solidFill>
                  <a:srgbClr val="000000"/>
                </a:solidFill>
                <a:latin typeface="Helvetica Neue" panose="02000503000000020004"/>
                <a:ea typeface="Helvetica Neue" panose="02000503000000020004"/>
                <a:cs typeface="Helvetica Neue" panose="02000503000000020004"/>
                <a:sym typeface="Helvetica Neue" panose="02000503000000020004"/>
              </a:rPr>
            </a:br>
            <a:br>
              <a:rPr lang="zh-CN"/>
            </a:br>
            <a:endParaRPr 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08" name="Shape 108"/>
        <p:cNvGrpSpPr/>
        <p:nvPr/>
      </p:nvGrpSpPr>
      <p:grpSpPr>
        <a:xfrm>
          <a:off x="0" y="0"/>
          <a:ext cx="0" cy="0"/>
          <a:chOff x="0" y="0"/>
          <a:chExt cx="0" cy="0"/>
        </a:xfrm>
      </p:grpSpPr>
      <p:sp>
        <p:nvSpPr>
          <p:cNvPr id="109" name="Google Shape;109;p4"/>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t>Pre-workshop Quiz</a:t>
            </a:r>
            <a:endParaRPr lang="zh-CN"/>
          </a:p>
        </p:txBody>
      </p:sp>
      <p:sp>
        <p:nvSpPr>
          <p:cNvPr id="110" name="Google Shape;110;p4"/>
          <p:cNvSpPr txBox="1"/>
          <p:nvPr>
            <p:ph type="body" idx="1"/>
          </p:nvPr>
        </p:nvSpPr>
        <p:spPr>
          <a:xfrm>
            <a:off x="457200" y="1143000"/>
            <a:ext cx="8229600" cy="3486150"/>
          </a:xfrm>
          <a:prstGeom prst="rect">
            <a:avLst/>
          </a:prstGeom>
          <a:noFill/>
          <a:ln>
            <a:noFill/>
          </a:ln>
        </p:spPr>
        <p:txBody>
          <a:bodyPr spcFirstLastPara="1" wrap="square" lIns="68575" tIns="34275" rIns="68575" bIns="34275" anchor="t" anchorCtr="0">
            <a:normAutofit/>
          </a:bodyPr>
          <a:lstStyle/>
          <a:p>
            <a:pPr marL="342900" lvl="0" indent="-165100" algn="l" rtl="0">
              <a:lnSpc>
                <a:spcPct val="95000"/>
              </a:lnSpc>
              <a:spcBef>
                <a:spcPts val="900"/>
              </a:spcBef>
              <a:spcAft>
                <a:spcPts val="0"/>
              </a:spcAft>
              <a:buSzPts val="1400"/>
              <a:buNone/>
            </a:pPr>
            <a:r>
              <a:rPr lang="zh-CN" u="sng">
                <a:solidFill>
                  <a:schemeClr val="hlink"/>
                </a:solidFill>
                <a:hlinkClick r:id="rId1"/>
              </a:rPr>
              <a:t>https://docs.google.com/forms/d/e/1FAIpQLSfYlz7IJl24VsIMbgRiqswPD1c8iaETFRp5isvF4d1HsJpmQA/viewform?usp=publish-editor</a:t>
            </a:r>
            <a:endParaRPr lang="zh-CN" u="sng">
              <a:solidFill>
                <a:schemeClr val="hlink"/>
              </a:solidFill>
            </a:endParaRPr>
          </a:p>
          <a:p>
            <a:pPr marL="342900" lvl="0" indent="-165100" algn="l" rtl="0">
              <a:lnSpc>
                <a:spcPct val="95000"/>
              </a:lnSpc>
              <a:spcBef>
                <a:spcPts val="900"/>
              </a:spcBef>
              <a:spcAft>
                <a:spcPts val="0"/>
              </a:spcAft>
              <a:buSzPts val="1400"/>
              <a:buNone/>
            </a:pPr>
          </a:p>
          <a:p>
            <a:pPr marL="342900" lvl="0" indent="-165100" algn="l" rtl="0">
              <a:lnSpc>
                <a:spcPct val="95000"/>
              </a:lnSpc>
              <a:spcBef>
                <a:spcPts val="900"/>
              </a:spcBef>
              <a:spcAft>
                <a:spcPts val="0"/>
              </a:spcAft>
              <a:buSzPts val="1400"/>
              <a:buNone/>
            </a:pPr>
          </a:p>
        </p:txBody>
      </p:sp>
      <p:sp>
        <p:nvSpPr>
          <p:cNvPr id="111" name="Google Shape;111;p4"/>
          <p:cNvSpPr txBox="1"/>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pic>
        <p:nvPicPr>
          <p:cNvPr id="112" name="Google Shape;112;p4"/>
          <p:cNvPicPr preferRelativeResize="0"/>
          <p:nvPr/>
        </p:nvPicPr>
        <p:blipFill rotWithShape="1">
          <a:blip r:embed="rId2"/>
          <a:srcRect/>
          <a:stretch>
            <a:fillRect/>
          </a:stretch>
        </p:blipFill>
        <p:spPr>
          <a:xfrm>
            <a:off x="3275400" y="1964200"/>
            <a:ext cx="2826550" cy="2826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16" name="Shape 116"/>
        <p:cNvGrpSpPr/>
        <p:nvPr/>
      </p:nvGrpSpPr>
      <p:grpSpPr>
        <a:xfrm>
          <a:off x="0" y="0"/>
          <a:ext cx="0" cy="0"/>
          <a:chOff x="0" y="0"/>
          <a:chExt cx="0" cy="0"/>
        </a:xfrm>
      </p:grpSpPr>
      <p:sp>
        <p:nvSpPr>
          <p:cNvPr id="117" name="Google Shape;117;p5"/>
          <p:cNvSpPr txBox="1"/>
          <p:nvPr>
            <p:ph type="ctrTitle"/>
          </p:nvPr>
        </p:nvSpPr>
        <p:spPr>
          <a:xfrm>
            <a:off x="457200" y="1972785"/>
            <a:ext cx="7479450" cy="2084938"/>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3000"/>
              <a:buFont typeface="Verdana" panose="020B0804030504040204"/>
              <a:buNone/>
            </a:pPr>
            <a:br>
              <a:rPr lang="zh-CN"/>
            </a:br>
            <a:br>
              <a:rPr lang="zh-CN"/>
            </a:br>
            <a:br>
              <a:rPr lang="zh-CN"/>
            </a:br>
            <a:br>
              <a:rPr lang="zh-CN"/>
            </a:br>
            <a:br>
              <a:rPr lang="zh-CN"/>
            </a:br>
            <a:r>
              <a:rPr lang="zh-CN">
                <a:solidFill>
                  <a:srgbClr val="000000"/>
                </a:solidFill>
                <a:latin typeface="Helvetica Neue" panose="02000503000000020004"/>
                <a:ea typeface="Helvetica Neue" panose="02000503000000020004"/>
                <a:cs typeface="Helvetica Neue" panose="02000503000000020004"/>
                <a:sym typeface="Helvetica Neue" panose="02000503000000020004"/>
              </a:rPr>
              <a:t>AI-</a:t>
            </a:r>
            <a:r>
              <a:rPr lang="zh-CN">
                <a:solidFill>
                  <a:srgbClr val="000000"/>
                </a:solidFill>
                <a:latin typeface="Helvetica Neue" panose="02000503000000020004"/>
                <a:ea typeface="Helvetica Neue" panose="02000503000000020004"/>
                <a:cs typeface="Helvetica Neue" panose="02000503000000020004"/>
                <a:sym typeface="Helvetica Neue" panose="02000503000000020004"/>
              </a:rPr>
              <a:t>A</a:t>
            </a:r>
            <a:r>
              <a:rPr lang="zh-CN">
                <a:solidFill>
                  <a:srgbClr val="000000"/>
                </a:solidFill>
                <a:latin typeface="Helvetica Neue" panose="02000503000000020004"/>
                <a:ea typeface="Helvetica Neue" panose="02000503000000020004"/>
                <a:cs typeface="Helvetica Neue" panose="02000503000000020004"/>
                <a:sym typeface="Helvetica Neue" panose="02000503000000020004"/>
              </a:rPr>
              <a:t>ssisted Intrusion Detection</a:t>
            </a:r>
            <a:br>
              <a:rPr lang="zh-CN">
                <a:solidFill>
                  <a:srgbClr val="000000"/>
                </a:solidFill>
                <a:latin typeface="Helvetica Neue" panose="02000503000000020004"/>
                <a:ea typeface="Helvetica Neue" panose="02000503000000020004"/>
                <a:cs typeface="Helvetica Neue" panose="02000503000000020004"/>
                <a:sym typeface="Helvetica Neue" panose="02000503000000020004"/>
              </a:rPr>
            </a:br>
            <a:br>
              <a:rPr lang="zh-CN"/>
            </a:br>
            <a:endParaRPr 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22" name="Shape 122"/>
        <p:cNvGrpSpPr/>
        <p:nvPr/>
      </p:nvGrpSpPr>
      <p:grpSpPr>
        <a:xfrm>
          <a:off x="0" y="0"/>
          <a:ext cx="0" cy="0"/>
          <a:chOff x="0" y="0"/>
          <a:chExt cx="0" cy="0"/>
        </a:xfrm>
      </p:grpSpPr>
      <p:sp>
        <p:nvSpPr>
          <p:cNvPr id="123" name="Google Shape;123;p6"/>
          <p:cNvSpPr txBox="1"/>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sp>
        <p:nvSpPr>
          <p:cNvPr id="124" name="Google Shape;124;p6"/>
          <p:cNvSpPr txBox="1"/>
          <p:nvPr>
            <p:ph type="ftr" idx="11"/>
          </p:nvPr>
        </p:nvSpPr>
        <p:spPr>
          <a:xfrm>
            <a:off x="457200" y="4800600"/>
            <a:ext cx="5105400" cy="228600"/>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SzPts val="1100"/>
              <a:buNone/>
            </a:pPr>
          </a:p>
        </p:txBody>
      </p:sp>
      <p:sp>
        <p:nvSpPr>
          <p:cNvPr id="125" name="Google Shape;125;p6"/>
          <p:cNvSpPr txBox="1"/>
          <p:nvPr>
            <p:ph type="body" idx="1"/>
          </p:nvPr>
        </p:nvSpPr>
        <p:spPr>
          <a:xfrm>
            <a:off x="457200" y="1143000"/>
            <a:ext cx="8229600" cy="3486150"/>
          </a:xfrm>
          <a:prstGeom prst="rect">
            <a:avLst/>
          </a:prstGeom>
          <a:noFill/>
          <a:ln>
            <a:noFill/>
          </a:ln>
        </p:spPr>
        <p:txBody>
          <a:bodyPr spcFirstLastPara="1" wrap="square" lIns="68575" tIns="34275" rIns="68575" bIns="34275" anchor="t" anchorCtr="0">
            <a:normAutofit/>
          </a:bodyPr>
          <a:lstStyle/>
          <a:p>
            <a:pPr marL="342900" lvl="0" indent="-254000" algn="l" rtl="0">
              <a:lnSpc>
                <a:spcPct val="95000"/>
              </a:lnSpc>
              <a:spcBef>
                <a:spcPts val="900"/>
              </a:spcBef>
              <a:spcAft>
                <a:spcPts val="0"/>
              </a:spcAft>
              <a:buSzPts val="1400"/>
              <a:buChar char="•"/>
            </a:pPr>
            <a:r>
              <a:rPr lang="zh-CN"/>
              <a:t>What system logs look like</a:t>
            </a:r>
            <a:endParaRPr lang="zh-CN"/>
          </a:p>
          <a:p>
            <a:pPr marL="342900" lvl="0" indent="-254000" algn="l" rtl="0">
              <a:lnSpc>
                <a:spcPct val="95000"/>
              </a:lnSpc>
              <a:spcBef>
                <a:spcPts val="900"/>
              </a:spcBef>
              <a:spcAft>
                <a:spcPts val="0"/>
              </a:spcAft>
              <a:buSzPts val="1400"/>
              <a:buChar char="•"/>
            </a:pPr>
            <a:r>
              <a:rPr lang="zh-CN"/>
              <a:t>Limitation of traditional method</a:t>
            </a:r>
            <a:endParaRPr lang="zh-CN"/>
          </a:p>
          <a:p>
            <a:pPr marL="342900" lvl="0" indent="-254000" algn="l" rtl="0">
              <a:lnSpc>
                <a:spcPct val="95000"/>
              </a:lnSpc>
              <a:spcBef>
                <a:spcPts val="900"/>
              </a:spcBef>
              <a:spcAft>
                <a:spcPts val="0"/>
              </a:spcAft>
              <a:buSzPts val="1400"/>
              <a:buChar char="•"/>
            </a:pPr>
            <a:r>
              <a:rPr lang="zh-CN"/>
              <a:t>How machine learning method helps intrusion detection</a:t>
            </a:r>
            <a:endParaRPr lang="zh-CN"/>
          </a:p>
          <a:p>
            <a:pPr marL="342900" lvl="0" indent="-254000" algn="l" rtl="0">
              <a:lnSpc>
                <a:spcPct val="95000"/>
              </a:lnSpc>
              <a:spcBef>
                <a:spcPts val="900"/>
              </a:spcBef>
              <a:spcAft>
                <a:spcPts val="0"/>
              </a:spcAft>
              <a:buSzPts val="1400"/>
              <a:buChar char="•"/>
            </a:pPr>
            <a:r>
              <a:rPr lang="zh-CN"/>
              <a:t>Hands on experiments</a:t>
            </a:r>
            <a:endParaRPr lang="zh-CN"/>
          </a:p>
        </p:txBody>
      </p:sp>
      <p:sp>
        <p:nvSpPr>
          <p:cNvPr id="126" name="Google Shape;126;p6"/>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t>Content</a:t>
            </a:r>
            <a:endParaRPr 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31" name="Shape 131"/>
        <p:cNvGrpSpPr/>
        <p:nvPr/>
      </p:nvGrpSpPr>
      <p:grpSpPr>
        <a:xfrm>
          <a:off x="0" y="0"/>
          <a:ext cx="0" cy="0"/>
          <a:chOff x="0" y="0"/>
          <a:chExt cx="0" cy="0"/>
        </a:xfrm>
      </p:grpSpPr>
      <p:sp>
        <p:nvSpPr>
          <p:cNvPr id="132" name="Google Shape;132;p7"/>
          <p:cNvSpPr txBox="1"/>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sp>
        <p:nvSpPr>
          <p:cNvPr id="133" name="Google Shape;133;p7"/>
          <p:cNvSpPr txBox="1"/>
          <p:nvPr>
            <p:ph type="ftr" idx="11"/>
          </p:nvPr>
        </p:nvSpPr>
        <p:spPr>
          <a:xfrm>
            <a:off x="457200" y="4800600"/>
            <a:ext cx="5105400" cy="228600"/>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SzPts val="1100"/>
              <a:buNone/>
            </a:pPr>
          </a:p>
        </p:txBody>
      </p:sp>
      <p:sp>
        <p:nvSpPr>
          <p:cNvPr id="134" name="Google Shape;134;p7"/>
          <p:cNvSpPr txBox="1"/>
          <p:nvPr>
            <p:ph type="body" idx="1"/>
          </p:nvPr>
        </p:nvSpPr>
        <p:spPr>
          <a:xfrm>
            <a:off x="457200" y="1143000"/>
            <a:ext cx="8229600" cy="3486150"/>
          </a:xfrm>
          <a:prstGeom prst="rect">
            <a:avLst/>
          </a:prstGeom>
          <a:noFill/>
          <a:ln>
            <a:noFill/>
          </a:ln>
        </p:spPr>
        <p:txBody>
          <a:bodyPr spcFirstLastPara="1" wrap="square" lIns="68575" tIns="34275" rIns="68575" bIns="34275" anchor="t" anchorCtr="0">
            <a:normAutofit/>
          </a:bodyPr>
          <a:lstStyle/>
          <a:p>
            <a:pPr marL="342900" lvl="0" indent="-254000" algn="l" rtl="0">
              <a:lnSpc>
                <a:spcPct val="95000"/>
              </a:lnSpc>
              <a:spcBef>
                <a:spcPts val="900"/>
              </a:spcBef>
              <a:spcAft>
                <a:spcPts val="0"/>
              </a:spcAft>
              <a:buSzPts val="1400"/>
              <a:buChar char="•"/>
            </a:pPr>
            <a:r>
              <a:rPr lang="zh-CN"/>
              <a:t>It can be raw system-level logs</a:t>
            </a:r>
            <a:endParaRPr lang="zh-CN"/>
          </a:p>
        </p:txBody>
      </p:sp>
      <p:sp>
        <p:nvSpPr>
          <p:cNvPr id="135" name="Google Shape;135;p7"/>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t>What system logs look like</a:t>
            </a:r>
            <a:endParaRPr lang="zh-CN"/>
          </a:p>
        </p:txBody>
      </p:sp>
      <p:pic>
        <p:nvPicPr>
          <p:cNvPr id="136" name="Google Shape;136;p7"/>
          <p:cNvPicPr preferRelativeResize="0"/>
          <p:nvPr/>
        </p:nvPicPr>
        <p:blipFill rotWithShape="1">
          <a:blip r:embed="rId1"/>
          <a:srcRect/>
          <a:stretch>
            <a:fillRect/>
          </a:stretch>
        </p:blipFill>
        <p:spPr>
          <a:xfrm>
            <a:off x="671989" y="1592104"/>
            <a:ext cx="7579519" cy="271795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41" name="Shape 141"/>
        <p:cNvGrpSpPr/>
        <p:nvPr/>
      </p:nvGrpSpPr>
      <p:grpSpPr>
        <a:xfrm>
          <a:off x="0" y="0"/>
          <a:ext cx="0" cy="0"/>
          <a:chOff x="0" y="0"/>
          <a:chExt cx="0" cy="0"/>
        </a:xfrm>
      </p:grpSpPr>
      <p:sp>
        <p:nvSpPr>
          <p:cNvPr id="142" name="Google Shape;142;p8"/>
          <p:cNvSpPr txBox="1"/>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sp>
        <p:nvSpPr>
          <p:cNvPr id="143" name="Google Shape;143;p8"/>
          <p:cNvSpPr txBox="1"/>
          <p:nvPr>
            <p:ph type="ftr" idx="11"/>
          </p:nvPr>
        </p:nvSpPr>
        <p:spPr>
          <a:xfrm>
            <a:off x="457200" y="4800600"/>
            <a:ext cx="5105400" cy="228600"/>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SzPts val="1100"/>
              <a:buNone/>
            </a:pPr>
            <a:r>
              <a:rPr lang="zh-CN" sz="800"/>
              <a:t>https://ieeexplore.ieee.org/stamp/stamp.jsp?arnumber=10646725</a:t>
            </a:r>
            <a:endParaRPr sz="800"/>
          </a:p>
        </p:txBody>
      </p:sp>
      <p:sp>
        <p:nvSpPr>
          <p:cNvPr id="144" name="Google Shape;144;p8"/>
          <p:cNvSpPr txBox="1"/>
          <p:nvPr>
            <p:ph type="body" idx="1"/>
          </p:nvPr>
        </p:nvSpPr>
        <p:spPr>
          <a:xfrm>
            <a:off x="457200" y="1143000"/>
            <a:ext cx="8229600" cy="3486150"/>
          </a:xfrm>
          <a:prstGeom prst="rect">
            <a:avLst/>
          </a:prstGeom>
          <a:noFill/>
          <a:ln>
            <a:noFill/>
          </a:ln>
        </p:spPr>
        <p:txBody>
          <a:bodyPr spcFirstLastPara="1" wrap="square" lIns="68575" tIns="34275" rIns="68575" bIns="34275" anchor="t" anchorCtr="0">
            <a:normAutofit/>
          </a:bodyPr>
          <a:lstStyle/>
          <a:p>
            <a:pPr marL="342900" lvl="0" indent="-254000" algn="l" rtl="0">
              <a:lnSpc>
                <a:spcPct val="95000"/>
              </a:lnSpc>
              <a:spcBef>
                <a:spcPts val="900"/>
              </a:spcBef>
              <a:spcAft>
                <a:spcPts val="0"/>
              </a:spcAft>
              <a:buSzPts val="1400"/>
              <a:buChar char="•"/>
            </a:pPr>
            <a:r>
              <a:rPr lang="zh-CN"/>
              <a:t>It can be provenanced-based logs</a:t>
            </a:r>
            <a:endParaRPr lang="zh-CN"/>
          </a:p>
        </p:txBody>
      </p:sp>
      <p:sp>
        <p:nvSpPr>
          <p:cNvPr id="145" name="Google Shape;145;p8"/>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t>What system logs look like</a:t>
            </a:r>
            <a:endParaRPr lang="zh-CN"/>
          </a:p>
        </p:txBody>
      </p:sp>
      <p:pic>
        <p:nvPicPr>
          <p:cNvPr id="146" name="Google Shape;146;p8"/>
          <p:cNvPicPr preferRelativeResize="0"/>
          <p:nvPr/>
        </p:nvPicPr>
        <p:blipFill rotWithShape="1">
          <a:blip r:embed="rId1"/>
          <a:srcRect/>
          <a:stretch>
            <a:fillRect/>
          </a:stretch>
        </p:blipFill>
        <p:spPr>
          <a:xfrm>
            <a:off x="457200" y="1912620"/>
            <a:ext cx="8437721" cy="171592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51" name="Shape 151"/>
        <p:cNvGrpSpPr/>
        <p:nvPr/>
      </p:nvGrpSpPr>
      <p:grpSpPr>
        <a:xfrm>
          <a:off x="0" y="0"/>
          <a:ext cx="0" cy="0"/>
          <a:chOff x="0" y="0"/>
          <a:chExt cx="0" cy="0"/>
        </a:xfrm>
      </p:grpSpPr>
      <p:sp>
        <p:nvSpPr>
          <p:cNvPr id="152" name="Google Shape;152;p9"/>
          <p:cNvSpPr txBox="1"/>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sp>
        <p:nvSpPr>
          <p:cNvPr id="153" name="Google Shape;153;p9"/>
          <p:cNvSpPr txBox="1"/>
          <p:nvPr>
            <p:ph type="ftr" idx="11"/>
          </p:nvPr>
        </p:nvSpPr>
        <p:spPr>
          <a:xfrm>
            <a:off x="457200" y="4800600"/>
            <a:ext cx="5105400" cy="228600"/>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SzPts val="1100"/>
              <a:buNone/>
            </a:pPr>
            <a:r>
              <a:rPr lang="zh-CN" sz="800"/>
              <a:t>https://blog.csdn.net/airenKKK/article/details/124619217</a:t>
            </a:r>
            <a:endParaRPr sz="800"/>
          </a:p>
        </p:txBody>
      </p:sp>
      <p:sp>
        <p:nvSpPr>
          <p:cNvPr id="154" name="Google Shape;154;p9"/>
          <p:cNvSpPr txBox="1"/>
          <p:nvPr>
            <p:ph type="body" idx="1"/>
          </p:nvPr>
        </p:nvSpPr>
        <p:spPr>
          <a:xfrm>
            <a:off x="457200" y="1143000"/>
            <a:ext cx="8229600" cy="3486150"/>
          </a:xfrm>
          <a:prstGeom prst="rect">
            <a:avLst/>
          </a:prstGeom>
          <a:noFill/>
          <a:ln>
            <a:noFill/>
          </a:ln>
        </p:spPr>
        <p:txBody>
          <a:bodyPr spcFirstLastPara="1" wrap="square" lIns="68575" tIns="34275" rIns="68575" bIns="34275" anchor="t" anchorCtr="0">
            <a:normAutofit/>
          </a:bodyPr>
          <a:lstStyle/>
          <a:p>
            <a:pPr marL="342900" lvl="0" indent="-254000" algn="l" rtl="0">
              <a:lnSpc>
                <a:spcPct val="95000"/>
              </a:lnSpc>
              <a:spcBef>
                <a:spcPts val="900"/>
              </a:spcBef>
              <a:spcAft>
                <a:spcPts val="0"/>
              </a:spcAft>
              <a:buSzPts val="1400"/>
              <a:buChar char="•"/>
            </a:pPr>
            <a:r>
              <a:rPr lang="zh-CN"/>
              <a:t>It can also be manually labeled</a:t>
            </a:r>
            <a:endParaRPr lang="zh-CN"/>
          </a:p>
        </p:txBody>
      </p:sp>
      <p:sp>
        <p:nvSpPr>
          <p:cNvPr id="155" name="Google Shape;155;p9"/>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t>What system logs look like</a:t>
            </a:r>
            <a:endParaRPr lang="zh-CN"/>
          </a:p>
        </p:txBody>
      </p:sp>
      <p:pic>
        <p:nvPicPr>
          <p:cNvPr id="156" name="Google Shape;156;p9"/>
          <p:cNvPicPr preferRelativeResize="0"/>
          <p:nvPr/>
        </p:nvPicPr>
        <p:blipFill rotWithShape="1">
          <a:blip r:embed="rId1"/>
          <a:srcRect/>
          <a:stretch>
            <a:fillRect/>
          </a:stretch>
        </p:blipFill>
        <p:spPr>
          <a:xfrm>
            <a:off x="1147763" y="1485424"/>
            <a:ext cx="5406866" cy="327469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61" name="Shape 161"/>
        <p:cNvGrpSpPr/>
        <p:nvPr/>
      </p:nvGrpSpPr>
      <p:grpSpPr>
        <a:xfrm>
          <a:off x="0" y="0"/>
          <a:ext cx="0" cy="0"/>
          <a:chOff x="0" y="0"/>
          <a:chExt cx="0" cy="0"/>
        </a:xfrm>
      </p:grpSpPr>
      <p:sp>
        <p:nvSpPr>
          <p:cNvPr id="162" name="Google Shape;162;p10"/>
          <p:cNvSpPr txBox="1"/>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sp>
        <p:nvSpPr>
          <p:cNvPr id="163" name="Google Shape;163;p10"/>
          <p:cNvSpPr txBox="1"/>
          <p:nvPr>
            <p:ph type="ftr" idx="11"/>
          </p:nvPr>
        </p:nvSpPr>
        <p:spPr>
          <a:xfrm>
            <a:off x="457200" y="4800600"/>
            <a:ext cx="5105400" cy="228600"/>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SzPts val="1100"/>
              <a:buNone/>
            </a:pPr>
            <a:r>
              <a:rPr lang="zh-CN" sz="800"/>
              <a:t>https://www.elprocus.com/basic-intrusion-detection-system/</a:t>
            </a:r>
            <a:endParaRPr sz="800"/>
          </a:p>
        </p:txBody>
      </p:sp>
      <p:sp>
        <p:nvSpPr>
          <p:cNvPr id="164" name="Google Shape;164;p10"/>
          <p:cNvSpPr txBox="1"/>
          <p:nvPr>
            <p:ph type="body" idx="1"/>
          </p:nvPr>
        </p:nvSpPr>
        <p:spPr>
          <a:xfrm>
            <a:off x="457200" y="1143000"/>
            <a:ext cx="8229600" cy="3486150"/>
          </a:xfrm>
          <a:prstGeom prst="rect">
            <a:avLst/>
          </a:prstGeom>
          <a:noFill/>
          <a:ln>
            <a:noFill/>
          </a:ln>
        </p:spPr>
        <p:txBody>
          <a:bodyPr spcFirstLastPara="1" wrap="square" lIns="68575" tIns="34275" rIns="68575" bIns="34275" anchor="t" anchorCtr="0">
            <a:normAutofit/>
          </a:bodyPr>
          <a:lstStyle/>
          <a:p>
            <a:pPr marL="342900" lvl="0" indent="-254000" algn="l" rtl="0">
              <a:lnSpc>
                <a:spcPct val="95000"/>
              </a:lnSpc>
              <a:spcBef>
                <a:spcPts val="900"/>
              </a:spcBef>
              <a:spcAft>
                <a:spcPts val="0"/>
              </a:spcAft>
              <a:buSzPts val="1400"/>
              <a:buChar char="•"/>
            </a:pPr>
            <a:r>
              <a:rPr lang="zh-CN"/>
              <a:t>Pattern based, signature based</a:t>
            </a:r>
            <a:endParaRPr lang="zh-CN"/>
          </a:p>
        </p:txBody>
      </p:sp>
      <p:sp>
        <p:nvSpPr>
          <p:cNvPr id="165" name="Google Shape;165;p10"/>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t>Limitaion of traditional method</a:t>
            </a:r>
            <a:endParaRPr lang="zh-CN"/>
          </a:p>
        </p:txBody>
      </p:sp>
      <p:sp>
        <p:nvSpPr>
          <p:cNvPr id="166" name="Google Shape;166;p10"/>
          <p:cNvSpPr txBox="1"/>
          <p:nvPr/>
        </p:nvSpPr>
        <p:spPr>
          <a:xfrm>
            <a:off x="5235892" y="1487329"/>
            <a:ext cx="3295174" cy="2815114"/>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Rely on manually defined attack signatures</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Only effective for known attacks</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Easily evaded by attack variants or obfuscation</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Small changes in payload can bypass detection</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High maintenance cost for rule updates</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Requires continuous expert intervention</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Poor generalization to new systems or environments</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Rules do not transfer well across deployments</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67" name="Google Shape;167;p10"/>
          <p:cNvPicPr preferRelativeResize="0"/>
          <p:nvPr/>
        </p:nvPicPr>
        <p:blipFill>
          <a:blip r:embed="rId1"/>
          <a:stretch>
            <a:fillRect/>
          </a:stretch>
        </p:blipFill>
        <p:spPr>
          <a:xfrm>
            <a:off x="235875" y="1721450"/>
            <a:ext cx="4740701" cy="24453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72" name="Shape 172"/>
        <p:cNvGrpSpPr/>
        <p:nvPr/>
      </p:nvGrpSpPr>
      <p:grpSpPr>
        <a:xfrm>
          <a:off x="0" y="0"/>
          <a:ext cx="0" cy="0"/>
          <a:chOff x="0" y="0"/>
          <a:chExt cx="0" cy="0"/>
        </a:xfrm>
      </p:grpSpPr>
      <p:sp>
        <p:nvSpPr>
          <p:cNvPr id="173" name="Google Shape;173;p11"/>
          <p:cNvSpPr txBox="1"/>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sp>
        <p:nvSpPr>
          <p:cNvPr id="174" name="Google Shape;174;p11"/>
          <p:cNvSpPr txBox="1"/>
          <p:nvPr>
            <p:ph type="ftr" idx="11"/>
          </p:nvPr>
        </p:nvSpPr>
        <p:spPr>
          <a:xfrm>
            <a:off x="457200" y="4800600"/>
            <a:ext cx="5105400" cy="228600"/>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SzPts val="1100"/>
              <a:buNone/>
            </a:pPr>
            <a:r>
              <a:rPr lang="zh-CN" sz="800"/>
              <a:t>https://www.elprocus.com/basic-intrusion-detection-system/</a:t>
            </a:r>
            <a:endParaRPr sz="800"/>
          </a:p>
          <a:p>
            <a:pPr marL="0" lvl="0" indent="0" algn="l" rtl="0">
              <a:lnSpc>
                <a:spcPct val="100000"/>
              </a:lnSpc>
              <a:spcBef>
                <a:spcPts val="0"/>
              </a:spcBef>
              <a:spcAft>
                <a:spcPts val="0"/>
              </a:spcAft>
              <a:buSzPts val="1100"/>
              <a:buNone/>
            </a:pPr>
            <a:endParaRPr sz="800"/>
          </a:p>
        </p:txBody>
      </p:sp>
      <p:sp>
        <p:nvSpPr>
          <p:cNvPr id="175" name="Google Shape;175;p11"/>
          <p:cNvSpPr txBox="1"/>
          <p:nvPr>
            <p:ph type="body" idx="1"/>
          </p:nvPr>
        </p:nvSpPr>
        <p:spPr>
          <a:xfrm>
            <a:off x="457200" y="1143000"/>
            <a:ext cx="8229600" cy="3486150"/>
          </a:xfrm>
          <a:prstGeom prst="rect">
            <a:avLst/>
          </a:prstGeom>
          <a:noFill/>
          <a:ln>
            <a:noFill/>
          </a:ln>
        </p:spPr>
        <p:txBody>
          <a:bodyPr spcFirstLastPara="1" wrap="square" lIns="68575" tIns="34275" rIns="68575" bIns="34275" anchor="t" anchorCtr="0">
            <a:normAutofit/>
          </a:bodyPr>
          <a:lstStyle/>
          <a:p>
            <a:pPr marL="342900" lvl="0" indent="-254000" algn="l" rtl="0">
              <a:lnSpc>
                <a:spcPct val="95000"/>
              </a:lnSpc>
              <a:spcBef>
                <a:spcPts val="900"/>
              </a:spcBef>
              <a:spcAft>
                <a:spcPts val="0"/>
              </a:spcAft>
              <a:buSzPts val="1400"/>
              <a:buChar char="•"/>
            </a:pPr>
            <a:r>
              <a:rPr lang="zh-CN"/>
              <a:t>Anomaly based</a:t>
            </a:r>
            <a:endParaRPr lang="zh-CN"/>
          </a:p>
        </p:txBody>
      </p:sp>
      <p:sp>
        <p:nvSpPr>
          <p:cNvPr id="176" name="Google Shape;176;p11"/>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t>Limitaion of traditional method</a:t>
            </a:r>
            <a:endParaRPr lang="zh-CN"/>
          </a:p>
        </p:txBody>
      </p:sp>
      <p:sp>
        <p:nvSpPr>
          <p:cNvPr id="177" name="Google Shape;177;p11"/>
          <p:cNvSpPr txBox="1"/>
          <p:nvPr/>
        </p:nvSpPr>
        <p:spPr>
          <a:xfrm>
            <a:off x="4806791" y="1478756"/>
            <a:ext cx="3687127" cy="2815114"/>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Depend on an accurate model of “normal behavior”</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Hard to define in real-world systems</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High false positive rate</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Rare but benign behaviors are flagged as attacks</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Sensitive to system and workload changes</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Updates and configuration changes break assumptions</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Thresholds are often manually tuned</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Unstable and environment-specific</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78" name="Google Shape;178;p11"/>
          <p:cNvPicPr preferRelativeResize="0"/>
          <p:nvPr/>
        </p:nvPicPr>
        <p:blipFill>
          <a:blip r:embed="rId1"/>
          <a:stretch>
            <a:fillRect/>
          </a:stretch>
        </p:blipFill>
        <p:spPr>
          <a:xfrm>
            <a:off x="272150" y="1857075"/>
            <a:ext cx="4299850" cy="23746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82" name="Shape 182"/>
        <p:cNvGrpSpPr/>
        <p:nvPr/>
      </p:nvGrpSpPr>
      <p:grpSpPr>
        <a:xfrm>
          <a:off x="0" y="0"/>
          <a:ext cx="0" cy="0"/>
          <a:chOff x="0" y="0"/>
          <a:chExt cx="0" cy="0"/>
        </a:xfrm>
      </p:grpSpPr>
      <p:sp>
        <p:nvSpPr>
          <p:cNvPr id="183" name="Google Shape;183;p12"/>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t>How machine learning method helps IDS</a:t>
            </a:r>
            <a:endParaRPr lang="zh-CN"/>
          </a:p>
        </p:txBody>
      </p:sp>
      <p:sp>
        <p:nvSpPr>
          <p:cNvPr id="184" name="Google Shape;184;p12"/>
          <p:cNvSpPr txBox="1"/>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pic>
        <p:nvPicPr>
          <p:cNvPr id="185" name="Google Shape;185;p12"/>
          <p:cNvPicPr preferRelativeResize="0"/>
          <p:nvPr/>
        </p:nvPicPr>
        <p:blipFill rotWithShape="1">
          <a:blip r:embed="rId1"/>
          <a:srcRect/>
          <a:stretch>
            <a:fillRect/>
          </a:stretch>
        </p:blipFill>
        <p:spPr>
          <a:xfrm>
            <a:off x="694849" y="1494949"/>
            <a:ext cx="4380547" cy="2703195"/>
          </a:xfrm>
          <a:prstGeom prst="rect">
            <a:avLst/>
          </a:prstGeom>
          <a:noFill/>
          <a:ln>
            <a:noFill/>
          </a:ln>
        </p:spPr>
      </p:pic>
      <p:sp>
        <p:nvSpPr>
          <p:cNvPr id="186" name="Google Shape;186;p12"/>
          <p:cNvSpPr txBox="1"/>
          <p:nvPr>
            <p:ph type="ftr" idx="11"/>
          </p:nvPr>
        </p:nvSpPr>
        <p:spPr>
          <a:xfrm>
            <a:off x="457200" y="4800600"/>
            <a:ext cx="5105400" cy="228600"/>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SzPts val="1100"/>
              <a:buNone/>
            </a:pPr>
            <a:r>
              <a:rPr lang="zh-CN" sz="800"/>
              <a:t>https://ieeexplore.ieee.org/stamp/stamp.jsp?arnumber=10646725</a:t>
            </a:r>
            <a:endParaRPr sz="800"/>
          </a:p>
        </p:txBody>
      </p:sp>
      <p:sp>
        <p:nvSpPr>
          <p:cNvPr id="187" name="Google Shape;187;p12"/>
          <p:cNvSpPr txBox="1"/>
          <p:nvPr/>
        </p:nvSpPr>
        <p:spPr>
          <a:xfrm>
            <a:off x="5005864" y="1433036"/>
            <a:ext cx="3912870" cy="2815114"/>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Automatically learn patterns from data</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Reduce reliance on hand-crafted rules</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Handle high-dimensional and multi-source logs</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System calls, processes, networks, provenance, etc.</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Better generalization to unseen attacks</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Detect behavior patterns rather than exact signatures</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Support diverse models and representations</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ML (LR, RF) and DL (CNN, GNN for sequences and graphs)</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91" name="Shape 191"/>
        <p:cNvGrpSpPr/>
        <p:nvPr/>
      </p:nvGrpSpPr>
      <p:grpSpPr>
        <a:xfrm>
          <a:off x="0" y="0"/>
          <a:ext cx="0" cy="0"/>
          <a:chOff x="0" y="0"/>
          <a:chExt cx="0" cy="0"/>
        </a:xfrm>
      </p:grpSpPr>
      <p:sp>
        <p:nvSpPr>
          <p:cNvPr id="192" name="Google Shape;192;p13"/>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t>Hands on experiments</a:t>
            </a:r>
            <a:endParaRPr lang="zh-CN"/>
          </a:p>
        </p:txBody>
      </p:sp>
      <p:sp>
        <p:nvSpPr>
          <p:cNvPr id="193" name="Google Shape;193;p13"/>
          <p:cNvSpPr txBox="1"/>
          <p:nvPr>
            <p:ph type="body" idx="1"/>
          </p:nvPr>
        </p:nvSpPr>
        <p:spPr>
          <a:xfrm>
            <a:off x="457200" y="1143000"/>
            <a:ext cx="8229600" cy="3486150"/>
          </a:xfrm>
          <a:prstGeom prst="rect">
            <a:avLst/>
          </a:prstGeom>
          <a:noFill/>
          <a:ln>
            <a:noFill/>
          </a:ln>
        </p:spPr>
        <p:txBody>
          <a:bodyPr spcFirstLastPara="1" wrap="square" lIns="68575" tIns="34275" rIns="68575" bIns="34275" anchor="t" anchorCtr="0">
            <a:normAutofit/>
          </a:bodyPr>
          <a:lstStyle/>
          <a:p>
            <a:pPr marL="342900" lvl="0" indent="-254000" algn="l" rtl="0">
              <a:lnSpc>
                <a:spcPct val="95000"/>
              </a:lnSpc>
              <a:spcBef>
                <a:spcPts val="900"/>
              </a:spcBef>
              <a:spcAft>
                <a:spcPts val="0"/>
              </a:spcAft>
              <a:buSzPts val="1400"/>
              <a:buChar char="•"/>
            </a:pPr>
            <a:r>
              <a:rPr lang="zh-CN"/>
              <a:t>Task1: explore nsl-kdd datasets </a:t>
            </a:r>
            <a:endParaRPr lang="zh-CN"/>
          </a:p>
          <a:p>
            <a:pPr marL="342900" lvl="0" indent="-254000" algn="l" rtl="0">
              <a:lnSpc>
                <a:spcPct val="95000"/>
              </a:lnSpc>
              <a:spcBef>
                <a:spcPts val="900"/>
              </a:spcBef>
              <a:spcAft>
                <a:spcPts val="0"/>
              </a:spcAft>
              <a:buSzPts val="1400"/>
              <a:buChar char="•"/>
            </a:pPr>
            <a:r>
              <a:rPr lang="zh-CN"/>
              <a:t>T</a:t>
            </a:r>
            <a:r>
              <a:rPr lang="zh-CN" sz="1800"/>
              <a:t>ask2: feature extraction</a:t>
            </a:r>
            <a:endParaRPr sz="1800"/>
          </a:p>
          <a:p>
            <a:pPr marL="431800" lvl="1" indent="342900" algn="l" rtl="0">
              <a:lnSpc>
                <a:spcPct val="95000"/>
              </a:lnSpc>
              <a:spcBef>
                <a:spcPts val="500"/>
              </a:spcBef>
              <a:spcAft>
                <a:spcPts val="0"/>
              </a:spcAft>
              <a:buSzPts val="1400"/>
              <a:buNone/>
            </a:pPr>
            <a:r>
              <a:rPr lang="zh-CN" sz="1800"/>
              <a:t>--  how to handle multiple features labeled</a:t>
            </a:r>
            <a:endParaRPr sz="1800"/>
          </a:p>
          <a:p>
            <a:pPr marL="342900" lvl="0" indent="-254000" algn="l" rtl="0">
              <a:lnSpc>
                <a:spcPct val="95000"/>
              </a:lnSpc>
              <a:spcBef>
                <a:spcPts val="900"/>
              </a:spcBef>
              <a:spcAft>
                <a:spcPts val="0"/>
              </a:spcAft>
              <a:buSzPts val="1400"/>
              <a:buChar char="•"/>
            </a:pPr>
            <a:r>
              <a:rPr lang="zh-CN"/>
              <a:t>T</a:t>
            </a:r>
            <a:r>
              <a:rPr lang="zh-CN"/>
              <a:t>ask3: model choosing</a:t>
            </a:r>
            <a:endParaRPr lang="zh-CN"/>
          </a:p>
          <a:p>
            <a:pPr marL="431800" lvl="1" indent="342900" algn="l" rtl="0">
              <a:lnSpc>
                <a:spcPct val="95000"/>
              </a:lnSpc>
              <a:spcBef>
                <a:spcPts val="500"/>
              </a:spcBef>
              <a:spcAft>
                <a:spcPts val="0"/>
              </a:spcAft>
              <a:buSzPts val="1400"/>
              <a:buNone/>
            </a:pPr>
            <a:r>
              <a:rPr lang="zh-CN"/>
              <a:t>--  machine learning: Logistic Regression, Decision Tree, Random Forest, ...</a:t>
            </a:r>
            <a:endParaRPr lang="zh-CN"/>
          </a:p>
          <a:p>
            <a:pPr marL="431800" lvl="1" indent="342900" algn="l" rtl="0">
              <a:lnSpc>
                <a:spcPct val="95000"/>
              </a:lnSpc>
              <a:spcBef>
                <a:spcPts val="500"/>
              </a:spcBef>
              <a:spcAft>
                <a:spcPts val="0"/>
              </a:spcAft>
              <a:buSzPts val="1400"/>
              <a:buNone/>
            </a:pPr>
            <a:r>
              <a:rPr lang="zh-CN"/>
              <a:t>--  deep learning: CNN, GNN, ...</a:t>
            </a:r>
            <a:endParaRPr lang="zh-CN"/>
          </a:p>
        </p:txBody>
      </p:sp>
      <p:sp>
        <p:nvSpPr>
          <p:cNvPr id="194" name="Google Shape;194;p13"/>
          <p:cNvSpPr txBox="1"/>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98" name="Shape 198"/>
        <p:cNvGrpSpPr/>
        <p:nvPr/>
      </p:nvGrpSpPr>
      <p:grpSpPr>
        <a:xfrm>
          <a:off x="0" y="0"/>
          <a:ext cx="0" cy="0"/>
          <a:chOff x="0" y="0"/>
          <a:chExt cx="0" cy="0"/>
        </a:xfrm>
      </p:grpSpPr>
      <p:sp>
        <p:nvSpPr>
          <p:cNvPr id="199" name="Google Shape;199;g396d4a5dad6_5_266"/>
          <p:cNvSpPr txBox="1"/>
          <p:nvPr>
            <p:ph type="title"/>
          </p:nvPr>
        </p:nvSpPr>
        <p:spPr>
          <a:xfrm>
            <a:off x="457200" y="263525"/>
            <a:ext cx="8229600" cy="6000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None/>
            </a:pPr>
            <a:r>
              <a:rPr lang="zh-CN">
                <a:latin typeface="Verdana" panose="020B0804030504040204"/>
                <a:ea typeface="Verdana" panose="020B0804030504040204"/>
                <a:cs typeface="Verdana" panose="020B0804030504040204"/>
                <a:sym typeface="Verdana" panose="020B0804030504040204"/>
              </a:rPr>
              <a:t>Logistic Regression</a:t>
            </a:r>
            <a:r>
              <a:rPr lang="zh-CN">
                <a:latin typeface="Verdana" panose="020B0804030504040204"/>
                <a:ea typeface="Verdana" panose="020B0804030504040204"/>
                <a:cs typeface="Verdana" panose="020B0804030504040204"/>
                <a:sym typeface="Verdana" panose="020B0804030504040204"/>
              </a:rPr>
              <a:t> Fundamentals</a:t>
            </a:r>
            <a:endParaRPr lang="zh-CN">
              <a:latin typeface="Verdana" panose="020B0804030504040204"/>
              <a:ea typeface="Verdana" panose="020B0804030504040204"/>
              <a:cs typeface="Verdana" panose="020B0804030504040204"/>
              <a:sym typeface="Verdana" panose="020B0804030504040204"/>
            </a:endParaRPr>
          </a:p>
        </p:txBody>
      </p:sp>
      <p:grpSp>
        <p:nvGrpSpPr>
          <p:cNvPr id="200" name="Google Shape;200;g396d4a5dad6_5_266"/>
          <p:cNvGrpSpPr/>
          <p:nvPr/>
        </p:nvGrpSpPr>
        <p:grpSpPr>
          <a:xfrm>
            <a:off x="457183" y="1143000"/>
            <a:ext cx="8229459" cy="1524000"/>
            <a:chOff x="457200" y="1143000"/>
            <a:chExt cx="3905400" cy="1524000"/>
          </a:xfrm>
        </p:grpSpPr>
        <p:sp>
          <p:nvSpPr>
            <p:cNvPr id="201" name="Google Shape;201;g396d4a5dad6_5_266"/>
            <p:cNvSpPr/>
            <p:nvPr/>
          </p:nvSpPr>
          <p:spPr>
            <a:xfrm>
              <a:off x="457200" y="1143000"/>
              <a:ext cx="3905400" cy="1524000"/>
            </a:xfrm>
            <a:prstGeom prst="roundRect">
              <a:avLst>
                <a:gd name="adj" fmla="val 5000"/>
              </a:avLst>
            </a:prstGeom>
            <a:solidFill>
              <a:srgbClr val="F8F9FA"/>
            </a:solidFill>
            <a:ln w="9525"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202" name="Google Shape;202;g396d4a5dad6_5_266"/>
            <p:cNvSpPr/>
            <p:nvPr/>
          </p:nvSpPr>
          <p:spPr>
            <a:xfrm>
              <a:off x="457200" y="1143000"/>
              <a:ext cx="3905400" cy="381000"/>
            </a:xfrm>
            <a:prstGeom prst="roundRect">
              <a:avLst>
                <a:gd name="adj" fmla="val 20000"/>
              </a:avLst>
            </a:prstGeom>
            <a:solidFill>
              <a:srgbClr val="BA0C2F"/>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203" name="Google Shape;203;g396d4a5dad6_5_266"/>
            <p:cNvSpPr txBox="1"/>
            <p:nvPr/>
          </p:nvSpPr>
          <p:spPr>
            <a:xfrm>
              <a:off x="552450" y="1143000"/>
              <a:ext cx="37149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zh-CN" sz="1200" b="1">
                  <a:solidFill>
                    <a:srgbClr val="FFFFFF"/>
                  </a:solidFill>
                  <a:latin typeface="Verdana" panose="020B0804030504040204"/>
                  <a:ea typeface="Verdana" panose="020B0804030504040204"/>
                  <a:cs typeface="Verdana" panose="020B0804030504040204"/>
                  <a:sym typeface="Verdana" panose="020B0804030504040204"/>
                </a:rPr>
                <a:t>Core Concept</a:t>
              </a:r>
              <a:endParaRPr sz="1200" b="1">
                <a:solidFill>
                  <a:srgbClr val="FFFFFF"/>
                </a:solidFill>
                <a:latin typeface="Verdana" panose="020B0804030504040204"/>
                <a:ea typeface="Verdana" panose="020B0804030504040204"/>
                <a:cs typeface="Verdana" panose="020B0804030504040204"/>
                <a:sym typeface="Verdana" panose="020B0804030504040204"/>
              </a:endParaRPr>
            </a:p>
          </p:txBody>
        </p:sp>
        <p:sp>
          <p:nvSpPr>
            <p:cNvPr id="204" name="Google Shape;204;g396d4a5dad6_5_266"/>
            <p:cNvSpPr txBox="1"/>
            <p:nvPr/>
          </p:nvSpPr>
          <p:spPr>
            <a:xfrm>
              <a:off x="647700" y="1619250"/>
              <a:ext cx="3524400" cy="952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panose="020B0604020202090204"/>
                <a:buNone/>
              </a:pPr>
              <a:r>
                <a:rPr lang="zh-CN">
                  <a:latin typeface="Verdana" panose="020B0804030504040204"/>
                  <a:ea typeface="Verdana" panose="020B0804030504040204"/>
                  <a:cs typeface="Verdana" panose="020B0804030504040204"/>
                  <a:sym typeface="Verdana" panose="020B0804030504040204"/>
                </a:rPr>
                <a:t>A linear model used for binary classification that predicts the probability of a data point belonging to a specific class.</a:t>
              </a:r>
              <a:endParaRPr>
                <a:latin typeface="Verdana" panose="020B0804030504040204"/>
                <a:ea typeface="Verdana" panose="020B0804030504040204"/>
                <a:cs typeface="Verdana" panose="020B0804030504040204"/>
                <a:sym typeface="Verdana" panose="020B0804030504040204"/>
              </a:endParaRPr>
            </a:p>
            <a:p>
              <a:pPr marL="0" lvl="0" indent="0" algn="l" rtl="0">
                <a:spcBef>
                  <a:spcPts val="0"/>
                </a:spcBef>
                <a:spcAft>
                  <a:spcPts val="0"/>
                </a:spcAft>
                <a:buNone/>
              </a:pPr>
              <a:endParaRPr>
                <a:latin typeface="Verdana" panose="020B0804030504040204"/>
                <a:ea typeface="Verdana" panose="020B0804030504040204"/>
                <a:cs typeface="Verdana" panose="020B0804030504040204"/>
                <a:sym typeface="Verdana" panose="020B0804030504040204"/>
              </a:endParaRPr>
            </a:p>
          </p:txBody>
        </p:sp>
      </p:grpSp>
      <p:grpSp>
        <p:nvGrpSpPr>
          <p:cNvPr id="205" name="Google Shape;205;g396d4a5dad6_5_266"/>
          <p:cNvGrpSpPr/>
          <p:nvPr/>
        </p:nvGrpSpPr>
        <p:grpSpPr>
          <a:xfrm>
            <a:off x="457200" y="2857500"/>
            <a:ext cx="8229600" cy="1524000"/>
            <a:chOff x="457200" y="2857500"/>
            <a:chExt cx="8229600" cy="1524000"/>
          </a:xfrm>
        </p:grpSpPr>
        <p:sp>
          <p:nvSpPr>
            <p:cNvPr id="206" name="Google Shape;206;g396d4a5dad6_5_266"/>
            <p:cNvSpPr/>
            <p:nvPr/>
          </p:nvSpPr>
          <p:spPr>
            <a:xfrm>
              <a:off x="457200" y="2857500"/>
              <a:ext cx="8229600" cy="1524000"/>
            </a:xfrm>
            <a:prstGeom prst="roundRect">
              <a:avLst>
                <a:gd name="adj" fmla="val 5000"/>
              </a:avLst>
            </a:prstGeom>
            <a:solidFill>
              <a:srgbClr val="F8F9FA"/>
            </a:solidFill>
            <a:ln w="9525"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207" name="Google Shape;207;g396d4a5dad6_5_266"/>
            <p:cNvSpPr/>
            <p:nvPr/>
          </p:nvSpPr>
          <p:spPr>
            <a:xfrm>
              <a:off x="457200" y="2857500"/>
              <a:ext cx="8229600" cy="381000"/>
            </a:xfrm>
            <a:prstGeom prst="roundRect">
              <a:avLst>
                <a:gd name="adj" fmla="val 20000"/>
              </a:avLst>
            </a:prstGeom>
            <a:solidFill>
              <a:srgbClr val="BA0C2F"/>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208" name="Google Shape;208;g396d4a5dad6_5_266"/>
            <p:cNvSpPr txBox="1"/>
            <p:nvPr/>
          </p:nvSpPr>
          <p:spPr>
            <a:xfrm>
              <a:off x="552450" y="2857500"/>
              <a:ext cx="80391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panose="020B0604020202090204"/>
                <a:buNone/>
              </a:pPr>
              <a:r>
                <a:rPr lang="zh-CN" sz="1200" b="1">
                  <a:solidFill>
                    <a:schemeClr val="lt1"/>
                  </a:solidFill>
                  <a:latin typeface="Verdana" panose="020B0804030504040204"/>
                  <a:ea typeface="Verdana" panose="020B0804030504040204"/>
                  <a:cs typeface="Verdana" panose="020B0804030504040204"/>
                  <a:sym typeface="Verdana" panose="020B0804030504040204"/>
                </a:rPr>
                <a:t>Key Points</a:t>
              </a:r>
              <a:endParaRPr sz="1200" b="1">
                <a:solidFill>
                  <a:srgbClr val="FFFFFF"/>
                </a:solidFill>
                <a:latin typeface="Verdana" panose="020B0804030504040204"/>
                <a:ea typeface="Verdana" panose="020B0804030504040204"/>
                <a:cs typeface="Verdana" panose="020B0804030504040204"/>
                <a:sym typeface="Verdana" panose="020B0804030504040204"/>
              </a:endParaRPr>
            </a:p>
          </p:txBody>
        </p:sp>
        <p:sp>
          <p:nvSpPr>
            <p:cNvPr id="209" name="Google Shape;209;g396d4a5dad6_5_266"/>
            <p:cNvSpPr txBox="1"/>
            <p:nvPr/>
          </p:nvSpPr>
          <p:spPr>
            <a:xfrm>
              <a:off x="742950" y="3333750"/>
              <a:ext cx="7668000" cy="952500"/>
            </a:xfrm>
            <a:prstGeom prst="rect">
              <a:avLst/>
            </a:prstGeom>
            <a:noFill/>
            <a:ln>
              <a:noFill/>
            </a:ln>
          </p:spPr>
          <p:txBody>
            <a:bodyPr spcFirstLastPara="1" wrap="square" lIns="0" tIns="0" rIns="0" bIns="0" anchor="ctr" anchorCtr="0">
              <a:noAutofit/>
            </a:bodyPr>
            <a:lstStyle/>
            <a:p>
              <a:pPr marL="457200" lvl="0" indent="-317500" algn="l" rtl="0">
                <a:spcBef>
                  <a:spcPts val="0"/>
                </a:spcBef>
                <a:spcAft>
                  <a:spcPts val="0"/>
                </a:spcAft>
                <a:buClr>
                  <a:srgbClr val="000000"/>
                </a:buClr>
                <a:buSzPts val="1400"/>
                <a:buFont typeface="Verdana" panose="020B0804030504040204"/>
                <a:buChar char="●"/>
              </a:pPr>
              <a:r>
                <a:rPr lang="zh-CN" sz="1400" b="1">
                  <a:solidFill>
                    <a:srgbClr val="000000"/>
                  </a:solidFill>
                  <a:latin typeface="Verdana" panose="020B0804030504040204"/>
                  <a:ea typeface="Verdana" panose="020B0804030504040204"/>
                  <a:cs typeface="Verdana" panose="020B0804030504040204"/>
                  <a:sym typeface="Verdana" panose="020B0804030504040204"/>
                </a:rPr>
                <a:t>Feature Independence:</a:t>
              </a:r>
              <a:r>
                <a:rPr lang="zh-CN" sz="1400" b="0">
                  <a:solidFill>
                    <a:srgbClr val="000000"/>
                  </a:solidFill>
                  <a:latin typeface="Verdana" panose="020B0804030504040204"/>
                  <a:ea typeface="Verdana" panose="020B0804030504040204"/>
                  <a:cs typeface="Verdana" panose="020B0804030504040204"/>
                  <a:sym typeface="Verdana" panose="020B0804030504040204"/>
                </a:rPr>
                <a:t> </a:t>
              </a:r>
              <a:endParaRPr sz="1400" b="0">
                <a:solidFill>
                  <a:srgbClr val="000000"/>
                </a:solidFill>
                <a:latin typeface="Verdana" panose="020B0804030504040204"/>
                <a:ea typeface="Verdana" panose="020B0804030504040204"/>
                <a:cs typeface="Verdana" panose="020B0804030504040204"/>
                <a:sym typeface="Verdana" panose="020B0804030504040204"/>
              </a:endParaRPr>
            </a:p>
            <a:p>
              <a:pPr marL="457200" lvl="0" indent="0" algn="l" rtl="0">
                <a:spcBef>
                  <a:spcPts val="750"/>
                </a:spcBef>
                <a:spcAft>
                  <a:spcPts val="750"/>
                </a:spcAft>
                <a:buNone/>
              </a:pPr>
              <a:r>
                <a:rPr lang="zh-CN">
                  <a:latin typeface="Verdana" panose="020B0804030504040204"/>
                  <a:ea typeface="Verdana" panose="020B0804030504040204"/>
                  <a:cs typeface="Verdana" panose="020B0804030504040204"/>
                  <a:sym typeface="Verdana" panose="020B0804030504040204"/>
                </a:rPr>
                <a:t>Assumes classes can be separated by a straight line (or hyperplane).</a:t>
              </a:r>
              <a:endParaRPr sz="1400" b="0">
                <a:solidFill>
                  <a:srgbClr val="000000"/>
                </a:solidFill>
                <a:latin typeface="Verdana" panose="020B0804030504040204"/>
                <a:ea typeface="Verdana" panose="020B0804030504040204"/>
                <a:cs typeface="Verdana" panose="020B0804030504040204"/>
                <a:sym typeface="Verdana" panose="020B0804030504040204"/>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14" name="Shape 214"/>
        <p:cNvGrpSpPr/>
        <p:nvPr/>
      </p:nvGrpSpPr>
      <p:grpSpPr>
        <a:xfrm>
          <a:off x="0" y="0"/>
          <a:ext cx="0" cy="0"/>
          <a:chOff x="0" y="0"/>
          <a:chExt cx="0" cy="0"/>
        </a:xfrm>
      </p:grpSpPr>
      <p:sp>
        <p:nvSpPr>
          <p:cNvPr id="215" name="Google Shape;215;p14"/>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SzPts val="1400"/>
              <a:buNone/>
            </a:pPr>
            <a:r>
              <a:rPr lang="zh-CN"/>
              <a:t>Logistic Regression</a:t>
            </a:r>
            <a:endParaRPr lang="zh-CN"/>
          </a:p>
        </p:txBody>
      </p:sp>
      <p:sp>
        <p:nvSpPr>
          <p:cNvPr id="216" name="Google Shape;216;p14"/>
          <p:cNvSpPr txBox="1"/>
          <p:nvPr>
            <p:ph type="sldNum" idx="12"/>
          </p:nvPr>
        </p:nvSpPr>
        <p:spPr>
          <a:xfrm>
            <a:off x="1" y="4790748"/>
            <a:ext cx="457200" cy="29565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Clr>
                <a:srgbClr val="000000"/>
              </a:buClr>
              <a:buSzPts val="900"/>
              <a:buFont typeface="Arial" panose="020B0604020202090204"/>
              <a:buNone/>
            </a:pPr>
            <a:fld id="{00000000-1234-1234-1234-123412341234}" type="slidenum">
              <a:rPr lang="zh-CN"/>
            </a:fld>
            <a:endParaRPr lang="zh-CN"/>
          </a:p>
        </p:txBody>
      </p:sp>
      <p:pic>
        <p:nvPicPr>
          <p:cNvPr id="217" name="Google Shape;217;p14"/>
          <p:cNvPicPr preferRelativeResize="0"/>
          <p:nvPr/>
        </p:nvPicPr>
        <p:blipFill rotWithShape="1">
          <a:blip r:embed="rId1"/>
          <a:srcRect/>
          <a:stretch>
            <a:fillRect/>
          </a:stretch>
        </p:blipFill>
        <p:spPr>
          <a:xfrm>
            <a:off x="4484279" y="1666313"/>
            <a:ext cx="4350544" cy="2321719"/>
          </a:xfrm>
          <a:prstGeom prst="rect">
            <a:avLst/>
          </a:prstGeom>
          <a:noFill/>
          <a:ln>
            <a:noFill/>
          </a:ln>
        </p:spPr>
      </p:pic>
      <p:pic>
        <p:nvPicPr>
          <p:cNvPr id="218" name="Google Shape;218;p14"/>
          <p:cNvPicPr preferRelativeResize="0"/>
          <p:nvPr/>
        </p:nvPicPr>
        <p:blipFill rotWithShape="1">
          <a:blip r:embed="rId2"/>
          <a:srcRect/>
          <a:stretch>
            <a:fillRect/>
          </a:stretch>
        </p:blipFill>
        <p:spPr>
          <a:xfrm>
            <a:off x="133744" y="1417154"/>
            <a:ext cx="4350544" cy="282005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222" name="Shape 222"/>
        <p:cNvGrpSpPr/>
        <p:nvPr/>
      </p:nvGrpSpPr>
      <p:grpSpPr>
        <a:xfrm>
          <a:off x="0" y="0"/>
          <a:ext cx="0" cy="0"/>
          <a:chOff x="0" y="0"/>
          <a:chExt cx="0" cy="0"/>
        </a:xfrm>
      </p:grpSpPr>
      <p:sp>
        <p:nvSpPr>
          <p:cNvPr id="223" name="Google Shape;223;g396d4a5dad6_5_241"/>
          <p:cNvSpPr txBox="1"/>
          <p:nvPr>
            <p:ph type="title"/>
          </p:nvPr>
        </p:nvSpPr>
        <p:spPr>
          <a:xfrm>
            <a:off x="457200" y="263525"/>
            <a:ext cx="8229600" cy="6000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None/>
            </a:pPr>
            <a:r>
              <a:rPr lang="zh-CN">
                <a:latin typeface="Verdana" panose="020B0804030504040204"/>
                <a:ea typeface="Verdana" panose="020B0804030504040204"/>
                <a:cs typeface="Verdana" panose="020B0804030504040204"/>
                <a:sym typeface="Verdana" panose="020B0804030504040204"/>
              </a:rPr>
              <a:t>Naive Bayes Algorithm Fundamentals</a:t>
            </a:r>
            <a:endParaRPr lang="zh-CN">
              <a:latin typeface="Verdana" panose="020B0804030504040204"/>
              <a:ea typeface="Verdana" panose="020B0804030504040204"/>
              <a:cs typeface="Verdana" panose="020B0804030504040204"/>
              <a:sym typeface="Verdana" panose="020B0804030504040204"/>
            </a:endParaRPr>
          </a:p>
        </p:txBody>
      </p:sp>
      <p:grpSp>
        <p:nvGrpSpPr>
          <p:cNvPr id="224" name="Google Shape;224;g396d4a5dad6_5_241"/>
          <p:cNvGrpSpPr/>
          <p:nvPr/>
        </p:nvGrpSpPr>
        <p:grpSpPr>
          <a:xfrm>
            <a:off x="457200" y="1143000"/>
            <a:ext cx="3905400" cy="1524000"/>
            <a:chOff x="457200" y="1143000"/>
            <a:chExt cx="3905400" cy="1524000"/>
          </a:xfrm>
        </p:grpSpPr>
        <p:sp>
          <p:nvSpPr>
            <p:cNvPr id="225" name="Google Shape;225;g396d4a5dad6_5_241"/>
            <p:cNvSpPr/>
            <p:nvPr/>
          </p:nvSpPr>
          <p:spPr>
            <a:xfrm>
              <a:off x="457200" y="1143000"/>
              <a:ext cx="3905400" cy="1524000"/>
            </a:xfrm>
            <a:prstGeom prst="roundRect">
              <a:avLst>
                <a:gd name="adj" fmla="val 5000"/>
              </a:avLst>
            </a:prstGeom>
            <a:solidFill>
              <a:srgbClr val="F8F9FA"/>
            </a:solidFill>
            <a:ln w="9525"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226" name="Google Shape;226;g396d4a5dad6_5_241"/>
            <p:cNvSpPr/>
            <p:nvPr/>
          </p:nvSpPr>
          <p:spPr>
            <a:xfrm>
              <a:off x="457200" y="1143000"/>
              <a:ext cx="3905400" cy="381000"/>
            </a:xfrm>
            <a:prstGeom prst="roundRect">
              <a:avLst>
                <a:gd name="adj" fmla="val 20000"/>
              </a:avLst>
            </a:prstGeom>
            <a:solidFill>
              <a:srgbClr val="BA0C2F"/>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227" name="Google Shape;227;g396d4a5dad6_5_241"/>
            <p:cNvSpPr txBox="1"/>
            <p:nvPr/>
          </p:nvSpPr>
          <p:spPr>
            <a:xfrm>
              <a:off x="552450" y="1143000"/>
              <a:ext cx="37149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zh-CN" sz="1200" b="1">
                  <a:solidFill>
                    <a:srgbClr val="FFFFFF"/>
                  </a:solidFill>
                  <a:latin typeface="Verdana" panose="020B0804030504040204"/>
                  <a:ea typeface="Verdana" panose="020B0804030504040204"/>
                  <a:cs typeface="Verdana" panose="020B0804030504040204"/>
                  <a:sym typeface="Verdana" panose="020B0804030504040204"/>
                </a:rPr>
                <a:t>Core Concept</a:t>
              </a:r>
              <a:endParaRPr sz="1200" b="1">
                <a:solidFill>
                  <a:srgbClr val="FFFFFF"/>
                </a:solidFill>
                <a:latin typeface="Verdana" panose="020B0804030504040204"/>
                <a:ea typeface="Verdana" panose="020B0804030504040204"/>
                <a:cs typeface="Verdana" panose="020B0804030504040204"/>
                <a:sym typeface="Verdana" panose="020B0804030504040204"/>
              </a:endParaRPr>
            </a:p>
          </p:txBody>
        </p:sp>
        <p:sp>
          <p:nvSpPr>
            <p:cNvPr id="228" name="Google Shape;228;g396d4a5dad6_5_241"/>
            <p:cNvSpPr txBox="1"/>
            <p:nvPr/>
          </p:nvSpPr>
          <p:spPr>
            <a:xfrm>
              <a:off x="647700" y="1619250"/>
              <a:ext cx="3524400" cy="952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zh-CN" sz="1400" b="0">
                  <a:solidFill>
                    <a:srgbClr val="000000"/>
                  </a:solidFill>
                  <a:latin typeface="Verdana" panose="020B0804030504040204"/>
                  <a:ea typeface="Verdana" panose="020B0804030504040204"/>
                  <a:cs typeface="Verdana" panose="020B0804030504040204"/>
                  <a:sym typeface="Verdana" panose="020B0804030504040204"/>
                </a:rPr>
                <a:t>Naive Bayes is a probabilistic classifier based on Bayes' Theorem with an assumption of independence between features.</a:t>
              </a:r>
              <a:endParaRPr sz="1400" b="0">
                <a:solidFill>
                  <a:srgbClr val="000000"/>
                </a:solidFill>
                <a:latin typeface="Verdana" panose="020B0804030504040204"/>
                <a:ea typeface="Verdana" panose="020B0804030504040204"/>
                <a:cs typeface="Verdana" panose="020B0804030504040204"/>
                <a:sym typeface="Verdana" panose="020B0804030504040204"/>
              </a:endParaRPr>
            </a:p>
          </p:txBody>
        </p:sp>
      </p:grpSp>
      <p:grpSp>
        <p:nvGrpSpPr>
          <p:cNvPr id="229" name="Google Shape;229;g396d4a5dad6_5_241"/>
          <p:cNvGrpSpPr/>
          <p:nvPr/>
        </p:nvGrpSpPr>
        <p:grpSpPr>
          <a:xfrm>
            <a:off x="4781550" y="1143000"/>
            <a:ext cx="3905400" cy="1524000"/>
            <a:chOff x="4781550" y="1143000"/>
            <a:chExt cx="3905400" cy="1524000"/>
          </a:xfrm>
        </p:grpSpPr>
        <p:sp>
          <p:nvSpPr>
            <p:cNvPr id="230" name="Google Shape;230;g396d4a5dad6_5_241"/>
            <p:cNvSpPr/>
            <p:nvPr/>
          </p:nvSpPr>
          <p:spPr>
            <a:xfrm>
              <a:off x="4781550" y="1143000"/>
              <a:ext cx="3905400" cy="1524000"/>
            </a:xfrm>
            <a:prstGeom prst="roundRect">
              <a:avLst>
                <a:gd name="adj" fmla="val 5000"/>
              </a:avLst>
            </a:prstGeom>
            <a:solidFill>
              <a:srgbClr val="F8F9FA"/>
            </a:solidFill>
            <a:ln w="9525"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231" name="Google Shape;231;g396d4a5dad6_5_241"/>
            <p:cNvSpPr/>
            <p:nvPr/>
          </p:nvSpPr>
          <p:spPr>
            <a:xfrm>
              <a:off x="4781550" y="1143000"/>
              <a:ext cx="3905400" cy="381000"/>
            </a:xfrm>
            <a:prstGeom prst="roundRect">
              <a:avLst>
                <a:gd name="adj" fmla="val 20000"/>
              </a:avLst>
            </a:prstGeom>
            <a:solidFill>
              <a:srgbClr val="BA0C2F"/>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232" name="Google Shape;232;g396d4a5dad6_5_241"/>
            <p:cNvSpPr txBox="1"/>
            <p:nvPr/>
          </p:nvSpPr>
          <p:spPr>
            <a:xfrm>
              <a:off x="4876800" y="1143000"/>
              <a:ext cx="37149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zh-CN" sz="1200" b="1">
                  <a:solidFill>
                    <a:srgbClr val="FFFFFF"/>
                  </a:solidFill>
                  <a:latin typeface="Verdana" panose="020B0804030504040204"/>
                  <a:ea typeface="Verdana" panose="020B0804030504040204"/>
                  <a:cs typeface="Verdana" panose="020B0804030504040204"/>
                  <a:sym typeface="Verdana" panose="020B0804030504040204"/>
                </a:rPr>
                <a:t>Bayes' Theorem</a:t>
              </a:r>
              <a:endParaRPr sz="1200" b="1">
                <a:solidFill>
                  <a:srgbClr val="FFFFFF"/>
                </a:solidFill>
                <a:latin typeface="Verdana" panose="020B0804030504040204"/>
                <a:ea typeface="Verdana" panose="020B0804030504040204"/>
                <a:cs typeface="Verdana" panose="020B0804030504040204"/>
                <a:sym typeface="Verdana" panose="020B0804030504040204"/>
              </a:endParaRPr>
            </a:p>
          </p:txBody>
        </p:sp>
        <p:sp>
          <p:nvSpPr>
            <p:cNvPr id="233" name="Google Shape;233;g396d4a5dad6_5_241"/>
            <p:cNvSpPr txBox="1"/>
            <p:nvPr/>
          </p:nvSpPr>
          <p:spPr>
            <a:xfrm>
              <a:off x="4972050" y="1619250"/>
              <a:ext cx="3524400" cy="952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zh-CN" sz="1800" b="0">
                  <a:solidFill>
                    <a:srgbClr val="000000"/>
                  </a:solidFill>
                  <a:latin typeface="Verdana" panose="020B0804030504040204"/>
                  <a:ea typeface="Verdana" panose="020B0804030504040204"/>
                  <a:cs typeface="Verdana" panose="020B0804030504040204"/>
                  <a:sym typeface="Verdana" panose="020B0804030504040204"/>
                </a:rPr>
                <a:t>P(A|B) = [P(B|A)P(A)] / P(B)</a:t>
              </a:r>
              <a:endParaRPr sz="1800" b="0">
                <a:solidFill>
                  <a:srgbClr val="000000"/>
                </a:solidFill>
                <a:latin typeface="Verdana" panose="020B0804030504040204"/>
                <a:ea typeface="Verdana" panose="020B0804030504040204"/>
                <a:cs typeface="Verdana" panose="020B0804030504040204"/>
                <a:sym typeface="Verdana" panose="020B0804030504040204"/>
              </a:endParaRPr>
            </a:p>
          </p:txBody>
        </p:sp>
      </p:grpSp>
      <p:grpSp>
        <p:nvGrpSpPr>
          <p:cNvPr id="234" name="Google Shape;234;g396d4a5dad6_5_241"/>
          <p:cNvGrpSpPr/>
          <p:nvPr/>
        </p:nvGrpSpPr>
        <p:grpSpPr>
          <a:xfrm>
            <a:off x="457200" y="2857500"/>
            <a:ext cx="8229600" cy="1524000"/>
            <a:chOff x="457200" y="2857500"/>
            <a:chExt cx="8229600" cy="1524000"/>
          </a:xfrm>
        </p:grpSpPr>
        <p:sp>
          <p:nvSpPr>
            <p:cNvPr id="235" name="Google Shape;235;g396d4a5dad6_5_241"/>
            <p:cNvSpPr/>
            <p:nvPr/>
          </p:nvSpPr>
          <p:spPr>
            <a:xfrm>
              <a:off x="457200" y="2857500"/>
              <a:ext cx="8229600" cy="1524000"/>
            </a:xfrm>
            <a:prstGeom prst="roundRect">
              <a:avLst>
                <a:gd name="adj" fmla="val 5000"/>
              </a:avLst>
            </a:prstGeom>
            <a:solidFill>
              <a:srgbClr val="F8F9FA"/>
            </a:solidFill>
            <a:ln w="9525"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236" name="Google Shape;236;g396d4a5dad6_5_241"/>
            <p:cNvSpPr/>
            <p:nvPr/>
          </p:nvSpPr>
          <p:spPr>
            <a:xfrm>
              <a:off x="457200" y="2857500"/>
              <a:ext cx="8229600" cy="381000"/>
            </a:xfrm>
            <a:prstGeom prst="roundRect">
              <a:avLst>
                <a:gd name="adj" fmla="val 20000"/>
              </a:avLst>
            </a:prstGeom>
            <a:solidFill>
              <a:srgbClr val="BA0C2F"/>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237" name="Google Shape;237;g396d4a5dad6_5_241"/>
            <p:cNvSpPr txBox="1"/>
            <p:nvPr/>
          </p:nvSpPr>
          <p:spPr>
            <a:xfrm>
              <a:off x="552450" y="2857500"/>
              <a:ext cx="80391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panose="020B0604020202090204"/>
                <a:buNone/>
              </a:pPr>
              <a:r>
                <a:rPr lang="zh-CN" sz="1200" b="1">
                  <a:solidFill>
                    <a:schemeClr val="lt1"/>
                  </a:solidFill>
                  <a:latin typeface="Verdana" panose="020B0804030504040204"/>
                  <a:ea typeface="Verdana" panose="020B0804030504040204"/>
                  <a:cs typeface="Verdana" panose="020B0804030504040204"/>
                  <a:sym typeface="Verdana" panose="020B0804030504040204"/>
                </a:rPr>
                <a:t>Key Points</a:t>
              </a:r>
              <a:endParaRPr sz="1200" b="1">
                <a:solidFill>
                  <a:srgbClr val="FFFFFF"/>
                </a:solidFill>
                <a:latin typeface="Verdana" panose="020B0804030504040204"/>
                <a:ea typeface="Verdana" panose="020B0804030504040204"/>
                <a:cs typeface="Verdana" panose="020B0804030504040204"/>
                <a:sym typeface="Verdana" panose="020B0804030504040204"/>
              </a:endParaRPr>
            </a:p>
          </p:txBody>
        </p:sp>
        <p:sp>
          <p:nvSpPr>
            <p:cNvPr id="238" name="Google Shape;238;g396d4a5dad6_5_241"/>
            <p:cNvSpPr txBox="1"/>
            <p:nvPr/>
          </p:nvSpPr>
          <p:spPr>
            <a:xfrm>
              <a:off x="742950" y="3333750"/>
              <a:ext cx="3619500" cy="952500"/>
            </a:xfrm>
            <a:prstGeom prst="rect">
              <a:avLst/>
            </a:prstGeom>
            <a:noFill/>
            <a:ln>
              <a:noFill/>
            </a:ln>
          </p:spPr>
          <p:txBody>
            <a:bodyPr spcFirstLastPara="1" wrap="square" lIns="0" tIns="0" rIns="0" bIns="0" anchor="ctr" anchorCtr="0">
              <a:noAutofit/>
            </a:bodyPr>
            <a:lstStyle/>
            <a:p>
              <a:pPr marL="457200" lvl="0" indent="-317500" algn="l" rtl="0">
                <a:spcBef>
                  <a:spcPts val="0"/>
                </a:spcBef>
                <a:spcAft>
                  <a:spcPts val="750"/>
                </a:spcAft>
                <a:buClr>
                  <a:srgbClr val="000000"/>
                </a:buClr>
                <a:buSzPts val="1400"/>
                <a:buFont typeface="Verdana" panose="020B0804030504040204"/>
                <a:buChar char="●"/>
              </a:pPr>
              <a:r>
                <a:rPr lang="zh-CN" sz="1400" b="1">
                  <a:solidFill>
                    <a:srgbClr val="000000"/>
                  </a:solidFill>
                  <a:latin typeface="Verdana" panose="020B0804030504040204"/>
                  <a:ea typeface="Verdana" panose="020B0804030504040204"/>
                  <a:cs typeface="Verdana" panose="020B0804030504040204"/>
                  <a:sym typeface="Verdana" panose="020B0804030504040204"/>
                </a:rPr>
                <a:t>Feature Independence:</a:t>
              </a:r>
              <a:r>
                <a:rPr lang="zh-CN" sz="1400" b="0">
                  <a:solidFill>
                    <a:srgbClr val="000000"/>
                  </a:solidFill>
                  <a:latin typeface="Verdana" panose="020B0804030504040204"/>
                  <a:ea typeface="Verdana" panose="020B0804030504040204"/>
                  <a:cs typeface="Verdana" panose="020B0804030504040204"/>
                  <a:sym typeface="Verdana" panose="020B0804030504040204"/>
                </a:rPr>
                <a:t> Assumes every feature is independent of others.</a:t>
              </a:r>
              <a:endParaRPr sz="1400" b="0">
                <a:solidFill>
                  <a:srgbClr val="000000"/>
                </a:solidFill>
                <a:latin typeface="Verdana" panose="020B0804030504040204"/>
                <a:ea typeface="Verdana" panose="020B0804030504040204"/>
                <a:cs typeface="Verdana" panose="020B0804030504040204"/>
                <a:sym typeface="Verdana" panose="020B0804030504040204"/>
              </a:endParaRPr>
            </a:p>
          </p:txBody>
        </p:sp>
        <p:sp>
          <p:nvSpPr>
            <p:cNvPr id="239" name="Google Shape;239;g396d4a5dad6_5_241"/>
            <p:cNvSpPr txBox="1"/>
            <p:nvPr/>
          </p:nvSpPr>
          <p:spPr>
            <a:xfrm>
              <a:off x="4743450" y="3333750"/>
              <a:ext cx="3619500" cy="952500"/>
            </a:xfrm>
            <a:prstGeom prst="rect">
              <a:avLst/>
            </a:prstGeom>
            <a:noFill/>
            <a:ln>
              <a:noFill/>
            </a:ln>
          </p:spPr>
          <p:txBody>
            <a:bodyPr spcFirstLastPara="1" wrap="square" lIns="0" tIns="0" rIns="0" bIns="0" anchor="ctr" anchorCtr="0">
              <a:noAutofit/>
            </a:bodyPr>
            <a:lstStyle/>
            <a:p>
              <a:pPr marL="457200" lvl="0" indent="-317500" algn="l" rtl="0">
                <a:spcBef>
                  <a:spcPts val="0"/>
                </a:spcBef>
                <a:spcAft>
                  <a:spcPts val="750"/>
                </a:spcAft>
                <a:buClr>
                  <a:srgbClr val="000000"/>
                </a:buClr>
                <a:buSzPts val="1400"/>
                <a:buFont typeface="Verdana" panose="020B0804030504040204"/>
                <a:buChar char="●"/>
              </a:pPr>
              <a:r>
                <a:rPr lang="zh-CN" sz="1400" b="1">
                  <a:solidFill>
                    <a:srgbClr val="000000"/>
                  </a:solidFill>
                  <a:latin typeface="Verdana" panose="020B0804030504040204"/>
                  <a:ea typeface="Verdana" panose="020B0804030504040204"/>
                  <a:cs typeface="Verdana" panose="020B0804030504040204"/>
                  <a:sym typeface="Verdana" panose="020B0804030504040204"/>
                </a:rPr>
                <a:t>Gaussian Variant:</a:t>
              </a:r>
              <a:r>
                <a:rPr lang="zh-CN" sz="1400" b="0">
                  <a:solidFill>
                    <a:srgbClr val="000000"/>
                  </a:solidFill>
                  <a:latin typeface="Verdana" panose="020B0804030504040204"/>
                  <a:ea typeface="Verdana" panose="020B0804030504040204"/>
                  <a:cs typeface="Verdana" panose="020B0804030504040204"/>
                  <a:sym typeface="Verdana" panose="020B0804030504040204"/>
                </a:rPr>
                <a:t> Used when features follow a normal distribution (Bell Curve).</a:t>
              </a:r>
              <a:endParaRPr sz="1400" b="0">
                <a:solidFill>
                  <a:srgbClr val="000000"/>
                </a:solidFill>
                <a:latin typeface="Verdana" panose="020B0804030504040204"/>
                <a:ea typeface="Verdana" panose="020B0804030504040204"/>
                <a:cs typeface="Verdana" panose="020B0804030504040204"/>
                <a:sym typeface="Verdana" panose="020B0804030504040204"/>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44" name="Shape 244"/>
        <p:cNvGrpSpPr/>
        <p:nvPr/>
      </p:nvGrpSpPr>
      <p:grpSpPr>
        <a:xfrm>
          <a:off x="0" y="0"/>
          <a:ext cx="0" cy="0"/>
          <a:chOff x="0" y="0"/>
          <a:chExt cx="0" cy="0"/>
        </a:xfrm>
      </p:grpSpPr>
      <p:sp>
        <p:nvSpPr>
          <p:cNvPr id="245" name="Google Shape;245;p15"/>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SzPts val="1400"/>
              <a:buNone/>
            </a:pPr>
            <a:r>
              <a:rPr lang="zh-CN"/>
              <a:t>Gaussian Naive Bayes</a:t>
            </a:r>
            <a:endParaRPr lang="zh-CN"/>
          </a:p>
        </p:txBody>
      </p:sp>
      <p:sp>
        <p:nvSpPr>
          <p:cNvPr id="246" name="Google Shape;246;p15"/>
          <p:cNvSpPr txBox="1"/>
          <p:nvPr>
            <p:ph type="sldNum" idx="12"/>
          </p:nvPr>
        </p:nvSpPr>
        <p:spPr>
          <a:xfrm>
            <a:off x="1" y="4790748"/>
            <a:ext cx="457200" cy="29565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Clr>
                <a:srgbClr val="000000"/>
              </a:buClr>
              <a:buSzPts val="900"/>
              <a:buFont typeface="Arial" panose="020B0604020202090204"/>
              <a:buNone/>
            </a:pPr>
            <a:fld id="{00000000-1234-1234-1234-123412341234}" type="slidenum">
              <a:rPr lang="zh-CN"/>
            </a:fld>
            <a:endParaRPr lang="zh-CN"/>
          </a:p>
        </p:txBody>
      </p:sp>
      <p:pic>
        <p:nvPicPr>
          <p:cNvPr id="247" name="Google Shape;247;p15"/>
          <p:cNvPicPr preferRelativeResize="0"/>
          <p:nvPr/>
        </p:nvPicPr>
        <p:blipFill rotWithShape="1">
          <a:blip r:embed="rId1"/>
          <a:srcRect/>
          <a:stretch>
            <a:fillRect/>
          </a:stretch>
        </p:blipFill>
        <p:spPr>
          <a:xfrm>
            <a:off x="457200" y="1308300"/>
            <a:ext cx="5715000" cy="2857500"/>
          </a:xfrm>
          <a:prstGeom prst="rect">
            <a:avLst/>
          </a:prstGeom>
          <a:noFill/>
          <a:ln>
            <a:noFill/>
          </a:ln>
        </p:spPr>
      </p:pic>
      <p:pic>
        <p:nvPicPr>
          <p:cNvPr id="248" name="Google Shape;248;p15"/>
          <p:cNvPicPr preferRelativeResize="0"/>
          <p:nvPr/>
        </p:nvPicPr>
        <p:blipFill rotWithShape="1">
          <a:blip r:embed="rId2"/>
          <a:srcRect/>
          <a:stretch>
            <a:fillRect/>
          </a:stretch>
        </p:blipFill>
        <p:spPr>
          <a:xfrm>
            <a:off x="6172200" y="2282063"/>
            <a:ext cx="2926519" cy="73445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52" name="Shape 252"/>
        <p:cNvGrpSpPr/>
        <p:nvPr/>
      </p:nvGrpSpPr>
      <p:grpSpPr>
        <a:xfrm>
          <a:off x="0" y="0"/>
          <a:ext cx="0" cy="0"/>
          <a:chOff x="0" y="0"/>
          <a:chExt cx="0" cy="0"/>
        </a:xfrm>
      </p:grpSpPr>
      <p:sp>
        <p:nvSpPr>
          <p:cNvPr id="253" name="Google Shape;253;g396d4a5dad6_5_286"/>
          <p:cNvSpPr txBox="1"/>
          <p:nvPr>
            <p:ph type="title"/>
          </p:nvPr>
        </p:nvSpPr>
        <p:spPr>
          <a:xfrm>
            <a:off x="457200" y="263525"/>
            <a:ext cx="8229600" cy="6000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None/>
            </a:pPr>
            <a:r>
              <a:rPr lang="zh-CN">
                <a:latin typeface="Verdana" panose="020B0804030504040204"/>
                <a:ea typeface="Verdana" panose="020B0804030504040204"/>
                <a:cs typeface="Verdana" panose="020B0804030504040204"/>
                <a:sym typeface="Verdana" panose="020B0804030504040204"/>
              </a:rPr>
              <a:t>Support Vector Machine</a:t>
            </a:r>
            <a:r>
              <a:rPr lang="zh-CN">
                <a:latin typeface="Verdana" panose="020B0804030504040204"/>
                <a:ea typeface="Verdana" panose="020B0804030504040204"/>
                <a:cs typeface="Verdana" panose="020B0804030504040204"/>
                <a:sym typeface="Verdana" panose="020B0804030504040204"/>
              </a:rPr>
              <a:t> Fundamentals</a:t>
            </a:r>
            <a:endParaRPr lang="zh-CN">
              <a:latin typeface="Verdana" panose="020B0804030504040204"/>
              <a:ea typeface="Verdana" panose="020B0804030504040204"/>
              <a:cs typeface="Verdana" panose="020B0804030504040204"/>
              <a:sym typeface="Verdana" panose="020B0804030504040204"/>
            </a:endParaRPr>
          </a:p>
        </p:txBody>
      </p:sp>
      <p:grpSp>
        <p:nvGrpSpPr>
          <p:cNvPr id="254" name="Google Shape;254;g396d4a5dad6_5_286"/>
          <p:cNvGrpSpPr/>
          <p:nvPr/>
        </p:nvGrpSpPr>
        <p:grpSpPr>
          <a:xfrm>
            <a:off x="457200" y="1143000"/>
            <a:ext cx="3905400" cy="1524000"/>
            <a:chOff x="457200" y="1143000"/>
            <a:chExt cx="3905400" cy="1524000"/>
          </a:xfrm>
        </p:grpSpPr>
        <p:sp>
          <p:nvSpPr>
            <p:cNvPr id="255" name="Google Shape;255;g396d4a5dad6_5_286"/>
            <p:cNvSpPr/>
            <p:nvPr/>
          </p:nvSpPr>
          <p:spPr>
            <a:xfrm>
              <a:off x="457200" y="1143000"/>
              <a:ext cx="3905400" cy="1524000"/>
            </a:xfrm>
            <a:prstGeom prst="roundRect">
              <a:avLst>
                <a:gd name="adj" fmla="val 5000"/>
              </a:avLst>
            </a:prstGeom>
            <a:solidFill>
              <a:srgbClr val="F8F9FA"/>
            </a:solidFill>
            <a:ln w="9525"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256" name="Google Shape;256;g396d4a5dad6_5_286"/>
            <p:cNvSpPr/>
            <p:nvPr/>
          </p:nvSpPr>
          <p:spPr>
            <a:xfrm>
              <a:off x="457200" y="1143000"/>
              <a:ext cx="3905400" cy="381000"/>
            </a:xfrm>
            <a:prstGeom prst="roundRect">
              <a:avLst>
                <a:gd name="adj" fmla="val 20000"/>
              </a:avLst>
            </a:prstGeom>
            <a:solidFill>
              <a:srgbClr val="BA0C2F"/>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257" name="Google Shape;257;g396d4a5dad6_5_286"/>
            <p:cNvSpPr txBox="1"/>
            <p:nvPr/>
          </p:nvSpPr>
          <p:spPr>
            <a:xfrm>
              <a:off x="552450" y="1143000"/>
              <a:ext cx="37149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zh-CN" sz="1200" b="1">
                  <a:solidFill>
                    <a:srgbClr val="FFFFFF"/>
                  </a:solidFill>
                  <a:latin typeface="Verdana" panose="020B0804030504040204"/>
                  <a:ea typeface="Verdana" panose="020B0804030504040204"/>
                  <a:cs typeface="Verdana" panose="020B0804030504040204"/>
                  <a:sym typeface="Verdana" panose="020B0804030504040204"/>
                </a:rPr>
                <a:t>Core Concept</a:t>
              </a:r>
              <a:endParaRPr sz="1200" b="1">
                <a:solidFill>
                  <a:srgbClr val="FFFFFF"/>
                </a:solidFill>
                <a:latin typeface="Verdana" panose="020B0804030504040204"/>
                <a:ea typeface="Verdana" panose="020B0804030504040204"/>
                <a:cs typeface="Verdana" panose="020B0804030504040204"/>
                <a:sym typeface="Verdana" panose="020B0804030504040204"/>
              </a:endParaRPr>
            </a:p>
          </p:txBody>
        </p:sp>
        <p:sp>
          <p:nvSpPr>
            <p:cNvPr id="258" name="Google Shape;258;g396d4a5dad6_5_286"/>
            <p:cNvSpPr txBox="1"/>
            <p:nvPr/>
          </p:nvSpPr>
          <p:spPr>
            <a:xfrm>
              <a:off x="647700" y="1619250"/>
              <a:ext cx="3524400" cy="952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zh-CN">
                  <a:latin typeface="Verdana" panose="020B0804030504040204"/>
                  <a:ea typeface="Verdana" panose="020B0804030504040204"/>
                  <a:cs typeface="Verdana" panose="020B0804030504040204"/>
                  <a:sym typeface="Verdana" panose="020B0804030504040204"/>
                </a:rPr>
                <a:t>Finds the optimal hyperplane that maximizes the margin between two classes of data.</a:t>
              </a:r>
              <a:endParaRPr sz="1400" b="0">
                <a:solidFill>
                  <a:srgbClr val="000000"/>
                </a:solidFill>
                <a:latin typeface="Verdana" panose="020B0804030504040204"/>
                <a:ea typeface="Verdana" panose="020B0804030504040204"/>
                <a:cs typeface="Verdana" panose="020B0804030504040204"/>
                <a:sym typeface="Verdana" panose="020B0804030504040204"/>
              </a:endParaRPr>
            </a:p>
          </p:txBody>
        </p:sp>
      </p:grpSp>
      <p:grpSp>
        <p:nvGrpSpPr>
          <p:cNvPr id="259" name="Google Shape;259;g396d4a5dad6_5_286"/>
          <p:cNvGrpSpPr/>
          <p:nvPr/>
        </p:nvGrpSpPr>
        <p:grpSpPr>
          <a:xfrm>
            <a:off x="457200" y="2857500"/>
            <a:ext cx="8229600" cy="1524000"/>
            <a:chOff x="457200" y="2857500"/>
            <a:chExt cx="8229600" cy="1524000"/>
          </a:xfrm>
        </p:grpSpPr>
        <p:sp>
          <p:nvSpPr>
            <p:cNvPr id="260" name="Google Shape;260;g396d4a5dad6_5_286"/>
            <p:cNvSpPr/>
            <p:nvPr/>
          </p:nvSpPr>
          <p:spPr>
            <a:xfrm>
              <a:off x="457200" y="2857500"/>
              <a:ext cx="8229600" cy="1524000"/>
            </a:xfrm>
            <a:prstGeom prst="roundRect">
              <a:avLst>
                <a:gd name="adj" fmla="val 5000"/>
              </a:avLst>
            </a:prstGeom>
            <a:solidFill>
              <a:srgbClr val="F8F9FA"/>
            </a:solidFill>
            <a:ln w="9525"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261" name="Google Shape;261;g396d4a5dad6_5_286"/>
            <p:cNvSpPr/>
            <p:nvPr/>
          </p:nvSpPr>
          <p:spPr>
            <a:xfrm>
              <a:off x="457200" y="2857500"/>
              <a:ext cx="8229600" cy="381000"/>
            </a:xfrm>
            <a:prstGeom prst="roundRect">
              <a:avLst>
                <a:gd name="adj" fmla="val 20000"/>
              </a:avLst>
            </a:prstGeom>
            <a:solidFill>
              <a:srgbClr val="BA0C2F"/>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262" name="Google Shape;262;g396d4a5dad6_5_286"/>
            <p:cNvSpPr txBox="1"/>
            <p:nvPr/>
          </p:nvSpPr>
          <p:spPr>
            <a:xfrm>
              <a:off x="552450" y="2857500"/>
              <a:ext cx="80391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panose="020B0604020202090204"/>
                <a:buNone/>
              </a:pPr>
              <a:r>
                <a:rPr lang="zh-CN" sz="1200" b="1">
                  <a:solidFill>
                    <a:schemeClr val="lt1"/>
                  </a:solidFill>
                  <a:latin typeface="Verdana" panose="020B0804030504040204"/>
                  <a:ea typeface="Verdana" panose="020B0804030504040204"/>
                  <a:cs typeface="Verdana" panose="020B0804030504040204"/>
                  <a:sym typeface="Verdana" panose="020B0804030504040204"/>
                </a:rPr>
                <a:t>Key Points</a:t>
              </a:r>
              <a:endParaRPr sz="1200" b="1">
                <a:solidFill>
                  <a:srgbClr val="FFFFFF"/>
                </a:solidFill>
                <a:latin typeface="Verdana" panose="020B0804030504040204"/>
                <a:ea typeface="Verdana" panose="020B0804030504040204"/>
                <a:cs typeface="Verdana" panose="020B0804030504040204"/>
                <a:sym typeface="Verdana" panose="020B0804030504040204"/>
              </a:endParaRPr>
            </a:p>
          </p:txBody>
        </p:sp>
        <p:sp>
          <p:nvSpPr>
            <p:cNvPr id="263" name="Google Shape;263;g396d4a5dad6_5_286"/>
            <p:cNvSpPr txBox="1"/>
            <p:nvPr/>
          </p:nvSpPr>
          <p:spPr>
            <a:xfrm>
              <a:off x="742950" y="3333750"/>
              <a:ext cx="7425300" cy="952500"/>
            </a:xfrm>
            <a:prstGeom prst="rect">
              <a:avLst/>
            </a:prstGeom>
            <a:noFill/>
            <a:ln>
              <a:noFill/>
            </a:ln>
          </p:spPr>
          <p:txBody>
            <a:bodyPr spcFirstLastPara="1" wrap="square" lIns="0" tIns="0" rIns="0" bIns="0" anchor="ctr" anchorCtr="0">
              <a:noAutofit/>
            </a:bodyPr>
            <a:lstStyle/>
            <a:p>
              <a:pPr marL="457200" lvl="0" indent="-317500" algn="l" rtl="0">
                <a:spcBef>
                  <a:spcPts val="0"/>
                </a:spcBef>
                <a:spcAft>
                  <a:spcPts val="750"/>
                </a:spcAft>
                <a:buClr>
                  <a:srgbClr val="000000"/>
                </a:buClr>
                <a:buSzPts val="1400"/>
                <a:buFont typeface="Verdana" panose="020B0804030504040204"/>
                <a:buChar char="●"/>
              </a:pPr>
              <a:r>
                <a:rPr lang="zh-CN" b="1">
                  <a:latin typeface="Verdana" panose="020B0804030504040204"/>
                  <a:ea typeface="Verdana" panose="020B0804030504040204"/>
                  <a:cs typeface="Verdana" panose="020B0804030504040204"/>
                  <a:sym typeface="Verdana" panose="020B0804030504040204"/>
                </a:rPr>
                <a:t>Support Vectors</a:t>
              </a:r>
              <a:r>
                <a:rPr lang="zh-CN" sz="1400" b="1">
                  <a:solidFill>
                    <a:srgbClr val="000000"/>
                  </a:solidFill>
                  <a:latin typeface="Verdana" panose="020B0804030504040204"/>
                  <a:ea typeface="Verdana" panose="020B0804030504040204"/>
                  <a:cs typeface="Verdana" panose="020B0804030504040204"/>
                  <a:sym typeface="Verdana" panose="020B0804030504040204"/>
                </a:rPr>
                <a:t>:</a:t>
              </a:r>
              <a:r>
                <a:rPr lang="zh-CN" sz="1400" b="0">
                  <a:solidFill>
                    <a:srgbClr val="000000"/>
                  </a:solidFill>
                  <a:latin typeface="Verdana" panose="020B0804030504040204"/>
                  <a:ea typeface="Verdana" panose="020B0804030504040204"/>
                  <a:cs typeface="Verdana" panose="020B0804030504040204"/>
                  <a:sym typeface="Verdana" panose="020B0804030504040204"/>
                </a:rPr>
                <a:t> </a:t>
              </a:r>
              <a:r>
                <a:rPr lang="zh-CN">
                  <a:latin typeface="Verdana" panose="020B0804030504040204"/>
                  <a:ea typeface="Verdana" panose="020B0804030504040204"/>
                  <a:cs typeface="Verdana" panose="020B0804030504040204"/>
                  <a:sym typeface="Verdana" panose="020B0804030504040204"/>
                </a:rPr>
                <a:t>The model only relies on the most 'difficult' data points (those closest to the boundary) rather than the whole dataset.</a:t>
              </a:r>
              <a:endParaRPr sz="1400" b="0">
                <a:solidFill>
                  <a:srgbClr val="000000"/>
                </a:solidFill>
                <a:latin typeface="Verdana" panose="020B0804030504040204"/>
                <a:ea typeface="Verdana" panose="020B0804030504040204"/>
                <a:cs typeface="Verdana" panose="020B0804030504040204"/>
                <a:sym typeface="Verdana" panose="020B0804030504040204"/>
              </a:endParaRPr>
            </a:p>
          </p:txBody>
        </p:sp>
      </p:grpSp>
      <p:pic>
        <p:nvPicPr>
          <p:cNvPr id="264" name="Google Shape;264;g396d4a5dad6_5_286"/>
          <p:cNvPicPr preferRelativeResize="0"/>
          <p:nvPr/>
        </p:nvPicPr>
        <p:blipFill>
          <a:blip r:embed="rId1"/>
          <a:stretch>
            <a:fillRect/>
          </a:stretch>
        </p:blipFill>
        <p:spPr>
          <a:xfrm>
            <a:off x="5063775" y="1015925"/>
            <a:ext cx="3378350" cy="16891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269" name="Shape 269"/>
        <p:cNvGrpSpPr/>
        <p:nvPr/>
      </p:nvGrpSpPr>
      <p:grpSpPr>
        <a:xfrm>
          <a:off x="0" y="0"/>
          <a:ext cx="0" cy="0"/>
          <a:chOff x="0" y="0"/>
          <a:chExt cx="0" cy="0"/>
        </a:xfrm>
      </p:grpSpPr>
      <p:sp>
        <p:nvSpPr>
          <p:cNvPr id="270" name="Google Shape;270;p16"/>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SzPts val="1400"/>
              <a:buNone/>
            </a:pPr>
            <a:r>
              <a:rPr lang="zh-CN"/>
              <a:t>Support Vector Machine (SVM)</a:t>
            </a:r>
            <a:endParaRPr lang="zh-CN"/>
          </a:p>
        </p:txBody>
      </p:sp>
      <p:sp>
        <p:nvSpPr>
          <p:cNvPr id="271" name="Google Shape;271;p16"/>
          <p:cNvSpPr txBox="1"/>
          <p:nvPr>
            <p:ph type="sldNum" idx="12"/>
          </p:nvPr>
        </p:nvSpPr>
        <p:spPr>
          <a:xfrm>
            <a:off x="1" y="4790748"/>
            <a:ext cx="457200" cy="29565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Clr>
                <a:srgbClr val="000000"/>
              </a:buClr>
              <a:buSzPts val="900"/>
              <a:buFont typeface="Arial" panose="020B0604020202090204"/>
              <a:buNone/>
            </a:pPr>
            <a:fld id="{00000000-1234-1234-1234-123412341234}" type="slidenum">
              <a:rPr lang="zh-CN"/>
            </a:fld>
            <a:endParaRPr lang="zh-CN"/>
          </a:p>
        </p:txBody>
      </p:sp>
      <p:pic>
        <p:nvPicPr>
          <p:cNvPr id="272" name="Google Shape;272;p16"/>
          <p:cNvPicPr preferRelativeResize="0"/>
          <p:nvPr/>
        </p:nvPicPr>
        <p:blipFill rotWithShape="1">
          <a:blip r:embed="rId1"/>
          <a:srcRect/>
          <a:stretch>
            <a:fillRect/>
          </a:stretch>
        </p:blipFill>
        <p:spPr>
          <a:xfrm>
            <a:off x="246338" y="1974835"/>
            <a:ext cx="3407285" cy="1703634"/>
          </a:xfrm>
          <a:prstGeom prst="rect">
            <a:avLst/>
          </a:prstGeom>
          <a:noFill/>
          <a:ln>
            <a:noFill/>
          </a:ln>
        </p:spPr>
      </p:pic>
      <p:pic>
        <p:nvPicPr>
          <p:cNvPr id="273" name="Google Shape;273;p16"/>
          <p:cNvPicPr preferRelativeResize="0"/>
          <p:nvPr/>
        </p:nvPicPr>
        <p:blipFill rotWithShape="1">
          <a:blip r:embed="rId2"/>
          <a:srcRect/>
          <a:stretch>
            <a:fillRect/>
          </a:stretch>
        </p:blipFill>
        <p:spPr>
          <a:xfrm>
            <a:off x="3879506" y="1423275"/>
            <a:ext cx="5108924" cy="311503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277" name="Shape 277"/>
        <p:cNvGrpSpPr/>
        <p:nvPr/>
      </p:nvGrpSpPr>
      <p:grpSpPr>
        <a:xfrm>
          <a:off x="0" y="0"/>
          <a:ext cx="0" cy="0"/>
          <a:chOff x="0" y="0"/>
          <a:chExt cx="0" cy="0"/>
        </a:xfrm>
      </p:grpSpPr>
      <p:sp>
        <p:nvSpPr>
          <p:cNvPr id="278" name="Google Shape;278;g396d4a5dad6_5_306"/>
          <p:cNvSpPr txBox="1"/>
          <p:nvPr>
            <p:ph type="title"/>
          </p:nvPr>
        </p:nvSpPr>
        <p:spPr>
          <a:xfrm>
            <a:off x="457200" y="263525"/>
            <a:ext cx="8229600" cy="6000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None/>
            </a:pPr>
            <a:r>
              <a:rPr lang="zh-CN">
                <a:latin typeface="Verdana" panose="020B0804030504040204"/>
                <a:ea typeface="Verdana" panose="020B0804030504040204"/>
                <a:cs typeface="Verdana" panose="020B0804030504040204"/>
                <a:sym typeface="Verdana" panose="020B0804030504040204"/>
              </a:rPr>
              <a:t>Decision Tree</a:t>
            </a:r>
            <a:r>
              <a:rPr lang="zh-CN">
                <a:latin typeface="Verdana" panose="020B0804030504040204"/>
                <a:ea typeface="Verdana" panose="020B0804030504040204"/>
                <a:cs typeface="Verdana" panose="020B0804030504040204"/>
                <a:sym typeface="Verdana" panose="020B0804030504040204"/>
              </a:rPr>
              <a:t> Fundamentals</a:t>
            </a:r>
            <a:endParaRPr lang="zh-CN">
              <a:latin typeface="Verdana" panose="020B0804030504040204"/>
              <a:ea typeface="Verdana" panose="020B0804030504040204"/>
              <a:cs typeface="Verdana" panose="020B0804030504040204"/>
              <a:sym typeface="Verdana" panose="020B0804030504040204"/>
            </a:endParaRPr>
          </a:p>
        </p:txBody>
      </p:sp>
      <p:grpSp>
        <p:nvGrpSpPr>
          <p:cNvPr id="279" name="Google Shape;279;g396d4a5dad6_5_306"/>
          <p:cNvGrpSpPr/>
          <p:nvPr/>
        </p:nvGrpSpPr>
        <p:grpSpPr>
          <a:xfrm>
            <a:off x="457200" y="1143000"/>
            <a:ext cx="3905400" cy="1524000"/>
            <a:chOff x="457200" y="1143000"/>
            <a:chExt cx="3905400" cy="1524000"/>
          </a:xfrm>
        </p:grpSpPr>
        <p:sp>
          <p:nvSpPr>
            <p:cNvPr id="280" name="Google Shape;280;g396d4a5dad6_5_306"/>
            <p:cNvSpPr/>
            <p:nvPr/>
          </p:nvSpPr>
          <p:spPr>
            <a:xfrm>
              <a:off x="457200" y="1143000"/>
              <a:ext cx="3905400" cy="1524000"/>
            </a:xfrm>
            <a:prstGeom prst="roundRect">
              <a:avLst>
                <a:gd name="adj" fmla="val 5000"/>
              </a:avLst>
            </a:prstGeom>
            <a:solidFill>
              <a:srgbClr val="F8F9FA"/>
            </a:solidFill>
            <a:ln w="9525"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281" name="Google Shape;281;g396d4a5dad6_5_306"/>
            <p:cNvSpPr/>
            <p:nvPr/>
          </p:nvSpPr>
          <p:spPr>
            <a:xfrm>
              <a:off x="457200" y="1143000"/>
              <a:ext cx="3905400" cy="381000"/>
            </a:xfrm>
            <a:prstGeom prst="roundRect">
              <a:avLst>
                <a:gd name="adj" fmla="val 20000"/>
              </a:avLst>
            </a:prstGeom>
            <a:solidFill>
              <a:srgbClr val="BA0C2F"/>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282" name="Google Shape;282;g396d4a5dad6_5_306"/>
            <p:cNvSpPr txBox="1"/>
            <p:nvPr/>
          </p:nvSpPr>
          <p:spPr>
            <a:xfrm>
              <a:off x="552450" y="1143000"/>
              <a:ext cx="37149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zh-CN" sz="1200" b="1">
                  <a:solidFill>
                    <a:srgbClr val="FFFFFF"/>
                  </a:solidFill>
                  <a:latin typeface="Verdana" panose="020B0804030504040204"/>
                  <a:ea typeface="Verdana" panose="020B0804030504040204"/>
                  <a:cs typeface="Verdana" panose="020B0804030504040204"/>
                  <a:sym typeface="Verdana" panose="020B0804030504040204"/>
                </a:rPr>
                <a:t>Core Concept</a:t>
              </a:r>
              <a:endParaRPr sz="1200" b="1">
                <a:solidFill>
                  <a:srgbClr val="FFFFFF"/>
                </a:solidFill>
                <a:latin typeface="Verdana" panose="020B0804030504040204"/>
                <a:ea typeface="Verdana" panose="020B0804030504040204"/>
                <a:cs typeface="Verdana" panose="020B0804030504040204"/>
                <a:sym typeface="Verdana" panose="020B0804030504040204"/>
              </a:endParaRPr>
            </a:p>
          </p:txBody>
        </p:sp>
        <p:sp>
          <p:nvSpPr>
            <p:cNvPr id="283" name="Google Shape;283;g396d4a5dad6_5_306"/>
            <p:cNvSpPr txBox="1"/>
            <p:nvPr/>
          </p:nvSpPr>
          <p:spPr>
            <a:xfrm>
              <a:off x="647700" y="1619250"/>
              <a:ext cx="3524400" cy="952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zh-CN">
                  <a:latin typeface="Verdana" panose="020B0804030504040204"/>
                  <a:ea typeface="Verdana" panose="020B0804030504040204"/>
                  <a:cs typeface="Verdana" panose="020B0804030504040204"/>
                  <a:sym typeface="Verdana" panose="020B0804030504040204"/>
                </a:rPr>
                <a:t>A flow-chart-like structure where each internal node represents a 'test' on an attribute, and each leaf node represents a class label.</a:t>
              </a:r>
              <a:endParaRPr sz="1400" b="0">
                <a:solidFill>
                  <a:srgbClr val="000000"/>
                </a:solidFill>
                <a:latin typeface="Verdana" panose="020B0804030504040204"/>
                <a:ea typeface="Verdana" panose="020B0804030504040204"/>
                <a:cs typeface="Verdana" panose="020B0804030504040204"/>
                <a:sym typeface="Verdana" panose="020B0804030504040204"/>
              </a:endParaRPr>
            </a:p>
          </p:txBody>
        </p:sp>
      </p:grpSp>
      <p:grpSp>
        <p:nvGrpSpPr>
          <p:cNvPr id="284" name="Google Shape;284;g396d4a5dad6_5_306"/>
          <p:cNvGrpSpPr/>
          <p:nvPr/>
        </p:nvGrpSpPr>
        <p:grpSpPr>
          <a:xfrm>
            <a:off x="457200" y="2857500"/>
            <a:ext cx="8229600" cy="1524000"/>
            <a:chOff x="457200" y="2857500"/>
            <a:chExt cx="8229600" cy="1524000"/>
          </a:xfrm>
        </p:grpSpPr>
        <p:sp>
          <p:nvSpPr>
            <p:cNvPr id="285" name="Google Shape;285;g396d4a5dad6_5_306"/>
            <p:cNvSpPr/>
            <p:nvPr/>
          </p:nvSpPr>
          <p:spPr>
            <a:xfrm>
              <a:off x="457200" y="2857500"/>
              <a:ext cx="8229600" cy="1524000"/>
            </a:xfrm>
            <a:prstGeom prst="roundRect">
              <a:avLst>
                <a:gd name="adj" fmla="val 5000"/>
              </a:avLst>
            </a:prstGeom>
            <a:solidFill>
              <a:srgbClr val="F8F9FA"/>
            </a:solidFill>
            <a:ln w="9525"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286" name="Google Shape;286;g396d4a5dad6_5_306"/>
            <p:cNvSpPr/>
            <p:nvPr/>
          </p:nvSpPr>
          <p:spPr>
            <a:xfrm>
              <a:off x="457200" y="2857500"/>
              <a:ext cx="8229600" cy="381000"/>
            </a:xfrm>
            <a:prstGeom prst="roundRect">
              <a:avLst>
                <a:gd name="adj" fmla="val 20000"/>
              </a:avLst>
            </a:prstGeom>
            <a:solidFill>
              <a:srgbClr val="BA0C2F"/>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287" name="Google Shape;287;g396d4a5dad6_5_306"/>
            <p:cNvSpPr txBox="1"/>
            <p:nvPr/>
          </p:nvSpPr>
          <p:spPr>
            <a:xfrm>
              <a:off x="552450" y="2857500"/>
              <a:ext cx="80391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panose="020B0604020202090204"/>
                <a:buNone/>
              </a:pPr>
              <a:r>
                <a:rPr lang="zh-CN" sz="1200" b="1">
                  <a:solidFill>
                    <a:schemeClr val="lt1"/>
                  </a:solidFill>
                  <a:latin typeface="Verdana" panose="020B0804030504040204"/>
                  <a:ea typeface="Verdana" panose="020B0804030504040204"/>
                  <a:cs typeface="Verdana" panose="020B0804030504040204"/>
                  <a:sym typeface="Verdana" panose="020B0804030504040204"/>
                </a:rPr>
                <a:t>Key Points</a:t>
              </a:r>
              <a:endParaRPr sz="1200" b="1">
                <a:solidFill>
                  <a:srgbClr val="FFFFFF"/>
                </a:solidFill>
                <a:latin typeface="Verdana" panose="020B0804030504040204"/>
                <a:ea typeface="Verdana" panose="020B0804030504040204"/>
                <a:cs typeface="Verdana" panose="020B0804030504040204"/>
                <a:sym typeface="Verdana" panose="020B0804030504040204"/>
              </a:endParaRPr>
            </a:p>
          </p:txBody>
        </p:sp>
        <p:sp>
          <p:nvSpPr>
            <p:cNvPr id="288" name="Google Shape;288;g396d4a5dad6_5_306"/>
            <p:cNvSpPr txBox="1"/>
            <p:nvPr/>
          </p:nvSpPr>
          <p:spPr>
            <a:xfrm>
              <a:off x="457200" y="3333750"/>
              <a:ext cx="4380000" cy="952500"/>
            </a:xfrm>
            <a:prstGeom prst="rect">
              <a:avLst/>
            </a:prstGeom>
            <a:noFill/>
            <a:ln>
              <a:noFill/>
            </a:ln>
          </p:spPr>
          <p:txBody>
            <a:bodyPr spcFirstLastPara="1" wrap="square" lIns="0" tIns="0" rIns="0" bIns="0" anchor="ctr" anchorCtr="0">
              <a:noAutofit/>
            </a:bodyPr>
            <a:lstStyle/>
            <a:p>
              <a:pPr marL="457200" lvl="0" indent="-342900" algn="l" rtl="0">
                <a:spcBef>
                  <a:spcPts val="0"/>
                </a:spcBef>
                <a:spcAft>
                  <a:spcPts val="750"/>
                </a:spcAft>
                <a:buClr>
                  <a:srgbClr val="000000"/>
                </a:buClr>
                <a:buSzPts val="1800"/>
                <a:buFont typeface="Verdana" panose="020B0804030504040204"/>
                <a:buChar char="●"/>
              </a:pPr>
              <a:r>
                <a:rPr lang="zh-CN" sz="1500" b="1">
                  <a:solidFill>
                    <a:schemeClr val="dk1"/>
                  </a:solidFill>
                </a:rPr>
                <a:t>Interpretability:</a:t>
              </a:r>
              <a:r>
                <a:rPr lang="zh-CN" sz="1500">
                  <a:solidFill>
                    <a:schemeClr val="dk1"/>
                  </a:solidFill>
                </a:rPr>
                <a:t> Unlike 'Black Box' models, Decision Trees are easy to visualize as a set of nested 'IF-THEN' rules.</a:t>
              </a:r>
              <a:endParaRPr sz="1700" b="0">
                <a:solidFill>
                  <a:srgbClr val="000000"/>
                </a:solidFill>
                <a:latin typeface="Verdana" panose="020B0804030504040204"/>
                <a:ea typeface="Verdana" panose="020B0804030504040204"/>
                <a:cs typeface="Verdana" panose="020B0804030504040204"/>
                <a:sym typeface="Verdana" panose="020B0804030504040204"/>
              </a:endParaRPr>
            </a:p>
          </p:txBody>
        </p:sp>
        <p:sp>
          <p:nvSpPr>
            <p:cNvPr id="289" name="Google Shape;289;g396d4a5dad6_5_306"/>
            <p:cNvSpPr txBox="1"/>
            <p:nvPr/>
          </p:nvSpPr>
          <p:spPr>
            <a:xfrm>
              <a:off x="4743450" y="3333750"/>
              <a:ext cx="3619500" cy="952500"/>
            </a:xfrm>
            <a:prstGeom prst="rect">
              <a:avLst/>
            </a:prstGeom>
            <a:noFill/>
            <a:ln>
              <a:noFill/>
            </a:ln>
          </p:spPr>
          <p:txBody>
            <a:bodyPr spcFirstLastPara="1" wrap="square" lIns="0" tIns="0" rIns="0" bIns="0" anchor="ctr" anchorCtr="0">
              <a:noAutofit/>
            </a:bodyPr>
            <a:lstStyle/>
            <a:p>
              <a:pPr marL="457200" lvl="0" indent="-336550" algn="l" rtl="0">
                <a:spcBef>
                  <a:spcPts val="0"/>
                </a:spcBef>
                <a:spcAft>
                  <a:spcPts val="750"/>
                </a:spcAft>
                <a:buClr>
                  <a:srgbClr val="000000"/>
                </a:buClr>
                <a:buSzPts val="1700"/>
                <a:buFont typeface="Verdana" panose="020B0804030504040204"/>
                <a:buChar char="●"/>
              </a:pPr>
              <a:r>
                <a:rPr lang="zh-CN" b="1">
                  <a:solidFill>
                    <a:schemeClr val="dk1"/>
                  </a:solidFill>
                </a:rPr>
                <a:t>Greedy Approach:</a:t>
              </a:r>
              <a:r>
                <a:rPr lang="zh-CN">
                  <a:solidFill>
                    <a:schemeClr val="dk1"/>
                  </a:solidFill>
                </a:rPr>
                <a:t> Makes the best local split at each step, which can lead to overfitting if the tree grows too deep.</a:t>
              </a:r>
              <a:endParaRPr sz="1600" b="0">
                <a:solidFill>
                  <a:srgbClr val="000000"/>
                </a:solidFill>
                <a:latin typeface="Verdana" panose="020B0804030504040204"/>
                <a:ea typeface="Verdana" panose="020B0804030504040204"/>
                <a:cs typeface="Verdana" panose="020B0804030504040204"/>
                <a:sym typeface="Verdana" panose="020B0804030504040204"/>
              </a:endParaRPr>
            </a:p>
          </p:txBody>
        </p:sp>
      </p:grpSp>
      <p:pic>
        <p:nvPicPr>
          <p:cNvPr id="290" name="Google Shape;290;g396d4a5dad6_5_306"/>
          <p:cNvPicPr preferRelativeResize="0"/>
          <p:nvPr/>
        </p:nvPicPr>
        <p:blipFill rotWithShape="1">
          <a:blip r:embed="rId1"/>
          <a:srcRect l="9939" t="10904" r="8462" b="15621"/>
          <a:stretch>
            <a:fillRect/>
          </a:stretch>
        </p:blipFill>
        <p:spPr>
          <a:xfrm>
            <a:off x="4696775" y="993837"/>
            <a:ext cx="3597499" cy="182232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295" name="Shape 295"/>
        <p:cNvGrpSpPr/>
        <p:nvPr/>
      </p:nvGrpSpPr>
      <p:grpSpPr>
        <a:xfrm>
          <a:off x="0" y="0"/>
          <a:ext cx="0" cy="0"/>
          <a:chOff x="0" y="0"/>
          <a:chExt cx="0" cy="0"/>
        </a:xfrm>
      </p:grpSpPr>
      <p:sp>
        <p:nvSpPr>
          <p:cNvPr id="296" name="Google Shape;296;p17"/>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SzPts val="1400"/>
              <a:buNone/>
            </a:pPr>
            <a:r>
              <a:rPr lang="zh-CN"/>
              <a:t>Decision Tree</a:t>
            </a:r>
            <a:endParaRPr lang="zh-CN"/>
          </a:p>
        </p:txBody>
      </p:sp>
      <p:sp>
        <p:nvSpPr>
          <p:cNvPr id="297" name="Google Shape;297;p17"/>
          <p:cNvSpPr txBox="1"/>
          <p:nvPr>
            <p:ph type="sldNum" idx="12"/>
          </p:nvPr>
        </p:nvSpPr>
        <p:spPr>
          <a:xfrm>
            <a:off x="1" y="4790748"/>
            <a:ext cx="457200" cy="29565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Clr>
                <a:srgbClr val="000000"/>
              </a:buClr>
              <a:buSzPts val="900"/>
              <a:buFont typeface="Arial" panose="020B0604020202090204"/>
              <a:buNone/>
            </a:pPr>
            <a:fld id="{00000000-1234-1234-1234-123412341234}" type="slidenum">
              <a:rPr lang="zh-CN"/>
            </a:fld>
            <a:endParaRPr lang="zh-CN"/>
          </a:p>
        </p:txBody>
      </p:sp>
      <p:pic>
        <p:nvPicPr>
          <p:cNvPr id="298" name="Google Shape;298;p17"/>
          <p:cNvPicPr preferRelativeResize="0"/>
          <p:nvPr/>
        </p:nvPicPr>
        <p:blipFill rotWithShape="1">
          <a:blip r:embed="rId1"/>
          <a:srcRect/>
          <a:stretch>
            <a:fillRect/>
          </a:stretch>
        </p:blipFill>
        <p:spPr>
          <a:xfrm>
            <a:off x="2460150" y="971976"/>
            <a:ext cx="3669077" cy="1965886"/>
          </a:xfrm>
          <a:prstGeom prst="rect">
            <a:avLst/>
          </a:prstGeom>
          <a:noFill/>
          <a:ln>
            <a:noFill/>
          </a:ln>
        </p:spPr>
      </p:pic>
      <p:pic>
        <p:nvPicPr>
          <p:cNvPr id="299" name="Google Shape;299;p17"/>
          <p:cNvPicPr preferRelativeResize="0"/>
          <p:nvPr/>
        </p:nvPicPr>
        <p:blipFill rotWithShape="1">
          <a:blip r:embed="rId2"/>
          <a:srcRect/>
          <a:stretch>
            <a:fillRect/>
          </a:stretch>
        </p:blipFill>
        <p:spPr>
          <a:xfrm>
            <a:off x="1698319" y="2887744"/>
            <a:ext cx="5192736" cy="190301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303" name="Shape 303"/>
        <p:cNvGrpSpPr/>
        <p:nvPr/>
      </p:nvGrpSpPr>
      <p:grpSpPr>
        <a:xfrm>
          <a:off x="0" y="0"/>
          <a:ext cx="0" cy="0"/>
          <a:chOff x="0" y="0"/>
          <a:chExt cx="0" cy="0"/>
        </a:xfrm>
      </p:grpSpPr>
      <p:sp>
        <p:nvSpPr>
          <p:cNvPr id="304" name="Google Shape;304;g396d4a5dad6_5_326"/>
          <p:cNvSpPr txBox="1"/>
          <p:nvPr>
            <p:ph type="title"/>
          </p:nvPr>
        </p:nvSpPr>
        <p:spPr>
          <a:xfrm>
            <a:off x="457200" y="263525"/>
            <a:ext cx="8229600" cy="6000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None/>
            </a:pPr>
            <a:r>
              <a:rPr lang="zh-CN">
                <a:latin typeface="Verdana" panose="020B0804030504040204"/>
                <a:ea typeface="Verdana" panose="020B0804030504040204"/>
                <a:cs typeface="Verdana" panose="020B0804030504040204"/>
                <a:sym typeface="Verdana" panose="020B0804030504040204"/>
              </a:rPr>
              <a:t>Random Forest</a:t>
            </a:r>
            <a:r>
              <a:rPr lang="zh-CN">
                <a:latin typeface="Verdana" panose="020B0804030504040204"/>
                <a:ea typeface="Verdana" panose="020B0804030504040204"/>
                <a:cs typeface="Verdana" panose="020B0804030504040204"/>
                <a:sym typeface="Verdana" panose="020B0804030504040204"/>
              </a:rPr>
              <a:t> Fundamentals</a:t>
            </a:r>
            <a:endParaRPr lang="zh-CN">
              <a:latin typeface="Verdana" panose="020B0804030504040204"/>
              <a:ea typeface="Verdana" panose="020B0804030504040204"/>
              <a:cs typeface="Verdana" panose="020B0804030504040204"/>
              <a:sym typeface="Verdana" panose="020B0804030504040204"/>
            </a:endParaRPr>
          </a:p>
        </p:txBody>
      </p:sp>
      <p:grpSp>
        <p:nvGrpSpPr>
          <p:cNvPr id="305" name="Google Shape;305;g396d4a5dad6_5_326"/>
          <p:cNvGrpSpPr/>
          <p:nvPr/>
        </p:nvGrpSpPr>
        <p:grpSpPr>
          <a:xfrm>
            <a:off x="457200" y="1143000"/>
            <a:ext cx="3905400" cy="1524000"/>
            <a:chOff x="457200" y="1143000"/>
            <a:chExt cx="3905400" cy="1524000"/>
          </a:xfrm>
        </p:grpSpPr>
        <p:sp>
          <p:nvSpPr>
            <p:cNvPr id="306" name="Google Shape;306;g396d4a5dad6_5_326"/>
            <p:cNvSpPr/>
            <p:nvPr/>
          </p:nvSpPr>
          <p:spPr>
            <a:xfrm>
              <a:off x="457200" y="1143000"/>
              <a:ext cx="3905400" cy="1524000"/>
            </a:xfrm>
            <a:prstGeom prst="roundRect">
              <a:avLst>
                <a:gd name="adj" fmla="val 5000"/>
              </a:avLst>
            </a:prstGeom>
            <a:solidFill>
              <a:srgbClr val="F8F9FA"/>
            </a:solidFill>
            <a:ln w="9525"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307" name="Google Shape;307;g396d4a5dad6_5_326"/>
            <p:cNvSpPr/>
            <p:nvPr/>
          </p:nvSpPr>
          <p:spPr>
            <a:xfrm>
              <a:off x="457200" y="1143000"/>
              <a:ext cx="3905400" cy="381000"/>
            </a:xfrm>
            <a:prstGeom prst="roundRect">
              <a:avLst>
                <a:gd name="adj" fmla="val 20000"/>
              </a:avLst>
            </a:prstGeom>
            <a:solidFill>
              <a:srgbClr val="BA0C2F"/>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308" name="Google Shape;308;g396d4a5dad6_5_326"/>
            <p:cNvSpPr txBox="1"/>
            <p:nvPr/>
          </p:nvSpPr>
          <p:spPr>
            <a:xfrm>
              <a:off x="552450" y="1143000"/>
              <a:ext cx="37149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zh-CN" sz="1200" b="1">
                  <a:solidFill>
                    <a:srgbClr val="FFFFFF"/>
                  </a:solidFill>
                  <a:latin typeface="Verdana" panose="020B0804030504040204"/>
                  <a:ea typeface="Verdana" panose="020B0804030504040204"/>
                  <a:cs typeface="Verdana" panose="020B0804030504040204"/>
                  <a:sym typeface="Verdana" panose="020B0804030504040204"/>
                </a:rPr>
                <a:t>Core Concept</a:t>
              </a:r>
              <a:endParaRPr sz="1200" b="1">
                <a:solidFill>
                  <a:srgbClr val="FFFFFF"/>
                </a:solidFill>
                <a:latin typeface="Verdana" panose="020B0804030504040204"/>
                <a:ea typeface="Verdana" panose="020B0804030504040204"/>
                <a:cs typeface="Verdana" panose="020B0804030504040204"/>
                <a:sym typeface="Verdana" panose="020B0804030504040204"/>
              </a:endParaRPr>
            </a:p>
          </p:txBody>
        </p:sp>
        <p:sp>
          <p:nvSpPr>
            <p:cNvPr id="309" name="Google Shape;309;g396d4a5dad6_5_326"/>
            <p:cNvSpPr txBox="1"/>
            <p:nvPr/>
          </p:nvSpPr>
          <p:spPr>
            <a:xfrm>
              <a:off x="647700" y="1619250"/>
              <a:ext cx="3524400" cy="952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zh-CN">
                  <a:latin typeface="Verdana" panose="020B0804030504040204"/>
                  <a:ea typeface="Verdana" panose="020B0804030504040204"/>
                  <a:cs typeface="Verdana" panose="020B0804030504040204"/>
                  <a:sym typeface="Verdana" panose="020B0804030504040204"/>
                </a:rPr>
                <a:t>Core Concept: An Ensemble Learning method that constructs a multitude of decision trees during training and outputs the majority vote.</a:t>
              </a:r>
              <a:endParaRPr sz="1400" b="0">
                <a:solidFill>
                  <a:srgbClr val="000000"/>
                </a:solidFill>
                <a:latin typeface="Verdana" panose="020B0804030504040204"/>
                <a:ea typeface="Verdana" panose="020B0804030504040204"/>
                <a:cs typeface="Verdana" panose="020B0804030504040204"/>
                <a:sym typeface="Verdana" panose="020B0804030504040204"/>
              </a:endParaRPr>
            </a:p>
          </p:txBody>
        </p:sp>
      </p:grpSp>
      <p:grpSp>
        <p:nvGrpSpPr>
          <p:cNvPr id="310" name="Google Shape;310;g396d4a5dad6_5_326"/>
          <p:cNvGrpSpPr/>
          <p:nvPr/>
        </p:nvGrpSpPr>
        <p:grpSpPr>
          <a:xfrm>
            <a:off x="457200" y="2857500"/>
            <a:ext cx="8229600" cy="1524000"/>
            <a:chOff x="457200" y="2857500"/>
            <a:chExt cx="8229600" cy="1524000"/>
          </a:xfrm>
        </p:grpSpPr>
        <p:sp>
          <p:nvSpPr>
            <p:cNvPr id="311" name="Google Shape;311;g396d4a5dad6_5_326"/>
            <p:cNvSpPr/>
            <p:nvPr/>
          </p:nvSpPr>
          <p:spPr>
            <a:xfrm>
              <a:off x="457200" y="2857500"/>
              <a:ext cx="8229600" cy="1524000"/>
            </a:xfrm>
            <a:prstGeom prst="roundRect">
              <a:avLst>
                <a:gd name="adj" fmla="val 5000"/>
              </a:avLst>
            </a:prstGeom>
            <a:solidFill>
              <a:srgbClr val="F8F9FA"/>
            </a:solidFill>
            <a:ln w="9525"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312" name="Google Shape;312;g396d4a5dad6_5_326"/>
            <p:cNvSpPr/>
            <p:nvPr/>
          </p:nvSpPr>
          <p:spPr>
            <a:xfrm>
              <a:off x="457200" y="2857500"/>
              <a:ext cx="8229600" cy="381000"/>
            </a:xfrm>
            <a:prstGeom prst="roundRect">
              <a:avLst>
                <a:gd name="adj" fmla="val 20000"/>
              </a:avLst>
            </a:prstGeom>
            <a:solidFill>
              <a:srgbClr val="BA0C2F"/>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313" name="Google Shape;313;g396d4a5dad6_5_326"/>
            <p:cNvSpPr txBox="1"/>
            <p:nvPr/>
          </p:nvSpPr>
          <p:spPr>
            <a:xfrm>
              <a:off x="552450" y="2857500"/>
              <a:ext cx="80391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zh-CN" sz="1200" b="1">
                  <a:solidFill>
                    <a:srgbClr val="FFFFFF"/>
                  </a:solidFill>
                  <a:latin typeface="Verdana" panose="020B0804030504040204"/>
                  <a:ea typeface="Verdana" panose="020B0804030504040204"/>
                  <a:cs typeface="Verdana" panose="020B0804030504040204"/>
                  <a:sym typeface="Verdana" panose="020B0804030504040204"/>
                </a:rPr>
                <a:t>Key </a:t>
              </a:r>
              <a:r>
                <a:rPr lang="zh-CN" sz="1200" b="1">
                  <a:solidFill>
                    <a:srgbClr val="FFFFFF"/>
                  </a:solidFill>
                  <a:latin typeface="Verdana" panose="020B0804030504040204"/>
                  <a:ea typeface="Verdana" panose="020B0804030504040204"/>
                  <a:cs typeface="Verdana" panose="020B0804030504040204"/>
                  <a:sym typeface="Verdana" panose="020B0804030504040204"/>
                </a:rPr>
                <a:t>Points</a:t>
              </a:r>
              <a:endParaRPr sz="1200" b="1">
                <a:solidFill>
                  <a:srgbClr val="FFFFFF"/>
                </a:solidFill>
                <a:latin typeface="Verdana" panose="020B0804030504040204"/>
                <a:ea typeface="Verdana" panose="020B0804030504040204"/>
                <a:cs typeface="Verdana" panose="020B0804030504040204"/>
                <a:sym typeface="Verdana" panose="020B0804030504040204"/>
              </a:endParaRPr>
            </a:p>
          </p:txBody>
        </p:sp>
        <p:sp>
          <p:nvSpPr>
            <p:cNvPr id="314" name="Google Shape;314;g396d4a5dad6_5_326"/>
            <p:cNvSpPr txBox="1"/>
            <p:nvPr/>
          </p:nvSpPr>
          <p:spPr>
            <a:xfrm>
              <a:off x="742950" y="3333750"/>
              <a:ext cx="3619500" cy="952500"/>
            </a:xfrm>
            <a:prstGeom prst="rect">
              <a:avLst/>
            </a:prstGeom>
            <a:noFill/>
            <a:ln>
              <a:noFill/>
            </a:ln>
          </p:spPr>
          <p:txBody>
            <a:bodyPr spcFirstLastPara="1" wrap="square" lIns="0" tIns="0" rIns="0" bIns="0" anchor="ctr" anchorCtr="0">
              <a:noAutofit/>
            </a:bodyPr>
            <a:lstStyle/>
            <a:p>
              <a:pPr marL="457200" lvl="0" indent="-336550" algn="l" rtl="0">
                <a:spcBef>
                  <a:spcPts val="0"/>
                </a:spcBef>
                <a:spcAft>
                  <a:spcPts val="750"/>
                </a:spcAft>
                <a:buClr>
                  <a:srgbClr val="000000"/>
                </a:buClr>
                <a:buSzPts val="1700"/>
                <a:buFont typeface="Verdana" panose="020B0804030504040204"/>
                <a:buChar char="●"/>
              </a:pPr>
              <a:r>
                <a:rPr lang="zh-CN" b="1">
                  <a:solidFill>
                    <a:schemeClr val="dk1"/>
                  </a:solidFill>
                </a:rPr>
                <a:t>Diversity over Depth:</a:t>
              </a:r>
              <a:r>
                <a:rPr lang="zh-CN">
                  <a:solidFill>
                    <a:schemeClr val="dk1"/>
                  </a:solidFill>
                </a:rPr>
                <a:t> By combining many 'weak' trees, the forest becomes a 'strong' learner.</a:t>
              </a:r>
              <a:endParaRPr sz="1700" b="0">
                <a:solidFill>
                  <a:srgbClr val="000000"/>
                </a:solidFill>
                <a:latin typeface="Verdana" panose="020B0804030504040204"/>
                <a:ea typeface="Verdana" panose="020B0804030504040204"/>
                <a:cs typeface="Verdana" panose="020B0804030504040204"/>
                <a:sym typeface="Verdana" panose="020B0804030504040204"/>
              </a:endParaRPr>
            </a:p>
          </p:txBody>
        </p:sp>
        <p:sp>
          <p:nvSpPr>
            <p:cNvPr id="315" name="Google Shape;315;g396d4a5dad6_5_326"/>
            <p:cNvSpPr txBox="1"/>
            <p:nvPr/>
          </p:nvSpPr>
          <p:spPr>
            <a:xfrm>
              <a:off x="4743450" y="3333750"/>
              <a:ext cx="3619500" cy="952500"/>
            </a:xfrm>
            <a:prstGeom prst="rect">
              <a:avLst/>
            </a:prstGeom>
            <a:noFill/>
            <a:ln>
              <a:noFill/>
            </a:ln>
          </p:spPr>
          <p:txBody>
            <a:bodyPr spcFirstLastPara="1" wrap="square" lIns="0" tIns="0" rIns="0" bIns="0" anchor="ctr" anchorCtr="0">
              <a:noAutofit/>
            </a:bodyPr>
            <a:lstStyle/>
            <a:p>
              <a:pPr marL="457200" lvl="0" indent="-336550" algn="l" rtl="0">
                <a:spcBef>
                  <a:spcPts val="0"/>
                </a:spcBef>
                <a:spcAft>
                  <a:spcPts val="750"/>
                </a:spcAft>
                <a:buClr>
                  <a:srgbClr val="000000"/>
                </a:buClr>
                <a:buSzPts val="1700"/>
                <a:buFont typeface="Verdana" panose="020B0804030504040204"/>
                <a:buChar char="●"/>
              </a:pPr>
              <a:r>
                <a:rPr lang="zh-CN" b="1">
                  <a:solidFill>
                    <a:schemeClr val="dk1"/>
                  </a:solidFill>
                </a:rPr>
                <a:t>Feature Importance:</a:t>
              </a:r>
              <a:r>
                <a:rPr lang="zh-CN">
                  <a:solidFill>
                    <a:schemeClr val="dk1"/>
                  </a:solidFill>
                </a:rPr>
                <a:t> RF can automatically rank which network features (e.g., protocol type vs. duration) are most useful for detection.</a:t>
              </a:r>
              <a:endParaRPr sz="1700" b="0">
                <a:solidFill>
                  <a:srgbClr val="000000"/>
                </a:solidFill>
                <a:latin typeface="Verdana" panose="020B0804030504040204"/>
                <a:ea typeface="Verdana" panose="020B0804030504040204"/>
                <a:cs typeface="Verdana" panose="020B0804030504040204"/>
                <a:sym typeface="Verdana" panose="020B0804030504040204"/>
              </a:endParaRPr>
            </a:p>
          </p:txBody>
        </p:sp>
      </p:grpSp>
      <p:pic>
        <p:nvPicPr>
          <p:cNvPr id="316" name="Google Shape;316;g396d4a5dad6_5_326"/>
          <p:cNvPicPr preferRelativeResize="0"/>
          <p:nvPr/>
        </p:nvPicPr>
        <p:blipFill>
          <a:blip r:embed="rId1"/>
          <a:stretch>
            <a:fillRect/>
          </a:stretch>
        </p:blipFill>
        <p:spPr>
          <a:xfrm>
            <a:off x="4693675" y="1015925"/>
            <a:ext cx="3378350" cy="16891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321" name="Shape 321"/>
        <p:cNvGrpSpPr/>
        <p:nvPr/>
      </p:nvGrpSpPr>
      <p:grpSpPr>
        <a:xfrm>
          <a:off x="0" y="0"/>
          <a:ext cx="0" cy="0"/>
          <a:chOff x="0" y="0"/>
          <a:chExt cx="0" cy="0"/>
        </a:xfrm>
      </p:grpSpPr>
      <p:sp>
        <p:nvSpPr>
          <p:cNvPr id="322" name="Google Shape;322;p18"/>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SzPts val="1400"/>
              <a:buNone/>
            </a:pPr>
            <a:r>
              <a:rPr lang="zh-CN"/>
              <a:t>Random Forest</a:t>
            </a:r>
            <a:endParaRPr lang="zh-CN"/>
          </a:p>
        </p:txBody>
      </p:sp>
      <p:sp>
        <p:nvSpPr>
          <p:cNvPr id="323" name="Google Shape;323;p18"/>
          <p:cNvSpPr txBox="1"/>
          <p:nvPr>
            <p:ph type="sldNum" idx="12"/>
          </p:nvPr>
        </p:nvSpPr>
        <p:spPr>
          <a:xfrm>
            <a:off x="1" y="4790748"/>
            <a:ext cx="457200" cy="29565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Clr>
                <a:srgbClr val="000000"/>
              </a:buClr>
              <a:buSzPts val="900"/>
              <a:buFont typeface="Arial" panose="020B0604020202090204"/>
              <a:buNone/>
            </a:pPr>
            <a:fld id="{00000000-1234-1234-1234-123412341234}" type="slidenum">
              <a:rPr lang="zh-CN"/>
            </a:fld>
            <a:endParaRPr lang="zh-CN"/>
          </a:p>
        </p:txBody>
      </p:sp>
      <p:pic>
        <p:nvPicPr>
          <p:cNvPr id="324" name="Google Shape;324;p18"/>
          <p:cNvPicPr preferRelativeResize="0"/>
          <p:nvPr/>
        </p:nvPicPr>
        <p:blipFill rotWithShape="1">
          <a:blip r:embed="rId1"/>
          <a:srcRect/>
          <a:stretch>
            <a:fillRect/>
          </a:stretch>
        </p:blipFill>
        <p:spPr>
          <a:xfrm>
            <a:off x="0" y="1591808"/>
            <a:ext cx="4591443" cy="2295731"/>
          </a:xfrm>
          <a:prstGeom prst="rect">
            <a:avLst/>
          </a:prstGeom>
          <a:noFill/>
          <a:ln>
            <a:noFill/>
          </a:ln>
        </p:spPr>
      </p:pic>
      <p:pic>
        <p:nvPicPr>
          <p:cNvPr id="325" name="Google Shape;325;p18"/>
          <p:cNvPicPr preferRelativeResize="0"/>
          <p:nvPr/>
        </p:nvPicPr>
        <p:blipFill rotWithShape="1">
          <a:blip r:embed="rId2"/>
          <a:srcRect/>
          <a:stretch>
            <a:fillRect/>
          </a:stretch>
        </p:blipFill>
        <p:spPr>
          <a:xfrm>
            <a:off x="4591444" y="1664766"/>
            <a:ext cx="4552556" cy="214980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329" name="Shape 329"/>
        <p:cNvGrpSpPr/>
        <p:nvPr/>
      </p:nvGrpSpPr>
      <p:grpSpPr>
        <a:xfrm>
          <a:off x="0" y="0"/>
          <a:ext cx="0" cy="0"/>
          <a:chOff x="0" y="0"/>
          <a:chExt cx="0" cy="0"/>
        </a:xfrm>
      </p:grpSpPr>
      <p:sp>
        <p:nvSpPr>
          <p:cNvPr id="330" name="Google Shape;330;g396d4a5dad6_5_346"/>
          <p:cNvSpPr txBox="1"/>
          <p:nvPr>
            <p:ph type="title"/>
          </p:nvPr>
        </p:nvSpPr>
        <p:spPr>
          <a:xfrm>
            <a:off x="457200" y="263525"/>
            <a:ext cx="8229600" cy="6000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None/>
            </a:pPr>
            <a:r>
              <a:rPr lang="zh-CN">
                <a:latin typeface="Verdana" panose="020B0804030504040204"/>
                <a:ea typeface="Verdana" panose="020B0804030504040204"/>
                <a:cs typeface="Verdana" panose="020B0804030504040204"/>
                <a:sym typeface="Verdana" panose="020B0804030504040204"/>
              </a:rPr>
              <a:t>CNN</a:t>
            </a:r>
            <a:r>
              <a:rPr lang="zh-CN">
                <a:latin typeface="Verdana" panose="020B0804030504040204"/>
                <a:ea typeface="Verdana" panose="020B0804030504040204"/>
                <a:cs typeface="Verdana" panose="020B0804030504040204"/>
                <a:sym typeface="Verdana" panose="020B0804030504040204"/>
              </a:rPr>
              <a:t> Fundamentals</a:t>
            </a:r>
            <a:endParaRPr lang="zh-CN">
              <a:latin typeface="Verdana" panose="020B0804030504040204"/>
              <a:ea typeface="Verdana" panose="020B0804030504040204"/>
              <a:cs typeface="Verdana" panose="020B0804030504040204"/>
              <a:sym typeface="Verdana" panose="020B0804030504040204"/>
            </a:endParaRPr>
          </a:p>
        </p:txBody>
      </p:sp>
      <p:grpSp>
        <p:nvGrpSpPr>
          <p:cNvPr id="331" name="Google Shape;331;g396d4a5dad6_5_346"/>
          <p:cNvGrpSpPr/>
          <p:nvPr/>
        </p:nvGrpSpPr>
        <p:grpSpPr>
          <a:xfrm>
            <a:off x="457200" y="1143000"/>
            <a:ext cx="3905400" cy="1524000"/>
            <a:chOff x="457200" y="1143000"/>
            <a:chExt cx="3905400" cy="1524000"/>
          </a:xfrm>
        </p:grpSpPr>
        <p:sp>
          <p:nvSpPr>
            <p:cNvPr id="332" name="Google Shape;332;g396d4a5dad6_5_346"/>
            <p:cNvSpPr/>
            <p:nvPr/>
          </p:nvSpPr>
          <p:spPr>
            <a:xfrm>
              <a:off x="457200" y="1143000"/>
              <a:ext cx="3905400" cy="1524000"/>
            </a:xfrm>
            <a:prstGeom prst="roundRect">
              <a:avLst>
                <a:gd name="adj" fmla="val 5000"/>
              </a:avLst>
            </a:prstGeom>
            <a:solidFill>
              <a:srgbClr val="F8F9FA"/>
            </a:solidFill>
            <a:ln w="9525"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333" name="Google Shape;333;g396d4a5dad6_5_346"/>
            <p:cNvSpPr/>
            <p:nvPr/>
          </p:nvSpPr>
          <p:spPr>
            <a:xfrm>
              <a:off x="457200" y="1143000"/>
              <a:ext cx="3905400" cy="381000"/>
            </a:xfrm>
            <a:prstGeom prst="roundRect">
              <a:avLst>
                <a:gd name="adj" fmla="val 20000"/>
              </a:avLst>
            </a:prstGeom>
            <a:solidFill>
              <a:srgbClr val="BA0C2F"/>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334" name="Google Shape;334;g396d4a5dad6_5_346"/>
            <p:cNvSpPr txBox="1"/>
            <p:nvPr/>
          </p:nvSpPr>
          <p:spPr>
            <a:xfrm>
              <a:off x="552450" y="1143000"/>
              <a:ext cx="37149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zh-CN" sz="1200" b="1">
                  <a:solidFill>
                    <a:srgbClr val="FFFFFF"/>
                  </a:solidFill>
                  <a:latin typeface="Verdana" panose="020B0804030504040204"/>
                  <a:ea typeface="Verdana" panose="020B0804030504040204"/>
                  <a:cs typeface="Verdana" panose="020B0804030504040204"/>
                  <a:sym typeface="Verdana" panose="020B0804030504040204"/>
                </a:rPr>
                <a:t>Core Concept</a:t>
              </a:r>
              <a:endParaRPr sz="1200" b="1">
                <a:solidFill>
                  <a:srgbClr val="FFFFFF"/>
                </a:solidFill>
                <a:latin typeface="Verdana" panose="020B0804030504040204"/>
                <a:ea typeface="Verdana" panose="020B0804030504040204"/>
                <a:cs typeface="Verdana" panose="020B0804030504040204"/>
                <a:sym typeface="Verdana" panose="020B0804030504040204"/>
              </a:endParaRPr>
            </a:p>
          </p:txBody>
        </p:sp>
        <p:sp>
          <p:nvSpPr>
            <p:cNvPr id="335" name="Google Shape;335;g396d4a5dad6_5_346"/>
            <p:cNvSpPr txBox="1"/>
            <p:nvPr/>
          </p:nvSpPr>
          <p:spPr>
            <a:xfrm>
              <a:off x="647700" y="1619250"/>
              <a:ext cx="3524400" cy="952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zh-CN" sz="1500">
                  <a:solidFill>
                    <a:schemeClr val="dk1"/>
                  </a:solidFill>
                </a:rPr>
                <a:t>A Deep Learning architecture that uses </a:t>
              </a:r>
              <a:r>
                <a:rPr lang="zh-CN" sz="1500" b="1">
                  <a:solidFill>
                    <a:schemeClr val="dk1"/>
                  </a:solidFill>
                </a:rPr>
                <a:t>Filters (Kernels)</a:t>
              </a:r>
              <a:r>
                <a:rPr lang="zh-CN" sz="1500">
                  <a:solidFill>
                    <a:schemeClr val="dk1"/>
                  </a:solidFill>
                </a:rPr>
                <a:t> to automatically extract spatial or temporal patterns from data.</a:t>
              </a:r>
              <a:endParaRPr sz="1800" b="0">
                <a:solidFill>
                  <a:srgbClr val="000000"/>
                </a:solidFill>
                <a:latin typeface="Verdana" panose="020B0804030504040204"/>
                <a:ea typeface="Verdana" panose="020B0804030504040204"/>
                <a:cs typeface="Verdana" panose="020B0804030504040204"/>
                <a:sym typeface="Verdana" panose="020B0804030504040204"/>
              </a:endParaRPr>
            </a:p>
          </p:txBody>
        </p:sp>
      </p:grpSp>
      <p:grpSp>
        <p:nvGrpSpPr>
          <p:cNvPr id="336" name="Google Shape;336;g396d4a5dad6_5_346"/>
          <p:cNvGrpSpPr/>
          <p:nvPr/>
        </p:nvGrpSpPr>
        <p:grpSpPr>
          <a:xfrm>
            <a:off x="457200" y="2857500"/>
            <a:ext cx="8229600" cy="1524000"/>
            <a:chOff x="457200" y="2857500"/>
            <a:chExt cx="8229600" cy="1524000"/>
          </a:xfrm>
        </p:grpSpPr>
        <p:sp>
          <p:nvSpPr>
            <p:cNvPr id="337" name="Google Shape;337;g396d4a5dad6_5_346"/>
            <p:cNvSpPr/>
            <p:nvPr/>
          </p:nvSpPr>
          <p:spPr>
            <a:xfrm>
              <a:off x="457200" y="2857500"/>
              <a:ext cx="8229600" cy="1524000"/>
            </a:xfrm>
            <a:prstGeom prst="roundRect">
              <a:avLst>
                <a:gd name="adj" fmla="val 5000"/>
              </a:avLst>
            </a:prstGeom>
            <a:solidFill>
              <a:srgbClr val="F8F9FA"/>
            </a:solidFill>
            <a:ln w="9525"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338" name="Google Shape;338;g396d4a5dad6_5_346"/>
            <p:cNvSpPr/>
            <p:nvPr/>
          </p:nvSpPr>
          <p:spPr>
            <a:xfrm>
              <a:off x="457200" y="2857500"/>
              <a:ext cx="8229600" cy="381000"/>
            </a:xfrm>
            <a:prstGeom prst="roundRect">
              <a:avLst>
                <a:gd name="adj" fmla="val 20000"/>
              </a:avLst>
            </a:prstGeom>
            <a:solidFill>
              <a:srgbClr val="BA0C2F"/>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339" name="Google Shape;339;g396d4a5dad6_5_346"/>
            <p:cNvSpPr txBox="1"/>
            <p:nvPr/>
          </p:nvSpPr>
          <p:spPr>
            <a:xfrm>
              <a:off x="552450" y="2857500"/>
              <a:ext cx="80391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zh-CN" sz="1200" b="1">
                  <a:solidFill>
                    <a:srgbClr val="FFFFFF"/>
                  </a:solidFill>
                  <a:latin typeface="Verdana" panose="020B0804030504040204"/>
                  <a:ea typeface="Verdana" panose="020B0804030504040204"/>
                  <a:cs typeface="Verdana" panose="020B0804030504040204"/>
                  <a:sym typeface="Verdana" panose="020B0804030504040204"/>
                </a:rPr>
                <a:t>Key </a:t>
              </a:r>
              <a:r>
                <a:rPr lang="zh-CN" sz="1200" b="1">
                  <a:solidFill>
                    <a:srgbClr val="FFFFFF"/>
                  </a:solidFill>
                  <a:latin typeface="Verdana" panose="020B0804030504040204"/>
                  <a:ea typeface="Verdana" panose="020B0804030504040204"/>
                  <a:cs typeface="Verdana" panose="020B0804030504040204"/>
                  <a:sym typeface="Verdana" panose="020B0804030504040204"/>
                </a:rPr>
                <a:t>Points</a:t>
              </a:r>
              <a:endParaRPr sz="1200" b="1">
                <a:solidFill>
                  <a:srgbClr val="FFFFFF"/>
                </a:solidFill>
                <a:latin typeface="Verdana" panose="020B0804030504040204"/>
                <a:ea typeface="Verdana" panose="020B0804030504040204"/>
                <a:cs typeface="Verdana" panose="020B0804030504040204"/>
                <a:sym typeface="Verdana" panose="020B0804030504040204"/>
              </a:endParaRPr>
            </a:p>
          </p:txBody>
        </p:sp>
        <p:sp>
          <p:nvSpPr>
            <p:cNvPr id="340" name="Google Shape;340;g396d4a5dad6_5_346"/>
            <p:cNvSpPr txBox="1"/>
            <p:nvPr/>
          </p:nvSpPr>
          <p:spPr>
            <a:xfrm>
              <a:off x="742950" y="3333750"/>
              <a:ext cx="7502100" cy="952500"/>
            </a:xfrm>
            <a:prstGeom prst="rect">
              <a:avLst/>
            </a:prstGeom>
            <a:noFill/>
            <a:ln>
              <a:noFill/>
            </a:ln>
          </p:spPr>
          <p:txBody>
            <a:bodyPr spcFirstLastPara="1" wrap="square" lIns="0" tIns="0" rIns="0" bIns="0" anchor="ctr" anchorCtr="0">
              <a:noAutofit/>
            </a:bodyPr>
            <a:lstStyle/>
            <a:p>
              <a:pPr marL="457200" lvl="0" indent="-342900" algn="l" rtl="0">
                <a:spcBef>
                  <a:spcPts val="0"/>
                </a:spcBef>
                <a:spcAft>
                  <a:spcPts val="750"/>
                </a:spcAft>
                <a:buClr>
                  <a:srgbClr val="000000"/>
                </a:buClr>
                <a:buSzPts val="1800"/>
                <a:buFont typeface="Verdana" panose="020B0804030504040204"/>
                <a:buChar char="●"/>
              </a:pPr>
              <a:r>
                <a:rPr lang="zh-CN" sz="1500" b="1">
                  <a:solidFill>
                    <a:schemeClr val="dk1"/>
                  </a:solidFill>
                </a:rPr>
                <a:t>Feature Learning:</a:t>
              </a:r>
              <a:r>
                <a:rPr lang="zh-CN" sz="1500">
                  <a:solidFill>
                    <a:schemeClr val="dk1"/>
                  </a:solidFill>
                </a:rPr>
                <a:t> No manual feature engineering required; the model learns to identify 'malicious shapes' in traffic.</a:t>
              </a:r>
              <a:endParaRPr sz="1800" b="0">
                <a:solidFill>
                  <a:srgbClr val="000000"/>
                </a:solidFill>
                <a:latin typeface="Verdana" panose="020B0804030504040204"/>
                <a:ea typeface="Verdana" panose="020B0804030504040204"/>
                <a:cs typeface="Verdana" panose="020B0804030504040204"/>
                <a:sym typeface="Verdana" panose="020B0804030504040204"/>
              </a:endParaRPr>
            </a:p>
          </p:txBody>
        </p:sp>
      </p:grpSp>
      <p:pic>
        <p:nvPicPr>
          <p:cNvPr id="341" name="Google Shape;341;g396d4a5dad6_5_346"/>
          <p:cNvPicPr preferRelativeResize="0"/>
          <p:nvPr/>
        </p:nvPicPr>
        <p:blipFill>
          <a:blip r:embed="rId1"/>
          <a:stretch>
            <a:fillRect/>
          </a:stretch>
        </p:blipFill>
        <p:spPr>
          <a:xfrm>
            <a:off x="4439175" y="1098513"/>
            <a:ext cx="4536831" cy="1524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346" name="Shape 346"/>
        <p:cNvGrpSpPr/>
        <p:nvPr/>
      </p:nvGrpSpPr>
      <p:grpSpPr>
        <a:xfrm>
          <a:off x="0" y="0"/>
          <a:ext cx="0" cy="0"/>
          <a:chOff x="0" y="0"/>
          <a:chExt cx="0" cy="0"/>
        </a:xfrm>
      </p:grpSpPr>
      <p:sp>
        <p:nvSpPr>
          <p:cNvPr id="347" name="Google Shape;347;p19"/>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SzPts val="1400"/>
              <a:buNone/>
            </a:pPr>
            <a:r>
              <a:rPr lang="zh-CN"/>
              <a:t>CNN</a:t>
            </a:r>
            <a:endParaRPr lang="zh-CN"/>
          </a:p>
        </p:txBody>
      </p:sp>
      <p:sp>
        <p:nvSpPr>
          <p:cNvPr id="348" name="Google Shape;348;p19"/>
          <p:cNvSpPr txBox="1"/>
          <p:nvPr>
            <p:ph type="sldNum" idx="12"/>
          </p:nvPr>
        </p:nvSpPr>
        <p:spPr>
          <a:xfrm>
            <a:off x="1" y="4790748"/>
            <a:ext cx="457200" cy="29565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Clr>
                <a:srgbClr val="000000"/>
              </a:buClr>
              <a:buSzPts val="900"/>
              <a:buFont typeface="Arial" panose="020B0604020202090204"/>
              <a:buNone/>
            </a:pPr>
            <a:fld id="{00000000-1234-1234-1234-123412341234}" type="slidenum">
              <a:rPr lang="zh-CN"/>
            </a:fld>
            <a:endParaRPr lang="zh-CN"/>
          </a:p>
        </p:txBody>
      </p:sp>
      <p:pic>
        <p:nvPicPr>
          <p:cNvPr id="349" name="Google Shape;349;p19"/>
          <p:cNvPicPr preferRelativeResize="0"/>
          <p:nvPr/>
        </p:nvPicPr>
        <p:blipFill rotWithShape="1">
          <a:blip r:embed="rId1"/>
          <a:srcRect/>
          <a:stretch>
            <a:fillRect/>
          </a:stretch>
        </p:blipFill>
        <p:spPr>
          <a:xfrm>
            <a:off x="831066" y="1016081"/>
            <a:ext cx="7481868" cy="373625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353" name="Shape 353"/>
        <p:cNvGrpSpPr/>
        <p:nvPr/>
      </p:nvGrpSpPr>
      <p:grpSpPr>
        <a:xfrm>
          <a:off x="0" y="0"/>
          <a:ext cx="0" cy="0"/>
          <a:chOff x="0" y="0"/>
          <a:chExt cx="0" cy="0"/>
        </a:xfrm>
      </p:grpSpPr>
      <p:sp>
        <p:nvSpPr>
          <p:cNvPr id="354" name="Google Shape;354;g396d4a5dad6_5_164"/>
          <p:cNvSpPr txBox="1"/>
          <p:nvPr>
            <p:ph type="ctrTitle"/>
          </p:nvPr>
        </p:nvSpPr>
        <p:spPr>
          <a:xfrm>
            <a:off x="306600" y="1879197"/>
            <a:ext cx="10029600" cy="1385100"/>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3000"/>
              <a:buFont typeface="Verdana" panose="020B0804030504040204"/>
              <a:buNone/>
            </a:pPr>
            <a:br>
              <a:rPr lang="zh-CN"/>
            </a:br>
            <a:br>
              <a:rPr lang="zh-CN"/>
            </a:br>
            <a:br>
              <a:rPr lang="zh-CN"/>
            </a:br>
            <a:br>
              <a:rPr lang="zh-CN"/>
            </a:br>
            <a:br>
              <a:rPr lang="zh-CN"/>
            </a:br>
            <a:r>
              <a:rPr lang="zh-CN">
                <a:solidFill>
                  <a:srgbClr val="000000"/>
                </a:solidFill>
                <a:latin typeface="Helvetica Neue" panose="02000503000000020004"/>
                <a:ea typeface="Helvetica Neue" panose="02000503000000020004"/>
                <a:cs typeface="Helvetica Neue" panose="02000503000000020004"/>
                <a:sym typeface="Helvetica Neue" panose="02000503000000020004"/>
              </a:rPr>
              <a:t>AI-Assisted </a:t>
            </a:r>
            <a:r>
              <a:rPr lang="zh-CN"/>
              <a:t>Code Vulnerability Detection</a:t>
            </a:r>
            <a:br>
              <a:rPr lang="zh-CN"/>
            </a:br>
            <a:endParaRPr lang="zh-CN"/>
          </a:p>
        </p:txBody>
      </p:sp>
      <p:sp>
        <p:nvSpPr>
          <p:cNvPr id="355" name="Google Shape;355;g396d4a5dad6_5_164"/>
          <p:cNvSpPr txBox="1"/>
          <p:nvPr/>
        </p:nvSpPr>
        <p:spPr>
          <a:xfrm>
            <a:off x="306600" y="3600450"/>
            <a:ext cx="67332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panose="020B0604020202090204"/>
              <a:buNone/>
            </a:pPr>
            <a:r>
              <a:rPr lang="zh-CN" sz="1800" b="0" i="0" u="none" strike="noStrike" cap="none">
                <a:solidFill>
                  <a:schemeClr val="dk1"/>
                </a:solidFill>
                <a:latin typeface="Verdana" panose="020B0804030504040204"/>
                <a:ea typeface="Verdana" panose="020B0804030504040204"/>
                <a:cs typeface="Verdana" panose="020B0804030504040204"/>
                <a:sym typeface="Verdana" panose="020B0804030504040204"/>
              </a:rPr>
              <a:t>Haowen Xu</a:t>
            </a:r>
            <a:endParaRPr sz="1800" b="0" i="0" u="none" strike="noStrike" cap="none">
              <a:solidFill>
                <a:schemeClr val="dk1"/>
              </a:solidFill>
              <a:latin typeface="Verdana" panose="020B0804030504040204"/>
              <a:ea typeface="Verdana" panose="020B0804030504040204"/>
              <a:cs typeface="Verdana" panose="020B0804030504040204"/>
              <a:sym typeface="Verdana" panose="020B080403050404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360" name="Shape 360"/>
        <p:cNvGrpSpPr/>
        <p:nvPr/>
      </p:nvGrpSpPr>
      <p:grpSpPr>
        <a:xfrm>
          <a:off x="0" y="0"/>
          <a:ext cx="0" cy="0"/>
          <a:chOff x="0" y="0"/>
          <a:chExt cx="0" cy="0"/>
        </a:xfrm>
      </p:grpSpPr>
      <p:sp>
        <p:nvSpPr>
          <p:cNvPr id="361" name="Google Shape;361;g396d4a5dad6_5_169"/>
          <p:cNvSpPr txBox="1"/>
          <p:nvPr>
            <p:ph type="sldNum" idx="12"/>
          </p:nvPr>
        </p:nvSpPr>
        <p:spPr>
          <a:xfrm>
            <a:off x="1" y="4790748"/>
            <a:ext cx="457200" cy="2955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sp>
        <p:nvSpPr>
          <p:cNvPr id="362" name="Google Shape;362;g396d4a5dad6_5_169"/>
          <p:cNvSpPr txBox="1"/>
          <p:nvPr>
            <p:ph type="title"/>
          </p:nvPr>
        </p:nvSpPr>
        <p:spPr>
          <a:xfrm>
            <a:off x="457200" y="263525"/>
            <a:ext cx="8229600" cy="600000"/>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t>What are the Vulnerable Codes？</a:t>
            </a:r>
            <a:endParaRPr lang="zh-CN"/>
          </a:p>
        </p:txBody>
      </p:sp>
      <p:pic>
        <p:nvPicPr>
          <p:cNvPr id="363" name="Google Shape;363;g396d4a5dad6_5_169"/>
          <p:cNvPicPr preferRelativeResize="0"/>
          <p:nvPr/>
        </p:nvPicPr>
        <p:blipFill rotWithShape="1">
          <a:blip r:embed="rId1"/>
          <a:srcRect/>
          <a:stretch>
            <a:fillRect/>
          </a:stretch>
        </p:blipFill>
        <p:spPr>
          <a:xfrm>
            <a:off x="457200" y="1235675"/>
            <a:ext cx="4154496" cy="1447629"/>
          </a:xfrm>
          <a:prstGeom prst="rect">
            <a:avLst/>
          </a:prstGeom>
          <a:noFill/>
          <a:ln>
            <a:noFill/>
          </a:ln>
        </p:spPr>
      </p:pic>
      <p:sp>
        <p:nvSpPr>
          <p:cNvPr id="364" name="Google Shape;364;g396d4a5dad6_5_169"/>
          <p:cNvSpPr txBox="1"/>
          <p:nvPr/>
        </p:nvSpPr>
        <p:spPr>
          <a:xfrm>
            <a:off x="457200" y="3055375"/>
            <a:ext cx="7624200" cy="9543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000000"/>
              </a:buClr>
              <a:buSzPts val="1400"/>
              <a:buFont typeface="Arial" panose="020B0604020202090204"/>
              <a:buChar char="•"/>
            </a:pPr>
            <a:r>
              <a:rPr lang="zh-CN" sz="1400" b="0" i="0" u="none" strike="noStrike" cap="none">
                <a:solidFill>
                  <a:schemeClr val="dk1"/>
                </a:solidFill>
                <a:latin typeface="Arial" panose="020B0604020202090204"/>
                <a:ea typeface="Arial" panose="020B0604020202090204"/>
                <a:cs typeface="Arial" panose="020B0604020202090204"/>
                <a:sym typeface="Arial" panose="020B0604020202090204"/>
              </a:rPr>
              <a:t>gets() does not check input length.</a:t>
            </a:r>
            <a:endParaRPr lang="zh-CN" sz="1400" b="0"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285750" marR="0" lvl="0" indent="-285750" algn="l" rtl="0">
              <a:lnSpc>
                <a:spcPct val="150000"/>
              </a:lnSpc>
              <a:spcBef>
                <a:spcPts val="0"/>
              </a:spcBef>
              <a:spcAft>
                <a:spcPts val="0"/>
              </a:spcAft>
              <a:buClr>
                <a:srgbClr val="000000"/>
              </a:buClr>
              <a:buSzPts val="1400"/>
              <a:buFont typeface="Arial" panose="020B0604020202090204"/>
              <a:buChar char="•"/>
            </a:pPr>
            <a:r>
              <a:rPr lang="zh-CN" sz="1400" b="0" i="0" u="none" strike="noStrike" cap="none">
                <a:solidFill>
                  <a:schemeClr val="dk1"/>
                </a:solidFill>
                <a:latin typeface="Arial" panose="020B0604020202090204"/>
                <a:ea typeface="Arial" panose="020B0604020202090204"/>
                <a:cs typeface="Arial" panose="020B0604020202090204"/>
                <a:sym typeface="Arial" panose="020B0604020202090204"/>
              </a:rPr>
              <a:t>If the input is longer than the buffer, it can overwrite memory.</a:t>
            </a:r>
            <a:endParaRPr lang="zh-CN" sz="1400" b="0"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285750" marR="0" lvl="0" indent="-285750" algn="l" rtl="0">
              <a:lnSpc>
                <a:spcPct val="150000"/>
              </a:lnSpc>
              <a:spcBef>
                <a:spcPts val="0"/>
              </a:spcBef>
              <a:spcAft>
                <a:spcPts val="0"/>
              </a:spcAft>
              <a:buClr>
                <a:srgbClr val="000000"/>
              </a:buClr>
              <a:buSzPts val="1400"/>
              <a:buFont typeface="Arial" panose="020B0604020202090204"/>
              <a:buChar char="•"/>
            </a:pPr>
            <a:r>
              <a:rPr lang="zh-CN" sz="1400" b="0" i="0" u="none" strike="noStrike" cap="none">
                <a:solidFill>
                  <a:schemeClr val="dk1"/>
                </a:solidFill>
                <a:latin typeface="Arial" panose="020B0604020202090204"/>
                <a:ea typeface="Arial" panose="020B0604020202090204"/>
                <a:cs typeface="Arial" panose="020B0604020202090204"/>
                <a:sym typeface="Arial" panose="020B0604020202090204"/>
              </a:rPr>
              <a:t>This is a classic example of unsafe memory handling in C.</a:t>
            </a:r>
            <a:endParaRPr lang="zh-CN" sz="1400" b="0" i="0" u="none" strike="noStrike" cap="none">
              <a:solidFill>
                <a:schemeClr val="dk1"/>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369" name="Shape 369"/>
        <p:cNvGrpSpPr/>
        <p:nvPr/>
      </p:nvGrpSpPr>
      <p:grpSpPr>
        <a:xfrm>
          <a:off x="0" y="0"/>
          <a:ext cx="0" cy="0"/>
          <a:chOff x="0" y="0"/>
          <a:chExt cx="0" cy="0"/>
        </a:xfrm>
      </p:grpSpPr>
      <p:sp>
        <p:nvSpPr>
          <p:cNvPr id="370" name="Google Shape;370;g396d4a5dad6_5_177"/>
          <p:cNvSpPr txBox="1"/>
          <p:nvPr>
            <p:ph type="sldNum" idx="12"/>
          </p:nvPr>
        </p:nvSpPr>
        <p:spPr>
          <a:xfrm>
            <a:off x="1" y="4790748"/>
            <a:ext cx="457200" cy="2955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sp>
        <p:nvSpPr>
          <p:cNvPr id="371" name="Google Shape;371;g396d4a5dad6_5_177"/>
          <p:cNvSpPr txBox="1"/>
          <p:nvPr>
            <p:ph type="title"/>
          </p:nvPr>
        </p:nvSpPr>
        <p:spPr>
          <a:xfrm>
            <a:off x="457200" y="263525"/>
            <a:ext cx="8229600" cy="600000"/>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t>What are the Vulnerable Codes？</a:t>
            </a:r>
            <a:endParaRPr lang="zh-CN"/>
          </a:p>
        </p:txBody>
      </p:sp>
      <p:pic>
        <p:nvPicPr>
          <p:cNvPr id="372" name="Google Shape;372;g396d4a5dad6_5_177"/>
          <p:cNvPicPr preferRelativeResize="0"/>
          <p:nvPr/>
        </p:nvPicPr>
        <p:blipFill rotWithShape="1">
          <a:blip r:embed="rId1"/>
          <a:srcRect/>
          <a:stretch>
            <a:fillRect/>
          </a:stretch>
        </p:blipFill>
        <p:spPr>
          <a:xfrm>
            <a:off x="457200" y="1336674"/>
            <a:ext cx="6502400" cy="495300"/>
          </a:xfrm>
          <a:prstGeom prst="rect">
            <a:avLst/>
          </a:prstGeom>
          <a:noFill/>
          <a:ln>
            <a:noFill/>
          </a:ln>
        </p:spPr>
      </p:pic>
      <p:sp>
        <p:nvSpPr>
          <p:cNvPr id="373" name="Google Shape;373;g396d4a5dad6_5_177"/>
          <p:cNvSpPr txBox="1"/>
          <p:nvPr/>
        </p:nvSpPr>
        <p:spPr>
          <a:xfrm>
            <a:off x="457200" y="2305050"/>
            <a:ext cx="7853400" cy="9543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000000"/>
              </a:buClr>
              <a:buSzPts val="1400"/>
              <a:buFont typeface="Arial" panose="020B0604020202090204"/>
              <a:buChar char="•"/>
            </a:pPr>
            <a:r>
              <a:rPr lang="zh-CN" sz="1400" b="0" i="0" u="none" strike="noStrike" cap="none">
                <a:solidFill>
                  <a:schemeClr val="dk1"/>
                </a:solidFill>
                <a:latin typeface="Arial" panose="020B0604020202090204"/>
                <a:ea typeface="Arial" panose="020B0604020202090204"/>
                <a:cs typeface="Arial" panose="020B0604020202090204"/>
                <a:sym typeface="Arial" panose="020B0604020202090204"/>
              </a:rPr>
              <a:t>User input is directly concatenated into the SQL query.</a:t>
            </a:r>
            <a:endParaRPr lang="zh-CN" sz="1400" b="0"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285750" marR="0" lvl="0" indent="-285750" algn="l" rtl="0">
              <a:lnSpc>
                <a:spcPct val="150000"/>
              </a:lnSpc>
              <a:spcBef>
                <a:spcPts val="0"/>
              </a:spcBef>
              <a:spcAft>
                <a:spcPts val="0"/>
              </a:spcAft>
              <a:buClr>
                <a:srgbClr val="000000"/>
              </a:buClr>
              <a:buSzPts val="1400"/>
              <a:buFont typeface="Arial" panose="020B0604020202090204"/>
              <a:buChar char="•"/>
            </a:pPr>
            <a:r>
              <a:rPr lang="zh-CN" sz="1400" b="0" i="0" u="none" strike="noStrike" cap="none">
                <a:solidFill>
                  <a:schemeClr val="dk1"/>
                </a:solidFill>
                <a:latin typeface="Arial" panose="020B0604020202090204"/>
                <a:ea typeface="Arial" panose="020B0604020202090204"/>
                <a:cs typeface="Arial" panose="020B0604020202090204"/>
                <a:sym typeface="Arial" panose="020B0604020202090204"/>
              </a:rPr>
              <a:t>An attacker may change the meaning of the query by injecting SQL syntax.</a:t>
            </a:r>
            <a:endParaRPr lang="zh-CN" sz="1400" b="0"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285750" marR="0" lvl="0" indent="-285750" algn="l" rtl="0">
              <a:lnSpc>
                <a:spcPct val="150000"/>
              </a:lnSpc>
              <a:spcBef>
                <a:spcPts val="0"/>
              </a:spcBef>
              <a:spcAft>
                <a:spcPts val="0"/>
              </a:spcAft>
              <a:buClr>
                <a:srgbClr val="000000"/>
              </a:buClr>
              <a:buSzPts val="1400"/>
              <a:buFont typeface="Arial" panose="020B0604020202090204"/>
              <a:buChar char="•"/>
            </a:pPr>
            <a:r>
              <a:rPr lang="zh-CN" sz="1400" b="0" i="0" u="none" strike="noStrike" cap="none">
                <a:solidFill>
                  <a:schemeClr val="dk1"/>
                </a:solidFill>
                <a:latin typeface="Arial" panose="020B0604020202090204"/>
                <a:ea typeface="Arial" panose="020B0604020202090204"/>
                <a:cs typeface="Arial" panose="020B0604020202090204"/>
                <a:sym typeface="Arial" panose="020B0604020202090204"/>
              </a:rPr>
              <a:t>The safer approach is parameterized queries.</a:t>
            </a:r>
            <a:endParaRPr lang="zh-CN" sz="1400" b="0" i="0" u="none" strike="noStrike" cap="none">
              <a:solidFill>
                <a:schemeClr val="dk1"/>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378" name="Shape 378"/>
        <p:cNvGrpSpPr/>
        <p:nvPr/>
      </p:nvGrpSpPr>
      <p:grpSpPr>
        <a:xfrm>
          <a:off x="0" y="0"/>
          <a:ext cx="0" cy="0"/>
          <a:chOff x="0" y="0"/>
          <a:chExt cx="0" cy="0"/>
        </a:xfrm>
      </p:grpSpPr>
      <p:sp>
        <p:nvSpPr>
          <p:cNvPr id="379" name="Google Shape;379;g396d4a5dad6_5_185"/>
          <p:cNvSpPr txBox="1"/>
          <p:nvPr>
            <p:ph type="sldNum" idx="12"/>
          </p:nvPr>
        </p:nvSpPr>
        <p:spPr>
          <a:xfrm>
            <a:off x="1" y="4790748"/>
            <a:ext cx="457200" cy="2955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sp>
        <p:nvSpPr>
          <p:cNvPr id="380" name="Google Shape;380;g396d4a5dad6_5_185"/>
          <p:cNvSpPr txBox="1"/>
          <p:nvPr>
            <p:ph type="title"/>
          </p:nvPr>
        </p:nvSpPr>
        <p:spPr>
          <a:xfrm>
            <a:off x="457200" y="263525"/>
            <a:ext cx="8229600" cy="600000"/>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t>What are the Vulnerable Codes？</a:t>
            </a:r>
            <a:endParaRPr lang="zh-CN"/>
          </a:p>
        </p:txBody>
      </p:sp>
      <p:pic>
        <p:nvPicPr>
          <p:cNvPr id="381" name="Google Shape;381;g396d4a5dad6_5_185"/>
          <p:cNvPicPr preferRelativeResize="0"/>
          <p:nvPr/>
        </p:nvPicPr>
        <p:blipFill rotWithShape="1">
          <a:blip r:embed="rId1"/>
          <a:srcRect/>
          <a:stretch>
            <a:fillRect/>
          </a:stretch>
        </p:blipFill>
        <p:spPr>
          <a:xfrm>
            <a:off x="457200" y="1226974"/>
            <a:ext cx="5308600" cy="1600200"/>
          </a:xfrm>
          <a:prstGeom prst="rect">
            <a:avLst/>
          </a:prstGeom>
          <a:noFill/>
          <a:ln>
            <a:noFill/>
          </a:ln>
        </p:spPr>
      </p:pic>
      <p:sp>
        <p:nvSpPr>
          <p:cNvPr id="382" name="Google Shape;382;g396d4a5dad6_5_185"/>
          <p:cNvSpPr txBox="1"/>
          <p:nvPr/>
        </p:nvSpPr>
        <p:spPr>
          <a:xfrm>
            <a:off x="457200" y="3283050"/>
            <a:ext cx="8229600" cy="9543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000000"/>
              </a:buClr>
              <a:buSzPts val="1400"/>
              <a:buFont typeface="Arial" panose="020B0604020202090204"/>
              <a:buChar char="•"/>
            </a:pPr>
            <a:r>
              <a:rPr lang="zh-CN" sz="1400" b="0" i="0" u="none" strike="noStrike" cap="none">
                <a:solidFill>
                  <a:schemeClr val="dk1"/>
                </a:solidFill>
                <a:latin typeface="Arial" panose="020B0604020202090204"/>
                <a:ea typeface="Arial" panose="020B0604020202090204"/>
                <a:cs typeface="Arial" panose="020B0604020202090204"/>
                <a:sym typeface="Arial" panose="020B0604020202090204"/>
              </a:rPr>
              <a:t>User input is inserted directly into a shell command.</a:t>
            </a:r>
            <a:endParaRPr lang="zh-CN" sz="1400" b="0"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285750" marR="0" lvl="0" indent="-285750" algn="l" rtl="0">
              <a:lnSpc>
                <a:spcPct val="150000"/>
              </a:lnSpc>
              <a:spcBef>
                <a:spcPts val="0"/>
              </a:spcBef>
              <a:spcAft>
                <a:spcPts val="0"/>
              </a:spcAft>
              <a:buClr>
                <a:srgbClr val="000000"/>
              </a:buClr>
              <a:buSzPts val="1400"/>
              <a:buFont typeface="Arial" panose="020B0604020202090204"/>
              <a:buChar char="•"/>
            </a:pPr>
            <a:r>
              <a:rPr lang="zh-CN" sz="1400" b="0" i="0" u="none" strike="noStrike" cap="none">
                <a:solidFill>
                  <a:schemeClr val="dk1"/>
                </a:solidFill>
                <a:latin typeface="Arial" panose="020B0604020202090204"/>
                <a:ea typeface="Arial" panose="020B0604020202090204"/>
                <a:cs typeface="Arial" panose="020B0604020202090204"/>
                <a:sym typeface="Arial" panose="020B0604020202090204"/>
              </a:rPr>
              <a:t>If the input contains command separators or extra shell syntax, unintended commands may run.</a:t>
            </a:r>
            <a:endParaRPr lang="zh-CN" sz="1400" b="0"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285750" marR="0" lvl="0" indent="-285750" algn="l" rtl="0">
              <a:lnSpc>
                <a:spcPct val="150000"/>
              </a:lnSpc>
              <a:spcBef>
                <a:spcPts val="0"/>
              </a:spcBef>
              <a:spcAft>
                <a:spcPts val="0"/>
              </a:spcAft>
              <a:buClr>
                <a:srgbClr val="000000"/>
              </a:buClr>
              <a:buSzPts val="1400"/>
              <a:buFont typeface="Arial" panose="020B0604020202090204"/>
              <a:buChar char="•"/>
            </a:pPr>
            <a:r>
              <a:rPr lang="zh-CN" sz="1400" b="0" i="0" u="none" strike="noStrike" cap="none">
                <a:solidFill>
                  <a:schemeClr val="dk1"/>
                </a:solidFill>
                <a:latin typeface="Arial" panose="020B0604020202090204"/>
                <a:ea typeface="Arial" panose="020B0604020202090204"/>
                <a:cs typeface="Arial" panose="020B0604020202090204"/>
                <a:sym typeface="Arial" panose="020B0604020202090204"/>
              </a:rPr>
              <a:t>This is an example of command injection risk.</a:t>
            </a:r>
            <a:endParaRPr lang="zh-CN" sz="1400" b="0" i="0" u="none" strike="noStrike" cap="none">
              <a:solidFill>
                <a:schemeClr val="dk1"/>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387" name="Shape 387"/>
        <p:cNvGrpSpPr/>
        <p:nvPr/>
      </p:nvGrpSpPr>
      <p:grpSpPr>
        <a:xfrm>
          <a:off x="0" y="0"/>
          <a:ext cx="0" cy="0"/>
          <a:chOff x="0" y="0"/>
          <a:chExt cx="0" cy="0"/>
        </a:xfrm>
      </p:grpSpPr>
      <p:sp>
        <p:nvSpPr>
          <p:cNvPr id="388" name="Google Shape;388;g396d4a5dad6_5_193"/>
          <p:cNvSpPr txBox="1"/>
          <p:nvPr>
            <p:ph type="sldNum" idx="12"/>
          </p:nvPr>
        </p:nvSpPr>
        <p:spPr>
          <a:xfrm>
            <a:off x="1" y="4790748"/>
            <a:ext cx="457200" cy="2955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sp>
        <p:nvSpPr>
          <p:cNvPr id="389" name="Google Shape;389;g396d4a5dad6_5_193"/>
          <p:cNvSpPr txBox="1"/>
          <p:nvPr>
            <p:ph type="title"/>
          </p:nvPr>
        </p:nvSpPr>
        <p:spPr>
          <a:xfrm>
            <a:off x="457200" y="263525"/>
            <a:ext cx="8229600" cy="600000"/>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t>Why do we need Vulnerability Detection</a:t>
            </a:r>
            <a:endParaRPr lang="zh-CN"/>
          </a:p>
        </p:txBody>
      </p:sp>
      <p:sp>
        <p:nvSpPr>
          <p:cNvPr id="390" name="Google Shape;390;g396d4a5dad6_5_193"/>
          <p:cNvSpPr txBox="1"/>
          <p:nvPr/>
        </p:nvSpPr>
        <p:spPr>
          <a:xfrm>
            <a:off x="3727800" y="1134369"/>
            <a:ext cx="5416200" cy="1577700"/>
          </a:xfrm>
          <a:prstGeom prst="rect">
            <a:avLst/>
          </a:prstGeom>
          <a:noFill/>
          <a:ln>
            <a:noFill/>
          </a:ln>
        </p:spPr>
        <p:txBody>
          <a:bodyPr spcFirstLastPara="1" wrap="square" lIns="68575" tIns="34275" rIns="68575" bIns="34275" anchor="t" anchorCtr="0">
            <a:spAutoFit/>
          </a:bodyPr>
          <a:lstStyle/>
          <a:p>
            <a:pPr marL="215900" marR="0" lvl="0" indent="-215900" algn="l" rtl="0">
              <a:lnSpc>
                <a:spcPct val="150000"/>
              </a:lnSpc>
              <a:spcBef>
                <a:spcPts val="0"/>
              </a:spcBef>
              <a:spcAft>
                <a:spcPts val="0"/>
              </a:spcAft>
              <a:buClr>
                <a:srgbClr val="000000"/>
              </a:buClr>
              <a:buSzPts val="1400"/>
              <a:buFont typeface="Arial" panose="020B0604020202090204"/>
              <a:buChar char="•"/>
            </a:pPr>
            <a:r>
              <a:rPr lang="zh-CN" sz="1400" b="0" i="0" u="none" strike="noStrike" cap="none">
                <a:solidFill>
                  <a:srgbClr val="000000"/>
                </a:solidFill>
                <a:latin typeface="Georgia" panose="02040502050405090303"/>
                <a:ea typeface="Georgia" panose="02040502050405090303"/>
                <a:cs typeface="Georgia" panose="02040502050405090303"/>
                <a:sym typeface="Georgia" panose="02040502050405090303"/>
              </a:rPr>
              <a:t>Software vulnerabilities are a major cause of security breaches</a:t>
            </a:r>
            <a:endParaRPr sz="1400" b="0" i="0" u="none" strike="noStrike" cap="none">
              <a:solidFill>
                <a:srgbClr val="000000"/>
              </a:solidFill>
              <a:latin typeface="Georgia" panose="02040502050405090303"/>
              <a:ea typeface="Georgia" panose="02040502050405090303"/>
              <a:cs typeface="Georgia" panose="02040502050405090303"/>
              <a:sym typeface="Georgia" panose="02040502050405090303"/>
            </a:endParaRPr>
          </a:p>
          <a:p>
            <a:pPr marL="215900" marR="0" lvl="0" indent="-215900" algn="l" rtl="0">
              <a:lnSpc>
                <a:spcPct val="150000"/>
              </a:lnSpc>
              <a:spcBef>
                <a:spcPts val="0"/>
              </a:spcBef>
              <a:spcAft>
                <a:spcPts val="0"/>
              </a:spcAft>
              <a:buClr>
                <a:srgbClr val="000000"/>
              </a:buClr>
              <a:buSzPts val="1400"/>
              <a:buFont typeface="Arial" panose="020B0604020202090204"/>
              <a:buChar char="•"/>
            </a:pPr>
            <a:r>
              <a:rPr lang="zh-CN" sz="1400" b="0" i="0" u="none" strike="noStrike" cap="none">
                <a:solidFill>
                  <a:srgbClr val="000000"/>
                </a:solidFill>
                <a:latin typeface="Georgia" panose="02040502050405090303"/>
                <a:ea typeface="Georgia" panose="02040502050405090303"/>
                <a:cs typeface="Georgia" panose="02040502050405090303"/>
                <a:sym typeface="Georgia" panose="02040502050405090303"/>
              </a:rPr>
              <a:t>Manual code review is time-consuming and error-prone</a:t>
            </a:r>
            <a:endParaRPr sz="1400" b="0" i="0" u="none" strike="noStrike" cap="none">
              <a:solidFill>
                <a:srgbClr val="000000"/>
              </a:solidFill>
              <a:latin typeface="Georgia" panose="02040502050405090303"/>
              <a:ea typeface="Georgia" panose="02040502050405090303"/>
              <a:cs typeface="Georgia" panose="02040502050405090303"/>
              <a:sym typeface="Georgia" panose="02040502050405090303"/>
            </a:endParaRPr>
          </a:p>
          <a:p>
            <a:pPr marL="215900" marR="0" lvl="0" indent="-215900" algn="l" rtl="0">
              <a:lnSpc>
                <a:spcPct val="150000"/>
              </a:lnSpc>
              <a:spcBef>
                <a:spcPts val="0"/>
              </a:spcBef>
              <a:spcAft>
                <a:spcPts val="0"/>
              </a:spcAft>
              <a:buClr>
                <a:srgbClr val="000000"/>
              </a:buClr>
              <a:buSzPts val="1400"/>
              <a:buFont typeface="Arial" panose="020B0604020202090204"/>
              <a:buChar char="•"/>
            </a:pPr>
            <a:r>
              <a:rPr lang="zh-CN" sz="1400" b="0" i="0" u="none" strike="noStrike" cap="none">
                <a:solidFill>
                  <a:srgbClr val="000000"/>
                </a:solidFill>
                <a:latin typeface="Georgia" panose="02040502050405090303"/>
                <a:ea typeface="Georgia" panose="02040502050405090303"/>
                <a:cs typeface="Georgia" panose="02040502050405090303"/>
                <a:sym typeface="Georgia" panose="02040502050405090303"/>
              </a:rPr>
              <a:t>Rule-based static analysis tools have limited coverage</a:t>
            </a:r>
            <a:endParaRPr sz="1400" b="0" i="0" u="none" strike="noStrike" cap="none">
              <a:solidFill>
                <a:srgbClr val="000000"/>
              </a:solidFill>
              <a:latin typeface="Georgia" panose="02040502050405090303"/>
              <a:ea typeface="Georgia" panose="02040502050405090303"/>
              <a:cs typeface="Georgia" panose="02040502050405090303"/>
              <a:sym typeface="Georgia" panose="02040502050405090303"/>
            </a:endParaRPr>
          </a:p>
          <a:p>
            <a:pPr marL="215900" marR="0" lvl="0" indent="-215900" algn="l" rtl="0">
              <a:lnSpc>
                <a:spcPct val="150000"/>
              </a:lnSpc>
              <a:spcBef>
                <a:spcPts val="0"/>
              </a:spcBef>
              <a:spcAft>
                <a:spcPts val="0"/>
              </a:spcAft>
              <a:buClr>
                <a:srgbClr val="000000"/>
              </a:buClr>
              <a:buSzPts val="1400"/>
              <a:buFont typeface="Arial" panose="020B0604020202090204"/>
              <a:buChar char="•"/>
            </a:pPr>
            <a:r>
              <a:rPr lang="zh-CN" sz="1400" b="0" i="0" u="none" strike="noStrike" cap="none">
                <a:solidFill>
                  <a:srgbClr val="000000"/>
                </a:solidFill>
                <a:latin typeface="Georgia" panose="02040502050405090303"/>
                <a:ea typeface="Georgia" panose="02040502050405090303"/>
                <a:cs typeface="Georgia" panose="02040502050405090303"/>
                <a:sym typeface="Georgia" panose="02040502050405090303"/>
              </a:rPr>
              <a:t>New vulnerabilities appear faster than rules can be written</a:t>
            </a:r>
            <a:endParaRPr sz="1400" b="0" i="0" u="none" strike="noStrike" cap="none">
              <a:solidFill>
                <a:srgbClr val="000000"/>
              </a:solidFill>
              <a:latin typeface="Georgia" panose="02040502050405090303"/>
              <a:ea typeface="Georgia" panose="02040502050405090303"/>
              <a:cs typeface="Georgia" panose="02040502050405090303"/>
              <a:sym typeface="Georgia" panose="02040502050405090303"/>
            </a:endParaRPr>
          </a:p>
          <a:p>
            <a:pPr marL="215900" marR="0" lvl="0" indent="-215900" algn="l" rtl="0">
              <a:lnSpc>
                <a:spcPct val="150000"/>
              </a:lnSpc>
              <a:spcBef>
                <a:spcPts val="0"/>
              </a:spcBef>
              <a:spcAft>
                <a:spcPts val="0"/>
              </a:spcAft>
              <a:buClr>
                <a:srgbClr val="000000"/>
              </a:buClr>
              <a:buSzPts val="1400"/>
              <a:buFont typeface="Arial" panose="020B0604020202090204"/>
              <a:buChar char="•"/>
            </a:pPr>
            <a:r>
              <a:rPr lang="zh-CN" sz="1400" b="1" i="0" u="sng" strike="noStrike" cap="none">
                <a:solidFill>
                  <a:srgbClr val="000000"/>
                </a:solidFill>
                <a:latin typeface="Georgia" panose="02040502050405090303"/>
                <a:ea typeface="Georgia" panose="02040502050405090303"/>
                <a:cs typeface="Georgia" panose="02040502050405090303"/>
                <a:sym typeface="Georgia" panose="02040502050405090303"/>
              </a:rPr>
              <a:t>AI can help prioritize risky code for human review</a:t>
            </a:r>
            <a:endParaRPr lang="zh-CN" sz="1400" b="1" i="0" u="sng" strike="noStrike" cap="none">
              <a:solidFill>
                <a:srgbClr val="000000"/>
              </a:solidFill>
              <a:latin typeface="Georgia" panose="02040502050405090303"/>
              <a:ea typeface="Georgia" panose="02040502050405090303"/>
              <a:cs typeface="Georgia" panose="02040502050405090303"/>
              <a:sym typeface="Georgia" panose="02040502050405090303"/>
            </a:endParaRPr>
          </a:p>
        </p:txBody>
      </p:sp>
      <p:pic>
        <p:nvPicPr>
          <p:cNvPr id="391" name="Google Shape;391;g396d4a5dad6_5_193" descr="code vulnerabilities assessment illustration"/>
          <p:cNvPicPr preferRelativeResize="0"/>
          <p:nvPr/>
        </p:nvPicPr>
        <p:blipFill rotWithShape="1">
          <a:blip r:embed="rId1"/>
          <a:srcRect/>
          <a:stretch>
            <a:fillRect/>
          </a:stretch>
        </p:blipFill>
        <p:spPr>
          <a:xfrm>
            <a:off x="457200" y="1250706"/>
            <a:ext cx="2992581" cy="1633810"/>
          </a:xfrm>
          <a:prstGeom prst="rect">
            <a:avLst/>
          </a:prstGeom>
          <a:noFill/>
          <a:ln>
            <a:noFill/>
          </a:ln>
        </p:spPr>
      </p:pic>
      <p:sp>
        <p:nvSpPr>
          <p:cNvPr id="392" name="Google Shape;392;g396d4a5dad6_5_193"/>
          <p:cNvSpPr txBox="1"/>
          <p:nvPr/>
        </p:nvSpPr>
        <p:spPr>
          <a:xfrm>
            <a:off x="457200" y="3517572"/>
            <a:ext cx="4728300" cy="1000500"/>
          </a:xfrm>
          <a:prstGeom prst="rect">
            <a:avLst/>
          </a:prstGeom>
          <a:noFill/>
          <a:ln>
            <a:noFill/>
          </a:ln>
        </p:spPr>
        <p:txBody>
          <a:bodyPr spcFirstLastPara="1" wrap="square" lIns="68575" tIns="34275" rIns="68575" bIns="34275" anchor="t" anchorCtr="0">
            <a:spAutoFit/>
          </a:bodyPr>
          <a:lstStyle/>
          <a:p>
            <a:pPr marL="254000" marR="0" lvl="0" indent="-254000" algn="l" rtl="0">
              <a:lnSpc>
                <a:spcPct val="150000"/>
              </a:lnSpc>
              <a:spcBef>
                <a:spcPts val="0"/>
              </a:spcBef>
              <a:spcAft>
                <a:spcPts val="0"/>
              </a:spcAft>
              <a:buClr>
                <a:srgbClr val="000000"/>
              </a:buClr>
              <a:buSzPts val="1100"/>
              <a:buFont typeface="Arial" panose="020B0604020202090204"/>
              <a:buAutoNum type="arabicPeriod"/>
            </a:pPr>
            <a:r>
              <a:rPr lang="zh-CN" sz="1100" b="1" i="0" u="none" strike="noStrike" cap="none">
                <a:solidFill>
                  <a:srgbClr val="000000"/>
                </a:solidFill>
                <a:latin typeface="Arial" panose="020B0604020202090204"/>
                <a:ea typeface="Arial" panose="020B0604020202090204"/>
                <a:cs typeface="Arial" panose="020B0604020202090204"/>
                <a:sym typeface="Arial" panose="020B0604020202090204"/>
              </a:rPr>
              <a:t>Understand how AI detects code vulnerabilities</a:t>
            </a:r>
            <a:endParaRPr sz="1100" b="1"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254000" marR="0" lvl="0" indent="-254000" algn="l" rtl="0">
              <a:lnSpc>
                <a:spcPct val="150000"/>
              </a:lnSpc>
              <a:spcBef>
                <a:spcPts val="0"/>
              </a:spcBef>
              <a:spcAft>
                <a:spcPts val="0"/>
              </a:spcAft>
              <a:buClr>
                <a:srgbClr val="000000"/>
              </a:buClr>
              <a:buSzPts val="1100"/>
              <a:buFont typeface="Arial" panose="020B0604020202090204"/>
              <a:buAutoNum type="arabicPeriod"/>
            </a:pPr>
            <a:r>
              <a:rPr lang="zh-CN" sz="1100" b="1" i="0" u="none" strike="noStrike" cap="none">
                <a:solidFill>
                  <a:srgbClr val="000000"/>
                </a:solidFill>
                <a:latin typeface="Arial" panose="020B0604020202090204"/>
                <a:ea typeface="Arial" panose="020B0604020202090204"/>
                <a:cs typeface="Arial" panose="020B0604020202090204"/>
                <a:sym typeface="Arial" panose="020B0604020202090204"/>
              </a:rPr>
              <a:t>Run a vulnerability detection model</a:t>
            </a:r>
            <a:endParaRPr sz="1100" b="1"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254000" marR="0" lvl="0" indent="-254000" algn="l" rtl="0">
              <a:lnSpc>
                <a:spcPct val="150000"/>
              </a:lnSpc>
              <a:spcBef>
                <a:spcPts val="0"/>
              </a:spcBef>
              <a:spcAft>
                <a:spcPts val="0"/>
              </a:spcAft>
              <a:buClr>
                <a:srgbClr val="000000"/>
              </a:buClr>
              <a:buSzPts val="1100"/>
              <a:buFont typeface="Arial" panose="020B0604020202090204"/>
              <a:buAutoNum type="arabicPeriod"/>
            </a:pPr>
            <a:r>
              <a:rPr lang="zh-CN" sz="1100" b="1" i="0" u="none" strike="noStrike" cap="none">
                <a:solidFill>
                  <a:srgbClr val="000000"/>
                </a:solidFill>
                <a:latin typeface="Arial" panose="020B0604020202090204"/>
                <a:ea typeface="Arial" panose="020B0604020202090204"/>
                <a:cs typeface="Arial" panose="020B0604020202090204"/>
                <a:sym typeface="Arial" panose="020B0604020202090204"/>
              </a:rPr>
              <a:t>Analyze model predictions</a:t>
            </a:r>
            <a:endParaRPr sz="1100" b="1"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254000" marR="0" lvl="0" indent="-254000" algn="l" rtl="0">
              <a:lnSpc>
                <a:spcPct val="150000"/>
              </a:lnSpc>
              <a:spcBef>
                <a:spcPts val="0"/>
              </a:spcBef>
              <a:spcAft>
                <a:spcPts val="0"/>
              </a:spcAft>
              <a:buClr>
                <a:srgbClr val="000000"/>
              </a:buClr>
              <a:buSzPts val="1100"/>
              <a:buFont typeface="Arial" panose="020B0604020202090204"/>
              <a:buAutoNum type="arabicPeriod"/>
            </a:pPr>
            <a:r>
              <a:rPr lang="zh-CN" sz="1100" b="1" i="0" u="none" strike="noStrike" cap="none">
                <a:solidFill>
                  <a:srgbClr val="000000"/>
                </a:solidFill>
                <a:latin typeface="Arial" panose="020B0604020202090204"/>
                <a:ea typeface="Arial" panose="020B0604020202090204"/>
                <a:cs typeface="Arial" panose="020B0604020202090204"/>
                <a:sym typeface="Arial" panose="020B0604020202090204"/>
              </a:rPr>
              <a:t>Reflect on limitations of AI in security</a:t>
            </a:r>
            <a:endParaRPr sz="1100" b="1"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397" name="Shape 397"/>
        <p:cNvGrpSpPr/>
        <p:nvPr/>
      </p:nvGrpSpPr>
      <p:grpSpPr>
        <a:xfrm>
          <a:off x="0" y="0"/>
          <a:ext cx="0" cy="0"/>
          <a:chOff x="0" y="0"/>
          <a:chExt cx="0" cy="0"/>
        </a:xfrm>
      </p:grpSpPr>
      <p:sp>
        <p:nvSpPr>
          <p:cNvPr id="398" name="Google Shape;398;g396d4a5dad6_5_202"/>
          <p:cNvSpPr txBox="1"/>
          <p:nvPr>
            <p:ph type="sldNum" idx="12"/>
          </p:nvPr>
        </p:nvSpPr>
        <p:spPr>
          <a:xfrm>
            <a:off x="1" y="4790748"/>
            <a:ext cx="457200" cy="2955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sp>
        <p:nvSpPr>
          <p:cNvPr id="399" name="Google Shape;399;g396d4a5dad6_5_202"/>
          <p:cNvSpPr txBox="1"/>
          <p:nvPr>
            <p:ph type="title"/>
          </p:nvPr>
        </p:nvSpPr>
        <p:spPr>
          <a:xfrm>
            <a:off x="457200" y="263525"/>
            <a:ext cx="8229600" cy="600000"/>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t>Task Definition</a:t>
            </a:r>
            <a:endParaRPr lang="zh-CN"/>
          </a:p>
        </p:txBody>
      </p:sp>
      <p:sp>
        <p:nvSpPr>
          <p:cNvPr id="400" name="Google Shape;400;g396d4a5dad6_5_202"/>
          <p:cNvSpPr txBox="1"/>
          <p:nvPr/>
        </p:nvSpPr>
        <p:spPr>
          <a:xfrm>
            <a:off x="457201" y="1040650"/>
            <a:ext cx="5919300" cy="13623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rgbClr val="000000"/>
              </a:buClr>
              <a:buSzPts val="1400"/>
              <a:buFont typeface="Arial" panose="020B0604020202090204"/>
              <a:buNone/>
            </a:pPr>
            <a:r>
              <a:rPr lang="zh-CN" sz="1200" b="1" i="0" u="none" strike="noStrike" cap="none">
                <a:solidFill>
                  <a:srgbClr val="000000"/>
                </a:solidFill>
                <a:latin typeface="Arial" panose="020B0604020202090204"/>
                <a:ea typeface="Arial" panose="020B0604020202090204"/>
                <a:cs typeface="Arial" panose="020B0604020202090204"/>
                <a:sym typeface="Arial" panose="020B0604020202090204"/>
              </a:rPr>
              <a:t>Input</a:t>
            </a:r>
            <a:r>
              <a:rPr lang="zh-CN" sz="1200" b="0" i="0" u="none" strike="noStrike" cap="none">
                <a:solidFill>
                  <a:srgbClr val="000000"/>
                </a:solidFill>
                <a:latin typeface="Arial" panose="020B0604020202090204"/>
                <a:ea typeface="Arial" panose="020B0604020202090204"/>
                <a:cs typeface="Arial" panose="020B0604020202090204"/>
                <a:sym typeface="Arial" panose="020B0604020202090204"/>
              </a:rPr>
              <a:t>:             A function-level code representation</a:t>
            </a:r>
            <a:endParaRPr sz="12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50000"/>
              </a:lnSpc>
              <a:spcBef>
                <a:spcPts val="0"/>
              </a:spcBef>
              <a:spcAft>
                <a:spcPts val="0"/>
              </a:spcAft>
              <a:buClr>
                <a:srgbClr val="000000"/>
              </a:buClr>
              <a:buSzPts val="1400"/>
              <a:buFont typeface="Arial" panose="020B0604020202090204"/>
              <a:buNone/>
            </a:pPr>
            <a:r>
              <a:rPr lang="zh-CN" sz="1200" b="1" i="0" u="none" strike="noStrike" cap="none">
                <a:solidFill>
                  <a:srgbClr val="000000"/>
                </a:solidFill>
                <a:latin typeface="Arial" panose="020B0604020202090204"/>
                <a:ea typeface="Arial" panose="020B0604020202090204"/>
                <a:cs typeface="Arial" panose="020B0604020202090204"/>
                <a:sym typeface="Arial" panose="020B0604020202090204"/>
              </a:rPr>
              <a:t>Output</a:t>
            </a:r>
            <a:r>
              <a:rPr lang="zh-CN" sz="1200" b="0" i="0" u="none" strike="noStrike" cap="none">
                <a:solidFill>
                  <a:srgbClr val="000000"/>
                </a:solidFill>
                <a:latin typeface="Arial" panose="020B0604020202090204"/>
                <a:ea typeface="Arial" panose="020B0604020202090204"/>
                <a:cs typeface="Arial" panose="020B0604020202090204"/>
                <a:sym typeface="Arial" panose="020B0604020202090204"/>
              </a:rPr>
              <a:t>:          Vulnerable (1) or Non-vulnerable (0)</a:t>
            </a:r>
            <a:endParaRPr sz="12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50000"/>
              </a:lnSpc>
              <a:spcBef>
                <a:spcPts val="0"/>
              </a:spcBef>
              <a:spcAft>
                <a:spcPts val="0"/>
              </a:spcAft>
              <a:buClr>
                <a:srgbClr val="000000"/>
              </a:buClr>
              <a:buSzPts val="1400"/>
              <a:buFont typeface="Arial" panose="020B0604020202090204"/>
              <a:buNone/>
            </a:pPr>
            <a:r>
              <a:rPr lang="zh-CN" sz="1200" b="1" i="0" u="none" strike="noStrike" cap="none">
                <a:solidFill>
                  <a:srgbClr val="000000"/>
                </a:solidFill>
                <a:latin typeface="Arial" panose="020B0604020202090204"/>
                <a:ea typeface="Arial" panose="020B0604020202090204"/>
                <a:cs typeface="Arial" panose="020B0604020202090204"/>
                <a:sym typeface="Arial" panose="020B0604020202090204"/>
              </a:rPr>
              <a:t>Task Type</a:t>
            </a:r>
            <a:r>
              <a:rPr lang="zh-CN" sz="1200" b="0" i="0" u="none" strike="noStrike" cap="none">
                <a:solidFill>
                  <a:srgbClr val="000000"/>
                </a:solidFill>
                <a:latin typeface="Arial" panose="020B0604020202090204"/>
                <a:ea typeface="Arial" panose="020B0604020202090204"/>
                <a:cs typeface="Arial" panose="020B0604020202090204"/>
                <a:sym typeface="Arial" panose="020B0604020202090204"/>
              </a:rPr>
              <a:t>:    </a:t>
            </a:r>
            <a:r>
              <a:rPr lang="zh-CN" sz="1200"/>
              <a:t> </a:t>
            </a:r>
            <a:r>
              <a:rPr lang="zh-CN" sz="1200" b="0" i="0" u="none" strike="noStrike" cap="none">
                <a:solidFill>
                  <a:srgbClr val="000000"/>
                </a:solidFill>
                <a:latin typeface="Arial" panose="020B0604020202090204"/>
                <a:ea typeface="Arial" panose="020B0604020202090204"/>
                <a:cs typeface="Arial" panose="020B0604020202090204"/>
                <a:sym typeface="Arial" panose="020B0604020202090204"/>
              </a:rPr>
              <a:t>Binary classification</a:t>
            </a:r>
            <a:endParaRPr sz="12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50000"/>
              </a:lnSpc>
              <a:spcBef>
                <a:spcPts val="0"/>
              </a:spcBef>
              <a:spcAft>
                <a:spcPts val="0"/>
              </a:spcAft>
              <a:buClr>
                <a:srgbClr val="000000"/>
              </a:buClr>
              <a:buSzPts val="1400"/>
              <a:buFont typeface="Arial" panose="020B0604020202090204"/>
              <a:buNone/>
            </a:pPr>
            <a:r>
              <a:rPr lang="zh-CN" sz="1200" b="1" i="0" u="none" strike="noStrike" cap="none">
                <a:solidFill>
                  <a:srgbClr val="000000"/>
                </a:solidFill>
                <a:latin typeface="Arial" panose="020B0604020202090204"/>
                <a:ea typeface="Arial" panose="020B0604020202090204"/>
                <a:cs typeface="Arial" panose="020B0604020202090204"/>
                <a:sym typeface="Arial" panose="020B0604020202090204"/>
              </a:rPr>
              <a:t>Granularity</a:t>
            </a:r>
            <a:r>
              <a:rPr lang="zh-CN" sz="1200" b="0" i="0" u="none" strike="noStrike" cap="none">
                <a:solidFill>
                  <a:srgbClr val="000000"/>
                </a:solidFill>
                <a:latin typeface="Arial" panose="020B0604020202090204"/>
                <a:ea typeface="Arial" panose="020B0604020202090204"/>
                <a:cs typeface="Arial" panose="020B0604020202090204"/>
                <a:sym typeface="Arial" panose="020B0604020202090204"/>
              </a:rPr>
              <a:t>:   Function-level vulnerability detection</a:t>
            </a:r>
            <a:endParaRPr sz="12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50000"/>
              </a:lnSpc>
              <a:spcBef>
                <a:spcPts val="0"/>
              </a:spcBef>
              <a:spcAft>
                <a:spcPts val="0"/>
              </a:spcAft>
              <a:buClr>
                <a:srgbClr val="000000"/>
              </a:buClr>
              <a:buSzPts val="1400"/>
              <a:buFont typeface="Arial" panose="020B0604020202090204"/>
              <a:buNone/>
            </a:pPr>
            <a:r>
              <a:rPr lang="zh-CN" sz="1200" b="1" i="0" u="none" strike="noStrike" cap="none">
                <a:solidFill>
                  <a:srgbClr val="000000"/>
                </a:solidFill>
                <a:latin typeface="Arial" panose="020B0604020202090204"/>
                <a:ea typeface="Arial" panose="020B0604020202090204"/>
                <a:cs typeface="Arial" panose="020B0604020202090204"/>
                <a:sym typeface="Arial" panose="020B0604020202090204"/>
              </a:rPr>
              <a:t>Dataset</a:t>
            </a:r>
            <a:r>
              <a:rPr lang="zh-CN" sz="1200" b="0" i="0" u="none" strike="noStrike" cap="none">
                <a:solidFill>
                  <a:srgbClr val="000000"/>
                </a:solidFill>
                <a:latin typeface="Arial" panose="020B0604020202090204"/>
                <a:ea typeface="Arial" panose="020B0604020202090204"/>
                <a:cs typeface="Arial" panose="020B0604020202090204"/>
                <a:sym typeface="Arial" panose="020B0604020202090204"/>
              </a:rPr>
              <a:t>:         Real-World Vulnerability Data</a:t>
            </a:r>
            <a:endParaRPr sz="12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401" name="Google Shape;401;g396d4a5dad6_5_202"/>
          <p:cNvSpPr txBox="1"/>
          <p:nvPr/>
        </p:nvSpPr>
        <p:spPr>
          <a:xfrm>
            <a:off x="4959347" y="1103775"/>
            <a:ext cx="3112200" cy="492600"/>
          </a:xfrm>
          <a:prstGeom prst="rect">
            <a:avLst/>
          </a:prstGeom>
          <a:noFill/>
          <a:ln>
            <a:noFill/>
          </a:ln>
        </p:spPr>
        <p:txBody>
          <a:bodyPr spcFirstLastPara="1" wrap="square" lIns="68575" tIns="34275" rIns="68575" bIns="34275" anchor="t" anchorCtr="0">
            <a:spAutoFit/>
          </a:bodyPr>
          <a:lstStyle/>
          <a:p>
            <a:pPr marL="215900" marR="0" lvl="0" indent="-215900" algn="l" rtl="0">
              <a:lnSpc>
                <a:spcPct val="150000"/>
              </a:lnSpc>
              <a:spcBef>
                <a:spcPts val="0"/>
              </a:spcBef>
              <a:spcAft>
                <a:spcPts val="0"/>
              </a:spcAft>
              <a:buClr>
                <a:srgbClr val="000000"/>
              </a:buClr>
              <a:buSzPts val="1100"/>
              <a:buFont typeface="Arial" panose="020B0604020202090204"/>
              <a:buChar char="-"/>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Source</a:t>
            </a:r>
            <a:r>
              <a:rPr lang="zh-CN" sz="1100" b="0" i="0" u="none" strike="noStrike" cap="none">
                <a:solidFill>
                  <a:srgbClr val="383A42"/>
                </a:solidFill>
                <a:latin typeface="Arial" panose="020B0604020202090204"/>
                <a:ea typeface="Arial" panose="020B0604020202090204"/>
                <a:cs typeface="Arial" panose="020B0604020202090204"/>
                <a:sym typeface="Arial" panose="020B0604020202090204"/>
              </a:rPr>
              <a:t>:</a:t>
            </a: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CVE</a:t>
            </a:r>
            <a:r>
              <a:rPr lang="zh-CN" sz="1100" b="0" i="0" u="none" strike="noStrike" cap="none">
                <a:solidFill>
                  <a:srgbClr val="4078F2"/>
                </a:solidFill>
                <a:latin typeface="Arial" panose="020B0604020202090204"/>
                <a:ea typeface="Arial" panose="020B0604020202090204"/>
                <a:cs typeface="Arial" panose="020B0604020202090204"/>
                <a:sym typeface="Arial" panose="020B0604020202090204"/>
              </a:rPr>
              <a:t>-</a:t>
            </a: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based</a:t>
            </a:r>
            <a:r>
              <a:rPr lang="zh-CN" sz="1100" b="0" i="0" u="none" strike="noStrike" cap="none">
                <a:solidFill>
                  <a:srgbClr val="383A42"/>
                </a:solidFill>
                <a:latin typeface="Arial" panose="020B0604020202090204"/>
                <a:ea typeface="Arial" panose="020B0604020202090204"/>
                <a:cs typeface="Arial" panose="020B0604020202090204"/>
                <a:sym typeface="Arial" panose="020B0604020202090204"/>
              </a:rPr>
              <a:t>,</a:t>
            </a: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150K</a:t>
            </a:r>
            <a:r>
              <a:rPr lang="zh-CN" sz="1100" b="0" i="0" u="none" strike="noStrike" cap="none">
                <a:solidFill>
                  <a:srgbClr val="4078F2"/>
                </a:solidFill>
                <a:latin typeface="Arial" panose="020B0604020202090204"/>
                <a:ea typeface="Arial" panose="020B0604020202090204"/>
                <a:cs typeface="Arial" panose="020B0604020202090204"/>
                <a:sym typeface="Arial" panose="020B0604020202090204"/>
              </a:rPr>
              <a:t>+</a:t>
            </a: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C functions </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215900" marR="0" lvl="0" indent="-215900" algn="l" rtl="0">
              <a:lnSpc>
                <a:spcPct val="150000"/>
              </a:lnSpc>
              <a:spcBef>
                <a:spcPts val="0"/>
              </a:spcBef>
              <a:spcAft>
                <a:spcPts val="0"/>
              </a:spcAft>
              <a:buClr>
                <a:srgbClr val="000000"/>
              </a:buClr>
              <a:buSzPts val="1100"/>
              <a:buFont typeface="Arial" panose="020B0604020202090204"/>
              <a:buChar char="-"/>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Split</a:t>
            </a:r>
            <a:r>
              <a:rPr lang="zh-CN" sz="1100" b="0" i="0" u="none" strike="noStrike" cap="none">
                <a:solidFill>
                  <a:srgbClr val="383A42"/>
                </a:solidFill>
                <a:latin typeface="Arial" panose="020B0604020202090204"/>
                <a:ea typeface="Arial" panose="020B0604020202090204"/>
                <a:cs typeface="Arial" panose="020B0604020202090204"/>
                <a:sym typeface="Arial" panose="020B0604020202090204"/>
              </a:rPr>
              <a:t>:</a:t>
            </a: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a:t>
            </a:r>
            <a:r>
              <a:rPr lang="zh-CN" sz="1100" b="0" i="0" u="none" strike="noStrike" cap="none">
                <a:solidFill>
                  <a:srgbClr val="B76B01"/>
                </a:solidFill>
                <a:latin typeface="Arial" panose="020B0604020202090204"/>
                <a:ea typeface="Arial" panose="020B0604020202090204"/>
                <a:cs typeface="Arial" panose="020B0604020202090204"/>
                <a:sym typeface="Arial" panose="020B0604020202090204"/>
              </a:rPr>
              <a:t>5.8</a:t>
            </a:r>
            <a:r>
              <a:rPr lang="zh-CN" sz="1100" b="0" i="0" u="none" strike="noStrike" cap="none">
                <a:solidFill>
                  <a:srgbClr val="4078F2"/>
                </a:solidFill>
                <a:latin typeface="Arial" panose="020B0604020202090204"/>
                <a:ea typeface="Arial" panose="020B0604020202090204"/>
                <a:cs typeface="Arial" panose="020B0604020202090204"/>
                <a:sym typeface="Arial" panose="020B0604020202090204"/>
              </a:rPr>
              <a:t>%</a:t>
            </a: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vulnerable</a:t>
            </a:r>
            <a:r>
              <a:rPr lang="zh-CN" sz="1100" b="0" i="0" u="none" strike="noStrike" cap="none">
                <a:solidFill>
                  <a:srgbClr val="383A42"/>
                </a:solidFill>
                <a:latin typeface="Arial" panose="020B0604020202090204"/>
                <a:ea typeface="Arial" panose="020B0604020202090204"/>
                <a:cs typeface="Arial" panose="020B0604020202090204"/>
                <a:sym typeface="Arial" panose="020B0604020202090204"/>
              </a:rPr>
              <a:t>,</a:t>
            </a: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a:t>
            </a:r>
            <a:r>
              <a:rPr lang="zh-CN" sz="1100" b="0" i="0" u="none" strike="noStrike" cap="none">
                <a:solidFill>
                  <a:srgbClr val="B76B01"/>
                </a:solidFill>
                <a:latin typeface="Arial" panose="020B0604020202090204"/>
                <a:ea typeface="Arial" panose="020B0604020202090204"/>
                <a:cs typeface="Arial" panose="020B0604020202090204"/>
                <a:sym typeface="Arial" panose="020B0604020202090204"/>
              </a:rPr>
              <a:t>94.2</a:t>
            </a:r>
            <a:r>
              <a:rPr lang="zh-CN" sz="1100" b="0" i="0" u="none" strike="noStrike" cap="none">
                <a:solidFill>
                  <a:srgbClr val="4078F2"/>
                </a:solidFill>
                <a:latin typeface="Arial" panose="020B0604020202090204"/>
                <a:ea typeface="Arial" panose="020B0604020202090204"/>
                <a:cs typeface="Arial" panose="020B0604020202090204"/>
                <a:sym typeface="Arial" panose="020B0604020202090204"/>
              </a:rPr>
              <a:t>%</a:t>
            </a: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safe</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graphicFrame>
        <p:nvGraphicFramePr>
          <p:cNvPr id="402" name="Google Shape;402;g396d4a5dad6_5_202"/>
          <p:cNvGraphicFramePr/>
          <p:nvPr/>
        </p:nvGraphicFramePr>
        <p:xfrm>
          <a:off x="369893" y="2687662"/>
          <a:ext cx="8557700" cy="3000000"/>
        </p:xfrm>
        <a:graphic>
          <a:graphicData uri="http://schemas.openxmlformats.org/drawingml/2006/table">
            <a:tbl>
              <a:tblPr>
                <a:noFill/>
                <a:tableStyleId>{F368FC2B-AFB1-4F07-8A4D-405918A23FD0}</a:tableStyleId>
              </a:tblPr>
              <a:tblGrid>
                <a:gridCol w="1018650"/>
                <a:gridCol w="1454075"/>
                <a:gridCol w="2899100"/>
                <a:gridCol w="1756075"/>
                <a:gridCol w="1429800"/>
              </a:tblGrid>
              <a:tr h="133350">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b="1" u="none" strike="noStrike" cap="none"/>
                        <a:t>Term</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b="1" u="none" strike="noStrike" cap="none"/>
                        <a:t>Meaning (Chinese)</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b="1" u="none" strike="noStrike" cap="none"/>
                        <a:t>What It Is</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b="1" u="none" strike="noStrike" cap="none"/>
                        <a:t>Example</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b="1" u="none" strike="noStrike" cap="none"/>
                        <a:t>Purpose</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133350">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b="1" u="none" strike="noStrike" cap="none"/>
                        <a:t>CVE ID</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u="none" strike="noStrike" cap="none"/>
                        <a:t>Vulnerability Identifier</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u="none" strike="noStrike" cap="none"/>
                        <a:t>A unique identifier for a specific vulnerability</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u="none" strike="noStrike" cap="none"/>
                        <a:t>CVE-2014-0160</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u="none" strike="noStrike" cap="none"/>
                        <a:t>Track and reference a specific vulnerability</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133350">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b="1" u="none" strike="noStrike" cap="none"/>
                        <a:t>CWE ID</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u="none" strike="noStrike" cap="none"/>
                        <a:t>Vulnerability Type</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u="none" strike="noStrike" cap="none"/>
                        <a:t>A classification of vulnerability types</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u="none" strike="noStrike" cap="none"/>
                        <a:t>CWE-119 (Buffer Overflow)</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u="none" strike="noStrike" cap="none"/>
                        <a:t>Identify the category of a vulnerability</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133350">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b="1" u="none" strike="noStrike" cap="none"/>
                        <a:t>CVSS Score</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u="none" strike="noStrike" cap="none"/>
                        <a:t>Severity Score</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u="none" strike="noStrike" cap="none"/>
                        <a:t>A numerical score (0–10) indicating severity</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u="none" strike="noStrike" cap="none"/>
                        <a:t>9.8 (Critical)</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u="none" strike="noStrike" cap="none"/>
                        <a:t>Prioritize vulnerability remediation</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133350">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b="1" u="none" strike="noStrike" cap="none"/>
                        <a:t>Commit Info</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u="none" strike="noStrike" cap="none"/>
                        <a:t>Commit Information</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u="none" strike="noStrike" cap="none"/>
                        <a:t>Git commit record that fixes the vulnerability</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u="none" strike="noStrike" cap="none"/>
                        <a:t>a3f5c8d…</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u="none" strike="noStrike" cap="none"/>
                        <a:t>Trace code changes across versions</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88600">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b="1" u="none" strike="noStrike" cap="none"/>
                        <a:t>Patch Details</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u="none" strike="noStrike" cap="none"/>
                        <a:t>Patch Details</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u="none" strike="noStrike" cap="none"/>
                        <a:t>Specific code modifications in the fix</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u="none" strike="noStrike" cap="none"/>
                        <a:t>strcpy → strncpy</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000" u="none" strike="noStrike" cap="none"/>
                        <a:t>Understand how the vulnerability was fixed</a:t>
                      </a:r>
                      <a:endParaRPr sz="1000" u="none" strike="noStrike" cap="none"/>
                    </a:p>
                  </a:txBody>
                  <a:tcPr marL="6860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407" name="Shape 407"/>
        <p:cNvGrpSpPr/>
        <p:nvPr/>
      </p:nvGrpSpPr>
      <p:grpSpPr>
        <a:xfrm>
          <a:off x="0" y="0"/>
          <a:ext cx="0" cy="0"/>
          <a:chOff x="0" y="0"/>
          <a:chExt cx="0" cy="0"/>
        </a:xfrm>
      </p:grpSpPr>
      <p:sp>
        <p:nvSpPr>
          <p:cNvPr id="408" name="Google Shape;408;g396d4a5dad6_5_211"/>
          <p:cNvSpPr txBox="1"/>
          <p:nvPr>
            <p:ph type="sldNum" idx="12"/>
          </p:nvPr>
        </p:nvSpPr>
        <p:spPr>
          <a:xfrm>
            <a:off x="1" y="4790748"/>
            <a:ext cx="457200" cy="2955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sp>
        <p:nvSpPr>
          <p:cNvPr id="409" name="Google Shape;409;g396d4a5dad6_5_211"/>
          <p:cNvSpPr txBox="1"/>
          <p:nvPr>
            <p:ph type="title"/>
          </p:nvPr>
        </p:nvSpPr>
        <p:spPr>
          <a:xfrm>
            <a:off x="457200" y="263525"/>
            <a:ext cx="8229600" cy="600000"/>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t>Code Representation</a:t>
            </a:r>
            <a:endParaRPr lang="zh-CN"/>
          </a:p>
        </p:txBody>
      </p:sp>
      <p:sp>
        <p:nvSpPr>
          <p:cNvPr id="410" name="Google Shape;410;g396d4a5dad6_5_211"/>
          <p:cNvSpPr txBox="1"/>
          <p:nvPr/>
        </p:nvSpPr>
        <p:spPr>
          <a:xfrm>
            <a:off x="457200" y="1095703"/>
            <a:ext cx="5416200" cy="3000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rgbClr val="000000"/>
              </a:buClr>
              <a:buSzPts val="1500"/>
              <a:buFont typeface="Arial" panose="020B0604020202090204"/>
              <a:buNone/>
            </a:pPr>
            <a:r>
              <a:rPr lang="zh-CN" sz="1500" b="1" i="0" u="none" strike="noStrike" cap="none">
                <a:solidFill>
                  <a:srgbClr val="000000"/>
                </a:solidFill>
                <a:latin typeface="Arial" panose="020B0604020202090204"/>
                <a:ea typeface="Arial" panose="020B0604020202090204"/>
                <a:cs typeface="Arial" panose="020B0604020202090204"/>
                <a:sym typeface="Arial" panose="020B0604020202090204"/>
              </a:rPr>
              <a:t>How Is Code Converted into AI Input?</a:t>
            </a:r>
            <a:endParaRPr sz="1500" b="1"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411" name="Google Shape;411;g396d4a5dad6_5_211"/>
          <p:cNvSpPr txBox="1"/>
          <p:nvPr/>
        </p:nvSpPr>
        <p:spPr>
          <a:xfrm>
            <a:off x="544463" y="1486738"/>
            <a:ext cx="6381000" cy="8619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None/>
            </a:pPr>
            <a:r>
              <a:rPr lang="zh-CN" sz="1400" b="1" i="0" u="none" strike="noStrike" cap="none">
                <a:solidFill>
                  <a:srgbClr val="000000"/>
                </a:solidFill>
              </a:rPr>
              <a:t>1. Tokenization </a:t>
            </a:r>
            <a:endParaRPr sz="1400" b="1" i="0" u="none" strike="noStrike" cap="none">
              <a:solidFill>
                <a:srgbClr val="000000"/>
              </a:solidFill>
            </a:endParaRPr>
          </a:p>
          <a:p>
            <a:pPr marL="0" marR="0" lvl="0" indent="0" algn="l" rtl="0">
              <a:lnSpc>
                <a:spcPct val="150000"/>
              </a:lnSpc>
              <a:spcBef>
                <a:spcPts val="0"/>
              </a:spcBef>
              <a:spcAft>
                <a:spcPts val="0"/>
              </a:spcAft>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 Use C</a:t>
            </a:r>
            <a:r>
              <a:rPr lang="zh-CN" sz="1100"/>
              <a:t>-</a:t>
            </a: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Lexer to parse C code into tokens</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50000"/>
              </a:lnSpc>
              <a:spcBef>
                <a:spcPts val="0"/>
              </a:spcBef>
              <a:spcAft>
                <a:spcPts val="0"/>
              </a:spcAft>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 Remove comments &amp; string literals</a:t>
            </a:r>
            <a:r>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t>   </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412" name="Google Shape;412;g396d4a5dad6_5_211"/>
          <p:cNvSpPr txBox="1"/>
          <p:nvPr/>
        </p:nvSpPr>
        <p:spPr>
          <a:xfrm>
            <a:off x="4999129" y="1410647"/>
            <a:ext cx="4575600" cy="10698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rgbClr val="000000"/>
              </a:buClr>
              <a:buSzPts val="1400"/>
              <a:buFont typeface="Arial" panose="020B0604020202090204"/>
              <a:buNone/>
            </a:pPr>
            <a:r>
              <a:rPr lang="zh-CN" sz="1400" b="1" i="0" u="none" strike="noStrike" cap="none">
                <a:solidFill>
                  <a:srgbClr val="000000"/>
                </a:solidFill>
              </a:rPr>
              <a:t>3. Sequence Encoding </a:t>
            </a:r>
            <a:endParaRPr sz="1400" b="1" i="0" u="none" strike="noStrike" cap="none">
              <a:solidFill>
                <a:srgbClr val="000000"/>
              </a:solidFill>
            </a:endParaRPr>
          </a:p>
          <a:p>
            <a:pPr marL="0" marR="0" lvl="0" indent="0" algn="l" rtl="0">
              <a:lnSpc>
                <a:spcPct val="150000"/>
              </a:lnSpc>
              <a:spcBef>
                <a:spcPts val="0"/>
              </a:spcBef>
              <a:spcAft>
                <a:spcPts val="0"/>
              </a:spcAft>
              <a:buClr>
                <a:srgbClr val="000000"/>
              </a:buClr>
              <a:buSzPts val="14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 Token → Integer IDs</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50000"/>
              </a:lnSpc>
              <a:spcBef>
                <a:spcPts val="0"/>
              </a:spcBef>
              <a:spcAft>
                <a:spcPts val="0"/>
              </a:spcAft>
              <a:buClr>
                <a:srgbClr val="000000"/>
              </a:buClr>
              <a:buSzPts val="14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 Fixed length: 300 (padding/truncating)</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50000"/>
              </a:lnSpc>
              <a:spcBef>
                <a:spcPts val="0"/>
              </a:spcBef>
              <a:spcAft>
                <a:spcPts val="0"/>
              </a:spcAft>
              <a:buClr>
                <a:srgbClr val="000000"/>
              </a:buClr>
              <a:buSzPts val="14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 Embedding: ID → 128-dim dense vectors</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413" name="Google Shape;413;g396d4a5dad6_5_211"/>
          <p:cNvSpPr txBox="1"/>
          <p:nvPr/>
        </p:nvSpPr>
        <p:spPr>
          <a:xfrm>
            <a:off x="4999133" y="2768209"/>
            <a:ext cx="4788300" cy="8388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400"/>
              <a:buFont typeface="Arial" panose="020B0604020202090204"/>
              <a:buNone/>
            </a:pPr>
            <a:r>
              <a:rPr lang="zh-CN" sz="1400" b="1" i="0" u="none" strike="noStrike" cap="none">
                <a:solidFill>
                  <a:srgbClr val="000000"/>
                </a:solidFill>
              </a:rPr>
              <a:t>4. Representation Level</a:t>
            </a:r>
            <a:endParaRPr b="1"/>
          </a:p>
          <a:p>
            <a:pPr marL="0" marR="0" lvl="0" indent="0" algn="l" rtl="0">
              <a:lnSpc>
                <a:spcPct val="150000"/>
              </a:lnSpc>
              <a:spcBef>
                <a:spcPts val="0"/>
              </a:spcBef>
              <a:spcAft>
                <a:spcPts val="0"/>
              </a:spcAft>
              <a:buClr>
                <a:srgbClr val="000000"/>
              </a:buClr>
              <a:buSzPts val="14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 Function-level granularity</a:t>
            </a:r>
            <a:endParaRPr sz="1100"/>
          </a:p>
          <a:p>
            <a:pPr marL="0" marR="0" lvl="0" indent="0" algn="l" rtl="0">
              <a:lnSpc>
                <a:spcPct val="150000"/>
              </a:lnSpc>
              <a:spcBef>
                <a:spcPts val="0"/>
              </a:spcBef>
              <a:spcAft>
                <a:spcPts val="0"/>
              </a:spcAft>
              <a:buClr>
                <a:srgbClr val="000000"/>
              </a:buClr>
              <a:buSzPts val="14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 Sequential structure preserved</a:t>
            </a:r>
            <a:endParaRPr sz="1100"/>
          </a:p>
        </p:txBody>
      </p:sp>
      <p:sp>
        <p:nvSpPr>
          <p:cNvPr id="414" name="Google Shape;414;g396d4a5dad6_5_211"/>
          <p:cNvSpPr txBox="1"/>
          <p:nvPr/>
        </p:nvSpPr>
        <p:spPr>
          <a:xfrm>
            <a:off x="544475" y="2722000"/>
            <a:ext cx="3891900" cy="931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zh-CN" b="1">
                <a:solidFill>
                  <a:schemeClr val="dk1"/>
                </a:solidFill>
              </a:rPr>
              <a:t>2. Vocabulary Building </a:t>
            </a:r>
            <a:endParaRPr b="1">
              <a:solidFill>
                <a:schemeClr val="dk1"/>
              </a:solidFill>
            </a:endParaRPr>
          </a:p>
          <a:p>
            <a:pPr marL="0" lvl="0" indent="0" algn="l" rtl="0">
              <a:lnSpc>
                <a:spcPct val="150000"/>
              </a:lnSpc>
              <a:spcBef>
                <a:spcPts val="0"/>
              </a:spcBef>
              <a:spcAft>
                <a:spcPts val="0"/>
              </a:spcAft>
              <a:buNone/>
            </a:pPr>
            <a:r>
              <a:rPr lang="zh-CN" sz="1100">
                <a:solidFill>
                  <a:schemeClr val="dk1"/>
                </a:solidFill>
              </a:rPr>
              <a:t>  • </a:t>
            </a:r>
            <a:r>
              <a:rPr lang="zh-CN" sz="1100">
                <a:solidFill>
                  <a:schemeClr val="dk1"/>
                </a:solidFill>
              </a:rPr>
              <a:t>161,622 unique tokens</a:t>
            </a:r>
            <a:endParaRPr sz="1100">
              <a:solidFill>
                <a:schemeClr val="dk1"/>
              </a:solidFill>
            </a:endParaRPr>
          </a:p>
          <a:p>
            <a:pPr marL="0" lvl="0" indent="0" algn="l" rtl="0">
              <a:lnSpc>
                <a:spcPct val="150000"/>
              </a:lnSpc>
              <a:spcBef>
                <a:spcPts val="0"/>
              </a:spcBef>
              <a:spcAft>
                <a:spcPts val="0"/>
              </a:spcAft>
              <a:buNone/>
            </a:pPr>
            <a:r>
              <a:rPr lang="zh-CN" sz="1100">
                <a:solidFill>
                  <a:schemeClr val="dk1"/>
                </a:solidFill>
              </a:rPr>
              <a:t>  • </a:t>
            </a:r>
            <a:r>
              <a:rPr lang="zh-CN" sz="1100">
                <a:solidFill>
                  <a:schemeClr val="dk1"/>
                </a:solidFill>
              </a:rPr>
              <a:t>Filter low-frequency tokens (min_freq=5)</a:t>
            </a:r>
            <a:endParaRPr sz="1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419" name="Shape 419"/>
        <p:cNvGrpSpPr/>
        <p:nvPr/>
      </p:nvGrpSpPr>
      <p:grpSpPr>
        <a:xfrm>
          <a:off x="0" y="0"/>
          <a:ext cx="0" cy="0"/>
          <a:chOff x="0" y="0"/>
          <a:chExt cx="0" cy="0"/>
        </a:xfrm>
      </p:grpSpPr>
      <p:sp>
        <p:nvSpPr>
          <p:cNvPr id="420" name="Google Shape;420;g396d4a5dad6_5_221"/>
          <p:cNvSpPr txBox="1"/>
          <p:nvPr>
            <p:ph type="sldNum" idx="12"/>
          </p:nvPr>
        </p:nvSpPr>
        <p:spPr>
          <a:xfrm>
            <a:off x="1" y="4790748"/>
            <a:ext cx="457200" cy="2955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sp>
        <p:nvSpPr>
          <p:cNvPr id="421" name="Google Shape;421;g396d4a5dad6_5_221"/>
          <p:cNvSpPr txBox="1"/>
          <p:nvPr>
            <p:ph type="title"/>
          </p:nvPr>
        </p:nvSpPr>
        <p:spPr>
          <a:xfrm>
            <a:off x="457200" y="263525"/>
            <a:ext cx="8229600" cy="600000"/>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t>Model Architecture</a:t>
            </a:r>
            <a:endParaRPr lang="zh-CN"/>
          </a:p>
        </p:txBody>
      </p:sp>
      <p:sp>
        <p:nvSpPr>
          <p:cNvPr id="422" name="Google Shape;422;g396d4a5dad6_5_221"/>
          <p:cNvSpPr txBox="1"/>
          <p:nvPr/>
        </p:nvSpPr>
        <p:spPr>
          <a:xfrm>
            <a:off x="563145" y="1325172"/>
            <a:ext cx="6591900" cy="14391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rgbClr val="000000"/>
              </a:buClr>
              <a:buSzPts val="1400"/>
              <a:buFont typeface="Arial" panose="020B0604020202090204"/>
              <a:buNone/>
            </a:pPr>
            <a:r>
              <a:rPr lang="zh-CN" sz="1400" b="1" i="0" u="none" strike="noStrike" cap="none">
                <a:solidFill>
                  <a:srgbClr val="000000"/>
                </a:solidFill>
              </a:rPr>
              <a:t>1. Why Sequence Models?</a:t>
            </a:r>
            <a:endParaRPr sz="1400" b="1" i="0" u="none" strike="noStrike" cap="none">
              <a:solidFill>
                <a:srgbClr val="000000"/>
              </a:solidFill>
            </a:endParaRPr>
          </a:p>
          <a:p>
            <a:pPr marL="0" marR="0" lvl="0" indent="0" algn="l" rtl="0">
              <a:lnSpc>
                <a:spcPct val="150000"/>
              </a:lnSpc>
              <a:spcBef>
                <a:spcPts val="0"/>
              </a:spcBef>
              <a:spcAft>
                <a:spcPts val="0"/>
              </a:spcAft>
              <a:buClr>
                <a:srgbClr val="000000"/>
              </a:buClr>
              <a:buSzPts val="1400"/>
              <a:buFont typeface="Arial" panose="020B0604020202090204"/>
              <a:buNone/>
            </a:pPr>
            <a:r>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t> </a:t>
            </a: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 Code has syntactic order (like natural language)</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50000"/>
              </a:lnSpc>
              <a:spcBef>
                <a:spcPts val="0"/>
              </a:spcBef>
              <a:spcAft>
                <a:spcPts val="0"/>
              </a:spcAft>
              <a:buClr>
                <a:srgbClr val="000000"/>
              </a:buClr>
              <a:buSzPts val="14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 Dependencies between statements</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50000"/>
              </a:lnSpc>
              <a:spcBef>
                <a:spcPts val="0"/>
              </a:spcBef>
              <a:spcAft>
                <a:spcPts val="0"/>
              </a:spcAft>
              <a:buClr>
                <a:srgbClr val="000000"/>
              </a:buClr>
              <a:buSzPts val="14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 Vulnerability patterns span multiple lines</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50000"/>
              </a:lnSpc>
              <a:spcBef>
                <a:spcPts val="0"/>
              </a:spcBef>
              <a:spcAft>
                <a:spcPts val="0"/>
              </a:spcAft>
              <a:buClr>
                <a:srgbClr val="000000"/>
              </a:buClr>
              <a:buSzPts val="1400"/>
              <a:buFont typeface="Arial" panose="020B0604020202090204"/>
              <a:buNone/>
            </a:pP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423" name="Google Shape;423;g396d4a5dad6_5_221"/>
          <p:cNvSpPr txBox="1"/>
          <p:nvPr/>
        </p:nvSpPr>
        <p:spPr>
          <a:xfrm>
            <a:off x="4769780" y="1306004"/>
            <a:ext cx="4575600" cy="13698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rgbClr val="000000"/>
              </a:buClr>
              <a:buSzPts val="1400"/>
              <a:buFont typeface="Arial" panose="020B0604020202090204"/>
              <a:buNone/>
            </a:pPr>
            <a:r>
              <a:rPr lang="zh-CN" sz="1400" b="1" i="0" u="none" strike="noStrike" cap="none">
                <a:solidFill>
                  <a:srgbClr val="000000"/>
                </a:solidFill>
              </a:rPr>
              <a:t>3. Why Attention? ⭐ </a:t>
            </a:r>
            <a:endParaRPr sz="1400" b="1" i="0" u="none" strike="noStrike" cap="none">
              <a:solidFill>
                <a:srgbClr val="000000"/>
              </a:solidFill>
            </a:endParaRPr>
          </a:p>
          <a:p>
            <a:pPr marL="0" marR="0" lvl="0" indent="0" algn="l" rtl="0">
              <a:lnSpc>
                <a:spcPct val="150000"/>
              </a:lnSpc>
              <a:spcBef>
                <a:spcPts val="0"/>
              </a:spcBef>
              <a:spcAft>
                <a:spcPts val="0"/>
              </a:spcAft>
              <a:buClr>
                <a:srgbClr val="000000"/>
              </a:buClr>
              <a:buSzPts val="14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 Not all code tokens are equally important</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50000"/>
              </a:lnSpc>
              <a:spcBef>
                <a:spcPts val="0"/>
              </a:spcBef>
              <a:spcAft>
                <a:spcPts val="0"/>
              </a:spcAft>
              <a:buClr>
                <a:srgbClr val="000000"/>
              </a:buClr>
              <a:buSzPts val="14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 Focus on vulnerability-critical patterns</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50000"/>
              </a:lnSpc>
              <a:spcBef>
                <a:spcPts val="0"/>
              </a:spcBef>
              <a:spcAft>
                <a:spcPts val="0"/>
              </a:spcAft>
              <a:buClr>
                <a:srgbClr val="000000"/>
              </a:buClr>
              <a:buSzPts val="14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 Automatically weight relevant tokens</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50000"/>
              </a:lnSpc>
              <a:spcBef>
                <a:spcPts val="0"/>
              </a:spcBef>
              <a:spcAft>
                <a:spcPts val="0"/>
              </a:spcAft>
              <a:buClr>
                <a:srgbClr val="000000"/>
              </a:buClr>
              <a:buSzPts val="1400"/>
              <a:buFont typeface="Arial" panose="020B0604020202090204"/>
              <a:buNone/>
            </a:pP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424" name="Google Shape;424;g396d4a5dad6_5_221"/>
          <p:cNvSpPr txBox="1"/>
          <p:nvPr/>
        </p:nvSpPr>
        <p:spPr>
          <a:xfrm>
            <a:off x="4769775" y="2868225"/>
            <a:ext cx="4331400" cy="11853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zh-CN" b="1">
                <a:solidFill>
                  <a:schemeClr val="dk1"/>
                </a:solidFill>
              </a:rPr>
              <a:t>4. NLP Analogy</a:t>
            </a:r>
            <a:endParaRPr b="1">
              <a:solidFill>
                <a:schemeClr val="dk1"/>
              </a:solidFill>
            </a:endParaRPr>
          </a:p>
          <a:p>
            <a:pPr marL="0" lvl="0" indent="0" algn="l" rtl="0">
              <a:lnSpc>
                <a:spcPct val="150000"/>
              </a:lnSpc>
              <a:spcBef>
                <a:spcPts val="0"/>
              </a:spcBef>
              <a:spcAft>
                <a:spcPts val="0"/>
              </a:spcAft>
              <a:buNone/>
            </a:pPr>
            <a:r>
              <a:rPr lang="zh-CN" sz="1100">
                <a:solidFill>
                  <a:schemeClr val="dk1"/>
                </a:solidFill>
              </a:rPr>
              <a:t>   • Code = Structured language</a:t>
            </a:r>
            <a:endParaRPr sz="1100">
              <a:solidFill>
                <a:schemeClr val="dk1"/>
              </a:solidFill>
            </a:endParaRPr>
          </a:p>
          <a:p>
            <a:pPr marL="0" lvl="0" indent="0" algn="l" rtl="0">
              <a:lnSpc>
                <a:spcPct val="150000"/>
              </a:lnSpc>
              <a:spcBef>
                <a:spcPts val="0"/>
              </a:spcBef>
              <a:spcAft>
                <a:spcPts val="0"/>
              </a:spcAft>
              <a:buNone/>
            </a:pPr>
            <a:r>
              <a:rPr lang="zh-CN" sz="1100">
                <a:solidFill>
                  <a:schemeClr val="dk1"/>
                </a:solidFill>
              </a:rPr>
              <a:t>   • Tokens = Words</a:t>
            </a:r>
            <a:endParaRPr sz="1100">
              <a:solidFill>
                <a:schemeClr val="dk1"/>
              </a:solidFill>
            </a:endParaRPr>
          </a:p>
          <a:p>
            <a:pPr marL="0" lvl="0" indent="0" algn="l" rtl="0">
              <a:lnSpc>
                <a:spcPct val="150000"/>
              </a:lnSpc>
              <a:spcBef>
                <a:spcPts val="0"/>
              </a:spcBef>
              <a:spcAft>
                <a:spcPts val="0"/>
              </a:spcAft>
              <a:buNone/>
            </a:pPr>
            <a:r>
              <a:rPr lang="zh-CN" sz="1100">
                <a:solidFill>
                  <a:schemeClr val="dk1"/>
                </a:solidFill>
              </a:rPr>
              <a:t>   • Functions = Sentences/Paragraphs</a:t>
            </a:r>
            <a:endParaRPr sz="1100"/>
          </a:p>
        </p:txBody>
      </p:sp>
      <p:sp>
        <p:nvSpPr>
          <p:cNvPr id="425" name="Google Shape;425;g396d4a5dad6_5_221"/>
          <p:cNvSpPr txBox="1"/>
          <p:nvPr/>
        </p:nvSpPr>
        <p:spPr>
          <a:xfrm>
            <a:off x="563150" y="2833575"/>
            <a:ext cx="5538300" cy="12546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zh-CN" b="1">
                <a:solidFill>
                  <a:schemeClr val="dk1"/>
                </a:solidFill>
              </a:rPr>
              <a:t>2. Why Bi-LSTM?</a:t>
            </a:r>
            <a:endParaRPr b="1">
              <a:solidFill>
                <a:schemeClr val="dk1"/>
              </a:solidFill>
            </a:endParaRPr>
          </a:p>
          <a:p>
            <a:pPr marL="0" lvl="0" indent="0" algn="l" rtl="0">
              <a:lnSpc>
                <a:spcPct val="150000"/>
              </a:lnSpc>
              <a:spcBef>
                <a:spcPts val="0"/>
              </a:spcBef>
              <a:spcAft>
                <a:spcPts val="0"/>
              </a:spcAft>
              <a:buNone/>
            </a:pPr>
            <a:r>
              <a:rPr lang="zh-CN">
                <a:solidFill>
                  <a:schemeClr val="dk1"/>
                </a:solidFill>
              </a:rPr>
              <a:t> </a:t>
            </a:r>
            <a:r>
              <a:rPr lang="zh-CN" sz="1100">
                <a:solidFill>
                  <a:schemeClr val="dk1"/>
                </a:solidFill>
              </a:rPr>
              <a:t>  • Forward pass: understand what comes before</a:t>
            </a:r>
            <a:endParaRPr sz="1100">
              <a:solidFill>
                <a:schemeClr val="dk1"/>
              </a:solidFill>
            </a:endParaRPr>
          </a:p>
          <a:p>
            <a:pPr marL="0" lvl="0" indent="0" algn="l" rtl="0">
              <a:lnSpc>
                <a:spcPct val="150000"/>
              </a:lnSpc>
              <a:spcBef>
                <a:spcPts val="0"/>
              </a:spcBef>
              <a:spcAft>
                <a:spcPts val="0"/>
              </a:spcAft>
              <a:buNone/>
            </a:pPr>
            <a:r>
              <a:rPr lang="zh-CN" sz="1100">
                <a:solidFill>
                  <a:schemeClr val="dk1"/>
                </a:solidFill>
              </a:rPr>
              <a:t>   • Backward pass: understand what comes after</a:t>
            </a:r>
            <a:endParaRPr sz="1100">
              <a:solidFill>
                <a:schemeClr val="dk1"/>
              </a:solidFill>
            </a:endParaRPr>
          </a:p>
          <a:p>
            <a:pPr marL="0" lvl="0" indent="0" algn="l" rtl="0">
              <a:lnSpc>
                <a:spcPct val="150000"/>
              </a:lnSpc>
              <a:spcBef>
                <a:spcPts val="0"/>
              </a:spcBef>
              <a:spcAft>
                <a:spcPts val="0"/>
              </a:spcAft>
              <a:buNone/>
            </a:pPr>
            <a:r>
              <a:rPr lang="zh-CN" sz="1100">
                <a:solidFill>
                  <a:schemeClr val="dk1"/>
                </a:solidFill>
              </a:rPr>
              <a:t>   • Example: Variable usage requires definition &amp; usage context</a:t>
            </a:r>
            <a:endParaRPr sz="1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430" name="Shape 430"/>
        <p:cNvGrpSpPr/>
        <p:nvPr/>
      </p:nvGrpSpPr>
      <p:grpSpPr>
        <a:xfrm>
          <a:off x="0" y="0"/>
          <a:ext cx="0" cy="0"/>
          <a:chOff x="0" y="0"/>
          <a:chExt cx="0" cy="0"/>
        </a:xfrm>
      </p:grpSpPr>
      <p:sp>
        <p:nvSpPr>
          <p:cNvPr id="431" name="Google Shape;431;g396d4a5dad6_5_230"/>
          <p:cNvSpPr txBox="1"/>
          <p:nvPr>
            <p:ph type="sldNum" idx="12"/>
          </p:nvPr>
        </p:nvSpPr>
        <p:spPr>
          <a:xfrm>
            <a:off x="1" y="4790748"/>
            <a:ext cx="457200" cy="2955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sp>
        <p:nvSpPr>
          <p:cNvPr id="432" name="Google Shape;432;g396d4a5dad6_5_230"/>
          <p:cNvSpPr txBox="1"/>
          <p:nvPr>
            <p:ph type="title"/>
          </p:nvPr>
        </p:nvSpPr>
        <p:spPr>
          <a:xfrm>
            <a:off x="457200" y="263525"/>
            <a:ext cx="8229600" cy="600000"/>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t>Hands-on Task</a:t>
            </a:r>
            <a:endParaRPr lang="zh-CN"/>
          </a:p>
        </p:txBody>
      </p:sp>
      <p:sp>
        <p:nvSpPr>
          <p:cNvPr id="433" name="Google Shape;433;g396d4a5dad6_5_230"/>
          <p:cNvSpPr txBox="1"/>
          <p:nvPr/>
        </p:nvSpPr>
        <p:spPr>
          <a:xfrm>
            <a:off x="457200" y="1003225"/>
            <a:ext cx="4575600" cy="12546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rgbClr val="000000"/>
              </a:buClr>
              <a:buSzPts val="1400"/>
              <a:buFont typeface="Arial" panose="020B0604020202090204"/>
              <a:buNone/>
            </a:pPr>
            <a:r>
              <a:rPr lang="zh-CN" sz="1400" b="1" i="0" u="none" strike="noStrike" cap="none">
                <a:solidFill>
                  <a:srgbClr val="000000"/>
                </a:solidFill>
                <a:latin typeface="Arial" panose="020B0604020202090204"/>
                <a:ea typeface="Arial" panose="020B0604020202090204"/>
                <a:cs typeface="Arial" panose="020B0604020202090204"/>
                <a:sym typeface="Arial" panose="020B0604020202090204"/>
              </a:rPr>
              <a:t>Task 1: Explore the Dataset</a:t>
            </a:r>
            <a:endParaRPr sz="1400" b="1"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50000"/>
              </a:lnSpc>
              <a:spcBef>
                <a:spcPts val="0"/>
              </a:spcBef>
              <a:spcAft>
                <a:spcPts val="0"/>
              </a:spcAft>
              <a:buClr>
                <a:srgbClr val="000000"/>
              </a:buClr>
              <a:buSzPts val="1400"/>
              <a:buFont typeface="Arial" panose="020B0604020202090204"/>
              <a:buNone/>
            </a:pPr>
            <a:r>
              <a:rPr lang="zh-CN" sz="1400" b="1" i="0" u="none" strike="noStrike" cap="none">
                <a:solidFill>
                  <a:srgbClr val="000000"/>
                </a:solidFill>
                <a:latin typeface="Arial" panose="020B0604020202090204"/>
                <a:ea typeface="Arial" panose="020B0604020202090204"/>
                <a:cs typeface="Arial" panose="020B0604020202090204"/>
                <a:sym typeface="Arial" panose="020B0604020202090204"/>
              </a:rPr>
              <a:t>Task 2: Train the Model</a:t>
            </a:r>
            <a:endParaRPr sz="1400" b="1"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50000"/>
              </a:lnSpc>
              <a:spcBef>
                <a:spcPts val="0"/>
              </a:spcBef>
              <a:spcAft>
                <a:spcPts val="0"/>
              </a:spcAft>
              <a:buClr>
                <a:srgbClr val="000000"/>
              </a:buClr>
              <a:buSzPts val="1400"/>
              <a:buFont typeface="Arial" panose="020B0604020202090204"/>
              <a:buNone/>
            </a:pPr>
            <a:r>
              <a:rPr lang="zh-CN" sz="1400" b="1" i="0" u="none" strike="noStrike" cap="none">
                <a:solidFill>
                  <a:srgbClr val="000000"/>
                </a:solidFill>
                <a:latin typeface="Arial" panose="020B0604020202090204"/>
                <a:ea typeface="Arial" panose="020B0604020202090204"/>
                <a:cs typeface="Arial" panose="020B0604020202090204"/>
                <a:sym typeface="Arial" panose="020B0604020202090204"/>
              </a:rPr>
              <a:t>Task 3: Make Predictions</a:t>
            </a:r>
            <a:endParaRPr sz="1400" b="1"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50000"/>
              </a:lnSpc>
              <a:spcBef>
                <a:spcPts val="0"/>
              </a:spcBef>
              <a:spcAft>
                <a:spcPts val="0"/>
              </a:spcAft>
              <a:buClr>
                <a:srgbClr val="000000"/>
              </a:buClr>
              <a:buSzPts val="1400"/>
              <a:buFont typeface="Arial" panose="020B0604020202090204"/>
              <a:buNone/>
            </a:pPr>
            <a:endParaRPr sz="1400" b="1"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434" name="Google Shape;434;g396d4a5dad6_5_230"/>
          <p:cNvSpPr txBox="1"/>
          <p:nvPr/>
        </p:nvSpPr>
        <p:spPr>
          <a:xfrm>
            <a:off x="457200" y="2267500"/>
            <a:ext cx="4575600" cy="12546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rgbClr val="000000"/>
              </a:buClr>
              <a:buSzPts val="1400"/>
              <a:buFont typeface="Arial" panose="020B0604020202090204"/>
              <a:buNone/>
            </a:pPr>
            <a:r>
              <a:rPr lang="zh-CN" sz="1400" b="1" i="0" u="none" strike="noStrike" cap="none">
                <a:solidFill>
                  <a:srgbClr val="000000"/>
                </a:solidFill>
                <a:latin typeface="Arial" panose="020B0604020202090204"/>
                <a:ea typeface="Arial" panose="020B0604020202090204"/>
                <a:cs typeface="Arial" panose="020B0604020202090204"/>
                <a:sym typeface="Arial" panose="020B0604020202090204"/>
              </a:rPr>
              <a:t>Task 1: Explore the Dataset</a:t>
            </a:r>
            <a:endParaRPr sz="1400" b="1"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215900" marR="0" lvl="0" indent="-215900" algn="l" rtl="0">
              <a:lnSpc>
                <a:spcPct val="150000"/>
              </a:lnSpc>
              <a:spcBef>
                <a:spcPts val="0"/>
              </a:spcBef>
              <a:spcAft>
                <a:spcPts val="0"/>
              </a:spcAft>
              <a:buClr>
                <a:srgbClr val="000000"/>
              </a:buClr>
              <a:buSzPts val="1400"/>
              <a:buFont typeface="Arial" panose="020B0604020202090204"/>
              <a:buChar char="•"/>
            </a:pPr>
            <a:r>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t>Inspect input features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215900" marR="0" lvl="0" indent="-215900" algn="l" rtl="0">
              <a:lnSpc>
                <a:spcPct val="150000"/>
              </a:lnSpc>
              <a:spcBef>
                <a:spcPts val="0"/>
              </a:spcBef>
              <a:spcAft>
                <a:spcPts val="0"/>
              </a:spcAft>
              <a:buClr>
                <a:srgbClr val="000000"/>
              </a:buClr>
              <a:buSzPts val="1400"/>
              <a:buFont typeface="Arial" panose="020B0604020202090204"/>
              <a:buChar char="•"/>
            </a:pPr>
            <a:r>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t>Understand labels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215900" marR="0" lvl="0" indent="-215900" algn="l" rtl="0">
              <a:lnSpc>
                <a:spcPct val="150000"/>
              </a:lnSpc>
              <a:spcBef>
                <a:spcPts val="0"/>
              </a:spcBef>
              <a:spcAft>
                <a:spcPts val="0"/>
              </a:spcAft>
              <a:buClr>
                <a:srgbClr val="000000"/>
              </a:buClr>
              <a:buSzPts val="1400"/>
              <a:buFont typeface="Arial" panose="020B0604020202090204"/>
              <a:buChar char="•"/>
            </a:pPr>
            <a:r>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t>Observe data imbalance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435" name="Google Shape;435;g396d4a5dad6_5_230"/>
          <p:cNvSpPr txBox="1"/>
          <p:nvPr/>
        </p:nvSpPr>
        <p:spPr>
          <a:xfrm>
            <a:off x="3333438" y="2267500"/>
            <a:ext cx="3097200" cy="12546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rgbClr val="000000"/>
              </a:buClr>
              <a:buSzPts val="1400"/>
              <a:buFont typeface="Arial" panose="020B0604020202090204"/>
              <a:buNone/>
            </a:pPr>
            <a:r>
              <a:rPr lang="zh-CN" sz="1400" b="1" i="0" u="none" strike="noStrike" cap="none">
                <a:solidFill>
                  <a:srgbClr val="000000"/>
                </a:solidFill>
                <a:latin typeface="Arial" panose="020B0604020202090204"/>
                <a:ea typeface="Arial" panose="020B0604020202090204"/>
                <a:cs typeface="Arial" panose="020B0604020202090204"/>
                <a:sym typeface="Arial" panose="020B0604020202090204"/>
              </a:rPr>
              <a:t>Task 2: Train the Model</a:t>
            </a:r>
            <a:endParaRPr sz="1400" b="1"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215900" marR="0" lvl="0" indent="-215900" algn="l" rtl="0">
              <a:lnSpc>
                <a:spcPct val="150000"/>
              </a:lnSpc>
              <a:spcBef>
                <a:spcPts val="0"/>
              </a:spcBef>
              <a:spcAft>
                <a:spcPts val="0"/>
              </a:spcAft>
              <a:buClr>
                <a:srgbClr val="000000"/>
              </a:buClr>
              <a:buSzPts val="1400"/>
              <a:buFont typeface="Arial" panose="020B0604020202090204"/>
              <a:buChar char="•"/>
            </a:pPr>
            <a:r>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t>Run training cells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215900" marR="0" lvl="0" indent="-215900" algn="l" rtl="0">
              <a:lnSpc>
                <a:spcPct val="150000"/>
              </a:lnSpc>
              <a:spcBef>
                <a:spcPts val="0"/>
              </a:spcBef>
              <a:spcAft>
                <a:spcPts val="0"/>
              </a:spcAft>
              <a:buClr>
                <a:srgbClr val="000000"/>
              </a:buClr>
              <a:buSzPts val="1400"/>
              <a:buFont typeface="Arial" panose="020B0604020202090204"/>
              <a:buChar char="•"/>
            </a:pPr>
            <a:r>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t>Observe loss and accuracy</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215900" marR="0" lvl="0" indent="-215900" algn="l" rtl="0">
              <a:lnSpc>
                <a:spcPct val="150000"/>
              </a:lnSpc>
              <a:spcBef>
                <a:spcPts val="0"/>
              </a:spcBef>
              <a:spcAft>
                <a:spcPts val="0"/>
              </a:spcAft>
              <a:buClr>
                <a:srgbClr val="000000"/>
              </a:buClr>
              <a:buSzPts val="1400"/>
              <a:buFont typeface="Arial" panose="020B0604020202090204"/>
              <a:buChar char="•"/>
            </a:pPr>
            <a:r>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t>Compare train vs validation</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436" name="Google Shape;436;g396d4a5dad6_5_230"/>
          <p:cNvSpPr txBox="1"/>
          <p:nvPr/>
        </p:nvSpPr>
        <p:spPr>
          <a:xfrm>
            <a:off x="6110364" y="2280497"/>
            <a:ext cx="4575600" cy="6081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rgbClr val="000000"/>
              </a:buClr>
              <a:buSzPts val="1400"/>
              <a:buFont typeface="Arial" panose="020B0604020202090204"/>
              <a:buNone/>
            </a:pPr>
            <a:r>
              <a:rPr lang="zh-CN" sz="1400" b="1" i="0" u="none" strike="noStrike" cap="none">
                <a:solidFill>
                  <a:srgbClr val="000000"/>
                </a:solidFill>
                <a:latin typeface="Arial" panose="020B0604020202090204"/>
                <a:ea typeface="Arial" panose="020B0604020202090204"/>
                <a:cs typeface="Arial" panose="020B0604020202090204"/>
                <a:sym typeface="Arial" panose="020B0604020202090204"/>
              </a:rPr>
              <a:t>Task 3: Make Predictions</a:t>
            </a:r>
            <a:endParaRPr sz="1400" b="1"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215900" marR="0" lvl="0" indent="-215900" algn="l" rtl="0">
              <a:lnSpc>
                <a:spcPct val="150000"/>
              </a:lnSpc>
              <a:spcBef>
                <a:spcPts val="0"/>
              </a:spcBef>
              <a:spcAft>
                <a:spcPts val="0"/>
              </a:spcAft>
              <a:buClr>
                <a:srgbClr val="000000"/>
              </a:buClr>
              <a:buSzPts val="1400"/>
              <a:buFont typeface="Arial" panose="020B0604020202090204"/>
              <a:buChar char="•"/>
            </a:pPr>
            <a:r>
              <a:rPr lang="zh-CN" sz="1400" b="0" i="0" u="none" strike="noStrike" cap="none">
                <a:solidFill>
                  <a:srgbClr val="000000"/>
                </a:solidFill>
                <a:latin typeface="Arial" panose="020B0604020202090204"/>
                <a:ea typeface="Arial" panose="020B0604020202090204"/>
                <a:cs typeface="Arial" panose="020B0604020202090204"/>
                <a:sym typeface="Arial" panose="020B0604020202090204"/>
              </a:rPr>
              <a:t>Test on unseen samples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440" name="Shape 440"/>
        <p:cNvGrpSpPr/>
        <p:nvPr/>
      </p:nvGrpSpPr>
      <p:grpSpPr>
        <a:xfrm>
          <a:off x="0" y="0"/>
          <a:ext cx="0" cy="0"/>
          <a:chOff x="0" y="0"/>
          <a:chExt cx="0" cy="0"/>
        </a:xfrm>
      </p:grpSpPr>
      <p:sp>
        <p:nvSpPr>
          <p:cNvPr id="441" name="Google Shape;441;p20"/>
          <p:cNvSpPr txBox="1"/>
          <p:nvPr>
            <p:ph type="ctrTitle"/>
          </p:nvPr>
        </p:nvSpPr>
        <p:spPr>
          <a:xfrm>
            <a:off x="457200" y="1972785"/>
            <a:ext cx="7479450" cy="2084938"/>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3000"/>
              <a:buFont typeface="Verdana" panose="020B0804030504040204"/>
              <a:buNone/>
            </a:pPr>
            <a:br>
              <a:rPr lang="zh-CN"/>
            </a:br>
            <a:br>
              <a:rPr lang="zh-CN"/>
            </a:br>
            <a:br>
              <a:rPr lang="zh-CN"/>
            </a:br>
            <a:br>
              <a:rPr lang="zh-CN"/>
            </a:br>
            <a:br>
              <a:rPr lang="zh-CN"/>
            </a:br>
            <a:r>
              <a:rPr lang="zh-CN">
                <a:solidFill>
                  <a:srgbClr val="000000"/>
                </a:solidFill>
                <a:latin typeface="Helvetica Neue" panose="02000503000000020004"/>
                <a:ea typeface="Helvetica Neue" panose="02000503000000020004"/>
                <a:cs typeface="Helvetica Neue" panose="02000503000000020004"/>
                <a:sym typeface="Helvetica Neue" panose="02000503000000020004"/>
              </a:rPr>
              <a:t>AI-Assisted Binary &amp; Library Fuzzing</a:t>
            </a:r>
            <a:br>
              <a:rPr lang="zh-CN">
                <a:solidFill>
                  <a:srgbClr val="000000"/>
                </a:solidFill>
                <a:latin typeface="Helvetica Neue" panose="02000503000000020004"/>
                <a:ea typeface="Helvetica Neue" panose="02000503000000020004"/>
                <a:cs typeface="Helvetica Neue" panose="02000503000000020004"/>
                <a:sym typeface="Helvetica Neue" panose="02000503000000020004"/>
              </a:rPr>
            </a:br>
            <a:br>
              <a:rPr lang="zh-CN"/>
            </a:br>
            <a:endParaRPr lang="zh-C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446" name="Shape 446"/>
        <p:cNvGrpSpPr/>
        <p:nvPr/>
      </p:nvGrpSpPr>
      <p:grpSpPr>
        <a:xfrm>
          <a:off x="0" y="0"/>
          <a:ext cx="0" cy="0"/>
          <a:chOff x="0" y="0"/>
          <a:chExt cx="0" cy="0"/>
        </a:xfrm>
      </p:grpSpPr>
      <p:sp>
        <p:nvSpPr>
          <p:cNvPr id="447" name="Google Shape;447;p21"/>
          <p:cNvSpPr txBox="1"/>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sp>
        <p:nvSpPr>
          <p:cNvPr id="448" name="Google Shape;448;p21"/>
          <p:cNvSpPr txBox="1"/>
          <p:nvPr>
            <p:ph type="ftr" idx="11"/>
          </p:nvPr>
        </p:nvSpPr>
        <p:spPr>
          <a:xfrm>
            <a:off x="457200" y="4800600"/>
            <a:ext cx="5105400" cy="228600"/>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SzPts val="1100"/>
              <a:buNone/>
            </a:pPr>
          </a:p>
        </p:txBody>
      </p:sp>
      <p:sp>
        <p:nvSpPr>
          <p:cNvPr id="449" name="Google Shape;449;p21"/>
          <p:cNvSpPr txBox="1"/>
          <p:nvPr>
            <p:ph type="body" idx="1"/>
          </p:nvPr>
        </p:nvSpPr>
        <p:spPr>
          <a:xfrm>
            <a:off x="457200" y="1143000"/>
            <a:ext cx="8229600" cy="3486150"/>
          </a:xfrm>
          <a:prstGeom prst="rect">
            <a:avLst/>
          </a:prstGeom>
          <a:noFill/>
          <a:ln>
            <a:noFill/>
          </a:ln>
        </p:spPr>
        <p:txBody>
          <a:bodyPr spcFirstLastPara="1" wrap="square" lIns="68575" tIns="34275" rIns="68575" bIns="34275" anchor="t" anchorCtr="0">
            <a:normAutofit/>
          </a:bodyPr>
          <a:lstStyle/>
          <a:p>
            <a:pPr marL="342900" lvl="0" indent="-254000" algn="l" rtl="0">
              <a:lnSpc>
                <a:spcPct val="95000"/>
              </a:lnSpc>
              <a:spcBef>
                <a:spcPts val="900"/>
              </a:spcBef>
              <a:spcAft>
                <a:spcPts val="0"/>
              </a:spcAft>
              <a:buSzPts val="1400"/>
              <a:buChar char="•"/>
            </a:pPr>
            <a:r>
              <a:rPr lang="zh-CN"/>
              <a:t>How C &amp; C++ code works during execution</a:t>
            </a:r>
            <a:endParaRPr lang="zh-CN"/>
          </a:p>
          <a:p>
            <a:pPr marL="342900" lvl="0" indent="-254000" algn="l" rtl="0">
              <a:lnSpc>
                <a:spcPct val="95000"/>
              </a:lnSpc>
              <a:spcBef>
                <a:spcPts val="900"/>
              </a:spcBef>
              <a:spcAft>
                <a:spcPts val="0"/>
              </a:spcAft>
              <a:buSzPts val="1400"/>
              <a:buChar char="•"/>
            </a:pPr>
            <a:r>
              <a:rPr lang="zh-CN"/>
              <a:t>Why dynamic detection method as fuzzing matters</a:t>
            </a:r>
            <a:endParaRPr lang="zh-CN"/>
          </a:p>
          <a:p>
            <a:pPr marL="342900" lvl="0" indent="-254000" algn="l" rtl="0">
              <a:lnSpc>
                <a:spcPct val="95000"/>
              </a:lnSpc>
              <a:spcBef>
                <a:spcPts val="900"/>
              </a:spcBef>
              <a:spcAft>
                <a:spcPts val="0"/>
              </a:spcAft>
              <a:buSzPts val="1400"/>
              <a:buChar char="•"/>
            </a:pPr>
            <a:r>
              <a:rPr lang="zh-CN"/>
              <a:t>How LLMs helps fuzzing</a:t>
            </a:r>
            <a:endParaRPr lang="zh-CN"/>
          </a:p>
          <a:p>
            <a:pPr marL="342900" lvl="0" indent="-254000" algn="l" rtl="0">
              <a:lnSpc>
                <a:spcPct val="95000"/>
              </a:lnSpc>
              <a:spcBef>
                <a:spcPts val="900"/>
              </a:spcBef>
              <a:spcAft>
                <a:spcPts val="0"/>
              </a:spcAft>
              <a:buSzPts val="1400"/>
              <a:buChar char="•"/>
            </a:pPr>
            <a:r>
              <a:rPr lang="zh-CN"/>
              <a:t>Hands on experiments</a:t>
            </a:r>
            <a:endParaRPr lang="zh-CN"/>
          </a:p>
        </p:txBody>
      </p:sp>
      <p:sp>
        <p:nvSpPr>
          <p:cNvPr id="450" name="Google Shape;450;p21"/>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t>Content</a:t>
            </a:r>
            <a:endParaRPr lang="zh-C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455" name="Shape 455"/>
        <p:cNvGrpSpPr/>
        <p:nvPr/>
      </p:nvGrpSpPr>
      <p:grpSpPr>
        <a:xfrm>
          <a:off x="0" y="0"/>
          <a:ext cx="0" cy="0"/>
          <a:chOff x="0" y="0"/>
          <a:chExt cx="0" cy="0"/>
        </a:xfrm>
      </p:grpSpPr>
      <p:sp>
        <p:nvSpPr>
          <p:cNvPr id="456" name="Google Shape;456;p22"/>
          <p:cNvSpPr txBox="1"/>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sp>
        <p:nvSpPr>
          <p:cNvPr id="457" name="Google Shape;457;p22"/>
          <p:cNvSpPr txBox="1"/>
          <p:nvPr>
            <p:ph type="ftr" idx="11"/>
          </p:nvPr>
        </p:nvSpPr>
        <p:spPr>
          <a:xfrm>
            <a:off x="457200" y="4800600"/>
            <a:ext cx="5105400" cy="228600"/>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SzPts val="1100"/>
              <a:buNone/>
            </a:pPr>
          </a:p>
        </p:txBody>
      </p:sp>
      <p:sp>
        <p:nvSpPr>
          <p:cNvPr id="458" name="Google Shape;458;p22"/>
          <p:cNvSpPr txBox="1"/>
          <p:nvPr>
            <p:ph type="body" idx="1"/>
          </p:nvPr>
        </p:nvSpPr>
        <p:spPr>
          <a:xfrm>
            <a:off x="457200" y="1143000"/>
            <a:ext cx="8229600" cy="3486150"/>
          </a:xfrm>
          <a:prstGeom prst="rect">
            <a:avLst/>
          </a:prstGeom>
          <a:noFill/>
          <a:ln>
            <a:noFill/>
          </a:ln>
        </p:spPr>
        <p:txBody>
          <a:bodyPr spcFirstLastPara="1" wrap="square" lIns="68575" tIns="34275" rIns="68575" bIns="34275" anchor="t" anchorCtr="0">
            <a:normAutofit/>
          </a:bodyPr>
          <a:lstStyle/>
          <a:p>
            <a:pPr marL="342900" lvl="0" indent="-254000" algn="l" rtl="0">
              <a:lnSpc>
                <a:spcPct val="95000"/>
              </a:lnSpc>
              <a:spcBef>
                <a:spcPts val="900"/>
              </a:spcBef>
              <a:spcAft>
                <a:spcPts val="0"/>
              </a:spcAft>
              <a:buSzPts val="1400"/>
              <a:buChar char="•"/>
            </a:pPr>
            <a:r>
              <a:rPr lang="zh-CN"/>
              <a:t>Fuzzing Workflow Overview</a:t>
            </a:r>
            <a:endParaRPr lang="zh-CN"/>
          </a:p>
        </p:txBody>
      </p:sp>
      <p:sp>
        <p:nvSpPr>
          <p:cNvPr id="459" name="Google Shape;459;p22"/>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t>How code works during execution</a:t>
            </a:r>
            <a:endParaRPr lang="zh-CN"/>
          </a:p>
        </p:txBody>
      </p:sp>
      <p:pic>
        <p:nvPicPr>
          <p:cNvPr id="460" name="Google Shape;460;p22" descr="9251766353035_.pic"/>
          <p:cNvPicPr preferRelativeResize="0"/>
          <p:nvPr/>
        </p:nvPicPr>
        <p:blipFill rotWithShape="1">
          <a:blip r:embed="rId1"/>
          <a:srcRect/>
          <a:stretch>
            <a:fillRect/>
          </a:stretch>
        </p:blipFill>
        <p:spPr>
          <a:xfrm>
            <a:off x="217646" y="1744504"/>
            <a:ext cx="5032058" cy="2283619"/>
          </a:xfrm>
          <a:prstGeom prst="rect">
            <a:avLst/>
          </a:prstGeom>
          <a:noFill/>
          <a:ln>
            <a:noFill/>
          </a:ln>
        </p:spPr>
      </p:pic>
      <p:sp>
        <p:nvSpPr>
          <p:cNvPr id="461" name="Google Shape;461;p22"/>
          <p:cNvSpPr txBox="1"/>
          <p:nvPr/>
        </p:nvSpPr>
        <p:spPr>
          <a:xfrm>
            <a:off x="5298758" y="1397794"/>
            <a:ext cx="3742373" cy="2977039"/>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100" b="1" i="0" u="none" strike="noStrike" cap="none">
                <a:solidFill>
                  <a:srgbClr val="000000"/>
                </a:solidFill>
                <a:latin typeface="Arial" panose="020B0604020202090204"/>
                <a:ea typeface="Arial" panose="020B0604020202090204"/>
                <a:cs typeface="Arial" panose="020B0604020202090204"/>
                <a:sym typeface="Arial" panose="020B0604020202090204"/>
              </a:rPr>
              <a:t>Seeds</a:t>
            </a: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provide initial valid or semi-valid inputs</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Serve as starting points for fuzzing</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1" i="0" u="none" strike="noStrike" cap="none">
                <a:solidFill>
                  <a:srgbClr val="000000"/>
                </a:solidFill>
                <a:latin typeface="Arial" panose="020B0604020202090204"/>
                <a:ea typeface="Arial" panose="020B0604020202090204"/>
                <a:cs typeface="Arial" panose="020B0604020202090204"/>
                <a:sym typeface="Arial" panose="020B0604020202090204"/>
              </a:rPr>
              <a:t>Corpus</a:t>
            </a: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stores inputs that trigger new behaviors</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Continuously updated based on coverage feedback</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1" i="0" u="none" strike="noStrike" cap="none">
                <a:solidFill>
                  <a:srgbClr val="000000"/>
                </a:solidFill>
                <a:latin typeface="Arial" panose="020B0604020202090204"/>
                <a:ea typeface="Arial" panose="020B0604020202090204"/>
                <a:cs typeface="Arial" panose="020B0604020202090204"/>
                <a:sym typeface="Arial" panose="020B0604020202090204"/>
              </a:rPr>
              <a:t>Fuzzer</a:t>
            </a: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mutates inputs and schedules executions</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Guided by coverage and runtime feedback</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1" i="0" u="none" strike="noStrike" cap="none">
                <a:solidFill>
                  <a:srgbClr val="000000"/>
                </a:solidFill>
                <a:latin typeface="Arial" panose="020B0604020202090204"/>
                <a:ea typeface="Arial" panose="020B0604020202090204"/>
                <a:cs typeface="Arial" panose="020B0604020202090204"/>
                <a:sym typeface="Arial" panose="020B0604020202090204"/>
              </a:rPr>
              <a:t>Fuzz Harness</a:t>
            </a: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connects the fuzzer to the software under test</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Feeds inputs and observes execution behavior</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1" i="0" u="none" strike="noStrike" cap="none">
                <a:solidFill>
                  <a:srgbClr val="000000"/>
                </a:solidFill>
                <a:latin typeface="Arial" panose="020B0604020202090204"/>
                <a:ea typeface="Arial" panose="020B0604020202090204"/>
                <a:cs typeface="Arial" panose="020B0604020202090204"/>
                <a:sym typeface="Arial" panose="020B0604020202090204"/>
              </a:rPr>
              <a:t>Findings</a:t>
            </a: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include crashes, hangs, and abnormal behaviors</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Indicate potential bugs or vulnerabilities</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466" name="Shape 466"/>
        <p:cNvGrpSpPr/>
        <p:nvPr/>
      </p:nvGrpSpPr>
      <p:grpSpPr>
        <a:xfrm>
          <a:off x="0" y="0"/>
          <a:ext cx="0" cy="0"/>
          <a:chOff x="0" y="0"/>
          <a:chExt cx="0" cy="0"/>
        </a:xfrm>
      </p:grpSpPr>
      <p:sp>
        <p:nvSpPr>
          <p:cNvPr id="467" name="Google Shape;467;p23"/>
          <p:cNvSpPr txBox="1"/>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sp>
        <p:nvSpPr>
          <p:cNvPr id="468" name="Google Shape;468;p23"/>
          <p:cNvSpPr txBox="1"/>
          <p:nvPr>
            <p:ph type="ftr" idx="11"/>
          </p:nvPr>
        </p:nvSpPr>
        <p:spPr>
          <a:xfrm>
            <a:off x="457200" y="4800600"/>
            <a:ext cx="5105400" cy="228600"/>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SzPts val="1100"/>
              <a:buNone/>
            </a:pPr>
          </a:p>
        </p:txBody>
      </p:sp>
      <p:sp>
        <p:nvSpPr>
          <p:cNvPr id="469" name="Google Shape;469;p23"/>
          <p:cNvSpPr txBox="1"/>
          <p:nvPr>
            <p:ph type="body" idx="1"/>
          </p:nvPr>
        </p:nvSpPr>
        <p:spPr>
          <a:xfrm>
            <a:off x="457200" y="1143000"/>
            <a:ext cx="8229600" cy="3486150"/>
          </a:xfrm>
          <a:prstGeom prst="rect">
            <a:avLst/>
          </a:prstGeom>
          <a:noFill/>
          <a:ln>
            <a:noFill/>
          </a:ln>
        </p:spPr>
        <p:txBody>
          <a:bodyPr spcFirstLastPara="1" wrap="square" lIns="68575" tIns="34275" rIns="68575" bIns="34275" anchor="t" anchorCtr="0">
            <a:normAutofit/>
          </a:bodyPr>
          <a:lstStyle/>
          <a:p>
            <a:pPr marL="342900" lvl="0" indent="-254000" algn="l" rtl="0">
              <a:lnSpc>
                <a:spcPct val="95000"/>
              </a:lnSpc>
              <a:spcBef>
                <a:spcPts val="900"/>
              </a:spcBef>
              <a:spcAft>
                <a:spcPts val="0"/>
              </a:spcAft>
              <a:buSzPts val="1400"/>
              <a:buChar char="•"/>
            </a:pPr>
            <a:r>
              <a:rPr lang="zh-CN"/>
              <a:t>Given an input (from stdin or harness files)</a:t>
            </a:r>
            <a:endParaRPr lang="zh-CN"/>
          </a:p>
        </p:txBody>
      </p:sp>
      <p:sp>
        <p:nvSpPr>
          <p:cNvPr id="470" name="Google Shape;470;p23"/>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t>How code works during execution</a:t>
            </a:r>
            <a:endParaRPr lang="zh-CN"/>
          </a:p>
        </p:txBody>
      </p:sp>
      <p:pic>
        <p:nvPicPr>
          <p:cNvPr id="471" name="Google Shape;471;p23"/>
          <p:cNvPicPr preferRelativeResize="0"/>
          <p:nvPr/>
        </p:nvPicPr>
        <p:blipFill rotWithShape="1">
          <a:blip r:embed="rId1"/>
          <a:srcRect/>
          <a:stretch>
            <a:fillRect/>
          </a:stretch>
        </p:blipFill>
        <p:spPr>
          <a:xfrm>
            <a:off x="0" y="1709738"/>
            <a:ext cx="5850731" cy="2234565"/>
          </a:xfrm>
          <a:prstGeom prst="rect">
            <a:avLst/>
          </a:prstGeom>
          <a:noFill/>
          <a:ln>
            <a:noFill/>
          </a:ln>
        </p:spPr>
      </p:pic>
      <p:sp>
        <p:nvSpPr>
          <p:cNvPr id="472" name="Google Shape;472;p23"/>
          <p:cNvSpPr txBox="1"/>
          <p:nvPr/>
        </p:nvSpPr>
        <p:spPr>
          <a:xfrm>
            <a:off x="5850726" y="1538549"/>
            <a:ext cx="3224700" cy="30906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A harness defines the entry point for the fuzzer</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It maps raw fuzzer input to meaningful program inputs</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 data and size are interpreted as file contents</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It invokes a specific target API or function</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 mz_zip_add_mem_to_archive_file_in_place(...)</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It isolates the test logic from the rest of the application</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100"/>
              <a:buFont typeface="Arial" panose="020B0604020202090204"/>
              <a:buNone/>
            </a:pPr>
            <a:r>
              <a:rPr lang="zh-CN" sz="1100" b="0" i="0" u="none" strike="noStrike" cap="none">
                <a:solidFill>
                  <a:srgbClr val="000000"/>
                </a:solidFill>
                <a:latin typeface="Arial" panose="020B0604020202090204"/>
                <a:ea typeface="Arial" panose="020B0604020202090204"/>
                <a:cs typeface="Arial" panose="020B0604020202090204"/>
                <a:sym typeface="Arial" panose="020B0604020202090204"/>
              </a:rPr>
              <a:t> → No CLI parsing, no full program execution</a:t>
            </a:r>
            <a:endParaRPr sz="11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477" name="Shape 477"/>
        <p:cNvGrpSpPr/>
        <p:nvPr/>
      </p:nvGrpSpPr>
      <p:grpSpPr>
        <a:xfrm>
          <a:off x="0" y="0"/>
          <a:ext cx="0" cy="0"/>
          <a:chOff x="0" y="0"/>
          <a:chExt cx="0" cy="0"/>
        </a:xfrm>
      </p:grpSpPr>
      <p:sp>
        <p:nvSpPr>
          <p:cNvPr id="478" name="Google Shape;478;p24"/>
          <p:cNvSpPr txBox="1"/>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sp>
        <p:nvSpPr>
          <p:cNvPr id="479" name="Google Shape;479;p24"/>
          <p:cNvSpPr txBox="1"/>
          <p:nvPr>
            <p:ph type="ftr" idx="11"/>
          </p:nvPr>
        </p:nvSpPr>
        <p:spPr>
          <a:xfrm>
            <a:off x="457200" y="4800600"/>
            <a:ext cx="4938236" cy="228600"/>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SzPts val="1100"/>
              <a:buNone/>
            </a:pPr>
            <a:r>
              <a:rPr lang="zh-CN" sz="800"/>
              <a:t>https://stackoverflow.com/questions/517589/tools-to-get-a-pictorial-function-call-graph-of-code</a:t>
            </a:r>
            <a:endParaRPr sz="800"/>
          </a:p>
        </p:txBody>
      </p:sp>
      <p:sp>
        <p:nvSpPr>
          <p:cNvPr id="480" name="Google Shape;480;p24"/>
          <p:cNvSpPr txBox="1"/>
          <p:nvPr>
            <p:ph type="body" idx="1"/>
          </p:nvPr>
        </p:nvSpPr>
        <p:spPr>
          <a:xfrm>
            <a:off x="457200" y="1143000"/>
            <a:ext cx="8229600" cy="3486150"/>
          </a:xfrm>
          <a:prstGeom prst="rect">
            <a:avLst/>
          </a:prstGeom>
          <a:noFill/>
          <a:ln>
            <a:noFill/>
          </a:ln>
        </p:spPr>
        <p:txBody>
          <a:bodyPr spcFirstLastPara="1" wrap="square" lIns="68575" tIns="34275" rIns="68575" bIns="34275" anchor="t" anchorCtr="0">
            <a:normAutofit fontScale="47500" lnSpcReduction="10000"/>
          </a:bodyPr>
          <a:lstStyle/>
          <a:p>
            <a:pPr marL="342900" lvl="0" indent="-251460" algn="l" rtl="0">
              <a:lnSpc>
                <a:spcPct val="95000"/>
              </a:lnSpc>
              <a:spcBef>
                <a:spcPts val="900"/>
              </a:spcBef>
              <a:spcAft>
                <a:spcPts val="0"/>
              </a:spcAft>
              <a:buSzPct val="113000"/>
              <a:buChar char="•"/>
            </a:pPr>
            <a:r>
              <a:rPr lang="zh-CN" sz="3000"/>
              <a:t>Given an input (from stdin or harness files)</a:t>
            </a:r>
            <a:endParaRPr sz="3000"/>
          </a:p>
          <a:p>
            <a:pPr marL="342900" lvl="0" indent="-251460" algn="l" rtl="0">
              <a:lnSpc>
                <a:spcPct val="95000"/>
              </a:lnSpc>
              <a:spcBef>
                <a:spcPts val="900"/>
              </a:spcBef>
              <a:spcAft>
                <a:spcPts val="0"/>
              </a:spcAft>
              <a:buSzPct val="113000"/>
              <a:buChar char="•"/>
            </a:pPr>
            <a:r>
              <a:rPr lang="zh-CN" sz="3000"/>
              <a:t>Run </a:t>
            </a:r>
            <a:r>
              <a:rPr lang="zh-CN" sz="3000">
                <a:solidFill>
                  <a:srgbClr val="FF0000"/>
                </a:solidFill>
              </a:rPr>
              <a:t>ONE </a:t>
            </a:r>
            <a:r>
              <a:rPr lang="zh-CN" sz="3000">
                <a:solidFill>
                  <a:schemeClr val="dk1"/>
                </a:solidFill>
              </a:rPr>
              <a:t>path from main() to somewhere</a:t>
            </a:r>
            <a:endParaRPr sz="3000">
              <a:solidFill>
                <a:schemeClr val="dk1"/>
              </a:solidFill>
            </a:endParaRPr>
          </a:p>
          <a:p>
            <a:pPr marL="88900" lvl="0" indent="342900" algn="l" rtl="0">
              <a:lnSpc>
                <a:spcPct val="95000"/>
              </a:lnSpc>
              <a:spcBef>
                <a:spcPts val="900"/>
              </a:spcBef>
              <a:spcAft>
                <a:spcPts val="0"/>
              </a:spcAft>
              <a:buSzPct val="113000"/>
              <a:buNone/>
            </a:pPr>
            <a:r>
              <a:rPr lang="zh-CN" sz="3000">
                <a:solidFill>
                  <a:schemeClr val="dk1"/>
                </a:solidFill>
                <a:latin typeface="Verdana" panose="020B0804030504040204"/>
                <a:ea typeface="Verdana" panose="020B0804030504040204"/>
                <a:cs typeface="Verdana" panose="020B0804030504040204"/>
                <a:sym typeface="Verdana" panose="020B0804030504040204"/>
              </a:rPr>
              <a:t>-- call graph</a:t>
            </a:r>
            <a:endParaRPr sz="3000">
              <a:solidFill>
                <a:schemeClr val="dk1"/>
              </a:solidFill>
              <a:latin typeface="Verdana" panose="020B0804030504040204"/>
              <a:ea typeface="Verdana" panose="020B0804030504040204"/>
              <a:cs typeface="Verdana" panose="020B0804030504040204"/>
              <a:sym typeface="Verdana" panose="020B0804030504040204"/>
            </a:endParaRPr>
          </a:p>
          <a:p>
            <a:pPr marL="88900" lvl="0" indent="342900" algn="l" rtl="0">
              <a:lnSpc>
                <a:spcPct val="95000"/>
              </a:lnSpc>
              <a:spcBef>
                <a:spcPts val="900"/>
              </a:spcBef>
              <a:spcAft>
                <a:spcPts val="0"/>
              </a:spcAft>
              <a:buSzPct val="189000"/>
              <a:buNone/>
            </a:pPr>
            <a:r>
              <a:rPr lang="zh-CN">
                <a:solidFill>
                  <a:schemeClr val="dk1"/>
                </a:solidFill>
              </a:rPr>
              <a:t>Nodes represent functions</a:t>
            </a:r>
            <a:endParaRPr>
              <a:solidFill>
                <a:schemeClr val="dk1"/>
              </a:solidFill>
            </a:endParaRPr>
          </a:p>
          <a:p>
            <a:pPr marL="88900" lvl="0" indent="342900" algn="l" rtl="0">
              <a:lnSpc>
                <a:spcPct val="95000"/>
              </a:lnSpc>
              <a:spcBef>
                <a:spcPts val="900"/>
              </a:spcBef>
              <a:spcAft>
                <a:spcPts val="0"/>
              </a:spcAft>
              <a:buSzPct val="189000"/>
              <a:buNone/>
            </a:pPr>
            <a:r>
              <a:rPr lang="zh-CN">
                <a:solidFill>
                  <a:schemeClr val="dk1"/>
                </a:solidFill>
              </a:rPr>
              <a:t>→ _start, main, f0, f1, f2</a:t>
            </a:r>
            <a:endParaRPr>
              <a:solidFill>
                <a:schemeClr val="dk1"/>
              </a:solidFill>
            </a:endParaRPr>
          </a:p>
          <a:p>
            <a:pPr marL="88900" lvl="0" indent="342900" algn="l" rtl="0">
              <a:lnSpc>
                <a:spcPct val="95000"/>
              </a:lnSpc>
              <a:spcBef>
                <a:spcPts val="900"/>
              </a:spcBef>
              <a:spcAft>
                <a:spcPts val="0"/>
              </a:spcAft>
              <a:buSzPct val="189000"/>
              <a:buNone/>
            </a:pPr>
            <a:endParaRPr>
              <a:solidFill>
                <a:schemeClr val="dk1"/>
              </a:solidFill>
            </a:endParaRPr>
          </a:p>
          <a:p>
            <a:pPr marL="88900" lvl="0" indent="342900" algn="l" rtl="0">
              <a:lnSpc>
                <a:spcPct val="95000"/>
              </a:lnSpc>
              <a:spcBef>
                <a:spcPts val="900"/>
              </a:spcBef>
              <a:spcAft>
                <a:spcPts val="0"/>
              </a:spcAft>
              <a:buSzPct val="189000"/>
              <a:buNone/>
            </a:pPr>
            <a:r>
              <a:rPr lang="zh-CN">
                <a:solidFill>
                  <a:schemeClr val="dk1"/>
                </a:solidFill>
              </a:rPr>
              <a:t>Edges represent function calls</a:t>
            </a:r>
            <a:endParaRPr>
              <a:solidFill>
                <a:schemeClr val="dk1"/>
              </a:solidFill>
            </a:endParaRPr>
          </a:p>
          <a:p>
            <a:pPr marL="88900" lvl="0" indent="342900" algn="l" rtl="0">
              <a:lnSpc>
                <a:spcPct val="95000"/>
              </a:lnSpc>
              <a:spcBef>
                <a:spcPts val="900"/>
              </a:spcBef>
              <a:spcAft>
                <a:spcPts val="0"/>
              </a:spcAft>
              <a:buSzPct val="189000"/>
              <a:buNone/>
            </a:pPr>
            <a:r>
              <a:rPr lang="zh-CN">
                <a:solidFill>
                  <a:schemeClr val="dk1"/>
                </a:solidFill>
              </a:rPr>
              <a:t>→ An edge means “this function may call that function”</a:t>
            </a:r>
            <a:endParaRPr>
              <a:solidFill>
                <a:schemeClr val="dk1"/>
              </a:solidFill>
            </a:endParaRPr>
          </a:p>
          <a:p>
            <a:pPr marL="88900" lvl="0" indent="342900" algn="l" rtl="0">
              <a:lnSpc>
                <a:spcPct val="95000"/>
              </a:lnSpc>
              <a:spcBef>
                <a:spcPts val="900"/>
              </a:spcBef>
              <a:spcAft>
                <a:spcPts val="0"/>
              </a:spcAft>
              <a:buSzPct val="189000"/>
              <a:buNone/>
            </a:pPr>
            <a:endParaRPr>
              <a:solidFill>
                <a:schemeClr val="dk1"/>
              </a:solidFill>
            </a:endParaRPr>
          </a:p>
          <a:p>
            <a:pPr marL="88900" lvl="0" indent="342900" algn="l" rtl="0">
              <a:lnSpc>
                <a:spcPct val="95000"/>
              </a:lnSpc>
              <a:spcBef>
                <a:spcPts val="900"/>
              </a:spcBef>
              <a:spcAft>
                <a:spcPts val="0"/>
              </a:spcAft>
              <a:buSzPct val="189000"/>
              <a:buNone/>
            </a:pPr>
            <a:r>
              <a:rPr lang="zh-CN">
                <a:solidFill>
                  <a:schemeClr val="dk1"/>
                </a:solidFill>
              </a:rPr>
              <a:t>Edge labels show call frequency</a:t>
            </a:r>
            <a:endParaRPr>
              <a:solidFill>
                <a:schemeClr val="dk1"/>
              </a:solidFill>
            </a:endParaRPr>
          </a:p>
          <a:p>
            <a:pPr marL="88900" lvl="0" indent="342900" algn="l" rtl="0">
              <a:lnSpc>
                <a:spcPct val="95000"/>
              </a:lnSpc>
              <a:spcBef>
                <a:spcPts val="900"/>
              </a:spcBef>
              <a:spcAft>
                <a:spcPts val="0"/>
              </a:spcAft>
              <a:buSzPct val="189000"/>
              <a:buNone/>
            </a:pPr>
            <a:r>
              <a:rPr lang="zh-CN">
                <a:solidFill>
                  <a:schemeClr val="dk1"/>
                </a:solidFill>
              </a:rPr>
              <a:t>→ 1×, 2× indicate how many times the call happened</a:t>
            </a:r>
            <a:endParaRPr>
              <a:solidFill>
                <a:schemeClr val="dk1"/>
              </a:solidFill>
            </a:endParaRPr>
          </a:p>
          <a:p>
            <a:pPr marL="88900" lvl="0" indent="342900" algn="l" rtl="0">
              <a:lnSpc>
                <a:spcPct val="95000"/>
              </a:lnSpc>
              <a:spcBef>
                <a:spcPts val="900"/>
              </a:spcBef>
              <a:spcAft>
                <a:spcPts val="0"/>
              </a:spcAft>
              <a:buSzPct val="189000"/>
              <a:buNone/>
            </a:pPr>
            <a:endParaRPr>
              <a:solidFill>
                <a:schemeClr val="dk1"/>
              </a:solidFill>
            </a:endParaRPr>
          </a:p>
          <a:p>
            <a:pPr marL="88900" lvl="0" indent="342900" algn="l" rtl="0">
              <a:lnSpc>
                <a:spcPct val="95000"/>
              </a:lnSpc>
              <a:spcBef>
                <a:spcPts val="900"/>
              </a:spcBef>
              <a:spcAft>
                <a:spcPts val="0"/>
              </a:spcAft>
              <a:buSzPct val="189000"/>
              <a:buNone/>
            </a:pPr>
            <a:r>
              <a:rPr lang="zh-CN">
                <a:solidFill>
                  <a:schemeClr val="dk1"/>
                </a:solidFill>
              </a:rPr>
              <a:t>Coverage/color reflects execution frequency or time</a:t>
            </a:r>
            <a:endParaRPr>
              <a:solidFill>
                <a:schemeClr val="dk1"/>
              </a:solidFill>
            </a:endParaRPr>
          </a:p>
          <a:p>
            <a:pPr marL="88900" lvl="0" indent="342900" algn="l" rtl="0">
              <a:lnSpc>
                <a:spcPct val="95000"/>
              </a:lnSpc>
              <a:spcBef>
                <a:spcPts val="900"/>
              </a:spcBef>
              <a:spcAft>
                <a:spcPts val="0"/>
              </a:spcAft>
              <a:buSzPct val="189000"/>
              <a:buNone/>
            </a:pPr>
            <a:r>
              <a:rPr lang="zh-CN">
                <a:solidFill>
                  <a:schemeClr val="dk1"/>
                </a:solidFill>
              </a:rPr>
              <a:t>→ Helps identify hot and cold functions</a:t>
            </a:r>
            <a:endParaRPr>
              <a:solidFill>
                <a:schemeClr val="dk1"/>
              </a:solidFill>
            </a:endParaRPr>
          </a:p>
        </p:txBody>
      </p:sp>
      <p:sp>
        <p:nvSpPr>
          <p:cNvPr id="481" name="Google Shape;481;p24"/>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t>How code works during execution</a:t>
            </a:r>
            <a:endParaRPr lang="zh-CN"/>
          </a:p>
        </p:txBody>
      </p:sp>
      <p:pic>
        <p:nvPicPr>
          <p:cNvPr id="482" name="Google Shape;482;p24" descr="9261766353571_.pic"/>
          <p:cNvPicPr preferRelativeResize="0"/>
          <p:nvPr/>
        </p:nvPicPr>
        <p:blipFill rotWithShape="1">
          <a:blip r:embed="rId1"/>
          <a:srcRect/>
          <a:stretch>
            <a:fillRect/>
          </a:stretch>
        </p:blipFill>
        <p:spPr>
          <a:xfrm>
            <a:off x="5619750" y="1094422"/>
            <a:ext cx="1652588" cy="3582353"/>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487" name="Shape 487"/>
        <p:cNvGrpSpPr/>
        <p:nvPr/>
      </p:nvGrpSpPr>
      <p:grpSpPr>
        <a:xfrm>
          <a:off x="0" y="0"/>
          <a:ext cx="0" cy="0"/>
          <a:chOff x="0" y="0"/>
          <a:chExt cx="0" cy="0"/>
        </a:xfrm>
      </p:grpSpPr>
      <p:sp>
        <p:nvSpPr>
          <p:cNvPr id="488" name="Google Shape;488;p25"/>
          <p:cNvSpPr txBox="1"/>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sp>
        <p:nvSpPr>
          <p:cNvPr id="489" name="Google Shape;489;p25"/>
          <p:cNvSpPr txBox="1"/>
          <p:nvPr>
            <p:ph type="ftr" idx="11"/>
          </p:nvPr>
        </p:nvSpPr>
        <p:spPr>
          <a:xfrm>
            <a:off x="457200" y="4800600"/>
            <a:ext cx="4938236" cy="228600"/>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SzPts val="1100"/>
              <a:buNone/>
            </a:pPr>
            <a:r>
              <a:rPr lang="zh-CN" sz="800"/>
              <a:t>https://en.wikipedia.org/wiki/Control-flow_graph#/media/File:Rust_MIR_CFG.svg</a:t>
            </a:r>
            <a:endParaRPr sz="800"/>
          </a:p>
        </p:txBody>
      </p:sp>
      <p:sp>
        <p:nvSpPr>
          <p:cNvPr id="490" name="Google Shape;490;p25"/>
          <p:cNvSpPr txBox="1"/>
          <p:nvPr>
            <p:ph type="body" idx="1"/>
          </p:nvPr>
        </p:nvSpPr>
        <p:spPr>
          <a:xfrm>
            <a:off x="457200" y="1143000"/>
            <a:ext cx="8229600" cy="3486150"/>
          </a:xfrm>
          <a:prstGeom prst="rect">
            <a:avLst/>
          </a:prstGeom>
          <a:noFill/>
          <a:ln>
            <a:noFill/>
          </a:ln>
        </p:spPr>
        <p:txBody>
          <a:bodyPr spcFirstLastPara="1" wrap="square" lIns="68575" tIns="34275" rIns="68575" bIns="34275" anchor="t" anchorCtr="0">
            <a:normAutofit fontScale="50000" lnSpcReduction="10000"/>
          </a:bodyPr>
          <a:lstStyle/>
          <a:p>
            <a:pPr marL="342900" lvl="0" indent="-250825" algn="l" rtl="0">
              <a:lnSpc>
                <a:spcPct val="95000"/>
              </a:lnSpc>
              <a:spcBef>
                <a:spcPts val="900"/>
              </a:spcBef>
              <a:spcAft>
                <a:spcPts val="0"/>
              </a:spcAft>
              <a:buSzPct val="90000"/>
              <a:buChar char="•"/>
            </a:pPr>
            <a:r>
              <a:rPr lang="zh-CN" sz="3000"/>
              <a:t>Given an input (from stdin or harness files)</a:t>
            </a:r>
            <a:endParaRPr sz="3000"/>
          </a:p>
          <a:p>
            <a:pPr marL="342900" lvl="0" indent="-250825" algn="l" rtl="0">
              <a:lnSpc>
                <a:spcPct val="95000"/>
              </a:lnSpc>
              <a:spcBef>
                <a:spcPts val="900"/>
              </a:spcBef>
              <a:spcAft>
                <a:spcPts val="0"/>
              </a:spcAft>
              <a:buSzPct val="90000"/>
              <a:buChar char="•"/>
            </a:pPr>
            <a:r>
              <a:rPr lang="zh-CN" sz="3000"/>
              <a:t>Run ONE path from main() to somewhere</a:t>
            </a:r>
            <a:endParaRPr sz="3000"/>
          </a:p>
          <a:p>
            <a:pPr marL="88900" lvl="0" indent="342900" algn="l" rtl="0">
              <a:lnSpc>
                <a:spcPct val="95000"/>
              </a:lnSpc>
              <a:spcBef>
                <a:spcPts val="900"/>
              </a:spcBef>
              <a:spcAft>
                <a:spcPts val="0"/>
              </a:spcAft>
              <a:buSzPct val="90000"/>
              <a:buNone/>
            </a:pPr>
            <a:r>
              <a:rPr lang="zh-CN" sz="3000"/>
              <a:t>-- control flow graph</a:t>
            </a:r>
            <a:endParaRPr>
              <a:solidFill>
                <a:schemeClr val="dk1"/>
              </a:solidFill>
            </a:endParaRPr>
          </a:p>
          <a:p>
            <a:pPr marL="88900" lvl="0" indent="342900" algn="l" rtl="0">
              <a:lnSpc>
                <a:spcPct val="95000"/>
              </a:lnSpc>
              <a:spcBef>
                <a:spcPts val="900"/>
              </a:spcBef>
              <a:spcAft>
                <a:spcPts val="0"/>
              </a:spcAft>
              <a:buSzPct val="150000"/>
              <a:buNone/>
            </a:pPr>
            <a:r>
              <a:rPr lang="zh-CN">
                <a:solidFill>
                  <a:schemeClr val="dk1"/>
                </a:solidFill>
              </a:rPr>
              <a:t>A CFG models execution flow inside a single function</a:t>
            </a:r>
            <a:endParaRPr>
              <a:solidFill>
                <a:schemeClr val="dk1"/>
              </a:solidFill>
            </a:endParaRPr>
          </a:p>
          <a:p>
            <a:pPr marL="88900" lvl="0" indent="342900" algn="l" rtl="0">
              <a:lnSpc>
                <a:spcPct val="95000"/>
              </a:lnSpc>
              <a:spcBef>
                <a:spcPts val="900"/>
              </a:spcBef>
              <a:spcAft>
                <a:spcPts val="0"/>
              </a:spcAft>
              <a:buSzPct val="150000"/>
              <a:buNone/>
            </a:pPr>
            <a:endParaRPr>
              <a:solidFill>
                <a:schemeClr val="dk1"/>
              </a:solidFill>
            </a:endParaRPr>
          </a:p>
          <a:p>
            <a:pPr marL="88900" lvl="0" indent="342900" algn="l" rtl="0">
              <a:lnSpc>
                <a:spcPct val="95000"/>
              </a:lnSpc>
              <a:spcBef>
                <a:spcPts val="900"/>
              </a:spcBef>
              <a:spcAft>
                <a:spcPts val="0"/>
              </a:spcAft>
              <a:buSzPct val="150000"/>
              <a:buNone/>
            </a:pPr>
            <a:r>
              <a:rPr lang="zh-CN">
                <a:solidFill>
                  <a:schemeClr val="dk1"/>
                </a:solidFill>
              </a:rPr>
              <a:t>Nodes are Basic Blocks (BBs)</a:t>
            </a:r>
            <a:endParaRPr>
              <a:solidFill>
                <a:schemeClr val="dk1"/>
              </a:solidFill>
            </a:endParaRPr>
          </a:p>
          <a:p>
            <a:pPr marL="88900" lvl="0" indent="342900" algn="l" rtl="0">
              <a:lnSpc>
                <a:spcPct val="95000"/>
              </a:lnSpc>
              <a:spcBef>
                <a:spcPts val="900"/>
              </a:spcBef>
              <a:spcAft>
                <a:spcPts val="0"/>
              </a:spcAft>
              <a:buSzPct val="150000"/>
              <a:buNone/>
            </a:pPr>
            <a:r>
              <a:rPr lang="zh-CN">
                <a:solidFill>
                  <a:schemeClr val="dk1"/>
                </a:solidFill>
              </a:rPr>
              <a:t>→ Straight-line code with one entry and one exit</a:t>
            </a:r>
            <a:endParaRPr>
              <a:solidFill>
                <a:schemeClr val="dk1"/>
              </a:solidFill>
            </a:endParaRPr>
          </a:p>
          <a:p>
            <a:pPr marL="88900" lvl="0" indent="342900" algn="l" rtl="0">
              <a:lnSpc>
                <a:spcPct val="95000"/>
              </a:lnSpc>
              <a:spcBef>
                <a:spcPts val="900"/>
              </a:spcBef>
              <a:spcAft>
                <a:spcPts val="0"/>
              </a:spcAft>
              <a:buSzPct val="150000"/>
              <a:buNone/>
            </a:pPr>
            <a:endParaRPr>
              <a:solidFill>
                <a:schemeClr val="dk1"/>
              </a:solidFill>
            </a:endParaRPr>
          </a:p>
          <a:p>
            <a:pPr marL="88900" lvl="0" indent="342900" algn="l" rtl="0">
              <a:lnSpc>
                <a:spcPct val="95000"/>
              </a:lnSpc>
              <a:spcBef>
                <a:spcPts val="900"/>
              </a:spcBef>
              <a:spcAft>
                <a:spcPts val="0"/>
              </a:spcAft>
              <a:buSzPct val="150000"/>
              <a:buNone/>
            </a:pPr>
            <a:r>
              <a:rPr lang="zh-CN">
                <a:solidFill>
                  <a:schemeClr val="dk1"/>
                </a:solidFill>
              </a:rPr>
              <a:t>Edges represent possible control transfers</a:t>
            </a:r>
            <a:endParaRPr>
              <a:solidFill>
                <a:schemeClr val="dk1"/>
              </a:solidFill>
            </a:endParaRPr>
          </a:p>
          <a:p>
            <a:pPr marL="88900" lvl="0" indent="342900" algn="l" rtl="0">
              <a:lnSpc>
                <a:spcPct val="95000"/>
              </a:lnSpc>
              <a:spcBef>
                <a:spcPts val="900"/>
              </a:spcBef>
              <a:spcAft>
                <a:spcPts val="0"/>
              </a:spcAft>
              <a:buSzPct val="150000"/>
              <a:buNone/>
            </a:pPr>
            <a:r>
              <a:rPr lang="zh-CN">
                <a:solidFill>
                  <a:schemeClr val="dk1"/>
                </a:solidFill>
              </a:rPr>
              <a:t>→ if, else, switch, goto, return</a:t>
            </a:r>
            <a:endParaRPr>
              <a:solidFill>
                <a:schemeClr val="dk1"/>
              </a:solidFill>
            </a:endParaRPr>
          </a:p>
          <a:p>
            <a:pPr marL="88900" lvl="0" indent="342900" algn="l" rtl="0">
              <a:lnSpc>
                <a:spcPct val="95000"/>
              </a:lnSpc>
              <a:spcBef>
                <a:spcPts val="900"/>
              </a:spcBef>
              <a:spcAft>
                <a:spcPts val="0"/>
              </a:spcAft>
              <a:buSzPct val="150000"/>
              <a:buNone/>
            </a:pPr>
            <a:endParaRPr>
              <a:solidFill>
                <a:schemeClr val="dk1"/>
              </a:solidFill>
            </a:endParaRPr>
          </a:p>
          <a:p>
            <a:pPr marL="88900" lvl="0" indent="342900" algn="l" rtl="0">
              <a:lnSpc>
                <a:spcPct val="95000"/>
              </a:lnSpc>
              <a:spcBef>
                <a:spcPts val="900"/>
              </a:spcBef>
              <a:spcAft>
                <a:spcPts val="0"/>
              </a:spcAft>
              <a:buSzPct val="150000"/>
              <a:buNone/>
            </a:pPr>
            <a:r>
              <a:rPr lang="zh-CN">
                <a:solidFill>
                  <a:schemeClr val="dk1"/>
                </a:solidFill>
              </a:rPr>
              <a:t>Branching splits execution into multiple paths</a:t>
            </a:r>
            <a:endParaRPr>
              <a:solidFill>
                <a:schemeClr val="dk1"/>
              </a:solidFill>
            </a:endParaRPr>
          </a:p>
          <a:p>
            <a:pPr marL="88900" lvl="0" indent="342900" algn="l" rtl="0">
              <a:lnSpc>
                <a:spcPct val="95000"/>
              </a:lnSpc>
              <a:spcBef>
                <a:spcPts val="900"/>
              </a:spcBef>
              <a:spcAft>
                <a:spcPts val="0"/>
              </a:spcAft>
              <a:buSzPct val="150000"/>
              <a:buNone/>
            </a:pPr>
            <a:r>
              <a:rPr lang="zh-CN">
                <a:solidFill>
                  <a:schemeClr val="dk1"/>
                </a:solidFill>
              </a:rPr>
              <a:t>→ Only one path is taken per execution</a:t>
            </a:r>
            <a:endParaRPr>
              <a:solidFill>
                <a:schemeClr val="dk1"/>
              </a:solidFill>
            </a:endParaRPr>
          </a:p>
        </p:txBody>
      </p:sp>
      <p:sp>
        <p:nvSpPr>
          <p:cNvPr id="491" name="Google Shape;491;p25"/>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t>How code works during execution</a:t>
            </a:r>
            <a:endParaRPr lang="zh-CN"/>
          </a:p>
        </p:txBody>
      </p:sp>
      <p:pic>
        <p:nvPicPr>
          <p:cNvPr id="492" name="Google Shape;492;p25" descr="9281766354108_.pic"/>
          <p:cNvPicPr preferRelativeResize="0"/>
          <p:nvPr/>
        </p:nvPicPr>
        <p:blipFill rotWithShape="1">
          <a:blip r:embed="rId1"/>
          <a:srcRect/>
          <a:stretch>
            <a:fillRect/>
          </a:stretch>
        </p:blipFill>
        <p:spPr>
          <a:xfrm>
            <a:off x="5395436" y="961072"/>
            <a:ext cx="2571750" cy="3850481"/>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497" name="Shape 497"/>
        <p:cNvGrpSpPr/>
        <p:nvPr/>
      </p:nvGrpSpPr>
      <p:grpSpPr>
        <a:xfrm>
          <a:off x="0" y="0"/>
          <a:ext cx="0" cy="0"/>
          <a:chOff x="0" y="0"/>
          <a:chExt cx="0" cy="0"/>
        </a:xfrm>
      </p:grpSpPr>
      <p:sp>
        <p:nvSpPr>
          <p:cNvPr id="498" name="Google Shape;498;p26"/>
          <p:cNvSpPr txBox="1"/>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sp>
        <p:nvSpPr>
          <p:cNvPr id="499" name="Google Shape;499;p26"/>
          <p:cNvSpPr txBox="1"/>
          <p:nvPr>
            <p:ph type="ftr" idx="11"/>
          </p:nvPr>
        </p:nvSpPr>
        <p:spPr>
          <a:xfrm>
            <a:off x="457200" y="4791075"/>
            <a:ext cx="6185535" cy="238125"/>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SzPts val="1100"/>
              <a:buNone/>
            </a:pPr>
            <a:r>
              <a:rPr lang="zh-CN" sz="800"/>
              <a:t>https://medium.com/@xianpeng.shen/use-gcov-and-lcov-to-perform-code-coverage-testing-for-c-c-projects-c85708b91c78</a:t>
            </a:r>
            <a:endParaRPr sz="800"/>
          </a:p>
        </p:txBody>
      </p:sp>
      <p:sp>
        <p:nvSpPr>
          <p:cNvPr id="500" name="Google Shape;500;p26"/>
          <p:cNvSpPr txBox="1"/>
          <p:nvPr>
            <p:ph type="body" idx="1"/>
          </p:nvPr>
        </p:nvSpPr>
        <p:spPr>
          <a:xfrm>
            <a:off x="457200" y="1143000"/>
            <a:ext cx="8229600" cy="3486150"/>
          </a:xfrm>
          <a:prstGeom prst="rect">
            <a:avLst/>
          </a:prstGeom>
          <a:noFill/>
          <a:ln>
            <a:noFill/>
          </a:ln>
        </p:spPr>
        <p:txBody>
          <a:bodyPr spcFirstLastPara="1" wrap="square" lIns="68575" tIns="34275" rIns="68575" bIns="34275" anchor="t" anchorCtr="0">
            <a:normAutofit/>
          </a:bodyPr>
          <a:lstStyle/>
          <a:p>
            <a:pPr marL="342900" lvl="0" indent="-254000" algn="l" rtl="0">
              <a:lnSpc>
                <a:spcPct val="95000"/>
              </a:lnSpc>
              <a:spcBef>
                <a:spcPts val="900"/>
              </a:spcBef>
              <a:spcAft>
                <a:spcPts val="0"/>
              </a:spcAft>
              <a:buSzPts val="1400"/>
              <a:buChar char="•"/>
            </a:pPr>
            <a:r>
              <a:rPr lang="zh-CN"/>
              <a:t>Code coverage</a:t>
            </a:r>
            <a:endParaRPr lang="zh-CN"/>
          </a:p>
        </p:txBody>
      </p:sp>
      <p:sp>
        <p:nvSpPr>
          <p:cNvPr id="501" name="Google Shape;501;p26"/>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t>Why dynamic detection method as fuzzing matters</a:t>
            </a:r>
            <a:endParaRPr lang="zh-CN"/>
          </a:p>
        </p:txBody>
      </p:sp>
      <p:pic>
        <p:nvPicPr>
          <p:cNvPr id="502" name="Google Shape;502;p26"/>
          <p:cNvPicPr preferRelativeResize="0"/>
          <p:nvPr/>
        </p:nvPicPr>
        <p:blipFill rotWithShape="1">
          <a:blip r:embed="rId1"/>
          <a:srcRect/>
          <a:stretch>
            <a:fillRect/>
          </a:stretch>
        </p:blipFill>
        <p:spPr>
          <a:xfrm>
            <a:off x="2648426" y="1030129"/>
            <a:ext cx="2446973" cy="1126808"/>
          </a:xfrm>
          <a:prstGeom prst="rect">
            <a:avLst/>
          </a:prstGeom>
          <a:noFill/>
          <a:ln>
            <a:noFill/>
          </a:ln>
        </p:spPr>
      </p:pic>
      <p:pic>
        <p:nvPicPr>
          <p:cNvPr id="503" name="Google Shape;503;p26"/>
          <p:cNvPicPr preferRelativeResize="0"/>
          <p:nvPr/>
        </p:nvPicPr>
        <p:blipFill rotWithShape="1">
          <a:blip r:embed="rId2"/>
          <a:srcRect/>
          <a:stretch>
            <a:fillRect/>
          </a:stretch>
        </p:blipFill>
        <p:spPr>
          <a:xfrm>
            <a:off x="457200" y="2323624"/>
            <a:ext cx="4638199" cy="1591151"/>
          </a:xfrm>
          <a:prstGeom prst="rect">
            <a:avLst/>
          </a:prstGeom>
          <a:noFill/>
          <a:ln>
            <a:noFill/>
          </a:ln>
        </p:spPr>
      </p:pic>
      <p:sp>
        <p:nvSpPr>
          <p:cNvPr id="504" name="Google Shape;504;p26"/>
          <p:cNvSpPr txBox="1"/>
          <p:nvPr/>
        </p:nvSpPr>
        <p:spPr>
          <a:xfrm>
            <a:off x="5257324" y="1337786"/>
            <a:ext cx="3886676" cy="356235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200"/>
              <a:buFont typeface="Arial" panose="020B0604020202090204"/>
              <a:buNone/>
            </a:pPr>
            <a:r>
              <a:rPr lang="zh-CN" sz="1200" b="0" i="0" u="none" strike="noStrike" cap="none">
                <a:solidFill>
                  <a:srgbClr val="000000"/>
                </a:solidFill>
                <a:latin typeface="Arial" panose="020B0604020202090204"/>
                <a:ea typeface="Arial" panose="020B0604020202090204"/>
                <a:cs typeface="Arial" panose="020B0604020202090204"/>
                <a:sym typeface="Arial" panose="020B0604020202090204"/>
              </a:rPr>
              <a:t>Source code is compiled with coverage instrumentation</a:t>
            </a:r>
            <a:endParaRPr sz="12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200"/>
              <a:buFont typeface="Arial" panose="020B0604020202090204"/>
              <a:buNone/>
            </a:pPr>
            <a:r>
              <a:rPr lang="zh-CN" sz="1200" b="0" i="0" u="none" strike="noStrike" cap="none">
                <a:solidFill>
                  <a:srgbClr val="000000"/>
                </a:solidFill>
                <a:latin typeface="Arial" panose="020B0604020202090204"/>
                <a:ea typeface="Arial" panose="020B0604020202090204"/>
                <a:cs typeface="Arial" panose="020B0604020202090204"/>
                <a:sym typeface="Arial" panose="020B0604020202090204"/>
              </a:rPr>
              <a:t> → GCC inserts counters into the program</a:t>
            </a:r>
            <a:endParaRPr sz="12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200"/>
              <a:buFont typeface="Arial" panose="020B0604020202090204"/>
              <a:buNone/>
            </a:pPr>
            <a:endParaRPr sz="12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200"/>
              <a:buFont typeface="Arial" panose="020B0604020202090204"/>
              <a:buNone/>
            </a:pPr>
            <a:endParaRPr sz="12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200"/>
              <a:buFont typeface="Arial" panose="020B0604020202090204"/>
              <a:buNone/>
            </a:pPr>
            <a:r>
              <a:rPr lang="zh-CN" sz="1200" b="0" i="0" u="none" strike="noStrike" cap="none">
                <a:solidFill>
                  <a:srgbClr val="000000"/>
                </a:solidFill>
                <a:latin typeface="Arial" panose="020B0604020202090204"/>
                <a:ea typeface="Arial" panose="020B0604020202090204"/>
                <a:cs typeface="Arial" panose="020B0604020202090204"/>
                <a:sym typeface="Arial" panose="020B0604020202090204"/>
              </a:rPr>
              <a:t>Compilation produces a static structure file (.gcno)</a:t>
            </a:r>
            <a:endParaRPr sz="12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200"/>
              <a:buFont typeface="Arial" panose="020B0604020202090204"/>
              <a:buNone/>
            </a:pPr>
            <a:r>
              <a:rPr lang="zh-CN" sz="1200" b="0" i="0" u="none" strike="noStrike" cap="none">
                <a:solidFill>
                  <a:srgbClr val="000000"/>
                </a:solidFill>
                <a:latin typeface="Arial" panose="020B0604020202090204"/>
                <a:ea typeface="Arial" panose="020B0604020202090204"/>
                <a:cs typeface="Arial" panose="020B0604020202090204"/>
                <a:sym typeface="Arial" panose="020B0604020202090204"/>
              </a:rPr>
              <a:t> → Describes the program’s control-flow structure</a:t>
            </a:r>
            <a:endParaRPr sz="12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200"/>
              <a:buFont typeface="Arial" panose="020B0604020202090204"/>
              <a:buNone/>
            </a:pPr>
            <a:endParaRPr sz="12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200"/>
              <a:buFont typeface="Arial" panose="020B0604020202090204"/>
              <a:buNone/>
            </a:pPr>
            <a:endParaRPr sz="12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200"/>
              <a:buFont typeface="Arial" panose="020B0604020202090204"/>
              <a:buNone/>
            </a:pPr>
            <a:r>
              <a:rPr lang="zh-CN" sz="1200" b="0" i="0" u="none" strike="noStrike" cap="none">
                <a:solidFill>
                  <a:srgbClr val="000000"/>
                </a:solidFill>
                <a:latin typeface="Arial" panose="020B0604020202090204"/>
                <a:ea typeface="Arial" panose="020B0604020202090204"/>
                <a:cs typeface="Arial" panose="020B0604020202090204"/>
                <a:sym typeface="Arial" panose="020B0604020202090204"/>
              </a:rPr>
              <a:t>Program execution produces runtime data (.gcda)</a:t>
            </a:r>
            <a:endParaRPr sz="12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200"/>
              <a:buFont typeface="Arial" panose="020B0604020202090204"/>
              <a:buNone/>
            </a:pPr>
            <a:r>
              <a:rPr lang="zh-CN" sz="1200" b="0" i="0" u="none" strike="noStrike" cap="none">
                <a:solidFill>
                  <a:srgbClr val="000000"/>
                </a:solidFill>
                <a:latin typeface="Arial" panose="020B0604020202090204"/>
                <a:ea typeface="Arial" panose="020B0604020202090204"/>
                <a:cs typeface="Arial" panose="020B0604020202090204"/>
                <a:sym typeface="Arial" panose="020B0604020202090204"/>
              </a:rPr>
              <a:t> → Records which parts of the code actually ran</a:t>
            </a:r>
            <a:endParaRPr sz="12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200"/>
              <a:buFont typeface="Arial" panose="020B0604020202090204"/>
              <a:buNone/>
            </a:pPr>
            <a:endParaRPr sz="12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200"/>
              <a:buFont typeface="Arial" panose="020B0604020202090204"/>
              <a:buNone/>
            </a:pPr>
            <a:endParaRPr sz="12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200"/>
              <a:buFont typeface="Arial" panose="020B0604020202090204"/>
              <a:buNone/>
            </a:pPr>
            <a:r>
              <a:rPr lang="zh-CN" sz="1200" b="0" i="0" u="none" strike="noStrike" cap="none">
                <a:solidFill>
                  <a:srgbClr val="000000"/>
                </a:solidFill>
                <a:latin typeface="Arial" panose="020B0604020202090204"/>
                <a:ea typeface="Arial" panose="020B0604020202090204"/>
                <a:cs typeface="Arial" panose="020B0604020202090204"/>
                <a:sym typeface="Arial" panose="020B0604020202090204"/>
              </a:rPr>
              <a:t>gcov processes both files to generate coverage data</a:t>
            </a:r>
            <a:endParaRPr sz="12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Clr>
                <a:srgbClr val="000000"/>
              </a:buClr>
              <a:buSzPts val="1200"/>
              <a:buFont typeface="Arial" panose="020B0604020202090204"/>
              <a:buNone/>
            </a:pPr>
            <a:r>
              <a:rPr lang="zh-CN" sz="1200" b="0" i="0" u="none" strike="noStrike" cap="none">
                <a:solidFill>
                  <a:srgbClr val="000000"/>
                </a:solidFill>
                <a:latin typeface="Arial" panose="020B0604020202090204"/>
                <a:ea typeface="Arial" panose="020B0604020202090204"/>
                <a:cs typeface="Arial" panose="020B0604020202090204"/>
                <a:sym typeface="Arial" panose="020B0604020202090204"/>
              </a:rPr>
              <a:t> → Used to build human-readable reports</a:t>
            </a:r>
            <a:endParaRPr sz="12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509" name="Shape 509"/>
        <p:cNvGrpSpPr/>
        <p:nvPr/>
      </p:nvGrpSpPr>
      <p:grpSpPr>
        <a:xfrm>
          <a:off x="0" y="0"/>
          <a:ext cx="0" cy="0"/>
          <a:chOff x="0" y="0"/>
          <a:chExt cx="0" cy="0"/>
        </a:xfrm>
      </p:grpSpPr>
      <p:sp>
        <p:nvSpPr>
          <p:cNvPr id="510" name="Google Shape;510;p27"/>
          <p:cNvSpPr txBox="1"/>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sp>
        <p:nvSpPr>
          <p:cNvPr id="511" name="Google Shape;511;p27"/>
          <p:cNvSpPr txBox="1"/>
          <p:nvPr>
            <p:ph type="ftr" idx="11"/>
          </p:nvPr>
        </p:nvSpPr>
        <p:spPr>
          <a:xfrm>
            <a:off x="457200" y="4800600"/>
            <a:ext cx="5105400" cy="228600"/>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SzPts val="1100"/>
              <a:buNone/>
            </a:pPr>
          </a:p>
        </p:txBody>
      </p:sp>
      <p:sp>
        <p:nvSpPr>
          <p:cNvPr id="512" name="Google Shape;512;p27"/>
          <p:cNvSpPr txBox="1"/>
          <p:nvPr>
            <p:ph type="body" idx="1"/>
          </p:nvPr>
        </p:nvSpPr>
        <p:spPr>
          <a:xfrm>
            <a:off x="457200" y="1143000"/>
            <a:ext cx="8229600" cy="3486150"/>
          </a:xfrm>
          <a:prstGeom prst="rect">
            <a:avLst/>
          </a:prstGeom>
          <a:noFill/>
          <a:ln>
            <a:noFill/>
          </a:ln>
        </p:spPr>
        <p:txBody>
          <a:bodyPr spcFirstLastPara="1" wrap="square" lIns="68575" tIns="34275" rIns="68575" bIns="34275" anchor="t" anchorCtr="0">
            <a:normAutofit/>
          </a:bodyPr>
          <a:lstStyle/>
          <a:p>
            <a:pPr marL="342900" lvl="0" indent="-254000" algn="l" rtl="0">
              <a:lnSpc>
                <a:spcPct val="95000"/>
              </a:lnSpc>
              <a:spcBef>
                <a:spcPts val="900"/>
              </a:spcBef>
              <a:spcAft>
                <a:spcPts val="0"/>
              </a:spcAft>
              <a:buSzPts val="1400"/>
              <a:buChar char="•"/>
            </a:pPr>
            <a:r>
              <a:rPr lang="zh-CN"/>
              <a:t>Code coverage</a:t>
            </a:r>
            <a:endParaRPr lang="zh-CN"/>
          </a:p>
          <a:p>
            <a:pPr marL="342900" lvl="0" indent="-254000" algn="l" rtl="0">
              <a:lnSpc>
                <a:spcPct val="95000"/>
              </a:lnSpc>
              <a:spcBef>
                <a:spcPts val="900"/>
              </a:spcBef>
              <a:spcAft>
                <a:spcPts val="0"/>
              </a:spcAft>
              <a:buSzPts val="1400"/>
              <a:buChar char="•"/>
            </a:pPr>
            <a:r>
              <a:rPr lang="zh-CN"/>
              <a:t>Seed</a:t>
            </a:r>
            <a:endParaRPr lang="zh-CN"/>
          </a:p>
          <a:p>
            <a:pPr marL="88900" lvl="0" indent="342900" algn="l" rtl="0">
              <a:lnSpc>
                <a:spcPct val="95000"/>
              </a:lnSpc>
              <a:spcBef>
                <a:spcPts val="900"/>
              </a:spcBef>
              <a:spcAft>
                <a:spcPts val="0"/>
              </a:spcAft>
              <a:buSzPts val="1400"/>
              <a:buNone/>
            </a:pPr>
            <a:r>
              <a:rPr lang="zh-CN"/>
              <a:t>-- a file (json, xml, ...)</a:t>
            </a:r>
            <a:endParaRPr lang="zh-CN"/>
          </a:p>
          <a:p>
            <a:pPr marL="88900" lvl="0" indent="342900" algn="l" rtl="0">
              <a:lnSpc>
                <a:spcPct val="95000"/>
              </a:lnSpc>
              <a:spcBef>
                <a:spcPts val="900"/>
              </a:spcBef>
              <a:spcAft>
                <a:spcPts val="0"/>
              </a:spcAft>
              <a:buSzPts val="1400"/>
              <a:buNone/>
            </a:pPr>
            <a:r>
              <a:rPr lang="zh-CN"/>
              <a:t>-- a string </a:t>
            </a:r>
            <a:endParaRPr lang="zh-CN"/>
          </a:p>
          <a:p>
            <a:pPr marL="88900" lvl="0" indent="342900" algn="l" rtl="0">
              <a:lnSpc>
                <a:spcPct val="95000"/>
              </a:lnSpc>
              <a:spcBef>
                <a:spcPts val="900"/>
              </a:spcBef>
              <a:spcAft>
                <a:spcPts val="0"/>
              </a:spcAft>
              <a:buSzPts val="1400"/>
              <a:buNone/>
            </a:pPr>
            <a:r>
              <a:rPr lang="zh-CN"/>
              <a:t>-- a number</a:t>
            </a:r>
            <a:endParaRPr lang="zh-CN"/>
          </a:p>
          <a:p>
            <a:pPr marL="88900" lvl="0" indent="342900" algn="l" rtl="0">
              <a:lnSpc>
                <a:spcPct val="95000"/>
              </a:lnSpc>
              <a:spcBef>
                <a:spcPts val="900"/>
              </a:spcBef>
              <a:spcAft>
                <a:spcPts val="0"/>
              </a:spcAft>
              <a:buSzPts val="1400"/>
              <a:buNone/>
            </a:pPr>
            <a:r>
              <a:rPr lang="zh-CN"/>
              <a:t>-- sometimes non-readable</a:t>
            </a:r>
            <a:endParaRPr lang="zh-CN"/>
          </a:p>
        </p:txBody>
      </p:sp>
      <p:sp>
        <p:nvSpPr>
          <p:cNvPr id="513" name="Google Shape;513;p27"/>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t>Why dynamic detection method as fuzzing matters</a:t>
            </a:r>
            <a:endParaRPr lang="zh-CN"/>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518" name="Shape 518"/>
        <p:cNvGrpSpPr/>
        <p:nvPr/>
      </p:nvGrpSpPr>
      <p:grpSpPr>
        <a:xfrm>
          <a:off x="0" y="0"/>
          <a:ext cx="0" cy="0"/>
          <a:chOff x="0" y="0"/>
          <a:chExt cx="0" cy="0"/>
        </a:xfrm>
      </p:grpSpPr>
      <p:sp>
        <p:nvSpPr>
          <p:cNvPr id="519" name="Google Shape;519;p28"/>
          <p:cNvSpPr txBox="1"/>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sp>
        <p:nvSpPr>
          <p:cNvPr id="520" name="Google Shape;520;p28"/>
          <p:cNvSpPr txBox="1"/>
          <p:nvPr>
            <p:ph type="ftr" idx="11"/>
          </p:nvPr>
        </p:nvSpPr>
        <p:spPr>
          <a:xfrm>
            <a:off x="457200" y="4800600"/>
            <a:ext cx="5105400" cy="228600"/>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SzPts val="1100"/>
              <a:buNone/>
            </a:pPr>
            <a:r>
              <a:rPr lang="zh-CN" sz="800"/>
              <a:t>https://www.fuzzingbook.org/html/MutationFuzzer.html</a:t>
            </a:r>
            <a:endParaRPr sz="800"/>
          </a:p>
        </p:txBody>
      </p:sp>
      <p:sp>
        <p:nvSpPr>
          <p:cNvPr id="521" name="Google Shape;521;p28"/>
          <p:cNvSpPr txBox="1"/>
          <p:nvPr>
            <p:ph type="body" idx="1"/>
          </p:nvPr>
        </p:nvSpPr>
        <p:spPr>
          <a:xfrm>
            <a:off x="457200" y="1143000"/>
            <a:ext cx="8229600" cy="3486150"/>
          </a:xfrm>
          <a:prstGeom prst="rect">
            <a:avLst/>
          </a:prstGeom>
          <a:noFill/>
          <a:ln>
            <a:noFill/>
          </a:ln>
        </p:spPr>
        <p:txBody>
          <a:bodyPr spcFirstLastPara="1" wrap="square" lIns="68575" tIns="34275" rIns="68575" bIns="34275" anchor="t" anchorCtr="0">
            <a:normAutofit/>
          </a:bodyPr>
          <a:lstStyle/>
          <a:p>
            <a:pPr marL="342900" lvl="0" indent="-254000" algn="l" rtl="0">
              <a:lnSpc>
                <a:spcPct val="95000"/>
              </a:lnSpc>
              <a:spcBef>
                <a:spcPts val="900"/>
              </a:spcBef>
              <a:spcAft>
                <a:spcPts val="0"/>
              </a:spcAft>
              <a:buSzPts val="1400"/>
              <a:buChar char="•"/>
            </a:pPr>
            <a:r>
              <a:rPr lang="zh-CN"/>
              <a:t>Code coverage</a:t>
            </a:r>
            <a:endParaRPr lang="zh-CN"/>
          </a:p>
          <a:p>
            <a:pPr marL="342900" lvl="0" indent="-254000" algn="l" rtl="0">
              <a:lnSpc>
                <a:spcPct val="95000"/>
              </a:lnSpc>
              <a:spcBef>
                <a:spcPts val="900"/>
              </a:spcBef>
              <a:spcAft>
                <a:spcPts val="0"/>
              </a:spcAft>
              <a:buSzPts val="1400"/>
              <a:buChar char="•"/>
            </a:pPr>
            <a:r>
              <a:rPr lang="zh-CN"/>
              <a:t>Seed</a:t>
            </a:r>
            <a:endParaRPr lang="zh-CN"/>
          </a:p>
          <a:p>
            <a:pPr marL="342900" lvl="0" indent="-254000" algn="l" rtl="0">
              <a:lnSpc>
                <a:spcPct val="95000"/>
              </a:lnSpc>
              <a:spcBef>
                <a:spcPts val="900"/>
              </a:spcBef>
              <a:spcAft>
                <a:spcPts val="0"/>
              </a:spcAft>
              <a:buSzPts val="1400"/>
              <a:buChar char="•"/>
            </a:pPr>
            <a:r>
              <a:rPr lang="zh-CN"/>
              <a:t>Scheduling(mutation)</a:t>
            </a:r>
            <a:endParaRPr lang="zh-CN"/>
          </a:p>
          <a:p>
            <a:pPr marL="88900" lvl="0" indent="342900" algn="l" rtl="0">
              <a:lnSpc>
                <a:spcPct val="95000"/>
              </a:lnSpc>
              <a:spcBef>
                <a:spcPts val="900"/>
              </a:spcBef>
              <a:spcAft>
                <a:spcPts val="0"/>
              </a:spcAft>
              <a:buSzPts val="1400"/>
              <a:buNone/>
            </a:pPr>
            <a:r>
              <a:rPr lang="zh-CN"/>
              <a:t>-- byte level</a:t>
            </a:r>
            <a:endParaRPr lang="zh-CN"/>
          </a:p>
          <a:p>
            <a:pPr marL="88900" lvl="0" indent="342900" algn="l" rtl="0">
              <a:lnSpc>
                <a:spcPct val="95000"/>
              </a:lnSpc>
              <a:spcBef>
                <a:spcPts val="900"/>
              </a:spcBef>
              <a:spcAft>
                <a:spcPts val="0"/>
              </a:spcAft>
              <a:buSzPts val="1400"/>
              <a:buNone/>
            </a:pPr>
            <a:r>
              <a:rPr lang="zh-CN"/>
              <a:t>-- token level</a:t>
            </a:r>
            <a:endParaRPr lang="zh-CN"/>
          </a:p>
          <a:p>
            <a:pPr marL="88900" lvl="0" indent="342900" algn="l" rtl="0">
              <a:lnSpc>
                <a:spcPct val="95000"/>
              </a:lnSpc>
              <a:spcBef>
                <a:spcPts val="900"/>
              </a:spcBef>
              <a:spcAft>
                <a:spcPts val="0"/>
              </a:spcAft>
              <a:buSzPts val="1400"/>
              <a:buNone/>
            </a:pPr>
            <a:r>
              <a:rPr lang="zh-CN"/>
              <a:t>-- structure level</a:t>
            </a:r>
            <a:endParaRPr lang="zh-CN"/>
          </a:p>
          <a:p>
            <a:pPr marL="88900" lvl="0" indent="342900" algn="l" rtl="0">
              <a:lnSpc>
                <a:spcPct val="95000"/>
              </a:lnSpc>
              <a:spcBef>
                <a:spcPts val="900"/>
              </a:spcBef>
              <a:spcAft>
                <a:spcPts val="0"/>
              </a:spcAft>
              <a:buSzPts val="1400"/>
              <a:buNone/>
            </a:pPr>
            <a:r>
              <a:rPr lang="zh-CN"/>
              <a:t>-- gramar based</a:t>
            </a:r>
            <a:endParaRPr lang="zh-CN"/>
          </a:p>
          <a:p>
            <a:pPr marL="88900" lvl="0" indent="342900" algn="l" rtl="0">
              <a:lnSpc>
                <a:spcPct val="95000"/>
              </a:lnSpc>
              <a:spcBef>
                <a:spcPts val="900"/>
              </a:spcBef>
              <a:spcAft>
                <a:spcPts val="0"/>
              </a:spcAft>
              <a:buSzPts val="1400"/>
              <a:buNone/>
            </a:pPr>
            <a:r>
              <a:rPr lang="zh-CN"/>
              <a:t>-- semantic mutation</a:t>
            </a:r>
            <a:endParaRPr lang="zh-CN"/>
          </a:p>
        </p:txBody>
      </p:sp>
      <p:sp>
        <p:nvSpPr>
          <p:cNvPr id="522" name="Google Shape;522;p28"/>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t>Why dynamic detection method as fuzzing matters</a:t>
            </a:r>
            <a:endParaRPr lang="zh-CN"/>
          </a:p>
        </p:txBody>
      </p:sp>
      <p:pic>
        <p:nvPicPr>
          <p:cNvPr id="523" name="Google Shape;523;p28"/>
          <p:cNvPicPr preferRelativeResize="0"/>
          <p:nvPr/>
        </p:nvPicPr>
        <p:blipFill rotWithShape="1">
          <a:blip r:embed="rId1"/>
          <a:srcRect/>
          <a:stretch>
            <a:fillRect/>
          </a:stretch>
        </p:blipFill>
        <p:spPr>
          <a:xfrm>
            <a:off x="4080034" y="1143000"/>
            <a:ext cx="2053590" cy="1726882"/>
          </a:xfrm>
          <a:prstGeom prst="rect">
            <a:avLst/>
          </a:prstGeom>
          <a:noFill/>
          <a:ln>
            <a:noFill/>
          </a:ln>
        </p:spPr>
      </p:pic>
      <p:pic>
        <p:nvPicPr>
          <p:cNvPr id="524" name="Google Shape;524;p28"/>
          <p:cNvPicPr preferRelativeResize="0"/>
          <p:nvPr/>
        </p:nvPicPr>
        <p:blipFill rotWithShape="1">
          <a:blip r:embed="rId2"/>
          <a:srcRect/>
          <a:stretch>
            <a:fillRect/>
          </a:stretch>
        </p:blipFill>
        <p:spPr>
          <a:xfrm>
            <a:off x="4023836" y="3073241"/>
            <a:ext cx="3600450" cy="1357312"/>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529" name="Shape 529"/>
        <p:cNvGrpSpPr/>
        <p:nvPr/>
      </p:nvGrpSpPr>
      <p:grpSpPr>
        <a:xfrm>
          <a:off x="0" y="0"/>
          <a:ext cx="0" cy="0"/>
          <a:chOff x="0" y="0"/>
          <a:chExt cx="0" cy="0"/>
        </a:xfrm>
      </p:grpSpPr>
      <p:sp>
        <p:nvSpPr>
          <p:cNvPr id="530" name="Google Shape;530;p29"/>
          <p:cNvSpPr txBox="1"/>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sp>
        <p:nvSpPr>
          <p:cNvPr id="531" name="Google Shape;531;p29"/>
          <p:cNvSpPr txBox="1"/>
          <p:nvPr>
            <p:ph type="ftr" idx="11"/>
          </p:nvPr>
        </p:nvSpPr>
        <p:spPr>
          <a:xfrm>
            <a:off x="457200" y="4800600"/>
            <a:ext cx="5105400" cy="228600"/>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SzPts val="1100"/>
              <a:buNone/>
            </a:pPr>
            <a:r>
              <a:rPr lang="zh-CN" sz="800"/>
              <a:t>https://arxiv.org/pdf/2308.04748</a:t>
            </a:r>
            <a:endParaRPr sz="800"/>
          </a:p>
        </p:txBody>
      </p:sp>
      <p:sp>
        <p:nvSpPr>
          <p:cNvPr id="532" name="Google Shape;532;p29"/>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t>How LLMs helps fuzzing</a:t>
            </a:r>
            <a:endParaRPr lang="zh-CN"/>
          </a:p>
        </p:txBody>
      </p:sp>
      <p:pic>
        <p:nvPicPr>
          <p:cNvPr id="533" name="Google Shape;533;p29"/>
          <p:cNvPicPr preferRelativeResize="0"/>
          <p:nvPr/>
        </p:nvPicPr>
        <p:blipFill rotWithShape="1">
          <a:blip r:embed="rId1"/>
          <a:srcRect/>
          <a:stretch>
            <a:fillRect/>
          </a:stretch>
        </p:blipFill>
        <p:spPr>
          <a:xfrm>
            <a:off x="561975" y="1017270"/>
            <a:ext cx="8186738" cy="36290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538" name="Shape 538"/>
        <p:cNvGrpSpPr/>
        <p:nvPr/>
      </p:nvGrpSpPr>
      <p:grpSpPr>
        <a:xfrm>
          <a:off x="0" y="0"/>
          <a:ext cx="0" cy="0"/>
          <a:chOff x="0" y="0"/>
          <a:chExt cx="0" cy="0"/>
        </a:xfrm>
      </p:grpSpPr>
      <p:sp>
        <p:nvSpPr>
          <p:cNvPr id="539" name="Google Shape;539;p30"/>
          <p:cNvSpPr txBox="1"/>
          <p:nvPr>
            <p:ph type="sldNum" idx="12"/>
          </p:nvPr>
        </p:nvSpPr>
        <p:spPr>
          <a:xfrm>
            <a:off x="1" y="4790748"/>
            <a:ext cx="457200" cy="295602"/>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sp>
        <p:nvSpPr>
          <p:cNvPr id="540" name="Google Shape;540;p30"/>
          <p:cNvSpPr txBox="1"/>
          <p:nvPr>
            <p:ph type="ftr" idx="11"/>
          </p:nvPr>
        </p:nvSpPr>
        <p:spPr>
          <a:xfrm>
            <a:off x="457200" y="4800600"/>
            <a:ext cx="5105400" cy="228600"/>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SzPts val="1100"/>
              <a:buNone/>
            </a:pPr>
          </a:p>
        </p:txBody>
      </p:sp>
      <p:sp>
        <p:nvSpPr>
          <p:cNvPr id="541" name="Google Shape;541;p30"/>
          <p:cNvSpPr txBox="1"/>
          <p:nvPr>
            <p:ph type="body" idx="1"/>
          </p:nvPr>
        </p:nvSpPr>
        <p:spPr>
          <a:xfrm>
            <a:off x="457200" y="1143000"/>
            <a:ext cx="8229600" cy="3486150"/>
          </a:xfrm>
          <a:prstGeom prst="rect">
            <a:avLst/>
          </a:prstGeom>
          <a:noFill/>
          <a:ln>
            <a:noFill/>
          </a:ln>
        </p:spPr>
        <p:txBody>
          <a:bodyPr spcFirstLastPara="1" wrap="square" lIns="68575" tIns="34275" rIns="68575" bIns="34275" anchor="t" anchorCtr="0">
            <a:normAutofit/>
          </a:bodyPr>
          <a:lstStyle/>
          <a:p>
            <a:pPr marL="342900" lvl="0" indent="-254000" algn="l" rtl="0">
              <a:lnSpc>
                <a:spcPct val="95000"/>
              </a:lnSpc>
              <a:spcBef>
                <a:spcPts val="900"/>
              </a:spcBef>
              <a:spcAft>
                <a:spcPts val="0"/>
              </a:spcAft>
              <a:buSzPts val="1400"/>
              <a:buChar char="•"/>
            </a:pPr>
            <a:r>
              <a:rPr lang="zh-CN"/>
              <a:t>OSS-Fuzz-gen</a:t>
            </a:r>
            <a:endParaRPr lang="zh-CN"/>
          </a:p>
          <a:p>
            <a:pPr marL="342900" lvl="0" indent="-165100" algn="l" rtl="0">
              <a:lnSpc>
                <a:spcPct val="95000"/>
              </a:lnSpc>
              <a:spcBef>
                <a:spcPts val="900"/>
              </a:spcBef>
              <a:spcAft>
                <a:spcPts val="0"/>
              </a:spcAft>
              <a:buSzPts val="1400"/>
              <a:buNone/>
            </a:pPr>
          </a:p>
        </p:txBody>
      </p:sp>
      <p:sp>
        <p:nvSpPr>
          <p:cNvPr id="542" name="Google Shape;542;p30"/>
          <p:cNvSpPr txBox="1"/>
          <p:nvPr>
            <p:ph type="title"/>
          </p:nvPr>
        </p:nvSpPr>
        <p:spPr>
          <a:xfrm>
            <a:off x="457200" y="263525"/>
            <a:ext cx="8229600" cy="600075"/>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t>Hands on experiments</a:t>
            </a:r>
            <a:endParaRPr lang="zh-CN"/>
          </a:p>
        </p:txBody>
      </p:sp>
      <p:pic>
        <p:nvPicPr>
          <p:cNvPr id="543" name="Google Shape;543;p30"/>
          <p:cNvPicPr preferRelativeResize="0"/>
          <p:nvPr/>
        </p:nvPicPr>
        <p:blipFill rotWithShape="1">
          <a:blip r:embed="rId1"/>
          <a:srcRect/>
          <a:stretch>
            <a:fillRect/>
          </a:stretch>
        </p:blipFill>
        <p:spPr>
          <a:xfrm>
            <a:off x="457200" y="1633061"/>
            <a:ext cx="2723674" cy="2506504"/>
          </a:xfrm>
          <a:prstGeom prst="rect">
            <a:avLst/>
          </a:prstGeom>
          <a:noFill/>
          <a:ln>
            <a:noFill/>
          </a:ln>
        </p:spPr>
      </p:pic>
      <p:pic>
        <p:nvPicPr>
          <p:cNvPr id="544" name="Google Shape;544;p30"/>
          <p:cNvPicPr preferRelativeResize="0"/>
          <p:nvPr/>
        </p:nvPicPr>
        <p:blipFill rotWithShape="1">
          <a:blip r:embed="rId2"/>
          <a:srcRect/>
          <a:stretch>
            <a:fillRect/>
          </a:stretch>
        </p:blipFill>
        <p:spPr>
          <a:xfrm>
            <a:off x="3256598" y="1743075"/>
            <a:ext cx="5826919" cy="2177891"/>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548" name="Shape 548"/>
        <p:cNvGrpSpPr/>
        <p:nvPr/>
      </p:nvGrpSpPr>
      <p:grpSpPr>
        <a:xfrm>
          <a:off x="0" y="0"/>
          <a:ext cx="0" cy="0"/>
          <a:chOff x="0" y="0"/>
          <a:chExt cx="0" cy="0"/>
        </a:xfrm>
      </p:grpSpPr>
      <p:sp>
        <p:nvSpPr>
          <p:cNvPr id="549" name="Google Shape;549;p40"/>
          <p:cNvSpPr txBox="1"/>
          <p:nvPr>
            <p:ph type="title"/>
          </p:nvPr>
        </p:nvSpPr>
        <p:spPr>
          <a:xfrm>
            <a:off x="457200" y="263525"/>
            <a:ext cx="8229600" cy="600000"/>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t>Post-workshop Quiz</a:t>
            </a:r>
            <a:endParaRPr lang="zh-CN"/>
          </a:p>
        </p:txBody>
      </p:sp>
      <p:sp>
        <p:nvSpPr>
          <p:cNvPr id="550" name="Google Shape;550;p40"/>
          <p:cNvSpPr txBox="1"/>
          <p:nvPr>
            <p:ph type="body" idx="1"/>
          </p:nvPr>
        </p:nvSpPr>
        <p:spPr>
          <a:xfrm>
            <a:off x="457200" y="1143000"/>
            <a:ext cx="8229600" cy="3486300"/>
          </a:xfrm>
          <a:prstGeom prst="rect">
            <a:avLst/>
          </a:prstGeom>
          <a:noFill/>
          <a:ln>
            <a:noFill/>
          </a:ln>
        </p:spPr>
        <p:txBody>
          <a:bodyPr spcFirstLastPara="1" wrap="square" lIns="68575" tIns="34275" rIns="68575" bIns="34275" anchor="t" anchorCtr="0">
            <a:normAutofit/>
          </a:bodyPr>
          <a:lstStyle/>
          <a:p>
            <a:pPr marL="342900" lvl="0" indent="-165100" algn="l" rtl="0">
              <a:lnSpc>
                <a:spcPct val="95000"/>
              </a:lnSpc>
              <a:spcBef>
                <a:spcPts val="900"/>
              </a:spcBef>
              <a:spcAft>
                <a:spcPts val="0"/>
              </a:spcAft>
              <a:buSzPts val="1400"/>
              <a:buNone/>
            </a:pPr>
            <a:r>
              <a:rPr lang="zh-CN" u="sng">
                <a:solidFill>
                  <a:schemeClr val="hlink"/>
                </a:solidFill>
                <a:hlinkClick r:id="rId1"/>
              </a:rPr>
              <a:t>https://docs.google.com/forms/d/e/1FAIpQLSeWm6VmdRqP1jc2hU-sAQfu6CTMRnFNIZcRbN3DBW2gzjh0ZA/viewform?usp=publish-editor</a:t>
            </a:r>
            <a:endParaRPr lang="zh-CN" u="sng">
              <a:solidFill>
                <a:schemeClr val="hlink"/>
              </a:solidFill>
            </a:endParaRPr>
          </a:p>
          <a:p>
            <a:pPr marL="342900" lvl="0" indent="-165100" algn="l" rtl="0">
              <a:lnSpc>
                <a:spcPct val="95000"/>
              </a:lnSpc>
              <a:spcBef>
                <a:spcPts val="900"/>
              </a:spcBef>
              <a:spcAft>
                <a:spcPts val="0"/>
              </a:spcAft>
              <a:buSzPts val="1400"/>
              <a:buNone/>
            </a:pPr>
          </a:p>
          <a:p>
            <a:pPr marL="342900" lvl="0" indent="-165100" algn="l" rtl="0">
              <a:lnSpc>
                <a:spcPct val="95000"/>
              </a:lnSpc>
              <a:spcBef>
                <a:spcPts val="900"/>
              </a:spcBef>
              <a:spcAft>
                <a:spcPts val="0"/>
              </a:spcAft>
              <a:buSzPts val="1400"/>
              <a:buNone/>
            </a:pPr>
          </a:p>
        </p:txBody>
      </p:sp>
      <p:sp>
        <p:nvSpPr>
          <p:cNvPr id="551" name="Google Shape;551;p40"/>
          <p:cNvSpPr txBox="1"/>
          <p:nvPr>
            <p:ph type="sldNum" idx="12"/>
          </p:nvPr>
        </p:nvSpPr>
        <p:spPr>
          <a:xfrm>
            <a:off x="1" y="4790748"/>
            <a:ext cx="457200" cy="2955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pic>
        <p:nvPicPr>
          <p:cNvPr id="552" name="Google Shape;552;p40"/>
          <p:cNvPicPr preferRelativeResize="0"/>
          <p:nvPr/>
        </p:nvPicPr>
        <p:blipFill rotWithShape="1">
          <a:blip r:embed="rId2"/>
          <a:srcRect/>
          <a:stretch>
            <a:fillRect/>
          </a:stretch>
        </p:blipFill>
        <p:spPr>
          <a:xfrm>
            <a:off x="3348550" y="2025250"/>
            <a:ext cx="2890825" cy="289082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556" name="Shape 556"/>
        <p:cNvGrpSpPr/>
        <p:nvPr/>
      </p:nvGrpSpPr>
      <p:grpSpPr>
        <a:xfrm>
          <a:off x="0" y="0"/>
          <a:ext cx="0" cy="0"/>
          <a:chOff x="0" y="0"/>
          <a:chExt cx="0" cy="0"/>
        </a:xfrm>
      </p:grpSpPr>
      <p:sp>
        <p:nvSpPr>
          <p:cNvPr id="557" name="Google Shape;557;g3d47a4565b8_28_31"/>
          <p:cNvSpPr txBox="1"/>
          <p:nvPr>
            <p:ph type="title"/>
          </p:nvPr>
        </p:nvSpPr>
        <p:spPr>
          <a:xfrm>
            <a:off x="457200" y="263525"/>
            <a:ext cx="8229600" cy="600000"/>
          </a:xfrm>
          <a:prstGeom prst="rect">
            <a:avLst/>
          </a:prstGeom>
          <a:noFill/>
          <a:ln>
            <a:noFill/>
          </a:ln>
        </p:spPr>
        <p:txBody>
          <a:bodyPr spcFirstLastPara="1" wrap="square" lIns="68575" tIns="34275" rIns="68575" bIns="34275" anchor="b" anchorCtr="0">
            <a:noAutofit/>
          </a:bodyPr>
          <a:lstStyle/>
          <a:p>
            <a:pPr marL="0" lvl="0" indent="0" algn="l" rtl="0">
              <a:lnSpc>
                <a:spcPct val="100000"/>
              </a:lnSpc>
              <a:spcBef>
                <a:spcPts val="0"/>
              </a:spcBef>
              <a:spcAft>
                <a:spcPts val="0"/>
              </a:spcAft>
              <a:buClr>
                <a:srgbClr val="262626"/>
              </a:buClr>
              <a:buSzPts val="1400"/>
              <a:buNone/>
            </a:pPr>
            <a:r>
              <a:rPr lang="zh-CN"/>
              <a:t>Post-workshop Survey</a:t>
            </a:r>
            <a:endParaRPr lang="zh-CN"/>
          </a:p>
        </p:txBody>
      </p:sp>
      <p:sp>
        <p:nvSpPr>
          <p:cNvPr id="558" name="Google Shape;558;g3d47a4565b8_28_31"/>
          <p:cNvSpPr txBox="1"/>
          <p:nvPr>
            <p:ph type="body" idx="1"/>
          </p:nvPr>
        </p:nvSpPr>
        <p:spPr>
          <a:xfrm>
            <a:off x="457200" y="1143000"/>
            <a:ext cx="8229600" cy="3486300"/>
          </a:xfrm>
          <a:prstGeom prst="rect">
            <a:avLst/>
          </a:prstGeom>
          <a:noFill/>
          <a:ln>
            <a:noFill/>
          </a:ln>
        </p:spPr>
        <p:txBody>
          <a:bodyPr spcFirstLastPara="1" wrap="square" lIns="68575" tIns="34275" rIns="68575" bIns="34275" anchor="t" anchorCtr="0">
            <a:normAutofit/>
          </a:bodyPr>
          <a:lstStyle/>
          <a:p>
            <a:pPr marL="342900" lvl="0" indent="-165100" algn="l" rtl="0">
              <a:lnSpc>
                <a:spcPct val="95000"/>
              </a:lnSpc>
              <a:spcBef>
                <a:spcPts val="900"/>
              </a:spcBef>
              <a:spcAft>
                <a:spcPts val="0"/>
              </a:spcAft>
              <a:buSzPts val="1400"/>
              <a:buNone/>
            </a:pPr>
            <a:r>
              <a:rPr lang="zh-CN" u="sng">
                <a:solidFill>
                  <a:schemeClr val="hlink"/>
                </a:solidFill>
                <a:hlinkClick r:id="rId1"/>
              </a:rPr>
              <a:t>https://docs.google.com/forms/d/e/1FAIpQLSfLsSk2Im3z0i-C1vZZvoncM_lZDDe_UpqJ85Q3chkUuPl4Hg/viewform</a:t>
            </a:r>
            <a:endParaRPr lang="zh-CN" u="sng">
              <a:solidFill>
                <a:schemeClr val="hlink"/>
              </a:solidFill>
            </a:endParaRPr>
          </a:p>
          <a:p>
            <a:pPr marL="342900" lvl="0" indent="-165100" algn="l" rtl="0">
              <a:lnSpc>
                <a:spcPct val="95000"/>
              </a:lnSpc>
              <a:spcBef>
                <a:spcPts val="900"/>
              </a:spcBef>
              <a:spcAft>
                <a:spcPts val="0"/>
              </a:spcAft>
              <a:buSzPts val="1400"/>
              <a:buNone/>
            </a:pPr>
          </a:p>
          <a:p>
            <a:pPr marL="342900" lvl="0" indent="-165100" algn="l" rtl="0">
              <a:lnSpc>
                <a:spcPct val="95000"/>
              </a:lnSpc>
              <a:spcBef>
                <a:spcPts val="900"/>
              </a:spcBef>
              <a:spcAft>
                <a:spcPts val="0"/>
              </a:spcAft>
              <a:buSzPts val="1400"/>
              <a:buNone/>
            </a:pPr>
          </a:p>
          <a:p>
            <a:pPr marL="342900" lvl="0" indent="-165100" algn="l" rtl="0">
              <a:lnSpc>
                <a:spcPct val="95000"/>
              </a:lnSpc>
              <a:spcBef>
                <a:spcPts val="900"/>
              </a:spcBef>
              <a:spcAft>
                <a:spcPts val="0"/>
              </a:spcAft>
              <a:buSzPts val="1400"/>
              <a:buNone/>
            </a:pPr>
          </a:p>
        </p:txBody>
      </p:sp>
      <p:sp>
        <p:nvSpPr>
          <p:cNvPr id="559" name="Google Shape;559;g3d47a4565b8_28_31"/>
          <p:cNvSpPr txBox="1"/>
          <p:nvPr>
            <p:ph type="sldNum" idx="12"/>
          </p:nvPr>
        </p:nvSpPr>
        <p:spPr>
          <a:xfrm>
            <a:off x="1" y="4790748"/>
            <a:ext cx="457200" cy="295500"/>
          </a:xfrm>
          <a:prstGeom prst="rect">
            <a:avLst/>
          </a:prstGeom>
          <a:noFill/>
          <a:ln>
            <a:noFill/>
          </a:ln>
        </p:spPr>
        <p:txBody>
          <a:bodyPr spcFirstLastPara="1" wrap="square" lIns="68575" tIns="34275" rIns="68575" bIns="34275" anchor="ctr" anchorCtr="0">
            <a:noAutofit/>
          </a:bodyPr>
          <a:lstStyle/>
          <a:p>
            <a:pPr marL="0" lvl="0" indent="0" algn="l" rtl="0">
              <a:lnSpc>
                <a:spcPct val="100000"/>
              </a:lnSpc>
              <a:spcBef>
                <a:spcPts val="0"/>
              </a:spcBef>
              <a:spcAft>
                <a:spcPts val="0"/>
              </a:spcAft>
              <a:buSzPts val="900"/>
              <a:buNone/>
            </a:pPr>
            <a:fld id="{00000000-1234-1234-1234-123412341234}" type="slidenum">
              <a:rPr lang="zh-CN"/>
            </a:fld>
            <a:endParaRPr lang="zh-CN"/>
          </a:p>
        </p:txBody>
      </p:sp>
      <p:pic>
        <p:nvPicPr>
          <p:cNvPr id="560" name="Google Shape;560;g3d47a4565b8_28_31"/>
          <p:cNvPicPr preferRelativeResize="0"/>
          <p:nvPr/>
        </p:nvPicPr>
        <p:blipFill>
          <a:blip r:embed="rId2"/>
          <a:stretch>
            <a:fillRect/>
          </a:stretch>
        </p:blipFill>
        <p:spPr>
          <a:xfrm>
            <a:off x="3114175" y="1752100"/>
            <a:ext cx="3140525" cy="31405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565" name="Shape 565"/>
        <p:cNvGrpSpPr/>
        <p:nvPr/>
      </p:nvGrpSpPr>
      <p:grpSpPr>
        <a:xfrm>
          <a:off x="0" y="0"/>
          <a:ext cx="0" cy="0"/>
          <a:chOff x="0" y="0"/>
          <a:chExt cx="0" cy="0"/>
        </a:xfrm>
      </p:grpSpPr>
      <p:sp>
        <p:nvSpPr>
          <p:cNvPr id="566" name="Google Shape;566;p41"/>
          <p:cNvSpPr txBox="1"/>
          <p:nvPr/>
        </p:nvSpPr>
        <p:spPr>
          <a:xfrm>
            <a:off x="457200" y="1892450"/>
            <a:ext cx="8229000" cy="743100"/>
          </a:xfrm>
          <a:prstGeom prst="rect">
            <a:avLst/>
          </a:prstGeom>
          <a:noFill/>
          <a:ln>
            <a:noFill/>
          </a:ln>
        </p:spPr>
        <p:txBody>
          <a:bodyPr spcFirstLastPara="1" wrap="square" lIns="68575" tIns="34275" rIns="68575" bIns="34275" anchor="b" anchorCtr="0">
            <a:noAutofit/>
          </a:bodyPr>
          <a:lstStyle/>
          <a:p>
            <a:pPr marL="0" marR="0" lvl="0" indent="0" algn="ctr" rtl="0">
              <a:lnSpc>
                <a:spcPct val="100000"/>
              </a:lnSpc>
              <a:spcBef>
                <a:spcPts val="0"/>
              </a:spcBef>
              <a:spcAft>
                <a:spcPts val="0"/>
              </a:spcAft>
              <a:buClr>
                <a:schemeClr val="lt1"/>
              </a:buClr>
              <a:buSzPts val="3000"/>
              <a:buFont typeface="Verdana" panose="020B0804030504040204"/>
              <a:buNone/>
            </a:pPr>
            <a:r>
              <a:rPr lang="zh-CN" sz="3000" b="1" i="0" u="none" strike="noStrike" cap="none">
                <a:solidFill>
                  <a:schemeClr val="lt1"/>
                </a:solidFill>
                <a:latin typeface="Verdana" panose="020B0804030504040204"/>
                <a:ea typeface="Verdana" panose="020B0804030504040204"/>
                <a:cs typeface="Verdana" panose="020B0804030504040204"/>
                <a:sym typeface="Verdana" panose="020B0804030504040204"/>
              </a:rPr>
              <a:t>Thanks</a:t>
            </a:r>
            <a:endParaRPr sz="3000" b="1" i="0" u="none" strike="noStrike" cap="none">
              <a:solidFill>
                <a:schemeClr val="lt1"/>
              </a:solidFill>
              <a:latin typeface="Verdana" panose="020B0804030504040204"/>
              <a:ea typeface="Verdana" panose="020B0804030504040204"/>
              <a:cs typeface="Verdana" panose="020B0804030504040204"/>
              <a:sym typeface="Verdana" panose="020B0804030504040204"/>
            </a:endParaRPr>
          </a:p>
        </p:txBody>
      </p:sp>
      <p:sp>
        <p:nvSpPr>
          <p:cNvPr id="567" name="Google Shape;567;p41"/>
          <p:cNvSpPr txBox="1"/>
          <p:nvPr>
            <p:ph type="subTitle" idx="1"/>
          </p:nvPr>
        </p:nvSpPr>
        <p:spPr>
          <a:xfrm>
            <a:off x="542925" y="2825125"/>
            <a:ext cx="8143200" cy="1591200"/>
          </a:xfrm>
          <a:prstGeom prst="rect">
            <a:avLst/>
          </a:prstGeom>
          <a:noFill/>
          <a:ln>
            <a:noFill/>
          </a:ln>
        </p:spPr>
        <p:txBody>
          <a:bodyPr spcFirstLastPara="1" wrap="square" lIns="68575" tIns="34275" rIns="68575" bIns="34275" anchor="t" anchorCtr="0">
            <a:normAutofit/>
          </a:bodyPr>
          <a:lstStyle/>
          <a:p>
            <a:pPr marL="0" lvl="0" indent="0" algn="ctr" rtl="0">
              <a:lnSpc>
                <a:spcPct val="95000"/>
              </a:lnSpc>
              <a:spcBef>
                <a:spcPts val="0"/>
              </a:spcBef>
              <a:spcAft>
                <a:spcPts val="0"/>
              </a:spcAft>
              <a:buSzPts val="2100"/>
              <a:buNone/>
            </a:pPr>
            <a:r>
              <a:rPr lang="zh-CN"/>
              <a:t>Q&amp;A</a:t>
            </a:r>
            <a:endParaRPr sz="2100">
              <a:solidFill>
                <a:schemeClr val="lt1"/>
              </a:solidFill>
            </a:endParaRPr>
          </a:p>
        </p:txBody>
      </p:sp>
    </p:spTree>
  </p:cSld>
  <p:clrMapOvr>
    <a:masterClrMapping/>
  </p:clrMapOvr>
</p:sld>
</file>

<file path=ppt/theme/theme1.xml><?xml version="1.0" encoding="utf-8"?>
<a:theme xmlns:a="http://schemas.openxmlformats.org/drawingml/2006/main" name="WPI-White">
  <a:themeElements>
    <a:clrScheme name="Custom 56">
      <a:dk1>
        <a:srgbClr val="000000"/>
      </a:dk1>
      <a:lt1>
        <a:srgbClr val="FFFFFF"/>
      </a:lt1>
      <a:dk2>
        <a:srgbClr val="6D6D6D"/>
      </a:dk2>
      <a:lt2>
        <a:srgbClr val="AB192D"/>
      </a:lt2>
      <a:accent1>
        <a:srgbClr val="AB192D"/>
      </a:accent1>
      <a:accent2>
        <a:srgbClr val="B2B7BB"/>
      </a:accent2>
      <a:accent3>
        <a:srgbClr val="2C6A8C"/>
      </a:accent3>
      <a:accent4>
        <a:srgbClr val="B7A079"/>
      </a:accent4>
      <a:accent5>
        <a:srgbClr val="46A0DC"/>
      </a:accent5>
      <a:accent6>
        <a:srgbClr val="6D6D6D"/>
      </a:accent6>
      <a:hlink>
        <a:srgbClr val="46A0DC"/>
      </a:hlink>
      <a:folHlink>
        <a:srgbClr val="808D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11539</Words>
  <Application>WPS Presentation</Application>
  <PresentationFormat/>
  <Paragraphs>620</Paragraphs>
  <Slides>49</Slides>
  <Notes>0</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49</vt:i4>
      </vt:variant>
    </vt:vector>
  </HeadingPairs>
  <TitlesOfParts>
    <vt:vector size="69" baseType="lpstr">
      <vt:lpstr>Arial</vt:lpstr>
      <vt:lpstr>SimSun</vt:lpstr>
      <vt:lpstr>Wingdings</vt:lpstr>
      <vt:lpstr>Arial</vt:lpstr>
      <vt:lpstr>Verdana</vt:lpstr>
      <vt:lpstr>Noto Sans Symbols</vt:lpstr>
      <vt:lpstr>Thonburi</vt:lpstr>
      <vt:lpstr>Courier New</vt:lpstr>
      <vt:lpstr>Times New Roman</vt:lpstr>
      <vt:lpstr>Helvetica Neue</vt:lpstr>
      <vt:lpstr>Calibri</vt:lpstr>
      <vt:lpstr>Helvetica Neue</vt:lpstr>
      <vt:lpstr>Georgia</vt:lpstr>
      <vt:lpstr>Roboto Mono</vt:lpstr>
      <vt:lpstr>Microsoft YaHei</vt:lpstr>
      <vt:lpstr>汉仪旗黑</vt:lpstr>
      <vt:lpstr>Arial Unicode MS</vt:lpstr>
      <vt:lpstr>宋体-简</vt:lpstr>
      <vt:lpstr>Apple Color Emoji</vt:lpstr>
      <vt:lpstr>WPI-White</vt:lpstr>
      <vt:lpstr>     NAIRR Workshop Series on Cybersecurity, Edge AI, and Autonomous Driving  </vt:lpstr>
      <vt:lpstr>CARE-AI Team</vt:lpstr>
      <vt:lpstr>LIONS Group</vt:lpstr>
      <vt:lpstr>     2.1 AI for Cybersecurity: Threats and Defenses  </vt:lpstr>
      <vt:lpstr>Pre-workshop Quiz</vt:lpstr>
      <vt:lpstr>     AI-Assisted Intrusion Detection  </vt:lpstr>
      <vt:lpstr>Content</vt:lpstr>
      <vt:lpstr>What system logs look like</vt:lpstr>
      <vt:lpstr>What system logs look like</vt:lpstr>
      <vt:lpstr>What system logs look like</vt:lpstr>
      <vt:lpstr>Limitaion of traditional method</vt:lpstr>
      <vt:lpstr>Limitaion of traditional method</vt:lpstr>
      <vt:lpstr>How machine learning method helps IDS</vt:lpstr>
      <vt:lpstr>Hands on experiments</vt:lpstr>
      <vt:lpstr>Logistic Regression Fundamentals</vt:lpstr>
      <vt:lpstr>Logistic Regression</vt:lpstr>
      <vt:lpstr>Naive Bayes Algorithm Fundamentals</vt:lpstr>
      <vt:lpstr>Gaussian Naive Bayes</vt:lpstr>
      <vt:lpstr>Support Vector Machine Fundamentals</vt:lpstr>
      <vt:lpstr>Support Vector Machine (SVM)</vt:lpstr>
      <vt:lpstr>Decision Tree Fundamentals</vt:lpstr>
      <vt:lpstr>Decision Tree</vt:lpstr>
      <vt:lpstr>Random Forest Fundamentals</vt:lpstr>
      <vt:lpstr>Random Forest</vt:lpstr>
      <vt:lpstr>CNN Fundamentals</vt:lpstr>
      <vt:lpstr>CNN</vt:lpstr>
      <vt:lpstr>     AI-Assisted Code Vulnerability Detection </vt:lpstr>
      <vt:lpstr>What are the Vulnerable Codes？</vt:lpstr>
      <vt:lpstr>What are the Vulnerable Codes？</vt:lpstr>
      <vt:lpstr>What are the Vulnerable Codes？</vt:lpstr>
      <vt:lpstr>Why do we need Vulnerability Detection</vt:lpstr>
      <vt:lpstr>Task Definition</vt:lpstr>
      <vt:lpstr>Code Representation</vt:lpstr>
      <vt:lpstr>Model Architecture</vt:lpstr>
      <vt:lpstr>Hands-on Task</vt:lpstr>
      <vt:lpstr>     AI-Assisted Binary &amp; Library Fuzzing  </vt:lpstr>
      <vt:lpstr>Content</vt:lpstr>
      <vt:lpstr>How code works during execution</vt:lpstr>
      <vt:lpstr>How code works during execution</vt:lpstr>
      <vt:lpstr>How code works during execution</vt:lpstr>
      <vt:lpstr>How code works during execution</vt:lpstr>
      <vt:lpstr>Why dynamic detection method as fuzzing matters</vt:lpstr>
      <vt:lpstr>Why dynamic detection method as fuzzing matters</vt:lpstr>
      <vt:lpstr>Why dynamic detection method as fuzzing matters</vt:lpstr>
      <vt:lpstr>How LLMs helps fuzzing</vt:lpstr>
      <vt:lpstr>Hands on experiments</vt:lpstr>
      <vt:lpstr>Post-workshop Quiz</vt:lpstr>
      <vt:lpstr>Post-workshop Survey</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_x000B_    NAIRR Workshop Series on Cybersecurity, Edge AI, and Autonomous Driving  </dc:title>
  <dc:creator/>
  <cp:lastModifiedBy>mcfly</cp:lastModifiedBy>
  <cp:revision>1</cp:revision>
  <dcterms:created xsi:type="dcterms:W3CDTF">2026-04-04T13:48:21Z</dcterms:created>
  <dcterms:modified xsi:type="dcterms:W3CDTF">2026-04-04T13:48:21Z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FA7CB81755F95668A516D16989C5CED4_42</vt:lpwstr>
  </property>
  <property fmtid="{D5CDD505-2E9C-101B-9397-08002B2CF9AE}" pid="3" name="KSOProductBuildVer">
    <vt:lpwstr>1033-6.10.0.8196</vt:lpwstr>
  </property>
</Properties>
</file>