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57" r:id="rId5"/>
    <p:sldId id="268" r:id="rId6"/>
    <p:sldId id="272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299" r:id="rId3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Advanced Model Acceleration Techniques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3.2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advanced models need advanced acceleration</a:t>
            </a:r>
          </a:p>
          <a:p>
            <a:r>
              <a:rPr lang="en-US" dirty="0"/>
              <a:t>Part 1 – </a:t>
            </a:r>
            <a:r>
              <a:rPr lang="fr-FR" dirty="0"/>
              <a:t>Efficient Vision Transformer (</a:t>
            </a:r>
            <a:r>
              <a:rPr lang="fr-FR" dirty="0" err="1"/>
              <a:t>ViT</a:t>
            </a:r>
            <a:r>
              <a:rPr lang="fr-FR" dirty="0"/>
              <a:t>) Attention</a:t>
            </a:r>
          </a:p>
          <a:p>
            <a:r>
              <a:rPr lang="en-US" dirty="0"/>
              <a:t>Part 2 – </a:t>
            </a:r>
            <a:r>
              <a:rPr lang="en-US" dirty="0" err="1"/>
              <a:t>SmoothQuant</a:t>
            </a:r>
            <a:r>
              <a:rPr lang="en-US" dirty="0"/>
              <a:t> for LLMs</a:t>
            </a:r>
          </a:p>
          <a:p>
            <a:r>
              <a:rPr lang="en-US" dirty="0"/>
              <a:t>Part 3 – Diffusion Model Acceleration</a:t>
            </a:r>
          </a:p>
          <a:p>
            <a:r>
              <a:rPr lang="en-US" dirty="0"/>
              <a:t>How this theory connects to the hands-on notebooks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B535-316B-FE30-1C83-E05BCB90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768BA3-D77B-3D94-28F3-A32832CD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Motivation: Why Accelerate Advanced Architectures?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D67433-7362-7B38-01AE-10172970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New Generation of Models</a:t>
            </a:r>
            <a:endParaRPr lang="en-US" dirty="0"/>
          </a:p>
          <a:p>
            <a:r>
              <a:rPr lang="en-US" dirty="0"/>
              <a:t>Vision Transformers (</a:t>
            </a:r>
            <a:r>
              <a:rPr lang="en-US" dirty="0" err="1"/>
              <a:t>ViTs</a:t>
            </a:r>
            <a:r>
              <a:rPr lang="en-US" dirty="0"/>
              <a:t>) for vision</a:t>
            </a:r>
          </a:p>
          <a:p>
            <a:r>
              <a:rPr lang="en-US" dirty="0"/>
              <a:t>Large Language Models (LLMs) for text</a:t>
            </a:r>
          </a:p>
          <a:p>
            <a:r>
              <a:rPr lang="en-US" dirty="0"/>
              <a:t>Diffusion models for generative image synthesis</a:t>
            </a:r>
          </a:p>
          <a:p>
            <a:r>
              <a:rPr lang="en-US" dirty="0"/>
              <a:t>All provide state-of-the-art performance—but at high computational cost</a:t>
            </a:r>
          </a:p>
        </p:txBody>
      </p:sp>
    </p:spTree>
    <p:extLst>
      <p:ext uri="{BB962C8B-B14F-4D97-AF65-F5344CB8AC3E}">
        <p14:creationId xmlns:p14="http://schemas.microsoft.com/office/powerpoint/2010/main" val="40699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F2246-6DF2-FEE0-9B60-BE2BBA9F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095B89-6914-0AEE-4889-63B3D407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Motivation: Why Accelerate Advanced Architectures?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B7C210-2EEB-C168-1A5B-2EB00A5F9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Scaling Challenges</a:t>
            </a:r>
            <a:endParaRPr lang="en-US" dirty="0"/>
          </a:p>
          <a:p>
            <a:r>
              <a:rPr lang="en-US" b="1" dirty="0" err="1"/>
              <a:t>ViTs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Self-attention has </a:t>
            </a:r>
            <a:r>
              <a:rPr lang="en-US" i="1" dirty="0"/>
              <a:t>O(n^2)</a:t>
            </a:r>
            <a:r>
              <a:rPr lang="en-US" dirty="0"/>
              <a:t> complexity in sequence length / number of patches</a:t>
            </a:r>
          </a:p>
          <a:p>
            <a:r>
              <a:rPr lang="en-US" b="1" dirty="0"/>
              <a:t>LLMs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Billions of parameters, memory-heavy (weights + activations)</a:t>
            </a:r>
          </a:p>
          <a:p>
            <a:r>
              <a:rPr lang="en-US" b="1" dirty="0"/>
              <a:t>Diffusion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Many denoising steps (50–1000) per sample</a:t>
            </a:r>
          </a:p>
          <a:p>
            <a:pPr lvl="1"/>
            <a:r>
              <a:rPr lang="en-US" dirty="0"/>
              <a:t>Large </a:t>
            </a:r>
            <a:r>
              <a:rPr lang="en-US" dirty="0" err="1"/>
              <a:t>UNet</a:t>
            </a:r>
            <a:r>
              <a:rPr lang="en-US" dirty="0"/>
              <a:t> backbones</a:t>
            </a:r>
          </a:p>
        </p:txBody>
      </p:sp>
    </p:spTree>
    <p:extLst>
      <p:ext uri="{BB962C8B-B14F-4D97-AF65-F5344CB8AC3E}">
        <p14:creationId xmlns:p14="http://schemas.microsoft.com/office/powerpoint/2010/main" val="394303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9784-E332-FE12-0533-BE6014E7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DF9542-208C-C01B-957D-35749DC0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Motivation: Why Accelerate Advanced Architectures?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71C3CD-C1B3-5957-1D1D-324133FB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Edge and Production Constraints</a:t>
            </a:r>
            <a:endParaRPr lang="en-US" dirty="0"/>
          </a:p>
          <a:p>
            <a:r>
              <a:rPr lang="en-US" dirty="0"/>
              <a:t>Limited GPU/TPU/accelerator memory</a:t>
            </a:r>
          </a:p>
          <a:p>
            <a:r>
              <a:rPr lang="en-US" dirty="0"/>
              <a:t>Latency constraints for real-time interaction</a:t>
            </a:r>
          </a:p>
          <a:p>
            <a:r>
              <a:rPr lang="en-US" dirty="0"/>
              <a:t>Serving many concurrent users</a:t>
            </a:r>
          </a:p>
          <a:p>
            <a:r>
              <a:rPr lang="en-US" dirty="0"/>
              <a:t>Cost constraints in cloud deployments</a:t>
            </a:r>
          </a:p>
        </p:txBody>
      </p:sp>
    </p:spTree>
    <p:extLst>
      <p:ext uri="{BB962C8B-B14F-4D97-AF65-F5344CB8AC3E}">
        <p14:creationId xmlns:p14="http://schemas.microsoft.com/office/powerpoint/2010/main" val="2206610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692E-B767-03F2-A771-7E86AA52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7B206D1-7129-DD0C-4D2E-BC854A13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Motivation: Why Accelerate Advanced Architectures?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A7FB356-0943-FCC7-E206-F3790895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Our Three Techniques in This Module</a:t>
            </a:r>
            <a:endParaRPr lang="en-US" dirty="0"/>
          </a:p>
          <a:p>
            <a:r>
              <a:rPr lang="en-US" b="1" dirty="0"/>
              <a:t>Efficient Attention for </a:t>
            </a:r>
            <a:r>
              <a:rPr lang="en-US" b="1" dirty="0" err="1"/>
              <a:t>ViTs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Window, Linear, and Sparse attention</a:t>
            </a:r>
          </a:p>
          <a:p>
            <a:r>
              <a:rPr lang="en-US" b="1" dirty="0" err="1"/>
              <a:t>SmoothQuant</a:t>
            </a:r>
            <a:r>
              <a:rPr lang="en-US" b="1" dirty="0"/>
              <a:t> for LLMs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Outlier-aware post-training quantization</a:t>
            </a:r>
          </a:p>
          <a:p>
            <a:r>
              <a:rPr lang="en-US" b="1" dirty="0"/>
              <a:t>Diffusion Model Optimization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Step count tuning, scheduler choice, and memory optimization</a:t>
            </a:r>
          </a:p>
        </p:txBody>
      </p:sp>
    </p:spTree>
    <p:extLst>
      <p:ext uri="{BB962C8B-B14F-4D97-AF65-F5344CB8AC3E}">
        <p14:creationId xmlns:p14="http://schemas.microsoft.com/office/powerpoint/2010/main" val="3578972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6D81-2CC8-B695-DC24-42E8E3CE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75558EF-3E5B-8CA9-71CD-B76D3A59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AF8B6A0-7FE8-F96C-6B3B-29BBD10C0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ViT</a:t>
            </a:r>
            <a:r>
              <a:rPr lang="en-US" b="1" dirty="0"/>
              <a:t> Self-Attention Basics</a:t>
            </a:r>
            <a:endParaRPr lang="en-US" dirty="0"/>
          </a:p>
          <a:p>
            <a:r>
              <a:rPr lang="en-US" dirty="0"/>
              <a:t>Input image → Patch embeddings → Sequence of tokens</a:t>
            </a:r>
          </a:p>
          <a:p>
            <a:r>
              <a:rPr lang="en-US" dirty="0"/>
              <a:t>Standard self-attention:</a:t>
            </a:r>
          </a:p>
          <a:p>
            <a:pPr lvl="1"/>
            <a:r>
              <a:rPr lang="en-US" dirty="0"/>
              <a:t>For sequence length </a:t>
            </a:r>
            <a:r>
              <a:rPr lang="en-US" i="1" dirty="0"/>
              <a:t>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Compute </a:t>
            </a:r>
            <a:r>
              <a:rPr lang="en-US" i="1" dirty="0"/>
              <a:t>Q, K, V </a:t>
            </a:r>
            <a:r>
              <a:rPr lang="en-US" dirty="0"/>
              <a:t>for each token</a:t>
            </a:r>
          </a:p>
          <a:p>
            <a:pPr lvl="2"/>
            <a:r>
              <a:rPr lang="en-US" dirty="0"/>
              <a:t>Attention scores: </a:t>
            </a:r>
            <a:r>
              <a:rPr lang="en-US" i="1" dirty="0"/>
              <a:t>QK^T </a:t>
            </a:r>
            <a:r>
              <a:rPr lang="en-US" dirty="0"/>
              <a:t>→ </a:t>
            </a:r>
            <a:r>
              <a:rPr lang="en-US" i="1" dirty="0"/>
              <a:t>O(n^2)</a:t>
            </a:r>
            <a:r>
              <a:rPr lang="en-US" dirty="0"/>
              <a:t> memory &amp; compute</a:t>
            </a:r>
          </a:p>
          <a:p>
            <a:pPr lvl="1"/>
            <a:r>
              <a:rPr lang="en-US" dirty="0"/>
              <a:t>Fine for small </a:t>
            </a:r>
            <a:r>
              <a:rPr lang="en-US" i="1" dirty="0"/>
              <a:t>n</a:t>
            </a:r>
            <a:r>
              <a:rPr lang="en-US" dirty="0"/>
              <a:t>, expensive for high-res images</a:t>
            </a:r>
          </a:p>
        </p:txBody>
      </p:sp>
    </p:spTree>
    <p:extLst>
      <p:ext uri="{BB962C8B-B14F-4D97-AF65-F5344CB8AC3E}">
        <p14:creationId xmlns:p14="http://schemas.microsoft.com/office/powerpoint/2010/main" val="2309136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C8C3-D6C6-3264-ABBF-DD8E3B22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2EE1C35-536D-1C9A-7BD1-B4C8DEF7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8DD85F8-3867-07D2-5B7C-54D591EB7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Bottleneck of Standard Attention</a:t>
            </a:r>
            <a:endParaRPr lang="en-US" dirty="0"/>
          </a:p>
          <a:p>
            <a:r>
              <a:rPr lang="en-US" dirty="0"/>
              <a:t>For large images:</a:t>
            </a:r>
          </a:p>
          <a:p>
            <a:pPr lvl="1"/>
            <a:r>
              <a:rPr lang="en-US" dirty="0"/>
              <a:t>224×224 with 16×16 patches → 196 tokens</a:t>
            </a:r>
          </a:p>
          <a:p>
            <a:pPr lvl="1"/>
            <a:r>
              <a:rPr lang="en-US" dirty="0"/>
              <a:t>1024×1024 → 4096 tokens</a:t>
            </a:r>
          </a:p>
          <a:p>
            <a:r>
              <a:rPr lang="en-US" dirty="0"/>
              <a:t>Complexity:</a:t>
            </a:r>
          </a:p>
          <a:p>
            <a:pPr lvl="1"/>
            <a:r>
              <a:rPr lang="en-US" i="1" dirty="0"/>
              <a:t>O(n^2d) </a:t>
            </a: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= number of tokens, </a:t>
            </a:r>
            <a:r>
              <a:rPr lang="en-US" i="1" dirty="0"/>
              <a:t>d</a:t>
            </a:r>
            <a:r>
              <a:rPr lang="en-US" dirty="0"/>
              <a:t> = embedding dim</a:t>
            </a:r>
          </a:p>
          <a:p>
            <a:r>
              <a:rPr lang="en-US" dirty="0"/>
              <a:t>- Memory:</a:t>
            </a:r>
          </a:p>
          <a:p>
            <a:r>
              <a:rPr lang="en-US" dirty="0"/>
              <a:t>  - Attention matrix grows as</a:t>
            </a:r>
            <a:r>
              <a:rPr lang="en-US" i="1" dirty="0"/>
              <a:t> n^2</a:t>
            </a:r>
          </a:p>
          <a:p>
            <a:r>
              <a:rPr lang="en-US" dirty="0"/>
              <a:t>- Conclusion:</a:t>
            </a:r>
          </a:p>
          <a:p>
            <a:r>
              <a:rPr lang="en-US" dirty="0"/>
              <a:t>  - Need more scalable attention mechanisms</a:t>
            </a:r>
          </a:p>
        </p:txBody>
      </p:sp>
    </p:spTree>
    <p:extLst>
      <p:ext uri="{BB962C8B-B14F-4D97-AF65-F5344CB8AC3E}">
        <p14:creationId xmlns:p14="http://schemas.microsoft.com/office/powerpoint/2010/main" val="1826469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4977-DF48-CC3C-C123-6AA34E43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646E3FD-D508-9A25-3761-095357FD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70F39A4-38CC-650F-A4DE-D3349D36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Window Attention – Intuition</a:t>
            </a:r>
            <a:endParaRPr lang="en-US" dirty="0"/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Restrict attention to local windows instead of global sequences</a:t>
            </a:r>
          </a:p>
          <a:p>
            <a:r>
              <a:rPr lang="en-US" dirty="0"/>
              <a:t>Mechanism:</a:t>
            </a:r>
          </a:p>
          <a:p>
            <a:pPr lvl="1"/>
            <a:r>
              <a:rPr lang="en-US" dirty="0"/>
              <a:t>Partition image into windows (e.g., 7×7)</a:t>
            </a:r>
          </a:p>
          <a:p>
            <a:pPr lvl="1"/>
            <a:r>
              <a:rPr lang="en-US" dirty="0"/>
              <a:t>Perform self-attention within each window only</a:t>
            </a:r>
          </a:p>
          <a:p>
            <a:r>
              <a:rPr lang="en-US" dirty="0"/>
              <a:t>Complexity:</a:t>
            </a:r>
          </a:p>
          <a:p>
            <a:pPr lvl="1"/>
            <a:r>
              <a:rPr lang="en-US" dirty="0"/>
              <a:t>Each window: </a:t>
            </a:r>
            <a:r>
              <a:rPr lang="en-US" i="1" dirty="0"/>
              <a:t>O(w^2)</a:t>
            </a:r>
            <a:r>
              <a:rPr lang="en-US" dirty="0"/>
              <a:t>, total </a:t>
            </a:r>
            <a:r>
              <a:rPr lang="en-US" i="1" dirty="0"/>
              <a:t>~ O(</a:t>
            </a:r>
            <a:r>
              <a:rPr lang="en-US" i="1" dirty="0" err="1"/>
              <a:t>nw</a:t>
            </a:r>
            <a:r>
              <a:rPr lang="en-US" i="1" dirty="0"/>
              <a:t>) </a:t>
            </a:r>
            <a:r>
              <a:rPr lang="en-US" dirty="0"/>
              <a:t>where </a:t>
            </a:r>
            <a:r>
              <a:rPr lang="en-US" i="1" dirty="0"/>
              <a:t>w</a:t>
            </a:r>
            <a:r>
              <a:rPr lang="en-US" dirty="0"/>
              <a:t> is window size</a:t>
            </a:r>
          </a:p>
          <a:p>
            <a:r>
              <a:rPr lang="en-US" dirty="0"/>
              <a:t>Trade-off:</a:t>
            </a:r>
          </a:p>
          <a:p>
            <a:pPr lvl="1"/>
            <a:r>
              <a:rPr lang="en-US" dirty="0"/>
              <a:t>Captures local context efficiently</a:t>
            </a:r>
          </a:p>
          <a:p>
            <a:pPr lvl="1"/>
            <a:r>
              <a:rPr lang="en-US" dirty="0"/>
              <a:t>Long-range dependency handled via shifted windows or hierarchical design (e.g., Swin Transformer)</a:t>
            </a:r>
          </a:p>
        </p:txBody>
      </p:sp>
    </p:spTree>
    <p:extLst>
      <p:ext uri="{BB962C8B-B14F-4D97-AF65-F5344CB8AC3E}">
        <p14:creationId xmlns:p14="http://schemas.microsoft.com/office/powerpoint/2010/main" val="3811479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B9BB-37E2-3816-AE9D-4A5209CC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C9B47CC-97CB-DCED-DD83-A591857F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C871A0C-6239-87C0-F017-7C15BEEF9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Linear Attention – Intuition</a:t>
            </a:r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Standard attention: compute and store full </a:t>
            </a:r>
            <a:r>
              <a:rPr lang="en-US" i="1" dirty="0"/>
              <a:t>QK^T</a:t>
            </a:r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Approximate </a:t>
            </a:r>
            <a:r>
              <a:rPr lang="en-US" dirty="0" err="1"/>
              <a:t>softmax</a:t>
            </a:r>
            <a:r>
              <a:rPr lang="en-US" dirty="0"/>
              <a:t>-attention using kernel feature maps</a:t>
            </a:r>
          </a:p>
          <a:p>
            <a:r>
              <a:rPr lang="en-US" dirty="0"/>
              <a:t>Mechanism:</a:t>
            </a:r>
          </a:p>
          <a:p>
            <a:pPr lvl="1"/>
            <a:r>
              <a:rPr lang="en-US" dirty="0"/>
              <a:t>Rewrite attention in a form:</a:t>
            </a:r>
          </a:p>
          <a:p>
            <a:pPr lvl="2"/>
            <a:r>
              <a:rPr lang="en-US" dirty="0" err="1"/>
              <a:t>Att</a:t>
            </a:r>
            <a:r>
              <a:rPr lang="en-US" dirty="0"/>
              <a:t>(Q, K, V) ≈ </a:t>
            </a:r>
            <a:r>
              <a:rPr lang="el-GR" dirty="0"/>
              <a:t>Φ(</a:t>
            </a:r>
            <a:r>
              <a:rPr lang="en-US" dirty="0"/>
              <a:t>Q) (</a:t>
            </a:r>
            <a:r>
              <a:rPr lang="el-GR" dirty="0"/>
              <a:t>Φ(</a:t>
            </a:r>
            <a:r>
              <a:rPr lang="en-US" dirty="0"/>
              <a:t>K)ᵀ V)</a:t>
            </a:r>
          </a:p>
          <a:p>
            <a:pPr lvl="3"/>
            <a:r>
              <a:rPr lang="en-US" dirty="0"/>
              <a:t>Compute Φ(K)ᵀ V first, then multiply by Φ(Q)</a:t>
            </a:r>
          </a:p>
          <a:p>
            <a:r>
              <a:rPr lang="en-US" dirty="0"/>
              <a:t>Complexity:</a:t>
            </a:r>
          </a:p>
          <a:p>
            <a:pPr lvl="1"/>
            <a:r>
              <a:rPr lang="en-US" i="1" dirty="0"/>
              <a:t>O(nd^2) </a:t>
            </a:r>
            <a:r>
              <a:rPr lang="en-US" dirty="0"/>
              <a:t>or effectively </a:t>
            </a:r>
            <a:r>
              <a:rPr lang="en-US" i="1" dirty="0"/>
              <a:t>O(n)</a:t>
            </a:r>
            <a:r>
              <a:rPr lang="en-US" dirty="0"/>
              <a:t> in sequence length</a:t>
            </a:r>
          </a:p>
          <a:p>
            <a:r>
              <a:rPr lang="en-US" dirty="0"/>
              <a:t>Trade-off:</a:t>
            </a:r>
          </a:p>
          <a:p>
            <a:pPr lvl="1"/>
            <a:r>
              <a:rPr lang="en-US" dirty="0"/>
              <a:t>Significant memory savings</a:t>
            </a:r>
          </a:p>
          <a:p>
            <a:pPr lvl="1"/>
            <a:r>
              <a:rPr lang="en-US" dirty="0"/>
              <a:t>Approximate; may introduce small accuracy loss</a:t>
            </a:r>
          </a:p>
        </p:txBody>
      </p:sp>
    </p:spTree>
    <p:extLst>
      <p:ext uri="{BB962C8B-B14F-4D97-AF65-F5344CB8AC3E}">
        <p14:creationId xmlns:p14="http://schemas.microsoft.com/office/powerpoint/2010/main" val="304611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2C58-D923-8060-8FC7-6EE4D4A9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8564C3B-3E0F-C9E6-5713-86BC76BA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1FE08B7-06A0-317E-3257-CF282034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Sparse Attention – Intuition</a:t>
            </a:r>
            <a:endParaRPr lang="en-US" dirty="0"/>
          </a:p>
          <a:p>
            <a:r>
              <a:rPr lang="en-US" dirty="0"/>
              <a:t>Observation:</a:t>
            </a:r>
          </a:p>
          <a:p>
            <a:pPr lvl="1"/>
            <a:r>
              <a:rPr lang="en-US" dirty="0"/>
              <a:t>Many attention interactions are unnecessary</a:t>
            </a:r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Only compute attention for selected token pairs</a:t>
            </a:r>
          </a:p>
          <a:p>
            <a:r>
              <a:rPr lang="en-US" dirty="0"/>
              <a:t>Mechanisms:</a:t>
            </a:r>
          </a:p>
          <a:p>
            <a:pPr lvl="1"/>
            <a:r>
              <a:rPr lang="en-US" dirty="0"/>
              <a:t>Fixed patterns (e.g., local + global tokens)</a:t>
            </a:r>
          </a:p>
          <a:p>
            <a:pPr lvl="1"/>
            <a:r>
              <a:rPr lang="en-US" dirty="0"/>
              <a:t>Learned patterns (e.g., top-k, block-sparse)</a:t>
            </a:r>
          </a:p>
          <a:p>
            <a:r>
              <a:rPr lang="en-US" dirty="0"/>
              <a:t>Complexity:</a:t>
            </a:r>
          </a:p>
          <a:p>
            <a:pPr lvl="1"/>
            <a:r>
              <a:rPr lang="en-US" dirty="0"/>
              <a:t>Depends on sparsity pattern; often between </a:t>
            </a:r>
            <a:r>
              <a:rPr lang="en-US" i="1" dirty="0"/>
              <a:t>O(n) </a:t>
            </a:r>
            <a:r>
              <a:rPr lang="en-US" dirty="0"/>
              <a:t>and </a:t>
            </a:r>
            <a:r>
              <a:rPr lang="en-US" i="1" dirty="0"/>
              <a:t>O(n \log n)</a:t>
            </a:r>
          </a:p>
          <a:p>
            <a:r>
              <a:rPr lang="en-US" dirty="0"/>
              <a:t>Trade-off:</a:t>
            </a:r>
          </a:p>
          <a:p>
            <a:pPr lvl="1"/>
            <a:r>
              <a:rPr lang="en-US" dirty="0"/>
              <a:t>Can preserve important long-range dependencies</a:t>
            </a:r>
          </a:p>
          <a:p>
            <a:pPr lvl="1"/>
            <a:r>
              <a:rPr lang="en-US" dirty="0"/>
              <a:t>Requires careful design of sparsity pattern</a:t>
            </a:r>
          </a:p>
        </p:txBody>
      </p:sp>
    </p:spTree>
    <p:extLst>
      <p:ext uri="{BB962C8B-B14F-4D97-AF65-F5344CB8AC3E}">
        <p14:creationId xmlns:p14="http://schemas.microsoft.com/office/powerpoint/2010/main" val="23141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9A6E-DCEC-CDF9-DB7C-BEE8349A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236C721-7242-4062-4E1E-5B3A4163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6C03DDA-8C5E-0447-7202-44C4E0A24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ViT</a:t>
            </a:r>
            <a:r>
              <a:rPr lang="en-US" b="1" dirty="0"/>
              <a:t> Acceleration in This Workshop</a:t>
            </a:r>
            <a:endParaRPr lang="en-US" dirty="0"/>
          </a:p>
          <a:p>
            <a:r>
              <a:rPr lang="en-US" dirty="0"/>
              <a:t>Notebook: </a:t>
            </a:r>
            <a:r>
              <a:rPr lang="en-US" b="1" dirty="0"/>
              <a:t>01_Efficient_ViT_Acceleration_Techniques</a:t>
            </a:r>
            <a:endParaRPr lang="en-US" dirty="0"/>
          </a:p>
          <a:p>
            <a:r>
              <a:rPr lang="en-US" dirty="0"/>
              <a:t>Components:</a:t>
            </a:r>
          </a:p>
          <a:p>
            <a:pPr lvl="1"/>
            <a:r>
              <a:rPr lang="en-US" dirty="0"/>
              <a:t>Patch embedding (image → token sequence)</a:t>
            </a:r>
          </a:p>
          <a:p>
            <a:pPr lvl="1"/>
            <a:r>
              <a:rPr lang="en-US" dirty="0"/>
              <a:t>Baseline multi-head self-attention</a:t>
            </a:r>
          </a:p>
          <a:p>
            <a:pPr lvl="1"/>
            <a:r>
              <a:rPr lang="en-US" dirty="0"/>
              <a:t>Window attention implementation</a:t>
            </a:r>
          </a:p>
          <a:p>
            <a:pPr lvl="1"/>
            <a:r>
              <a:rPr lang="en-US" dirty="0"/>
              <a:t>Linear attention implementation</a:t>
            </a:r>
          </a:p>
          <a:p>
            <a:pPr lvl="1"/>
            <a:r>
              <a:rPr lang="en-US" dirty="0"/>
              <a:t>Sparse attention patterns</a:t>
            </a:r>
          </a:p>
          <a:p>
            <a:r>
              <a:rPr lang="en-US" dirty="0"/>
              <a:t>Experiments:</a:t>
            </a:r>
          </a:p>
          <a:p>
            <a:pPr lvl="1"/>
            <a:r>
              <a:rPr lang="en-US" dirty="0"/>
              <a:t>Compare runtime and memory usage of each attention</a:t>
            </a:r>
          </a:p>
          <a:p>
            <a:pPr lvl="1"/>
            <a:r>
              <a:rPr lang="en-US" dirty="0"/>
              <a:t>Analyze accuracy and quality on sample tasks</a:t>
            </a:r>
          </a:p>
          <a:p>
            <a:r>
              <a:rPr lang="en-US" dirty="0"/>
              <a:t>Visualizations:</a:t>
            </a:r>
          </a:p>
          <a:p>
            <a:pPr lvl="1"/>
            <a:r>
              <a:rPr lang="en-US" dirty="0"/>
              <a:t>Attention maps</a:t>
            </a:r>
          </a:p>
          <a:p>
            <a:pPr lvl="1"/>
            <a:r>
              <a:rPr lang="en-US" dirty="0"/>
              <a:t>Complexity comparisons (theoretical and measured)</a:t>
            </a:r>
          </a:p>
        </p:txBody>
      </p:sp>
    </p:spTree>
    <p:extLst>
      <p:ext uri="{BB962C8B-B14F-4D97-AF65-F5344CB8AC3E}">
        <p14:creationId xmlns:p14="http://schemas.microsoft.com/office/powerpoint/2010/main" val="458169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246A-7DCA-6A78-4C20-EBA583DA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0144E78-8550-C460-FE18-DDAE0D32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Efficient </a:t>
            </a:r>
            <a:r>
              <a:rPr lang="fr-FR" b="1" dirty="0" err="1"/>
              <a:t>ViT</a:t>
            </a:r>
            <a:r>
              <a:rPr lang="fr-FR" b="1" dirty="0"/>
              <a:t> Attention (Notebook 01)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0C9BF4-FA3A-3DB9-9203-3199330B9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ViT</a:t>
            </a:r>
            <a:r>
              <a:rPr lang="en-US" b="1" dirty="0"/>
              <a:t> Hands-On – What You’ll Implement</a:t>
            </a:r>
            <a:endParaRPr lang="en-US" dirty="0"/>
          </a:p>
          <a:p>
            <a:r>
              <a:rPr lang="en-US" dirty="0"/>
              <a:t>Implement:</a:t>
            </a:r>
          </a:p>
          <a:p>
            <a:pPr lvl="1"/>
            <a:r>
              <a:rPr lang="en-US" dirty="0"/>
              <a:t>Patch embedding using Conv2d</a:t>
            </a:r>
          </a:p>
          <a:p>
            <a:pPr lvl="1"/>
            <a:r>
              <a:rPr lang="en-US" dirty="0"/>
              <a:t>Multi-Head Attention forward pass</a:t>
            </a:r>
          </a:p>
          <a:p>
            <a:pPr lvl="1"/>
            <a:r>
              <a:rPr lang="en-US" dirty="0"/>
              <a:t>Window partitioning &amp; merging logic</a:t>
            </a:r>
          </a:p>
          <a:p>
            <a:pPr lvl="1"/>
            <a:r>
              <a:rPr lang="en-US" dirty="0"/>
              <a:t>Linear attention kernel transformations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Speed vs memory vs accuracy</a:t>
            </a:r>
          </a:p>
          <a:p>
            <a:pPr lvl="1"/>
            <a:r>
              <a:rPr lang="en-US" dirty="0"/>
              <a:t>Which attention variant fits which scenario</a:t>
            </a:r>
          </a:p>
        </p:txBody>
      </p:sp>
    </p:spTree>
    <p:extLst>
      <p:ext uri="{BB962C8B-B14F-4D97-AF65-F5344CB8AC3E}">
        <p14:creationId xmlns:p14="http://schemas.microsoft.com/office/powerpoint/2010/main" val="3682492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D944-B525-A48F-7B27-06E71463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6B0D0E1-B1BB-3801-19DD-BE5BAFDF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416B3DA-4E28-914A-13E6-623155BAD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LLM Quantization Challenges</a:t>
            </a:r>
            <a:endParaRPr lang="en-US" dirty="0"/>
          </a:p>
          <a:p>
            <a:r>
              <a:rPr lang="en-US" dirty="0"/>
              <a:t>LLMs (e.g., OPT, GPT) are very large:</a:t>
            </a:r>
          </a:p>
          <a:p>
            <a:pPr lvl="1"/>
            <a:r>
              <a:rPr lang="en-US" dirty="0"/>
              <a:t>Hundreds of millions to billions of parameters</a:t>
            </a:r>
          </a:p>
          <a:p>
            <a:r>
              <a:rPr lang="en-US" dirty="0"/>
              <a:t>Naive quantization issues:</a:t>
            </a:r>
          </a:p>
          <a:p>
            <a:pPr lvl="1"/>
            <a:r>
              <a:rPr lang="en-US" dirty="0"/>
              <a:t>Activation outliers:</a:t>
            </a:r>
          </a:p>
          <a:p>
            <a:pPr lvl="2"/>
            <a:r>
              <a:rPr lang="en-US" dirty="0"/>
              <a:t>Some channels have very large values</a:t>
            </a:r>
          </a:p>
          <a:p>
            <a:pPr lvl="2"/>
            <a:r>
              <a:rPr lang="en-US" dirty="0"/>
              <a:t>Hard to map to INT8 without large errors</a:t>
            </a:r>
          </a:p>
          <a:p>
            <a:pPr lvl="1"/>
            <a:r>
              <a:rPr lang="en-US" dirty="0"/>
              <a:t>Weight and activation ranges are unbalanced</a:t>
            </a:r>
          </a:p>
        </p:txBody>
      </p:sp>
    </p:spTree>
    <p:extLst>
      <p:ext uri="{BB962C8B-B14F-4D97-AF65-F5344CB8AC3E}">
        <p14:creationId xmlns:p14="http://schemas.microsoft.com/office/powerpoint/2010/main" val="1138689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799B5-1C66-5473-767D-D7829691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D11EDC5-9B30-EBC4-CB8C-A1CDE24A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5FE97D9-A0AF-489A-38AD-A6818ED2B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Activation Outliers – Problem</a:t>
            </a:r>
            <a:endParaRPr lang="en-US" dirty="0"/>
          </a:p>
          <a:p>
            <a:r>
              <a:rPr lang="en-US" dirty="0"/>
              <a:t>Standard per-tensor quantization:</a:t>
            </a:r>
          </a:p>
          <a:p>
            <a:pPr lvl="1"/>
            <a:r>
              <a:rPr lang="en-US" dirty="0"/>
              <a:t>One scale for entire tensor</a:t>
            </a:r>
          </a:p>
          <a:p>
            <a:pPr lvl="1"/>
            <a:r>
              <a:rPr lang="en-US" dirty="0"/>
              <a:t>If a few channels have large values:</a:t>
            </a:r>
          </a:p>
          <a:p>
            <a:pPr lvl="2"/>
            <a:r>
              <a:rPr lang="en-US" dirty="0"/>
              <a:t>Scale must accommodate them</a:t>
            </a:r>
          </a:p>
          <a:p>
            <a:pPr lvl="2"/>
            <a:r>
              <a:rPr lang="en-US" dirty="0"/>
              <a:t>Most values become compressed near zero</a:t>
            </a:r>
          </a:p>
          <a:p>
            <a:r>
              <a:rPr lang="en-US" dirty="0"/>
              <a:t>Consequences:</a:t>
            </a:r>
          </a:p>
          <a:p>
            <a:pPr lvl="1"/>
            <a:r>
              <a:rPr lang="en-US" dirty="0"/>
              <a:t>High quantization error for most channels</a:t>
            </a:r>
          </a:p>
          <a:p>
            <a:pPr lvl="1"/>
            <a:r>
              <a:rPr lang="en-US" dirty="0"/>
              <a:t>Accuracy degradation, especially in attention/MLP layers</a:t>
            </a:r>
          </a:p>
        </p:txBody>
      </p:sp>
    </p:spTree>
    <p:extLst>
      <p:ext uri="{BB962C8B-B14F-4D97-AF65-F5344CB8AC3E}">
        <p14:creationId xmlns:p14="http://schemas.microsoft.com/office/powerpoint/2010/main" val="2297379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547D-7598-A4E3-5C1D-E1284855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9EED756-5F5A-D99C-DE90-392A05A6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40F2E5A-858F-8C32-D08E-8E2B2590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SmoothQuant</a:t>
            </a:r>
            <a:r>
              <a:rPr lang="en-US" b="1" dirty="0"/>
              <a:t> – Core Idea</a:t>
            </a:r>
            <a:endParaRPr lang="en-US" dirty="0"/>
          </a:p>
          <a:p>
            <a:r>
              <a:rPr lang="en-US" dirty="0"/>
              <a:t>Paper: “</a:t>
            </a:r>
            <a:r>
              <a:rPr lang="en-US" dirty="0" err="1"/>
              <a:t>SmoothQuant</a:t>
            </a:r>
            <a:r>
              <a:rPr lang="en-US" dirty="0"/>
              <a:t>: Accurate and Efficient Post-Training Quantization for Large Language Models”</a:t>
            </a:r>
          </a:p>
          <a:p>
            <a:r>
              <a:rPr lang="en-US" dirty="0"/>
              <a:t>Key idea:</a:t>
            </a:r>
          </a:p>
          <a:p>
            <a:pPr lvl="1"/>
            <a:r>
              <a:rPr lang="en-US" b="1" dirty="0"/>
              <a:t>Migrate difficulty from activations to weights</a:t>
            </a:r>
            <a:endParaRPr lang="en-US" dirty="0"/>
          </a:p>
          <a:p>
            <a:r>
              <a:rPr lang="en-US" dirty="0"/>
              <a:t>Mechanism:</a:t>
            </a:r>
          </a:p>
          <a:p>
            <a:pPr lvl="1"/>
            <a:r>
              <a:rPr lang="en-US" dirty="0"/>
              <a:t>Per-channel scaling of activations and inverse scaling of weights:</a:t>
            </a:r>
          </a:p>
          <a:p>
            <a:pPr lvl="2"/>
            <a:r>
              <a:rPr lang="en-US" dirty="0"/>
              <a:t>Smooth activations → smaller dynamic range</a:t>
            </a:r>
          </a:p>
          <a:p>
            <a:pPr lvl="2"/>
            <a:r>
              <a:rPr lang="en-US" dirty="0"/>
              <a:t>Adjust weights accordingly to preserve function</a:t>
            </a:r>
          </a:p>
          <a:p>
            <a:r>
              <a:rPr lang="en-US" dirty="0"/>
              <a:t>Result:</a:t>
            </a:r>
          </a:p>
          <a:p>
            <a:pPr lvl="1"/>
            <a:r>
              <a:rPr lang="en-US" dirty="0"/>
              <a:t>Activations easier to quantize</a:t>
            </a:r>
          </a:p>
          <a:p>
            <a:pPr lvl="1"/>
            <a:r>
              <a:rPr lang="en-US" dirty="0"/>
              <a:t>Weights can tolerate some scaling changes</a:t>
            </a:r>
          </a:p>
        </p:txBody>
      </p:sp>
    </p:spTree>
    <p:extLst>
      <p:ext uri="{BB962C8B-B14F-4D97-AF65-F5344CB8AC3E}">
        <p14:creationId xmlns:p14="http://schemas.microsoft.com/office/powerpoint/2010/main" val="1720491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1F87-89A2-6145-7010-EF52BFA7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8BA3DB3-4B11-65C4-5DAF-D04C3321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3573701-C549-CCA2-A187-FDB7F3561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SmoothQuant</a:t>
            </a:r>
            <a:r>
              <a:rPr lang="en-US" b="1" dirty="0"/>
              <a:t> Mathematics (High-Level)</a:t>
            </a:r>
            <a:endParaRPr lang="en-US" dirty="0"/>
          </a:p>
          <a:p>
            <a:r>
              <a:rPr lang="en-US" dirty="0"/>
              <a:t>Given weight matrix </a:t>
            </a:r>
            <a:r>
              <a:rPr lang="en-US" i="1" dirty="0"/>
              <a:t>W</a:t>
            </a:r>
            <a:r>
              <a:rPr lang="en-US" dirty="0"/>
              <a:t> and input activation </a:t>
            </a:r>
            <a:r>
              <a:rPr lang="en-US" i="1" dirty="0"/>
              <a:t>x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Original: </a:t>
            </a:r>
            <a:r>
              <a:rPr lang="en-US" i="1" dirty="0"/>
              <a:t>y = </a:t>
            </a:r>
            <a:r>
              <a:rPr lang="en-US" i="1" dirty="0" err="1"/>
              <a:t>Wx</a:t>
            </a:r>
            <a:endParaRPr lang="en-US" i="1" dirty="0"/>
          </a:p>
          <a:p>
            <a:r>
              <a:rPr lang="en-US" dirty="0"/>
              <a:t>Apply per-channel scaling </a:t>
            </a:r>
            <a:r>
              <a:rPr lang="en-US" i="1" dirty="0"/>
              <a:t>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Transform:</a:t>
            </a:r>
          </a:p>
          <a:p>
            <a:pPr lvl="2"/>
            <a:r>
              <a:rPr lang="en-US" i="1" dirty="0"/>
              <a:t>x' = </a:t>
            </a:r>
            <a:r>
              <a:rPr lang="en-US" i="1" dirty="0" err="1"/>
              <a:t>Sx</a:t>
            </a:r>
            <a:endParaRPr lang="en-US" i="1" dirty="0"/>
          </a:p>
          <a:p>
            <a:pPr lvl="2"/>
            <a:r>
              <a:rPr lang="en-US" i="1" dirty="0"/>
              <a:t>W' = WS^{-1}</a:t>
            </a:r>
          </a:p>
          <a:p>
            <a:pPr lvl="1"/>
            <a:r>
              <a:rPr lang="en-US" dirty="0"/>
              <a:t>Then: </a:t>
            </a:r>
            <a:r>
              <a:rPr lang="en-US" i="1" dirty="0"/>
              <a:t>y = </a:t>
            </a:r>
            <a:r>
              <a:rPr lang="en-US" i="1" dirty="0" err="1"/>
              <a:t>W'x</a:t>
            </a:r>
            <a:r>
              <a:rPr lang="en-US" i="1" dirty="0"/>
              <a:t>'</a:t>
            </a:r>
          </a:p>
          <a:p>
            <a:r>
              <a:rPr lang="en-US" dirty="0"/>
              <a:t>Properties:</a:t>
            </a:r>
          </a:p>
          <a:p>
            <a:pPr lvl="1"/>
            <a:r>
              <a:rPr lang="en-US" dirty="0"/>
              <a:t>Same output </a:t>
            </a:r>
            <a:r>
              <a:rPr lang="en-US" i="1" dirty="0"/>
              <a:t>y</a:t>
            </a:r>
            <a:r>
              <a:rPr lang="en-US" dirty="0"/>
              <a:t> ideally</a:t>
            </a:r>
          </a:p>
          <a:p>
            <a:pPr lvl="1"/>
            <a:r>
              <a:rPr lang="en-US" dirty="0"/>
              <a:t>Activation </a:t>
            </a:r>
            <a:r>
              <a:rPr lang="en-US" i="1" dirty="0"/>
              <a:t>x'</a:t>
            </a:r>
            <a:r>
              <a:rPr lang="en-US" dirty="0"/>
              <a:t> has reduced outlier scales</a:t>
            </a:r>
          </a:p>
          <a:p>
            <a:pPr lvl="1"/>
            <a:r>
              <a:rPr lang="en-US" dirty="0"/>
              <a:t>Activation quantization becomes easier</a:t>
            </a:r>
          </a:p>
        </p:txBody>
      </p:sp>
    </p:spTree>
    <p:extLst>
      <p:ext uri="{BB962C8B-B14F-4D97-AF65-F5344CB8AC3E}">
        <p14:creationId xmlns:p14="http://schemas.microsoft.com/office/powerpoint/2010/main" val="471218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3642-7359-0A50-7938-F22227F7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5FF56F8-CD16-EF14-61E7-81F48053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0C397A-49D4-F4B7-2C49-96EF02FD8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/>
              <a:t>SmoothQuant</a:t>
            </a:r>
            <a:r>
              <a:rPr lang="en-US" b="1" dirty="0"/>
              <a:t> Pipeline in This Workshop</a:t>
            </a:r>
            <a:endParaRPr lang="en-US" dirty="0"/>
          </a:p>
          <a:p>
            <a:r>
              <a:rPr lang="en-US" dirty="0"/>
              <a:t>Notebook: </a:t>
            </a:r>
            <a:r>
              <a:rPr lang="en-US" b="1" dirty="0"/>
              <a:t>02_LLM_SmoothQuant_Implementation</a:t>
            </a:r>
            <a:endParaRPr lang="en-US" dirty="0"/>
          </a:p>
          <a:p>
            <a:r>
              <a:rPr lang="en-US" dirty="0"/>
              <a:t>Model:</a:t>
            </a:r>
          </a:p>
          <a:p>
            <a:pPr lvl="1"/>
            <a:r>
              <a:rPr lang="en-US" dirty="0"/>
              <a:t>OPT-125M (small, accessible LLM)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Load pre-trained OPT model</a:t>
            </a:r>
          </a:p>
          <a:p>
            <a:pPr lvl="1"/>
            <a:r>
              <a:rPr lang="en-US" dirty="0"/>
              <a:t>Collect activations from key layers </a:t>
            </a:r>
            <a:r>
              <a:rPr lang="en-US" i="1" dirty="0"/>
              <a:t>(</a:t>
            </a:r>
            <a:r>
              <a:rPr lang="en-US" i="1" dirty="0" err="1"/>
              <a:t>q_proj</a:t>
            </a:r>
            <a:r>
              <a:rPr lang="en-US" i="1" dirty="0"/>
              <a:t>, </a:t>
            </a:r>
            <a:r>
              <a:rPr lang="en-US" i="1" dirty="0" err="1"/>
              <a:t>k_proj</a:t>
            </a:r>
            <a:r>
              <a:rPr lang="en-US" i="1" dirty="0"/>
              <a:t>, </a:t>
            </a:r>
            <a:r>
              <a:rPr lang="en-US" i="1" dirty="0" err="1"/>
              <a:t>v_proj</a:t>
            </a:r>
            <a:r>
              <a:rPr lang="en-US" i="1" dirty="0"/>
              <a:t>, fc1, fc2)</a:t>
            </a:r>
          </a:p>
          <a:p>
            <a:pPr lvl="1"/>
            <a:r>
              <a:rPr lang="en-US" dirty="0"/>
              <a:t>Analyze distributions:</a:t>
            </a:r>
          </a:p>
          <a:p>
            <a:pPr lvl="2"/>
            <a:r>
              <a:rPr lang="en-US" dirty="0"/>
              <a:t>Weights vs activations</a:t>
            </a:r>
          </a:p>
          <a:p>
            <a:pPr lvl="2"/>
            <a:r>
              <a:rPr lang="en-US" dirty="0"/>
              <a:t>Outlier patterns</a:t>
            </a:r>
          </a:p>
          <a:p>
            <a:pPr lvl="1"/>
            <a:r>
              <a:rPr lang="en-US" dirty="0"/>
              <a:t>Compute per-channel scaling factors</a:t>
            </a:r>
          </a:p>
          <a:p>
            <a:pPr lvl="1"/>
            <a:r>
              <a:rPr lang="en-US" dirty="0"/>
              <a:t>Apply </a:t>
            </a:r>
            <a:r>
              <a:rPr lang="en-US" dirty="0" err="1"/>
              <a:t>SmoothQuant</a:t>
            </a:r>
            <a:r>
              <a:rPr lang="en-US" dirty="0"/>
              <a:t> transformations</a:t>
            </a:r>
          </a:p>
          <a:p>
            <a:pPr lvl="1"/>
            <a:r>
              <a:rPr lang="en-US" dirty="0"/>
              <a:t>Quantize to INT8</a:t>
            </a:r>
          </a:p>
        </p:txBody>
      </p:sp>
    </p:spTree>
    <p:extLst>
      <p:ext uri="{BB962C8B-B14F-4D97-AF65-F5344CB8AC3E}">
        <p14:creationId xmlns:p14="http://schemas.microsoft.com/office/powerpoint/2010/main" val="380861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1578-9529-CAAC-1BDE-9DA39B1C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8BC3026-F511-A5D3-9592-C26FBF26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316B5D3-083E-637C-E944-B502324F6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Visualization &amp; Analysis</a:t>
            </a:r>
            <a:endParaRPr lang="en-US" dirty="0"/>
          </a:p>
          <a:p>
            <a:r>
              <a:rPr lang="en-US" dirty="0"/>
              <a:t>Before vs After </a:t>
            </a:r>
            <a:r>
              <a:rPr lang="en-US" dirty="0" err="1"/>
              <a:t>SmoothQuant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Activation distribution changes</a:t>
            </a:r>
          </a:p>
          <a:p>
            <a:pPr lvl="1"/>
            <a:r>
              <a:rPr lang="en-US" dirty="0"/>
              <a:t>Weight distribution changes</a:t>
            </a:r>
          </a:p>
          <a:p>
            <a:r>
              <a:rPr lang="en-US" dirty="0"/>
              <a:t>3D plots:</a:t>
            </a:r>
          </a:p>
          <a:p>
            <a:pPr lvl="1"/>
            <a:r>
              <a:rPr lang="en-US" dirty="0"/>
              <a:t>Channel × token × absolute value</a:t>
            </a:r>
          </a:p>
          <a:p>
            <a:r>
              <a:rPr lang="en-US" dirty="0"/>
              <a:t>Statistics:</a:t>
            </a:r>
          </a:p>
          <a:p>
            <a:pPr lvl="1"/>
            <a:r>
              <a:rPr lang="en-US" dirty="0"/>
              <a:t>Mean, std, percentiles, absolute max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Show that activations become “smoother” and more quantization-friendly</a:t>
            </a:r>
          </a:p>
        </p:txBody>
      </p:sp>
    </p:spTree>
    <p:extLst>
      <p:ext uri="{BB962C8B-B14F-4D97-AF65-F5344CB8AC3E}">
        <p14:creationId xmlns:p14="http://schemas.microsoft.com/office/powerpoint/2010/main" val="3191421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E659-70A7-B118-86AD-F14ACDD8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3FD92A6-F5BA-D254-F92C-EF93967D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AB2F8DE-64FA-AC00-5D72-A73CBC8AD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Evaluation of Quantized LLM</a:t>
            </a:r>
            <a:endParaRPr lang="en-US" dirty="0"/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Perplexity or loss metrics before vs after quantization</a:t>
            </a:r>
          </a:p>
          <a:p>
            <a:pPr lvl="1"/>
            <a:r>
              <a:rPr lang="en-US" dirty="0"/>
              <a:t>Inference latency and memory footprint</a:t>
            </a:r>
          </a:p>
          <a:p>
            <a:r>
              <a:rPr lang="en-US" dirty="0"/>
              <a:t>Examine:</a:t>
            </a:r>
          </a:p>
          <a:p>
            <a:pPr lvl="1"/>
            <a:r>
              <a:rPr lang="en-US" dirty="0"/>
              <a:t>Specific layers most affected</a:t>
            </a:r>
          </a:p>
          <a:p>
            <a:pPr lvl="1"/>
            <a:r>
              <a:rPr lang="en-US" dirty="0"/>
              <a:t>Trade-offs vs naive PTQ (no smoothing)</a:t>
            </a:r>
          </a:p>
          <a:p>
            <a:r>
              <a:rPr lang="en-US" dirty="0"/>
              <a:t>Key takeaway:</a:t>
            </a:r>
          </a:p>
          <a:p>
            <a:pPr lvl="1"/>
            <a:r>
              <a:rPr lang="en-US" dirty="0" err="1"/>
              <a:t>SmoothQuant</a:t>
            </a:r>
            <a:r>
              <a:rPr lang="en-US" dirty="0"/>
              <a:t> enables accurate post-training quantization for LLMs without retraining</a:t>
            </a:r>
          </a:p>
        </p:txBody>
      </p:sp>
    </p:spTree>
    <p:extLst>
      <p:ext uri="{BB962C8B-B14F-4D97-AF65-F5344CB8AC3E}">
        <p14:creationId xmlns:p14="http://schemas.microsoft.com/office/powerpoint/2010/main" val="2978503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4281-2CB8-05A6-C741-886531D5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F75CA8F-8DA6-0D65-C95E-18DA31A8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SmoothQuant</a:t>
            </a:r>
            <a:r>
              <a:rPr lang="en-US" b="1" dirty="0"/>
              <a:t> for LLMs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AADF41-829E-2477-2CFA-403D4A24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SmoothQuant</a:t>
            </a:r>
            <a:r>
              <a:rPr lang="en-US" b="1" dirty="0"/>
              <a:t> Hands-On – What You’ll Implement</a:t>
            </a:r>
            <a:endParaRPr lang="en-US" dirty="0"/>
          </a:p>
          <a:p>
            <a:r>
              <a:rPr lang="en-US" dirty="0"/>
              <a:t>Implement:</a:t>
            </a:r>
          </a:p>
          <a:p>
            <a:pPr lvl="1"/>
            <a:r>
              <a:rPr lang="en-US" dirty="0"/>
              <a:t>Activation collection hooks</a:t>
            </a:r>
          </a:p>
          <a:p>
            <a:pPr lvl="1"/>
            <a:r>
              <a:rPr lang="en-US" dirty="0"/>
              <a:t>Distribution statistics computation</a:t>
            </a:r>
          </a:p>
          <a:p>
            <a:pPr lvl="1"/>
            <a:r>
              <a:rPr lang="en-US" dirty="0" err="1"/>
              <a:t>SmoothQuant</a:t>
            </a:r>
            <a:r>
              <a:rPr lang="en-US" dirty="0"/>
              <a:t> scaling factor computation</a:t>
            </a:r>
          </a:p>
          <a:p>
            <a:pPr lvl="1"/>
            <a:r>
              <a:rPr lang="en-US" dirty="0"/>
              <a:t>Transform weights and activations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How outliers shift</a:t>
            </a:r>
          </a:p>
          <a:p>
            <a:pPr lvl="1"/>
            <a:r>
              <a:rPr lang="en-US" dirty="0"/>
              <a:t>How metrics change after quantization</a:t>
            </a:r>
          </a:p>
          <a:p>
            <a:r>
              <a:rPr lang="en-US" dirty="0"/>
              <a:t>Understand:</a:t>
            </a:r>
          </a:p>
          <a:p>
            <a:pPr lvl="1"/>
            <a:r>
              <a:rPr lang="en-US" dirty="0"/>
              <a:t>Why activation smoothing is critical for LLM INT8 deployment</a:t>
            </a:r>
          </a:p>
        </p:txBody>
      </p:sp>
    </p:spTree>
    <p:extLst>
      <p:ext uri="{BB962C8B-B14F-4D97-AF65-F5344CB8AC3E}">
        <p14:creationId xmlns:p14="http://schemas.microsoft.com/office/powerpoint/2010/main" val="3279392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C9F3-B6B8-1B18-ADC5-D15DAB95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74EA47B-2258-FAA6-6ACB-3FA5A0E6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847972D-80FA-01F0-A51F-73CDED819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Diffusion Model Basics</a:t>
            </a:r>
            <a:endParaRPr lang="en-US" dirty="0"/>
          </a:p>
          <a:p>
            <a:r>
              <a:rPr lang="en-US" dirty="0"/>
              <a:t>Diffusion models:</a:t>
            </a:r>
          </a:p>
          <a:p>
            <a:pPr lvl="1"/>
            <a:r>
              <a:rPr lang="en-US" dirty="0"/>
              <a:t>Train to reverse a noising process</a:t>
            </a:r>
          </a:p>
          <a:p>
            <a:r>
              <a:rPr lang="en-US" dirty="0"/>
              <a:t>Inference:</a:t>
            </a:r>
          </a:p>
          <a:p>
            <a:pPr lvl="1"/>
            <a:r>
              <a:rPr lang="en-US" dirty="0"/>
              <a:t>Start from random noise</a:t>
            </a:r>
          </a:p>
          <a:p>
            <a:pPr lvl="1"/>
            <a:r>
              <a:rPr lang="en-US" dirty="0"/>
              <a:t>Iteratively denoise over many steps</a:t>
            </a:r>
          </a:p>
          <a:p>
            <a:r>
              <a:rPr lang="en-US" dirty="0"/>
              <a:t>Components (Stable Diffusion v1.5):</a:t>
            </a:r>
          </a:p>
          <a:p>
            <a:pPr lvl="1"/>
            <a:r>
              <a:rPr lang="en-US" dirty="0"/>
              <a:t>Text Encoder (CLIP)</a:t>
            </a:r>
          </a:p>
          <a:p>
            <a:pPr lvl="1"/>
            <a:r>
              <a:rPr lang="en-US" dirty="0" err="1"/>
              <a:t>UNet</a:t>
            </a:r>
            <a:r>
              <a:rPr lang="en-US" dirty="0"/>
              <a:t> (denoising backbone)</a:t>
            </a:r>
          </a:p>
          <a:p>
            <a:pPr lvl="1"/>
            <a:r>
              <a:rPr lang="en-US" dirty="0"/>
              <a:t>VAE (latent decoder)</a:t>
            </a:r>
          </a:p>
          <a:p>
            <a:pPr lvl="1"/>
            <a:r>
              <a:rPr lang="en-US" dirty="0"/>
              <a:t>Scheduler (denoising trajectory)</a:t>
            </a:r>
          </a:p>
        </p:txBody>
      </p:sp>
    </p:spTree>
    <p:extLst>
      <p:ext uri="{BB962C8B-B14F-4D97-AF65-F5344CB8AC3E}">
        <p14:creationId xmlns:p14="http://schemas.microsoft.com/office/powerpoint/2010/main" val="567347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5F20-36F6-4F3F-D2A2-DB551DC6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CB509C-4C02-4B69-ED99-19AAEF7D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D0CB08B-5C0B-D524-8FC0-F354F2531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Where Is the Cost?</a:t>
            </a:r>
            <a:endParaRPr lang="en-US" dirty="0"/>
          </a:p>
          <a:p>
            <a:r>
              <a:rPr lang="en-US" dirty="0"/>
              <a:t>Most expensive parts:</a:t>
            </a:r>
          </a:p>
          <a:p>
            <a:pPr lvl="1"/>
            <a:r>
              <a:rPr lang="en-US" dirty="0" err="1"/>
              <a:t>UNet</a:t>
            </a:r>
            <a:r>
              <a:rPr lang="en-US" dirty="0"/>
              <a:t> forward passes at each diffusion step</a:t>
            </a:r>
          </a:p>
          <a:p>
            <a:r>
              <a:rPr lang="en-US" dirty="0"/>
              <a:t>Complexity factors:</a:t>
            </a:r>
          </a:p>
          <a:p>
            <a:pPr lvl="1"/>
            <a:r>
              <a:rPr lang="en-US" dirty="0"/>
              <a:t>Number of diffusion steps (e.g., 20 vs 50 vs 100)</a:t>
            </a:r>
          </a:p>
          <a:p>
            <a:pPr lvl="1"/>
            <a:r>
              <a:rPr lang="en-US" dirty="0"/>
              <a:t>Resolution (512×512 vs larger)</a:t>
            </a:r>
          </a:p>
          <a:p>
            <a:pPr lvl="1"/>
            <a:r>
              <a:rPr lang="en-US" dirty="0"/>
              <a:t>Scheduler choice (different trade-offs between quality and speed)</a:t>
            </a:r>
          </a:p>
        </p:txBody>
      </p:sp>
    </p:spTree>
    <p:extLst>
      <p:ext uri="{BB962C8B-B14F-4D97-AF65-F5344CB8AC3E}">
        <p14:creationId xmlns:p14="http://schemas.microsoft.com/office/powerpoint/2010/main" val="3443653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58EB-B02B-DDD3-2A90-634A462B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154931-2FC4-E012-2678-61A94AB1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AE99F5-D9B6-7102-CACD-3F311173D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Count vs Quality</a:t>
            </a:r>
            <a:endParaRPr lang="en-US" dirty="0"/>
          </a:p>
          <a:p>
            <a:r>
              <a:rPr lang="en-US" dirty="0"/>
              <a:t>More steps:</a:t>
            </a:r>
          </a:p>
          <a:p>
            <a:pPr lvl="1"/>
            <a:r>
              <a:rPr lang="en-US" dirty="0"/>
              <a:t>Better image quality, smoother details</a:t>
            </a:r>
          </a:p>
          <a:p>
            <a:pPr lvl="1"/>
            <a:r>
              <a:rPr lang="en-US" dirty="0"/>
              <a:t>Higher inference time</a:t>
            </a:r>
          </a:p>
          <a:p>
            <a:r>
              <a:rPr lang="en-US" dirty="0"/>
              <a:t>Fewer steps:</a:t>
            </a:r>
          </a:p>
          <a:p>
            <a:pPr lvl="1"/>
            <a:r>
              <a:rPr lang="en-US" dirty="0"/>
              <a:t>Faster generation</a:t>
            </a:r>
          </a:p>
          <a:p>
            <a:pPr lvl="1"/>
            <a:r>
              <a:rPr lang="en-US" dirty="0"/>
              <a:t>Risk of artifacts, less refined details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Find a good </a:t>
            </a:r>
            <a:r>
              <a:rPr lang="en-US" b="1" dirty="0"/>
              <a:t>speed–quality trade-off</a:t>
            </a:r>
            <a:r>
              <a:rPr lang="en-US" dirty="0"/>
              <a:t> for your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716734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45AB-4C9E-75B4-06F9-C9A91F67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8982001-6D4D-6749-C46C-616FBADA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609B635-59C7-914E-441B-A52A42BB6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Schedulers – High-Level Overview</a:t>
            </a:r>
            <a:endParaRPr lang="en-US" dirty="0"/>
          </a:p>
          <a:p>
            <a:r>
              <a:rPr lang="en-US" dirty="0"/>
              <a:t>Different schedulers approximate the reverse diffusion process differently:</a:t>
            </a:r>
          </a:p>
          <a:p>
            <a:pPr lvl="1"/>
            <a:r>
              <a:rPr lang="en-US" b="1" dirty="0"/>
              <a:t>DDPM</a:t>
            </a:r>
            <a:r>
              <a:rPr lang="en-US" dirty="0"/>
              <a:t>: original denoising diffusion</a:t>
            </a:r>
          </a:p>
          <a:p>
            <a:pPr lvl="1"/>
            <a:r>
              <a:rPr lang="en-US" b="1" dirty="0"/>
              <a:t>DDIM</a:t>
            </a:r>
            <a:r>
              <a:rPr lang="en-US" dirty="0"/>
              <a:t>: deterministic, fewer steps, faster sampling</a:t>
            </a:r>
          </a:p>
          <a:p>
            <a:pPr lvl="1"/>
            <a:r>
              <a:rPr lang="en-US" b="1" dirty="0" err="1"/>
              <a:t>LMSDiscrete</a:t>
            </a:r>
            <a:r>
              <a:rPr lang="en-US" dirty="0"/>
              <a:t>, </a:t>
            </a:r>
            <a:r>
              <a:rPr lang="en-US" b="1" dirty="0"/>
              <a:t>PNDM</a:t>
            </a:r>
            <a:r>
              <a:rPr lang="en-US" dirty="0"/>
              <a:t>, </a:t>
            </a:r>
            <a:r>
              <a:rPr lang="en-US" b="1" dirty="0"/>
              <a:t>Euler</a:t>
            </a:r>
            <a:r>
              <a:rPr lang="en-US" dirty="0"/>
              <a:t>, etc.</a:t>
            </a:r>
          </a:p>
          <a:p>
            <a:r>
              <a:rPr lang="en-US" dirty="0"/>
              <a:t>Each scheduler:</a:t>
            </a:r>
          </a:p>
          <a:p>
            <a:pPr lvl="1"/>
            <a:r>
              <a:rPr lang="en-US" dirty="0"/>
              <a:t>Has its own noise schedule &amp; update rules</a:t>
            </a:r>
          </a:p>
          <a:p>
            <a:pPr lvl="1"/>
            <a:r>
              <a:rPr lang="en-US" dirty="0"/>
              <a:t>Trades off:</a:t>
            </a:r>
          </a:p>
          <a:p>
            <a:pPr lvl="2"/>
            <a:r>
              <a:rPr lang="en-US" dirty="0"/>
              <a:t>Fidelity</a:t>
            </a:r>
          </a:p>
          <a:p>
            <a:pPr lvl="2"/>
            <a:r>
              <a:rPr lang="en-US" dirty="0"/>
              <a:t>Diversity</a:t>
            </a:r>
          </a:p>
          <a:p>
            <a:pPr lvl="2"/>
            <a:r>
              <a:rPr lang="en-US" dirty="0"/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337717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3264-328B-CA4B-155C-C4A709A8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BD84D37-53B2-168C-99E1-51AE86F1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2274E3-3553-47FC-785E-80B98AE6F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Diffusion Acceleration in This Workshop</a:t>
            </a:r>
            <a:endParaRPr lang="en-US" dirty="0"/>
          </a:p>
          <a:p>
            <a:r>
              <a:rPr lang="en-US" dirty="0"/>
              <a:t>Notebook: </a:t>
            </a:r>
            <a:r>
              <a:rPr lang="en-US" b="1" dirty="0"/>
              <a:t>03_Diffusion_Model_Acceleration</a:t>
            </a:r>
            <a:endParaRPr lang="en-US" dirty="0"/>
          </a:p>
          <a:p>
            <a:r>
              <a:rPr lang="en-US" dirty="0"/>
              <a:t>Setup:</a:t>
            </a:r>
          </a:p>
          <a:p>
            <a:pPr lvl="1"/>
            <a:r>
              <a:rPr lang="en-US" dirty="0"/>
              <a:t>Stable Diffusion v1.5 pipeline from `diffusers`</a:t>
            </a:r>
          </a:p>
          <a:p>
            <a:pPr lvl="1"/>
            <a:r>
              <a:rPr lang="en-US" dirty="0"/>
              <a:t>GPU device with memory optimizations (attention slicing, </a:t>
            </a:r>
            <a:r>
              <a:rPr lang="en-US" dirty="0" err="1"/>
              <a:t>xformers</a:t>
            </a:r>
            <a:r>
              <a:rPr lang="en-US" dirty="0"/>
              <a:t>, etc.)</a:t>
            </a:r>
          </a:p>
          <a:p>
            <a:r>
              <a:rPr lang="en-US" dirty="0"/>
              <a:t>Experiments:</a:t>
            </a:r>
          </a:p>
          <a:p>
            <a:pPr lvl="1"/>
            <a:r>
              <a:rPr lang="en-US" dirty="0"/>
              <a:t>Baseline image generation timing</a:t>
            </a:r>
          </a:p>
          <a:p>
            <a:pPr lvl="1"/>
            <a:r>
              <a:rPr lang="en-US" dirty="0"/>
              <a:t>Step count analysis:</a:t>
            </a:r>
          </a:p>
          <a:p>
            <a:pPr lvl="2"/>
            <a:r>
              <a:rPr lang="en-US" dirty="0"/>
              <a:t>10, 20, 30, 50, 100 steps</a:t>
            </a:r>
          </a:p>
          <a:p>
            <a:pPr lvl="1"/>
            <a:r>
              <a:rPr lang="en-US" dirty="0"/>
              <a:t>Scheduler comparison:</a:t>
            </a:r>
          </a:p>
          <a:p>
            <a:pPr lvl="2"/>
            <a:r>
              <a:rPr lang="en-US" dirty="0"/>
              <a:t>DDIM, DDPM, LMS, PNDM, Euler</a:t>
            </a:r>
          </a:p>
        </p:txBody>
      </p:sp>
    </p:spTree>
    <p:extLst>
      <p:ext uri="{BB962C8B-B14F-4D97-AF65-F5344CB8AC3E}">
        <p14:creationId xmlns:p14="http://schemas.microsoft.com/office/powerpoint/2010/main" val="779958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CC6A-C8FD-688B-D712-B1F8BD3E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9634897-87DD-4D62-CE5A-F13DDE45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393E60-C393-DB88-E119-C83756B68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Memory Optimization Techniques</a:t>
            </a:r>
            <a:endParaRPr lang="en-US" dirty="0"/>
          </a:p>
          <a:p>
            <a:r>
              <a:rPr lang="en-US" dirty="0"/>
              <a:t>Techniques:</a:t>
            </a:r>
          </a:p>
          <a:p>
            <a:pPr lvl="1"/>
            <a:r>
              <a:rPr lang="en-US" dirty="0"/>
              <a:t>Use `torch.float16` on GPU when possible</a:t>
            </a:r>
          </a:p>
          <a:p>
            <a:pPr lvl="1"/>
            <a:r>
              <a:rPr lang="en-US" dirty="0"/>
              <a:t>Enable attention slicing</a:t>
            </a:r>
          </a:p>
          <a:p>
            <a:pPr lvl="1"/>
            <a:r>
              <a:rPr lang="en-US" dirty="0"/>
              <a:t>Enable </a:t>
            </a:r>
            <a:r>
              <a:rPr lang="en-US" dirty="0" err="1"/>
              <a:t>xformers</a:t>
            </a:r>
            <a:r>
              <a:rPr lang="en-US" dirty="0"/>
              <a:t> memory-efficient attention if available</a:t>
            </a:r>
          </a:p>
          <a:p>
            <a:pPr lvl="1"/>
            <a:r>
              <a:rPr lang="en-US" dirty="0"/>
              <a:t>Clear VRAM between experiments when needed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Avoid out-of-memory (OOM) errors</a:t>
            </a:r>
          </a:p>
          <a:p>
            <a:pPr lvl="1"/>
            <a:r>
              <a:rPr lang="en-US" dirty="0"/>
              <a:t>Maximize batch size and resolution under constraints</a:t>
            </a:r>
          </a:p>
        </p:txBody>
      </p:sp>
    </p:spTree>
    <p:extLst>
      <p:ext uri="{BB962C8B-B14F-4D97-AF65-F5344CB8AC3E}">
        <p14:creationId xmlns:p14="http://schemas.microsoft.com/office/powerpoint/2010/main" val="304863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C7D1-F0E8-ADFE-F2E7-EEB85997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9838FDC-D231-9D68-3573-84777226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6E37FC-2E08-E03A-682F-E81B340F7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Metrics Collected</a:t>
            </a:r>
            <a:endParaRPr lang="en-US" dirty="0"/>
          </a:p>
          <a:p>
            <a:r>
              <a:rPr lang="en-US" dirty="0"/>
              <a:t>For each configuration (steps / scheduler):</a:t>
            </a:r>
          </a:p>
          <a:p>
            <a:pPr lvl="1"/>
            <a:r>
              <a:rPr lang="en-US" dirty="0"/>
              <a:t>Inference time (seconds per image)</a:t>
            </a:r>
          </a:p>
          <a:p>
            <a:pPr lvl="1"/>
            <a:r>
              <a:rPr lang="en-US" dirty="0"/>
              <a:t>Peak GPU memory usage (GB)</a:t>
            </a:r>
          </a:p>
          <a:p>
            <a:pPr lvl="1"/>
            <a:r>
              <a:rPr lang="en-US" dirty="0"/>
              <a:t>Visual quality (sample images)</a:t>
            </a:r>
          </a:p>
          <a:p>
            <a:r>
              <a:rPr lang="en-US" dirty="0"/>
              <a:t>Visualizations:</a:t>
            </a:r>
          </a:p>
          <a:p>
            <a:pPr lvl="1"/>
            <a:r>
              <a:rPr lang="en-US" dirty="0"/>
              <a:t>Grid of images vs step count</a:t>
            </a:r>
          </a:p>
          <a:p>
            <a:pPr lvl="1"/>
            <a:r>
              <a:rPr lang="en-US" dirty="0"/>
              <a:t>Time vs steps plot</a:t>
            </a:r>
          </a:p>
          <a:p>
            <a:pPr lvl="1"/>
            <a:r>
              <a:rPr lang="en-US" dirty="0"/>
              <a:t>Bar chart of scheduler times</a:t>
            </a:r>
          </a:p>
        </p:txBody>
      </p:sp>
    </p:spTree>
    <p:extLst>
      <p:ext uri="{BB962C8B-B14F-4D97-AF65-F5344CB8AC3E}">
        <p14:creationId xmlns:p14="http://schemas.microsoft.com/office/powerpoint/2010/main" val="181088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A944-ADAF-1450-5E06-509FF882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D5F247A-0FC2-7CEE-CAC0-70DF5352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Diffusion Model Acceleration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D9A34D0-6ADE-3BE4-24DF-EF67A9C72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Diffusion Hands-On – What You’ll Implement</a:t>
            </a:r>
            <a:endParaRPr lang="en-US" dirty="0"/>
          </a:p>
          <a:p>
            <a:r>
              <a:rPr lang="en-US" dirty="0"/>
              <a:t>Implement: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generate_image_with_timing</a:t>
            </a:r>
            <a:r>
              <a:rPr lang="en-US" dirty="0"/>
              <a:t>` utility</a:t>
            </a:r>
          </a:p>
          <a:p>
            <a:pPr lvl="1"/>
            <a:r>
              <a:rPr lang="en-US" dirty="0"/>
              <a:t>Experiment loops for different step counts</a:t>
            </a:r>
          </a:p>
          <a:p>
            <a:pPr lvl="1"/>
            <a:r>
              <a:rPr lang="en-US" dirty="0"/>
              <a:t>Scheduler comparison logic</a:t>
            </a:r>
          </a:p>
          <a:p>
            <a:pPr lvl="1"/>
            <a:r>
              <a:rPr lang="en-US" dirty="0"/>
              <a:t>Performance summary function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Which scheduler/step combination is “good enough”</a:t>
            </a:r>
          </a:p>
          <a:p>
            <a:pPr lvl="1"/>
            <a:r>
              <a:rPr lang="en-US" dirty="0"/>
              <a:t>How much time you save with fewer steps / different schedulers</a:t>
            </a:r>
          </a:p>
          <a:p>
            <a:r>
              <a:rPr lang="en-US" dirty="0"/>
              <a:t>Understand:</a:t>
            </a:r>
          </a:p>
          <a:p>
            <a:pPr lvl="1"/>
            <a:r>
              <a:rPr lang="en-US" dirty="0"/>
              <a:t>Practical trade-offs for real-world deployment</a:t>
            </a:r>
          </a:p>
        </p:txBody>
      </p:sp>
    </p:spTree>
    <p:extLst>
      <p:ext uri="{BB962C8B-B14F-4D97-AF65-F5344CB8AC3E}">
        <p14:creationId xmlns:p14="http://schemas.microsoft.com/office/powerpoint/2010/main" val="3563161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62E3-875D-34FE-D8F0-F2FF7367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C4637AF-C859-F4F8-D167-0802033A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F33E777-B527-ED83-366B-986C9A4B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Next Steps &amp; Q&amp;A</a:t>
            </a:r>
            <a:endParaRPr lang="en-US" dirty="0"/>
          </a:p>
          <a:p>
            <a:r>
              <a:rPr lang="en-US" dirty="0"/>
              <a:t>Questions on any of the three techniques?</a:t>
            </a:r>
          </a:p>
          <a:p>
            <a:r>
              <a:rPr lang="en-US" dirty="0"/>
              <a:t>Workflow:</a:t>
            </a:r>
          </a:p>
          <a:p>
            <a:pPr lvl="1"/>
            <a:r>
              <a:rPr lang="en-US" dirty="0"/>
              <a:t>Start with Notebook 1 → 2 → 3</a:t>
            </a:r>
          </a:p>
          <a:p>
            <a:r>
              <a:rPr lang="en-US" dirty="0"/>
              <a:t>Encourage:</a:t>
            </a:r>
          </a:p>
          <a:p>
            <a:pPr lvl="1"/>
            <a:r>
              <a:rPr lang="en-US" dirty="0"/>
              <a:t>Experimentation with parameters and model sizes</a:t>
            </a:r>
          </a:p>
          <a:p>
            <a:pPr lvl="1"/>
            <a:r>
              <a:rPr lang="en-US"/>
              <a:t>Applying </a:t>
            </a:r>
            <a:r>
              <a:rPr lang="en-US" dirty="0"/>
              <a:t>these techniques to your own models and datasets</a:t>
            </a:r>
          </a:p>
        </p:txBody>
      </p:sp>
    </p:spTree>
    <p:extLst>
      <p:ext uri="{BB962C8B-B14F-4D97-AF65-F5344CB8AC3E}">
        <p14:creationId xmlns:p14="http://schemas.microsoft.com/office/powerpoint/2010/main" val="4273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85</TotalTime>
  <Words>1790</Words>
  <Application>Microsoft Office PowerPoint</Application>
  <PresentationFormat>Custom</PresentationFormat>
  <Paragraphs>307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Tech 16x9</vt:lpstr>
      <vt:lpstr>Advanced Model Acceleration Techniques</vt:lpstr>
      <vt:lpstr>Agenda</vt:lpstr>
      <vt:lpstr>1. Motivation: Why Accelerate Advanced Architectures?</vt:lpstr>
      <vt:lpstr>1. Motivation: Why Accelerate Advanced Architectures?</vt:lpstr>
      <vt:lpstr>1. Motivation: Why Accelerate Advanced Architectures?</vt:lpstr>
      <vt:lpstr>1. Motivation: Why Accelerate Advanced Architectures?</vt:lpstr>
      <vt:lpstr>2. Efficient ViT Attention (Notebook 01)</vt:lpstr>
      <vt:lpstr>2. Efficient ViT Attention (Notebook 01)</vt:lpstr>
      <vt:lpstr>2. Efficient ViT Attention (Notebook 01)</vt:lpstr>
      <vt:lpstr>2. Efficient ViT Attention (Notebook 01)</vt:lpstr>
      <vt:lpstr>2. Efficient ViT Attention (Notebook 01)</vt:lpstr>
      <vt:lpstr>2. Efficient ViT Attention (Notebook 01)</vt:lpstr>
      <vt:lpstr>2. Efficient ViT Attention (Notebook 01)</vt:lpstr>
      <vt:lpstr>3. SmoothQuant for LLMs (Notebook 02)</vt:lpstr>
      <vt:lpstr>3. SmoothQuant for LLMs (Notebook 02)</vt:lpstr>
      <vt:lpstr>3. SmoothQuant for LLMs (Notebook 02)</vt:lpstr>
      <vt:lpstr>3. SmoothQuant for LLMs (Notebook 02)</vt:lpstr>
      <vt:lpstr>3. SmoothQuant for LLMs (Notebook 02)</vt:lpstr>
      <vt:lpstr>3. SmoothQuant for LLMs (Notebook 02)</vt:lpstr>
      <vt:lpstr>3. SmoothQuant for LLMs (Notebook 02)</vt:lpstr>
      <vt:lpstr>3. SmoothQuant for LLMs (Notebook 02)</vt:lpstr>
      <vt:lpstr>4. Diffusion Model Acceleration (Notebook 03)</vt:lpstr>
      <vt:lpstr>4. Diffusion Model Acceleration (Notebook 03)</vt:lpstr>
      <vt:lpstr>4. Diffusion Model Acceleration (Notebook 03)</vt:lpstr>
      <vt:lpstr>4. Diffusion Model Acceleration (Notebook 03)</vt:lpstr>
      <vt:lpstr>4. Diffusion Model Acceleration (Notebook 03)</vt:lpstr>
      <vt:lpstr>4. Diffusion Model Acceleration (Notebook 03)</vt:lpstr>
      <vt:lpstr>4. Diffusion Model Acceleration (Notebook 03)</vt:lpstr>
      <vt:lpstr>4. Diffusion Model Acceleration (Notebook 03)</vt:lpstr>
      <vt:lpstr>5. 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Alves</dc:creator>
  <cp:lastModifiedBy>Lucas Alves</cp:lastModifiedBy>
  <cp:revision>3</cp:revision>
  <dcterms:created xsi:type="dcterms:W3CDTF">2025-11-18T03:05:33Z</dcterms:created>
  <dcterms:modified xsi:type="dcterms:W3CDTF">2025-11-19T23:11:32Z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