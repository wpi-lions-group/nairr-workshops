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5"/>
  </p:notesMasterIdLst>
  <p:handoutMasterIdLst>
    <p:handoutMasterId r:id="rId36"/>
  </p:handoutMasterIdLst>
  <p:sldIdLst>
    <p:sldId id="257" r:id="rId5"/>
    <p:sldId id="268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95" d="100"/>
          <a:sy n="95" d="100"/>
        </p:scale>
        <p:origin x="163" y="67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11/17/2025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11/17/2025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11/17/2025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Efficient Inference for Edge AI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3.1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efficient inference matters on edge devices</a:t>
            </a:r>
          </a:p>
          <a:p>
            <a:r>
              <a:rPr lang="en-US" dirty="0"/>
              <a:t>Part 1 – Quantization</a:t>
            </a:r>
          </a:p>
          <a:p>
            <a:r>
              <a:rPr lang="en-US" dirty="0"/>
              <a:t>Part 2 – Pruning</a:t>
            </a:r>
          </a:p>
          <a:p>
            <a:r>
              <a:rPr lang="en-US" dirty="0"/>
              <a:t>Part 3 – Knowledge Distillation</a:t>
            </a:r>
          </a:p>
          <a:p>
            <a:r>
              <a:rPr lang="en-US" dirty="0"/>
              <a:t>How this theory connects to the hands-on notebooks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4B535-316B-FE30-1C83-E05BCB90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5768BA3-D77B-3D94-28F3-A32832CD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Motivation: Why Efficient Inference?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0D67433-7362-7B38-01AE-101729706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Edge AI Constraints</a:t>
            </a:r>
            <a:endParaRPr lang="en-US" dirty="0"/>
          </a:p>
          <a:p>
            <a:r>
              <a:rPr lang="en-US" dirty="0"/>
              <a:t>Limited compute (mobile CPUs, small GPUs, NPUs)</a:t>
            </a:r>
          </a:p>
          <a:p>
            <a:r>
              <a:rPr lang="en-US" dirty="0"/>
              <a:t>Limited memory and storage (MBs, not GBs)</a:t>
            </a:r>
          </a:p>
          <a:p>
            <a:r>
              <a:rPr lang="en-US" dirty="0"/>
              <a:t>Power and battery constraints</a:t>
            </a:r>
          </a:p>
          <a:p>
            <a:r>
              <a:rPr lang="en-US" dirty="0"/>
              <a:t>Low-latency / real-time requirements</a:t>
            </a:r>
          </a:p>
        </p:txBody>
      </p:sp>
    </p:spTree>
    <p:extLst>
      <p:ext uri="{BB962C8B-B14F-4D97-AF65-F5344CB8AC3E}">
        <p14:creationId xmlns:p14="http://schemas.microsoft.com/office/powerpoint/2010/main" val="4069984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2666-BFC2-90D8-40B4-7083B1D3D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B121EC4-1887-1B05-F785-599A28F5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Motivation: Why Efficient Inference?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B8A3B41-67EC-3EB7-D3A1-92F232A59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Baseline Deep Models</a:t>
            </a:r>
            <a:endParaRPr lang="en-US" dirty="0"/>
          </a:p>
          <a:p>
            <a:r>
              <a:rPr lang="en-US" dirty="0"/>
              <a:t>Typical CNNs: millions of parameters, FP32 weights</a:t>
            </a:r>
          </a:p>
          <a:p>
            <a:r>
              <a:rPr lang="en-US" dirty="0"/>
              <a:t>High memory bandwidth, higher latency</a:t>
            </a:r>
          </a:p>
          <a:p>
            <a:r>
              <a:rPr lang="en-US" dirty="0"/>
              <a:t>Not ideal for on-device or embedded deployment</a:t>
            </a:r>
          </a:p>
        </p:txBody>
      </p:sp>
    </p:spTree>
    <p:extLst>
      <p:ext uri="{BB962C8B-B14F-4D97-AF65-F5344CB8AC3E}">
        <p14:creationId xmlns:p14="http://schemas.microsoft.com/office/powerpoint/2010/main" val="2832144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73CA-EAE2-37B8-3A64-FE256AA85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27B35EA-1982-81E0-CD6D-7C3435CB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Motivation: Why Efficient Inference?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53EEC83-57B9-F47D-78B7-91DA6A1A0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MobileNetV2?</a:t>
            </a:r>
            <a:endParaRPr lang="en-US" dirty="0"/>
          </a:p>
          <a:p>
            <a:r>
              <a:rPr lang="en-US" dirty="0"/>
              <a:t>Architecture designed for mobile/edge</a:t>
            </a:r>
          </a:p>
          <a:p>
            <a:r>
              <a:rPr lang="en-US" dirty="0"/>
              <a:t>Uses depth wise separable convolutions</a:t>
            </a:r>
          </a:p>
          <a:p>
            <a:r>
              <a:rPr lang="en-US" dirty="0"/>
              <a:t>Good accuracy–efficiency trade-off</a:t>
            </a:r>
          </a:p>
          <a:p>
            <a:r>
              <a:rPr lang="en-US" dirty="0"/>
              <a:t>Excellent base for compression and optimization</a:t>
            </a:r>
          </a:p>
        </p:txBody>
      </p:sp>
    </p:spTree>
    <p:extLst>
      <p:ext uri="{BB962C8B-B14F-4D97-AF65-F5344CB8AC3E}">
        <p14:creationId xmlns:p14="http://schemas.microsoft.com/office/powerpoint/2010/main" val="1606827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4854-E87F-CB7E-E23F-0C02F808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59985D6-5004-8F2F-F618-40655538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Motivation: Why Efficient Inference?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E6F797C-4601-F6DA-539B-0F92EBC61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Three Optimization Axes</a:t>
            </a:r>
            <a:endParaRPr lang="en-US" dirty="0"/>
          </a:p>
          <a:p>
            <a:r>
              <a:rPr lang="en-US" b="1" dirty="0"/>
              <a:t>Quantization</a:t>
            </a:r>
            <a:r>
              <a:rPr lang="en-US" dirty="0"/>
              <a:t>: reduce numeric precision</a:t>
            </a:r>
          </a:p>
          <a:p>
            <a:r>
              <a:rPr lang="en-US" b="1" dirty="0"/>
              <a:t>Pruning</a:t>
            </a:r>
            <a:r>
              <a:rPr lang="en-US" dirty="0"/>
              <a:t>: remove unnecessary weights</a:t>
            </a:r>
          </a:p>
          <a:p>
            <a:r>
              <a:rPr lang="en-US" b="1" dirty="0"/>
              <a:t>Knowledge Distillation</a:t>
            </a:r>
            <a:r>
              <a:rPr lang="en-US" dirty="0"/>
              <a:t>: train smaller models to mimic larger ones</a:t>
            </a:r>
          </a:p>
          <a:p>
            <a:r>
              <a:rPr lang="en-US" dirty="0"/>
              <a:t>Can be combined in real deployments</a:t>
            </a:r>
          </a:p>
        </p:txBody>
      </p:sp>
    </p:spTree>
    <p:extLst>
      <p:ext uri="{BB962C8B-B14F-4D97-AF65-F5344CB8AC3E}">
        <p14:creationId xmlns:p14="http://schemas.microsoft.com/office/powerpoint/2010/main" val="3162174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3456B-D392-2E28-73F2-19188F56D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F092674-B4F2-FC3C-1EE3-A04C89CD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Quantization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7195A85-CBA9-1FD8-A432-F9C126176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Quantization?</a:t>
            </a:r>
            <a:endParaRPr lang="en-US" dirty="0"/>
          </a:p>
          <a:p>
            <a:r>
              <a:rPr lang="en-US" dirty="0"/>
              <a:t>Map high-precision values (FP32) → low-precision (e.g., INT8)</a:t>
            </a:r>
          </a:p>
          <a:p>
            <a:r>
              <a:rPr lang="en-US" dirty="0"/>
              <a:t>Applies to:</a:t>
            </a:r>
          </a:p>
          <a:p>
            <a:pPr lvl="1"/>
            <a:r>
              <a:rPr lang="en-US" dirty="0"/>
              <a:t>Weights</a:t>
            </a:r>
          </a:p>
          <a:p>
            <a:pPr lvl="1"/>
            <a:r>
              <a:rPr lang="en-US" dirty="0"/>
              <a:t>Activations</a:t>
            </a:r>
          </a:p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Represent continuous values using fewer bits</a:t>
            </a:r>
          </a:p>
          <a:p>
            <a:pPr lvl="1"/>
            <a:r>
              <a:rPr lang="en-US" dirty="0"/>
              <a:t>Use scale &amp; zero-point:</a:t>
            </a:r>
          </a:p>
          <a:p>
            <a:pPr lvl="2"/>
            <a:r>
              <a:rPr lang="en-US" dirty="0"/>
              <a:t>q = </a:t>
            </a:r>
            <a:r>
              <a:rPr lang="en-US" i="1" dirty="0"/>
              <a:t>round</a:t>
            </a:r>
            <a:r>
              <a:rPr lang="en-US" dirty="0"/>
              <a:t>(x / s) + z</a:t>
            </a:r>
          </a:p>
        </p:txBody>
      </p:sp>
    </p:spTree>
    <p:extLst>
      <p:ext uri="{BB962C8B-B14F-4D97-AF65-F5344CB8AC3E}">
        <p14:creationId xmlns:p14="http://schemas.microsoft.com/office/powerpoint/2010/main" val="1853681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476E3-D0AE-D6F6-029A-74AFF731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57F9721-DEC9-F6F9-7298-6212CE48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Quantization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B80A93D-2479-3C46-9B51-E22DF1203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Quantize?</a:t>
            </a:r>
            <a:endParaRPr lang="en-US" dirty="0"/>
          </a:p>
          <a:p>
            <a:r>
              <a:rPr lang="en-US" b="1" dirty="0"/>
              <a:t>Model size reduction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FP32 (4 bytes) → INT8 (1 byte)</a:t>
            </a:r>
          </a:p>
          <a:p>
            <a:pPr lvl="1"/>
            <a:r>
              <a:rPr lang="en-US" dirty="0"/>
              <a:t>~4× smaller weight tensors</a:t>
            </a:r>
          </a:p>
          <a:p>
            <a:r>
              <a:rPr lang="en-US" b="1" dirty="0"/>
              <a:t>Faster inference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Less memory bandwidth</a:t>
            </a:r>
          </a:p>
          <a:p>
            <a:pPr lvl="1"/>
            <a:r>
              <a:rPr lang="en-US" dirty="0"/>
              <a:t>Use integer instructions / accelerators</a:t>
            </a:r>
          </a:p>
          <a:p>
            <a:r>
              <a:rPr lang="en-US" b="1" dirty="0"/>
              <a:t>Energy savings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Less data movement, fewer joules per inference</a:t>
            </a:r>
          </a:p>
        </p:txBody>
      </p:sp>
    </p:spTree>
    <p:extLst>
      <p:ext uri="{BB962C8B-B14F-4D97-AF65-F5344CB8AC3E}">
        <p14:creationId xmlns:p14="http://schemas.microsoft.com/office/powerpoint/2010/main" val="2752677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D8F3-04D9-4B3F-5DB3-E24B84F1A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73ACC91-B841-C6C4-D0D1-50FBAFFC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Quantization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F09CBE7-F4FF-CFD5-68CC-7329CA375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Types of Quantization</a:t>
            </a:r>
            <a:endParaRPr lang="en-US" dirty="0"/>
          </a:p>
          <a:p>
            <a:r>
              <a:rPr lang="en-US" b="1" dirty="0"/>
              <a:t>Post-Training Quantization (PTQ)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Quantize pre-trained model without retraining</a:t>
            </a:r>
          </a:p>
          <a:p>
            <a:pPr lvl="1"/>
            <a:r>
              <a:rPr lang="en-US" dirty="0"/>
              <a:t>Needs calibration data for activation ranges</a:t>
            </a:r>
          </a:p>
          <a:p>
            <a:r>
              <a:rPr lang="en-US" b="1" dirty="0"/>
              <a:t>Quantization-Aware Training (QAT)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Simulate quantization during training</a:t>
            </a:r>
          </a:p>
          <a:p>
            <a:pPr lvl="1"/>
            <a:r>
              <a:rPr lang="en-US" dirty="0"/>
              <a:t>Better accuracy, more training cost</a:t>
            </a:r>
          </a:p>
          <a:p>
            <a:r>
              <a:rPr lang="en-US" b="1" dirty="0"/>
              <a:t>Per-tensor vs Per-channel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Per-channel often for weights in conv layers</a:t>
            </a:r>
          </a:p>
          <a:p>
            <a:pPr lvl="1"/>
            <a:r>
              <a:rPr lang="en-US" dirty="0"/>
              <a:t>Finer control over ranges</a:t>
            </a:r>
          </a:p>
        </p:txBody>
      </p:sp>
    </p:spTree>
    <p:extLst>
      <p:ext uri="{BB962C8B-B14F-4D97-AF65-F5344CB8AC3E}">
        <p14:creationId xmlns:p14="http://schemas.microsoft.com/office/powerpoint/2010/main" val="3026071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B34BC-40EB-F3F2-FAEF-C2A0C683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24DA43C-8307-4C44-0F04-BD39E169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Quantization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EFB5E5F-F1E7-0825-B60B-DA53B5ECD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Quantization in This Workshop</a:t>
            </a:r>
            <a:endParaRPr lang="en-US" dirty="0"/>
          </a:p>
          <a:p>
            <a:r>
              <a:rPr lang="en-US" dirty="0"/>
              <a:t>Model: </a:t>
            </a:r>
            <a:r>
              <a:rPr lang="en-US" b="1" dirty="0"/>
              <a:t>MobileNetV2</a:t>
            </a:r>
            <a:r>
              <a:rPr lang="en-US" dirty="0"/>
              <a:t> adapted for CIFAR-10</a:t>
            </a:r>
          </a:p>
          <a:p>
            <a:pPr lvl="1"/>
            <a:r>
              <a:rPr lang="en-US" dirty="0"/>
              <a:t>First conv adjusted for 32×32 input</a:t>
            </a:r>
          </a:p>
          <a:p>
            <a:pPr lvl="1"/>
            <a:r>
              <a:rPr lang="en-US" dirty="0"/>
              <a:t>Classifier head: 1000 → 10 classes</a:t>
            </a:r>
          </a:p>
          <a:p>
            <a:r>
              <a:rPr lang="en-US" dirty="0"/>
              <a:t>Approach: </a:t>
            </a:r>
            <a:r>
              <a:rPr lang="en-US" b="1" dirty="0"/>
              <a:t>Post-Training Quantization</a:t>
            </a:r>
            <a:r>
              <a:rPr lang="en-US" dirty="0"/>
              <a:t> in </a:t>
            </a:r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Run baseline evaluation (accuracy, size, speed)</a:t>
            </a:r>
          </a:p>
          <a:p>
            <a:pPr lvl="1"/>
            <a:r>
              <a:rPr lang="en-US" dirty="0"/>
              <a:t>Collect calibration batches</a:t>
            </a:r>
          </a:p>
          <a:p>
            <a:pPr lvl="1"/>
            <a:r>
              <a:rPr lang="en-US" dirty="0"/>
              <a:t>Apply INT8 quantization</a:t>
            </a:r>
          </a:p>
          <a:p>
            <a:r>
              <a:rPr lang="en-US" dirty="0"/>
              <a:t>Metrics:</a:t>
            </a:r>
          </a:p>
          <a:p>
            <a:pPr lvl="1"/>
            <a:r>
              <a:rPr lang="en-US" dirty="0"/>
              <a:t>Accuracy before / after</a:t>
            </a:r>
          </a:p>
          <a:p>
            <a:pPr lvl="1"/>
            <a:r>
              <a:rPr lang="en-US" dirty="0"/>
              <a:t>Model size (MB) before / after</a:t>
            </a:r>
          </a:p>
          <a:p>
            <a:pPr lvl="1"/>
            <a:r>
              <a:rPr lang="en-US" dirty="0"/>
              <a:t>Inference time per image / per batch</a:t>
            </a:r>
          </a:p>
        </p:txBody>
      </p:sp>
    </p:spTree>
    <p:extLst>
      <p:ext uri="{BB962C8B-B14F-4D97-AF65-F5344CB8AC3E}">
        <p14:creationId xmlns:p14="http://schemas.microsoft.com/office/powerpoint/2010/main" val="1236570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708D0-1E6C-0A99-A9B5-3134739B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8242C01-D0BF-264B-D4E3-CC83A3A8C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Quantization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11C00C6-01B9-1344-0607-24A0AD424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Quantization Trade-offs &amp; Pitfalls</a:t>
            </a:r>
            <a:endParaRPr lang="en-US" dirty="0"/>
          </a:p>
          <a:p>
            <a:r>
              <a:rPr lang="en-US" dirty="0"/>
              <a:t>Sensitive layers:</a:t>
            </a:r>
          </a:p>
          <a:p>
            <a:pPr lvl="1"/>
            <a:r>
              <a:rPr lang="en-US" dirty="0"/>
              <a:t>First / last layers may be fragile</a:t>
            </a:r>
          </a:p>
          <a:p>
            <a:r>
              <a:rPr lang="en-US" dirty="0"/>
              <a:t>Activation outliers:</a:t>
            </a:r>
          </a:p>
          <a:p>
            <a:pPr lvl="1"/>
            <a:r>
              <a:rPr lang="en-US" dirty="0"/>
              <a:t>Can cause saturation / precision loss</a:t>
            </a:r>
          </a:p>
          <a:p>
            <a:r>
              <a:rPr lang="en-US" dirty="0"/>
              <a:t>Hardware dependence:</a:t>
            </a:r>
          </a:p>
          <a:p>
            <a:pPr lvl="1"/>
            <a:r>
              <a:rPr lang="en-US" dirty="0"/>
              <a:t>Real gains require INT8-capable hardware</a:t>
            </a:r>
          </a:p>
          <a:p>
            <a:r>
              <a:rPr lang="en-US" dirty="0"/>
              <a:t>Acceptable accuracy drop:</a:t>
            </a:r>
          </a:p>
          <a:p>
            <a:pPr lvl="1"/>
            <a:r>
              <a:rPr lang="en-US" dirty="0"/>
              <a:t>Application-specific tolerance</a:t>
            </a:r>
          </a:p>
        </p:txBody>
      </p:sp>
    </p:spTree>
    <p:extLst>
      <p:ext uri="{BB962C8B-B14F-4D97-AF65-F5344CB8AC3E}">
        <p14:creationId xmlns:p14="http://schemas.microsoft.com/office/powerpoint/2010/main" val="851690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AAC29-B57A-661E-AA2D-C9DD818D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FB57B8C-5F71-EE5B-3B55-962B905B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Quantization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8A2CF70-0A82-F778-F940-C8492286A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Quantization – Notebook Highlights</a:t>
            </a:r>
            <a:endParaRPr lang="en-US" dirty="0"/>
          </a:p>
          <a:p>
            <a:r>
              <a:rPr lang="en-US" dirty="0"/>
              <a:t>Load and adapt MobileNetV2 to CIFAR-10</a:t>
            </a:r>
          </a:p>
          <a:p>
            <a:r>
              <a:rPr lang="en-US" dirty="0"/>
              <a:t>Run baseline evaluation</a:t>
            </a:r>
          </a:p>
          <a:p>
            <a:r>
              <a:rPr lang="en-US" dirty="0"/>
              <a:t>Apply PTQ using </a:t>
            </a:r>
            <a:r>
              <a:rPr lang="en-US" dirty="0" err="1"/>
              <a:t>PyTorch</a:t>
            </a:r>
            <a:r>
              <a:rPr lang="en-US" dirty="0"/>
              <a:t> APIs</a:t>
            </a:r>
          </a:p>
          <a:p>
            <a:r>
              <a:rPr lang="en-US" dirty="0"/>
              <a:t>Compare:</a:t>
            </a:r>
          </a:p>
          <a:p>
            <a:pPr lvl="1"/>
            <a:r>
              <a:rPr lang="en-US" dirty="0"/>
              <a:t>Accuracy</a:t>
            </a:r>
          </a:p>
          <a:p>
            <a:pPr lvl="1"/>
            <a:r>
              <a:rPr lang="en-US" dirty="0"/>
              <a:t>Model size</a:t>
            </a:r>
          </a:p>
          <a:p>
            <a:pPr lvl="1"/>
            <a:r>
              <a:rPr lang="en-US" dirty="0"/>
              <a:t>Inference time</a:t>
            </a:r>
          </a:p>
          <a:p>
            <a:r>
              <a:rPr lang="en-US" dirty="0"/>
              <a:t>Visualizations:</a:t>
            </a:r>
          </a:p>
          <a:p>
            <a:pPr lvl="1"/>
            <a:r>
              <a:rPr lang="en-US" dirty="0"/>
              <a:t>Weight distributions pre/post quantization</a:t>
            </a:r>
          </a:p>
          <a:p>
            <a:pPr lvl="1"/>
            <a:r>
              <a:rPr lang="en-US" dirty="0"/>
              <a:t>Summary table of trade-offs</a:t>
            </a:r>
          </a:p>
        </p:txBody>
      </p:sp>
    </p:spTree>
    <p:extLst>
      <p:ext uri="{BB962C8B-B14F-4D97-AF65-F5344CB8AC3E}">
        <p14:creationId xmlns:p14="http://schemas.microsoft.com/office/powerpoint/2010/main" val="1898075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DA769-4DC9-8CF3-9418-BF3799FDE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429814B-5A2B-60F0-5E99-288D539D7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Pruning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E495F83-2ECD-0ED9-36F3-BB6C8278A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Pruning?</a:t>
            </a:r>
            <a:endParaRPr lang="en-US" dirty="0"/>
          </a:p>
          <a:p>
            <a:r>
              <a:rPr lang="en-US" dirty="0"/>
              <a:t>Remove weights or structures from a trained network</a:t>
            </a:r>
          </a:p>
          <a:p>
            <a:r>
              <a:rPr lang="en-US" dirty="0"/>
              <a:t>Goal: increase sparsity, reduce computation</a:t>
            </a:r>
          </a:p>
          <a:p>
            <a:r>
              <a:rPr lang="en-US" dirty="0"/>
              <a:t>Idea:</a:t>
            </a:r>
          </a:p>
          <a:p>
            <a:pPr lvl="1"/>
            <a:r>
              <a:rPr lang="en-US" dirty="0"/>
              <a:t>Many weights are close to zero</a:t>
            </a:r>
          </a:p>
          <a:p>
            <a:pPr lvl="1"/>
            <a:r>
              <a:rPr lang="en-US" dirty="0"/>
              <a:t>Their contribution is small → can be removed</a:t>
            </a:r>
          </a:p>
        </p:txBody>
      </p:sp>
    </p:spTree>
    <p:extLst>
      <p:ext uri="{BB962C8B-B14F-4D97-AF65-F5344CB8AC3E}">
        <p14:creationId xmlns:p14="http://schemas.microsoft.com/office/powerpoint/2010/main" val="2450463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1933-D11E-2978-0AFD-872C52A2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282A1E8-E6B9-EF7D-486A-C904E855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Pruning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F8330F4-0022-279D-0786-26637ED0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Types of Pruning</a:t>
            </a:r>
            <a:endParaRPr lang="en-US" dirty="0"/>
          </a:p>
          <a:p>
            <a:r>
              <a:rPr lang="en-US" b="1" dirty="0"/>
              <a:t>Unstructured pruning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Remove individual weights by magnitude</a:t>
            </a:r>
          </a:p>
          <a:p>
            <a:pPr lvl="1"/>
            <a:r>
              <a:rPr lang="en-US" dirty="0"/>
              <a:t>Arbitrary sparsity pattern</a:t>
            </a:r>
          </a:p>
          <a:p>
            <a:pPr lvl="1"/>
            <a:r>
              <a:rPr lang="en-US" dirty="0"/>
              <a:t>Great for research; hardware speedups depend on sparse kernels</a:t>
            </a:r>
          </a:p>
          <a:p>
            <a:r>
              <a:rPr lang="en-US" b="1" dirty="0"/>
              <a:t>Structured pruning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Remove channels, filters, or entire blocks</a:t>
            </a:r>
          </a:p>
          <a:p>
            <a:pPr lvl="1"/>
            <a:r>
              <a:rPr lang="en-US" dirty="0"/>
              <a:t>Produces smaller dense matrices</a:t>
            </a:r>
          </a:p>
          <a:p>
            <a:pPr lvl="1"/>
            <a:r>
              <a:rPr lang="en-US" dirty="0"/>
              <a:t>Easier to accelerate on standard hardware</a:t>
            </a:r>
          </a:p>
          <a:p>
            <a:r>
              <a:rPr lang="en-US" b="1" dirty="0"/>
              <a:t>Global vs layer-wise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Global: one threshold across model</a:t>
            </a:r>
          </a:p>
          <a:p>
            <a:pPr lvl="1"/>
            <a:r>
              <a:rPr lang="en-US" dirty="0"/>
              <a:t>Layer-wise: each layer pruned separately</a:t>
            </a:r>
          </a:p>
        </p:txBody>
      </p:sp>
    </p:spTree>
    <p:extLst>
      <p:ext uri="{BB962C8B-B14F-4D97-AF65-F5344CB8AC3E}">
        <p14:creationId xmlns:p14="http://schemas.microsoft.com/office/powerpoint/2010/main" val="3852621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06BE-8818-4341-6BE5-69929771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D69E2A2-C063-FAD0-8A01-F3ED5981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Pruning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20A5C88-BF1A-0837-D358-86FAD0DEE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Magnitude-Based Pruning (Our Focus)</a:t>
            </a:r>
            <a:endParaRPr lang="en-US" dirty="0"/>
          </a:p>
          <a:p>
            <a:r>
              <a:rPr lang="en-US" dirty="0"/>
              <a:t>Rank weights by absolute value</a:t>
            </a:r>
          </a:p>
          <a:p>
            <a:r>
              <a:rPr lang="en-US" dirty="0"/>
              <a:t>Zero-out the smallest % (e.g., 30%, 50%, 70%, 90%)</a:t>
            </a:r>
          </a:p>
          <a:p>
            <a:r>
              <a:rPr lang="en-US" dirty="0"/>
              <a:t>Very simple and widely used heuristic</a:t>
            </a:r>
          </a:p>
          <a:p>
            <a:r>
              <a:rPr lang="en-US" dirty="0"/>
              <a:t>Works especially well on over-parameterized networks</a:t>
            </a:r>
          </a:p>
        </p:txBody>
      </p:sp>
    </p:spTree>
    <p:extLst>
      <p:ext uri="{BB962C8B-B14F-4D97-AF65-F5344CB8AC3E}">
        <p14:creationId xmlns:p14="http://schemas.microsoft.com/office/powerpoint/2010/main" val="1015952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979C2-8D09-0F7C-3D2E-D2E5086F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7AA9C2A-4360-AB42-A4CB-52836512B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Pruning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192BBF9-3324-455E-B849-AC6F97335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Pruning in This Workshop</a:t>
            </a:r>
            <a:endParaRPr lang="en-US" dirty="0"/>
          </a:p>
          <a:p>
            <a:r>
              <a:rPr lang="en-US" dirty="0"/>
              <a:t>Model: </a:t>
            </a:r>
            <a:r>
              <a:rPr lang="en-US" b="1" dirty="0"/>
              <a:t>MobileNetV2</a:t>
            </a:r>
            <a:r>
              <a:rPr lang="en-US" dirty="0"/>
              <a:t> for CIFAR-10</a:t>
            </a:r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Start from a trained model</a:t>
            </a:r>
          </a:p>
          <a:p>
            <a:pPr lvl="1"/>
            <a:r>
              <a:rPr lang="en-US" dirty="0"/>
              <a:t>Choose pruning ratios (30, 50, 70, 90%)</a:t>
            </a:r>
          </a:p>
          <a:p>
            <a:pPr lvl="1"/>
            <a:r>
              <a:rPr lang="en-US" dirty="0"/>
              <a:t>Apply global magnitude-based pruning to Conv/Linear layers</a:t>
            </a:r>
          </a:p>
          <a:p>
            <a:pPr lvl="1"/>
            <a:r>
              <a:rPr lang="en-US" dirty="0"/>
              <a:t>Evaluate accuracy after pruning</a:t>
            </a:r>
          </a:p>
          <a:p>
            <a:pPr lvl="1"/>
            <a:r>
              <a:rPr lang="en-US" dirty="0"/>
              <a:t>Optionally fine-tune to recover accuracy</a:t>
            </a:r>
          </a:p>
          <a:p>
            <a:r>
              <a:rPr lang="en-US" dirty="0"/>
              <a:t>Metrics:</a:t>
            </a:r>
          </a:p>
          <a:p>
            <a:pPr lvl="1"/>
            <a:r>
              <a:rPr lang="en-US" dirty="0"/>
              <a:t>Number of parameters / sparsity</a:t>
            </a:r>
          </a:p>
          <a:p>
            <a:pPr lvl="1"/>
            <a:r>
              <a:rPr lang="en-US" dirty="0"/>
              <a:t>Accuracy vs sparsity</a:t>
            </a:r>
          </a:p>
          <a:p>
            <a:pPr lvl="1"/>
            <a:r>
              <a:rPr lang="en-US" dirty="0"/>
              <a:t>Inference time (if measured)</a:t>
            </a:r>
          </a:p>
        </p:txBody>
      </p:sp>
    </p:spTree>
    <p:extLst>
      <p:ext uri="{BB962C8B-B14F-4D97-AF65-F5344CB8AC3E}">
        <p14:creationId xmlns:p14="http://schemas.microsoft.com/office/powerpoint/2010/main" val="944410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97B6-AB76-3D65-9A77-876C57F8E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156176D-B1DF-B9BC-C763-8F563725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Pruning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6572B6E-FD42-DF3A-905F-C03BF70F5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Fine-Tuning After Pruning</a:t>
            </a:r>
            <a:endParaRPr lang="en-US" dirty="0"/>
          </a:p>
          <a:p>
            <a:r>
              <a:rPr lang="en-US" dirty="0"/>
              <a:t>Why fine-tune?</a:t>
            </a:r>
          </a:p>
          <a:p>
            <a:pPr lvl="1"/>
            <a:r>
              <a:rPr lang="en-US" dirty="0"/>
              <a:t>Pruning modifies the network structure</a:t>
            </a:r>
          </a:p>
          <a:p>
            <a:pPr lvl="1"/>
            <a:r>
              <a:rPr lang="en-US" dirty="0"/>
              <a:t>Remaining weights need to adapt</a:t>
            </a:r>
          </a:p>
          <a:p>
            <a:r>
              <a:rPr lang="en-US" dirty="0"/>
              <a:t>Typical workflow:</a:t>
            </a:r>
          </a:p>
          <a:p>
            <a:pPr lvl="1"/>
            <a:r>
              <a:rPr lang="en-US" dirty="0"/>
              <a:t>Train → Prune → Fine-tune (few epochs) → Evaluate</a:t>
            </a:r>
          </a:p>
          <a:p>
            <a:r>
              <a:rPr lang="en-US" dirty="0"/>
              <a:t>Expected pattern:</a:t>
            </a:r>
          </a:p>
          <a:p>
            <a:pPr lvl="1"/>
            <a:r>
              <a:rPr lang="en-US" dirty="0"/>
              <a:t>Moderate pruning (30–50%) → small accuracy drop</a:t>
            </a:r>
          </a:p>
          <a:p>
            <a:pPr lvl="1"/>
            <a:r>
              <a:rPr lang="en-US" dirty="0"/>
              <a:t>Aggressive pruning (70–90%) → bigger accuracy and stability risks</a:t>
            </a:r>
          </a:p>
        </p:txBody>
      </p:sp>
    </p:spTree>
    <p:extLst>
      <p:ext uri="{BB962C8B-B14F-4D97-AF65-F5344CB8AC3E}">
        <p14:creationId xmlns:p14="http://schemas.microsoft.com/office/powerpoint/2010/main" val="1983966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64346-5E0A-5B02-1A3C-A93C1C734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3C31A6F-7618-B698-1C5B-376BCF5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Pruning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8030308-2376-9428-A8E2-AE37DF939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Pruning – Visualization &amp; Analysis</a:t>
            </a:r>
            <a:endParaRPr lang="en-US" dirty="0"/>
          </a:p>
          <a:p>
            <a:r>
              <a:rPr lang="en-US" dirty="0"/>
              <a:t>Layer-wise sparsity statistics:</a:t>
            </a:r>
          </a:p>
          <a:p>
            <a:pPr lvl="1"/>
            <a:r>
              <a:rPr lang="en-US" dirty="0"/>
              <a:t>Which layers are pruned more?</a:t>
            </a:r>
          </a:p>
          <a:p>
            <a:r>
              <a:rPr lang="en-US" dirty="0"/>
              <a:t>Accuracy vs sparsity curves:</a:t>
            </a:r>
          </a:p>
          <a:p>
            <a:pPr lvl="1"/>
            <a:r>
              <a:rPr lang="en-US" dirty="0"/>
              <a:t>How far can we prune before accuracy collapses?</a:t>
            </a:r>
          </a:p>
          <a:p>
            <a:r>
              <a:rPr lang="en-US" dirty="0"/>
              <a:t>Discussion:</a:t>
            </a:r>
          </a:p>
          <a:p>
            <a:pPr lvl="1"/>
            <a:r>
              <a:rPr lang="en-US" dirty="0"/>
              <a:t>Where is pruning more harmful? (early vs late layers)</a:t>
            </a:r>
          </a:p>
        </p:txBody>
      </p:sp>
    </p:spTree>
    <p:extLst>
      <p:ext uri="{BB962C8B-B14F-4D97-AF65-F5344CB8AC3E}">
        <p14:creationId xmlns:p14="http://schemas.microsoft.com/office/powerpoint/2010/main" val="2727421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ED9A9-3282-A990-165C-9249E62C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047B37F-A566-2DFC-8915-6D4F4FE6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Pruning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91E09D8-46F2-35D0-D485-126242A70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Pruning – Notebook Highlights</a:t>
            </a:r>
            <a:endParaRPr lang="en-US" dirty="0"/>
          </a:p>
          <a:p>
            <a:r>
              <a:rPr lang="en-US" dirty="0"/>
              <a:t>Use </a:t>
            </a:r>
            <a:r>
              <a:rPr lang="en-US" dirty="0" err="1"/>
              <a:t>PyTorch</a:t>
            </a:r>
            <a:r>
              <a:rPr lang="en-US" dirty="0"/>
              <a:t> pruning utilities</a:t>
            </a:r>
          </a:p>
          <a:p>
            <a:r>
              <a:rPr lang="en-US" dirty="0"/>
              <a:t>Apply global magnitude-based pruning to MobileNetV2</a:t>
            </a:r>
          </a:p>
          <a:p>
            <a:r>
              <a:rPr lang="en-US" dirty="0"/>
              <a:t>Try multiple sparsity ratios</a:t>
            </a:r>
          </a:p>
          <a:p>
            <a:r>
              <a:rPr lang="en-US" dirty="0"/>
              <a:t>Optionally “remove” pruning reparameterization to save true sparse weights</a:t>
            </a:r>
          </a:p>
          <a:p>
            <a:r>
              <a:rPr lang="en-US" dirty="0"/>
              <a:t>Evaluate and visualize:</a:t>
            </a:r>
          </a:p>
          <a:p>
            <a:pPr lvl="1"/>
            <a:r>
              <a:rPr lang="en-US" dirty="0"/>
              <a:t>Accuracy</a:t>
            </a:r>
          </a:p>
          <a:p>
            <a:pPr lvl="1"/>
            <a:r>
              <a:rPr lang="en-US" dirty="0"/>
              <a:t>Sparsity</a:t>
            </a:r>
          </a:p>
          <a:p>
            <a:pPr lvl="1"/>
            <a:r>
              <a:rPr lang="en-US" dirty="0"/>
              <a:t>(Optionally) inference time</a:t>
            </a:r>
          </a:p>
        </p:txBody>
      </p:sp>
    </p:spTree>
    <p:extLst>
      <p:ext uri="{BB962C8B-B14F-4D97-AF65-F5344CB8AC3E}">
        <p14:creationId xmlns:p14="http://schemas.microsoft.com/office/powerpoint/2010/main" val="1773293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038DC-A59A-CE3C-000F-C0833ECA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1018F0F-C703-E361-F17F-C3C1B793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Knowledge Distillation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F005409-9C8E-0267-D7EC-23D9FBC6C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Knowledge Distillation?</a:t>
            </a:r>
            <a:endParaRPr lang="en-US" dirty="0"/>
          </a:p>
          <a:p>
            <a:r>
              <a:rPr lang="en-US" dirty="0"/>
              <a:t>Train a </a:t>
            </a:r>
            <a:r>
              <a:rPr lang="en-US" b="1" dirty="0"/>
              <a:t>small student model</a:t>
            </a:r>
            <a:r>
              <a:rPr lang="en-US" dirty="0"/>
              <a:t> to imitate a </a:t>
            </a:r>
            <a:r>
              <a:rPr lang="en-US" b="1" dirty="0"/>
              <a:t>large teacher model</a:t>
            </a:r>
            <a:endParaRPr lang="en-US" dirty="0"/>
          </a:p>
          <a:p>
            <a:r>
              <a:rPr lang="en-US" dirty="0"/>
              <a:t>Teacher:</a:t>
            </a:r>
          </a:p>
          <a:p>
            <a:pPr lvl="1"/>
            <a:r>
              <a:rPr lang="en-US" dirty="0"/>
              <a:t>Provides rich, soft probability distributions</a:t>
            </a:r>
          </a:p>
          <a:p>
            <a:r>
              <a:rPr lang="en-US" dirty="0"/>
              <a:t>Student:</a:t>
            </a:r>
          </a:p>
          <a:p>
            <a:pPr lvl="1"/>
            <a:r>
              <a:rPr lang="en-US" dirty="0"/>
              <a:t>Learns from soft targets, not only hard labels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Achieve near-teacher performance with much lower complexity</a:t>
            </a:r>
          </a:p>
        </p:txBody>
      </p:sp>
    </p:spTree>
    <p:extLst>
      <p:ext uri="{BB962C8B-B14F-4D97-AF65-F5344CB8AC3E}">
        <p14:creationId xmlns:p14="http://schemas.microsoft.com/office/powerpoint/2010/main" val="3894168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0088-84CB-63EC-8D78-E77BA4CE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B60FDF8-F777-F41B-B92D-F8EBAE742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Knowledge Distillation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FF42B87-C5C6-9617-F7AF-332AD971D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Teacher–Student Setup in This Workshop</a:t>
            </a:r>
            <a:endParaRPr lang="en-US" dirty="0"/>
          </a:p>
          <a:p>
            <a:r>
              <a:rPr lang="en-US" dirty="0"/>
              <a:t>Teacher:</a:t>
            </a:r>
          </a:p>
          <a:p>
            <a:pPr lvl="1"/>
            <a:r>
              <a:rPr lang="en-US" dirty="0"/>
              <a:t>Enhanced MobileNetV2</a:t>
            </a:r>
          </a:p>
          <a:p>
            <a:pPr lvl="1"/>
            <a:r>
              <a:rPr lang="en-US" dirty="0"/>
              <a:t>Extra classifier capacity</a:t>
            </a:r>
          </a:p>
          <a:p>
            <a:pPr lvl="1"/>
            <a:r>
              <a:rPr lang="en-US" dirty="0"/>
              <a:t>Higher parameter count (~4.2M)</a:t>
            </a:r>
          </a:p>
          <a:p>
            <a:r>
              <a:rPr lang="en-US" dirty="0"/>
              <a:t>Student:</a:t>
            </a:r>
          </a:p>
          <a:p>
            <a:pPr lvl="1"/>
            <a:r>
              <a:rPr lang="en-US" dirty="0"/>
              <a:t>Compact MobileNetV2</a:t>
            </a:r>
          </a:p>
          <a:p>
            <a:pPr lvl="1"/>
            <a:r>
              <a:rPr lang="en-US" dirty="0"/>
              <a:t>Fewer feature layers (~1.8M)</a:t>
            </a:r>
          </a:p>
          <a:p>
            <a:pPr lvl="1"/>
            <a:r>
              <a:rPr lang="en-US" dirty="0"/>
              <a:t>Designed for edge deployment</a:t>
            </a:r>
          </a:p>
          <a:p>
            <a:r>
              <a:rPr lang="en-US" dirty="0"/>
              <a:t>Dataset:</a:t>
            </a:r>
          </a:p>
          <a:p>
            <a:pPr lvl="1"/>
            <a:r>
              <a:rPr lang="en-US" dirty="0"/>
              <a:t>CIFAR-10</a:t>
            </a:r>
          </a:p>
        </p:txBody>
      </p:sp>
    </p:spTree>
    <p:extLst>
      <p:ext uri="{BB962C8B-B14F-4D97-AF65-F5344CB8AC3E}">
        <p14:creationId xmlns:p14="http://schemas.microsoft.com/office/powerpoint/2010/main" val="2883918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DEAE9-EC9C-C2F7-107E-F95CD34A9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BC29EAE-1703-C3B9-572D-6A3238FF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Knowledge Distillation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1EBF465-387C-F594-9387-4FBCB3BF8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Distillation Mechanics</a:t>
            </a:r>
            <a:endParaRPr lang="en-US" dirty="0"/>
          </a:p>
          <a:p>
            <a:r>
              <a:rPr lang="en-US" dirty="0"/>
              <a:t>Teacher logits: </a:t>
            </a:r>
            <a:r>
              <a:rPr lang="en-US" i="1" dirty="0" err="1"/>
              <a:t>z_T</a:t>
            </a:r>
            <a:endParaRPr lang="en-US" i="1" dirty="0"/>
          </a:p>
          <a:p>
            <a:r>
              <a:rPr lang="en-US" dirty="0"/>
              <a:t>Student logits: </a:t>
            </a:r>
            <a:r>
              <a:rPr lang="en-US" i="1" dirty="0" err="1"/>
              <a:t>z_S</a:t>
            </a:r>
            <a:endParaRPr lang="en-US" i="1" dirty="0"/>
          </a:p>
          <a:p>
            <a:r>
              <a:rPr lang="en-US" dirty="0" err="1"/>
              <a:t>Softmax</a:t>
            </a:r>
            <a:r>
              <a:rPr lang="en-US" dirty="0"/>
              <a:t> with temperature </a:t>
            </a:r>
            <a:r>
              <a:rPr lang="en-US" i="1" dirty="0"/>
              <a:t>T</a:t>
            </a:r>
            <a:r>
              <a:rPr lang="en-US" dirty="0"/>
              <a:t>:</a:t>
            </a:r>
          </a:p>
          <a:p>
            <a:pPr lvl="1"/>
            <a:r>
              <a:rPr lang="en-US" i="1" dirty="0" err="1"/>
              <a:t>p_T</a:t>
            </a:r>
            <a:r>
              <a:rPr lang="en-US" dirty="0"/>
              <a:t> = </a:t>
            </a:r>
            <a:r>
              <a:rPr lang="en-US" i="1" dirty="0"/>
              <a:t>SOFTMAX</a:t>
            </a:r>
            <a:r>
              <a:rPr lang="en-US" dirty="0"/>
              <a:t>(</a:t>
            </a:r>
            <a:r>
              <a:rPr lang="en-US" i="1" dirty="0" err="1"/>
              <a:t>z_T</a:t>
            </a:r>
            <a:r>
              <a:rPr lang="en-US" i="1" dirty="0"/>
              <a:t> / T</a:t>
            </a:r>
            <a:r>
              <a:rPr lang="en-US" dirty="0"/>
              <a:t>)</a:t>
            </a:r>
          </a:p>
          <a:p>
            <a:pPr lvl="1"/>
            <a:r>
              <a:rPr lang="en-US" i="1" dirty="0" err="1"/>
              <a:t>p_S</a:t>
            </a:r>
            <a:r>
              <a:rPr lang="en-US" dirty="0"/>
              <a:t> =</a:t>
            </a:r>
            <a:r>
              <a:rPr lang="en-US" i="1" dirty="0"/>
              <a:t> SOFTMAX</a:t>
            </a:r>
            <a:r>
              <a:rPr lang="en-US" dirty="0"/>
              <a:t>(</a:t>
            </a:r>
            <a:r>
              <a:rPr lang="en-US" i="1" dirty="0" err="1"/>
              <a:t>z_S</a:t>
            </a:r>
            <a:r>
              <a:rPr lang="en-US" i="1" dirty="0"/>
              <a:t> / T)</a:t>
            </a:r>
            <a:endParaRPr lang="en-US" dirty="0"/>
          </a:p>
          <a:p>
            <a:r>
              <a:rPr lang="en-US" dirty="0"/>
              <a:t>Loss components:</a:t>
            </a:r>
          </a:p>
          <a:p>
            <a:pPr lvl="1"/>
            <a:r>
              <a:rPr lang="en-US" b="1" dirty="0"/>
              <a:t>Hard-label loss</a:t>
            </a:r>
            <a:r>
              <a:rPr lang="en-US" dirty="0"/>
              <a:t>: Cross-entropy(student, ground truth)</a:t>
            </a:r>
          </a:p>
          <a:p>
            <a:pPr lvl="1"/>
            <a:r>
              <a:rPr lang="en-US" b="1" dirty="0"/>
              <a:t>Soft-label loss</a:t>
            </a:r>
            <a:r>
              <a:rPr lang="en-US" dirty="0"/>
              <a:t>: KL divergence between </a:t>
            </a:r>
            <a:r>
              <a:rPr lang="en-US" i="1" dirty="0" err="1"/>
              <a:t>p_S</a:t>
            </a:r>
            <a:r>
              <a:rPr lang="en-US" dirty="0"/>
              <a:t> and </a:t>
            </a:r>
            <a:r>
              <a:rPr lang="en-US" i="1" dirty="0" err="1"/>
              <a:t>p_T</a:t>
            </a:r>
            <a:endParaRPr lang="en-US" dirty="0"/>
          </a:p>
          <a:p>
            <a:r>
              <a:rPr lang="en-US" dirty="0"/>
              <a:t>Combined loss:</a:t>
            </a:r>
          </a:p>
          <a:p>
            <a:pPr lvl="1"/>
            <a:r>
              <a:rPr lang="de-DE" dirty="0"/>
              <a:t>L = α · L</a:t>
            </a:r>
            <a:r>
              <a:rPr lang="de-DE" sz="1200" dirty="0"/>
              <a:t>hard</a:t>
            </a:r>
            <a:r>
              <a:rPr lang="de-DE" dirty="0"/>
              <a:t> + (1 − α) · T² · L</a:t>
            </a:r>
            <a:r>
              <a:rPr lang="de-DE" sz="1200" dirty="0"/>
              <a:t>soft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93833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64DC2-AD9F-CBFA-2509-503DF6D3D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0482A8E-ED9E-11FC-363E-CBAF0AB4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Knowledge Distillation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26EDC79-34AA-9003-E087-243CA519E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Hyperparameters</a:t>
            </a:r>
            <a:endParaRPr lang="en-US" dirty="0"/>
          </a:p>
          <a:p>
            <a:r>
              <a:rPr lang="en-US" dirty="0"/>
              <a:t>Temperature </a:t>
            </a:r>
            <a:r>
              <a:rPr lang="en-US" i="1" dirty="0"/>
              <a:t>T</a:t>
            </a:r>
            <a:endParaRPr lang="en-US" dirty="0"/>
          </a:p>
          <a:p>
            <a:pPr lvl="1"/>
            <a:r>
              <a:rPr lang="en-US" dirty="0"/>
              <a:t>Higher </a:t>
            </a:r>
            <a:r>
              <a:rPr lang="en-US" i="1" dirty="0"/>
              <a:t>T </a:t>
            </a:r>
            <a:r>
              <a:rPr lang="en-US" dirty="0"/>
              <a:t>→ softer distributions → more “dark knowledge”</a:t>
            </a:r>
          </a:p>
          <a:p>
            <a:pPr lvl="1"/>
            <a:r>
              <a:rPr lang="en-US" dirty="0"/>
              <a:t>Too low or too high can hurt learning</a:t>
            </a:r>
          </a:p>
          <a:p>
            <a:r>
              <a:rPr lang="en-US" i="1" dirty="0"/>
              <a:t>Alpha </a:t>
            </a:r>
            <a:r>
              <a:rPr lang="de-DE" dirty="0"/>
              <a:t>α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Balance between:</a:t>
            </a:r>
          </a:p>
          <a:p>
            <a:pPr lvl="2"/>
            <a:r>
              <a:rPr lang="en-US" dirty="0"/>
              <a:t>Ground truth labels</a:t>
            </a:r>
          </a:p>
          <a:p>
            <a:pPr lvl="2"/>
            <a:r>
              <a:rPr lang="en-US" dirty="0"/>
              <a:t>Teacher’s soft targets</a:t>
            </a:r>
          </a:p>
          <a:p>
            <a:pPr lvl="1"/>
            <a:r>
              <a:rPr lang="en-US" dirty="0"/>
              <a:t>Typical range: 0.1–0.9</a:t>
            </a:r>
          </a:p>
        </p:txBody>
      </p:sp>
    </p:spTree>
    <p:extLst>
      <p:ext uri="{BB962C8B-B14F-4D97-AF65-F5344CB8AC3E}">
        <p14:creationId xmlns:p14="http://schemas.microsoft.com/office/powerpoint/2010/main" val="1366690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A7DFE-A450-39E8-83FA-54697EE06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22703C2-6035-C924-DCF8-2A95109E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Knowledge Distillation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0E0832-E444-41A2-3FBF-FFAE3DE18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Benefits of Knowledge Distillation</a:t>
            </a:r>
            <a:endParaRPr lang="en-US" dirty="0"/>
          </a:p>
          <a:p>
            <a:r>
              <a:rPr lang="en-US" dirty="0"/>
              <a:t>Student model:</a:t>
            </a:r>
          </a:p>
          <a:p>
            <a:pPr lvl="1"/>
            <a:r>
              <a:rPr lang="en-US" dirty="0"/>
              <a:t>Much smaller and faster</a:t>
            </a:r>
          </a:p>
          <a:p>
            <a:pPr lvl="1"/>
            <a:r>
              <a:rPr lang="en-US" dirty="0"/>
              <a:t>Often better than a same-size model trained only on hard labels</a:t>
            </a:r>
          </a:p>
          <a:p>
            <a:r>
              <a:rPr lang="en-US" dirty="0"/>
              <a:t>Especially useful when:</a:t>
            </a:r>
          </a:p>
          <a:p>
            <a:pPr lvl="1"/>
            <a:r>
              <a:rPr lang="en-US" dirty="0"/>
              <a:t>Deploying to many edge devices</a:t>
            </a:r>
          </a:p>
          <a:p>
            <a:pPr lvl="1"/>
            <a:r>
              <a:rPr lang="en-US" dirty="0"/>
              <a:t>Need to save memory, bandwidth, and energy</a:t>
            </a:r>
          </a:p>
        </p:txBody>
      </p:sp>
    </p:spTree>
    <p:extLst>
      <p:ext uri="{BB962C8B-B14F-4D97-AF65-F5344CB8AC3E}">
        <p14:creationId xmlns:p14="http://schemas.microsoft.com/office/powerpoint/2010/main" val="1962788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71E1-CBC5-AFFC-A01A-595F1A39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55DC100-7501-EEB6-C02B-DBB848B9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Knowledge Distillation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BD9EC5-66C9-CB4C-6C4A-58C7F693D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Knowledge Distillation in This Workshop</a:t>
            </a:r>
            <a:endParaRPr lang="en-US" dirty="0"/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Train or load the teacher MobileNetV2 variant</a:t>
            </a:r>
          </a:p>
          <a:p>
            <a:pPr lvl="1"/>
            <a:r>
              <a:rPr lang="en-US" dirty="0"/>
              <a:t>Define the smaller student architecture</a:t>
            </a:r>
          </a:p>
          <a:p>
            <a:pPr lvl="1"/>
            <a:r>
              <a:rPr lang="en-US" dirty="0"/>
              <a:t>Train student using combined (hard + soft) loss</a:t>
            </a:r>
          </a:p>
          <a:p>
            <a:pPr lvl="1"/>
            <a:r>
              <a:rPr lang="en-US" dirty="0"/>
              <a:t>Compare:</a:t>
            </a:r>
          </a:p>
          <a:p>
            <a:pPr lvl="2"/>
            <a:r>
              <a:rPr lang="en-US" dirty="0"/>
              <a:t>Teacher accuracy</a:t>
            </a:r>
          </a:p>
          <a:p>
            <a:pPr lvl="2"/>
            <a:r>
              <a:rPr lang="en-US" dirty="0"/>
              <a:t>Student with distillation</a:t>
            </a:r>
          </a:p>
          <a:p>
            <a:pPr lvl="2"/>
            <a:r>
              <a:rPr lang="en-US" dirty="0"/>
              <a:t>Student without distillation</a:t>
            </a:r>
          </a:p>
          <a:p>
            <a:r>
              <a:rPr lang="en-US" dirty="0"/>
              <a:t>Analyses:</a:t>
            </a:r>
          </a:p>
          <a:p>
            <a:pPr lvl="1"/>
            <a:r>
              <a:rPr lang="en-US" dirty="0"/>
              <a:t>Effect of temperature </a:t>
            </a:r>
            <a:r>
              <a:rPr lang="en-US" i="1" dirty="0"/>
              <a:t>T</a:t>
            </a:r>
            <a:r>
              <a:rPr lang="en-US" dirty="0"/>
              <a:t> and </a:t>
            </a:r>
            <a:r>
              <a:rPr lang="en-US" i="1" dirty="0"/>
              <a:t>alpha </a:t>
            </a:r>
            <a:r>
              <a:rPr lang="de-DE" dirty="0"/>
              <a:t>α</a:t>
            </a:r>
            <a:endParaRPr lang="en-US" dirty="0"/>
          </a:p>
          <a:p>
            <a:pPr lvl="1"/>
            <a:r>
              <a:rPr lang="en-US" dirty="0"/>
              <a:t>Performance vs model size</a:t>
            </a:r>
          </a:p>
        </p:txBody>
      </p:sp>
    </p:spTree>
    <p:extLst>
      <p:ext uri="{BB962C8B-B14F-4D97-AF65-F5344CB8AC3E}">
        <p14:creationId xmlns:p14="http://schemas.microsoft.com/office/powerpoint/2010/main" val="3725803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27E24-F71E-5E43-117F-F64264F2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B4C4262-4EA8-E93D-4C86-50063D8A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Knowledge Distillation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C377043-3A35-FB95-AC82-09D907184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Distillation – Notebook Highlights</a:t>
            </a:r>
            <a:endParaRPr lang="en-US" dirty="0"/>
          </a:p>
          <a:p>
            <a:r>
              <a:rPr lang="en-US" dirty="0"/>
              <a:t>Implement distillation loss function</a:t>
            </a:r>
          </a:p>
          <a:p>
            <a:r>
              <a:rPr lang="en-US" dirty="0"/>
              <a:t>Training loop for the student model</a:t>
            </a:r>
          </a:p>
          <a:p>
            <a:r>
              <a:rPr lang="en-US" dirty="0"/>
              <a:t>Compare:</a:t>
            </a:r>
          </a:p>
          <a:p>
            <a:pPr lvl="1"/>
            <a:r>
              <a:rPr lang="en-US" dirty="0"/>
              <a:t>Accuracy teacher vs student</a:t>
            </a:r>
          </a:p>
          <a:p>
            <a:pPr lvl="1"/>
            <a:r>
              <a:rPr lang="en-US" dirty="0"/>
              <a:t>Parameter counts and (optionally) inference time</a:t>
            </a:r>
          </a:p>
          <a:p>
            <a:r>
              <a:rPr lang="en-US" dirty="0"/>
              <a:t>Hands-on:</a:t>
            </a:r>
          </a:p>
          <a:p>
            <a:pPr lvl="1"/>
            <a:r>
              <a:rPr lang="en-US" dirty="0"/>
              <a:t>Try different </a:t>
            </a:r>
            <a:r>
              <a:rPr lang="en-US" i="1" dirty="0"/>
              <a:t>T</a:t>
            </a:r>
            <a:r>
              <a:rPr lang="en-US" dirty="0"/>
              <a:t> and </a:t>
            </a:r>
            <a:r>
              <a:rPr lang="en-US" i="1" dirty="0"/>
              <a:t>alpha</a:t>
            </a:r>
          </a:p>
          <a:p>
            <a:pPr lvl="1"/>
            <a:r>
              <a:rPr lang="en-US" dirty="0"/>
              <a:t>Experiment with different student sizes</a:t>
            </a:r>
          </a:p>
        </p:txBody>
      </p:sp>
    </p:spTree>
    <p:extLst>
      <p:ext uri="{BB962C8B-B14F-4D97-AF65-F5344CB8AC3E}">
        <p14:creationId xmlns:p14="http://schemas.microsoft.com/office/powerpoint/2010/main" val="3023792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E1373-AB62-B74E-C323-A100CFEF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F7C4C8A-A568-FFF1-91DF-C1C0E451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Putting It All Together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0EDCDC6-322C-D658-53FF-CB1686715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Comparing Techniques</a:t>
            </a:r>
            <a:endParaRPr lang="en-US" dirty="0"/>
          </a:p>
          <a:p>
            <a:r>
              <a:rPr lang="en-US" b="1" dirty="0"/>
              <a:t>Quantization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Pros: Large size reduction, faster inference, no retraining (PTQ)</a:t>
            </a:r>
          </a:p>
          <a:p>
            <a:pPr lvl="1"/>
            <a:r>
              <a:rPr lang="en-US" dirty="0"/>
              <a:t>Cons: Accuracy loss; requires hardware support</a:t>
            </a:r>
          </a:p>
          <a:p>
            <a:r>
              <a:rPr lang="en-US" b="1" dirty="0"/>
              <a:t>Pruning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Pros: Reduces parameter count; conceptually simple</a:t>
            </a:r>
          </a:p>
          <a:p>
            <a:pPr lvl="1"/>
            <a:r>
              <a:rPr lang="en-US" dirty="0"/>
              <a:t>Cons: Sparse speedups depend on implementation; can hurt accuracy</a:t>
            </a:r>
          </a:p>
          <a:p>
            <a:r>
              <a:rPr lang="en-US" b="1" dirty="0"/>
              <a:t>Knowledge Distillation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Pros: Small dense models, easy to deploy, strong performance</a:t>
            </a:r>
          </a:p>
          <a:p>
            <a:pPr lvl="1"/>
            <a:r>
              <a:rPr lang="en-US" dirty="0"/>
              <a:t>Cons: Needs teacher model and extra training</a:t>
            </a:r>
          </a:p>
        </p:txBody>
      </p:sp>
    </p:spTree>
    <p:extLst>
      <p:ext uri="{BB962C8B-B14F-4D97-AF65-F5344CB8AC3E}">
        <p14:creationId xmlns:p14="http://schemas.microsoft.com/office/powerpoint/2010/main" val="1491849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684D-26A2-2CB4-9C6A-3AB37223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036939D-1FF8-C7CC-1C95-71DD1072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Putting It All Together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1B071D3-FD94-7386-9437-F9D7D96ED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Typical Edge Deployment Strategy</a:t>
            </a:r>
            <a:endParaRPr lang="en-US" dirty="0"/>
          </a:p>
          <a:p>
            <a:r>
              <a:rPr lang="en-US" dirty="0"/>
              <a:t>Start with a strong baseline model</a:t>
            </a:r>
          </a:p>
          <a:p>
            <a:r>
              <a:rPr lang="en-US" dirty="0"/>
              <a:t>Combine techniques: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US" dirty="0"/>
              <a:t>Train large teacher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US" dirty="0"/>
              <a:t>Distill to smaller student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US" dirty="0"/>
              <a:t>Prune student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US" dirty="0"/>
              <a:t>Quantize final model</a:t>
            </a:r>
          </a:p>
          <a:p>
            <a:r>
              <a:rPr lang="en-US" dirty="0"/>
              <a:t>Evaluate:</a:t>
            </a:r>
          </a:p>
          <a:p>
            <a:pPr lvl="1"/>
            <a:r>
              <a:rPr lang="en-US" dirty="0"/>
              <a:t>Accuracy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Model size</a:t>
            </a:r>
          </a:p>
          <a:p>
            <a:pPr lvl="1"/>
            <a:r>
              <a:rPr lang="en-US" dirty="0"/>
              <a:t>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625696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1944F-6386-4E99-6918-81849B01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5DDC87A-8D34-0C98-975E-C6576F0F8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Putting It All Together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99F2C1B-C294-1140-D410-6F39AADD4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Mapping Theory to Practice</a:t>
            </a:r>
          </a:p>
          <a:p>
            <a:r>
              <a:rPr lang="en-US" b="1" dirty="0"/>
              <a:t>Notebook 1 – Quantization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Implement PTQ on MobileNetV2</a:t>
            </a:r>
          </a:p>
          <a:p>
            <a:pPr lvl="1"/>
            <a:r>
              <a:rPr lang="en-US" dirty="0"/>
              <a:t>Evaluate size and accuracy impact</a:t>
            </a:r>
          </a:p>
          <a:p>
            <a:r>
              <a:rPr lang="en-US" b="1" dirty="0"/>
              <a:t>Notebook 2 – Pruning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Apply magnitude-based pruning</a:t>
            </a:r>
          </a:p>
          <a:p>
            <a:pPr lvl="1"/>
            <a:r>
              <a:rPr lang="en-US" dirty="0"/>
              <a:t>Explore sparsity vs accuracy trade-offs</a:t>
            </a:r>
          </a:p>
          <a:p>
            <a:r>
              <a:rPr lang="en-US" b="1" dirty="0"/>
              <a:t>Notebook 3 – Knowledge Distillation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Train a student with distillation</a:t>
            </a:r>
          </a:p>
          <a:p>
            <a:pPr lvl="1"/>
            <a:r>
              <a:rPr lang="en-US" dirty="0"/>
              <a:t>Compare to teacher and non-distilled student</a:t>
            </a:r>
          </a:p>
        </p:txBody>
      </p:sp>
    </p:spTree>
    <p:extLst>
      <p:ext uri="{BB962C8B-B14F-4D97-AF65-F5344CB8AC3E}">
        <p14:creationId xmlns:p14="http://schemas.microsoft.com/office/powerpoint/2010/main" val="2231912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362E3-875D-34FE-D8F0-F2FF7367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C4637AF-C859-F4F8-D167-0802033A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Putting It All Together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F33E777-B527-ED83-366B-986C9A4B1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Next Steps &amp; Q&amp;A</a:t>
            </a:r>
            <a:endParaRPr lang="en-US" dirty="0"/>
          </a:p>
          <a:p>
            <a:r>
              <a:rPr lang="en-US" dirty="0"/>
              <a:t>Questions on any of the three techniques?</a:t>
            </a:r>
          </a:p>
          <a:p>
            <a:r>
              <a:rPr lang="en-US" dirty="0"/>
              <a:t>Workflow:</a:t>
            </a:r>
          </a:p>
          <a:p>
            <a:pPr lvl="1"/>
            <a:r>
              <a:rPr lang="en-US" dirty="0"/>
              <a:t>Start with Notebook 1 → 2 → 3</a:t>
            </a:r>
          </a:p>
          <a:p>
            <a:r>
              <a:rPr lang="en-US" dirty="0"/>
              <a:t>Encourage:</a:t>
            </a:r>
          </a:p>
          <a:p>
            <a:pPr lvl="1"/>
            <a:r>
              <a:rPr lang="en-US" dirty="0"/>
              <a:t>Experimenting with hyperparameters</a:t>
            </a:r>
          </a:p>
          <a:p>
            <a:pPr lvl="1"/>
            <a:r>
              <a:rPr lang="en-US" dirty="0"/>
              <a:t>Trying combinations of techniques</a:t>
            </a:r>
          </a:p>
          <a:p>
            <a:pPr lvl="1"/>
            <a:r>
              <a:rPr lang="en-US" dirty="0"/>
              <a:t>Thinking about your own deployment scenarios</a:t>
            </a:r>
          </a:p>
        </p:txBody>
      </p:sp>
    </p:spTree>
    <p:extLst>
      <p:ext uri="{BB962C8B-B14F-4D97-AF65-F5344CB8AC3E}">
        <p14:creationId xmlns:p14="http://schemas.microsoft.com/office/powerpoint/2010/main" val="427330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48</TotalTime>
  <Words>1416</Words>
  <Application>Microsoft Office PowerPoint</Application>
  <PresentationFormat>Custom</PresentationFormat>
  <Paragraphs>282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Tech 16x9</vt:lpstr>
      <vt:lpstr>Efficient Inference for Edge AI</vt:lpstr>
      <vt:lpstr>Agenda</vt:lpstr>
      <vt:lpstr>1. Motivation: Why Efficient Inference?</vt:lpstr>
      <vt:lpstr>1. Motivation: Why Efficient Inference?</vt:lpstr>
      <vt:lpstr>1. Motivation: Why Efficient Inference?</vt:lpstr>
      <vt:lpstr>1. Motivation: Why Efficient Inference?</vt:lpstr>
      <vt:lpstr>2. Quantization</vt:lpstr>
      <vt:lpstr>2. Quantization</vt:lpstr>
      <vt:lpstr>2. Quantization</vt:lpstr>
      <vt:lpstr>2. Quantization</vt:lpstr>
      <vt:lpstr>2. Quantization</vt:lpstr>
      <vt:lpstr>2. Quantization</vt:lpstr>
      <vt:lpstr>3. Pruning</vt:lpstr>
      <vt:lpstr>3. Pruning</vt:lpstr>
      <vt:lpstr>3. Pruning</vt:lpstr>
      <vt:lpstr>3. Pruning</vt:lpstr>
      <vt:lpstr>3. Pruning</vt:lpstr>
      <vt:lpstr>3. Pruning</vt:lpstr>
      <vt:lpstr>3. Pruning</vt:lpstr>
      <vt:lpstr>4. Knowledge Distillation</vt:lpstr>
      <vt:lpstr>4. Knowledge Distillation</vt:lpstr>
      <vt:lpstr>4. Knowledge Distillation</vt:lpstr>
      <vt:lpstr>4. Knowledge Distillation</vt:lpstr>
      <vt:lpstr>4. Knowledge Distillation</vt:lpstr>
      <vt:lpstr>4. Knowledge Distillation</vt:lpstr>
      <vt:lpstr>4. Knowledge Distillation</vt:lpstr>
      <vt:lpstr>5. Putting It All Together</vt:lpstr>
      <vt:lpstr>5. Putting It All Together</vt:lpstr>
      <vt:lpstr>5. Putting It All Together</vt:lpstr>
      <vt:lpstr>5. Putting It All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Alves</dc:creator>
  <cp:lastModifiedBy>Lucas Alves</cp:lastModifiedBy>
  <cp:revision>2</cp:revision>
  <dcterms:created xsi:type="dcterms:W3CDTF">2025-11-18T03:05:33Z</dcterms:created>
  <dcterms:modified xsi:type="dcterms:W3CDTF">2025-11-18T03:54:56Z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