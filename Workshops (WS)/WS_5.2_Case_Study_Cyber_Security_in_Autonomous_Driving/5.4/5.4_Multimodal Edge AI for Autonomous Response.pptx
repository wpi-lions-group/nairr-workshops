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y="6858000" cx="12192000"/>
  <p:notesSz cx="6858000" cy="12192000"/>
  <p:embeddedFontLst>
    <p:embeddedFont>
      <p:font typeface="Sen"/>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Sen-regular.fntdata"/><Relationship Id="rId61" Type="http://schemas.openxmlformats.org/officeDocument/2006/relationships/slide" Target="slides/slide57.xml"/><Relationship Id="rId20" Type="http://schemas.openxmlformats.org/officeDocument/2006/relationships/slide" Target="slides/slide16.xml"/><Relationship Id="rId63" Type="http://schemas.openxmlformats.org/officeDocument/2006/relationships/font" Target="fonts/Sen-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Module 5.4 combines three threads: automotive cybersecurity, edge AI, and autonomous driving. The four notebooks form one pipeline: synchronize and label the data, train the detector, run it live, then let it act.</a:t>
            </a:r>
            <a:endParaRPr/>
          </a:p>
        </p:txBody>
      </p:sp>
      <p:sp>
        <p:nvSpPr>
          <p:cNvPr id="59" name="Google Shape;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61510ac5_1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g3f661510ac5_1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78" name="Google Shape;78;g3f661510ac5_1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notebooks, one pipeline. Each section consumes the artifact the previous one wrote, so the order matters.</a:t>
            </a:r>
            <a:endParaRPr/>
          </a:p>
        </p:txBody>
      </p:sp>
      <p:sp>
        <p:nvSpPr>
          <p:cNvPr id="129" name="Google Shape;1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6553a6f90_1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f6553a6f90_1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canonical example of the module's core claim. The attack arrived on the network surface and manifested on the physical surface. A network-only monitor sees traffic on port 6667 but cannot tell whether it mattered; a telemetry-only monitor sees the transmission drop out and reads it as a fault. Only the correlation identifies it as an attack. Worth pausing on the port 6667 coincidence — students will remember it.</a:t>
            </a:r>
            <a:endParaRPr/>
          </a:p>
        </p:txBody>
      </p:sp>
      <p:sp>
        <p:nvSpPr>
          <p:cNvPr id="165" name="Google Shape;165;g3f6553a6f90_1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core argument of the module: fusion is not a nice-to-have, it removes a structural blind spot. Notebook 01 injects both anomaly families into one timeline so the model has to separate them.</a:t>
            </a:r>
            <a:endParaRPr/>
          </a:p>
        </p:txBody>
      </p:sp>
      <p:sp>
        <p:nvSpPr>
          <p:cNvPr id="185" name="Google Shape;18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the contract: a mismatch in feature order between notebooks is the single most common failure students hit.</a:t>
            </a:r>
            <a:endParaRPr/>
          </a:p>
        </p:txBody>
      </p:sp>
      <p:sp>
        <p:nvSpPr>
          <p:cNvPr id="216" name="Google Shape;2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661510ac5_1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f661510ac5_1_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f661510ac5_1_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6553a6f90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f6553a6f90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f6553a6f90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asymmetric imputation rule is a good discussion prompt: ask the room why zero-fill is right for network and wrong for speed.</a:t>
            </a:r>
            <a:endParaRPr/>
          </a:p>
        </p:txBody>
      </p:sp>
      <p:sp>
        <p:nvSpPr>
          <p:cNvPr id="320" name="Google Shape;32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f6553a6f90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f6553a6f90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that these injections define the label semantics. If a student changes an injection range, the class boundary moves and the Part 2 metrics move with it.</a:t>
            </a:r>
            <a:endParaRPr/>
          </a:p>
        </p:txBody>
      </p:sp>
      <p:sp>
        <p:nvSpPr>
          <p:cNvPr id="359" name="Google Shape;359;g3f6553a6f90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IP hash caveat is worth stating out loud — students often carry this pattern into real projects. PYTHONHASHSEED makes it non-reproducible across runs.</a:t>
            </a:r>
            <a:endParaRPr/>
          </a:p>
        </p:txBody>
      </p:sp>
      <p:sp>
        <p:nvSpPr>
          <p:cNvPr id="402" name="Google Shape;4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4 sounds cosmetic but drives Notebook 02's branch selection: [c for c in df.columns if c.startswith('veh_')].</a:t>
            </a:r>
            <a:endParaRPr/>
          </a:p>
        </p:txBody>
      </p:sp>
      <p:sp>
        <p:nvSpPr>
          <p:cNvPr id="456" name="Google Shape;45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reference-grid choice matters: telemetry is regular, so it anchors. The O(n·m) loop in the notebook is fine at 3 000 rows and will not survive a real fleet — mention pandas merge_asof as the production answer.</a:t>
            </a:r>
            <a:endParaRPr/>
          </a:p>
        </p:txBody>
      </p:sp>
      <p:sp>
        <p:nvSpPr>
          <p:cNvPr id="487" name="Google Shape;4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642b4583e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f642b4583e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reference-grid choice matters: telemetry is regular, so it anchors. The O(n·m) loop in the notebook is fine at 3 000 rows and will not survive a real fleet — mention pandas merge_asof as the production answer.</a:t>
            </a:r>
            <a:endParaRPr/>
          </a:p>
        </p:txBody>
      </p:sp>
      <p:sp>
        <p:nvSpPr>
          <p:cNvPr id="537" name="Google Shape;537;g3f642b4583e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notebooks use a stratified random split. For a temporal dataset that is optimistic; say so, and point at it as the first thing a student should change in their own project.</a:t>
            </a:r>
            <a:endParaRPr/>
          </a:p>
        </p:txBody>
      </p:sp>
      <p:sp>
        <p:nvSpPr>
          <p:cNvPr id="569" name="Google Shape;5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a student's row count collapses, the usual cause is regenerating one stream with a different duration so the two timelines no longer overlap.</a:t>
            </a:r>
            <a:endParaRPr/>
          </a:p>
        </p:txBody>
      </p:sp>
      <p:sp>
        <p:nvSpPr>
          <p:cNvPr id="625" name="Google Shape;62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f661510ac5_1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f661510ac5_1_2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g3f661510ac5_1_2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f642b4583e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g3f642b4583e_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precise here: R155 is process- and governance-focused. It requires a certified Cybersecurity Management System and evidence of detection and response capability over the vehicle lifecycle — it does NOT prescribe an intrusion detection system or any specific technology. ISO/SAE 21434 is the engineering standard commonly used to implement it. The honest framing is: the regulation creates the demand, and the embedded resource limits create the difficulty. That gap is exactly what Part 2 is about.</a:t>
            </a:r>
            <a:endParaRPr/>
          </a:p>
        </p:txBody>
      </p:sp>
      <p:sp>
        <p:nvSpPr>
          <p:cNvPr id="718" name="Google Shape;718;g3f642b4583e_0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the shape: each branch squeezes 6 inputs up to 512 and back down to 16. That expansion is where almost all the parameters live, and it is the first thing to cut if the model has to shrink.</a:t>
            </a:r>
            <a:endParaRPr/>
          </a:p>
        </p:txBody>
      </p:sp>
      <p:sp>
        <p:nvSpPr>
          <p:cNvPr id="768" name="Google Shape;76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Counts assume 6 vehicle and 6 network input features and include BatchNorm affine parameters. Have students print sum(p.numel() for p in model.parameters()) and compare with the docstring — a good habit to build.</a:t>
            </a:r>
            <a:endParaRPr/>
          </a:p>
        </p:txBody>
      </p:sp>
      <p:sp>
        <p:nvSpPr>
          <p:cNvPr id="829" name="Google Shape;82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 name="Google Shape;86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extension exercise: swap softmax for sigmoid and compare per-class recall. It usually helps on the hybrid cases where both modalities are anomalous.</a:t>
            </a:r>
            <a:endParaRPr/>
          </a:p>
        </p:txBody>
      </p:sp>
      <p:sp>
        <p:nvSpPr>
          <p:cNvPr id="870" name="Google Shape;87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642b4583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g3f642b4583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extension exercise: swap softmax for sigmoid and compare per-class recall. It usually helps on the hybrid cases where both modalities are anomalous.</a:t>
            </a:r>
            <a:endParaRPr/>
          </a:p>
        </p:txBody>
      </p:sp>
      <p:sp>
        <p:nvSpPr>
          <p:cNvPr id="906" name="Google Shape;906;g3f642b4583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notebook sets gamma twice (1.5 then 2.0) and weight_decay twice (1e-4 then 1e-3); the second assignment wins in both cases. Worth showing as a real-code hazard.</a:t>
            </a:r>
            <a:endParaRPr/>
          </a:p>
        </p:txBody>
      </p:sp>
      <p:sp>
        <p:nvSpPr>
          <p:cNvPr id="922" name="Google Shape;92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 name="Google Shape;95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6" name="Google Shape;99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the asymmetry of the error types. In a safety system, a missed physical fault and a false alarm are not equally costly, and a single accuracy number hides both.</a:t>
            </a:r>
            <a:endParaRPr/>
          </a:p>
        </p:txBody>
      </p:sp>
      <p:sp>
        <p:nvSpPr>
          <p:cNvPr id="997" name="Google Shape;99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661510ac5_1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g3f661510ac5_1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the asymmetry of the error types. In a safety system, a missed physical fault and a false alarm are not equally costly, and a single accuracy number hides both.</a:t>
            </a:r>
            <a:endParaRPr/>
          </a:p>
        </p:txBody>
      </p:sp>
      <p:sp>
        <p:nvSpPr>
          <p:cNvPr id="1037" name="Google Shape;1037;g3f661510ac5_1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f65af9fcb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f65af9fcb6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g3f65af9fcb6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f65af9fcb6_0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7" name="Google Shape;1077;g3f65af9fcb6_0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78" name="Google Shape;1078;g3f65af9fcb6_0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f65af9fcb6_0_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7" name="Google Shape;1097;g3f65af9fcb6_0_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98" name="Google Shape;1098;g3f65af9fcb6_0_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f65af9fcb6_0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8" name="Google Shape;1118;g3f65af9fcb6_0_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19" name="Google Shape;1119;g3f65af9fcb6_0_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65af9fcb6_0_1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6" name="Google Shape;1166;g3f65af9fcb6_0_1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67" name="Google Shape;1167;g3f65af9fcb6_0_1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f65af9fcb6_0_1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7" name="Google Shape;1247;g3f65af9fcb6_0_1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48" name="Google Shape;1248;g3f65af9fcb6_0_1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f65af9fcb6_0_2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6" name="Google Shape;1286;g3f65af9fcb6_0_2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87" name="Google Shape;1287;g3f65af9fcb6_0_2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f65af9fcb6_0_2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g3f65af9fcb6_0_2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43" name="Google Shape;1343;g3f65af9fcb6_0_2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3f65af9fcb6_0_3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6" name="Google Shape;1396;g3f65af9fcb6_0_3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1397" name="Google Shape;1397;g3f65af9fcb6_0_3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3f65af9fcb6_0_3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8" name="Google Shape;1428;g3f65af9fcb6_0_3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1429" name="Google Shape;1429;g3f65af9fcb6_0_37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g3f65af9fcb6_0_4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9" name="Google Shape;1459;g3f65af9fcb6_0_4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endParaRPr>
          </a:p>
        </p:txBody>
      </p:sp>
      <p:sp>
        <p:nvSpPr>
          <p:cNvPr id="1460" name="Google Shape;1460;g3f65af9fcb6_0_4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3f65af9fcb6_0_447: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7" name="Google Shape;1507;g3f65af9fcb6_0_447: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3f65af9fcb6_0_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1" name="Google Shape;1521;g3f65af9fcb6_0_4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2" name="Google Shape;1522;g3f65af9fcb6_0_4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3f65af9fcb6_0_472: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4" name="Google Shape;1534;g3f65af9fcb6_0_47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f65af9fcb6_0_494: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7" name="Google Shape;1557;g3f65af9fcb6_0_49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3f65af9fcb6_0_533: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7" name="Google Shape;1597;g3f65af9fcb6_0_53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3f65af9fcb6_0_565: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0" name="Google Shape;1630;g3f65af9fcb6_0_56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3f65af9fcb6_0_591: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7" name="Google Shape;1657;g3f65af9fcb6_0_59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3f65af9fcb6_0_626: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3" name="Google Shape;1693;g3f65af9fcb6_0_62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0" name="Shape 1720"/>
        <p:cNvGrpSpPr/>
        <p:nvPr/>
      </p:nvGrpSpPr>
      <p:grpSpPr>
        <a:xfrm>
          <a:off x="0" y="0"/>
          <a:ext cx="0" cy="0"/>
          <a:chOff x="0" y="0"/>
          <a:chExt cx="0" cy="0"/>
        </a:xfrm>
      </p:grpSpPr>
      <p:sp>
        <p:nvSpPr>
          <p:cNvPr id="1721" name="Google Shape;1721;g3f65af9fcb6_0_654: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2" name="Google Shape;1722;g3f65af9fcb6_0_65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3f65af9fcb6_0_689: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8" name="Google Shape;1758;g3f65af9fcb6_0_68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3f65af9fcb6_0_730: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0" name="Google Shape;1800;g3f65af9fcb6_0_73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3f661510ac5_1_261: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4" name="Google Shape;1814;g3f661510ac5_1_26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g3f661510ac5_1_1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3" name="Google Shape;1843;g3f661510ac5_1_1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Close by asking the room which module they would adopt first, and what barrier (accounts, time, staffing, compute) is most acute.</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https://access-ci.org/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endParaRPr/>
          </a:p>
        </p:txBody>
      </p:sp>
      <p:sp>
        <p:nvSpPr>
          <p:cNvPr id="1844" name="Google Shape;1844;g3f661510ac5_1_19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3f661510ac5_1_2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2" name="Google Shape;1862;g3f661510ac5_1_2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863" name="Google Shape;1863;g3f661510ac5_1_2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5" name="Google Shape;15;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3" name="Google Shape;23;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6" name="Google Shape;26;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1" name="Google Shape;31;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4" name="Google Shape;34;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8" name="Google Shape;38;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2" name="Google Shape;42;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p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4" name="Google Shape;44;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7" name="Google Shape;47;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1" name="Google Shape;51;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
        <p:nvSpPr>
          <p:cNvPr id="55" name="Google Shape;55;p13"/>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1" name="Google Shape;11;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12" name="Google Shape;12;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7.png"/></Relationships>
</file>

<file path=ppt/slides/_rels/slide2.xml.rels><?xml version="1.0" encoding="UTF-8" standalone="yes"?><Relationships xmlns="http://schemas.openxmlformats.org/package/2006/relationships"><Relationship Id="rId20" Type="http://schemas.openxmlformats.org/officeDocument/2006/relationships/image" Target="../media/image22.jpg"/><Relationship Id="rId22" Type="http://schemas.openxmlformats.org/officeDocument/2006/relationships/image" Target="../media/image28.png"/><Relationship Id="rId21" Type="http://schemas.openxmlformats.org/officeDocument/2006/relationships/image" Target="../media/image32.png"/><Relationship Id="rId24" Type="http://schemas.openxmlformats.org/officeDocument/2006/relationships/image" Target="../media/image34.png"/><Relationship Id="rId23" Type="http://schemas.openxmlformats.org/officeDocument/2006/relationships/image" Target="../media/image26.pn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19.png"/><Relationship Id="rId26" Type="http://schemas.openxmlformats.org/officeDocument/2006/relationships/image" Target="../media/image40.png"/><Relationship Id="rId25" Type="http://schemas.openxmlformats.org/officeDocument/2006/relationships/image" Target="../media/image31.png"/><Relationship Id="rId28" Type="http://schemas.openxmlformats.org/officeDocument/2006/relationships/image" Target="../media/image42.png"/><Relationship Id="rId27" Type="http://schemas.openxmlformats.org/officeDocument/2006/relationships/image" Target="../media/image23.png"/><Relationship Id="rId5" Type="http://schemas.openxmlformats.org/officeDocument/2006/relationships/image" Target="../media/image5.png"/><Relationship Id="rId6" Type="http://schemas.openxmlformats.org/officeDocument/2006/relationships/image" Target="../media/image9.png"/><Relationship Id="rId29" Type="http://schemas.openxmlformats.org/officeDocument/2006/relationships/image" Target="../media/image33.png"/><Relationship Id="rId7" Type="http://schemas.openxmlformats.org/officeDocument/2006/relationships/image" Target="../media/image16.png"/><Relationship Id="rId8" Type="http://schemas.openxmlformats.org/officeDocument/2006/relationships/image" Target="../media/image10.png"/><Relationship Id="rId31" Type="http://schemas.openxmlformats.org/officeDocument/2006/relationships/image" Target="../media/image29.png"/><Relationship Id="rId30" Type="http://schemas.openxmlformats.org/officeDocument/2006/relationships/image" Target="../media/image24.jpg"/><Relationship Id="rId11" Type="http://schemas.openxmlformats.org/officeDocument/2006/relationships/image" Target="../media/image13.png"/><Relationship Id="rId10" Type="http://schemas.openxmlformats.org/officeDocument/2006/relationships/image" Target="../media/image14.jpg"/><Relationship Id="rId32" Type="http://schemas.openxmlformats.org/officeDocument/2006/relationships/image" Target="../media/image43.jpg"/><Relationship Id="rId13" Type="http://schemas.openxmlformats.org/officeDocument/2006/relationships/image" Target="../media/image7.png"/><Relationship Id="rId12" Type="http://schemas.openxmlformats.org/officeDocument/2006/relationships/image" Target="../media/image25.png"/><Relationship Id="rId15" Type="http://schemas.openxmlformats.org/officeDocument/2006/relationships/image" Target="../media/image4.jpg"/><Relationship Id="rId14" Type="http://schemas.openxmlformats.org/officeDocument/2006/relationships/image" Target="../media/image3.jpg"/><Relationship Id="rId17" Type="http://schemas.openxmlformats.org/officeDocument/2006/relationships/image" Target="../media/image12.jpg"/><Relationship Id="rId16" Type="http://schemas.openxmlformats.org/officeDocument/2006/relationships/image" Target="../media/image1.jpg"/><Relationship Id="rId19" Type="http://schemas.openxmlformats.org/officeDocument/2006/relationships/image" Target="../media/image21.png"/><Relationship Id="rId1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41.png"/><Relationship Id="rId5" Type="http://schemas.openxmlformats.org/officeDocument/2006/relationships/image" Target="../media/image55.png"/><Relationship Id="rId6" Type="http://schemas.openxmlformats.org/officeDocument/2006/relationships/image" Target="../media/image50.png"/><Relationship Id="rId7"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44.png"/><Relationship Id="rId5"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62.png"/><Relationship Id="rId5" Type="http://schemas.openxmlformats.org/officeDocument/2006/relationships/image" Target="../media/image78.png"/><Relationship Id="rId6" Type="http://schemas.openxmlformats.org/officeDocument/2006/relationships/image" Target="../media/image72.png"/><Relationship Id="rId7" Type="http://schemas.openxmlformats.org/officeDocument/2006/relationships/image" Target="../media/image5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1.png"/><Relationship Id="rId4" Type="http://schemas.openxmlformats.org/officeDocument/2006/relationships/image" Target="../media/image65.png"/><Relationship Id="rId5"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1.png"/><Relationship Id="rId4" Type="http://schemas.openxmlformats.org/officeDocument/2006/relationships/image" Target="../media/image58.png"/><Relationship Id="rId5" Type="http://schemas.openxmlformats.org/officeDocument/2006/relationships/image" Target="../media/image60.png"/><Relationship Id="rId6" Type="http://schemas.openxmlformats.org/officeDocument/2006/relationships/image" Target="../media/image56.png"/><Relationship Id="rId7" Type="http://schemas.openxmlformats.org/officeDocument/2006/relationships/image" Target="../media/image7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11.png"/><Relationship Id="rId4" Type="http://schemas.openxmlformats.org/officeDocument/2006/relationships/image" Target="../media/image57.png"/><Relationship Id="rId5" Type="http://schemas.openxmlformats.org/officeDocument/2006/relationships/image" Target="../media/image6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1.png"/><Relationship Id="rId4" Type="http://schemas.openxmlformats.org/officeDocument/2006/relationships/image" Target="../media/image59.png"/><Relationship Id="rId5" Type="http://schemas.openxmlformats.org/officeDocument/2006/relationships/image" Target="../media/image76.png"/><Relationship Id="rId6" Type="http://schemas.openxmlformats.org/officeDocument/2006/relationships/image" Target="../media/image8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57.png"/><Relationship Id="rId5" Type="http://schemas.openxmlformats.org/officeDocument/2006/relationships/image" Target="../media/image64.png"/><Relationship Id="rId6" Type="http://schemas.openxmlformats.org/officeDocument/2006/relationships/image" Target="../media/image59.png"/><Relationship Id="rId7" Type="http://schemas.openxmlformats.org/officeDocument/2006/relationships/image" Target="../media/image8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11.png"/><Relationship Id="rId4" Type="http://schemas.openxmlformats.org/officeDocument/2006/relationships/image" Target="../media/image59.png"/><Relationship Id="rId5" Type="http://schemas.openxmlformats.org/officeDocument/2006/relationships/image" Target="../media/image76.png"/><Relationship Id="rId6" Type="http://schemas.openxmlformats.org/officeDocument/2006/relationships/image" Target="../media/image6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1.png"/><Relationship Id="rId4" Type="http://schemas.openxmlformats.org/officeDocument/2006/relationships/image" Target="../media/image71.png"/><Relationship Id="rId5" Type="http://schemas.openxmlformats.org/officeDocument/2006/relationships/image" Target="../media/image61.png"/><Relationship Id="rId6" Type="http://schemas.openxmlformats.org/officeDocument/2006/relationships/image" Target="../media/image81.png"/><Relationship Id="rId7" Type="http://schemas.openxmlformats.org/officeDocument/2006/relationships/image" Target="../media/image7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1.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56.png"/><Relationship Id="rId7" Type="http://schemas.openxmlformats.org/officeDocument/2006/relationships/image" Target="../media/image7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11.png"/><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60" name="Shape 60"/>
        <p:cNvGrpSpPr/>
        <p:nvPr/>
      </p:nvGrpSpPr>
      <p:grpSpPr>
        <a:xfrm>
          <a:off x="0" y="0"/>
          <a:ext cx="0" cy="0"/>
          <a:chOff x="0" y="0"/>
          <a:chExt cx="0" cy="0"/>
        </a:xfrm>
      </p:grpSpPr>
      <p:sp>
        <p:nvSpPr>
          <p:cNvPr id="61" name="Google Shape;61;p14"/>
          <p:cNvSpPr/>
          <p:nvPr/>
        </p:nvSpPr>
        <p:spPr>
          <a:xfrm>
            <a:off x="0" y="0"/>
            <a:ext cx="16459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62" name="Google Shape;62;p14"/>
          <p:cNvPicPr preferRelativeResize="0"/>
          <p:nvPr/>
        </p:nvPicPr>
        <p:blipFill rotWithShape="1">
          <a:blip r:embed="rId3">
            <a:alphaModFix/>
          </a:blip>
          <a:srcRect b="0" l="0" r="0" t="0"/>
          <a:stretch/>
        </p:blipFill>
        <p:spPr>
          <a:xfrm>
            <a:off x="9407773" y="228600"/>
            <a:ext cx="502920" cy="484632"/>
          </a:xfrm>
          <a:prstGeom prst="rect">
            <a:avLst/>
          </a:prstGeom>
          <a:noFill/>
          <a:ln>
            <a:noFill/>
          </a:ln>
        </p:spPr>
      </p:pic>
      <p:sp>
        <p:nvSpPr>
          <p:cNvPr id="63" name="Google Shape;63;p14"/>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MODULE 5.4      </a:t>
            </a:r>
            <a:endParaRPr b="0" i="0" sz="900" u="none" cap="none" strike="noStrike">
              <a:solidFill>
                <a:schemeClr val="dk1"/>
              </a:solidFill>
              <a:latin typeface="Calibri"/>
              <a:ea typeface="Calibri"/>
              <a:cs typeface="Calibri"/>
              <a:sym typeface="Calibri"/>
            </a:endParaRPr>
          </a:p>
        </p:txBody>
      </p:sp>
      <p:sp>
        <p:nvSpPr>
          <p:cNvPr id="64" name="Google Shape;64;p14"/>
          <p:cNvSpPr/>
          <p:nvPr/>
        </p:nvSpPr>
        <p:spPr>
          <a:xfrm>
            <a:off x="731520" y="21031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alibri"/>
              <a:buNone/>
            </a:pPr>
            <a:r>
              <a:rPr b="1" i="0" lang="en-US" sz="1300" u="none" cap="none" strike="noStrike">
                <a:solidFill>
                  <a:srgbClr val="B8932E"/>
                </a:solidFill>
                <a:latin typeface="Calibri"/>
                <a:ea typeface="Calibri"/>
                <a:cs typeface="Calibri"/>
                <a:sym typeface="Calibri"/>
              </a:rPr>
              <a:t>MODULE 5.4   ·   CARE-AI WORKSHOP | Edge AI</a:t>
            </a:r>
            <a:endParaRPr b="0" i="0" sz="1300" u="none" cap="none" strike="noStrike">
              <a:solidFill>
                <a:schemeClr val="dk1"/>
              </a:solidFill>
              <a:latin typeface="Calibri"/>
              <a:ea typeface="Calibri"/>
              <a:cs typeface="Calibri"/>
              <a:sym typeface="Calibri"/>
            </a:endParaRPr>
          </a:p>
        </p:txBody>
      </p:sp>
      <p:sp>
        <p:nvSpPr>
          <p:cNvPr id="65" name="Google Shape;65;p14"/>
          <p:cNvSpPr/>
          <p:nvPr/>
        </p:nvSpPr>
        <p:spPr>
          <a:xfrm>
            <a:off x="731520" y="2697480"/>
            <a:ext cx="96926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Multimodal Edge AI for Autonomous Response</a:t>
            </a:r>
            <a:endParaRPr b="0" i="0" sz="4000" u="none" cap="none" strike="noStrike">
              <a:solidFill>
                <a:schemeClr val="dk1"/>
              </a:solidFill>
              <a:latin typeface="Calibri"/>
              <a:ea typeface="Calibri"/>
              <a:cs typeface="Calibri"/>
              <a:sym typeface="Calibri"/>
            </a:endParaRPr>
          </a:p>
        </p:txBody>
      </p:sp>
      <p:sp>
        <p:nvSpPr>
          <p:cNvPr id="66" name="Google Shape;66;p14"/>
          <p:cNvSpPr/>
          <p:nvPr/>
        </p:nvSpPr>
        <p:spPr>
          <a:xfrm>
            <a:off x="731520" y="4041648"/>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2C2"/>
              </a:buClr>
              <a:buSzPts val="1800"/>
              <a:buFont typeface="Calibri"/>
              <a:buNone/>
            </a:pPr>
            <a:r>
              <a:rPr b="0" i="0" lang="en-US" sz="1800" u="none" cap="none" strike="noStrike">
                <a:solidFill>
                  <a:srgbClr val="D8D2C2"/>
                </a:solidFill>
                <a:latin typeface="Calibri"/>
                <a:ea typeface="Calibri"/>
                <a:cs typeface="Calibri"/>
                <a:sym typeface="Calibri"/>
              </a:rPr>
              <a:t>Combined case study: Cybersecurity, Edge AI and Autonomous Driving</a:t>
            </a:r>
            <a:endParaRPr b="0" i="0" sz="1800" u="none" cap="none" strike="noStrike">
              <a:solidFill>
                <a:schemeClr val="dk1"/>
              </a:solidFill>
              <a:latin typeface="Calibri"/>
              <a:ea typeface="Calibri"/>
              <a:cs typeface="Calibri"/>
              <a:sym typeface="Calibri"/>
            </a:endParaRPr>
          </a:p>
        </p:txBody>
      </p:sp>
      <p:sp>
        <p:nvSpPr>
          <p:cNvPr id="67" name="Google Shape;67;p14"/>
          <p:cNvSpPr/>
          <p:nvPr/>
        </p:nvSpPr>
        <p:spPr>
          <a:xfrm>
            <a:off x="731520" y="4709160"/>
            <a:ext cx="45720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731520" y="4956048"/>
            <a:ext cx="7863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600"/>
              <a:buFont typeface="Calibri"/>
              <a:buNone/>
            </a:pPr>
            <a:r>
              <a:rPr b="1" i="0" lang="en-US" sz="1600" u="none" cap="none" strike="noStrike">
                <a:solidFill>
                  <a:srgbClr val="C9C9C9"/>
                </a:solidFill>
                <a:latin typeface="Calibri"/>
                <a:ea typeface="Calibri"/>
                <a:cs typeface="Calibri"/>
                <a:sym typeface="Calibri"/>
              </a:rPr>
              <a:t>Notebooks 01 – 04</a:t>
            </a:r>
            <a:endParaRPr b="0" i="0" sz="1600" u="none" cap="none" strike="noStrike">
              <a:solidFill>
                <a:schemeClr val="dk1"/>
              </a:solidFill>
              <a:latin typeface="Calibri"/>
              <a:ea typeface="Calibri"/>
              <a:cs typeface="Calibri"/>
              <a:sym typeface="Calibri"/>
            </a:endParaRPr>
          </a:p>
        </p:txBody>
      </p:sp>
      <p:sp>
        <p:nvSpPr>
          <p:cNvPr id="69" name="Google Shape;69;p14"/>
          <p:cNvSpPr/>
          <p:nvPr/>
        </p:nvSpPr>
        <p:spPr>
          <a:xfrm>
            <a:off x="731520" y="5303520"/>
            <a:ext cx="8412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600"/>
              <a:buFont typeface="Calibri"/>
              <a:buNone/>
            </a:pPr>
            <a:r>
              <a:rPr b="0" i="0" lang="en-US" sz="1600" u="none" cap="none" strike="noStrike">
                <a:solidFill>
                  <a:srgbClr val="8A8A8A"/>
                </a:solidFill>
                <a:latin typeface="Calibri"/>
                <a:ea typeface="Calibri"/>
                <a:cs typeface="Calibri"/>
                <a:sym typeface="Calibri"/>
              </a:rPr>
              <a:t>Data Synchronization → Multimodal Model → Real-Time Inference → Autonomous Response</a:t>
            </a:r>
            <a:endParaRPr b="0" i="0" sz="1600" u="none" cap="none" strike="noStrike">
              <a:solidFill>
                <a:schemeClr val="dk1"/>
              </a:solidFill>
              <a:latin typeface="Calibri"/>
              <a:ea typeface="Calibri"/>
              <a:cs typeface="Calibri"/>
              <a:sym typeface="Calibri"/>
            </a:endParaRPr>
          </a:p>
        </p:txBody>
      </p:sp>
      <p:pic>
        <p:nvPicPr>
          <p:cNvPr descr="/home/claude/work/assets/image1.png" id="70" name="Google Shape;70;p14"/>
          <p:cNvPicPr preferRelativeResize="0"/>
          <p:nvPr/>
        </p:nvPicPr>
        <p:blipFill rotWithShape="1">
          <a:blip r:embed="rId4">
            <a:alphaModFix/>
          </a:blip>
          <a:srcRect b="0" l="0" r="0" t="0"/>
          <a:stretch/>
        </p:blipFill>
        <p:spPr>
          <a:xfrm>
            <a:off x="10789932" y="228596"/>
            <a:ext cx="1185767" cy="484625"/>
          </a:xfrm>
          <a:prstGeom prst="rect">
            <a:avLst/>
          </a:prstGeom>
          <a:noFill/>
          <a:ln>
            <a:noFill/>
          </a:ln>
        </p:spPr>
      </p:pic>
      <p:pic>
        <p:nvPicPr>
          <p:cNvPr id="71" name="Google Shape;71;p14"/>
          <p:cNvPicPr preferRelativeResize="0"/>
          <p:nvPr/>
        </p:nvPicPr>
        <p:blipFill rotWithShape="1">
          <a:blip r:embed="rId5">
            <a:alphaModFix/>
          </a:blip>
          <a:srcRect b="0" l="0" r="0" t="0"/>
          <a:stretch/>
        </p:blipFill>
        <p:spPr>
          <a:xfrm>
            <a:off x="9990095" y="130950"/>
            <a:ext cx="679925" cy="679925"/>
          </a:xfrm>
          <a:prstGeom prst="rect">
            <a:avLst/>
          </a:prstGeom>
          <a:noFill/>
          <a:ln>
            <a:noFill/>
          </a:ln>
        </p:spPr>
      </p:pic>
      <p:sp>
        <p:nvSpPr>
          <p:cNvPr id="72" name="Google Shape;72;p14"/>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73" name="Google Shape;73;p14"/>
          <p:cNvSpPr txBox="1"/>
          <p:nvPr/>
        </p:nvSpPr>
        <p:spPr>
          <a:xfrm>
            <a:off x="8703200" y="5967375"/>
            <a:ext cx="337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BDBDBD"/>
                </a:solidFill>
              </a:rPr>
              <a:t>https://forms.gle/4Y8YR9WWBiNJfZqd9</a:t>
            </a:r>
            <a:endParaRPr>
              <a:solidFill>
                <a:srgbClr val="BDBDBD"/>
              </a:solidFill>
            </a:endParaRPr>
          </a:p>
        </p:txBody>
      </p:sp>
      <p:pic>
        <p:nvPicPr>
          <p:cNvPr id="74" name="Google Shape;74;p14"/>
          <p:cNvPicPr preferRelativeResize="0"/>
          <p:nvPr/>
        </p:nvPicPr>
        <p:blipFill>
          <a:blip r:embed="rId6">
            <a:alphaModFix/>
          </a:blip>
          <a:stretch>
            <a:fillRect/>
          </a:stretch>
        </p:blipFill>
        <p:spPr>
          <a:xfrm>
            <a:off x="9854667" y="4010400"/>
            <a:ext cx="1798318" cy="17983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p15"/>
          <p:cNvSpPr/>
          <p:nvPr/>
        </p:nvSpPr>
        <p:spPr>
          <a:xfrm>
            <a:off x="0" y="0"/>
            <a:ext cx="12191700" cy="6585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5"/>
          <p:cNvSpPr/>
          <p:nvPr/>
        </p:nvSpPr>
        <p:spPr>
          <a:xfrm>
            <a:off x="548640" y="197864"/>
            <a:ext cx="8869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NAIRR CARE-AI Workshop</a:t>
            </a:r>
            <a:endParaRPr b="0" i="0" sz="3200" u="none" cap="none" strike="noStrike">
              <a:solidFill>
                <a:schemeClr val="dk1"/>
              </a:solidFill>
              <a:latin typeface="Calibri"/>
              <a:ea typeface="Calibri"/>
              <a:cs typeface="Calibri"/>
              <a:sym typeface="Calibri"/>
            </a:endParaRPr>
          </a:p>
        </p:txBody>
      </p:sp>
      <p:sp>
        <p:nvSpPr>
          <p:cNvPr id="82" name="Google Shape;82;p15"/>
          <p:cNvSpPr/>
          <p:nvPr/>
        </p:nvSpPr>
        <p:spPr>
          <a:xfrm>
            <a:off x="548640" y="459503"/>
            <a:ext cx="88698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280"/>
              </a:buClr>
              <a:buSzPts val="1800"/>
              <a:buFont typeface="Calibri"/>
              <a:buNone/>
            </a:pPr>
            <a:r>
              <a:rPr b="0" i="0" lang="en-US" sz="1800" u="none" cap="none" strike="noStrike">
                <a:solidFill>
                  <a:srgbClr val="6B7280"/>
                </a:solidFill>
                <a:latin typeface="Calibri"/>
                <a:ea typeface="Calibri"/>
                <a:cs typeface="Calibri"/>
                <a:sym typeface="Calibri"/>
              </a:rPr>
              <a:t>OU </a:t>
            </a:r>
            <a:r>
              <a:rPr b="0" i="0" lang="en-US" sz="1800" u="none" cap="none" strike="noStrike">
                <a:solidFill>
                  <a:srgbClr val="6B7280"/>
                </a:solidFill>
                <a:latin typeface="Calibri"/>
                <a:ea typeface="Calibri"/>
                <a:cs typeface="Calibri"/>
                <a:sym typeface="Calibri"/>
              </a:rPr>
              <a:t>x</a:t>
            </a:r>
            <a:r>
              <a:rPr b="0" i="0" lang="en-US" sz="1800" u="none" cap="none" strike="noStrike">
                <a:solidFill>
                  <a:srgbClr val="6B7280"/>
                </a:solidFill>
                <a:latin typeface="Calibri"/>
                <a:ea typeface="Calibri"/>
                <a:cs typeface="Calibri"/>
                <a:sym typeface="Calibri"/>
              </a:rPr>
              <a:t> WPI</a:t>
            </a:r>
            <a:endParaRPr b="0" i="0" sz="1200" u="none" cap="none" strike="noStrike">
              <a:solidFill>
                <a:schemeClr val="dk1"/>
              </a:solidFill>
              <a:latin typeface="Calibri"/>
              <a:ea typeface="Calibri"/>
              <a:cs typeface="Calibri"/>
              <a:sym typeface="Calibri"/>
            </a:endParaRPr>
          </a:p>
        </p:txBody>
      </p:sp>
      <p:sp>
        <p:nvSpPr>
          <p:cNvPr id="83" name="Google Shape;83;p15"/>
          <p:cNvSpPr/>
          <p:nvPr/>
        </p:nvSpPr>
        <p:spPr>
          <a:xfrm>
            <a:off x="0" y="6537960"/>
            <a:ext cx="12191700" cy="3201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5"/>
          <p:cNvSpPr/>
          <p:nvPr/>
        </p:nvSpPr>
        <p:spPr>
          <a:xfrm>
            <a:off x="2301750" y="4313239"/>
            <a:ext cx="7588500" cy="270900"/>
          </a:xfrm>
          <a:prstGeom prst="rect">
            <a:avLst/>
          </a:prstGeom>
          <a:noFill/>
          <a:ln>
            <a:noFill/>
          </a:ln>
        </p:spPr>
        <p:txBody>
          <a:bodyPr anchorCtr="0" anchor="ctr" bIns="33875" lIns="67750" spcFirstLastPara="1" rIns="67750" wrap="square" tIns="33875">
            <a:noAutofit/>
          </a:bodyPr>
          <a:lstStyle/>
          <a:p>
            <a:pPr indent="0" lvl="0" marL="0" marR="0" rtl="0" algn="l">
              <a:lnSpc>
                <a:spcPct val="100000"/>
              </a:lnSpc>
              <a:spcBef>
                <a:spcPts val="0"/>
              </a:spcBef>
              <a:spcAft>
                <a:spcPts val="0"/>
              </a:spcAft>
              <a:buClr>
                <a:srgbClr val="FFFFFF"/>
              </a:buClr>
              <a:buSzPts val="1334"/>
              <a:buFont typeface="Calibri"/>
              <a:buNone/>
            </a:pPr>
            <a:r>
              <a:rPr b="1" i="0" lang="en-US" sz="1334" u="none" cap="none" strike="noStrike">
                <a:solidFill>
                  <a:srgbClr val="FFFFFF"/>
                </a:solidFill>
                <a:latin typeface="Calibri"/>
                <a:ea typeface="Calibri"/>
                <a:cs typeface="Calibri"/>
                <a:sym typeface="Calibri"/>
              </a:rPr>
              <a:t>Call to action for cybersecurity faculty and SFS PIs</a:t>
            </a:r>
            <a:endParaRPr b="0" i="0" sz="1334" u="none" cap="none" strike="noStrike">
              <a:solidFill>
                <a:schemeClr val="dk1"/>
              </a:solidFill>
              <a:latin typeface="Calibri"/>
              <a:ea typeface="Calibri"/>
              <a:cs typeface="Calibri"/>
              <a:sym typeface="Calibri"/>
            </a:endParaRPr>
          </a:p>
        </p:txBody>
      </p:sp>
      <p:pic>
        <p:nvPicPr>
          <p:cNvPr descr="/home/claude/ou_monogram_transparent.png" id="85" name="Google Shape;85;p15"/>
          <p:cNvPicPr preferRelativeResize="0"/>
          <p:nvPr/>
        </p:nvPicPr>
        <p:blipFill rotWithShape="1">
          <a:blip r:embed="rId3">
            <a:alphaModFix/>
          </a:blip>
          <a:srcRect b="0" l="0" r="0" t="0"/>
          <a:stretch/>
        </p:blipFill>
        <p:spPr>
          <a:xfrm>
            <a:off x="10602870" y="173875"/>
            <a:ext cx="502920" cy="484632"/>
          </a:xfrm>
          <a:prstGeom prst="rect">
            <a:avLst/>
          </a:prstGeom>
          <a:noFill/>
          <a:ln>
            <a:noFill/>
          </a:ln>
        </p:spPr>
      </p:pic>
      <p:pic>
        <p:nvPicPr>
          <p:cNvPr id="86" name="Google Shape;86;p15"/>
          <p:cNvPicPr preferRelativeResize="0"/>
          <p:nvPr/>
        </p:nvPicPr>
        <p:blipFill rotWithShape="1">
          <a:blip r:embed="rId4">
            <a:alphaModFix/>
          </a:blip>
          <a:srcRect b="0" l="0" r="0" t="0"/>
          <a:stretch/>
        </p:blipFill>
        <p:spPr>
          <a:xfrm>
            <a:off x="2696825" y="835747"/>
            <a:ext cx="6767845" cy="2504800"/>
          </a:xfrm>
          <a:prstGeom prst="rect">
            <a:avLst/>
          </a:prstGeom>
          <a:noFill/>
          <a:ln>
            <a:noFill/>
          </a:ln>
        </p:spPr>
      </p:pic>
      <p:sp>
        <p:nvSpPr>
          <p:cNvPr id="87" name="Google Shape;87;p15"/>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A8A"/>
              </a:buClr>
              <a:buSzPts val="900"/>
              <a:buFont typeface="Calibri"/>
              <a:buNone/>
            </a:pPr>
            <a:r>
              <a:rPr b="0" i="0" lang="en-US" sz="900" u="none" cap="none" strike="noStrike">
                <a:solidFill>
                  <a:srgbClr val="8A8A8A"/>
                </a:solidFill>
                <a:latin typeface="Calibri"/>
                <a:ea typeface="Calibri"/>
                <a:cs typeface="Calibri"/>
                <a:sym typeface="Calibri"/>
              </a:rPr>
              <a:t>INTRO    </a:t>
            </a:r>
            <a:endParaRPr b="0" i="0" sz="900" u="none" cap="none" strike="noStrike">
              <a:solidFill>
                <a:schemeClr val="dk1"/>
              </a:solidFill>
              <a:latin typeface="Calibri"/>
              <a:ea typeface="Calibri"/>
              <a:cs typeface="Calibri"/>
              <a:sym typeface="Calibri"/>
            </a:endParaRPr>
          </a:p>
        </p:txBody>
      </p:sp>
      <p:pic>
        <p:nvPicPr>
          <p:cNvPr id="88" name="Google Shape;88;p15"/>
          <p:cNvPicPr preferRelativeResize="0"/>
          <p:nvPr/>
        </p:nvPicPr>
        <p:blipFill rotWithShape="1">
          <a:blip r:embed="rId5">
            <a:alphaModFix/>
          </a:blip>
          <a:srcRect b="0" l="0" r="0" t="0"/>
          <a:stretch/>
        </p:blipFill>
        <p:spPr>
          <a:xfrm>
            <a:off x="6340289" y="3340550"/>
            <a:ext cx="659103" cy="756222"/>
          </a:xfrm>
          <a:prstGeom prst="rect">
            <a:avLst/>
          </a:prstGeom>
          <a:noFill/>
          <a:ln>
            <a:noFill/>
          </a:ln>
        </p:spPr>
      </p:pic>
      <p:pic>
        <p:nvPicPr>
          <p:cNvPr id="89" name="Google Shape;89;p15"/>
          <p:cNvPicPr preferRelativeResize="0"/>
          <p:nvPr/>
        </p:nvPicPr>
        <p:blipFill rotWithShape="1">
          <a:blip r:embed="rId6">
            <a:alphaModFix/>
          </a:blip>
          <a:srcRect b="0" l="0" r="0" t="0"/>
          <a:stretch/>
        </p:blipFill>
        <p:spPr>
          <a:xfrm>
            <a:off x="6932779" y="4235552"/>
            <a:ext cx="674982" cy="674982"/>
          </a:xfrm>
          <a:prstGeom prst="rect">
            <a:avLst/>
          </a:prstGeom>
          <a:noFill/>
          <a:ln>
            <a:noFill/>
          </a:ln>
        </p:spPr>
      </p:pic>
      <p:pic>
        <p:nvPicPr>
          <p:cNvPr id="90" name="Google Shape;90;p15"/>
          <p:cNvPicPr preferRelativeResize="0"/>
          <p:nvPr/>
        </p:nvPicPr>
        <p:blipFill rotWithShape="1">
          <a:blip r:embed="rId7">
            <a:alphaModFix/>
          </a:blip>
          <a:srcRect b="0" l="0" r="0" t="0"/>
          <a:stretch/>
        </p:blipFill>
        <p:spPr>
          <a:xfrm>
            <a:off x="7838053" y="4234505"/>
            <a:ext cx="674980" cy="674980"/>
          </a:xfrm>
          <a:prstGeom prst="rect">
            <a:avLst/>
          </a:prstGeom>
          <a:noFill/>
          <a:ln>
            <a:noFill/>
          </a:ln>
        </p:spPr>
      </p:pic>
      <p:pic>
        <p:nvPicPr>
          <p:cNvPr id="91" name="Google Shape;91;p15"/>
          <p:cNvPicPr preferRelativeResize="0"/>
          <p:nvPr/>
        </p:nvPicPr>
        <p:blipFill rotWithShape="1">
          <a:blip r:embed="rId8">
            <a:alphaModFix/>
          </a:blip>
          <a:srcRect b="0" l="0" r="0" t="0"/>
          <a:stretch/>
        </p:blipFill>
        <p:spPr>
          <a:xfrm>
            <a:off x="5352030" y="4185686"/>
            <a:ext cx="597738" cy="717289"/>
          </a:xfrm>
          <a:prstGeom prst="rect">
            <a:avLst/>
          </a:prstGeom>
          <a:noFill/>
          <a:ln>
            <a:noFill/>
          </a:ln>
        </p:spPr>
      </p:pic>
      <p:pic>
        <p:nvPicPr>
          <p:cNvPr id="92" name="Google Shape;92;p15"/>
          <p:cNvPicPr preferRelativeResize="0"/>
          <p:nvPr/>
        </p:nvPicPr>
        <p:blipFill rotWithShape="1">
          <a:blip r:embed="rId9">
            <a:alphaModFix/>
          </a:blip>
          <a:srcRect b="0" l="0" r="0" t="0"/>
          <a:stretch/>
        </p:blipFill>
        <p:spPr>
          <a:xfrm>
            <a:off x="5183352" y="5844564"/>
            <a:ext cx="674984" cy="701836"/>
          </a:xfrm>
          <a:prstGeom prst="rect">
            <a:avLst/>
          </a:prstGeom>
          <a:noFill/>
          <a:ln>
            <a:noFill/>
          </a:ln>
        </p:spPr>
      </p:pic>
      <p:pic>
        <p:nvPicPr>
          <p:cNvPr id="93" name="Google Shape;93;p15" title="headshot-LX-2025.jpg"/>
          <p:cNvPicPr preferRelativeResize="0"/>
          <p:nvPr/>
        </p:nvPicPr>
        <p:blipFill rotWithShape="1">
          <a:blip r:embed="rId10">
            <a:alphaModFix/>
          </a:blip>
          <a:srcRect b="0" l="0" r="0" t="0"/>
          <a:stretch/>
        </p:blipFill>
        <p:spPr>
          <a:xfrm>
            <a:off x="3508073" y="4250734"/>
            <a:ext cx="674975" cy="674964"/>
          </a:xfrm>
          <a:prstGeom prst="rect">
            <a:avLst/>
          </a:prstGeom>
          <a:noFill/>
          <a:ln>
            <a:noFill/>
          </a:ln>
        </p:spPr>
      </p:pic>
      <p:pic>
        <p:nvPicPr>
          <p:cNvPr id="94" name="Google Shape;94;p15"/>
          <p:cNvPicPr preferRelativeResize="0"/>
          <p:nvPr/>
        </p:nvPicPr>
        <p:blipFill rotWithShape="1">
          <a:blip r:embed="rId11">
            <a:alphaModFix/>
          </a:blip>
          <a:srcRect b="0" l="0" r="0" t="0"/>
          <a:stretch/>
        </p:blipFill>
        <p:spPr>
          <a:xfrm>
            <a:off x="5941612" y="5831041"/>
            <a:ext cx="695978" cy="676807"/>
          </a:xfrm>
          <a:prstGeom prst="rect">
            <a:avLst/>
          </a:prstGeom>
          <a:noFill/>
          <a:ln>
            <a:noFill/>
          </a:ln>
        </p:spPr>
      </p:pic>
      <p:pic>
        <p:nvPicPr>
          <p:cNvPr id="95" name="Google Shape;95;p15" title="DarrinHanna_01-circle.png"/>
          <p:cNvPicPr preferRelativeResize="0"/>
          <p:nvPr/>
        </p:nvPicPr>
        <p:blipFill rotWithShape="1">
          <a:blip r:embed="rId12">
            <a:alphaModFix/>
          </a:blip>
          <a:srcRect b="0" l="0" r="0" t="0"/>
          <a:stretch/>
        </p:blipFill>
        <p:spPr>
          <a:xfrm>
            <a:off x="4401531" y="4225228"/>
            <a:ext cx="717271" cy="717271"/>
          </a:xfrm>
          <a:prstGeom prst="rect">
            <a:avLst/>
          </a:prstGeom>
          <a:noFill/>
          <a:ln>
            <a:noFill/>
          </a:ln>
        </p:spPr>
      </p:pic>
      <p:pic>
        <p:nvPicPr>
          <p:cNvPr id="96" name="Google Shape;96;p15"/>
          <p:cNvPicPr preferRelativeResize="0"/>
          <p:nvPr/>
        </p:nvPicPr>
        <p:blipFill rotWithShape="1">
          <a:blip r:embed="rId13">
            <a:alphaModFix/>
          </a:blip>
          <a:srcRect b="0" l="0" r="0" t="0"/>
          <a:stretch/>
        </p:blipFill>
        <p:spPr>
          <a:xfrm>
            <a:off x="6652672" y="5819323"/>
            <a:ext cx="674980" cy="674981"/>
          </a:xfrm>
          <a:prstGeom prst="rect">
            <a:avLst/>
          </a:prstGeom>
          <a:noFill/>
          <a:ln>
            <a:noFill/>
          </a:ln>
        </p:spPr>
      </p:pic>
      <p:pic>
        <p:nvPicPr>
          <p:cNvPr id="97" name="Google Shape;97;p15" title="JoeyVolcic.jpg"/>
          <p:cNvPicPr preferRelativeResize="0"/>
          <p:nvPr/>
        </p:nvPicPr>
        <p:blipFill rotWithShape="1">
          <a:blip r:embed="rId14">
            <a:alphaModFix/>
          </a:blip>
          <a:srcRect b="0" l="0" r="0" t="0"/>
          <a:stretch/>
        </p:blipFill>
        <p:spPr>
          <a:xfrm>
            <a:off x="5210844" y="4966347"/>
            <a:ext cx="674987" cy="707006"/>
          </a:xfrm>
          <a:prstGeom prst="rect">
            <a:avLst/>
          </a:prstGeom>
          <a:noFill/>
          <a:ln>
            <a:noFill/>
          </a:ln>
        </p:spPr>
      </p:pic>
      <p:pic>
        <p:nvPicPr>
          <p:cNvPr id="98" name="Google Shape;98;p15" title="MattH.jpg"/>
          <p:cNvPicPr preferRelativeResize="0"/>
          <p:nvPr/>
        </p:nvPicPr>
        <p:blipFill rotWithShape="1">
          <a:blip r:embed="rId15">
            <a:alphaModFix/>
          </a:blip>
          <a:srcRect b="0" l="0" r="0" t="0"/>
          <a:stretch/>
        </p:blipFill>
        <p:spPr>
          <a:xfrm>
            <a:off x="5902242" y="4973591"/>
            <a:ext cx="562465" cy="692507"/>
          </a:xfrm>
          <a:prstGeom prst="rect">
            <a:avLst/>
          </a:prstGeom>
          <a:noFill/>
          <a:ln>
            <a:noFill/>
          </a:ln>
        </p:spPr>
      </p:pic>
      <p:pic>
        <p:nvPicPr>
          <p:cNvPr id="99" name="Google Shape;99;p15" title="JasonRosenkranz.jpg"/>
          <p:cNvPicPr preferRelativeResize="0"/>
          <p:nvPr/>
        </p:nvPicPr>
        <p:blipFill rotWithShape="1">
          <a:blip r:embed="rId16">
            <a:alphaModFix/>
          </a:blip>
          <a:srcRect b="0" l="0" r="0" t="0"/>
          <a:stretch/>
        </p:blipFill>
        <p:spPr>
          <a:xfrm>
            <a:off x="4578806" y="5816765"/>
            <a:ext cx="562465" cy="749110"/>
          </a:xfrm>
          <a:prstGeom prst="rect">
            <a:avLst/>
          </a:prstGeom>
          <a:noFill/>
          <a:ln>
            <a:noFill/>
          </a:ln>
        </p:spPr>
      </p:pic>
      <p:pic>
        <p:nvPicPr>
          <p:cNvPr id="100" name="Google Shape;100;p15" title="ErikRosenkranz.jpg"/>
          <p:cNvPicPr preferRelativeResize="0"/>
          <p:nvPr/>
        </p:nvPicPr>
        <p:blipFill rotWithShape="1">
          <a:blip r:embed="rId17">
            <a:alphaModFix/>
          </a:blip>
          <a:srcRect b="0" l="0" r="0" t="0"/>
          <a:stretch/>
        </p:blipFill>
        <p:spPr>
          <a:xfrm>
            <a:off x="4525224" y="4967162"/>
            <a:ext cx="651548" cy="764100"/>
          </a:xfrm>
          <a:prstGeom prst="rect">
            <a:avLst/>
          </a:prstGeom>
          <a:noFill/>
          <a:ln>
            <a:noFill/>
          </a:ln>
        </p:spPr>
      </p:pic>
      <p:pic>
        <p:nvPicPr>
          <p:cNvPr id="101" name="Google Shape;101;p15"/>
          <p:cNvPicPr preferRelativeResize="0"/>
          <p:nvPr/>
        </p:nvPicPr>
        <p:blipFill rotWithShape="1">
          <a:blip r:embed="rId18">
            <a:alphaModFix/>
          </a:blip>
          <a:srcRect b="0" l="0" r="0" t="0"/>
          <a:stretch/>
        </p:blipFill>
        <p:spPr>
          <a:xfrm>
            <a:off x="8656231" y="4235006"/>
            <a:ext cx="674982" cy="674982"/>
          </a:xfrm>
          <a:prstGeom prst="rect">
            <a:avLst/>
          </a:prstGeom>
          <a:noFill/>
          <a:ln>
            <a:noFill/>
          </a:ln>
        </p:spPr>
      </p:pic>
      <p:pic>
        <p:nvPicPr>
          <p:cNvPr id="102" name="Google Shape;102;p15"/>
          <p:cNvPicPr preferRelativeResize="0"/>
          <p:nvPr/>
        </p:nvPicPr>
        <p:blipFill rotWithShape="1">
          <a:blip r:embed="rId19">
            <a:alphaModFix/>
          </a:blip>
          <a:srcRect b="0" l="0" r="0" t="0"/>
          <a:stretch/>
        </p:blipFill>
        <p:spPr>
          <a:xfrm>
            <a:off x="6191207" y="4215146"/>
            <a:ext cx="562465" cy="711566"/>
          </a:xfrm>
          <a:prstGeom prst="rect">
            <a:avLst/>
          </a:prstGeom>
          <a:noFill/>
          <a:ln>
            <a:noFill/>
          </a:ln>
        </p:spPr>
      </p:pic>
      <p:pic>
        <p:nvPicPr>
          <p:cNvPr id="103" name="Google Shape;103;p15"/>
          <p:cNvPicPr preferRelativeResize="0"/>
          <p:nvPr/>
        </p:nvPicPr>
        <p:blipFill rotWithShape="1">
          <a:blip r:embed="rId20">
            <a:alphaModFix/>
          </a:blip>
          <a:srcRect b="0" l="0" r="0" t="0"/>
          <a:stretch/>
        </p:blipFill>
        <p:spPr>
          <a:xfrm>
            <a:off x="6488114" y="4977231"/>
            <a:ext cx="685245" cy="685245"/>
          </a:xfrm>
          <a:prstGeom prst="rect">
            <a:avLst/>
          </a:prstGeom>
          <a:noFill/>
          <a:ln>
            <a:noFill/>
          </a:ln>
        </p:spPr>
      </p:pic>
      <p:pic>
        <p:nvPicPr>
          <p:cNvPr id="104" name="Google Shape;104;p15"/>
          <p:cNvPicPr preferRelativeResize="0"/>
          <p:nvPr/>
        </p:nvPicPr>
        <p:blipFill rotWithShape="1">
          <a:blip r:embed="rId21">
            <a:alphaModFix/>
          </a:blip>
          <a:srcRect b="0" l="0" r="0" t="0"/>
          <a:stretch/>
        </p:blipFill>
        <p:spPr>
          <a:xfrm>
            <a:off x="7187339" y="5011832"/>
            <a:ext cx="651548" cy="651526"/>
          </a:xfrm>
          <a:prstGeom prst="rect">
            <a:avLst/>
          </a:prstGeom>
          <a:noFill/>
          <a:ln>
            <a:noFill/>
          </a:ln>
        </p:spPr>
      </p:pic>
      <p:pic>
        <p:nvPicPr>
          <p:cNvPr id="105" name="Google Shape;105;p15"/>
          <p:cNvPicPr preferRelativeResize="0"/>
          <p:nvPr/>
        </p:nvPicPr>
        <p:blipFill rotWithShape="1">
          <a:blip r:embed="rId22">
            <a:alphaModFix/>
          </a:blip>
          <a:srcRect b="0" l="0" r="0" t="0"/>
          <a:stretch/>
        </p:blipFill>
        <p:spPr>
          <a:xfrm>
            <a:off x="7921385" y="5008471"/>
            <a:ext cx="681668" cy="681668"/>
          </a:xfrm>
          <a:prstGeom prst="rect">
            <a:avLst/>
          </a:prstGeom>
          <a:noFill/>
          <a:ln>
            <a:noFill/>
          </a:ln>
        </p:spPr>
      </p:pic>
      <p:pic>
        <p:nvPicPr>
          <p:cNvPr id="106" name="Google Shape;106;p15"/>
          <p:cNvPicPr preferRelativeResize="0"/>
          <p:nvPr/>
        </p:nvPicPr>
        <p:blipFill rotWithShape="1">
          <a:blip r:embed="rId23">
            <a:alphaModFix/>
          </a:blip>
          <a:srcRect b="0" l="0" r="0" t="0"/>
          <a:stretch/>
        </p:blipFill>
        <p:spPr>
          <a:xfrm>
            <a:off x="8706533" y="5016881"/>
            <a:ext cx="681668" cy="681668"/>
          </a:xfrm>
          <a:prstGeom prst="rect">
            <a:avLst/>
          </a:prstGeom>
          <a:noFill/>
          <a:ln>
            <a:noFill/>
          </a:ln>
        </p:spPr>
      </p:pic>
      <p:pic>
        <p:nvPicPr>
          <p:cNvPr id="107" name="Google Shape;107;p15"/>
          <p:cNvPicPr preferRelativeResize="0"/>
          <p:nvPr/>
        </p:nvPicPr>
        <p:blipFill rotWithShape="1">
          <a:blip r:embed="rId24">
            <a:alphaModFix/>
          </a:blip>
          <a:srcRect b="0" l="0" r="0" t="0"/>
          <a:stretch/>
        </p:blipFill>
        <p:spPr>
          <a:xfrm>
            <a:off x="7929154" y="5792485"/>
            <a:ext cx="681668" cy="681668"/>
          </a:xfrm>
          <a:prstGeom prst="rect">
            <a:avLst/>
          </a:prstGeom>
          <a:noFill/>
          <a:ln>
            <a:noFill/>
          </a:ln>
        </p:spPr>
      </p:pic>
      <p:pic>
        <p:nvPicPr>
          <p:cNvPr id="108" name="Google Shape;108;p15"/>
          <p:cNvPicPr preferRelativeResize="0"/>
          <p:nvPr/>
        </p:nvPicPr>
        <p:blipFill rotWithShape="1">
          <a:blip r:embed="rId25">
            <a:alphaModFix/>
          </a:blip>
          <a:srcRect b="0" l="0" r="0" t="0"/>
          <a:stretch/>
        </p:blipFill>
        <p:spPr>
          <a:xfrm>
            <a:off x="7293145" y="5765705"/>
            <a:ext cx="717271" cy="717271"/>
          </a:xfrm>
          <a:prstGeom prst="rect">
            <a:avLst/>
          </a:prstGeom>
          <a:noFill/>
          <a:ln>
            <a:noFill/>
          </a:ln>
        </p:spPr>
      </p:pic>
      <p:pic>
        <p:nvPicPr>
          <p:cNvPr id="109" name="Google Shape;109;p15"/>
          <p:cNvPicPr preferRelativeResize="0"/>
          <p:nvPr/>
        </p:nvPicPr>
        <p:blipFill rotWithShape="1">
          <a:blip r:embed="rId26">
            <a:alphaModFix/>
          </a:blip>
          <a:srcRect b="0" l="0" r="0" t="0"/>
          <a:stretch/>
        </p:blipFill>
        <p:spPr>
          <a:xfrm>
            <a:off x="5272674" y="3346174"/>
            <a:ext cx="659099" cy="770125"/>
          </a:xfrm>
          <a:prstGeom prst="rect">
            <a:avLst/>
          </a:prstGeom>
          <a:noFill/>
          <a:ln>
            <a:noFill/>
          </a:ln>
        </p:spPr>
      </p:pic>
      <p:sp>
        <p:nvSpPr>
          <p:cNvPr id="110" name="Google Shape;110;p15"/>
          <p:cNvSpPr/>
          <p:nvPr/>
        </p:nvSpPr>
        <p:spPr>
          <a:xfrm>
            <a:off x="2472097" y="3358789"/>
            <a:ext cx="87600" cy="536400"/>
          </a:xfrm>
          <a:prstGeom prst="rect">
            <a:avLst/>
          </a:prstGeom>
          <a:solidFill>
            <a:srgbClr val="0B5EA8"/>
          </a:solidFill>
          <a:ln cap="flat" cmpd="sng" w="9525">
            <a:solidFill>
              <a:srgbClr val="0B5EA8"/>
            </a:solidFill>
            <a:prstDash val="solid"/>
            <a:round/>
            <a:headEnd len="sm" w="sm" type="none"/>
            <a:tailEnd len="sm" w="sm" type="none"/>
          </a:ln>
        </p:spPr>
        <p:txBody>
          <a:bodyPr anchorCtr="0" anchor="ctr" bIns="67750" lIns="67750" spcFirstLastPara="1" rIns="67750" wrap="square" tIns="67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2689369" y="3485779"/>
            <a:ext cx="412200" cy="361800"/>
          </a:xfrm>
          <a:prstGeom prst="rect">
            <a:avLst/>
          </a:prstGeom>
          <a:noFill/>
          <a:ln>
            <a:noFill/>
          </a:ln>
        </p:spPr>
        <p:txBody>
          <a:bodyPr anchorCtr="0" anchor="t" bIns="33875" lIns="67750" spcFirstLastPara="1" rIns="67750" wrap="square" tIns="33875">
            <a:noAutofit/>
          </a:bodyPr>
          <a:lstStyle/>
          <a:p>
            <a:pPr indent="0" lvl="0" marL="0" marR="0" rtl="0" algn="l">
              <a:lnSpc>
                <a:spcPct val="100000"/>
              </a:lnSpc>
              <a:spcBef>
                <a:spcPts val="0"/>
              </a:spcBef>
              <a:spcAft>
                <a:spcPts val="0"/>
              </a:spcAft>
              <a:buClr>
                <a:srgbClr val="000000"/>
              </a:buClr>
              <a:buSzPts val="1482"/>
              <a:buFont typeface="Arial"/>
              <a:buNone/>
            </a:pPr>
            <a:r>
              <a:rPr b="1" i="0" lang="en-US" sz="1482" u="none" cap="none" strike="noStrike">
                <a:solidFill>
                  <a:srgbClr val="000000"/>
                </a:solidFill>
                <a:latin typeface="Calibri"/>
                <a:ea typeface="Calibri"/>
                <a:cs typeface="Calibri"/>
                <a:sym typeface="Calibri"/>
              </a:rPr>
              <a:t>PIs</a:t>
            </a:r>
            <a:endParaRPr b="0" i="0" sz="1482" u="none" cap="none" strike="noStrike">
              <a:solidFill>
                <a:srgbClr val="374151"/>
              </a:solidFill>
              <a:latin typeface="Calibri"/>
              <a:ea typeface="Calibri"/>
              <a:cs typeface="Calibri"/>
              <a:sym typeface="Calibri"/>
            </a:endParaRPr>
          </a:p>
        </p:txBody>
      </p:sp>
      <p:sp>
        <p:nvSpPr>
          <p:cNvPr id="112" name="Google Shape;112;p15"/>
          <p:cNvSpPr/>
          <p:nvPr/>
        </p:nvSpPr>
        <p:spPr>
          <a:xfrm>
            <a:off x="2472097" y="4950234"/>
            <a:ext cx="78600" cy="1497300"/>
          </a:xfrm>
          <a:prstGeom prst="rect">
            <a:avLst/>
          </a:prstGeom>
          <a:solidFill>
            <a:srgbClr val="FFD966"/>
          </a:solidFill>
          <a:ln cap="flat" cmpd="sng" w="9525">
            <a:solidFill>
              <a:srgbClr val="0B5EA8"/>
            </a:solidFill>
            <a:prstDash val="solid"/>
            <a:round/>
            <a:headEnd len="sm" w="sm" type="none"/>
            <a:tailEnd len="sm" w="sm" type="none"/>
          </a:ln>
        </p:spPr>
        <p:txBody>
          <a:bodyPr anchorCtr="0" anchor="ctr" bIns="67750" lIns="67750" spcFirstLastPara="1" rIns="67750" wrap="square" tIns="67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5"/>
          <p:cNvSpPr/>
          <p:nvPr/>
        </p:nvSpPr>
        <p:spPr>
          <a:xfrm>
            <a:off x="2586279" y="5417242"/>
            <a:ext cx="881100" cy="500700"/>
          </a:xfrm>
          <a:prstGeom prst="rect">
            <a:avLst/>
          </a:prstGeom>
          <a:noFill/>
          <a:ln>
            <a:noFill/>
          </a:ln>
        </p:spPr>
        <p:txBody>
          <a:bodyPr anchorCtr="0" anchor="t" bIns="33875" lIns="67750" spcFirstLastPara="1" rIns="67750" wrap="square" tIns="33875">
            <a:noAutofit/>
          </a:bodyPr>
          <a:lstStyle/>
          <a:p>
            <a:pPr indent="0" lvl="0" marL="0" marR="0" rtl="0" algn="l">
              <a:lnSpc>
                <a:spcPct val="100000"/>
              </a:lnSpc>
              <a:spcBef>
                <a:spcPts val="0"/>
              </a:spcBef>
              <a:spcAft>
                <a:spcPts val="0"/>
              </a:spcAft>
              <a:buClr>
                <a:srgbClr val="000000"/>
              </a:buClr>
              <a:buSzPts val="1334"/>
              <a:buFont typeface="Arial"/>
              <a:buNone/>
            </a:pPr>
            <a:r>
              <a:rPr b="1" i="0" lang="en-US" sz="1334" u="none" cap="none" strike="noStrike">
                <a:solidFill>
                  <a:srgbClr val="000000"/>
                </a:solidFill>
                <a:latin typeface="Calibri"/>
                <a:ea typeface="Calibri"/>
                <a:cs typeface="Calibri"/>
                <a:sym typeface="Calibri"/>
              </a:rPr>
              <a:t>Graduate Students</a:t>
            </a:r>
            <a:endParaRPr b="0" i="0" sz="1037" u="none" cap="none" strike="noStrike">
              <a:solidFill>
                <a:srgbClr val="000000"/>
              </a:solidFill>
              <a:latin typeface="Arial"/>
              <a:ea typeface="Arial"/>
              <a:cs typeface="Arial"/>
              <a:sym typeface="Arial"/>
            </a:endParaRPr>
          </a:p>
          <a:p>
            <a:pPr indent="0" lvl="0" marL="0" marR="0" rtl="0" algn="l">
              <a:lnSpc>
                <a:spcPct val="100000"/>
              </a:lnSpc>
              <a:spcBef>
                <a:spcPts val="296"/>
              </a:spcBef>
              <a:spcAft>
                <a:spcPts val="0"/>
              </a:spcAft>
              <a:buClr>
                <a:srgbClr val="000000"/>
              </a:buClr>
              <a:buSzPts val="1186"/>
              <a:buFont typeface="Arial"/>
              <a:buNone/>
            </a:pPr>
            <a:r>
              <a:t/>
            </a:r>
            <a:endParaRPr b="1" i="0" sz="1186" u="none" cap="none" strike="noStrike">
              <a:solidFill>
                <a:srgbClr val="000000"/>
              </a:solidFill>
              <a:latin typeface="Calibri"/>
              <a:ea typeface="Calibri"/>
              <a:cs typeface="Calibri"/>
              <a:sym typeface="Calibri"/>
            </a:endParaRPr>
          </a:p>
          <a:p>
            <a:pPr indent="-65872" lvl="0" marL="150565" marR="0" rtl="0" algn="l">
              <a:lnSpc>
                <a:spcPct val="100000"/>
              </a:lnSpc>
              <a:spcBef>
                <a:spcPts val="296"/>
              </a:spcBef>
              <a:spcAft>
                <a:spcPts val="0"/>
              </a:spcAft>
              <a:buClr>
                <a:srgbClr val="000000"/>
              </a:buClr>
              <a:buSzPts val="1334"/>
              <a:buFont typeface="Calibri"/>
              <a:buNone/>
            </a:pPr>
            <a:r>
              <a:t/>
            </a:r>
            <a:endParaRPr b="0" i="0" sz="1334" u="none" cap="none" strike="noStrike">
              <a:solidFill>
                <a:srgbClr val="374151"/>
              </a:solidFill>
              <a:latin typeface="Calibri"/>
              <a:ea typeface="Calibri"/>
              <a:cs typeface="Calibri"/>
              <a:sym typeface="Calibri"/>
            </a:endParaRPr>
          </a:p>
        </p:txBody>
      </p:sp>
      <p:sp>
        <p:nvSpPr>
          <p:cNvPr id="114" name="Google Shape;114;p15"/>
          <p:cNvSpPr/>
          <p:nvPr/>
        </p:nvSpPr>
        <p:spPr>
          <a:xfrm>
            <a:off x="2470735" y="4255369"/>
            <a:ext cx="87600" cy="536400"/>
          </a:xfrm>
          <a:prstGeom prst="rect">
            <a:avLst/>
          </a:prstGeom>
          <a:solidFill>
            <a:srgbClr val="00B050"/>
          </a:solidFill>
          <a:ln cap="flat" cmpd="sng" w="9525">
            <a:solidFill>
              <a:srgbClr val="0B5EA8"/>
            </a:solidFill>
            <a:prstDash val="solid"/>
            <a:round/>
            <a:headEnd len="sm" w="sm" type="none"/>
            <a:tailEnd len="sm" w="sm" type="none"/>
          </a:ln>
        </p:spPr>
        <p:txBody>
          <a:bodyPr anchorCtr="0" anchor="ctr" bIns="67750" lIns="67750" spcFirstLastPara="1" rIns="67750" wrap="square" tIns="67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5"/>
          <p:cNvSpPr/>
          <p:nvPr/>
        </p:nvSpPr>
        <p:spPr>
          <a:xfrm>
            <a:off x="2688007" y="4349706"/>
            <a:ext cx="650100" cy="361800"/>
          </a:xfrm>
          <a:prstGeom prst="rect">
            <a:avLst/>
          </a:prstGeom>
          <a:noFill/>
          <a:ln>
            <a:noFill/>
          </a:ln>
        </p:spPr>
        <p:txBody>
          <a:bodyPr anchorCtr="0" anchor="t" bIns="33875" lIns="67750" spcFirstLastPara="1" rIns="67750" wrap="square" tIns="33875">
            <a:noAutofit/>
          </a:bodyPr>
          <a:lstStyle/>
          <a:p>
            <a:pPr indent="0" lvl="0" marL="0" marR="0" rtl="0" algn="l">
              <a:lnSpc>
                <a:spcPct val="100000"/>
              </a:lnSpc>
              <a:spcBef>
                <a:spcPts val="0"/>
              </a:spcBef>
              <a:spcAft>
                <a:spcPts val="0"/>
              </a:spcAft>
              <a:buClr>
                <a:srgbClr val="000000"/>
              </a:buClr>
              <a:buSzPts val="1482"/>
              <a:buFont typeface="Arial"/>
              <a:buNone/>
            </a:pPr>
            <a:r>
              <a:rPr b="1" i="0" lang="en-US" sz="1482" u="none" cap="none" strike="noStrike">
                <a:solidFill>
                  <a:srgbClr val="000000"/>
                </a:solidFill>
                <a:latin typeface="Calibri"/>
                <a:ea typeface="Calibri"/>
                <a:cs typeface="Calibri"/>
                <a:sym typeface="Calibri"/>
              </a:rPr>
              <a:t>Co-PIs</a:t>
            </a:r>
            <a:endParaRPr b="0" i="0" sz="1482" u="none" cap="none" strike="noStrike">
              <a:solidFill>
                <a:srgbClr val="374151"/>
              </a:solidFill>
              <a:latin typeface="Calibri"/>
              <a:ea typeface="Calibri"/>
              <a:cs typeface="Calibri"/>
              <a:sym typeface="Calibri"/>
            </a:endParaRPr>
          </a:p>
        </p:txBody>
      </p:sp>
      <p:pic>
        <p:nvPicPr>
          <p:cNvPr id="116" name="Google Shape;116;p15"/>
          <p:cNvPicPr preferRelativeResize="0"/>
          <p:nvPr/>
        </p:nvPicPr>
        <p:blipFill rotWithShape="1">
          <a:blip r:embed="rId27">
            <a:alphaModFix/>
          </a:blip>
          <a:srcRect b="0" l="0" r="0" t="0"/>
          <a:stretch/>
        </p:blipFill>
        <p:spPr>
          <a:xfrm>
            <a:off x="3689468" y="4962577"/>
            <a:ext cx="801682" cy="764099"/>
          </a:xfrm>
          <a:prstGeom prst="rect">
            <a:avLst/>
          </a:prstGeom>
          <a:noFill/>
          <a:ln>
            <a:noFill/>
          </a:ln>
        </p:spPr>
      </p:pic>
      <p:pic>
        <p:nvPicPr>
          <p:cNvPr id="117" name="Google Shape;117;p15"/>
          <p:cNvPicPr preferRelativeResize="0"/>
          <p:nvPr/>
        </p:nvPicPr>
        <p:blipFill rotWithShape="1">
          <a:blip r:embed="rId28">
            <a:alphaModFix/>
          </a:blip>
          <a:srcRect b="0" l="0" r="0" t="0"/>
          <a:stretch/>
        </p:blipFill>
        <p:spPr>
          <a:xfrm>
            <a:off x="3819450" y="5827175"/>
            <a:ext cx="731700" cy="731700"/>
          </a:xfrm>
          <a:prstGeom prst="rect">
            <a:avLst/>
          </a:prstGeom>
          <a:noFill/>
          <a:ln>
            <a:noFill/>
          </a:ln>
        </p:spPr>
      </p:pic>
      <p:pic>
        <p:nvPicPr>
          <p:cNvPr id="118" name="Google Shape;118;p15"/>
          <p:cNvPicPr preferRelativeResize="0"/>
          <p:nvPr/>
        </p:nvPicPr>
        <p:blipFill rotWithShape="1">
          <a:blip r:embed="rId29">
            <a:alphaModFix/>
          </a:blip>
          <a:srcRect b="27206" l="36253" r="0" t="27406"/>
          <a:stretch/>
        </p:blipFill>
        <p:spPr>
          <a:xfrm>
            <a:off x="11142300" y="173875"/>
            <a:ext cx="881100" cy="484625"/>
          </a:xfrm>
          <a:prstGeom prst="rect">
            <a:avLst/>
          </a:prstGeom>
          <a:noFill/>
          <a:ln>
            <a:noFill/>
          </a:ln>
        </p:spPr>
      </p:pic>
      <p:pic>
        <p:nvPicPr>
          <p:cNvPr id="119" name="Google Shape;119;p15"/>
          <p:cNvPicPr preferRelativeResize="0"/>
          <p:nvPr/>
        </p:nvPicPr>
        <p:blipFill rotWithShape="1">
          <a:blip r:embed="rId30">
            <a:alphaModFix/>
          </a:blip>
          <a:srcRect b="0" l="0" r="0" t="0"/>
          <a:stretch/>
        </p:blipFill>
        <p:spPr>
          <a:xfrm>
            <a:off x="8712500" y="5778150"/>
            <a:ext cx="562450" cy="707649"/>
          </a:xfrm>
          <a:prstGeom prst="rect">
            <a:avLst/>
          </a:prstGeom>
          <a:noFill/>
          <a:ln>
            <a:noFill/>
          </a:ln>
        </p:spPr>
      </p:pic>
      <p:sp>
        <p:nvSpPr>
          <p:cNvPr id="120" name="Google Shape;120;p1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grpSp>
        <p:nvGrpSpPr>
          <p:cNvPr id="121" name="Google Shape;121;p15"/>
          <p:cNvGrpSpPr/>
          <p:nvPr/>
        </p:nvGrpSpPr>
        <p:grpSpPr>
          <a:xfrm>
            <a:off x="9330818" y="5789367"/>
            <a:ext cx="597707" cy="684674"/>
            <a:chOff x="7107120" y="2447360"/>
            <a:chExt cx="1670507" cy="1885634"/>
          </a:xfrm>
        </p:grpSpPr>
        <p:pic>
          <p:nvPicPr>
            <p:cNvPr id="122" name="Google Shape;122;p15"/>
            <p:cNvPicPr preferRelativeResize="0"/>
            <p:nvPr/>
          </p:nvPicPr>
          <p:blipFill rotWithShape="1">
            <a:blip r:embed="rId31">
              <a:alphaModFix/>
            </a:blip>
            <a:srcRect b="0" l="0" r="0" t="0"/>
            <a:stretch/>
          </p:blipFill>
          <p:spPr>
            <a:xfrm>
              <a:off x="7125050" y="2454275"/>
              <a:ext cx="1652577" cy="1878719"/>
            </a:xfrm>
            <a:prstGeom prst="rect">
              <a:avLst/>
            </a:prstGeom>
            <a:noFill/>
            <a:ln>
              <a:noFill/>
            </a:ln>
          </p:spPr>
        </p:pic>
        <p:sp>
          <p:nvSpPr>
            <p:cNvPr id="123" name="Google Shape;123;p15"/>
            <p:cNvSpPr/>
            <p:nvPr/>
          </p:nvSpPr>
          <p:spPr>
            <a:xfrm>
              <a:off x="7107120" y="2447360"/>
              <a:ext cx="1661400" cy="1876200"/>
            </a:xfrm>
            <a:prstGeom prst="rect">
              <a:avLst/>
            </a:prstGeom>
            <a:noFill/>
            <a:ln cap="flat" cmpd="sng" w="4600">
              <a:solidFill>
                <a:srgbClr val="0066CC"/>
              </a:solidFill>
              <a:prstDash val="solid"/>
              <a:miter lim="800000"/>
              <a:headEnd len="sm" w="sm" type="none"/>
              <a:tailEnd len="sm" w="sm" type="none"/>
            </a:ln>
          </p:spPr>
          <p:txBody>
            <a:bodyPr anchorCtr="0" anchor="ctr" bIns="22050" lIns="44125" spcFirstLastPara="1" rIns="44125" wrap="square" tIns="22050">
              <a:noAutofit/>
            </a:bodyPr>
            <a:lstStyle/>
            <a:p>
              <a:pPr indent="0" lvl="0" marL="0" marR="0" rtl="0" algn="ctr">
                <a:spcBef>
                  <a:spcPts val="0"/>
                </a:spcBef>
                <a:spcAft>
                  <a:spcPts val="0"/>
                </a:spcAft>
                <a:buNone/>
              </a:pPr>
              <a:r>
                <a:t/>
              </a:r>
              <a:endParaRPr sz="869">
                <a:solidFill>
                  <a:srgbClr val="FFFFFF"/>
                </a:solidFill>
                <a:latin typeface="Sen"/>
                <a:ea typeface="Sen"/>
                <a:cs typeface="Sen"/>
                <a:sym typeface="Sen"/>
              </a:endParaRPr>
            </a:p>
          </p:txBody>
        </p:sp>
      </p:grpSp>
      <p:sp>
        <p:nvSpPr>
          <p:cNvPr id="124" name="Google Shape;124;p15"/>
          <p:cNvSpPr/>
          <p:nvPr/>
        </p:nvSpPr>
        <p:spPr>
          <a:xfrm>
            <a:off x="7838880" y="2649607"/>
            <a:ext cx="259800" cy="270900"/>
          </a:xfrm>
          <a:prstGeom prst="star4">
            <a:avLst>
              <a:gd fmla="val 12500" name="adj"/>
            </a:avLst>
          </a:prstGeom>
          <a:solidFill>
            <a:srgbClr val="D4B05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5" name="Google Shape;125;p15" title="PHOTO-2026-04-10-12-52-06.jpg"/>
          <p:cNvPicPr preferRelativeResize="0"/>
          <p:nvPr/>
        </p:nvPicPr>
        <p:blipFill>
          <a:blip r:embed="rId32">
            <a:alphaModFix/>
          </a:blip>
          <a:stretch>
            <a:fillRect/>
          </a:stretch>
        </p:blipFill>
        <p:spPr>
          <a:xfrm>
            <a:off x="9418450" y="5008175"/>
            <a:ext cx="685224" cy="6852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6"/>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132" name="Google Shape;132;p16"/>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33" name="Google Shape;133;p16"/>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AGENDA</a:t>
            </a:r>
            <a:endParaRPr b="0" i="0" sz="1000" u="none" cap="none" strike="noStrike">
              <a:solidFill>
                <a:schemeClr val="dk1"/>
              </a:solidFill>
              <a:latin typeface="Calibri"/>
              <a:ea typeface="Calibri"/>
              <a:cs typeface="Calibri"/>
              <a:sym typeface="Calibri"/>
            </a:endParaRPr>
          </a:p>
        </p:txBody>
      </p:sp>
      <p:sp>
        <p:nvSpPr>
          <p:cNvPr id="134" name="Google Shape;134;p16"/>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What we'll cover today</a:t>
            </a:r>
            <a:endParaRPr b="0" i="0" sz="3000" u="none" cap="none" strike="noStrike">
              <a:solidFill>
                <a:schemeClr val="dk1"/>
              </a:solidFill>
              <a:latin typeface="Calibri"/>
              <a:ea typeface="Calibri"/>
              <a:cs typeface="Calibri"/>
              <a:sym typeface="Calibri"/>
            </a:endParaRPr>
          </a:p>
        </p:txBody>
      </p:sp>
      <p:sp>
        <p:nvSpPr>
          <p:cNvPr id="135" name="Google Shape;135;p16"/>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AGENDA   </a:t>
            </a:r>
            <a:endParaRPr b="0" i="0" sz="900" u="none" cap="none" strike="noStrike">
              <a:solidFill>
                <a:schemeClr val="dk1"/>
              </a:solidFill>
              <a:latin typeface="Calibri"/>
              <a:ea typeface="Calibri"/>
              <a:cs typeface="Calibri"/>
              <a:sym typeface="Calibri"/>
            </a:endParaRPr>
          </a:p>
        </p:txBody>
      </p:sp>
      <p:sp>
        <p:nvSpPr>
          <p:cNvPr id="137" name="Google Shape;137;p16"/>
          <p:cNvSpPr/>
          <p:nvPr/>
        </p:nvSpPr>
        <p:spPr>
          <a:xfrm>
            <a:off x="640080" y="1865376"/>
            <a:ext cx="658368" cy="65836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640080" y="1865376"/>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01</a:t>
            </a:r>
            <a:endParaRPr b="0" i="0" sz="1400" u="none" cap="none" strike="noStrike">
              <a:solidFill>
                <a:schemeClr val="dk1"/>
              </a:solidFill>
              <a:latin typeface="Calibri"/>
              <a:ea typeface="Calibri"/>
              <a:cs typeface="Calibri"/>
              <a:sym typeface="Calibri"/>
            </a:endParaRPr>
          </a:p>
        </p:txBody>
      </p:sp>
      <p:sp>
        <p:nvSpPr>
          <p:cNvPr id="139" name="Google Shape;139;p16"/>
          <p:cNvSpPr/>
          <p:nvPr/>
        </p:nvSpPr>
        <p:spPr>
          <a:xfrm>
            <a:off x="1554480" y="1810512"/>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Data Synchronization &amp; Preprocessing</a:t>
            </a:r>
            <a:endParaRPr b="0" i="0" sz="1900" u="none" cap="none" strike="noStrike">
              <a:solidFill>
                <a:schemeClr val="dk1"/>
              </a:solidFill>
              <a:latin typeface="Calibri"/>
              <a:ea typeface="Calibri"/>
              <a:cs typeface="Calibri"/>
              <a:sym typeface="Calibri"/>
            </a:endParaRPr>
          </a:p>
        </p:txBody>
      </p:sp>
      <p:sp>
        <p:nvSpPr>
          <p:cNvPr id="140" name="Google Shape;140;p16"/>
          <p:cNvSpPr/>
          <p:nvPr/>
        </p:nvSpPr>
        <p:spPr>
          <a:xfrm>
            <a:off x="1554480" y="2194560"/>
            <a:ext cx="9692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Two async streams → one aligned, labeled table</a:t>
            </a:r>
            <a:endParaRPr b="0" i="0" sz="1600" u="none" cap="none" strike="noStrike">
              <a:solidFill>
                <a:schemeClr val="dk1"/>
              </a:solidFill>
              <a:latin typeface="Calibri"/>
              <a:ea typeface="Calibri"/>
              <a:cs typeface="Calibri"/>
              <a:sym typeface="Calibri"/>
            </a:endParaRPr>
          </a:p>
        </p:txBody>
      </p:sp>
      <p:cxnSp>
        <p:nvCxnSpPr>
          <p:cNvPr id="141" name="Google Shape;141;p16"/>
          <p:cNvCxnSpPr/>
          <p:nvPr/>
        </p:nvCxnSpPr>
        <p:spPr>
          <a:xfrm>
            <a:off x="1554480" y="2615184"/>
            <a:ext cx="9784080" cy="0"/>
          </a:xfrm>
          <a:prstGeom prst="straightConnector1">
            <a:avLst/>
          </a:prstGeom>
          <a:noFill/>
          <a:ln cap="flat" cmpd="sng" w="9525">
            <a:solidFill>
              <a:srgbClr val="C8C5BC"/>
            </a:solidFill>
            <a:prstDash val="solid"/>
            <a:round/>
            <a:headEnd len="sm" w="sm" type="none"/>
            <a:tailEnd len="sm" w="sm" type="none"/>
          </a:ln>
        </p:spPr>
      </p:cxnSp>
      <p:sp>
        <p:nvSpPr>
          <p:cNvPr id="142" name="Google Shape;142;p16"/>
          <p:cNvSpPr/>
          <p:nvPr/>
        </p:nvSpPr>
        <p:spPr>
          <a:xfrm>
            <a:off x="640080" y="2798064"/>
            <a:ext cx="658368" cy="65836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p:nvPr/>
        </p:nvSpPr>
        <p:spPr>
          <a:xfrm>
            <a:off x="640080" y="2798064"/>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02</a:t>
            </a:r>
            <a:endParaRPr b="0" i="0" sz="1400" u="none" cap="none" strike="noStrike">
              <a:solidFill>
                <a:schemeClr val="dk1"/>
              </a:solidFill>
              <a:latin typeface="Calibri"/>
              <a:ea typeface="Calibri"/>
              <a:cs typeface="Calibri"/>
              <a:sym typeface="Calibri"/>
            </a:endParaRPr>
          </a:p>
        </p:txBody>
      </p:sp>
      <p:sp>
        <p:nvSpPr>
          <p:cNvPr id="144" name="Google Shape;144;p16"/>
          <p:cNvSpPr/>
          <p:nvPr/>
        </p:nvSpPr>
        <p:spPr>
          <a:xfrm>
            <a:off x="1554480" y="2743200"/>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Multimodal Edge AI Model</a:t>
            </a:r>
            <a:endParaRPr b="0" i="0" sz="1900" u="none" cap="none" strike="noStrike">
              <a:solidFill>
                <a:schemeClr val="dk1"/>
              </a:solidFill>
              <a:latin typeface="Calibri"/>
              <a:ea typeface="Calibri"/>
              <a:cs typeface="Calibri"/>
              <a:sym typeface="Calibri"/>
            </a:endParaRPr>
          </a:p>
        </p:txBody>
      </p:sp>
      <p:sp>
        <p:nvSpPr>
          <p:cNvPr id="145" name="Google Shape;145;p16"/>
          <p:cNvSpPr/>
          <p:nvPr/>
        </p:nvSpPr>
        <p:spPr>
          <a:xfrm>
            <a:off x="1554480" y="3127248"/>
            <a:ext cx="9692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Dual-branch network, attention fusion, focal loss</a:t>
            </a:r>
            <a:endParaRPr b="0" i="0" sz="1600" u="none" cap="none" strike="noStrike">
              <a:solidFill>
                <a:schemeClr val="dk1"/>
              </a:solidFill>
              <a:latin typeface="Calibri"/>
              <a:ea typeface="Calibri"/>
              <a:cs typeface="Calibri"/>
              <a:sym typeface="Calibri"/>
            </a:endParaRPr>
          </a:p>
        </p:txBody>
      </p:sp>
      <p:cxnSp>
        <p:nvCxnSpPr>
          <p:cNvPr id="146" name="Google Shape;146;p16"/>
          <p:cNvCxnSpPr/>
          <p:nvPr/>
        </p:nvCxnSpPr>
        <p:spPr>
          <a:xfrm>
            <a:off x="1554480" y="3547872"/>
            <a:ext cx="9784080" cy="0"/>
          </a:xfrm>
          <a:prstGeom prst="straightConnector1">
            <a:avLst/>
          </a:prstGeom>
          <a:noFill/>
          <a:ln cap="flat" cmpd="sng" w="9525">
            <a:solidFill>
              <a:srgbClr val="C8C5BC"/>
            </a:solidFill>
            <a:prstDash val="solid"/>
            <a:round/>
            <a:headEnd len="sm" w="sm" type="none"/>
            <a:tailEnd len="sm" w="sm" type="none"/>
          </a:ln>
        </p:spPr>
      </p:cxnSp>
      <p:sp>
        <p:nvSpPr>
          <p:cNvPr id="147" name="Google Shape;147;p16"/>
          <p:cNvSpPr/>
          <p:nvPr/>
        </p:nvSpPr>
        <p:spPr>
          <a:xfrm>
            <a:off x="640080" y="3730752"/>
            <a:ext cx="658368" cy="65836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640080" y="373075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03</a:t>
            </a:r>
            <a:endParaRPr b="0" i="0" sz="1400" u="none" cap="none" strike="noStrike">
              <a:solidFill>
                <a:schemeClr val="dk1"/>
              </a:solidFill>
              <a:latin typeface="Calibri"/>
              <a:ea typeface="Calibri"/>
              <a:cs typeface="Calibri"/>
              <a:sym typeface="Calibri"/>
            </a:endParaRPr>
          </a:p>
        </p:txBody>
      </p:sp>
      <p:sp>
        <p:nvSpPr>
          <p:cNvPr id="149" name="Google Shape;149;p16"/>
          <p:cNvSpPr/>
          <p:nvPr/>
        </p:nvSpPr>
        <p:spPr>
          <a:xfrm>
            <a:off x="1554480" y="3675888"/>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Real-Time Inference &amp; Alerts</a:t>
            </a:r>
            <a:endParaRPr b="0" i="0" sz="1900" u="none" cap="none" strike="noStrike">
              <a:solidFill>
                <a:schemeClr val="dk1"/>
              </a:solidFill>
              <a:latin typeface="Calibri"/>
              <a:ea typeface="Calibri"/>
              <a:cs typeface="Calibri"/>
              <a:sym typeface="Calibri"/>
            </a:endParaRPr>
          </a:p>
        </p:txBody>
      </p:sp>
      <p:sp>
        <p:nvSpPr>
          <p:cNvPr id="150" name="Google Shape;150;p16"/>
          <p:cNvSpPr/>
          <p:nvPr/>
        </p:nvSpPr>
        <p:spPr>
          <a:xfrm>
            <a:off x="1554480" y="4059936"/>
            <a:ext cx="9692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Streaming loop, confidence gating, alert cooldown</a:t>
            </a:r>
            <a:endParaRPr b="0" i="0" sz="1600" u="none" cap="none" strike="noStrike">
              <a:solidFill>
                <a:schemeClr val="dk1"/>
              </a:solidFill>
              <a:latin typeface="Calibri"/>
              <a:ea typeface="Calibri"/>
              <a:cs typeface="Calibri"/>
              <a:sym typeface="Calibri"/>
            </a:endParaRPr>
          </a:p>
        </p:txBody>
      </p:sp>
      <p:cxnSp>
        <p:nvCxnSpPr>
          <p:cNvPr id="151" name="Google Shape;151;p16"/>
          <p:cNvCxnSpPr/>
          <p:nvPr/>
        </p:nvCxnSpPr>
        <p:spPr>
          <a:xfrm>
            <a:off x="1554480" y="4480560"/>
            <a:ext cx="9784080" cy="0"/>
          </a:xfrm>
          <a:prstGeom prst="straightConnector1">
            <a:avLst/>
          </a:prstGeom>
          <a:noFill/>
          <a:ln cap="flat" cmpd="sng" w="9525">
            <a:solidFill>
              <a:srgbClr val="C8C5BC"/>
            </a:solidFill>
            <a:prstDash val="solid"/>
            <a:round/>
            <a:headEnd len="sm" w="sm" type="none"/>
            <a:tailEnd len="sm" w="sm" type="none"/>
          </a:ln>
        </p:spPr>
      </p:cxnSp>
      <p:sp>
        <p:nvSpPr>
          <p:cNvPr id="152" name="Google Shape;152;p16"/>
          <p:cNvSpPr/>
          <p:nvPr/>
        </p:nvSpPr>
        <p:spPr>
          <a:xfrm>
            <a:off x="640080" y="4663440"/>
            <a:ext cx="658368" cy="65836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640080" y="466344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04</a:t>
            </a:r>
            <a:endParaRPr b="0" i="0" sz="1400" u="none" cap="none" strike="noStrike">
              <a:solidFill>
                <a:schemeClr val="dk1"/>
              </a:solidFill>
              <a:latin typeface="Calibri"/>
              <a:ea typeface="Calibri"/>
              <a:cs typeface="Calibri"/>
              <a:sym typeface="Calibri"/>
            </a:endParaRPr>
          </a:p>
        </p:txBody>
      </p:sp>
      <p:sp>
        <p:nvSpPr>
          <p:cNvPr id="154" name="Google Shape;154;p16"/>
          <p:cNvSpPr/>
          <p:nvPr/>
        </p:nvSpPr>
        <p:spPr>
          <a:xfrm>
            <a:off x="1554480" y="4608576"/>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Autonomous Response Simulation</a:t>
            </a:r>
            <a:endParaRPr b="0" i="0" sz="1900" u="none" cap="none" strike="noStrike">
              <a:solidFill>
                <a:schemeClr val="dk1"/>
              </a:solidFill>
              <a:latin typeface="Calibri"/>
              <a:ea typeface="Calibri"/>
              <a:cs typeface="Calibri"/>
              <a:sym typeface="Calibri"/>
            </a:endParaRPr>
          </a:p>
        </p:txBody>
      </p:sp>
      <p:sp>
        <p:nvSpPr>
          <p:cNvPr id="155" name="Google Shape;155;p16"/>
          <p:cNvSpPr/>
          <p:nvPr/>
        </p:nvSpPr>
        <p:spPr>
          <a:xfrm>
            <a:off x="1554480" y="4992624"/>
            <a:ext cx="9692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Decision engine, speed control, comms isolation, </a:t>
            </a:r>
            <a:r>
              <a:rPr lang="en-US" sz="1600">
                <a:solidFill>
                  <a:srgbClr val="4A4A4A"/>
                </a:solidFill>
                <a:latin typeface="Calibri"/>
                <a:ea typeface="Calibri"/>
                <a:cs typeface="Calibri"/>
                <a:sym typeface="Calibri"/>
              </a:rPr>
              <a:t>system recovery</a:t>
            </a:r>
            <a:endParaRPr sz="1600">
              <a:solidFill>
                <a:srgbClr val="4A4A4A"/>
              </a:solidFill>
              <a:latin typeface="Calibri"/>
              <a:ea typeface="Calibri"/>
              <a:cs typeface="Calibri"/>
              <a:sym typeface="Calibri"/>
            </a:endParaRPr>
          </a:p>
        </p:txBody>
      </p:sp>
      <p:cxnSp>
        <p:nvCxnSpPr>
          <p:cNvPr id="156" name="Google Shape;156;p16"/>
          <p:cNvCxnSpPr/>
          <p:nvPr/>
        </p:nvCxnSpPr>
        <p:spPr>
          <a:xfrm>
            <a:off x="1554480" y="5413248"/>
            <a:ext cx="9784080" cy="0"/>
          </a:xfrm>
          <a:prstGeom prst="straightConnector1">
            <a:avLst/>
          </a:prstGeom>
          <a:noFill/>
          <a:ln cap="flat" cmpd="sng" w="9525">
            <a:solidFill>
              <a:srgbClr val="C8C5BC"/>
            </a:solidFill>
            <a:prstDash val="solid"/>
            <a:round/>
            <a:headEnd len="sm" w="sm" type="none"/>
            <a:tailEnd len="sm" w="sm" type="none"/>
          </a:ln>
        </p:spPr>
      </p:cxnSp>
      <p:sp>
        <p:nvSpPr>
          <p:cNvPr id="157" name="Google Shape;157;p16"/>
          <p:cNvSpPr/>
          <p:nvPr/>
        </p:nvSpPr>
        <p:spPr>
          <a:xfrm>
            <a:off x="640080" y="5596128"/>
            <a:ext cx="658368" cy="65836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640080" y="55961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05</a:t>
            </a:r>
            <a:endParaRPr b="0" i="0" sz="1400" u="none" cap="none" strike="noStrike">
              <a:solidFill>
                <a:schemeClr val="dk1"/>
              </a:solidFill>
              <a:latin typeface="Calibri"/>
              <a:ea typeface="Calibri"/>
              <a:cs typeface="Calibri"/>
              <a:sym typeface="Calibri"/>
            </a:endParaRPr>
          </a:p>
        </p:txBody>
      </p:sp>
      <p:sp>
        <p:nvSpPr>
          <p:cNvPr id="159" name="Google Shape;159;p16"/>
          <p:cNvSpPr/>
          <p:nvPr/>
        </p:nvSpPr>
        <p:spPr>
          <a:xfrm>
            <a:off x="1554480" y="5541264"/>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Wrap-up &amp; Hands-On Notebooks</a:t>
            </a:r>
            <a:endParaRPr b="0" i="0" sz="1900" u="none" cap="none" strike="noStrike">
              <a:solidFill>
                <a:schemeClr val="dk1"/>
              </a:solidFill>
              <a:latin typeface="Calibri"/>
              <a:ea typeface="Calibri"/>
              <a:cs typeface="Calibri"/>
              <a:sym typeface="Calibri"/>
            </a:endParaRPr>
          </a:p>
        </p:txBody>
      </p:sp>
      <p:sp>
        <p:nvSpPr>
          <p:cNvPr id="160" name="Google Shape;160;p16"/>
          <p:cNvSpPr/>
          <p:nvPr/>
        </p:nvSpPr>
        <p:spPr>
          <a:xfrm>
            <a:off x="1554480" y="5925312"/>
            <a:ext cx="9692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Exercises, checkpoints, Q&amp;A</a:t>
            </a:r>
            <a:endParaRPr b="0" i="0" sz="1600" u="none" cap="none" strike="noStrike">
              <a:solidFill>
                <a:schemeClr val="dk1"/>
              </a:solidFill>
              <a:latin typeface="Calibri"/>
              <a:ea typeface="Calibri"/>
              <a:cs typeface="Calibri"/>
              <a:sym typeface="Calibri"/>
            </a:endParaRPr>
          </a:p>
        </p:txBody>
      </p:sp>
      <p:sp>
        <p:nvSpPr>
          <p:cNvPr id="161" name="Google Shape;161;p16"/>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17"/>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168" name="Google Shape;168;p17"/>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69" name="Google Shape;169;p17"/>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 · REAL SCENARIO</a:t>
            </a:r>
            <a:endParaRPr b="0" i="0" sz="1000" u="none" cap="none" strike="noStrike">
              <a:solidFill>
                <a:schemeClr val="dk1"/>
              </a:solidFill>
              <a:latin typeface="Calibri"/>
              <a:ea typeface="Calibri"/>
              <a:cs typeface="Calibri"/>
              <a:sym typeface="Calibri"/>
            </a:endParaRPr>
          </a:p>
        </p:txBody>
      </p:sp>
      <p:sp>
        <p:nvSpPr>
          <p:cNvPr id="170" name="Google Shape;170;p17"/>
          <p:cNvSpPr/>
          <p:nvPr/>
        </p:nvSpPr>
        <p:spPr>
          <a:xfrm>
            <a:off x="548640" y="566928"/>
            <a:ext cx="104241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When a network attack becomes a physical one</a:t>
            </a:r>
            <a:endParaRPr b="0" i="0" sz="3000" u="none" cap="none" strike="noStrike">
              <a:solidFill>
                <a:schemeClr val="dk1"/>
              </a:solidFill>
              <a:latin typeface="Calibri"/>
              <a:ea typeface="Calibri"/>
              <a:cs typeface="Calibri"/>
              <a:sym typeface="Calibri"/>
            </a:endParaRPr>
          </a:p>
        </p:txBody>
      </p:sp>
      <p:sp>
        <p:nvSpPr>
          <p:cNvPr id="171" name="Google Shape;171;p17"/>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REAL SCENARIO</a:t>
            </a:r>
            <a:endParaRPr b="0" i="0" sz="900" u="none" cap="none" strike="noStrike">
              <a:solidFill>
                <a:schemeClr val="dk1"/>
              </a:solidFill>
              <a:latin typeface="Calibri"/>
              <a:ea typeface="Calibri"/>
              <a:cs typeface="Calibri"/>
              <a:sym typeface="Calibri"/>
            </a:endParaRPr>
          </a:p>
        </p:txBody>
      </p:sp>
      <p:sp>
        <p:nvSpPr>
          <p:cNvPr id="173" name="Google Shape;173;p17"/>
          <p:cNvSpPr/>
          <p:nvPr/>
        </p:nvSpPr>
        <p:spPr>
          <a:xfrm>
            <a:off x="640080" y="5486400"/>
            <a:ext cx="5989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200"/>
              <a:buFont typeface="Calibri"/>
              <a:buNone/>
            </a:pPr>
            <a:r>
              <a:rPr b="1" i="1" lang="en-US" u="none" cap="none" strike="noStrike">
                <a:solidFill>
                  <a:srgbClr val="4A4A4A"/>
                </a:solidFill>
                <a:latin typeface="Calibri"/>
                <a:ea typeface="Calibri"/>
                <a:cs typeface="Calibri"/>
                <a:sym typeface="Calibri"/>
              </a:rPr>
              <a:t>2014 Jeep Cherokee  ·  Miller &amp; Valasek, Black Hat USA 2015</a:t>
            </a:r>
            <a:endParaRPr b="1" i="0" u="none" cap="none" strike="noStrike">
              <a:solidFill>
                <a:schemeClr val="dk1"/>
              </a:solidFill>
              <a:latin typeface="Calibri"/>
              <a:ea typeface="Calibri"/>
              <a:cs typeface="Calibri"/>
              <a:sym typeface="Calibri"/>
            </a:endParaRPr>
          </a:p>
        </p:txBody>
      </p:sp>
      <p:sp>
        <p:nvSpPr>
          <p:cNvPr id="174" name="Google Shape;174;p17"/>
          <p:cNvSpPr/>
          <p:nvPr/>
        </p:nvSpPr>
        <p:spPr>
          <a:xfrm>
            <a:off x="599805" y="6044208"/>
            <a:ext cx="598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100"/>
              <a:buFont typeface="Calibri"/>
              <a:buNone/>
            </a:pPr>
            <a:r>
              <a:rPr lang="en-US" sz="1100">
                <a:solidFill>
                  <a:srgbClr val="8A8A8A"/>
                </a:solidFill>
                <a:latin typeface="Calibri"/>
                <a:ea typeface="Calibri"/>
                <a:cs typeface="Calibri"/>
                <a:sym typeface="Calibri"/>
              </a:rPr>
              <a:t>Aliwa, Emad, et al. "Cyberattacks and countermeasures for in-vehicle networks." ACM computing surveys (CSUR) 54.1 (2021): 1-37.</a:t>
            </a:r>
            <a:endParaRPr b="0" i="0" sz="1100" u="none" cap="none" strike="noStrike">
              <a:solidFill>
                <a:schemeClr val="dk1"/>
              </a:solidFill>
              <a:latin typeface="Calibri"/>
              <a:ea typeface="Calibri"/>
              <a:cs typeface="Calibri"/>
              <a:sym typeface="Calibri"/>
            </a:endParaRPr>
          </a:p>
        </p:txBody>
      </p:sp>
      <p:sp>
        <p:nvSpPr>
          <p:cNvPr id="175" name="Google Shape;175;p17"/>
          <p:cNvSpPr/>
          <p:nvPr/>
        </p:nvSpPr>
        <p:spPr>
          <a:xfrm>
            <a:off x="6995160" y="1783080"/>
            <a:ext cx="46635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Georgia"/>
              <a:buNone/>
            </a:pPr>
            <a:r>
              <a:rPr b="1" i="0" lang="en-US" sz="1900" u="none" cap="none" strike="noStrike">
                <a:solidFill>
                  <a:srgbClr val="1A1A1A"/>
                </a:solidFill>
                <a:latin typeface="Georgia"/>
                <a:ea typeface="Georgia"/>
                <a:cs typeface="Georgia"/>
                <a:sym typeface="Georgia"/>
              </a:rPr>
              <a:t>How it unfolded</a:t>
            </a:r>
            <a:endParaRPr b="0" i="0" sz="1900" u="none" cap="none" strike="noStrike">
              <a:solidFill>
                <a:schemeClr val="dk1"/>
              </a:solidFill>
              <a:latin typeface="Calibri"/>
              <a:ea typeface="Calibri"/>
              <a:cs typeface="Calibri"/>
              <a:sym typeface="Calibri"/>
            </a:endParaRPr>
          </a:p>
        </p:txBody>
      </p:sp>
      <p:sp>
        <p:nvSpPr>
          <p:cNvPr id="176" name="Google Shape;176;p17"/>
          <p:cNvSpPr/>
          <p:nvPr/>
        </p:nvSpPr>
        <p:spPr>
          <a:xfrm>
            <a:off x="6995160" y="2212848"/>
            <a:ext cx="4663500" cy="23775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Reached over the cellular network from ~16 km away</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1A1A1A"/>
              </a:buClr>
              <a:buSzPts val="1600"/>
              <a:buFont typeface="Calibri"/>
              <a:buChar char="■"/>
            </a:pPr>
            <a:r>
              <a:rPr b="0" i="0" lang="en-US" sz="1600" u="none" cap="none" strike="noStrike">
                <a:solidFill>
                  <a:srgbClr val="1A1A1A"/>
                </a:solidFill>
                <a:latin typeface="Calibri"/>
                <a:ea typeface="Calibri"/>
                <a:cs typeface="Calibri"/>
                <a:sym typeface="Calibri"/>
              </a:rPr>
              <a:t>Entry point: an open port 6667 on the Uconnect head unit</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Head-unit firmware rewritten to gain CAN bus access</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Then: brakes, transmission, engine kill — at highway speed</a:t>
            </a:r>
            <a:endParaRPr b="0" i="0" sz="1600" u="none" cap="none" strike="noStrike">
              <a:solidFill>
                <a:schemeClr val="dk1"/>
              </a:solidFill>
              <a:latin typeface="Calibri"/>
              <a:ea typeface="Calibri"/>
              <a:cs typeface="Calibri"/>
              <a:sym typeface="Calibri"/>
            </a:endParaRPr>
          </a:p>
        </p:txBody>
      </p:sp>
      <p:sp>
        <p:nvSpPr>
          <p:cNvPr id="177" name="Google Shape;177;p17"/>
          <p:cNvSpPr/>
          <p:nvPr/>
        </p:nvSpPr>
        <p:spPr>
          <a:xfrm>
            <a:off x="6995160" y="4754880"/>
            <a:ext cx="4663500" cy="27300"/>
          </a:xfrm>
          <a:prstGeom prst="rect">
            <a:avLst/>
          </a:prstGeom>
          <a:solidFill>
            <a:srgbClr val="C8C5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p:nvPr/>
        </p:nvSpPr>
        <p:spPr>
          <a:xfrm>
            <a:off x="6995160" y="4864608"/>
            <a:ext cx="4663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Aftermath</a:t>
            </a:r>
            <a:endParaRPr b="0" i="0" sz="1400" u="none" cap="none" strike="noStrike">
              <a:solidFill>
                <a:schemeClr val="dk1"/>
              </a:solidFill>
              <a:latin typeface="Calibri"/>
              <a:ea typeface="Calibri"/>
              <a:cs typeface="Calibri"/>
              <a:sym typeface="Calibri"/>
            </a:endParaRPr>
          </a:p>
        </p:txBody>
      </p:sp>
      <p:sp>
        <p:nvSpPr>
          <p:cNvPr id="179" name="Google Shape;179;p17"/>
          <p:cNvSpPr/>
          <p:nvPr/>
        </p:nvSpPr>
        <p:spPr>
          <a:xfrm>
            <a:off x="6995160" y="5193792"/>
            <a:ext cx="4663500" cy="777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1.4 million vehicles recalled — the first product recall ever caused by a cybersecurity vulnerability.</a:t>
            </a:r>
            <a:endParaRPr b="0" i="0" sz="1600" u="none" cap="none" strike="noStrike">
              <a:solidFill>
                <a:schemeClr val="dk1"/>
              </a:solidFill>
              <a:latin typeface="Calibri"/>
              <a:ea typeface="Calibri"/>
              <a:cs typeface="Calibri"/>
              <a:sym typeface="Calibri"/>
            </a:endParaRPr>
          </a:p>
        </p:txBody>
      </p:sp>
      <p:pic>
        <p:nvPicPr>
          <p:cNvPr id="180" name="Google Shape;180;p17"/>
          <p:cNvPicPr preferRelativeResize="0"/>
          <p:nvPr/>
        </p:nvPicPr>
        <p:blipFill>
          <a:blip r:embed="rId4">
            <a:alphaModFix/>
          </a:blip>
          <a:stretch>
            <a:fillRect/>
          </a:stretch>
        </p:blipFill>
        <p:spPr>
          <a:xfrm>
            <a:off x="599801" y="1502637"/>
            <a:ext cx="6279763" cy="3864962"/>
          </a:xfrm>
          <a:prstGeom prst="rect">
            <a:avLst/>
          </a:prstGeom>
          <a:solidFill>
            <a:srgbClr val="FCFBF8"/>
          </a:solidFill>
          <a:ln cap="flat" cmpd="sng" w="15875">
            <a:solidFill>
              <a:srgbClr val="D4B05E"/>
            </a:solidFill>
            <a:prstDash val="dash"/>
            <a:round/>
            <a:headEnd len="sm" w="sm" type="none"/>
            <a:tailEnd len="sm" w="sm" type="none"/>
          </a:ln>
        </p:spPr>
      </p:pic>
      <p:sp>
        <p:nvSpPr>
          <p:cNvPr id="181" name="Google Shape;181;p17"/>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8"/>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188" name="Google Shape;188;p18"/>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89" name="Google Shape;189;p18"/>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 · MOTIVATION</a:t>
            </a:r>
            <a:endParaRPr b="0" i="0" sz="1000" u="none" cap="none" strike="noStrike">
              <a:solidFill>
                <a:schemeClr val="dk1"/>
              </a:solidFill>
              <a:latin typeface="Calibri"/>
              <a:ea typeface="Calibri"/>
              <a:cs typeface="Calibri"/>
              <a:sym typeface="Calibri"/>
            </a:endParaRPr>
          </a:p>
        </p:txBody>
      </p:sp>
      <p:sp>
        <p:nvSpPr>
          <p:cNvPr id="190" name="Google Shape;190;p18"/>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The blind spot of single-source monitoring</a:t>
            </a:r>
            <a:endParaRPr b="0" i="0" sz="3000" u="none" cap="none" strike="noStrike">
              <a:solidFill>
                <a:schemeClr val="dk1"/>
              </a:solidFill>
              <a:latin typeface="Calibri"/>
              <a:ea typeface="Calibri"/>
              <a:cs typeface="Calibri"/>
              <a:sym typeface="Calibri"/>
            </a:endParaRPr>
          </a:p>
        </p:txBody>
      </p:sp>
      <p:sp>
        <p:nvSpPr>
          <p:cNvPr id="191" name="Google Shape;191;p18"/>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8"/>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MOTIVATION      </a:t>
            </a:r>
            <a:endParaRPr b="0" i="0" sz="900" u="none" cap="none" strike="noStrike">
              <a:solidFill>
                <a:schemeClr val="dk1"/>
              </a:solidFill>
              <a:latin typeface="Calibri"/>
              <a:ea typeface="Calibri"/>
              <a:cs typeface="Calibri"/>
              <a:sym typeface="Calibri"/>
            </a:endParaRPr>
          </a:p>
        </p:txBody>
      </p:sp>
      <p:sp>
        <p:nvSpPr>
          <p:cNvPr id="193" name="Google Shape;193;p18"/>
          <p:cNvSpPr/>
          <p:nvPr/>
        </p:nvSpPr>
        <p:spPr>
          <a:xfrm>
            <a:off x="594225" y="1410700"/>
            <a:ext cx="5212200" cy="28347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Two attack surfaces, one vehicle</a:t>
            </a:r>
            <a:endParaRPr b="0" i="0" sz="1800" u="none" cap="none" strike="noStrike">
              <a:solidFill>
                <a:schemeClr val="dk1"/>
              </a:solidFill>
              <a:latin typeface="Calibri"/>
              <a:ea typeface="Calibri"/>
              <a:cs typeface="Calibri"/>
              <a:sym typeface="Calibri"/>
            </a:endParaRPr>
          </a:p>
          <a:p>
            <a:pPr indent="-330200" lvl="1" marL="914400" marR="0" rtl="0" algn="l">
              <a:lnSpc>
                <a:spcPct val="100000"/>
              </a:lnSpc>
              <a:spcBef>
                <a:spcPts val="12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Physical — brakes, steering, throttle, sensors</a:t>
            </a:r>
            <a:endParaRPr b="0" i="0" sz="1600" u="none" cap="none" strike="noStrike">
              <a:solidFill>
                <a:schemeClr val="dk1"/>
              </a:solidFill>
              <a:latin typeface="Calibri"/>
              <a:ea typeface="Calibri"/>
              <a:cs typeface="Calibri"/>
              <a:sym typeface="Calibri"/>
            </a:endParaRPr>
          </a:p>
          <a:p>
            <a:pPr indent="-330200" lvl="1" marL="914400" marR="0" rtl="0" algn="l">
              <a:lnSpc>
                <a:spcPct val="100000"/>
              </a:lnSpc>
              <a:spcBef>
                <a:spcPts val="12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Cyber — CAN bus, V2X, telematics, OTA</a:t>
            </a:r>
            <a:endParaRPr b="0" i="0" sz="1600" u="none" cap="none" strike="noStrike">
              <a:solidFill>
                <a:schemeClr val="dk1"/>
              </a:solidFill>
              <a:latin typeface="Calibri"/>
              <a:ea typeface="Calibri"/>
              <a:cs typeface="Calibri"/>
              <a:sym typeface="Calibri"/>
            </a:endParaRPr>
          </a:p>
          <a:p>
            <a:pPr indent="-330200" lvl="1" marL="914400" marR="0" rtl="0" algn="l">
              <a:lnSpc>
                <a:spcPct val="100000"/>
              </a:lnSpc>
              <a:spcBef>
                <a:spcPts val="12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A capable attacker moves between them</a:t>
            </a:r>
            <a:endParaRPr b="0" i="0" sz="1600" u="none" cap="none" strike="noStrike">
              <a:solidFill>
                <a:schemeClr val="dk1"/>
              </a:solidFill>
              <a:latin typeface="Calibri"/>
              <a:ea typeface="Calibri"/>
              <a:cs typeface="Calibri"/>
              <a:sym typeface="Calibri"/>
            </a:endParaRPr>
          </a:p>
        </p:txBody>
      </p:sp>
      <p:sp>
        <p:nvSpPr>
          <p:cNvPr id="194" name="Google Shape;194;p18"/>
          <p:cNvSpPr/>
          <p:nvPr/>
        </p:nvSpPr>
        <p:spPr>
          <a:xfrm>
            <a:off x="365755" y="6268240"/>
            <a:ext cx="4846200" cy="82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932E"/>
              </a:buClr>
              <a:buSzPts val="1600"/>
              <a:buFont typeface="Calibri"/>
              <a:buNone/>
            </a:pPr>
            <a:r>
              <a:rPr b="0" i="1" lang="en-US" sz="1600" u="none" cap="none" strike="noStrike">
                <a:solidFill>
                  <a:srgbClr val="B8932E"/>
                </a:solidFill>
                <a:latin typeface="Calibri"/>
                <a:ea typeface="Calibri"/>
                <a:cs typeface="Calibri"/>
                <a:sym typeface="Calibri"/>
              </a:rPr>
              <a:t>Watch one surface and </a:t>
            </a:r>
            <a:r>
              <a:rPr i="1" lang="en-US" sz="1600">
                <a:solidFill>
                  <a:srgbClr val="B8932E"/>
                </a:solidFill>
                <a:latin typeface="Calibri"/>
                <a:ea typeface="Calibri"/>
                <a:cs typeface="Calibri"/>
                <a:sym typeface="Calibri"/>
              </a:rPr>
              <a:t>we</a:t>
            </a:r>
            <a:r>
              <a:rPr b="0" i="1" lang="en-US" sz="1600" u="none" cap="none" strike="noStrike">
                <a:solidFill>
                  <a:srgbClr val="B8932E"/>
                </a:solidFill>
                <a:latin typeface="Calibri"/>
                <a:ea typeface="Calibri"/>
                <a:cs typeface="Calibri"/>
                <a:sym typeface="Calibri"/>
              </a:rPr>
              <a:t> inherit the other's blind spot.</a:t>
            </a:r>
            <a:endParaRPr b="0" i="0" sz="1600" u="none" cap="none" strike="noStrike">
              <a:solidFill>
                <a:schemeClr val="dk1"/>
              </a:solidFill>
              <a:latin typeface="Calibri"/>
              <a:ea typeface="Calibri"/>
              <a:cs typeface="Calibri"/>
              <a:sym typeface="Calibri"/>
            </a:endParaRPr>
          </a:p>
        </p:txBody>
      </p:sp>
      <p:sp>
        <p:nvSpPr>
          <p:cNvPr id="195" name="Google Shape;195;p18"/>
          <p:cNvSpPr/>
          <p:nvPr/>
        </p:nvSpPr>
        <p:spPr>
          <a:xfrm>
            <a:off x="5897880" y="1783080"/>
            <a:ext cx="5760720" cy="1481328"/>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p:nvPr/>
        </p:nvSpPr>
        <p:spPr>
          <a:xfrm>
            <a:off x="6172200" y="1911096"/>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Telemetry only</a:t>
            </a:r>
            <a:endParaRPr b="0" i="0" sz="1700" u="none" cap="none" strike="noStrike">
              <a:solidFill>
                <a:schemeClr val="dk1"/>
              </a:solidFill>
              <a:latin typeface="Calibri"/>
              <a:ea typeface="Calibri"/>
              <a:cs typeface="Calibri"/>
              <a:sym typeface="Calibri"/>
            </a:endParaRPr>
          </a:p>
        </p:txBody>
      </p:sp>
      <p:sp>
        <p:nvSpPr>
          <p:cNvPr id="197" name="Google Shape;197;p18"/>
          <p:cNvSpPr/>
          <p:nvPr/>
        </p:nvSpPr>
        <p:spPr>
          <a:xfrm>
            <a:off x="9646920" y="1929384"/>
            <a:ext cx="1737360" cy="256032"/>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8"/>
          <p:cNvSpPr/>
          <p:nvPr/>
        </p:nvSpPr>
        <p:spPr>
          <a:xfrm>
            <a:off x="9646920" y="1929384"/>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MISSES CYBER</a:t>
            </a:r>
            <a:endParaRPr b="0" i="0" sz="950" u="none" cap="none" strike="noStrike">
              <a:solidFill>
                <a:schemeClr val="dk1"/>
              </a:solidFill>
              <a:latin typeface="Calibri"/>
              <a:ea typeface="Calibri"/>
              <a:cs typeface="Calibri"/>
              <a:sym typeface="Calibri"/>
            </a:endParaRPr>
          </a:p>
        </p:txBody>
      </p:sp>
      <p:sp>
        <p:nvSpPr>
          <p:cNvPr id="199" name="Google Shape;199;p18"/>
          <p:cNvSpPr/>
          <p:nvPr/>
        </p:nvSpPr>
        <p:spPr>
          <a:xfrm>
            <a:off x="6172200" y="2295144"/>
            <a:ext cx="521208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Sees a hard brake. Cannot separate a failing actuator from an injected CAN frame.</a:t>
            </a:r>
            <a:endParaRPr b="0" i="0" sz="1600" u="none" cap="none" strike="noStrike">
              <a:solidFill>
                <a:schemeClr val="dk1"/>
              </a:solidFill>
              <a:latin typeface="Calibri"/>
              <a:ea typeface="Calibri"/>
              <a:cs typeface="Calibri"/>
              <a:sym typeface="Calibri"/>
            </a:endParaRPr>
          </a:p>
        </p:txBody>
      </p:sp>
      <p:sp>
        <p:nvSpPr>
          <p:cNvPr id="200" name="Google Shape;200;p18"/>
          <p:cNvSpPr/>
          <p:nvPr/>
        </p:nvSpPr>
        <p:spPr>
          <a:xfrm>
            <a:off x="5897880" y="3410712"/>
            <a:ext cx="5760720" cy="1481328"/>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
          <p:cNvSpPr/>
          <p:nvPr/>
        </p:nvSpPr>
        <p:spPr>
          <a:xfrm>
            <a:off x="6172200" y="3538728"/>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Network only</a:t>
            </a:r>
            <a:endParaRPr b="0" i="0" sz="1700" u="none" cap="none" strike="noStrike">
              <a:solidFill>
                <a:schemeClr val="dk1"/>
              </a:solidFill>
              <a:latin typeface="Calibri"/>
              <a:ea typeface="Calibri"/>
              <a:cs typeface="Calibri"/>
              <a:sym typeface="Calibri"/>
            </a:endParaRPr>
          </a:p>
        </p:txBody>
      </p:sp>
      <p:sp>
        <p:nvSpPr>
          <p:cNvPr id="202" name="Google Shape;202;p18"/>
          <p:cNvSpPr/>
          <p:nvPr/>
        </p:nvSpPr>
        <p:spPr>
          <a:xfrm>
            <a:off x="9646920" y="3557016"/>
            <a:ext cx="1737360" cy="256032"/>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8"/>
          <p:cNvSpPr/>
          <p:nvPr/>
        </p:nvSpPr>
        <p:spPr>
          <a:xfrm>
            <a:off x="9646920" y="3557016"/>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MISSES PHYSICAL</a:t>
            </a:r>
            <a:endParaRPr b="0" i="0" sz="950" u="none" cap="none" strike="noStrike">
              <a:solidFill>
                <a:schemeClr val="dk1"/>
              </a:solidFill>
              <a:latin typeface="Calibri"/>
              <a:ea typeface="Calibri"/>
              <a:cs typeface="Calibri"/>
              <a:sym typeface="Calibri"/>
            </a:endParaRPr>
          </a:p>
        </p:txBody>
      </p:sp>
      <p:sp>
        <p:nvSpPr>
          <p:cNvPr id="204" name="Google Shape;204;p18"/>
          <p:cNvSpPr/>
          <p:nvPr/>
        </p:nvSpPr>
        <p:spPr>
          <a:xfrm>
            <a:off x="6172200" y="3922776"/>
            <a:ext cx="521208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Sees a traffic burst. Cannot separate an OTA update from an attack worth escalating.</a:t>
            </a:r>
            <a:endParaRPr b="0" i="0" sz="1600" u="none" cap="none" strike="noStrike">
              <a:solidFill>
                <a:schemeClr val="dk1"/>
              </a:solidFill>
              <a:latin typeface="Calibri"/>
              <a:ea typeface="Calibri"/>
              <a:cs typeface="Calibri"/>
              <a:sym typeface="Calibri"/>
            </a:endParaRPr>
          </a:p>
        </p:txBody>
      </p:sp>
      <p:sp>
        <p:nvSpPr>
          <p:cNvPr id="205" name="Google Shape;205;p18"/>
          <p:cNvSpPr/>
          <p:nvPr/>
        </p:nvSpPr>
        <p:spPr>
          <a:xfrm>
            <a:off x="5897880" y="5038344"/>
            <a:ext cx="5760720" cy="1481328"/>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
          <p:cNvSpPr/>
          <p:nvPr/>
        </p:nvSpPr>
        <p:spPr>
          <a:xfrm>
            <a:off x="6172200" y="5166360"/>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700"/>
              <a:buFont typeface="Georgia"/>
              <a:buNone/>
            </a:pPr>
            <a:r>
              <a:rPr b="1" i="0" lang="en-US" sz="1700" u="none" cap="none" strike="noStrike">
                <a:solidFill>
                  <a:srgbClr val="B8932E"/>
                </a:solidFill>
                <a:latin typeface="Georgia"/>
                <a:ea typeface="Georgia"/>
                <a:cs typeface="Georgia"/>
                <a:sym typeface="Georgia"/>
              </a:rPr>
              <a:t>Fused view</a:t>
            </a:r>
            <a:endParaRPr b="0" i="0" sz="1700" u="none" cap="none" strike="noStrike">
              <a:solidFill>
                <a:schemeClr val="dk1"/>
              </a:solidFill>
              <a:latin typeface="Calibri"/>
              <a:ea typeface="Calibri"/>
              <a:cs typeface="Calibri"/>
              <a:sym typeface="Calibri"/>
            </a:endParaRPr>
          </a:p>
        </p:txBody>
      </p:sp>
      <p:sp>
        <p:nvSpPr>
          <p:cNvPr id="207" name="Google Shape;207;p18"/>
          <p:cNvSpPr/>
          <p:nvPr/>
        </p:nvSpPr>
        <p:spPr>
          <a:xfrm>
            <a:off x="9646920" y="5184648"/>
            <a:ext cx="173736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8"/>
          <p:cNvSpPr/>
          <p:nvPr/>
        </p:nvSpPr>
        <p:spPr>
          <a:xfrm>
            <a:off x="9646920" y="518464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SEES BOTH</a:t>
            </a:r>
            <a:endParaRPr b="0" i="0" sz="950" u="none" cap="none" strike="noStrike">
              <a:solidFill>
                <a:schemeClr val="dk1"/>
              </a:solidFill>
              <a:latin typeface="Calibri"/>
              <a:ea typeface="Calibri"/>
              <a:cs typeface="Calibri"/>
              <a:sym typeface="Calibri"/>
            </a:endParaRPr>
          </a:p>
        </p:txBody>
      </p:sp>
      <p:sp>
        <p:nvSpPr>
          <p:cNvPr id="209" name="Google Shape;209;p18"/>
          <p:cNvSpPr/>
          <p:nvPr/>
        </p:nvSpPr>
        <p:spPr>
          <a:xfrm>
            <a:off x="6172200" y="5550408"/>
            <a:ext cx="521208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Speed collapse at the same instant as a packet flood — the correlation is the signal.</a:t>
            </a:r>
            <a:endParaRPr b="0" i="0" sz="1600" u="none" cap="none" strike="noStrike">
              <a:solidFill>
                <a:schemeClr val="dk1"/>
              </a:solidFill>
              <a:latin typeface="Calibri"/>
              <a:ea typeface="Calibri"/>
              <a:cs typeface="Calibri"/>
              <a:sym typeface="Calibri"/>
            </a:endParaRPr>
          </a:p>
        </p:txBody>
      </p:sp>
      <p:pic>
        <p:nvPicPr>
          <p:cNvPr id="210" name="Google Shape;210;p18"/>
          <p:cNvPicPr preferRelativeResize="0"/>
          <p:nvPr/>
        </p:nvPicPr>
        <p:blipFill>
          <a:blip r:embed="rId4">
            <a:alphaModFix/>
          </a:blip>
          <a:stretch>
            <a:fillRect/>
          </a:stretch>
        </p:blipFill>
        <p:spPr>
          <a:xfrm>
            <a:off x="880900" y="2875600"/>
            <a:ext cx="4032301" cy="3020376"/>
          </a:xfrm>
          <a:prstGeom prst="rect">
            <a:avLst/>
          </a:prstGeom>
          <a:noFill/>
          <a:ln>
            <a:noFill/>
          </a:ln>
        </p:spPr>
      </p:pic>
      <p:sp>
        <p:nvSpPr>
          <p:cNvPr id="211" name="Google Shape;211;p18"/>
          <p:cNvSpPr txBox="1"/>
          <p:nvPr/>
        </p:nvSpPr>
        <p:spPr>
          <a:xfrm>
            <a:off x="287513" y="5840900"/>
            <a:ext cx="5670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000">
                <a:solidFill>
                  <a:srgbClr val="8A8A8A"/>
                </a:solidFill>
                <a:highlight>
                  <a:srgbClr val="FFFFFF"/>
                </a:highlight>
                <a:latin typeface="Calibri"/>
                <a:ea typeface="Calibri"/>
                <a:cs typeface="Calibri"/>
                <a:sym typeface="Calibri"/>
              </a:rPr>
              <a:t>Limbasiya, Trupil, et al. "A systematic survey of attack detection and prevention in connected and autonomous vehicles." Vehicular Communications 37 (2022): 100515.</a:t>
            </a:r>
            <a:r>
              <a:rPr i="1" lang="en-US" sz="1000">
                <a:solidFill>
                  <a:srgbClr val="8A8A8A"/>
                </a:solidFill>
                <a:latin typeface="Calibri"/>
                <a:ea typeface="Calibri"/>
                <a:cs typeface="Calibri"/>
                <a:sym typeface="Calibri"/>
              </a:rPr>
              <a:t> </a:t>
            </a:r>
            <a:endParaRPr i="1" sz="1000">
              <a:solidFill>
                <a:srgbClr val="8A8A8A"/>
              </a:solidFill>
              <a:latin typeface="Calibri"/>
              <a:ea typeface="Calibri"/>
              <a:cs typeface="Calibri"/>
              <a:sym typeface="Calibri"/>
            </a:endParaRPr>
          </a:p>
        </p:txBody>
      </p:sp>
      <p:sp>
        <p:nvSpPr>
          <p:cNvPr id="212" name="Google Shape;212;p18"/>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9"/>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219" name="Google Shape;219;p19"/>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220" name="Google Shape;220;p19"/>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 · MOTIVATION</a:t>
            </a:r>
            <a:endParaRPr b="0" i="0" sz="1000" u="none" cap="none" strike="noStrike">
              <a:solidFill>
                <a:schemeClr val="dk1"/>
              </a:solidFill>
              <a:latin typeface="Calibri"/>
              <a:ea typeface="Calibri"/>
              <a:cs typeface="Calibri"/>
              <a:sym typeface="Calibri"/>
            </a:endParaRPr>
          </a:p>
        </p:txBody>
      </p:sp>
      <p:sp>
        <p:nvSpPr>
          <p:cNvPr id="221" name="Google Shape;221;p19"/>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The Workshop 5.4 pipeline end to end</a:t>
            </a:r>
            <a:endParaRPr b="0" i="0" sz="3000" u="none" cap="none" strike="noStrike">
              <a:solidFill>
                <a:schemeClr val="dk1"/>
              </a:solidFill>
              <a:latin typeface="Calibri"/>
              <a:ea typeface="Calibri"/>
              <a:cs typeface="Calibri"/>
              <a:sym typeface="Calibri"/>
            </a:endParaRPr>
          </a:p>
        </p:txBody>
      </p:sp>
      <p:sp>
        <p:nvSpPr>
          <p:cNvPr id="222" name="Google Shape;222;p19"/>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MOTIVATION      </a:t>
            </a:r>
            <a:endParaRPr b="0" i="0" sz="900" u="none" cap="none" strike="noStrike">
              <a:solidFill>
                <a:schemeClr val="dk1"/>
              </a:solidFill>
              <a:latin typeface="Calibri"/>
              <a:ea typeface="Calibri"/>
              <a:cs typeface="Calibri"/>
              <a:sym typeface="Calibri"/>
            </a:endParaRPr>
          </a:p>
        </p:txBody>
      </p:sp>
      <p:sp>
        <p:nvSpPr>
          <p:cNvPr id="224" name="Google Shape;224;p19"/>
          <p:cNvSpPr/>
          <p:nvPr/>
        </p:nvSpPr>
        <p:spPr>
          <a:xfrm>
            <a:off x="640080" y="1874520"/>
            <a:ext cx="2606040" cy="27432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p:nvPr/>
        </p:nvSpPr>
        <p:spPr>
          <a:xfrm>
            <a:off x="896112" y="2084832"/>
            <a:ext cx="566928" cy="56692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9"/>
          <p:cNvSpPr/>
          <p:nvPr/>
        </p:nvSpPr>
        <p:spPr>
          <a:xfrm>
            <a:off x="896112" y="208483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01</a:t>
            </a:r>
            <a:endParaRPr b="0" i="0" sz="1400" u="none" cap="none" strike="noStrike">
              <a:solidFill>
                <a:schemeClr val="dk1"/>
              </a:solidFill>
              <a:latin typeface="Calibri"/>
              <a:ea typeface="Calibri"/>
              <a:cs typeface="Calibri"/>
              <a:sym typeface="Calibri"/>
            </a:endParaRPr>
          </a:p>
        </p:txBody>
      </p:sp>
      <p:sp>
        <p:nvSpPr>
          <p:cNvPr id="227" name="Google Shape;227;p19"/>
          <p:cNvSpPr/>
          <p:nvPr/>
        </p:nvSpPr>
        <p:spPr>
          <a:xfrm>
            <a:off x="896112" y="2788920"/>
            <a:ext cx="2148840"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Synchronization</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&amp; Preprocessing</a:t>
            </a:r>
            <a:endParaRPr b="0" i="0" sz="1700" u="none" cap="none" strike="noStrike">
              <a:solidFill>
                <a:schemeClr val="dk1"/>
              </a:solidFill>
              <a:latin typeface="Calibri"/>
              <a:ea typeface="Calibri"/>
              <a:cs typeface="Calibri"/>
              <a:sym typeface="Calibri"/>
            </a:endParaRPr>
          </a:p>
        </p:txBody>
      </p:sp>
      <p:sp>
        <p:nvSpPr>
          <p:cNvPr id="228" name="Google Shape;228;p19"/>
          <p:cNvSpPr/>
          <p:nvPr/>
        </p:nvSpPr>
        <p:spPr>
          <a:xfrm>
            <a:off x="896112" y="3657600"/>
            <a:ext cx="2148840" cy="7772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Align, label,</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normalize</a:t>
            </a:r>
            <a:endParaRPr b="0" i="0" sz="1600" u="none" cap="none" strike="noStrike">
              <a:solidFill>
                <a:schemeClr val="dk1"/>
              </a:solidFill>
              <a:latin typeface="Calibri"/>
              <a:ea typeface="Calibri"/>
              <a:cs typeface="Calibri"/>
              <a:sym typeface="Calibri"/>
            </a:endParaRPr>
          </a:p>
        </p:txBody>
      </p:sp>
      <p:sp>
        <p:nvSpPr>
          <p:cNvPr id="229" name="Google Shape;229;p19"/>
          <p:cNvSpPr/>
          <p:nvPr/>
        </p:nvSpPr>
        <p:spPr>
          <a:xfrm>
            <a:off x="594360" y="4736592"/>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100"/>
              <a:buFont typeface="Courier New"/>
              <a:buNone/>
            </a:pPr>
            <a:r>
              <a:rPr b="0" i="0" lang="en-US" sz="1100" u="none" cap="none" strike="noStrike">
                <a:solidFill>
                  <a:srgbClr val="B8932E"/>
                </a:solidFill>
                <a:latin typeface="Courier New"/>
                <a:ea typeface="Courier New"/>
                <a:cs typeface="Courier New"/>
                <a:sym typeface="Courier New"/>
              </a:rPr>
              <a:t>combined_dataset.csv</a:t>
            </a:r>
            <a:endParaRPr b="0" i="0" sz="1100" u="none" cap="none" strike="noStrike">
              <a:solidFill>
                <a:schemeClr val="dk1"/>
              </a:solidFill>
              <a:latin typeface="Calibri"/>
              <a:ea typeface="Calibri"/>
              <a:cs typeface="Calibri"/>
              <a:sym typeface="Calibri"/>
            </a:endParaRPr>
          </a:p>
        </p:txBody>
      </p:sp>
      <p:cxnSp>
        <p:nvCxnSpPr>
          <p:cNvPr id="230" name="Google Shape;230;p19"/>
          <p:cNvCxnSpPr/>
          <p:nvPr/>
        </p:nvCxnSpPr>
        <p:spPr>
          <a:xfrm>
            <a:off x="3282696" y="3246120"/>
            <a:ext cx="182880" cy="0"/>
          </a:xfrm>
          <a:prstGeom prst="straightConnector1">
            <a:avLst/>
          </a:prstGeom>
          <a:noFill/>
          <a:ln cap="flat" cmpd="sng" w="22225">
            <a:solidFill>
              <a:srgbClr val="B8932E"/>
            </a:solidFill>
            <a:prstDash val="solid"/>
            <a:round/>
            <a:headEnd len="sm" w="sm" type="none"/>
            <a:tailEnd len="med" w="med" type="triangle"/>
          </a:ln>
        </p:spPr>
      </p:cxnSp>
      <p:sp>
        <p:nvSpPr>
          <p:cNvPr id="231" name="Google Shape;231;p19"/>
          <p:cNvSpPr/>
          <p:nvPr/>
        </p:nvSpPr>
        <p:spPr>
          <a:xfrm>
            <a:off x="3502152" y="1874520"/>
            <a:ext cx="2606040" cy="27432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3758184" y="2084832"/>
            <a:ext cx="566928" cy="56692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
          <p:cNvSpPr/>
          <p:nvPr/>
        </p:nvSpPr>
        <p:spPr>
          <a:xfrm>
            <a:off x="3758184" y="208483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02</a:t>
            </a:r>
            <a:endParaRPr b="0" i="0" sz="1400" u="none" cap="none" strike="noStrike">
              <a:solidFill>
                <a:schemeClr val="dk1"/>
              </a:solidFill>
              <a:latin typeface="Calibri"/>
              <a:ea typeface="Calibri"/>
              <a:cs typeface="Calibri"/>
              <a:sym typeface="Calibri"/>
            </a:endParaRPr>
          </a:p>
        </p:txBody>
      </p:sp>
      <p:sp>
        <p:nvSpPr>
          <p:cNvPr id="234" name="Google Shape;234;p19"/>
          <p:cNvSpPr/>
          <p:nvPr/>
        </p:nvSpPr>
        <p:spPr>
          <a:xfrm>
            <a:off x="3758184" y="2788920"/>
            <a:ext cx="2148840"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Multimodal</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Edge AI Model</a:t>
            </a:r>
            <a:endParaRPr b="0" i="0" sz="1700" u="none" cap="none" strike="noStrike">
              <a:solidFill>
                <a:schemeClr val="dk1"/>
              </a:solidFill>
              <a:latin typeface="Calibri"/>
              <a:ea typeface="Calibri"/>
              <a:cs typeface="Calibri"/>
              <a:sym typeface="Calibri"/>
            </a:endParaRPr>
          </a:p>
        </p:txBody>
      </p:sp>
      <p:sp>
        <p:nvSpPr>
          <p:cNvPr id="235" name="Google Shape;235;p19"/>
          <p:cNvSpPr/>
          <p:nvPr/>
        </p:nvSpPr>
        <p:spPr>
          <a:xfrm>
            <a:off x="3758184" y="3657600"/>
            <a:ext cx="2148840" cy="7772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Dual-branch net,</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attention fusion</a:t>
            </a:r>
            <a:endParaRPr b="0" i="0" sz="1600" u="none" cap="none" strike="noStrike">
              <a:solidFill>
                <a:schemeClr val="dk1"/>
              </a:solidFill>
              <a:latin typeface="Calibri"/>
              <a:ea typeface="Calibri"/>
              <a:cs typeface="Calibri"/>
              <a:sym typeface="Calibri"/>
            </a:endParaRPr>
          </a:p>
        </p:txBody>
      </p:sp>
      <p:sp>
        <p:nvSpPr>
          <p:cNvPr id="236" name="Google Shape;236;p19"/>
          <p:cNvSpPr/>
          <p:nvPr/>
        </p:nvSpPr>
        <p:spPr>
          <a:xfrm>
            <a:off x="3456432" y="4736592"/>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100"/>
              <a:buFont typeface="Courier New"/>
              <a:buNone/>
            </a:pPr>
            <a:r>
              <a:rPr b="0" i="0" lang="en-US" sz="1100" u="none" cap="none" strike="noStrike">
                <a:solidFill>
                  <a:srgbClr val="B8932E"/>
                </a:solidFill>
                <a:latin typeface="Courier New"/>
                <a:ea typeface="Courier New"/>
                <a:cs typeface="Courier New"/>
                <a:sym typeface="Courier New"/>
              </a:rPr>
              <a:t>best_improved_model.pth</a:t>
            </a:r>
            <a:endParaRPr b="0" i="0" sz="1100" u="none" cap="none" strike="noStrike">
              <a:solidFill>
                <a:schemeClr val="dk1"/>
              </a:solidFill>
              <a:latin typeface="Calibri"/>
              <a:ea typeface="Calibri"/>
              <a:cs typeface="Calibri"/>
              <a:sym typeface="Calibri"/>
            </a:endParaRPr>
          </a:p>
        </p:txBody>
      </p:sp>
      <p:cxnSp>
        <p:nvCxnSpPr>
          <p:cNvPr id="237" name="Google Shape;237;p19"/>
          <p:cNvCxnSpPr/>
          <p:nvPr/>
        </p:nvCxnSpPr>
        <p:spPr>
          <a:xfrm>
            <a:off x="6144768" y="3246120"/>
            <a:ext cx="182880" cy="0"/>
          </a:xfrm>
          <a:prstGeom prst="straightConnector1">
            <a:avLst/>
          </a:prstGeom>
          <a:noFill/>
          <a:ln cap="flat" cmpd="sng" w="22225">
            <a:solidFill>
              <a:srgbClr val="B8932E"/>
            </a:solidFill>
            <a:prstDash val="solid"/>
            <a:round/>
            <a:headEnd len="sm" w="sm" type="none"/>
            <a:tailEnd len="med" w="med" type="triangle"/>
          </a:ln>
        </p:spPr>
      </p:cxnSp>
      <p:sp>
        <p:nvSpPr>
          <p:cNvPr id="238" name="Google Shape;238;p19"/>
          <p:cNvSpPr/>
          <p:nvPr/>
        </p:nvSpPr>
        <p:spPr>
          <a:xfrm>
            <a:off x="6364224" y="1874520"/>
            <a:ext cx="2606040" cy="27432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9"/>
          <p:cNvSpPr/>
          <p:nvPr/>
        </p:nvSpPr>
        <p:spPr>
          <a:xfrm>
            <a:off x="6620256" y="2084832"/>
            <a:ext cx="566928" cy="56692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9"/>
          <p:cNvSpPr/>
          <p:nvPr/>
        </p:nvSpPr>
        <p:spPr>
          <a:xfrm>
            <a:off x="6620256" y="208483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03</a:t>
            </a:r>
            <a:endParaRPr b="0" i="0" sz="1400" u="none" cap="none" strike="noStrike">
              <a:solidFill>
                <a:schemeClr val="dk1"/>
              </a:solidFill>
              <a:latin typeface="Calibri"/>
              <a:ea typeface="Calibri"/>
              <a:cs typeface="Calibri"/>
              <a:sym typeface="Calibri"/>
            </a:endParaRPr>
          </a:p>
        </p:txBody>
      </p:sp>
      <p:sp>
        <p:nvSpPr>
          <p:cNvPr id="241" name="Google Shape;241;p19"/>
          <p:cNvSpPr/>
          <p:nvPr/>
        </p:nvSpPr>
        <p:spPr>
          <a:xfrm>
            <a:off x="6620256" y="2788920"/>
            <a:ext cx="2148840"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Real-Time</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Inference</a:t>
            </a:r>
            <a:endParaRPr b="0" i="0" sz="1700" u="none" cap="none" strike="noStrike">
              <a:solidFill>
                <a:schemeClr val="dk1"/>
              </a:solidFill>
              <a:latin typeface="Calibri"/>
              <a:ea typeface="Calibri"/>
              <a:cs typeface="Calibri"/>
              <a:sym typeface="Calibri"/>
            </a:endParaRPr>
          </a:p>
        </p:txBody>
      </p:sp>
      <p:sp>
        <p:nvSpPr>
          <p:cNvPr id="242" name="Google Shape;242;p19"/>
          <p:cNvSpPr/>
          <p:nvPr/>
        </p:nvSpPr>
        <p:spPr>
          <a:xfrm>
            <a:off x="6620256" y="3657600"/>
            <a:ext cx="2148840" cy="7772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Streaming loop,</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confidence gating</a:t>
            </a:r>
            <a:endParaRPr b="0" i="0" sz="1600" u="none" cap="none" strike="noStrike">
              <a:solidFill>
                <a:schemeClr val="dk1"/>
              </a:solidFill>
              <a:latin typeface="Calibri"/>
              <a:ea typeface="Calibri"/>
              <a:cs typeface="Calibri"/>
              <a:sym typeface="Calibri"/>
            </a:endParaRPr>
          </a:p>
        </p:txBody>
      </p:sp>
      <p:sp>
        <p:nvSpPr>
          <p:cNvPr id="243" name="Google Shape;243;p19"/>
          <p:cNvSpPr/>
          <p:nvPr/>
        </p:nvSpPr>
        <p:spPr>
          <a:xfrm>
            <a:off x="6318504" y="4736592"/>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100"/>
              <a:buFont typeface="Courier New"/>
              <a:buNone/>
            </a:pPr>
            <a:r>
              <a:rPr b="0" i="0" lang="en-US" sz="1100" u="none" cap="none" strike="noStrike">
                <a:solidFill>
                  <a:srgbClr val="B8932E"/>
                </a:solidFill>
                <a:latin typeface="Courier New"/>
                <a:ea typeface="Courier New"/>
                <a:cs typeface="Courier New"/>
                <a:sym typeface="Courier New"/>
              </a:rPr>
              <a:t>alerts_log.csv</a:t>
            </a:r>
            <a:endParaRPr b="0" i="0" sz="1100" u="none" cap="none" strike="noStrike">
              <a:solidFill>
                <a:schemeClr val="dk1"/>
              </a:solidFill>
              <a:latin typeface="Calibri"/>
              <a:ea typeface="Calibri"/>
              <a:cs typeface="Calibri"/>
              <a:sym typeface="Calibri"/>
            </a:endParaRPr>
          </a:p>
        </p:txBody>
      </p:sp>
      <p:cxnSp>
        <p:nvCxnSpPr>
          <p:cNvPr id="244" name="Google Shape;244;p19"/>
          <p:cNvCxnSpPr/>
          <p:nvPr/>
        </p:nvCxnSpPr>
        <p:spPr>
          <a:xfrm>
            <a:off x="9006840" y="3246120"/>
            <a:ext cx="182880" cy="0"/>
          </a:xfrm>
          <a:prstGeom prst="straightConnector1">
            <a:avLst/>
          </a:prstGeom>
          <a:noFill/>
          <a:ln cap="flat" cmpd="sng" w="22225">
            <a:solidFill>
              <a:srgbClr val="B8932E"/>
            </a:solidFill>
            <a:prstDash val="solid"/>
            <a:round/>
            <a:headEnd len="sm" w="sm" type="none"/>
            <a:tailEnd len="med" w="med" type="triangle"/>
          </a:ln>
        </p:spPr>
      </p:cxnSp>
      <p:sp>
        <p:nvSpPr>
          <p:cNvPr id="245" name="Google Shape;245;p19"/>
          <p:cNvSpPr/>
          <p:nvPr/>
        </p:nvSpPr>
        <p:spPr>
          <a:xfrm>
            <a:off x="9226296" y="1874520"/>
            <a:ext cx="2606040" cy="27432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9482328" y="2084832"/>
            <a:ext cx="566928" cy="566928"/>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9482328" y="208483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04</a:t>
            </a:r>
            <a:endParaRPr b="0" i="0" sz="1400" u="none" cap="none" strike="noStrike">
              <a:solidFill>
                <a:schemeClr val="dk1"/>
              </a:solidFill>
              <a:latin typeface="Calibri"/>
              <a:ea typeface="Calibri"/>
              <a:cs typeface="Calibri"/>
              <a:sym typeface="Calibri"/>
            </a:endParaRPr>
          </a:p>
        </p:txBody>
      </p:sp>
      <p:sp>
        <p:nvSpPr>
          <p:cNvPr id="248" name="Google Shape;248;p19"/>
          <p:cNvSpPr/>
          <p:nvPr/>
        </p:nvSpPr>
        <p:spPr>
          <a:xfrm>
            <a:off x="9482328" y="2788920"/>
            <a:ext cx="2148840"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Autonomous</a:t>
            </a:r>
            <a:endParaRPr b="0" i="0" sz="1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Response</a:t>
            </a:r>
            <a:endParaRPr b="0" i="0" sz="1700" u="none" cap="none" strike="noStrike">
              <a:solidFill>
                <a:schemeClr val="dk1"/>
              </a:solidFill>
              <a:latin typeface="Calibri"/>
              <a:ea typeface="Calibri"/>
              <a:cs typeface="Calibri"/>
              <a:sym typeface="Calibri"/>
            </a:endParaRPr>
          </a:p>
        </p:txBody>
      </p:sp>
      <p:sp>
        <p:nvSpPr>
          <p:cNvPr id="249" name="Google Shape;249;p19"/>
          <p:cNvSpPr/>
          <p:nvPr/>
        </p:nvSpPr>
        <p:spPr>
          <a:xfrm>
            <a:off x="9482328" y="3657600"/>
            <a:ext cx="2148840" cy="7772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Decision engine,</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vehicle actuation</a:t>
            </a:r>
            <a:endParaRPr b="0" i="0" sz="1600" u="none" cap="none" strike="noStrike">
              <a:solidFill>
                <a:schemeClr val="dk1"/>
              </a:solidFill>
              <a:latin typeface="Calibri"/>
              <a:ea typeface="Calibri"/>
              <a:cs typeface="Calibri"/>
              <a:sym typeface="Calibri"/>
            </a:endParaRPr>
          </a:p>
        </p:txBody>
      </p:sp>
      <p:sp>
        <p:nvSpPr>
          <p:cNvPr id="250" name="Google Shape;250;p19"/>
          <p:cNvSpPr/>
          <p:nvPr/>
        </p:nvSpPr>
        <p:spPr>
          <a:xfrm>
            <a:off x="9180576" y="4736592"/>
            <a:ext cx="2697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100"/>
              <a:buFont typeface="Courier New"/>
              <a:buNone/>
            </a:pPr>
            <a:r>
              <a:rPr b="0" i="0" lang="en-US" sz="1100" u="none" cap="none" strike="noStrike">
                <a:solidFill>
                  <a:srgbClr val="B8932E"/>
                </a:solidFill>
                <a:latin typeface="Courier New"/>
                <a:ea typeface="Courier New"/>
                <a:cs typeface="Courier New"/>
                <a:sym typeface="Courier New"/>
              </a:rPr>
              <a:t>response_log.csv</a:t>
            </a:r>
            <a:endParaRPr b="0" i="0" sz="1100" u="none" cap="none" strike="noStrike">
              <a:solidFill>
                <a:schemeClr val="dk1"/>
              </a:solidFill>
              <a:latin typeface="Calibri"/>
              <a:ea typeface="Calibri"/>
              <a:cs typeface="Calibri"/>
              <a:sym typeface="Calibri"/>
            </a:endParaRPr>
          </a:p>
        </p:txBody>
      </p:sp>
      <p:sp>
        <p:nvSpPr>
          <p:cNvPr id="251" name="Google Shape;251;p19"/>
          <p:cNvSpPr/>
          <p:nvPr/>
        </p:nvSpPr>
        <p:spPr>
          <a:xfrm>
            <a:off x="640080" y="5257800"/>
            <a:ext cx="11018520" cy="96012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914400" y="5257800"/>
            <a:ext cx="10424160" cy="9601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Contract between stages:  </a:t>
            </a:r>
            <a:r>
              <a:rPr b="0" i="0" lang="en-US" sz="1600" u="none" cap="none" strike="noStrike">
                <a:solidFill>
                  <a:srgbClr val="4A4A4A"/>
                </a:solidFill>
                <a:latin typeface="Calibri"/>
                <a:ea typeface="Calibri"/>
                <a:cs typeface="Calibri"/>
                <a:sym typeface="Calibri"/>
              </a:rPr>
              <a:t>each notebook consumes the artifact the previous one wrote. Run 01 → 04 in order — the feature order and scaler fitted in Notebook 01 must match what Notebook 03 sees at inference time.</a:t>
            </a:r>
            <a:endParaRPr b="0" i="0" sz="1600" u="none" cap="none" strike="noStrike">
              <a:solidFill>
                <a:schemeClr val="dk1"/>
              </a:solidFill>
              <a:latin typeface="Calibri"/>
              <a:ea typeface="Calibri"/>
              <a:cs typeface="Calibri"/>
              <a:sym typeface="Calibri"/>
            </a:endParaRPr>
          </a:p>
        </p:txBody>
      </p:sp>
      <p:sp>
        <p:nvSpPr>
          <p:cNvPr id="253" name="Google Shape;253;p19"/>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258" name="Shape 258"/>
        <p:cNvGrpSpPr/>
        <p:nvPr/>
      </p:nvGrpSpPr>
      <p:grpSpPr>
        <a:xfrm>
          <a:off x="0" y="0"/>
          <a:ext cx="0" cy="0"/>
          <a:chOff x="0" y="0"/>
          <a:chExt cx="0" cy="0"/>
        </a:xfrm>
      </p:grpSpPr>
      <p:sp>
        <p:nvSpPr>
          <p:cNvPr id="259" name="Google Shape;259;p20"/>
          <p:cNvSpPr/>
          <p:nvPr/>
        </p:nvSpPr>
        <p:spPr>
          <a:xfrm>
            <a:off x="777240" y="21945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8932E"/>
              </a:buClr>
              <a:buSzPts val="1300"/>
              <a:buFont typeface="Arial"/>
              <a:buNone/>
            </a:pPr>
            <a:r>
              <a:rPr b="1" i="0" lang="en-US" sz="1300" u="none" cap="none" strike="noStrike">
                <a:solidFill>
                  <a:srgbClr val="B8932E"/>
                </a:solidFill>
                <a:latin typeface="Arial"/>
                <a:ea typeface="Arial"/>
                <a:cs typeface="Arial"/>
                <a:sym typeface="Arial"/>
              </a:rPr>
              <a:t>MODULE 5.</a:t>
            </a:r>
            <a:r>
              <a:rPr b="1" lang="en-US" sz="1300">
                <a:solidFill>
                  <a:srgbClr val="B8932E"/>
                </a:solidFill>
              </a:rPr>
              <a:t>4</a:t>
            </a:r>
            <a:r>
              <a:rPr b="1" i="0" lang="en-US" sz="1300" u="none" cap="none" strike="noStrike">
                <a:solidFill>
                  <a:srgbClr val="B8932E"/>
                </a:solidFill>
                <a:latin typeface="Arial"/>
                <a:ea typeface="Arial"/>
                <a:cs typeface="Arial"/>
                <a:sym typeface="Arial"/>
              </a:rPr>
              <a:t>   ·   TOPIC </a:t>
            </a:r>
            <a:r>
              <a:rPr b="1" lang="en-US" sz="1300">
                <a:solidFill>
                  <a:srgbClr val="B8932E"/>
                </a:solidFill>
              </a:rPr>
              <a:t>1</a:t>
            </a:r>
            <a:r>
              <a:rPr b="1" i="0" lang="en-US" sz="1300" u="none" cap="none" strike="noStrike">
                <a:solidFill>
                  <a:srgbClr val="B8932E"/>
                </a:solidFill>
                <a:latin typeface="Arial"/>
                <a:ea typeface="Arial"/>
                <a:cs typeface="Arial"/>
                <a:sym typeface="Arial"/>
              </a:rPr>
              <a:t>  </a:t>
            </a:r>
            <a:endParaRPr b="0" i="0" sz="1300" u="none" cap="none" strike="noStrike">
              <a:solidFill>
                <a:schemeClr val="dk1"/>
              </a:solidFill>
              <a:latin typeface="Calibri"/>
              <a:ea typeface="Calibri"/>
              <a:cs typeface="Calibri"/>
              <a:sym typeface="Calibri"/>
            </a:endParaRPr>
          </a:p>
        </p:txBody>
      </p:sp>
      <p:sp>
        <p:nvSpPr>
          <p:cNvPr id="260" name="Google Shape;260;p20"/>
          <p:cNvSpPr/>
          <p:nvPr/>
        </p:nvSpPr>
        <p:spPr>
          <a:xfrm>
            <a:off x="731520" y="2560320"/>
            <a:ext cx="96012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Georgia"/>
              <a:buNone/>
            </a:pPr>
            <a:r>
              <a:rPr b="1" lang="en-US" sz="4600">
                <a:solidFill>
                  <a:srgbClr val="FFFFFF"/>
                </a:solidFill>
                <a:latin typeface="Georgia"/>
                <a:ea typeface="Georgia"/>
                <a:cs typeface="Georgia"/>
                <a:sym typeface="Georgia"/>
              </a:rPr>
              <a:t>Data Synchronization &amp; Preprocessing</a:t>
            </a:r>
            <a:endParaRPr b="1" sz="4600">
              <a:solidFill>
                <a:srgbClr val="FFFFFF"/>
              </a:solidFill>
              <a:latin typeface="Georgia"/>
              <a:ea typeface="Georgia"/>
              <a:cs typeface="Georgia"/>
              <a:sym typeface="Georgia"/>
            </a:endParaRPr>
          </a:p>
        </p:txBody>
      </p:sp>
      <p:sp>
        <p:nvSpPr>
          <p:cNvPr id="261" name="Google Shape;261;p20"/>
          <p:cNvSpPr/>
          <p:nvPr/>
        </p:nvSpPr>
        <p:spPr>
          <a:xfrm>
            <a:off x="786384" y="4370832"/>
            <a:ext cx="914400" cy="549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0"/>
          <p:cNvSpPr/>
          <p:nvPr/>
        </p:nvSpPr>
        <p:spPr>
          <a:xfrm>
            <a:off x="786384" y="4526280"/>
            <a:ext cx="914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C5BC"/>
              </a:buClr>
              <a:buSzPts val="1500"/>
              <a:buFont typeface="Calibri"/>
              <a:buNone/>
            </a:pPr>
            <a:r>
              <a:t/>
            </a:r>
            <a:endParaRPr b="0" i="0" sz="1500" u="none" cap="none" strike="noStrike">
              <a:solidFill>
                <a:schemeClr val="dk1"/>
              </a:solidFill>
              <a:latin typeface="Calibri"/>
              <a:ea typeface="Calibri"/>
              <a:cs typeface="Calibri"/>
              <a:sym typeface="Calibri"/>
            </a:endParaRPr>
          </a:p>
        </p:txBody>
      </p:sp>
      <p:pic>
        <p:nvPicPr>
          <p:cNvPr descr="assets/ou_logo.png" id="263" name="Google Shape;263;p20"/>
          <p:cNvPicPr preferRelativeResize="0"/>
          <p:nvPr/>
        </p:nvPicPr>
        <p:blipFill rotWithShape="1">
          <a:blip r:embed="rId3">
            <a:alphaModFix/>
          </a:blip>
          <a:srcRect b="0" l="0" r="0" t="0"/>
          <a:stretch/>
        </p:blipFill>
        <p:spPr>
          <a:xfrm>
            <a:off x="9189720" y="384048"/>
            <a:ext cx="713232" cy="685801"/>
          </a:xfrm>
          <a:prstGeom prst="rect">
            <a:avLst/>
          </a:prstGeom>
          <a:noFill/>
          <a:ln>
            <a:noFill/>
          </a:ln>
        </p:spPr>
      </p:pic>
      <p:pic>
        <p:nvPicPr>
          <p:cNvPr descr="assets/nsf_logo.png" id="264" name="Google Shape;264;p20"/>
          <p:cNvPicPr preferRelativeResize="0"/>
          <p:nvPr/>
        </p:nvPicPr>
        <p:blipFill rotWithShape="1">
          <a:blip r:embed="rId4">
            <a:alphaModFix/>
          </a:blip>
          <a:srcRect b="0" l="0" r="0" t="0"/>
          <a:stretch/>
        </p:blipFill>
        <p:spPr>
          <a:xfrm>
            <a:off x="10012680" y="384048"/>
            <a:ext cx="685800" cy="685800"/>
          </a:xfrm>
          <a:prstGeom prst="rect">
            <a:avLst/>
          </a:prstGeom>
          <a:noFill/>
          <a:ln>
            <a:noFill/>
          </a:ln>
        </p:spPr>
      </p:pic>
      <p:pic>
        <p:nvPicPr>
          <p:cNvPr descr="assets/wpi_logo.png" id="265" name="Google Shape;265;p20"/>
          <p:cNvPicPr preferRelativeResize="0"/>
          <p:nvPr/>
        </p:nvPicPr>
        <p:blipFill rotWithShape="1">
          <a:blip r:embed="rId5">
            <a:alphaModFix/>
          </a:blip>
          <a:srcRect b="0" l="0" r="0" t="0"/>
          <a:stretch/>
        </p:blipFill>
        <p:spPr>
          <a:xfrm>
            <a:off x="10789920" y="566928"/>
            <a:ext cx="1078991" cy="438912"/>
          </a:xfrm>
          <a:prstGeom prst="rect">
            <a:avLst/>
          </a:prstGeom>
          <a:noFill/>
          <a:ln>
            <a:noFill/>
          </a:ln>
        </p:spPr>
      </p:pic>
      <p:sp>
        <p:nvSpPr>
          <p:cNvPr id="266" name="Google Shape;266;p20"/>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1"/>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273" name="Google Shape;273;p21"/>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274" name="Google Shape;274;p21"/>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PART 1  ·  NOTEBOOK 01</a:t>
            </a:r>
            <a:endParaRPr b="0" i="0" sz="1000" u="none" cap="none" strike="noStrike">
              <a:solidFill>
                <a:schemeClr val="dk1"/>
              </a:solidFill>
              <a:latin typeface="Calibri"/>
              <a:ea typeface="Calibri"/>
              <a:cs typeface="Calibri"/>
              <a:sym typeface="Calibri"/>
            </a:endParaRPr>
          </a:p>
        </p:txBody>
      </p:sp>
      <p:sp>
        <p:nvSpPr>
          <p:cNvPr id="275" name="Google Shape;275;p21"/>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Data Synchronization &amp; Preprocessing</a:t>
            </a:r>
            <a:endParaRPr b="0" i="0" sz="3000" u="none" cap="none" strike="noStrike">
              <a:solidFill>
                <a:schemeClr val="dk1"/>
              </a:solidFill>
              <a:latin typeface="Calibri"/>
              <a:ea typeface="Calibri"/>
              <a:cs typeface="Calibri"/>
              <a:sym typeface="Calibri"/>
            </a:endParaRPr>
          </a:p>
        </p:txBody>
      </p:sp>
      <p:sp>
        <p:nvSpPr>
          <p:cNvPr id="276" name="Google Shape;276;p21"/>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1"/>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278" name="Google Shape;278;p21"/>
          <p:cNvSpPr/>
          <p:nvPr/>
        </p:nvSpPr>
        <p:spPr>
          <a:xfrm>
            <a:off x="8138160" y="1737360"/>
            <a:ext cx="3566160" cy="32918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2EEE2"/>
              </a:buClr>
              <a:buSzPts val="20000"/>
              <a:buFont typeface="Georgia"/>
              <a:buNone/>
            </a:pPr>
            <a:r>
              <a:rPr b="1" i="0" lang="en-US" sz="20000" u="none" cap="none" strike="noStrike">
                <a:solidFill>
                  <a:srgbClr val="F2EEE2"/>
                </a:solidFill>
                <a:latin typeface="Georgia"/>
                <a:ea typeface="Georgia"/>
                <a:cs typeface="Georgia"/>
                <a:sym typeface="Georgia"/>
              </a:rPr>
              <a:t>01</a:t>
            </a:r>
            <a:endParaRPr b="0" i="0" sz="20000" u="none" cap="none" strike="noStrike">
              <a:solidFill>
                <a:schemeClr val="dk1"/>
              </a:solidFill>
              <a:latin typeface="Calibri"/>
              <a:ea typeface="Calibri"/>
              <a:cs typeface="Calibri"/>
              <a:sym typeface="Calibri"/>
            </a:endParaRPr>
          </a:p>
        </p:txBody>
      </p:sp>
      <p:sp>
        <p:nvSpPr>
          <p:cNvPr id="279" name="Google Shape;279;p21"/>
          <p:cNvSpPr/>
          <p:nvPr/>
        </p:nvSpPr>
        <p:spPr>
          <a:xfrm>
            <a:off x="640080" y="182880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Georgia"/>
              <a:buNone/>
            </a:pPr>
            <a:r>
              <a:rPr b="1" i="0" lang="en-US" sz="2000" u="none" cap="none" strike="noStrike">
                <a:solidFill>
                  <a:srgbClr val="1A1A1A"/>
                </a:solidFill>
                <a:latin typeface="Georgia"/>
                <a:ea typeface="Georgia"/>
                <a:cs typeface="Georgia"/>
                <a:sym typeface="Georgia"/>
              </a:rPr>
              <a:t>Objective</a:t>
            </a:r>
            <a:endParaRPr b="0" i="0" sz="2000" u="none" cap="none" strike="noStrike">
              <a:solidFill>
                <a:schemeClr val="dk1"/>
              </a:solidFill>
              <a:latin typeface="Calibri"/>
              <a:ea typeface="Calibri"/>
              <a:cs typeface="Calibri"/>
              <a:sym typeface="Calibri"/>
            </a:endParaRPr>
          </a:p>
        </p:txBody>
      </p:sp>
      <p:sp>
        <p:nvSpPr>
          <p:cNvPr id="280" name="Google Shape;280;p21"/>
          <p:cNvSpPr/>
          <p:nvPr/>
        </p:nvSpPr>
        <p:spPr>
          <a:xfrm>
            <a:off x="640080" y="2267712"/>
            <a:ext cx="694944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Turn two unsynchronized, differently-shaped streams into one labeled feature table an edge model can train on.</a:t>
            </a:r>
            <a:endParaRPr b="0" i="0" sz="1600" u="none" cap="none" strike="noStrike">
              <a:solidFill>
                <a:schemeClr val="dk1"/>
              </a:solidFill>
              <a:latin typeface="Calibri"/>
              <a:ea typeface="Calibri"/>
              <a:cs typeface="Calibri"/>
              <a:sym typeface="Calibri"/>
            </a:endParaRPr>
          </a:p>
        </p:txBody>
      </p:sp>
      <p:sp>
        <p:nvSpPr>
          <p:cNvPr id="281" name="Google Shape;281;p21"/>
          <p:cNvSpPr/>
          <p:nvPr/>
        </p:nvSpPr>
        <p:spPr>
          <a:xfrm>
            <a:off x="640080" y="3182112"/>
            <a:ext cx="411480" cy="27432"/>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
          <p:cNvSpPr/>
          <p:nvPr/>
        </p:nvSpPr>
        <p:spPr>
          <a:xfrm>
            <a:off x="640080" y="3456432"/>
            <a:ext cx="6949440" cy="23774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Learning goals</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Why fusion is hard: rate, format and precision all differ</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Synchronize streams with a bounded-tolerance rule</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Repair, encode and scale each modality on its own terms</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Produce a balanced, leakage-aware dataset</a:t>
            </a:r>
            <a:endParaRPr b="0" i="0" sz="1800" u="none" cap="none" strike="noStrike">
              <a:solidFill>
                <a:schemeClr val="dk1"/>
              </a:solidFill>
              <a:latin typeface="Calibri"/>
              <a:ea typeface="Calibri"/>
              <a:cs typeface="Calibri"/>
              <a:sym typeface="Calibri"/>
            </a:endParaRPr>
          </a:p>
        </p:txBody>
      </p:sp>
      <p:sp>
        <p:nvSpPr>
          <p:cNvPr id="283" name="Google Shape;283;p21"/>
          <p:cNvSpPr/>
          <p:nvPr/>
        </p:nvSpPr>
        <p:spPr>
          <a:xfrm>
            <a:off x="640080" y="5989320"/>
            <a:ext cx="7680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150"/>
              <a:buFont typeface="Courier New"/>
              <a:buNone/>
            </a:pPr>
            <a:r>
              <a:rPr b="0" i="0" lang="en-US" sz="1150" u="none" cap="none" strike="noStrike">
                <a:solidFill>
                  <a:srgbClr val="8A8A8A"/>
                </a:solidFill>
                <a:latin typeface="Courier New"/>
                <a:ea typeface="Courier New"/>
                <a:cs typeface="Courier New"/>
                <a:sym typeface="Courier New"/>
              </a:rPr>
              <a:t>≈ 45 minutes  ·  01_data_fusion_and_preprocessing.ipynb</a:t>
            </a:r>
            <a:endParaRPr b="0" i="0" sz="1150" u="none" cap="none" strike="noStrike">
              <a:solidFill>
                <a:schemeClr val="dk1"/>
              </a:solidFill>
              <a:latin typeface="Calibri"/>
              <a:ea typeface="Calibri"/>
              <a:cs typeface="Calibri"/>
              <a:sym typeface="Calibri"/>
            </a:endParaRPr>
          </a:p>
        </p:txBody>
      </p:sp>
      <p:sp>
        <p:nvSpPr>
          <p:cNvPr id="284" name="Google Shape;284;p21"/>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22"/>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291" name="Google Shape;291;p22"/>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292" name="Google Shape;292;p22"/>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 · METHOD</a:t>
            </a:r>
            <a:endParaRPr b="0" i="0" sz="1000" u="none" cap="none" strike="noStrike">
              <a:solidFill>
                <a:schemeClr val="dk1"/>
              </a:solidFill>
              <a:latin typeface="Calibri"/>
              <a:ea typeface="Calibri"/>
              <a:cs typeface="Calibri"/>
              <a:sym typeface="Calibri"/>
            </a:endParaRPr>
          </a:p>
        </p:txBody>
      </p:sp>
      <p:sp>
        <p:nvSpPr>
          <p:cNvPr id="293" name="Google Shape;293;p22"/>
          <p:cNvSpPr/>
          <p:nvPr/>
        </p:nvSpPr>
        <p:spPr>
          <a:xfrm>
            <a:off x="548640" y="566928"/>
            <a:ext cx="104241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Where do </a:t>
            </a:r>
            <a:r>
              <a:rPr b="1" lang="en-US" sz="3000">
                <a:solidFill>
                  <a:srgbClr val="1A1A1A"/>
                </a:solidFill>
                <a:latin typeface="Georgia"/>
                <a:ea typeface="Georgia"/>
                <a:cs typeface="Georgia"/>
                <a:sym typeface="Georgia"/>
              </a:rPr>
              <a:t>we</a:t>
            </a:r>
            <a:r>
              <a:rPr b="1" i="0" lang="en-US" sz="3000" u="none" cap="none" strike="noStrike">
                <a:solidFill>
                  <a:srgbClr val="1A1A1A"/>
                </a:solidFill>
                <a:latin typeface="Georgia"/>
                <a:ea typeface="Georgia"/>
                <a:cs typeface="Georgia"/>
                <a:sym typeface="Georgia"/>
              </a:rPr>
              <a:t> fuse?</a:t>
            </a:r>
            <a:endParaRPr b="0" i="0" sz="3000" u="none" cap="none" strike="noStrike">
              <a:solidFill>
                <a:schemeClr val="dk1"/>
              </a:solidFill>
              <a:latin typeface="Calibri"/>
              <a:ea typeface="Calibri"/>
              <a:cs typeface="Calibri"/>
              <a:sym typeface="Calibri"/>
            </a:endParaRPr>
          </a:p>
        </p:txBody>
      </p:sp>
      <p:sp>
        <p:nvSpPr>
          <p:cNvPr id="294" name="Google Shape;294;p22"/>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296" name="Google Shape;296;p22"/>
          <p:cNvSpPr/>
          <p:nvPr/>
        </p:nvSpPr>
        <p:spPr>
          <a:xfrm>
            <a:off x="640080" y="1783080"/>
            <a:ext cx="3520500" cy="36576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896112" y="1975104"/>
            <a:ext cx="1143000" cy="255900"/>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2"/>
          <p:cNvSpPr/>
          <p:nvPr/>
        </p:nvSpPr>
        <p:spPr>
          <a:xfrm>
            <a:off x="896112" y="1975104"/>
            <a:ext cx="1143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EARLY</a:t>
            </a:r>
            <a:endParaRPr b="0" i="0" sz="950" u="none" cap="none" strike="noStrike">
              <a:solidFill>
                <a:schemeClr val="dk1"/>
              </a:solidFill>
              <a:latin typeface="Calibri"/>
              <a:ea typeface="Calibri"/>
              <a:cs typeface="Calibri"/>
              <a:sym typeface="Calibri"/>
            </a:endParaRPr>
          </a:p>
        </p:txBody>
      </p:sp>
      <p:sp>
        <p:nvSpPr>
          <p:cNvPr id="299" name="Google Shape;299;p22"/>
          <p:cNvSpPr/>
          <p:nvPr/>
        </p:nvSpPr>
        <p:spPr>
          <a:xfrm>
            <a:off x="896112" y="2340864"/>
            <a:ext cx="3017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Feature-level</a:t>
            </a:r>
            <a:endParaRPr b="0" i="0" sz="1800" u="none" cap="none" strike="noStrike">
              <a:solidFill>
                <a:schemeClr val="dk1"/>
              </a:solidFill>
              <a:latin typeface="Calibri"/>
              <a:ea typeface="Calibri"/>
              <a:cs typeface="Calibri"/>
              <a:sym typeface="Calibri"/>
            </a:endParaRPr>
          </a:p>
        </p:txBody>
      </p:sp>
      <p:sp>
        <p:nvSpPr>
          <p:cNvPr id="300" name="Google Shape;300;p22"/>
          <p:cNvSpPr/>
          <p:nvPr/>
        </p:nvSpPr>
        <p:spPr>
          <a:xfrm>
            <a:off x="896112" y="2743200"/>
            <a:ext cx="3017400" cy="105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Concatenate features into one vector, train a single model.</a:t>
            </a:r>
            <a:endParaRPr b="0" i="0" sz="1600" u="none" cap="none" strike="noStrike">
              <a:solidFill>
                <a:schemeClr val="dk1"/>
              </a:solidFill>
              <a:latin typeface="Calibri"/>
              <a:ea typeface="Calibri"/>
              <a:cs typeface="Calibri"/>
              <a:sym typeface="Calibri"/>
            </a:endParaRPr>
          </a:p>
        </p:txBody>
      </p:sp>
      <p:sp>
        <p:nvSpPr>
          <p:cNvPr id="301" name="Google Shape;301;p22"/>
          <p:cNvSpPr/>
          <p:nvPr/>
        </p:nvSpPr>
        <p:spPr>
          <a:xfrm>
            <a:off x="896112" y="3886200"/>
            <a:ext cx="3017400" cy="148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6B4A"/>
              </a:buClr>
              <a:buSzPts val="1600"/>
              <a:buFont typeface="Calibri"/>
              <a:buNone/>
            </a:pPr>
            <a:r>
              <a:rPr b="0" i="0" lang="en-US" sz="1600" u="none" cap="none" strike="noStrike">
                <a:solidFill>
                  <a:srgbClr val="3F6B4A"/>
                </a:solidFill>
                <a:latin typeface="Calibri"/>
                <a:ea typeface="Calibri"/>
                <a:cs typeface="Calibri"/>
                <a:sym typeface="Calibri"/>
              </a:rPr>
              <a:t>+  Cheapest; learns cross-modal interaction.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Clr>
                <a:srgbClr val="8B4A44"/>
              </a:buClr>
              <a:buSzPts val="1600"/>
              <a:buFont typeface="Calibri"/>
              <a:buNone/>
            </a:pPr>
            <a:r>
              <a:rPr b="0" i="0" lang="en-US" sz="1600" u="none" cap="none" strike="noStrike">
                <a:solidFill>
                  <a:srgbClr val="8B4A44"/>
                </a:solidFill>
                <a:latin typeface="Calibri"/>
                <a:ea typeface="Calibri"/>
                <a:cs typeface="Calibri"/>
                <a:sym typeface="Calibri"/>
              </a:rPr>
              <a:t>−  Needs aligned timestamps.</a:t>
            </a:r>
            <a:endParaRPr b="0" i="0" sz="1600" u="none" cap="none" strike="noStrike">
              <a:solidFill>
                <a:schemeClr val="dk1"/>
              </a:solidFill>
              <a:latin typeface="Calibri"/>
              <a:ea typeface="Calibri"/>
              <a:cs typeface="Calibri"/>
              <a:sym typeface="Calibri"/>
            </a:endParaRPr>
          </a:p>
        </p:txBody>
      </p:sp>
      <p:sp>
        <p:nvSpPr>
          <p:cNvPr id="302" name="Google Shape;302;p22"/>
          <p:cNvSpPr/>
          <p:nvPr/>
        </p:nvSpPr>
        <p:spPr>
          <a:xfrm>
            <a:off x="4389120" y="1783080"/>
            <a:ext cx="3520500" cy="36576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p:nvPr/>
        </p:nvSpPr>
        <p:spPr>
          <a:xfrm>
            <a:off x="4645152" y="1975104"/>
            <a:ext cx="1143000" cy="255900"/>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a:off x="4645152" y="1975104"/>
            <a:ext cx="1143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LATE</a:t>
            </a:r>
            <a:endParaRPr b="0" i="0" sz="950" u="none" cap="none" strike="noStrike">
              <a:solidFill>
                <a:schemeClr val="dk1"/>
              </a:solidFill>
              <a:latin typeface="Calibri"/>
              <a:ea typeface="Calibri"/>
              <a:cs typeface="Calibri"/>
              <a:sym typeface="Calibri"/>
            </a:endParaRPr>
          </a:p>
        </p:txBody>
      </p:sp>
      <p:sp>
        <p:nvSpPr>
          <p:cNvPr id="305" name="Google Shape;305;p22"/>
          <p:cNvSpPr/>
          <p:nvPr/>
        </p:nvSpPr>
        <p:spPr>
          <a:xfrm>
            <a:off x="4645152" y="2340864"/>
            <a:ext cx="3017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Decision-level</a:t>
            </a:r>
            <a:endParaRPr b="0" i="0" sz="1800" u="none" cap="none" strike="noStrike">
              <a:solidFill>
                <a:schemeClr val="dk1"/>
              </a:solidFill>
              <a:latin typeface="Calibri"/>
              <a:ea typeface="Calibri"/>
              <a:cs typeface="Calibri"/>
              <a:sym typeface="Calibri"/>
            </a:endParaRPr>
          </a:p>
        </p:txBody>
      </p:sp>
      <p:sp>
        <p:nvSpPr>
          <p:cNvPr id="306" name="Google Shape;306;p22"/>
          <p:cNvSpPr/>
          <p:nvPr/>
        </p:nvSpPr>
        <p:spPr>
          <a:xfrm>
            <a:off x="4645152" y="2743200"/>
            <a:ext cx="3017400" cy="105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One model per modality, combine their outputs.</a:t>
            </a:r>
            <a:endParaRPr b="0" i="0" sz="1600" u="none" cap="none" strike="noStrike">
              <a:solidFill>
                <a:schemeClr val="dk1"/>
              </a:solidFill>
              <a:latin typeface="Calibri"/>
              <a:ea typeface="Calibri"/>
              <a:cs typeface="Calibri"/>
              <a:sym typeface="Calibri"/>
            </a:endParaRPr>
          </a:p>
        </p:txBody>
      </p:sp>
      <p:sp>
        <p:nvSpPr>
          <p:cNvPr id="307" name="Google Shape;307;p22"/>
          <p:cNvSpPr/>
          <p:nvPr/>
        </p:nvSpPr>
        <p:spPr>
          <a:xfrm>
            <a:off x="4645152" y="3886200"/>
            <a:ext cx="3017400" cy="148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6B4A"/>
              </a:buClr>
              <a:buSzPts val="1600"/>
              <a:buFont typeface="Calibri"/>
              <a:buNone/>
            </a:pPr>
            <a:r>
              <a:rPr b="0" i="0" lang="en-US" sz="1600" u="none" cap="none" strike="noStrike">
                <a:solidFill>
                  <a:srgbClr val="3F6B4A"/>
                </a:solidFill>
                <a:latin typeface="Calibri"/>
                <a:ea typeface="Calibri"/>
                <a:cs typeface="Calibri"/>
                <a:sym typeface="Calibri"/>
              </a:rPr>
              <a:t>+  Robust to a missing modality.</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Clr>
                <a:srgbClr val="8B4A44"/>
              </a:buClr>
              <a:buSzPts val="1600"/>
              <a:buFont typeface="Calibri"/>
              <a:buNone/>
            </a:pPr>
            <a:r>
              <a:rPr b="0" i="0" lang="en-US" sz="1600" u="none" cap="none" strike="noStrike">
                <a:solidFill>
                  <a:srgbClr val="8B4A44"/>
                </a:solidFill>
                <a:latin typeface="Calibri"/>
                <a:ea typeface="Calibri"/>
                <a:cs typeface="Calibri"/>
                <a:sym typeface="Calibri"/>
              </a:rPr>
              <a:t>−  Cross-modal correlation is lost.</a:t>
            </a:r>
            <a:endParaRPr b="0" i="0" sz="1600" u="none" cap="none" strike="noStrike">
              <a:solidFill>
                <a:schemeClr val="dk1"/>
              </a:solidFill>
              <a:latin typeface="Calibri"/>
              <a:ea typeface="Calibri"/>
              <a:cs typeface="Calibri"/>
              <a:sym typeface="Calibri"/>
            </a:endParaRPr>
          </a:p>
        </p:txBody>
      </p:sp>
      <p:sp>
        <p:nvSpPr>
          <p:cNvPr id="308" name="Google Shape;308;p22"/>
          <p:cNvSpPr/>
          <p:nvPr/>
        </p:nvSpPr>
        <p:spPr>
          <a:xfrm>
            <a:off x="8138160" y="1783080"/>
            <a:ext cx="3520500" cy="36576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8394192" y="1975104"/>
            <a:ext cx="1143000" cy="255900"/>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8394192" y="1975104"/>
            <a:ext cx="1143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HYBRID</a:t>
            </a:r>
            <a:endParaRPr b="0" i="0" sz="950" u="none" cap="none" strike="noStrike">
              <a:solidFill>
                <a:schemeClr val="dk1"/>
              </a:solidFill>
              <a:latin typeface="Calibri"/>
              <a:ea typeface="Calibri"/>
              <a:cs typeface="Calibri"/>
              <a:sym typeface="Calibri"/>
            </a:endParaRPr>
          </a:p>
        </p:txBody>
      </p:sp>
      <p:sp>
        <p:nvSpPr>
          <p:cNvPr id="311" name="Google Shape;311;p22"/>
          <p:cNvSpPr/>
          <p:nvPr/>
        </p:nvSpPr>
        <p:spPr>
          <a:xfrm>
            <a:off x="8394192" y="2340864"/>
            <a:ext cx="3017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Mixed</a:t>
            </a:r>
            <a:endParaRPr b="0" i="0" sz="1800" u="none" cap="none" strike="noStrike">
              <a:solidFill>
                <a:schemeClr val="dk1"/>
              </a:solidFill>
              <a:latin typeface="Calibri"/>
              <a:ea typeface="Calibri"/>
              <a:cs typeface="Calibri"/>
              <a:sym typeface="Calibri"/>
            </a:endParaRPr>
          </a:p>
        </p:txBody>
      </p:sp>
      <p:sp>
        <p:nvSpPr>
          <p:cNvPr id="312" name="Google Shape;312;p22"/>
          <p:cNvSpPr/>
          <p:nvPr/>
        </p:nvSpPr>
        <p:spPr>
          <a:xfrm>
            <a:off x="8394192" y="2743200"/>
            <a:ext cx="3017400" cy="105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Per-modality encoders, then a shared head.</a:t>
            </a:r>
            <a:endParaRPr b="0" i="0" sz="1600" u="none" cap="none" strike="noStrike">
              <a:solidFill>
                <a:schemeClr val="dk1"/>
              </a:solidFill>
              <a:latin typeface="Calibri"/>
              <a:ea typeface="Calibri"/>
              <a:cs typeface="Calibri"/>
              <a:sym typeface="Calibri"/>
            </a:endParaRPr>
          </a:p>
        </p:txBody>
      </p:sp>
      <p:sp>
        <p:nvSpPr>
          <p:cNvPr id="313" name="Google Shape;313;p22"/>
          <p:cNvSpPr/>
          <p:nvPr/>
        </p:nvSpPr>
        <p:spPr>
          <a:xfrm>
            <a:off x="8394192" y="3886200"/>
            <a:ext cx="3017400" cy="148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6B4A"/>
              </a:buClr>
              <a:buSzPts val="1600"/>
              <a:buFont typeface="Calibri"/>
              <a:buNone/>
            </a:pPr>
            <a:r>
              <a:rPr b="0" i="0" lang="en-US" sz="1600" u="none" cap="none" strike="noStrike">
                <a:solidFill>
                  <a:srgbClr val="3F6B4A"/>
                </a:solidFill>
                <a:latin typeface="Calibri"/>
                <a:ea typeface="Calibri"/>
                <a:cs typeface="Calibri"/>
                <a:sym typeface="Calibri"/>
              </a:rPr>
              <a:t>+  Keeps structure and cross-modal learning.</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Clr>
                <a:srgbClr val="8B4A44"/>
              </a:buClr>
              <a:buSzPts val="1600"/>
              <a:buFont typeface="Calibri"/>
              <a:buNone/>
            </a:pPr>
            <a:r>
              <a:rPr b="0" i="0" lang="en-US" sz="1600" u="none" cap="none" strike="noStrike">
                <a:solidFill>
                  <a:srgbClr val="8B4A44"/>
                </a:solidFill>
                <a:latin typeface="Calibri"/>
                <a:ea typeface="Calibri"/>
                <a:cs typeface="Calibri"/>
                <a:sym typeface="Calibri"/>
              </a:rPr>
              <a:t>−  More parameters to tune.</a:t>
            </a:r>
            <a:endParaRPr b="0" i="0" sz="1600" u="none" cap="none" strike="noStrike">
              <a:solidFill>
                <a:schemeClr val="dk1"/>
              </a:solidFill>
              <a:latin typeface="Calibri"/>
              <a:ea typeface="Calibri"/>
              <a:cs typeface="Calibri"/>
              <a:sym typeface="Calibri"/>
            </a:endParaRPr>
          </a:p>
        </p:txBody>
      </p:sp>
      <p:sp>
        <p:nvSpPr>
          <p:cNvPr id="314" name="Google Shape;314;p22"/>
          <p:cNvSpPr/>
          <p:nvPr/>
        </p:nvSpPr>
        <p:spPr>
          <a:xfrm>
            <a:off x="640080" y="5596128"/>
            <a:ext cx="11018400" cy="77730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914400" y="5596128"/>
            <a:ext cx="10470000" cy="777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BC97F"/>
              </a:buClr>
              <a:buSzPts val="1600"/>
              <a:buFont typeface="Calibri"/>
              <a:buNone/>
            </a:pPr>
            <a:r>
              <a:rPr b="1" i="0" lang="en-US" sz="1600" u="none" cap="none" strike="noStrike">
                <a:solidFill>
                  <a:srgbClr val="EBC97F"/>
                </a:solidFill>
                <a:latin typeface="Calibri"/>
                <a:ea typeface="Calibri"/>
                <a:cs typeface="Calibri"/>
                <a:sym typeface="Calibri"/>
              </a:rPr>
              <a:t>This workshop:  </a:t>
            </a:r>
            <a:r>
              <a:rPr b="0" i="0" lang="en-US" sz="1600" u="none" cap="none" strike="noStrike">
                <a:solidFill>
                  <a:srgbClr val="E8E8E8"/>
                </a:solidFill>
                <a:latin typeface="Calibri"/>
                <a:ea typeface="Calibri"/>
                <a:cs typeface="Calibri"/>
                <a:sym typeface="Calibri"/>
              </a:rPr>
              <a:t>hybrid in the model, early in the data. Notebook 01 builds one aligned table; Notebook 02 keeps a branch per modality and merges through attention.</a:t>
            </a:r>
            <a:endParaRPr b="0" i="0" sz="1600" u="none" cap="none" strike="noStrike">
              <a:solidFill>
                <a:schemeClr val="dk1"/>
              </a:solidFill>
              <a:latin typeface="Calibri"/>
              <a:ea typeface="Calibri"/>
              <a:cs typeface="Calibri"/>
              <a:sym typeface="Calibri"/>
            </a:endParaRPr>
          </a:p>
        </p:txBody>
      </p:sp>
      <p:sp>
        <p:nvSpPr>
          <p:cNvPr id="316" name="Google Shape;316;p22"/>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 name="Shape 321"/>
        <p:cNvGrpSpPr/>
        <p:nvPr/>
      </p:nvGrpSpPr>
      <p:grpSpPr>
        <a:xfrm>
          <a:off x="0" y="0"/>
          <a:ext cx="0" cy="0"/>
          <a:chOff x="0" y="0"/>
          <a:chExt cx="0" cy="0"/>
        </a:xfrm>
      </p:grpSpPr>
      <p:sp>
        <p:nvSpPr>
          <p:cNvPr id="322" name="Google Shape;322;p23"/>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323" name="Google Shape;323;p23"/>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324" name="Google Shape;324;p23"/>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1.1 · SOURCES</a:t>
            </a:r>
            <a:endParaRPr b="0" i="0" sz="1000" u="none" cap="none" strike="noStrike">
              <a:solidFill>
                <a:schemeClr val="dk1"/>
              </a:solidFill>
              <a:latin typeface="Calibri"/>
              <a:ea typeface="Calibri"/>
              <a:cs typeface="Calibri"/>
              <a:sym typeface="Calibri"/>
            </a:endParaRPr>
          </a:p>
        </p:txBody>
      </p:sp>
      <p:sp>
        <p:nvSpPr>
          <p:cNvPr id="325" name="Google Shape;325;p23"/>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a:t>
            </a:r>
            <a:r>
              <a:rPr b="1" i="0" lang="en-US" sz="3000" u="none" cap="none" strike="noStrike">
                <a:solidFill>
                  <a:srgbClr val="1A1A1A"/>
                </a:solidFill>
                <a:latin typeface="Georgia"/>
                <a:ea typeface="Georgia"/>
                <a:cs typeface="Georgia"/>
                <a:sym typeface="Georgia"/>
              </a:rPr>
              <a:t>wo streams, two shapes</a:t>
            </a:r>
            <a:endParaRPr b="0" i="0" sz="3000" u="none" cap="none" strike="noStrike">
              <a:solidFill>
                <a:schemeClr val="dk1"/>
              </a:solidFill>
              <a:latin typeface="Calibri"/>
              <a:ea typeface="Calibri"/>
              <a:cs typeface="Calibri"/>
              <a:sym typeface="Calibri"/>
            </a:endParaRPr>
          </a:p>
        </p:txBody>
      </p:sp>
      <p:sp>
        <p:nvSpPr>
          <p:cNvPr id="326" name="Google Shape;326;p23"/>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328" name="Google Shape;328;p23"/>
          <p:cNvSpPr/>
          <p:nvPr/>
        </p:nvSpPr>
        <p:spPr>
          <a:xfrm>
            <a:off x="640080" y="1783080"/>
            <a:ext cx="11018520" cy="530352"/>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822960" y="1783080"/>
            <a:ext cx="2606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330" name="Google Shape;330;p23"/>
          <p:cNvSpPr/>
          <p:nvPr/>
        </p:nvSpPr>
        <p:spPr>
          <a:xfrm>
            <a:off x="3749040" y="1783080"/>
            <a:ext cx="3749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Vehicle telemetry</a:t>
            </a:r>
            <a:endParaRPr b="0" i="0" sz="1600" u="none" cap="none" strike="noStrike">
              <a:solidFill>
                <a:schemeClr val="dk1"/>
              </a:solidFill>
              <a:latin typeface="Calibri"/>
              <a:ea typeface="Calibri"/>
              <a:cs typeface="Calibri"/>
              <a:sym typeface="Calibri"/>
            </a:endParaRPr>
          </a:p>
        </p:txBody>
      </p:sp>
      <p:sp>
        <p:nvSpPr>
          <p:cNvPr id="331" name="Google Shape;331;p23"/>
          <p:cNvSpPr/>
          <p:nvPr/>
        </p:nvSpPr>
        <p:spPr>
          <a:xfrm>
            <a:off x="7818120" y="1783080"/>
            <a:ext cx="3703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Network traffic log</a:t>
            </a:r>
            <a:endParaRPr b="0" i="0" sz="1600" u="none" cap="none" strike="noStrike">
              <a:solidFill>
                <a:schemeClr val="dk1"/>
              </a:solidFill>
              <a:latin typeface="Calibri"/>
              <a:ea typeface="Calibri"/>
              <a:cs typeface="Calibri"/>
              <a:sym typeface="Calibri"/>
            </a:endParaRPr>
          </a:p>
        </p:txBody>
      </p:sp>
      <p:sp>
        <p:nvSpPr>
          <p:cNvPr id="332" name="Google Shape;332;p23"/>
          <p:cNvSpPr/>
          <p:nvPr/>
        </p:nvSpPr>
        <p:spPr>
          <a:xfrm>
            <a:off x="822960" y="2313432"/>
            <a:ext cx="2606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Records</a:t>
            </a:r>
            <a:endParaRPr b="0" i="0" sz="1600" u="none" cap="none" strike="noStrike">
              <a:solidFill>
                <a:schemeClr val="dk1"/>
              </a:solidFill>
              <a:latin typeface="Calibri"/>
              <a:ea typeface="Calibri"/>
              <a:cs typeface="Calibri"/>
              <a:sym typeface="Calibri"/>
            </a:endParaRPr>
          </a:p>
        </p:txBody>
      </p:sp>
      <p:sp>
        <p:nvSpPr>
          <p:cNvPr id="333" name="Google Shape;333;p23"/>
          <p:cNvSpPr/>
          <p:nvPr/>
        </p:nvSpPr>
        <p:spPr>
          <a:xfrm>
            <a:off x="3749040" y="2313432"/>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3 000 over 90 minutes</a:t>
            </a:r>
            <a:endParaRPr b="0" i="0" sz="1600" u="none" cap="none" strike="noStrike">
              <a:solidFill>
                <a:schemeClr val="dk1"/>
              </a:solidFill>
              <a:latin typeface="Calibri"/>
              <a:ea typeface="Calibri"/>
              <a:cs typeface="Calibri"/>
              <a:sym typeface="Calibri"/>
            </a:endParaRPr>
          </a:p>
        </p:txBody>
      </p:sp>
      <p:sp>
        <p:nvSpPr>
          <p:cNvPr id="334" name="Google Shape;334;p23"/>
          <p:cNvSpPr/>
          <p:nvPr/>
        </p:nvSpPr>
        <p:spPr>
          <a:xfrm>
            <a:off x="7818120" y="2313432"/>
            <a:ext cx="3703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3 000 over 90 minutes</a:t>
            </a:r>
            <a:endParaRPr b="0" i="0" sz="1600" u="none" cap="none" strike="noStrike">
              <a:solidFill>
                <a:schemeClr val="dk1"/>
              </a:solidFill>
              <a:latin typeface="Calibri"/>
              <a:ea typeface="Calibri"/>
              <a:cs typeface="Calibri"/>
              <a:sym typeface="Calibri"/>
            </a:endParaRPr>
          </a:p>
        </p:txBody>
      </p:sp>
      <p:sp>
        <p:nvSpPr>
          <p:cNvPr id="335" name="Google Shape;335;p23"/>
          <p:cNvSpPr/>
          <p:nvPr/>
        </p:nvSpPr>
        <p:spPr>
          <a:xfrm>
            <a:off x="640080" y="2880360"/>
            <a:ext cx="11018520" cy="566928"/>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822960" y="2880360"/>
            <a:ext cx="2606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Cadence</a:t>
            </a:r>
            <a:endParaRPr b="0" i="0" sz="1600" u="none" cap="none" strike="noStrike">
              <a:solidFill>
                <a:schemeClr val="dk1"/>
              </a:solidFill>
              <a:latin typeface="Calibri"/>
              <a:ea typeface="Calibri"/>
              <a:cs typeface="Calibri"/>
              <a:sym typeface="Calibri"/>
            </a:endParaRPr>
          </a:p>
        </p:txBody>
      </p:sp>
      <p:sp>
        <p:nvSpPr>
          <p:cNvPr id="337" name="Google Shape;337;p23"/>
          <p:cNvSpPr/>
          <p:nvPr/>
        </p:nvSpPr>
        <p:spPr>
          <a:xfrm>
            <a:off x="3749040" y="2880360"/>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Regular, ≈ 1.8 s apart</a:t>
            </a:r>
            <a:endParaRPr b="0" i="0" sz="1600" u="none" cap="none" strike="noStrike">
              <a:solidFill>
                <a:schemeClr val="dk1"/>
              </a:solidFill>
              <a:latin typeface="Calibri"/>
              <a:ea typeface="Calibri"/>
              <a:cs typeface="Calibri"/>
              <a:sym typeface="Calibri"/>
            </a:endParaRPr>
          </a:p>
        </p:txBody>
      </p:sp>
      <p:sp>
        <p:nvSpPr>
          <p:cNvPr id="338" name="Google Shape;338;p23"/>
          <p:cNvSpPr/>
          <p:nvPr/>
        </p:nvSpPr>
        <p:spPr>
          <a:xfrm>
            <a:off x="7818120" y="2880360"/>
            <a:ext cx="3703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Irregular, event-driven</a:t>
            </a:r>
            <a:endParaRPr b="0" i="0" sz="1600" u="none" cap="none" strike="noStrike">
              <a:solidFill>
                <a:schemeClr val="dk1"/>
              </a:solidFill>
              <a:latin typeface="Calibri"/>
              <a:ea typeface="Calibri"/>
              <a:cs typeface="Calibri"/>
              <a:sym typeface="Calibri"/>
            </a:endParaRPr>
          </a:p>
        </p:txBody>
      </p:sp>
      <p:sp>
        <p:nvSpPr>
          <p:cNvPr id="339" name="Google Shape;339;p23"/>
          <p:cNvSpPr/>
          <p:nvPr/>
        </p:nvSpPr>
        <p:spPr>
          <a:xfrm>
            <a:off x="822960" y="3447288"/>
            <a:ext cx="2606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Types</a:t>
            </a:r>
            <a:endParaRPr b="0" i="0" sz="1600" u="none" cap="none" strike="noStrike">
              <a:solidFill>
                <a:schemeClr val="dk1"/>
              </a:solidFill>
              <a:latin typeface="Calibri"/>
              <a:ea typeface="Calibri"/>
              <a:cs typeface="Calibri"/>
              <a:sym typeface="Calibri"/>
            </a:endParaRPr>
          </a:p>
        </p:txBody>
      </p:sp>
      <p:sp>
        <p:nvSpPr>
          <p:cNvPr id="340" name="Google Shape;340;p23"/>
          <p:cNvSpPr/>
          <p:nvPr/>
        </p:nvSpPr>
        <p:spPr>
          <a:xfrm>
            <a:off x="3749040" y="3447288"/>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Continuous + one ordinal</a:t>
            </a:r>
            <a:endParaRPr b="0" i="0" sz="1600" u="none" cap="none" strike="noStrike">
              <a:solidFill>
                <a:schemeClr val="dk1"/>
              </a:solidFill>
              <a:latin typeface="Calibri"/>
              <a:ea typeface="Calibri"/>
              <a:cs typeface="Calibri"/>
              <a:sym typeface="Calibri"/>
            </a:endParaRPr>
          </a:p>
        </p:txBody>
      </p:sp>
      <p:sp>
        <p:nvSpPr>
          <p:cNvPr id="341" name="Google Shape;341;p23"/>
          <p:cNvSpPr/>
          <p:nvPr/>
        </p:nvSpPr>
        <p:spPr>
          <a:xfrm>
            <a:off x="7818120" y="3447288"/>
            <a:ext cx="3703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Continuous + categorical</a:t>
            </a:r>
            <a:endParaRPr b="0" i="0" sz="1600" u="none" cap="none" strike="noStrike">
              <a:solidFill>
                <a:schemeClr val="dk1"/>
              </a:solidFill>
              <a:latin typeface="Calibri"/>
              <a:ea typeface="Calibri"/>
              <a:cs typeface="Calibri"/>
              <a:sym typeface="Calibri"/>
            </a:endParaRPr>
          </a:p>
        </p:txBody>
      </p:sp>
      <p:sp>
        <p:nvSpPr>
          <p:cNvPr id="342" name="Google Shape;342;p23"/>
          <p:cNvSpPr/>
          <p:nvPr/>
        </p:nvSpPr>
        <p:spPr>
          <a:xfrm>
            <a:off x="640080" y="4014216"/>
            <a:ext cx="11018520" cy="566928"/>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822960" y="4014216"/>
            <a:ext cx="2606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Missing</a:t>
            </a:r>
            <a:endParaRPr b="0" i="0" sz="1600" u="none" cap="none" strike="noStrike">
              <a:solidFill>
                <a:schemeClr val="dk1"/>
              </a:solidFill>
              <a:latin typeface="Calibri"/>
              <a:ea typeface="Calibri"/>
              <a:cs typeface="Calibri"/>
              <a:sym typeface="Calibri"/>
            </a:endParaRPr>
          </a:p>
        </p:txBody>
      </p:sp>
      <p:sp>
        <p:nvSpPr>
          <p:cNvPr id="344" name="Google Shape;344;p23"/>
          <p:cNvSpPr/>
          <p:nvPr/>
        </p:nvSpPr>
        <p:spPr>
          <a:xfrm>
            <a:off x="3749040" y="4014216"/>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2 % — sensor dropouts</a:t>
            </a:r>
            <a:endParaRPr b="0" i="0" sz="1600" u="none" cap="none" strike="noStrike">
              <a:solidFill>
                <a:schemeClr val="dk1"/>
              </a:solidFill>
              <a:latin typeface="Calibri"/>
              <a:ea typeface="Calibri"/>
              <a:cs typeface="Calibri"/>
              <a:sym typeface="Calibri"/>
            </a:endParaRPr>
          </a:p>
        </p:txBody>
      </p:sp>
      <p:sp>
        <p:nvSpPr>
          <p:cNvPr id="345" name="Google Shape;345;p23"/>
          <p:cNvSpPr/>
          <p:nvPr/>
        </p:nvSpPr>
        <p:spPr>
          <a:xfrm>
            <a:off x="7818120" y="4014216"/>
            <a:ext cx="3703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1 % — capture gaps</a:t>
            </a:r>
            <a:endParaRPr b="0" i="0" sz="1600" u="none" cap="none" strike="noStrike">
              <a:solidFill>
                <a:schemeClr val="dk1"/>
              </a:solidFill>
              <a:latin typeface="Calibri"/>
              <a:ea typeface="Calibri"/>
              <a:cs typeface="Calibri"/>
              <a:sym typeface="Calibri"/>
            </a:endParaRPr>
          </a:p>
        </p:txBody>
      </p:sp>
      <p:sp>
        <p:nvSpPr>
          <p:cNvPr id="346" name="Google Shape;346;p23"/>
          <p:cNvSpPr/>
          <p:nvPr/>
        </p:nvSpPr>
        <p:spPr>
          <a:xfrm>
            <a:off x="822960" y="4581144"/>
            <a:ext cx="2606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Repair</a:t>
            </a:r>
            <a:endParaRPr b="0" i="0" sz="1600" u="none" cap="none" strike="noStrike">
              <a:solidFill>
                <a:schemeClr val="dk1"/>
              </a:solidFill>
              <a:latin typeface="Calibri"/>
              <a:ea typeface="Calibri"/>
              <a:cs typeface="Calibri"/>
              <a:sym typeface="Calibri"/>
            </a:endParaRPr>
          </a:p>
        </p:txBody>
      </p:sp>
      <p:sp>
        <p:nvSpPr>
          <p:cNvPr id="347" name="Google Shape;347;p23"/>
          <p:cNvSpPr/>
          <p:nvPr/>
        </p:nvSpPr>
        <p:spPr>
          <a:xfrm>
            <a:off x="3749040" y="4581144"/>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Linear interpolation</a:t>
            </a:r>
            <a:endParaRPr b="0" i="0" sz="1600" u="none" cap="none" strike="noStrike">
              <a:solidFill>
                <a:schemeClr val="dk1"/>
              </a:solidFill>
              <a:latin typeface="Calibri"/>
              <a:ea typeface="Calibri"/>
              <a:cs typeface="Calibri"/>
              <a:sym typeface="Calibri"/>
            </a:endParaRPr>
          </a:p>
        </p:txBody>
      </p:sp>
      <p:sp>
        <p:nvSpPr>
          <p:cNvPr id="348" name="Google Shape;348;p23"/>
          <p:cNvSpPr/>
          <p:nvPr/>
        </p:nvSpPr>
        <p:spPr>
          <a:xfrm>
            <a:off x="7818120" y="4581144"/>
            <a:ext cx="3703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Zero-fill</a:t>
            </a:r>
            <a:endParaRPr b="0" i="0" sz="1600" u="none" cap="none" strike="noStrike">
              <a:solidFill>
                <a:schemeClr val="dk1"/>
              </a:solidFill>
              <a:latin typeface="Calibri"/>
              <a:ea typeface="Calibri"/>
              <a:cs typeface="Calibri"/>
              <a:sym typeface="Calibri"/>
            </a:endParaRPr>
          </a:p>
        </p:txBody>
      </p:sp>
      <p:sp>
        <p:nvSpPr>
          <p:cNvPr id="349" name="Google Shape;349;p23"/>
          <p:cNvSpPr/>
          <p:nvPr/>
        </p:nvSpPr>
        <p:spPr>
          <a:xfrm>
            <a:off x="640080" y="5148072"/>
            <a:ext cx="11018520" cy="566928"/>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3"/>
          <p:cNvSpPr/>
          <p:nvPr/>
        </p:nvSpPr>
        <p:spPr>
          <a:xfrm>
            <a:off x="822960" y="5148072"/>
            <a:ext cx="2606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Prefix</a:t>
            </a:r>
            <a:endParaRPr b="0" i="0" sz="1600" u="none" cap="none" strike="noStrike">
              <a:solidFill>
                <a:schemeClr val="dk1"/>
              </a:solidFill>
              <a:latin typeface="Calibri"/>
              <a:ea typeface="Calibri"/>
              <a:cs typeface="Calibri"/>
              <a:sym typeface="Calibri"/>
            </a:endParaRPr>
          </a:p>
        </p:txBody>
      </p:sp>
      <p:sp>
        <p:nvSpPr>
          <p:cNvPr id="351" name="Google Shape;351;p23"/>
          <p:cNvSpPr/>
          <p:nvPr/>
        </p:nvSpPr>
        <p:spPr>
          <a:xfrm>
            <a:off x="3749040" y="5148072"/>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ourier New"/>
              <a:buNone/>
            </a:pPr>
            <a:r>
              <a:rPr b="0" i="0" lang="en-US" sz="1600" u="none" cap="none" strike="noStrike">
                <a:solidFill>
                  <a:srgbClr val="4A4A4A"/>
                </a:solidFill>
                <a:latin typeface="Courier New"/>
                <a:ea typeface="Courier New"/>
                <a:cs typeface="Courier New"/>
                <a:sym typeface="Courier New"/>
              </a:rPr>
              <a:t>veh_</a:t>
            </a:r>
            <a:endParaRPr b="0" i="0" sz="1600" u="none" cap="none" strike="noStrike">
              <a:solidFill>
                <a:schemeClr val="dk1"/>
              </a:solidFill>
              <a:latin typeface="Calibri"/>
              <a:ea typeface="Calibri"/>
              <a:cs typeface="Calibri"/>
              <a:sym typeface="Calibri"/>
            </a:endParaRPr>
          </a:p>
        </p:txBody>
      </p:sp>
      <p:sp>
        <p:nvSpPr>
          <p:cNvPr id="352" name="Google Shape;352;p23"/>
          <p:cNvSpPr/>
          <p:nvPr/>
        </p:nvSpPr>
        <p:spPr>
          <a:xfrm>
            <a:off x="7818120" y="5148072"/>
            <a:ext cx="37033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ourier New"/>
              <a:buNone/>
            </a:pPr>
            <a:r>
              <a:rPr b="0" i="0" lang="en-US" sz="1600" u="none" cap="none" strike="noStrike">
                <a:solidFill>
                  <a:srgbClr val="4A4A4A"/>
                </a:solidFill>
                <a:latin typeface="Courier New"/>
                <a:ea typeface="Courier New"/>
                <a:cs typeface="Courier New"/>
                <a:sym typeface="Courier New"/>
              </a:rPr>
              <a:t>net_</a:t>
            </a:r>
            <a:endParaRPr b="0" i="0" sz="1600" u="none" cap="none" strike="noStrike">
              <a:solidFill>
                <a:schemeClr val="dk1"/>
              </a:solidFill>
              <a:latin typeface="Calibri"/>
              <a:ea typeface="Calibri"/>
              <a:cs typeface="Calibri"/>
              <a:sym typeface="Calibri"/>
            </a:endParaRPr>
          </a:p>
        </p:txBody>
      </p:sp>
      <p:sp>
        <p:nvSpPr>
          <p:cNvPr id="353" name="Google Shape;353;p23"/>
          <p:cNvSpPr/>
          <p:nvPr/>
        </p:nvSpPr>
        <p:spPr>
          <a:xfrm>
            <a:off x="640080" y="5870448"/>
            <a:ext cx="11018520" cy="566928"/>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3"/>
          <p:cNvSpPr/>
          <p:nvPr/>
        </p:nvSpPr>
        <p:spPr>
          <a:xfrm>
            <a:off x="914400" y="5870448"/>
            <a:ext cx="10424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Design decision:  </a:t>
            </a:r>
            <a:r>
              <a:rPr b="0" i="0" lang="en-US" sz="1600" u="none" cap="none" strike="noStrike">
                <a:solidFill>
                  <a:srgbClr val="4A4A4A"/>
                </a:solidFill>
                <a:latin typeface="Calibri"/>
                <a:ea typeface="Calibri"/>
                <a:cs typeface="Calibri"/>
                <a:sym typeface="Calibri"/>
              </a:rPr>
              <a:t>the modalities are repaired differently on purpose — interpolating a dropped packet count would invent traffic that never existed.</a:t>
            </a:r>
            <a:endParaRPr b="0" i="0" sz="1600" u="none" cap="none" strike="noStrike">
              <a:solidFill>
                <a:schemeClr val="dk1"/>
              </a:solidFill>
              <a:latin typeface="Calibri"/>
              <a:ea typeface="Calibri"/>
              <a:cs typeface="Calibri"/>
              <a:sym typeface="Calibri"/>
            </a:endParaRPr>
          </a:p>
        </p:txBody>
      </p:sp>
      <p:sp>
        <p:nvSpPr>
          <p:cNvPr id="355" name="Google Shape;355;p23"/>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4"/>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362" name="Google Shape;362;p24"/>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363" name="Google Shape;363;p24"/>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 · MOTIVATION</a:t>
            </a:r>
            <a:endParaRPr b="0" i="0" sz="1000" u="none" cap="none" strike="noStrike">
              <a:solidFill>
                <a:schemeClr val="dk1"/>
              </a:solidFill>
              <a:latin typeface="Calibri"/>
              <a:ea typeface="Calibri"/>
              <a:cs typeface="Calibri"/>
              <a:sym typeface="Calibri"/>
            </a:endParaRPr>
          </a:p>
        </p:txBody>
      </p:sp>
      <p:sp>
        <p:nvSpPr>
          <p:cNvPr id="364" name="Google Shape;364;p24"/>
          <p:cNvSpPr/>
          <p:nvPr/>
        </p:nvSpPr>
        <p:spPr>
          <a:xfrm>
            <a:off x="548640" y="566928"/>
            <a:ext cx="104241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What the model has to separate</a:t>
            </a:r>
            <a:endParaRPr b="0" i="0" sz="3000" u="none" cap="none" strike="noStrike">
              <a:solidFill>
                <a:schemeClr val="dk1"/>
              </a:solidFill>
              <a:latin typeface="Calibri"/>
              <a:ea typeface="Calibri"/>
              <a:cs typeface="Calibri"/>
              <a:sym typeface="Calibri"/>
            </a:endParaRPr>
          </a:p>
        </p:txBody>
      </p:sp>
      <p:sp>
        <p:nvSpPr>
          <p:cNvPr id="365" name="Google Shape;365;p24"/>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4"/>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MOTIVATION      </a:t>
            </a:r>
            <a:endParaRPr b="0" i="0" sz="900" u="none" cap="none" strike="noStrike">
              <a:solidFill>
                <a:schemeClr val="dk1"/>
              </a:solidFill>
              <a:latin typeface="Calibri"/>
              <a:ea typeface="Calibri"/>
              <a:cs typeface="Calibri"/>
              <a:sym typeface="Calibri"/>
            </a:endParaRPr>
          </a:p>
        </p:txBody>
      </p:sp>
      <p:sp>
        <p:nvSpPr>
          <p:cNvPr id="367" name="Google Shape;367;p24"/>
          <p:cNvSpPr/>
          <p:nvPr/>
        </p:nvSpPr>
        <p:spPr>
          <a:xfrm>
            <a:off x="640080" y="1645920"/>
            <a:ext cx="108813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Notebook 01 injects two anomaly families into the fused timeline — every pattern below is generated by code </a:t>
            </a:r>
            <a:r>
              <a:rPr lang="en-US" sz="1600">
                <a:solidFill>
                  <a:srgbClr val="4A4A4A"/>
                </a:solidFill>
                <a:latin typeface="Calibri"/>
                <a:ea typeface="Calibri"/>
                <a:cs typeface="Calibri"/>
                <a:sym typeface="Calibri"/>
              </a:rPr>
              <a:t>we</a:t>
            </a:r>
            <a:r>
              <a:rPr b="0" i="0" lang="en-US" sz="1600" u="none" cap="none" strike="noStrike">
                <a:solidFill>
                  <a:srgbClr val="4A4A4A"/>
                </a:solidFill>
                <a:latin typeface="Calibri"/>
                <a:ea typeface="Calibri"/>
                <a:cs typeface="Calibri"/>
                <a:sym typeface="Calibri"/>
              </a:rPr>
              <a:t> will read and edit.</a:t>
            </a:r>
            <a:endParaRPr b="0" i="0" sz="1600" u="none" cap="none" strike="noStrike">
              <a:solidFill>
                <a:schemeClr val="dk1"/>
              </a:solidFill>
              <a:latin typeface="Calibri"/>
              <a:ea typeface="Calibri"/>
              <a:cs typeface="Calibri"/>
              <a:sym typeface="Calibri"/>
            </a:endParaRPr>
          </a:p>
        </p:txBody>
      </p:sp>
      <p:sp>
        <p:nvSpPr>
          <p:cNvPr id="368" name="Google Shape;368;p24"/>
          <p:cNvSpPr/>
          <p:nvPr/>
        </p:nvSpPr>
        <p:spPr>
          <a:xfrm>
            <a:off x="640080" y="2212848"/>
            <a:ext cx="5513700" cy="39777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4"/>
          <p:cNvSpPr/>
          <p:nvPr/>
        </p:nvSpPr>
        <p:spPr>
          <a:xfrm>
            <a:off x="914400" y="2414016"/>
            <a:ext cx="1051500" cy="255900"/>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p:nvPr/>
        </p:nvSpPr>
        <p:spPr>
          <a:xfrm>
            <a:off x="914400" y="2414016"/>
            <a:ext cx="1051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LABEL 1</a:t>
            </a:r>
            <a:endParaRPr b="0" i="0" sz="950" u="none" cap="none" strike="noStrike">
              <a:solidFill>
                <a:schemeClr val="dk1"/>
              </a:solidFill>
              <a:latin typeface="Calibri"/>
              <a:ea typeface="Calibri"/>
              <a:cs typeface="Calibri"/>
              <a:sym typeface="Calibri"/>
            </a:endParaRPr>
          </a:p>
        </p:txBody>
      </p:sp>
      <p:sp>
        <p:nvSpPr>
          <p:cNvPr id="371" name="Google Shape;371;p24"/>
          <p:cNvSpPr/>
          <p:nvPr/>
        </p:nvSpPr>
        <p:spPr>
          <a:xfrm>
            <a:off x="2121408" y="2359152"/>
            <a:ext cx="3840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Georgia"/>
              <a:buNone/>
            </a:pPr>
            <a:r>
              <a:rPr b="1" i="0" lang="en-US" sz="2000" u="none" cap="none" strike="noStrike">
                <a:solidFill>
                  <a:srgbClr val="1A1A1A"/>
                </a:solidFill>
                <a:latin typeface="Georgia"/>
                <a:ea typeface="Georgia"/>
                <a:cs typeface="Georgia"/>
                <a:sym typeface="Georgia"/>
              </a:rPr>
              <a:t>Physical anomaly</a:t>
            </a:r>
            <a:endParaRPr b="0" i="0" sz="2000" u="none" cap="none" strike="noStrike">
              <a:solidFill>
                <a:schemeClr val="dk1"/>
              </a:solidFill>
              <a:latin typeface="Calibri"/>
              <a:ea typeface="Calibri"/>
              <a:cs typeface="Calibri"/>
              <a:sym typeface="Calibri"/>
            </a:endParaRPr>
          </a:p>
        </p:txBody>
      </p:sp>
      <p:cxnSp>
        <p:nvCxnSpPr>
          <p:cNvPr id="372" name="Google Shape;372;p24"/>
          <p:cNvCxnSpPr/>
          <p:nvPr/>
        </p:nvCxnSpPr>
        <p:spPr>
          <a:xfrm>
            <a:off x="914400" y="2871216"/>
            <a:ext cx="4965300" cy="0"/>
          </a:xfrm>
          <a:prstGeom prst="straightConnector1">
            <a:avLst/>
          </a:prstGeom>
          <a:noFill/>
          <a:ln cap="flat" cmpd="sng" w="9525">
            <a:solidFill>
              <a:srgbClr val="C8C5BC"/>
            </a:solidFill>
            <a:prstDash val="solid"/>
            <a:round/>
            <a:headEnd len="sm" w="sm" type="none"/>
            <a:tailEnd len="sm" w="sm" type="none"/>
          </a:ln>
        </p:spPr>
      </p:cxnSp>
      <p:sp>
        <p:nvSpPr>
          <p:cNvPr id="373" name="Google Shape;373;p24"/>
          <p:cNvSpPr/>
          <p:nvPr/>
        </p:nvSpPr>
        <p:spPr>
          <a:xfrm>
            <a:off x="914400" y="3017520"/>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Excessive speed</a:t>
            </a:r>
            <a:endParaRPr b="0" i="0" sz="1600" u="none" cap="none" strike="noStrike">
              <a:solidFill>
                <a:schemeClr val="dk1"/>
              </a:solidFill>
              <a:latin typeface="Calibri"/>
              <a:ea typeface="Calibri"/>
              <a:cs typeface="Calibri"/>
              <a:sym typeface="Calibri"/>
            </a:endParaRPr>
          </a:p>
        </p:txBody>
      </p:sp>
      <p:sp>
        <p:nvSpPr>
          <p:cNvPr id="374" name="Google Shape;374;p24"/>
          <p:cNvSpPr/>
          <p:nvPr/>
        </p:nvSpPr>
        <p:spPr>
          <a:xfrm>
            <a:off x="3566160" y="3017520"/>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120–200 km/h</a:t>
            </a:r>
            <a:endParaRPr b="0" i="0" sz="1600" u="none" cap="none" strike="noStrike">
              <a:solidFill>
                <a:schemeClr val="dk1"/>
              </a:solidFill>
              <a:latin typeface="Calibri"/>
              <a:ea typeface="Calibri"/>
              <a:cs typeface="Calibri"/>
              <a:sym typeface="Calibri"/>
            </a:endParaRPr>
          </a:p>
        </p:txBody>
      </p:sp>
      <p:sp>
        <p:nvSpPr>
          <p:cNvPr id="375" name="Google Shape;375;p24"/>
          <p:cNvSpPr/>
          <p:nvPr/>
        </p:nvSpPr>
        <p:spPr>
          <a:xfrm>
            <a:off x="914400" y="3621024"/>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Extreme acceleration</a:t>
            </a:r>
            <a:endParaRPr b="0" i="0" sz="1600" u="none" cap="none" strike="noStrike">
              <a:solidFill>
                <a:schemeClr val="dk1"/>
              </a:solidFill>
              <a:latin typeface="Calibri"/>
              <a:ea typeface="Calibri"/>
              <a:cs typeface="Calibri"/>
              <a:sym typeface="Calibri"/>
            </a:endParaRPr>
          </a:p>
        </p:txBody>
      </p:sp>
      <p:sp>
        <p:nvSpPr>
          <p:cNvPr id="376" name="Google Shape;376;p24"/>
          <p:cNvSpPr/>
          <p:nvPr/>
        </p:nvSpPr>
        <p:spPr>
          <a:xfrm>
            <a:off x="3566160" y="3621024"/>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±10 m/s² step</a:t>
            </a:r>
            <a:endParaRPr b="0" i="0" sz="1600" u="none" cap="none" strike="noStrike">
              <a:solidFill>
                <a:schemeClr val="dk1"/>
              </a:solidFill>
              <a:latin typeface="Calibri"/>
              <a:ea typeface="Calibri"/>
              <a:cs typeface="Calibri"/>
              <a:sym typeface="Calibri"/>
            </a:endParaRPr>
          </a:p>
        </p:txBody>
      </p:sp>
      <p:sp>
        <p:nvSpPr>
          <p:cNvPr id="377" name="Google Shape;377;p24"/>
          <p:cNvSpPr/>
          <p:nvPr/>
        </p:nvSpPr>
        <p:spPr>
          <a:xfrm>
            <a:off x="914400" y="4224528"/>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Dangerous proximity</a:t>
            </a:r>
            <a:endParaRPr b="0" i="0" sz="1600" u="none" cap="none" strike="noStrike">
              <a:solidFill>
                <a:schemeClr val="dk1"/>
              </a:solidFill>
              <a:latin typeface="Calibri"/>
              <a:ea typeface="Calibri"/>
              <a:cs typeface="Calibri"/>
              <a:sym typeface="Calibri"/>
            </a:endParaRPr>
          </a:p>
        </p:txBody>
      </p:sp>
      <p:sp>
        <p:nvSpPr>
          <p:cNvPr id="378" name="Google Shape;378;p24"/>
          <p:cNvSpPr/>
          <p:nvPr/>
        </p:nvSpPr>
        <p:spPr>
          <a:xfrm>
            <a:off x="3566160" y="4224528"/>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obstacle &lt; 1.5 m</a:t>
            </a:r>
            <a:endParaRPr b="0" i="0" sz="1600" u="none" cap="none" strike="noStrike">
              <a:solidFill>
                <a:schemeClr val="dk1"/>
              </a:solidFill>
              <a:latin typeface="Calibri"/>
              <a:ea typeface="Calibri"/>
              <a:cs typeface="Calibri"/>
              <a:sym typeface="Calibri"/>
            </a:endParaRPr>
          </a:p>
        </p:txBody>
      </p:sp>
      <p:sp>
        <p:nvSpPr>
          <p:cNvPr id="379" name="Google Shape;379;p24"/>
          <p:cNvSpPr/>
          <p:nvPr/>
        </p:nvSpPr>
        <p:spPr>
          <a:xfrm>
            <a:off x="914400" y="4828032"/>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Erratic behavior</a:t>
            </a:r>
            <a:endParaRPr b="0" i="0" sz="1600" u="none" cap="none" strike="noStrike">
              <a:solidFill>
                <a:schemeClr val="dk1"/>
              </a:solidFill>
              <a:latin typeface="Calibri"/>
              <a:ea typeface="Calibri"/>
              <a:cs typeface="Calibri"/>
              <a:sym typeface="Calibri"/>
            </a:endParaRPr>
          </a:p>
        </p:txBody>
      </p:sp>
      <p:sp>
        <p:nvSpPr>
          <p:cNvPr id="380" name="Google Shape;380;p24"/>
          <p:cNvSpPr/>
          <p:nvPr/>
        </p:nvSpPr>
        <p:spPr>
          <a:xfrm>
            <a:off x="3566160" y="4828032"/>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speed + accel + brake</a:t>
            </a:r>
            <a:endParaRPr b="0" i="0" sz="1600" u="none" cap="none" strike="noStrike">
              <a:solidFill>
                <a:schemeClr val="dk1"/>
              </a:solidFill>
              <a:latin typeface="Calibri"/>
              <a:ea typeface="Calibri"/>
              <a:cs typeface="Calibri"/>
              <a:sym typeface="Calibri"/>
            </a:endParaRPr>
          </a:p>
        </p:txBody>
      </p:sp>
      <p:sp>
        <p:nvSpPr>
          <p:cNvPr id="381" name="Google Shape;381;p24"/>
          <p:cNvSpPr/>
          <p:nvPr/>
        </p:nvSpPr>
        <p:spPr>
          <a:xfrm>
            <a:off x="914400" y="5431536"/>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Sensor failure</a:t>
            </a:r>
            <a:endParaRPr b="0" i="0" sz="1600" u="none" cap="none" strike="noStrike">
              <a:solidFill>
                <a:schemeClr val="dk1"/>
              </a:solidFill>
              <a:latin typeface="Calibri"/>
              <a:ea typeface="Calibri"/>
              <a:cs typeface="Calibri"/>
              <a:sym typeface="Calibri"/>
            </a:endParaRPr>
          </a:p>
        </p:txBody>
      </p:sp>
      <p:sp>
        <p:nvSpPr>
          <p:cNvPr id="382" name="Google Shape;382;p24"/>
          <p:cNvSpPr/>
          <p:nvPr/>
        </p:nvSpPr>
        <p:spPr>
          <a:xfrm>
            <a:off x="3566160" y="5431536"/>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distance 200–500 m</a:t>
            </a:r>
            <a:endParaRPr b="0" i="0" sz="1600" u="none" cap="none" strike="noStrike">
              <a:solidFill>
                <a:schemeClr val="dk1"/>
              </a:solidFill>
              <a:latin typeface="Calibri"/>
              <a:ea typeface="Calibri"/>
              <a:cs typeface="Calibri"/>
              <a:sym typeface="Calibri"/>
            </a:endParaRPr>
          </a:p>
        </p:txBody>
      </p:sp>
      <p:sp>
        <p:nvSpPr>
          <p:cNvPr id="383" name="Google Shape;383;p24"/>
          <p:cNvSpPr/>
          <p:nvPr/>
        </p:nvSpPr>
        <p:spPr>
          <a:xfrm>
            <a:off x="6035040" y="2212848"/>
            <a:ext cx="5513700" cy="39777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6309360" y="2414016"/>
            <a:ext cx="1051500" cy="255900"/>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4"/>
          <p:cNvSpPr/>
          <p:nvPr/>
        </p:nvSpPr>
        <p:spPr>
          <a:xfrm>
            <a:off x="6309360" y="2414016"/>
            <a:ext cx="1051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LABEL 2</a:t>
            </a:r>
            <a:endParaRPr b="0" i="0" sz="950" u="none" cap="none" strike="noStrike">
              <a:solidFill>
                <a:schemeClr val="dk1"/>
              </a:solidFill>
              <a:latin typeface="Calibri"/>
              <a:ea typeface="Calibri"/>
              <a:cs typeface="Calibri"/>
              <a:sym typeface="Calibri"/>
            </a:endParaRPr>
          </a:p>
        </p:txBody>
      </p:sp>
      <p:sp>
        <p:nvSpPr>
          <p:cNvPr id="386" name="Google Shape;386;p24"/>
          <p:cNvSpPr/>
          <p:nvPr/>
        </p:nvSpPr>
        <p:spPr>
          <a:xfrm>
            <a:off x="7516368" y="2359152"/>
            <a:ext cx="3840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Georgia"/>
              <a:buNone/>
            </a:pPr>
            <a:r>
              <a:rPr b="1" i="0" lang="en-US" sz="2000" u="none" cap="none" strike="noStrike">
                <a:solidFill>
                  <a:srgbClr val="1A1A1A"/>
                </a:solidFill>
                <a:latin typeface="Georgia"/>
                <a:ea typeface="Georgia"/>
                <a:cs typeface="Georgia"/>
                <a:sym typeface="Georgia"/>
              </a:rPr>
              <a:t>Network anomaly</a:t>
            </a:r>
            <a:endParaRPr b="0" i="0" sz="2000" u="none" cap="none" strike="noStrike">
              <a:solidFill>
                <a:schemeClr val="dk1"/>
              </a:solidFill>
              <a:latin typeface="Calibri"/>
              <a:ea typeface="Calibri"/>
              <a:cs typeface="Calibri"/>
              <a:sym typeface="Calibri"/>
            </a:endParaRPr>
          </a:p>
        </p:txBody>
      </p:sp>
      <p:cxnSp>
        <p:nvCxnSpPr>
          <p:cNvPr id="387" name="Google Shape;387;p24"/>
          <p:cNvCxnSpPr/>
          <p:nvPr/>
        </p:nvCxnSpPr>
        <p:spPr>
          <a:xfrm>
            <a:off x="6309360" y="2871216"/>
            <a:ext cx="4965300" cy="0"/>
          </a:xfrm>
          <a:prstGeom prst="straightConnector1">
            <a:avLst/>
          </a:prstGeom>
          <a:noFill/>
          <a:ln cap="flat" cmpd="sng" w="9525">
            <a:solidFill>
              <a:srgbClr val="C8C5BC"/>
            </a:solidFill>
            <a:prstDash val="solid"/>
            <a:round/>
            <a:headEnd len="sm" w="sm" type="none"/>
            <a:tailEnd len="sm" w="sm" type="none"/>
          </a:ln>
        </p:spPr>
      </p:cxnSp>
      <p:sp>
        <p:nvSpPr>
          <p:cNvPr id="388" name="Google Shape;388;p24"/>
          <p:cNvSpPr/>
          <p:nvPr/>
        </p:nvSpPr>
        <p:spPr>
          <a:xfrm>
            <a:off x="6309360" y="3017520"/>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Packet flood</a:t>
            </a:r>
            <a:endParaRPr b="0" i="0" sz="1600" u="none" cap="none" strike="noStrike">
              <a:solidFill>
                <a:schemeClr val="dk1"/>
              </a:solidFill>
              <a:latin typeface="Calibri"/>
              <a:ea typeface="Calibri"/>
              <a:cs typeface="Calibri"/>
              <a:sym typeface="Calibri"/>
            </a:endParaRPr>
          </a:p>
        </p:txBody>
      </p:sp>
      <p:sp>
        <p:nvSpPr>
          <p:cNvPr id="389" name="Google Shape;389;p24"/>
          <p:cNvSpPr/>
          <p:nvPr/>
        </p:nvSpPr>
        <p:spPr>
          <a:xfrm>
            <a:off x="8961120" y="3017520"/>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2 000–8 000 packets</a:t>
            </a:r>
            <a:endParaRPr b="0" i="0" sz="1600" u="none" cap="none" strike="noStrike">
              <a:solidFill>
                <a:schemeClr val="dk1"/>
              </a:solidFill>
              <a:latin typeface="Calibri"/>
              <a:ea typeface="Calibri"/>
              <a:cs typeface="Calibri"/>
              <a:sym typeface="Calibri"/>
            </a:endParaRPr>
          </a:p>
        </p:txBody>
      </p:sp>
      <p:sp>
        <p:nvSpPr>
          <p:cNvPr id="390" name="Google Shape;390;p24"/>
          <p:cNvSpPr/>
          <p:nvPr/>
        </p:nvSpPr>
        <p:spPr>
          <a:xfrm>
            <a:off x="6309360" y="3621024"/>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Unusual port</a:t>
            </a:r>
            <a:endParaRPr b="0" i="0" sz="1600" u="none" cap="none" strike="noStrike">
              <a:solidFill>
                <a:schemeClr val="dk1"/>
              </a:solidFill>
              <a:latin typeface="Calibri"/>
              <a:ea typeface="Calibri"/>
              <a:cs typeface="Calibri"/>
              <a:sym typeface="Calibri"/>
            </a:endParaRPr>
          </a:p>
        </p:txBody>
      </p:sp>
      <p:sp>
        <p:nvSpPr>
          <p:cNvPr id="391" name="Google Shape;391;p24"/>
          <p:cNvSpPr/>
          <p:nvPr/>
        </p:nvSpPr>
        <p:spPr>
          <a:xfrm>
            <a:off x="8961120" y="3621024"/>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4444, 31337, 1337 …</a:t>
            </a:r>
            <a:endParaRPr b="0" i="0" sz="1600" u="none" cap="none" strike="noStrike">
              <a:solidFill>
                <a:schemeClr val="dk1"/>
              </a:solidFill>
              <a:latin typeface="Calibri"/>
              <a:ea typeface="Calibri"/>
              <a:cs typeface="Calibri"/>
              <a:sym typeface="Calibri"/>
            </a:endParaRPr>
          </a:p>
        </p:txBody>
      </p:sp>
      <p:sp>
        <p:nvSpPr>
          <p:cNvPr id="392" name="Google Shape;392;p24"/>
          <p:cNvSpPr/>
          <p:nvPr/>
        </p:nvSpPr>
        <p:spPr>
          <a:xfrm>
            <a:off x="6309360" y="4224528"/>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Data exfiltration</a:t>
            </a:r>
            <a:endParaRPr b="0" i="0" sz="1600" u="none" cap="none" strike="noStrike">
              <a:solidFill>
                <a:schemeClr val="dk1"/>
              </a:solidFill>
              <a:latin typeface="Calibri"/>
              <a:ea typeface="Calibri"/>
              <a:cs typeface="Calibri"/>
              <a:sym typeface="Calibri"/>
            </a:endParaRPr>
          </a:p>
        </p:txBody>
      </p:sp>
      <p:sp>
        <p:nvSpPr>
          <p:cNvPr id="393" name="Google Shape;393;p24"/>
          <p:cNvSpPr/>
          <p:nvPr/>
        </p:nvSpPr>
        <p:spPr>
          <a:xfrm>
            <a:off x="8961120" y="4224528"/>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100–500 KB, few packets</a:t>
            </a:r>
            <a:endParaRPr b="0" i="0" sz="1600" u="none" cap="none" strike="noStrike">
              <a:solidFill>
                <a:schemeClr val="dk1"/>
              </a:solidFill>
              <a:latin typeface="Calibri"/>
              <a:ea typeface="Calibri"/>
              <a:cs typeface="Calibri"/>
              <a:sym typeface="Calibri"/>
            </a:endParaRPr>
          </a:p>
        </p:txBody>
      </p:sp>
      <p:sp>
        <p:nvSpPr>
          <p:cNvPr id="394" name="Google Shape;394;p24"/>
          <p:cNvSpPr/>
          <p:nvPr/>
        </p:nvSpPr>
        <p:spPr>
          <a:xfrm>
            <a:off x="6309360" y="4828032"/>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Port scanning</a:t>
            </a:r>
            <a:endParaRPr b="0" i="0" sz="1600" u="none" cap="none" strike="noStrike">
              <a:solidFill>
                <a:schemeClr val="dk1"/>
              </a:solidFill>
              <a:latin typeface="Calibri"/>
              <a:ea typeface="Calibri"/>
              <a:cs typeface="Calibri"/>
              <a:sym typeface="Calibri"/>
            </a:endParaRPr>
          </a:p>
        </p:txBody>
      </p:sp>
      <p:sp>
        <p:nvSpPr>
          <p:cNvPr id="395" name="Google Shape;395;p24"/>
          <p:cNvSpPr/>
          <p:nvPr/>
        </p:nvSpPr>
        <p:spPr>
          <a:xfrm>
            <a:off x="8961120" y="4828032"/>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tiny packets, ports &lt; 1024</a:t>
            </a:r>
            <a:endParaRPr b="0" i="0" sz="1600" u="none" cap="none" strike="noStrike">
              <a:solidFill>
                <a:schemeClr val="dk1"/>
              </a:solidFill>
              <a:latin typeface="Calibri"/>
              <a:ea typeface="Calibri"/>
              <a:cs typeface="Calibri"/>
              <a:sym typeface="Calibri"/>
            </a:endParaRPr>
          </a:p>
        </p:txBody>
      </p:sp>
      <p:sp>
        <p:nvSpPr>
          <p:cNvPr id="396" name="Google Shape;396;p24"/>
          <p:cNvSpPr/>
          <p:nvPr/>
        </p:nvSpPr>
        <p:spPr>
          <a:xfrm>
            <a:off x="6309360" y="5431536"/>
            <a:ext cx="26061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Protocol anomaly</a:t>
            </a:r>
            <a:endParaRPr b="0" i="0" sz="1600" u="none" cap="none" strike="noStrike">
              <a:solidFill>
                <a:schemeClr val="dk1"/>
              </a:solidFill>
              <a:latin typeface="Calibri"/>
              <a:ea typeface="Calibri"/>
              <a:cs typeface="Calibri"/>
              <a:sym typeface="Calibri"/>
            </a:endParaRPr>
          </a:p>
        </p:txBody>
      </p:sp>
      <p:sp>
        <p:nvSpPr>
          <p:cNvPr id="397" name="Google Shape;397;p24"/>
          <p:cNvSpPr/>
          <p:nvPr/>
        </p:nvSpPr>
        <p:spPr>
          <a:xfrm>
            <a:off x="8961120" y="5431536"/>
            <a:ext cx="23316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unseen code + burst</a:t>
            </a:r>
            <a:endParaRPr b="0" i="0" sz="1600" u="none" cap="none" strike="noStrike">
              <a:solidFill>
                <a:schemeClr val="dk1"/>
              </a:solidFill>
              <a:latin typeface="Calibri"/>
              <a:ea typeface="Calibri"/>
              <a:cs typeface="Calibri"/>
              <a:sym typeface="Calibri"/>
            </a:endParaRPr>
          </a:p>
        </p:txBody>
      </p:sp>
      <p:sp>
        <p:nvSpPr>
          <p:cNvPr id="398" name="Google Shape;398;p24"/>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25"/>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405" name="Google Shape;405;p25"/>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406" name="Google Shape;406;p25"/>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1.2 · SCHEMA</a:t>
            </a:r>
            <a:endParaRPr b="0" i="0" sz="1000" u="none" cap="none" strike="noStrike">
              <a:solidFill>
                <a:schemeClr val="dk1"/>
              </a:solidFill>
              <a:latin typeface="Calibri"/>
              <a:ea typeface="Calibri"/>
              <a:cs typeface="Calibri"/>
              <a:sym typeface="Calibri"/>
            </a:endParaRPr>
          </a:p>
        </p:txBody>
      </p:sp>
      <p:sp>
        <p:nvSpPr>
          <p:cNvPr id="407" name="Google Shape;407;p25"/>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The 12 features the model will see</a:t>
            </a:r>
            <a:endParaRPr b="0" i="0" sz="3000" u="none" cap="none" strike="noStrike">
              <a:solidFill>
                <a:schemeClr val="dk1"/>
              </a:solidFill>
              <a:latin typeface="Calibri"/>
              <a:ea typeface="Calibri"/>
              <a:cs typeface="Calibri"/>
              <a:sym typeface="Calibri"/>
            </a:endParaRPr>
          </a:p>
        </p:txBody>
      </p:sp>
      <p:sp>
        <p:nvSpPr>
          <p:cNvPr id="408" name="Google Shape;408;p25"/>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410" name="Google Shape;410;p25"/>
          <p:cNvSpPr/>
          <p:nvPr/>
        </p:nvSpPr>
        <p:spPr>
          <a:xfrm>
            <a:off x="640080" y="1783080"/>
            <a:ext cx="155448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640080" y="1783080"/>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 PHYSICAL</a:t>
            </a:r>
            <a:endParaRPr b="0" i="0" sz="950" u="none" cap="none" strike="noStrike">
              <a:solidFill>
                <a:schemeClr val="dk1"/>
              </a:solidFill>
              <a:latin typeface="Calibri"/>
              <a:ea typeface="Calibri"/>
              <a:cs typeface="Calibri"/>
              <a:sym typeface="Calibri"/>
            </a:endParaRPr>
          </a:p>
        </p:txBody>
      </p:sp>
      <p:sp>
        <p:nvSpPr>
          <p:cNvPr id="412" name="Google Shape;412;p25"/>
          <p:cNvSpPr/>
          <p:nvPr/>
        </p:nvSpPr>
        <p:spPr>
          <a:xfrm>
            <a:off x="640080" y="230428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veh_speed</a:t>
            </a:r>
            <a:endParaRPr b="0" i="0" sz="1350" u="none" cap="none" strike="noStrike">
              <a:solidFill>
                <a:schemeClr val="dk1"/>
              </a:solidFill>
              <a:latin typeface="Calibri"/>
              <a:ea typeface="Calibri"/>
              <a:cs typeface="Calibri"/>
              <a:sym typeface="Calibri"/>
            </a:endParaRPr>
          </a:p>
        </p:txBody>
      </p:sp>
      <p:sp>
        <p:nvSpPr>
          <p:cNvPr id="413" name="Google Shape;413;p25"/>
          <p:cNvSpPr/>
          <p:nvPr/>
        </p:nvSpPr>
        <p:spPr>
          <a:xfrm>
            <a:off x="3977640" y="230428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km/h</a:t>
            </a:r>
            <a:endParaRPr b="0" i="0" sz="1600" u="none" cap="none" strike="noStrike">
              <a:solidFill>
                <a:schemeClr val="dk1"/>
              </a:solidFill>
              <a:latin typeface="Calibri"/>
              <a:ea typeface="Calibri"/>
              <a:cs typeface="Calibri"/>
              <a:sym typeface="Calibri"/>
            </a:endParaRPr>
          </a:p>
        </p:txBody>
      </p:sp>
      <p:cxnSp>
        <p:nvCxnSpPr>
          <p:cNvPr id="414" name="Google Shape;414;p25"/>
          <p:cNvCxnSpPr/>
          <p:nvPr/>
        </p:nvCxnSpPr>
        <p:spPr>
          <a:xfrm>
            <a:off x="640080" y="2706624"/>
            <a:ext cx="5257800" cy="0"/>
          </a:xfrm>
          <a:prstGeom prst="straightConnector1">
            <a:avLst/>
          </a:prstGeom>
          <a:noFill/>
          <a:ln cap="flat" cmpd="sng" w="9525">
            <a:solidFill>
              <a:srgbClr val="C8C5BC"/>
            </a:solidFill>
            <a:prstDash val="solid"/>
            <a:round/>
            <a:headEnd len="sm" w="sm" type="none"/>
            <a:tailEnd len="sm" w="sm" type="none"/>
          </a:ln>
        </p:spPr>
      </p:cxnSp>
      <p:sp>
        <p:nvSpPr>
          <p:cNvPr id="415" name="Google Shape;415;p25"/>
          <p:cNvSpPr/>
          <p:nvPr/>
        </p:nvSpPr>
        <p:spPr>
          <a:xfrm>
            <a:off x="640080" y="285292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veh_acceleration</a:t>
            </a:r>
            <a:endParaRPr b="0" i="0" sz="1350" u="none" cap="none" strike="noStrike">
              <a:solidFill>
                <a:schemeClr val="dk1"/>
              </a:solidFill>
              <a:latin typeface="Calibri"/>
              <a:ea typeface="Calibri"/>
              <a:cs typeface="Calibri"/>
              <a:sym typeface="Calibri"/>
            </a:endParaRPr>
          </a:p>
        </p:txBody>
      </p:sp>
      <p:sp>
        <p:nvSpPr>
          <p:cNvPr id="416" name="Google Shape;416;p25"/>
          <p:cNvSpPr/>
          <p:nvPr/>
        </p:nvSpPr>
        <p:spPr>
          <a:xfrm>
            <a:off x="3977640" y="285292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Δ speed</a:t>
            </a:r>
            <a:endParaRPr b="0" i="0" sz="1600" u="none" cap="none" strike="noStrike">
              <a:solidFill>
                <a:schemeClr val="dk1"/>
              </a:solidFill>
              <a:latin typeface="Calibri"/>
              <a:ea typeface="Calibri"/>
              <a:cs typeface="Calibri"/>
              <a:sym typeface="Calibri"/>
            </a:endParaRPr>
          </a:p>
        </p:txBody>
      </p:sp>
      <p:cxnSp>
        <p:nvCxnSpPr>
          <p:cNvPr id="417" name="Google Shape;417;p25"/>
          <p:cNvCxnSpPr/>
          <p:nvPr/>
        </p:nvCxnSpPr>
        <p:spPr>
          <a:xfrm>
            <a:off x="640080" y="3255264"/>
            <a:ext cx="5257800" cy="0"/>
          </a:xfrm>
          <a:prstGeom prst="straightConnector1">
            <a:avLst/>
          </a:prstGeom>
          <a:noFill/>
          <a:ln cap="flat" cmpd="sng" w="9525">
            <a:solidFill>
              <a:srgbClr val="C8C5BC"/>
            </a:solidFill>
            <a:prstDash val="solid"/>
            <a:round/>
            <a:headEnd len="sm" w="sm" type="none"/>
            <a:tailEnd len="sm" w="sm" type="none"/>
          </a:ln>
        </p:spPr>
      </p:cxnSp>
      <p:sp>
        <p:nvSpPr>
          <p:cNvPr id="418" name="Google Shape;418;p25"/>
          <p:cNvSpPr/>
          <p:nvPr/>
        </p:nvSpPr>
        <p:spPr>
          <a:xfrm>
            <a:off x="640080" y="340156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veh_distance_to_obstacle</a:t>
            </a:r>
            <a:endParaRPr b="0" i="0" sz="1350" u="none" cap="none" strike="noStrike">
              <a:solidFill>
                <a:schemeClr val="dk1"/>
              </a:solidFill>
              <a:latin typeface="Calibri"/>
              <a:ea typeface="Calibri"/>
              <a:cs typeface="Calibri"/>
              <a:sym typeface="Calibri"/>
            </a:endParaRPr>
          </a:p>
        </p:txBody>
      </p:sp>
      <p:sp>
        <p:nvSpPr>
          <p:cNvPr id="419" name="Google Shape;419;p25"/>
          <p:cNvSpPr/>
          <p:nvPr/>
        </p:nvSpPr>
        <p:spPr>
          <a:xfrm>
            <a:off x="3977640" y="340156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metres</a:t>
            </a:r>
            <a:endParaRPr b="0" i="0" sz="1600" u="none" cap="none" strike="noStrike">
              <a:solidFill>
                <a:schemeClr val="dk1"/>
              </a:solidFill>
              <a:latin typeface="Calibri"/>
              <a:ea typeface="Calibri"/>
              <a:cs typeface="Calibri"/>
              <a:sym typeface="Calibri"/>
            </a:endParaRPr>
          </a:p>
        </p:txBody>
      </p:sp>
      <p:cxnSp>
        <p:nvCxnSpPr>
          <p:cNvPr id="420" name="Google Shape;420;p25"/>
          <p:cNvCxnSpPr/>
          <p:nvPr/>
        </p:nvCxnSpPr>
        <p:spPr>
          <a:xfrm>
            <a:off x="640080" y="3803904"/>
            <a:ext cx="5257800" cy="0"/>
          </a:xfrm>
          <a:prstGeom prst="straightConnector1">
            <a:avLst/>
          </a:prstGeom>
          <a:noFill/>
          <a:ln cap="flat" cmpd="sng" w="9525">
            <a:solidFill>
              <a:srgbClr val="C8C5BC"/>
            </a:solidFill>
            <a:prstDash val="solid"/>
            <a:round/>
            <a:headEnd len="sm" w="sm" type="none"/>
            <a:tailEnd len="sm" w="sm" type="none"/>
          </a:ln>
        </p:spPr>
      </p:cxnSp>
      <p:sp>
        <p:nvSpPr>
          <p:cNvPr id="421" name="Google Shape;421;p25"/>
          <p:cNvSpPr/>
          <p:nvPr/>
        </p:nvSpPr>
        <p:spPr>
          <a:xfrm>
            <a:off x="640080" y="395020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veh_gps_lat</a:t>
            </a:r>
            <a:endParaRPr b="0" i="0" sz="1350" u="none" cap="none" strike="noStrike">
              <a:solidFill>
                <a:schemeClr val="dk1"/>
              </a:solidFill>
              <a:latin typeface="Calibri"/>
              <a:ea typeface="Calibri"/>
              <a:cs typeface="Calibri"/>
              <a:sym typeface="Calibri"/>
            </a:endParaRPr>
          </a:p>
        </p:txBody>
      </p:sp>
      <p:sp>
        <p:nvSpPr>
          <p:cNvPr id="422" name="Google Shape;422;p25"/>
          <p:cNvSpPr/>
          <p:nvPr/>
        </p:nvSpPr>
        <p:spPr>
          <a:xfrm>
            <a:off x="3977640" y="395020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route</a:t>
            </a:r>
            <a:endParaRPr b="0" i="0" sz="1600" u="none" cap="none" strike="noStrike">
              <a:solidFill>
                <a:schemeClr val="dk1"/>
              </a:solidFill>
              <a:latin typeface="Calibri"/>
              <a:ea typeface="Calibri"/>
              <a:cs typeface="Calibri"/>
              <a:sym typeface="Calibri"/>
            </a:endParaRPr>
          </a:p>
        </p:txBody>
      </p:sp>
      <p:cxnSp>
        <p:nvCxnSpPr>
          <p:cNvPr id="423" name="Google Shape;423;p25"/>
          <p:cNvCxnSpPr/>
          <p:nvPr/>
        </p:nvCxnSpPr>
        <p:spPr>
          <a:xfrm>
            <a:off x="640080" y="4352544"/>
            <a:ext cx="5257800" cy="0"/>
          </a:xfrm>
          <a:prstGeom prst="straightConnector1">
            <a:avLst/>
          </a:prstGeom>
          <a:noFill/>
          <a:ln cap="flat" cmpd="sng" w="9525">
            <a:solidFill>
              <a:srgbClr val="C8C5BC"/>
            </a:solidFill>
            <a:prstDash val="solid"/>
            <a:round/>
            <a:headEnd len="sm" w="sm" type="none"/>
            <a:tailEnd len="sm" w="sm" type="none"/>
          </a:ln>
        </p:spPr>
      </p:cxnSp>
      <p:sp>
        <p:nvSpPr>
          <p:cNvPr id="424" name="Google Shape;424;p25"/>
          <p:cNvSpPr/>
          <p:nvPr/>
        </p:nvSpPr>
        <p:spPr>
          <a:xfrm>
            <a:off x="640080" y="449884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veh_gps_lon</a:t>
            </a:r>
            <a:endParaRPr b="0" i="0" sz="1350" u="none" cap="none" strike="noStrike">
              <a:solidFill>
                <a:schemeClr val="dk1"/>
              </a:solidFill>
              <a:latin typeface="Calibri"/>
              <a:ea typeface="Calibri"/>
              <a:cs typeface="Calibri"/>
              <a:sym typeface="Calibri"/>
            </a:endParaRPr>
          </a:p>
        </p:txBody>
      </p:sp>
      <p:sp>
        <p:nvSpPr>
          <p:cNvPr id="425" name="Google Shape;425;p25"/>
          <p:cNvSpPr/>
          <p:nvPr/>
        </p:nvSpPr>
        <p:spPr>
          <a:xfrm>
            <a:off x="3977640" y="449884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route</a:t>
            </a:r>
            <a:endParaRPr b="0" i="0" sz="1600" u="none" cap="none" strike="noStrike">
              <a:solidFill>
                <a:schemeClr val="dk1"/>
              </a:solidFill>
              <a:latin typeface="Calibri"/>
              <a:ea typeface="Calibri"/>
              <a:cs typeface="Calibri"/>
              <a:sym typeface="Calibri"/>
            </a:endParaRPr>
          </a:p>
        </p:txBody>
      </p:sp>
      <p:cxnSp>
        <p:nvCxnSpPr>
          <p:cNvPr id="426" name="Google Shape;426;p25"/>
          <p:cNvCxnSpPr/>
          <p:nvPr/>
        </p:nvCxnSpPr>
        <p:spPr>
          <a:xfrm>
            <a:off x="640080" y="4901184"/>
            <a:ext cx="5257800" cy="0"/>
          </a:xfrm>
          <a:prstGeom prst="straightConnector1">
            <a:avLst/>
          </a:prstGeom>
          <a:noFill/>
          <a:ln cap="flat" cmpd="sng" w="9525">
            <a:solidFill>
              <a:srgbClr val="C8C5BC"/>
            </a:solidFill>
            <a:prstDash val="solid"/>
            <a:round/>
            <a:headEnd len="sm" w="sm" type="none"/>
            <a:tailEnd len="sm" w="sm" type="none"/>
          </a:ln>
        </p:spPr>
      </p:cxnSp>
      <p:sp>
        <p:nvSpPr>
          <p:cNvPr id="427" name="Google Shape;427;p25"/>
          <p:cNvSpPr/>
          <p:nvPr/>
        </p:nvSpPr>
        <p:spPr>
          <a:xfrm>
            <a:off x="640080" y="504748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veh_brake_status</a:t>
            </a:r>
            <a:endParaRPr b="0" i="0" sz="1350" u="none" cap="none" strike="noStrike">
              <a:solidFill>
                <a:schemeClr val="dk1"/>
              </a:solidFill>
              <a:latin typeface="Calibri"/>
              <a:ea typeface="Calibri"/>
              <a:cs typeface="Calibri"/>
              <a:sym typeface="Calibri"/>
            </a:endParaRPr>
          </a:p>
        </p:txBody>
      </p:sp>
      <p:sp>
        <p:nvSpPr>
          <p:cNvPr id="428" name="Google Shape;428;p25"/>
          <p:cNvSpPr/>
          <p:nvPr/>
        </p:nvSpPr>
        <p:spPr>
          <a:xfrm>
            <a:off x="3977640" y="504748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0 / 1 / 2</a:t>
            </a:r>
            <a:endParaRPr b="0" i="0" sz="1600" u="none" cap="none" strike="noStrike">
              <a:solidFill>
                <a:schemeClr val="dk1"/>
              </a:solidFill>
              <a:latin typeface="Calibri"/>
              <a:ea typeface="Calibri"/>
              <a:cs typeface="Calibri"/>
              <a:sym typeface="Calibri"/>
            </a:endParaRPr>
          </a:p>
        </p:txBody>
      </p:sp>
      <p:cxnSp>
        <p:nvCxnSpPr>
          <p:cNvPr id="429" name="Google Shape;429;p25"/>
          <p:cNvCxnSpPr/>
          <p:nvPr/>
        </p:nvCxnSpPr>
        <p:spPr>
          <a:xfrm>
            <a:off x="640080" y="5449824"/>
            <a:ext cx="5257800" cy="0"/>
          </a:xfrm>
          <a:prstGeom prst="straightConnector1">
            <a:avLst/>
          </a:prstGeom>
          <a:noFill/>
          <a:ln cap="flat" cmpd="sng" w="9525">
            <a:solidFill>
              <a:srgbClr val="C8C5BC"/>
            </a:solidFill>
            <a:prstDash val="solid"/>
            <a:round/>
            <a:headEnd len="sm" w="sm" type="none"/>
            <a:tailEnd len="sm" w="sm" type="none"/>
          </a:ln>
        </p:spPr>
      </p:cxnSp>
      <p:sp>
        <p:nvSpPr>
          <p:cNvPr id="430" name="Google Shape;430;p25"/>
          <p:cNvSpPr/>
          <p:nvPr/>
        </p:nvSpPr>
        <p:spPr>
          <a:xfrm>
            <a:off x="6263640" y="1783080"/>
            <a:ext cx="155448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5"/>
          <p:cNvSpPr/>
          <p:nvPr/>
        </p:nvSpPr>
        <p:spPr>
          <a:xfrm>
            <a:off x="6263640" y="1783080"/>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 NETWORK</a:t>
            </a:r>
            <a:endParaRPr b="0" i="0" sz="950" u="none" cap="none" strike="noStrike">
              <a:solidFill>
                <a:schemeClr val="dk1"/>
              </a:solidFill>
              <a:latin typeface="Calibri"/>
              <a:ea typeface="Calibri"/>
              <a:cs typeface="Calibri"/>
              <a:sym typeface="Calibri"/>
            </a:endParaRPr>
          </a:p>
        </p:txBody>
      </p:sp>
      <p:sp>
        <p:nvSpPr>
          <p:cNvPr id="432" name="Google Shape;432;p25"/>
          <p:cNvSpPr/>
          <p:nvPr/>
        </p:nvSpPr>
        <p:spPr>
          <a:xfrm>
            <a:off x="6263640" y="230428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net_protocol_encoded</a:t>
            </a:r>
            <a:endParaRPr b="0" i="0" sz="1350" u="none" cap="none" strike="noStrike">
              <a:solidFill>
                <a:schemeClr val="dk1"/>
              </a:solidFill>
              <a:latin typeface="Calibri"/>
              <a:ea typeface="Calibri"/>
              <a:cs typeface="Calibri"/>
              <a:sym typeface="Calibri"/>
            </a:endParaRPr>
          </a:p>
        </p:txBody>
      </p:sp>
      <p:sp>
        <p:nvSpPr>
          <p:cNvPr id="433" name="Google Shape;433;p25"/>
          <p:cNvSpPr/>
          <p:nvPr/>
        </p:nvSpPr>
        <p:spPr>
          <a:xfrm>
            <a:off x="9601200" y="230428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TCP·UDP·ICMP</a:t>
            </a:r>
            <a:endParaRPr b="0" i="0" sz="1600" u="none" cap="none" strike="noStrike">
              <a:solidFill>
                <a:schemeClr val="dk1"/>
              </a:solidFill>
              <a:latin typeface="Calibri"/>
              <a:ea typeface="Calibri"/>
              <a:cs typeface="Calibri"/>
              <a:sym typeface="Calibri"/>
            </a:endParaRPr>
          </a:p>
        </p:txBody>
      </p:sp>
      <p:cxnSp>
        <p:nvCxnSpPr>
          <p:cNvPr id="434" name="Google Shape;434;p25"/>
          <p:cNvCxnSpPr/>
          <p:nvPr/>
        </p:nvCxnSpPr>
        <p:spPr>
          <a:xfrm>
            <a:off x="6263640" y="2706624"/>
            <a:ext cx="5257800" cy="0"/>
          </a:xfrm>
          <a:prstGeom prst="straightConnector1">
            <a:avLst/>
          </a:prstGeom>
          <a:noFill/>
          <a:ln cap="flat" cmpd="sng" w="9525">
            <a:solidFill>
              <a:srgbClr val="C8C5BC"/>
            </a:solidFill>
            <a:prstDash val="solid"/>
            <a:round/>
            <a:headEnd len="sm" w="sm" type="none"/>
            <a:tailEnd len="sm" w="sm" type="none"/>
          </a:ln>
        </p:spPr>
      </p:cxnSp>
      <p:sp>
        <p:nvSpPr>
          <p:cNvPr id="435" name="Google Shape;435;p25"/>
          <p:cNvSpPr/>
          <p:nvPr/>
        </p:nvSpPr>
        <p:spPr>
          <a:xfrm>
            <a:off x="6263640" y="285292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net_packet_count</a:t>
            </a:r>
            <a:endParaRPr b="0" i="0" sz="1350" u="none" cap="none" strike="noStrike">
              <a:solidFill>
                <a:schemeClr val="dk1"/>
              </a:solidFill>
              <a:latin typeface="Calibri"/>
              <a:ea typeface="Calibri"/>
              <a:cs typeface="Calibri"/>
              <a:sym typeface="Calibri"/>
            </a:endParaRPr>
          </a:p>
        </p:txBody>
      </p:sp>
      <p:sp>
        <p:nvSpPr>
          <p:cNvPr id="436" name="Google Shape;436;p25"/>
          <p:cNvSpPr/>
          <p:nvPr/>
        </p:nvSpPr>
        <p:spPr>
          <a:xfrm>
            <a:off x="9601200" y="285292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per flow</a:t>
            </a:r>
            <a:endParaRPr b="0" i="0" sz="1600" u="none" cap="none" strike="noStrike">
              <a:solidFill>
                <a:schemeClr val="dk1"/>
              </a:solidFill>
              <a:latin typeface="Calibri"/>
              <a:ea typeface="Calibri"/>
              <a:cs typeface="Calibri"/>
              <a:sym typeface="Calibri"/>
            </a:endParaRPr>
          </a:p>
        </p:txBody>
      </p:sp>
      <p:cxnSp>
        <p:nvCxnSpPr>
          <p:cNvPr id="437" name="Google Shape;437;p25"/>
          <p:cNvCxnSpPr/>
          <p:nvPr/>
        </p:nvCxnSpPr>
        <p:spPr>
          <a:xfrm>
            <a:off x="6263640" y="3255264"/>
            <a:ext cx="5257800" cy="0"/>
          </a:xfrm>
          <a:prstGeom prst="straightConnector1">
            <a:avLst/>
          </a:prstGeom>
          <a:noFill/>
          <a:ln cap="flat" cmpd="sng" w="9525">
            <a:solidFill>
              <a:srgbClr val="C8C5BC"/>
            </a:solidFill>
            <a:prstDash val="solid"/>
            <a:round/>
            <a:headEnd len="sm" w="sm" type="none"/>
            <a:tailEnd len="sm" w="sm" type="none"/>
          </a:ln>
        </p:spPr>
      </p:cxnSp>
      <p:sp>
        <p:nvSpPr>
          <p:cNvPr id="438" name="Google Shape;438;p25"/>
          <p:cNvSpPr/>
          <p:nvPr/>
        </p:nvSpPr>
        <p:spPr>
          <a:xfrm>
            <a:off x="6263640" y="340156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net_bytes_transferred</a:t>
            </a:r>
            <a:endParaRPr b="0" i="0" sz="1350" u="none" cap="none" strike="noStrike">
              <a:solidFill>
                <a:schemeClr val="dk1"/>
              </a:solidFill>
              <a:latin typeface="Calibri"/>
              <a:ea typeface="Calibri"/>
              <a:cs typeface="Calibri"/>
              <a:sym typeface="Calibri"/>
            </a:endParaRPr>
          </a:p>
        </p:txBody>
      </p:sp>
      <p:sp>
        <p:nvSpPr>
          <p:cNvPr id="439" name="Google Shape;439;p25"/>
          <p:cNvSpPr/>
          <p:nvPr/>
        </p:nvSpPr>
        <p:spPr>
          <a:xfrm>
            <a:off x="9601200" y="340156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bytes</a:t>
            </a:r>
            <a:endParaRPr b="0" i="0" sz="1600" u="none" cap="none" strike="noStrike">
              <a:solidFill>
                <a:schemeClr val="dk1"/>
              </a:solidFill>
              <a:latin typeface="Calibri"/>
              <a:ea typeface="Calibri"/>
              <a:cs typeface="Calibri"/>
              <a:sym typeface="Calibri"/>
            </a:endParaRPr>
          </a:p>
        </p:txBody>
      </p:sp>
      <p:cxnSp>
        <p:nvCxnSpPr>
          <p:cNvPr id="440" name="Google Shape;440;p25"/>
          <p:cNvCxnSpPr/>
          <p:nvPr/>
        </p:nvCxnSpPr>
        <p:spPr>
          <a:xfrm>
            <a:off x="6263640" y="3803904"/>
            <a:ext cx="5257800" cy="0"/>
          </a:xfrm>
          <a:prstGeom prst="straightConnector1">
            <a:avLst/>
          </a:prstGeom>
          <a:noFill/>
          <a:ln cap="flat" cmpd="sng" w="9525">
            <a:solidFill>
              <a:srgbClr val="C8C5BC"/>
            </a:solidFill>
            <a:prstDash val="solid"/>
            <a:round/>
            <a:headEnd len="sm" w="sm" type="none"/>
            <a:tailEnd len="sm" w="sm" type="none"/>
          </a:ln>
        </p:spPr>
      </p:cxnSp>
      <p:sp>
        <p:nvSpPr>
          <p:cNvPr id="441" name="Google Shape;441;p25"/>
          <p:cNvSpPr/>
          <p:nvPr/>
        </p:nvSpPr>
        <p:spPr>
          <a:xfrm>
            <a:off x="6263640" y="395020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net_port</a:t>
            </a:r>
            <a:endParaRPr b="0" i="0" sz="1350" u="none" cap="none" strike="noStrike">
              <a:solidFill>
                <a:schemeClr val="dk1"/>
              </a:solidFill>
              <a:latin typeface="Calibri"/>
              <a:ea typeface="Calibri"/>
              <a:cs typeface="Calibri"/>
              <a:sym typeface="Calibri"/>
            </a:endParaRPr>
          </a:p>
        </p:txBody>
      </p:sp>
      <p:sp>
        <p:nvSpPr>
          <p:cNvPr id="442" name="Google Shape;442;p25"/>
          <p:cNvSpPr/>
          <p:nvPr/>
        </p:nvSpPr>
        <p:spPr>
          <a:xfrm>
            <a:off x="9601200" y="395020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known / high</a:t>
            </a:r>
            <a:endParaRPr b="0" i="0" sz="1600" u="none" cap="none" strike="noStrike">
              <a:solidFill>
                <a:schemeClr val="dk1"/>
              </a:solidFill>
              <a:latin typeface="Calibri"/>
              <a:ea typeface="Calibri"/>
              <a:cs typeface="Calibri"/>
              <a:sym typeface="Calibri"/>
            </a:endParaRPr>
          </a:p>
        </p:txBody>
      </p:sp>
      <p:cxnSp>
        <p:nvCxnSpPr>
          <p:cNvPr id="443" name="Google Shape;443;p25"/>
          <p:cNvCxnSpPr/>
          <p:nvPr/>
        </p:nvCxnSpPr>
        <p:spPr>
          <a:xfrm>
            <a:off x="6263640" y="4352544"/>
            <a:ext cx="5257800" cy="0"/>
          </a:xfrm>
          <a:prstGeom prst="straightConnector1">
            <a:avLst/>
          </a:prstGeom>
          <a:noFill/>
          <a:ln cap="flat" cmpd="sng" w="9525">
            <a:solidFill>
              <a:srgbClr val="C8C5BC"/>
            </a:solidFill>
            <a:prstDash val="solid"/>
            <a:round/>
            <a:headEnd len="sm" w="sm" type="none"/>
            <a:tailEnd len="sm" w="sm" type="none"/>
          </a:ln>
        </p:spPr>
      </p:cxnSp>
      <p:sp>
        <p:nvSpPr>
          <p:cNvPr id="444" name="Google Shape;444;p25"/>
          <p:cNvSpPr/>
          <p:nvPr/>
        </p:nvSpPr>
        <p:spPr>
          <a:xfrm>
            <a:off x="6263640" y="449884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net_src_ip_hash</a:t>
            </a:r>
            <a:endParaRPr b="0" i="0" sz="1350" u="none" cap="none" strike="noStrike">
              <a:solidFill>
                <a:schemeClr val="dk1"/>
              </a:solidFill>
              <a:latin typeface="Calibri"/>
              <a:ea typeface="Calibri"/>
              <a:cs typeface="Calibri"/>
              <a:sym typeface="Calibri"/>
            </a:endParaRPr>
          </a:p>
        </p:txBody>
      </p:sp>
      <p:sp>
        <p:nvSpPr>
          <p:cNvPr id="445" name="Google Shape;445;p25"/>
          <p:cNvSpPr/>
          <p:nvPr/>
        </p:nvSpPr>
        <p:spPr>
          <a:xfrm>
            <a:off x="9601200" y="449884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hash mod 10 000</a:t>
            </a:r>
            <a:endParaRPr b="0" i="0" sz="1600" u="none" cap="none" strike="noStrike">
              <a:solidFill>
                <a:schemeClr val="dk1"/>
              </a:solidFill>
              <a:latin typeface="Calibri"/>
              <a:ea typeface="Calibri"/>
              <a:cs typeface="Calibri"/>
              <a:sym typeface="Calibri"/>
            </a:endParaRPr>
          </a:p>
        </p:txBody>
      </p:sp>
      <p:cxnSp>
        <p:nvCxnSpPr>
          <p:cNvPr id="446" name="Google Shape;446;p25"/>
          <p:cNvCxnSpPr/>
          <p:nvPr/>
        </p:nvCxnSpPr>
        <p:spPr>
          <a:xfrm>
            <a:off x="6263640" y="4901184"/>
            <a:ext cx="5257800" cy="0"/>
          </a:xfrm>
          <a:prstGeom prst="straightConnector1">
            <a:avLst/>
          </a:prstGeom>
          <a:noFill/>
          <a:ln cap="flat" cmpd="sng" w="9525">
            <a:solidFill>
              <a:srgbClr val="C8C5BC"/>
            </a:solidFill>
            <a:prstDash val="solid"/>
            <a:round/>
            <a:headEnd len="sm" w="sm" type="none"/>
            <a:tailEnd len="sm" w="sm" type="none"/>
          </a:ln>
        </p:spPr>
      </p:cxnSp>
      <p:sp>
        <p:nvSpPr>
          <p:cNvPr id="447" name="Google Shape;447;p25"/>
          <p:cNvSpPr/>
          <p:nvPr/>
        </p:nvSpPr>
        <p:spPr>
          <a:xfrm>
            <a:off x="6263640" y="5047488"/>
            <a:ext cx="3246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50"/>
              <a:buFont typeface="Courier New"/>
              <a:buNone/>
            </a:pPr>
            <a:r>
              <a:rPr b="0" i="0" lang="en-US" sz="1350" u="none" cap="none" strike="noStrike">
                <a:solidFill>
                  <a:srgbClr val="1A1A1A"/>
                </a:solidFill>
                <a:latin typeface="Courier New"/>
                <a:ea typeface="Courier New"/>
                <a:cs typeface="Courier New"/>
                <a:sym typeface="Courier New"/>
              </a:rPr>
              <a:t>net_dst_ip_hash</a:t>
            </a:r>
            <a:endParaRPr b="0" i="0" sz="1350" u="none" cap="none" strike="noStrike">
              <a:solidFill>
                <a:schemeClr val="dk1"/>
              </a:solidFill>
              <a:latin typeface="Calibri"/>
              <a:ea typeface="Calibri"/>
              <a:cs typeface="Calibri"/>
              <a:sym typeface="Calibri"/>
            </a:endParaRPr>
          </a:p>
        </p:txBody>
      </p:sp>
      <p:sp>
        <p:nvSpPr>
          <p:cNvPr id="448" name="Google Shape;448;p25"/>
          <p:cNvSpPr/>
          <p:nvPr/>
        </p:nvSpPr>
        <p:spPr>
          <a:xfrm>
            <a:off x="9601200" y="5047488"/>
            <a:ext cx="1920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hash mod 10 000</a:t>
            </a:r>
            <a:endParaRPr b="0" i="0" sz="1600" u="none" cap="none" strike="noStrike">
              <a:solidFill>
                <a:schemeClr val="dk1"/>
              </a:solidFill>
              <a:latin typeface="Calibri"/>
              <a:ea typeface="Calibri"/>
              <a:cs typeface="Calibri"/>
              <a:sym typeface="Calibri"/>
            </a:endParaRPr>
          </a:p>
        </p:txBody>
      </p:sp>
      <p:cxnSp>
        <p:nvCxnSpPr>
          <p:cNvPr id="449" name="Google Shape;449;p25"/>
          <p:cNvCxnSpPr/>
          <p:nvPr/>
        </p:nvCxnSpPr>
        <p:spPr>
          <a:xfrm>
            <a:off x="6263640" y="5449824"/>
            <a:ext cx="5257800" cy="0"/>
          </a:xfrm>
          <a:prstGeom prst="straightConnector1">
            <a:avLst/>
          </a:prstGeom>
          <a:noFill/>
          <a:ln cap="flat" cmpd="sng" w="9525">
            <a:solidFill>
              <a:srgbClr val="C8C5BC"/>
            </a:solidFill>
            <a:prstDash val="solid"/>
            <a:round/>
            <a:headEnd len="sm" w="sm" type="none"/>
            <a:tailEnd len="sm" w="sm" type="none"/>
          </a:ln>
        </p:spPr>
      </p:cxnSp>
      <p:sp>
        <p:nvSpPr>
          <p:cNvPr id="450" name="Google Shape;450;p25"/>
          <p:cNvSpPr/>
          <p:nvPr/>
        </p:nvSpPr>
        <p:spPr>
          <a:xfrm>
            <a:off x="640080" y="5669280"/>
            <a:ext cx="11018520" cy="713232"/>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914400" y="5669280"/>
            <a:ext cx="10469880" cy="71323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Hashing IPs is a shortcut, not a feature.  </a:t>
            </a:r>
            <a:r>
              <a:rPr b="0" i="0" lang="en-US" sz="1600" u="none" cap="none" strike="noStrike">
                <a:solidFill>
                  <a:srgbClr val="4A4A4A"/>
                </a:solidFill>
                <a:latin typeface="Calibri"/>
                <a:ea typeface="Calibri"/>
                <a:cs typeface="Calibri"/>
                <a:sym typeface="Calibri"/>
              </a:rPr>
              <a:t>It makes the column numeric but destroys ordering and subnet structure — and Python's hash is salted per process.</a:t>
            </a:r>
            <a:endParaRPr b="0" i="0" sz="1600" u="none" cap="none" strike="noStrike">
              <a:solidFill>
                <a:schemeClr val="dk1"/>
              </a:solidFill>
              <a:latin typeface="Calibri"/>
              <a:ea typeface="Calibri"/>
              <a:cs typeface="Calibri"/>
              <a:sym typeface="Calibri"/>
            </a:endParaRPr>
          </a:p>
        </p:txBody>
      </p:sp>
      <p:sp>
        <p:nvSpPr>
          <p:cNvPr id="452" name="Google Shape;452;p25"/>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26"/>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459" name="Google Shape;459;p26"/>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460" name="Google Shape;460;p26"/>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1.4 · PREPROCESSING</a:t>
            </a:r>
            <a:endParaRPr b="0" i="0" sz="1000" u="none" cap="none" strike="noStrike">
              <a:solidFill>
                <a:schemeClr val="dk1"/>
              </a:solidFill>
              <a:latin typeface="Calibri"/>
              <a:ea typeface="Calibri"/>
              <a:cs typeface="Calibri"/>
              <a:sym typeface="Calibri"/>
            </a:endParaRPr>
          </a:p>
        </p:txBody>
      </p:sp>
      <p:sp>
        <p:nvSpPr>
          <p:cNvPr id="461" name="Google Shape;461;p26"/>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Four repairs before anything can be fused</a:t>
            </a:r>
            <a:endParaRPr b="0" i="0" sz="3000" u="none" cap="none" strike="noStrike">
              <a:solidFill>
                <a:schemeClr val="dk1"/>
              </a:solidFill>
              <a:latin typeface="Calibri"/>
              <a:ea typeface="Calibri"/>
              <a:cs typeface="Calibri"/>
              <a:sym typeface="Calibri"/>
            </a:endParaRPr>
          </a:p>
        </p:txBody>
      </p:sp>
      <p:sp>
        <p:nvSpPr>
          <p:cNvPr id="462" name="Google Shape;462;p26"/>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6"/>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464" name="Google Shape;464;p26"/>
          <p:cNvSpPr/>
          <p:nvPr/>
        </p:nvSpPr>
        <p:spPr>
          <a:xfrm>
            <a:off x="640080" y="1828800"/>
            <a:ext cx="585216" cy="585216"/>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6"/>
          <p:cNvSpPr/>
          <p:nvPr/>
        </p:nvSpPr>
        <p:spPr>
          <a:xfrm>
            <a:off x="640080" y="18288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01</a:t>
            </a:r>
            <a:endParaRPr b="0" i="0" sz="1400" u="none" cap="none" strike="noStrike">
              <a:solidFill>
                <a:schemeClr val="dk1"/>
              </a:solidFill>
              <a:latin typeface="Calibri"/>
              <a:ea typeface="Calibri"/>
              <a:cs typeface="Calibri"/>
              <a:sym typeface="Calibri"/>
            </a:endParaRPr>
          </a:p>
        </p:txBody>
      </p:sp>
      <p:sp>
        <p:nvSpPr>
          <p:cNvPr id="466" name="Google Shape;466;p26"/>
          <p:cNvSpPr/>
          <p:nvPr/>
        </p:nvSpPr>
        <p:spPr>
          <a:xfrm>
            <a:off x="1508760" y="1792224"/>
            <a:ext cx="9692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Standardize timestamps</a:t>
            </a:r>
            <a:endParaRPr b="0" i="0" sz="1800" u="none" cap="none" strike="noStrike">
              <a:solidFill>
                <a:schemeClr val="dk1"/>
              </a:solidFill>
              <a:latin typeface="Calibri"/>
              <a:ea typeface="Calibri"/>
              <a:cs typeface="Calibri"/>
              <a:sym typeface="Calibri"/>
            </a:endParaRPr>
          </a:p>
        </p:txBody>
      </p:sp>
      <p:sp>
        <p:nvSpPr>
          <p:cNvPr id="467" name="Google Shape;467;p26"/>
          <p:cNvSpPr/>
          <p:nvPr/>
        </p:nvSpPr>
        <p:spPr>
          <a:xfrm>
            <a:off x="1508760" y="2157984"/>
            <a:ext cx="9966960"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Until both clocks share a type and a resolution, no matching rule can run.</a:t>
            </a:r>
            <a:endParaRPr b="0" i="0" sz="1600" u="none" cap="none" strike="noStrike">
              <a:solidFill>
                <a:schemeClr val="dk1"/>
              </a:solidFill>
              <a:latin typeface="Calibri"/>
              <a:ea typeface="Calibri"/>
              <a:cs typeface="Calibri"/>
              <a:sym typeface="Calibri"/>
            </a:endParaRPr>
          </a:p>
        </p:txBody>
      </p:sp>
      <p:cxnSp>
        <p:nvCxnSpPr>
          <p:cNvPr id="468" name="Google Shape;468;p26"/>
          <p:cNvCxnSpPr/>
          <p:nvPr/>
        </p:nvCxnSpPr>
        <p:spPr>
          <a:xfrm>
            <a:off x="1508760" y="2798064"/>
            <a:ext cx="9966960" cy="0"/>
          </a:xfrm>
          <a:prstGeom prst="straightConnector1">
            <a:avLst/>
          </a:prstGeom>
          <a:noFill/>
          <a:ln cap="flat" cmpd="sng" w="9525">
            <a:solidFill>
              <a:srgbClr val="C8C5BC"/>
            </a:solidFill>
            <a:prstDash val="solid"/>
            <a:round/>
            <a:headEnd len="sm" w="sm" type="none"/>
            <a:tailEnd len="sm" w="sm" type="none"/>
          </a:ln>
        </p:spPr>
      </p:cxnSp>
      <p:sp>
        <p:nvSpPr>
          <p:cNvPr id="469" name="Google Shape;469;p26"/>
          <p:cNvSpPr/>
          <p:nvPr/>
        </p:nvSpPr>
        <p:spPr>
          <a:xfrm>
            <a:off x="640080" y="2971800"/>
            <a:ext cx="585216" cy="585216"/>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6"/>
          <p:cNvSpPr/>
          <p:nvPr/>
        </p:nvSpPr>
        <p:spPr>
          <a:xfrm>
            <a:off x="640080" y="2971800"/>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02</a:t>
            </a:r>
            <a:endParaRPr b="0" i="0" sz="1400" u="none" cap="none" strike="noStrike">
              <a:solidFill>
                <a:schemeClr val="dk1"/>
              </a:solidFill>
              <a:latin typeface="Calibri"/>
              <a:ea typeface="Calibri"/>
              <a:cs typeface="Calibri"/>
              <a:sym typeface="Calibri"/>
            </a:endParaRPr>
          </a:p>
        </p:txBody>
      </p:sp>
      <p:sp>
        <p:nvSpPr>
          <p:cNvPr id="471" name="Google Shape;471;p26"/>
          <p:cNvSpPr/>
          <p:nvPr/>
        </p:nvSpPr>
        <p:spPr>
          <a:xfrm>
            <a:off x="1508760" y="2935224"/>
            <a:ext cx="9692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Handle missing values</a:t>
            </a:r>
            <a:endParaRPr b="0" i="0" sz="1800" u="none" cap="none" strike="noStrike">
              <a:solidFill>
                <a:schemeClr val="dk1"/>
              </a:solidFill>
              <a:latin typeface="Calibri"/>
              <a:ea typeface="Calibri"/>
              <a:cs typeface="Calibri"/>
              <a:sym typeface="Calibri"/>
            </a:endParaRPr>
          </a:p>
        </p:txBody>
      </p:sp>
      <p:sp>
        <p:nvSpPr>
          <p:cNvPr id="472" name="Google Shape;472;p26"/>
          <p:cNvSpPr/>
          <p:nvPr/>
        </p:nvSpPr>
        <p:spPr>
          <a:xfrm>
            <a:off x="1508760" y="3300984"/>
            <a:ext cx="9966960"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Telemetry: interpolate. Network: fill with 0 — a capture gap means no traffic observed.</a:t>
            </a:r>
            <a:endParaRPr b="0" i="0" sz="1600" u="none" cap="none" strike="noStrike">
              <a:solidFill>
                <a:schemeClr val="dk1"/>
              </a:solidFill>
              <a:latin typeface="Calibri"/>
              <a:ea typeface="Calibri"/>
              <a:cs typeface="Calibri"/>
              <a:sym typeface="Calibri"/>
            </a:endParaRPr>
          </a:p>
        </p:txBody>
      </p:sp>
      <p:cxnSp>
        <p:nvCxnSpPr>
          <p:cNvPr id="473" name="Google Shape;473;p26"/>
          <p:cNvCxnSpPr/>
          <p:nvPr/>
        </p:nvCxnSpPr>
        <p:spPr>
          <a:xfrm>
            <a:off x="1508760" y="3941064"/>
            <a:ext cx="9966960" cy="0"/>
          </a:xfrm>
          <a:prstGeom prst="straightConnector1">
            <a:avLst/>
          </a:prstGeom>
          <a:noFill/>
          <a:ln cap="flat" cmpd="sng" w="9525">
            <a:solidFill>
              <a:srgbClr val="C8C5BC"/>
            </a:solidFill>
            <a:prstDash val="solid"/>
            <a:round/>
            <a:headEnd len="sm" w="sm" type="none"/>
            <a:tailEnd len="sm" w="sm" type="none"/>
          </a:ln>
        </p:spPr>
      </p:cxnSp>
      <p:sp>
        <p:nvSpPr>
          <p:cNvPr id="474" name="Google Shape;474;p26"/>
          <p:cNvSpPr/>
          <p:nvPr/>
        </p:nvSpPr>
        <p:spPr>
          <a:xfrm>
            <a:off x="640080" y="4114800"/>
            <a:ext cx="585216" cy="585216"/>
          </a:xfrm>
          <a:prstGeom prst="ellipse">
            <a:avLst/>
          </a:prstGeom>
          <a:solidFill>
            <a:srgbClr val="FFFFFF"/>
          </a:solidFill>
          <a:ln cap="flat" cmpd="sng" w="1587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6"/>
          <p:cNvSpPr/>
          <p:nvPr/>
        </p:nvSpPr>
        <p:spPr>
          <a:xfrm>
            <a:off x="640080" y="41148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400"/>
              <a:buFont typeface="Georgia"/>
              <a:buNone/>
            </a:pPr>
            <a:r>
              <a:rPr b="1" i="0" lang="en-US" sz="1400" u="none" cap="none" strike="noStrike">
                <a:solidFill>
                  <a:srgbClr val="8A8A8A"/>
                </a:solidFill>
                <a:latin typeface="Georgia"/>
                <a:ea typeface="Georgia"/>
                <a:cs typeface="Georgia"/>
                <a:sym typeface="Georgia"/>
              </a:rPr>
              <a:t>03</a:t>
            </a:r>
            <a:endParaRPr b="0" i="0" sz="1400" u="none" cap="none" strike="noStrike">
              <a:solidFill>
                <a:schemeClr val="dk1"/>
              </a:solidFill>
              <a:latin typeface="Calibri"/>
              <a:ea typeface="Calibri"/>
              <a:cs typeface="Calibri"/>
              <a:sym typeface="Calibri"/>
            </a:endParaRPr>
          </a:p>
        </p:txBody>
      </p:sp>
      <p:sp>
        <p:nvSpPr>
          <p:cNvPr id="476" name="Google Shape;476;p26"/>
          <p:cNvSpPr/>
          <p:nvPr/>
        </p:nvSpPr>
        <p:spPr>
          <a:xfrm>
            <a:off x="1508760" y="4078224"/>
            <a:ext cx="9692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Encode categoricals</a:t>
            </a:r>
            <a:endParaRPr b="0" i="0" sz="1800" u="none" cap="none" strike="noStrike">
              <a:solidFill>
                <a:schemeClr val="dk1"/>
              </a:solidFill>
              <a:latin typeface="Calibri"/>
              <a:ea typeface="Calibri"/>
              <a:cs typeface="Calibri"/>
              <a:sym typeface="Calibri"/>
            </a:endParaRPr>
          </a:p>
        </p:txBody>
      </p:sp>
      <p:sp>
        <p:nvSpPr>
          <p:cNvPr id="477" name="Google Shape;477;p26"/>
          <p:cNvSpPr/>
          <p:nvPr/>
        </p:nvSpPr>
        <p:spPr>
          <a:xfrm>
            <a:off x="1508760" y="4443984"/>
            <a:ext cx="9966960"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protocol → LabelEncoder, IPs → hash. Only six numeric net_ columns survive.</a:t>
            </a:r>
            <a:endParaRPr b="0" i="0" sz="1600" u="none" cap="none" strike="noStrike">
              <a:solidFill>
                <a:schemeClr val="dk1"/>
              </a:solidFill>
              <a:latin typeface="Calibri"/>
              <a:ea typeface="Calibri"/>
              <a:cs typeface="Calibri"/>
              <a:sym typeface="Calibri"/>
            </a:endParaRPr>
          </a:p>
        </p:txBody>
      </p:sp>
      <p:cxnSp>
        <p:nvCxnSpPr>
          <p:cNvPr id="478" name="Google Shape;478;p26"/>
          <p:cNvCxnSpPr/>
          <p:nvPr/>
        </p:nvCxnSpPr>
        <p:spPr>
          <a:xfrm>
            <a:off x="1508760" y="5084064"/>
            <a:ext cx="9966960" cy="0"/>
          </a:xfrm>
          <a:prstGeom prst="straightConnector1">
            <a:avLst/>
          </a:prstGeom>
          <a:noFill/>
          <a:ln cap="flat" cmpd="sng" w="9525">
            <a:solidFill>
              <a:srgbClr val="C8C5BC"/>
            </a:solidFill>
            <a:prstDash val="solid"/>
            <a:round/>
            <a:headEnd len="sm" w="sm" type="none"/>
            <a:tailEnd len="sm" w="sm" type="none"/>
          </a:ln>
        </p:spPr>
      </p:cxnSp>
      <p:sp>
        <p:nvSpPr>
          <p:cNvPr id="479" name="Google Shape;479;p26"/>
          <p:cNvSpPr/>
          <p:nvPr/>
        </p:nvSpPr>
        <p:spPr>
          <a:xfrm>
            <a:off x="640080" y="5257800"/>
            <a:ext cx="585216" cy="585216"/>
          </a:xfrm>
          <a:prstGeom prst="ellipse">
            <a:avLst/>
          </a:prstGeom>
          <a:solidFill>
            <a:srgbClr val="FFFFFF"/>
          </a:solidFill>
          <a:ln cap="flat" cmpd="sng" w="1587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6"/>
          <p:cNvSpPr/>
          <p:nvPr/>
        </p:nvSpPr>
        <p:spPr>
          <a:xfrm>
            <a:off x="640080" y="52578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400"/>
              <a:buFont typeface="Georgia"/>
              <a:buNone/>
            </a:pPr>
            <a:r>
              <a:rPr b="1" i="0" lang="en-US" sz="1400" u="none" cap="none" strike="noStrike">
                <a:solidFill>
                  <a:srgbClr val="8A8A8A"/>
                </a:solidFill>
                <a:latin typeface="Georgia"/>
                <a:ea typeface="Georgia"/>
                <a:cs typeface="Georgia"/>
                <a:sym typeface="Georgia"/>
              </a:rPr>
              <a:t>04</a:t>
            </a:r>
            <a:endParaRPr b="0" i="0" sz="1400" u="none" cap="none" strike="noStrike">
              <a:solidFill>
                <a:schemeClr val="dk1"/>
              </a:solidFill>
              <a:latin typeface="Calibri"/>
              <a:ea typeface="Calibri"/>
              <a:cs typeface="Calibri"/>
              <a:sym typeface="Calibri"/>
            </a:endParaRPr>
          </a:p>
        </p:txBody>
      </p:sp>
      <p:sp>
        <p:nvSpPr>
          <p:cNvPr id="481" name="Google Shape;481;p26"/>
          <p:cNvSpPr/>
          <p:nvPr/>
        </p:nvSpPr>
        <p:spPr>
          <a:xfrm>
            <a:off x="1508760" y="5221224"/>
            <a:ext cx="9692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Namespace the columns</a:t>
            </a:r>
            <a:endParaRPr b="0" i="0" sz="1800" u="none" cap="none" strike="noStrike">
              <a:solidFill>
                <a:schemeClr val="dk1"/>
              </a:solidFill>
              <a:latin typeface="Calibri"/>
              <a:ea typeface="Calibri"/>
              <a:cs typeface="Calibri"/>
              <a:sym typeface="Calibri"/>
            </a:endParaRPr>
          </a:p>
        </p:txBody>
      </p:sp>
      <p:sp>
        <p:nvSpPr>
          <p:cNvPr id="482" name="Google Shape;482;p26"/>
          <p:cNvSpPr/>
          <p:nvPr/>
        </p:nvSpPr>
        <p:spPr>
          <a:xfrm>
            <a:off x="1508760" y="5586984"/>
            <a:ext cx="9966960"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Notebook 02 selects branches purely by prefix — the naming convention is load-bearing.</a:t>
            </a:r>
            <a:endParaRPr b="0" i="0" sz="1600" u="none" cap="none" strike="noStrike">
              <a:solidFill>
                <a:schemeClr val="dk1"/>
              </a:solidFill>
              <a:latin typeface="Calibri"/>
              <a:ea typeface="Calibri"/>
              <a:cs typeface="Calibri"/>
              <a:sym typeface="Calibri"/>
            </a:endParaRPr>
          </a:p>
        </p:txBody>
      </p:sp>
      <p:sp>
        <p:nvSpPr>
          <p:cNvPr id="483" name="Google Shape;483;p26"/>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27"/>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490" name="Google Shape;490;p27"/>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491" name="Google Shape;491;p27"/>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1.5 · SYNCHRONIZATION</a:t>
            </a:r>
            <a:endParaRPr b="0" i="0" sz="1000" u="none" cap="none" strike="noStrike">
              <a:solidFill>
                <a:schemeClr val="dk1"/>
              </a:solidFill>
              <a:latin typeface="Calibri"/>
              <a:ea typeface="Calibri"/>
              <a:cs typeface="Calibri"/>
              <a:sym typeface="Calibri"/>
            </a:endParaRPr>
          </a:p>
        </p:txBody>
      </p:sp>
      <p:sp>
        <p:nvSpPr>
          <p:cNvPr id="492" name="Google Shape;492;p27"/>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Nearest-neighbour matching with a tolerance</a:t>
            </a:r>
            <a:endParaRPr b="0" i="0" sz="3000" u="none" cap="none" strike="noStrike">
              <a:solidFill>
                <a:schemeClr val="dk1"/>
              </a:solidFill>
              <a:latin typeface="Calibri"/>
              <a:ea typeface="Calibri"/>
              <a:cs typeface="Calibri"/>
              <a:sym typeface="Calibri"/>
            </a:endParaRPr>
          </a:p>
        </p:txBody>
      </p:sp>
      <p:sp>
        <p:nvSpPr>
          <p:cNvPr id="493" name="Google Shape;493;p27"/>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7"/>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495" name="Google Shape;495;p27"/>
          <p:cNvSpPr/>
          <p:nvPr/>
        </p:nvSpPr>
        <p:spPr>
          <a:xfrm>
            <a:off x="640080" y="1691640"/>
            <a:ext cx="10881360"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Telemetry is the reference grid because it is regular. For each telemetry row, take the network row with the smallest |Δt| and keep the pair only if |Δt| ≤ 5 s.</a:t>
            </a:r>
            <a:endParaRPr b="0" i="0" sz="1600" u="none" cap="none" strike="noStrike">
              <a:solidFill>
                <a:schemeClr val="dk1"/>
              </a:solidFill>
              <a:latin typeface="Calibri"/>
              <a:ea typeface="Calibri"/>
              <a:cs typeface="Calibri"/>
              <a:sym typeface="Calibri"/>
            </a:endParaRPr>
          </a:p>
        </p:txBody>
      </p:sp>
      <p:sp>
        <p:nvSpPr>
          <p:cNvPr id="496" name="Google Shape;496;p27"/>
          <p:cNvSpPr/>
          <p:nvPr/>
        </p:nvSpPr>
        <p:spPr>
          <a:xfrm>
            <a:off x="566928" y="2679192"/>
            <a:ext cx="6400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200"/>
              <a:buFont typeface="Courier New"/>
              <a:buNone/>
            </a:pPr>
            <a:r>
              <a:rPr b="0" i="0" lang="en-US" sz="1200" u="none" cap="none" strike="noStrike">
                <a:solidFill>
                  <a:srgbClr val="B8932E"/>
                </a:solidFill>
                <a:latin typeface="Courier New"/>
                <a:ea typeface="Courier New"/>
                <a:cs typeface="Courier New"/>
                <a:sym typeface="Courier New"/>
              </a:rPr>
              <a:t>veh_</a:t>
            </a:r>
            <a:endParaRPr b="0" i="0" sz="1200" u="none" cap="none" strike="noStrike">
              <a:solidFill>
                <a:schemeClr val="dk1"/>
              </a:solidFill>
              <a:latin typeface="Calibri"/>
              <a:ea typeface="Calibri"/>
              <a:cs typeface="Calibri"/>
              <a:sym typeface="Calibri"/>
            </a:endParaRPr>
          </a:p>
        </p:txBody>
      </p:sp>
      <p:sp>
        <p:nvSpPr>
          <p:cNvPr id="497" name="Google Shape;497;p27"/>
          <p:cNvSpPr/>
          <p:nvPr/>
        </p:nvSpPr>
        <p:spPr>
          <a:xfrm>
            <a:off x="566928" y="3913632"/>
            <a:ext cx="6400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200"/>
              <a:buFont typeface="Courier New"/>
              <a:buNone/>
            </a:pPr>
            <a:r>
              <a:rPr b="0" i="0" lang="en-US" sz="1200" u="none" cap="none" strike="noStrike">
                <a:solidFill>
                  <a:srgbClr val="B8932E"/>
                </a:solidFill>
                <a:latin typeface="Courier New"/>
                <a:ea typeface="Courier New"/>
                <a:cs typeface="Courier New"/>
                <a:sym typeface="Courier New"/>
              </a:rPr>
              <a:t>net_</a:t>
            </a:r>
            <a:endParaRPr b="0" i="0" sz="1200" u="none" cap="none" strike="noStrike">
              <a:solidFill>
                <a:schemeClr val="dk1"/>
              </a:solidFill>
              <a:latin typeface="Calibri"/>
              <a:ea typeface="Calibri"/>
              <a:cs typeface="Calibri"/>
              <a:sym typeface="Calibri"/>
            </a:endParaRPr>
          </a:p>
        </p:txBody>
      </p:sp>
      <p:cxnSp>
        <p:nvCxnSpPr>
          <p:cNvPr id="498" name="Google Shape;498;p27"/>
          <p:cNvCxnSpPr/>
          <p:nvPr/>
        </p:nvCxnSpPr>
        <p:spPr>
          <a:xfrm>
            <a:off x="1234440" y="2834640"/>
            <a:ext cx="9189720" cy="0"/>
          </a:xfrm>
          <a:prstGeom prst="straightConnector1">
            <a:avLst/>
          </a:prstGeom>
          <a:noFill/>
          <a:ln cap="flat" cmpd="sng" w="15875">
            <a:solidFill>
              <a:srgbClr val="C8C5BC"/>
            </a:solidFill>
            <a:prstDash val="solid"/>
            <a:round/>
            <a:headEnd len="sm" w="sm" type="none"/>
            <a:tailEnd len="sm" w="sm" type="none"/>
          </a:ln>
        </p:spPr>
      </p:cxnSp>
      <p:cxnSp>
        <p:nvCxnSpPr>
          <p:cNvPr id="499" name="Google Shape;499;p27"/>
          <p:cNvCxnSpPr/>
          <p:nvPr/>
        </p:nvCxnSpPr>
        <p:spPr>
          <a:xfrm>
            <a:off x="1234440" y="4069080"/>
            <a:ext cx="9189720" cy="0"/>
          </a:xfrm>
          <a:prstGeom prst="straightConnector1">
            <a:avLst/>
          </a:prstGeom>
          <a:noFill/>
          <a:ln cap="flat" cmpd="sng" w="15875">
            <a:solidFill>
              <a:srgbClr val="C8C5BC"/>
            </a:solidFill>
            <a:prstDash val="solid"/>
            <a:round/>
            <a:headEnd len="sm" w="sm" type="none"/>
            <a:tailEnd len="sm" w="sm" type="none"/>
          </a:ln>
        </p:spPr>
      </p:cxnSp>
      <p:sp>
        <p:nvSpPr>
          <p:cNvPr id="500" name="Google Shape;500;p27"/>
          <p:cNvSpPr/>
          <p:nvPr/>
        </p:nvSpPr>
        <p:spPr>
          <a:xfrm>
            <a:off x="1161288"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7"/>
          <p:cNvSpPr/>
          <p:nvPr/>
        </p:nvSpPr>
        <p:spPr>
          <a:xfrm>
            <a:off x="2679192"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7"/>
          <p:cNvSpPr/>
          <p:nvPr/>
        </p:nvSpPr>
        <p:spPr>
          <a:xfrm>
            <a:off x="4197096"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7"/>
          <p:cNvSpPr/>
          <p:nvPr/>
        </p:nvSpPr>
        <p:spPr>
          <a:xfrm>
            <a:off x="5715000"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7"/>
          <p:cNvSpPr/>
          <p:nvPr/>
        </p:nvSpPr>
        <p:spPr>
          <a:xfrm>
            <a:off x="7232904"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8750808"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7"/>
          <p:cNvSpPr/>
          <p:nvPr/>
        </p:nvSpPr>
        <p:spPr>
          <a:xfrm>
            <a:off x="10268712" y="2761488"/>
            <a:ext cx="146304" cy="146304"/>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7"/>
          <p:cNvSpPr/>
          <p:nvPr/>
        </p:nvSpPr>
        <p:spPr>
          <a:xfrm>
            <a:off x="1472184"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7"/>
          <p:cNvSpPr/>
          <p:nvPr/>
        </p:nvSpPr>
        <p:spPr>
          <a:xfrm>
            <a:off x="2542032"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a:off x="4370832"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a:off x="5669280"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7004304"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8430768"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9372600" y="3995928"/>
            <a:ext cx="146304" cy="146304"/>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 name="Google Shape;514;p27"/>
          <p:cNvCxnSpPr/>
          <p:nvPr/>
        </p:nvCxnSpPr>
        <p:spPr>
          <a:xfrm>
            <a:off x="1234440" y="2916936"/>
            <a:ext cx="310896" cy="1069848"/>
          </a:xfrm>
          <a:prstGeom prst="straightConnector1">
            <a:avLst/>
          </a:prstGeom>
          <a:noFill/>
          <a:ln cap="flat" cmpd="sng" w="12700">
            <a:solidFill>
              <a:srgbClr val="D4B05E"/>
            </a:solidFill>
            <a:prstDash val="dash"/>
            <a:round/>
            <a:headEnd len="sm" w="sm" type="none"/>
            <a:tailEnd len="sm" w="sm" type="none"/>
          </a:ln>
        </p:spPr>
      </p:cxnSp>
      <p:cxnSp>
        <p:nvCxnSpPr>
          <p:cNvPr id="515" name="Google Shape;515;p27"/>
          <p:cNvCxnSpPr/>
          <p:nvPr/>
        </p:nvCxnSpPr>
        <p:spPr>
          <a:xfrm flipH="1">
            <a:off x="2615184" y="2916936"/>
            <a:ext cx="137160" cy="1069848"/>
          </a:xfrm>
          <a:prstGeom prst="straightConnector1">
            <a:avLst/>
          </a:prstGeom>
          <a:noFill/>
          <a:ln cap="flat" cmpd="sng" w="12700">
            <a:solidFill>
              <a:srgbClr val="D4B05E"/>
            </a:solidFill>
            <a:prstDash val="dash"/>
            <a:round/>
            <a:headEnd len="sm" w="sm" type="none"/>
            <a:tailEnd len="sm" w="sm" type="none"/>
          </a:ln>
        </p:spPr>
      </p:cxnSp>
      <p:cxnSp>
        <p:nvCxnSpPr>
          <p:cNvPr id="516" name="Google Shape;516;p27"/>
          <p:cNvCxnSpPr/>
          <p:nvPr/>
        </p:nvCxnSpPr>
        <p:spPr>
          <a:xfrm>
            <a:off x="4270248" y="2916936"/>
            <a:ext cx="173736" cy="1069848"/>
          </a:xfrm>
          <a:prstGeom prst="straightConnector1">
            <a:avLst/>
          </a:prstGeom>
          <a:noFill/>
          <a:ln cap="flat" cmpd="sng" w="12700">
            <a:solidFill>
              <a:srgbClr val="D4B05E"/>
            </a:solidFill>
            <a:prstDash val="dash"/>
            <a:round/>
            <a:headEnd len="sm" w="sm" type="none"/>
            <a:tailEnd len="sm" w="sm" type="none"/>
          </a:ln>
        </p:spPr>
      </p:cxnSp>
      <p:cxnSp>
        <p:nvCxnSpPr>
          <p:cNvPr id="517" name="Google Shape;517;p27"/>
          <p:cNvCxnSpPr/>
          <p:nvPr/>
        </p:nvCxnSpPr>
        <p:spPr>
          <a:xfrm flipH="1">
            <a:off x="5742432" y="2916936"/>
            <a:ext cx="45720" cy="1069848"/>
          </a:xfrm>
          <a:prstGeom prst="straightConnector1">
            <a:avLst/>
          </a:prstGeom>
          <a:noFill/>
          <a:ln cap="flat" cmpd="sng" w="12700">
            <a:solidFill>
              <a:srgbClr val="D4B05E"/>
            </a:solidFill>
            <a:prstDash val="dash"/>
            <a:round/>
            <a:headEnd len="sm" w="sm" type="none"/>
            <a:tailEnd len="sm" w="sm" type="none"/>
          </a:ln>
        </p:spPr>
      </p:cxnSp>
      <p:cxnSp>
        <p:nvCxnSpPr>
          <p:cNvPr id="518" name="Google Shape;518;p27"/>
          <p:cNvCxnSpPr/>
          <p:nvPr/>
        </p:nvCxnSpPr>
        <p:spPr>
          <a:xfrm flipH="1">
            <a:off x="7077456" y="2916936"/>
            <a:ext cx="228600" cy="1069848"/>
          </a:xfrm>
          <a:prstGeom prst="straightConnector1">
            <a:avLst/>
          </a:prstGeom>
          <a:noFill/>
          <a:ln cap="flat" cmpd="sng" w="12700">
            <a:solidFill>
              <a:srgbClr val="D4B05E"/>
            </a:solidFill>
            <a:prstDash val="dash"/>
            <a:round/>
            <a:headEnd len="sm" w="sm" type="none"/>
            <a:tailEnd len="sm" w="sm" type="none"/>
          </a:ln>
        </p:spPr>
      </p:cxnSp>
      <p:cxnSp>
        <p:nvCxnSpPr>
          <p:cNvPr id="519" name="Google Shape;519;p27"/>
          <p:cNvCxnSpPr/>
          <p:nvPr/>
        </p:nvCxnSpPr>
        <p:spPr>
          <a:xfrm flipH="1">
            <a:off x="8503920" y="2916936"/>
            <a:ext cx="320040" cy="1069848"/>
          </a:xfrm>
          <a:prstGeom prst="straightConnector1">
            <a:avLst/>
          </a:prstGeom>
          <a:noFill/>
          <a:ln cap="flat" cmpd="sng" w="12700">
            <a:solidFill>
              <a:srgbClr val="D4B05E"/>
            </a:solidFill>
            <a:prstDash val="dash"/>
            <a:round/>
            <a:headEnd len="sm" w="sm" type="none"/>
            <a:tailEnd len="sm" w="sm" type="none"/>
          </a:ln>
        </p:spPr>
      </p:cxnSp>
      <p:cxnSp>
        <p:nvCxnSpPr>
          <p:cNvPr id="520" name="Google Shape;520;p27"/>
          <p:cNvCxnSpPr/>
          <p:nvPr/>
        </p:nvCxnSpPr>
        <p:spPr>
          <a:xfrm flipH="1">
            <a:off x="9445752" y="2916936"/>
            <a:ext cx="896112" cy="1069848"/>
          </a:xfrm>
          <a:prstGeom prst="straightConnector1">
            <a:avLst/>
          </a:prstGeom>
          <a:noFill/>
          <a:ln cap="flat" cmpd="sng" w="12700">
            <a:solidFill>
              <a:srgbClr val="C9C9C9"/>
            </a:solidFill>
            <a:prstDash val="dot"/>
            <a:round/>
            <a:headEnd len="sm" w="sm" type="none"/>
            <a:tailEnd len="sm" w="sm" type="none"/>
          </a:ln>
        </p:spPr>
      </p:cxnSp>
      <p:sp>
        <p:nvSpPr>
          <p:cNvPr id="521" name="Google Shape;521;p27"/>
          <p:cNvSpPr/>
          <p:nvPr/>
        </p:nvSpPr>
        <p:spPr>
          <a:xfrm>
            <a:off x="1234440" y="2432304"/>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regular, ≈ 1.8 s</a:t>
            </a:r>
            <a:endParaRPr b="0" i="0" sz="1200" u="none" cap="none" strike="noStrike">
              <a:solidFill>
                <a:schemeClr val="dk1"/>
              </a:solidFill>
              <a:latin typeface="Calibri"/>
              <a:ea typeface="Calibri"/>
              <a:cs typeface="Calibri"/>
              <a:sym typeface="Calibri"/>
            </a:endParaRPr>
          </a:p>
        </p:txBody>
      </p:sp>
      <p:sp>
        <p:nvSpPr>
          <p:cNvPr id="522" name="Google Shape;522;p27"/>
          <p:cNvSpPr/>
          <p:nvPr/>
        </p:nvSpPr>
        <p:spPr>
          <a:xfrm>
            <a:off x="1234440" y="4315968"/>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irregular, event-driven</a:t>
            </a:r>
            <a:endParaRPr b="0" i="0" sz="1200" u="none" cap="none" strike="noStrike">
              <a:solidFill>
                <a:schemeClr val="dk1"/>
              </a:solidFill>
              <a:latin typeface="Calibri"/>
              <a:ea typeface="Calibri"/>
              <a:cs typeface="Calibri"/>
              <a:sym typeface="Calibri"/>
            </a:endParaRPr>
          </a:p>
        </p:txBody>
      </p:sp>
      <p:sp>
        <p:nvSpPr>
          <p:cNvPr id="523" name="Google Shape;523;p27"/>
          <p:cNvSpPr/>
          <p:nvPr/>
        </p:nvSpPr>
        <p:spPr>
          <a:xfrm>
            <a:off x="9006840" y="4315968"/>
            <a:ext cx="2651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A8A"/>
              </a:buClr>
              <a:buSzPts val="1200"/>
              <a:buFont typeface="Calibri"/>
              <a:buNone/>
            </a:pPr>
            <a:r>
              <a:rPr b="0" i="1" lang="en-US" sz="1200" u="none" cap="none" strike="noStrike">
                <a:solidFill>
                  <a:srgbClr val="8A8A8A"/>
                </a:solidFill>
                <a:latin typeface="Calibri"/>
                <a:ea typeface="Calibri"/>
                <a:cs typeface="Calibri"/>
                <a:sym typeface="Calibri"/>
              </a:rPr>
              <a:t>Δt &gt; 5 s → dropped</a:t>
            </a:r>
            <a:endParaRPr b="0" i="0" sz="1200" u="none" cap="none" strike="noStrike">
              <a:solidFill>
                <a:schemeClr val="dk1"/>
              </a:solidFill>
              <a:latin typeface="Calibri"/>
              <a:ea typeface="Calibri"/>
              <a:cs typeface="Calibri"/>
              <a:sym typeface="Calibri"/>
            </a:endParaRPr>
          </a:p>
        </p:txBody>
      </p:sp>
      <p:sp>
        <p:nvSpPr>
          <p:cNvPr id="524" name="Google Shape;524;p27"/>
          <p:cNvSpPr/>
          <p:nvPr/>
        </p:nvSpPr>
        <p:spPr>
          <a:xfrm>
            <a:off x="640080" y="4800600"/>
            <a:ext cx="3520440" cy="15544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7"/>
          <p:cNvSpPr/>
          <p:nvPr/>
        </p:nvSpPr>
        <p:spPr>
          <a:xfrm>
            <a:off x="868680" y="495604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Tolerance is a knob</a:t>
            </a:r>
            <a:endParaRPr b="0" i="0" sz="1600" u="none" cap="none" strike="noStrike">
              <a:solidFill>
                <a:schemeClr val="dk1"/>
              </a:solidFill>
              <a:latin typeface="Calibri"/>
              <a:ea typeface="Calibri"/>
              <a:cs typeface="Calibri"/>
              <a:sym typeface="Calibri"/>
            </a:endParaRPr>
          </a:p>
        </p:txBody>
      </p:sp>
      <p:sp>
        <p:nvSpPr>
          <p:cNvPr id="526" name="Google Shape;526;p27"/>
          <p:cNvSpPr/>
          <p:nvPr/>
        </p:nvSpPr>
        <p:spPr>
          <a:xfrm>
            <a:off x="868680" y="5303520"/>
            <a:ext cx="3108960" cy="93268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Too tight throws rows away; too loose pairs events that never co-occurred.</a:t>
            </a:r>
            <a:endParaRPr b="0" i="0" sz="1600" u="none" cap="none" strike="noStrike">
              <a:solidFill>
                <a:schemeClr val="dk1"/>
              </a:solidFill>
              <a:latin typeface="Calibri"/>
              <a:ea typeface="Calibri"/>
              <a:cs typeface="Calibri"/>
              <a:sym typeface="Calibri"/>
            </a:endParaRPr>
          </a:p>
        </p:txBody>
      </p:sp>
      <p:sp>
        <p:nvSpPr>
          <p:cNvPr id="527" name="Google Shape;527;p27"/>
          <p:cNvSpPr/>
          <p:nvPr/>
        </p:nvSpPr>
        <p:spPr>
          <a:xfrm>
            <a:off x="4389120" y="4800600"/>
            <a:ext cx="3520440" cy="15544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7"/>
          <p:cNvSpPr/>
          <p:nvPr/>
        </p:nvSpPr>
        <p:spPr>
          <a:xfrm>
            <a:off x="4617720" y="495604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Reuse is allowed</a:t>
            </a:r>
            <a:endParaRPr b="0" i="0" sz="1600" u="none" cap="none" strike="noStrike">
              <a:solidFill>
                <a:schemeClr val="dk1"/>
              </a:solidFill>
              <a:latin typeface="Calibri"/>
              <a:ea typeface="Calibri"/>
              <a:cs typeface="Calibri"/>
              <a:sym typeface="Calibri"/>
            </a:endParaRPr>
          </a:p>
        </p:txBody>
      </p:sp>
      <p:sp>
        <p:nvSpPr>
          <p:cNvPr id="529" name="Google Shape;529;p27"/>
          <p:cNvSpPr/>
          <p:nvPr/>
        </p:nvSpPr>
        <p:spPr>
          <a:xfrm>
            <a:off x="4617720" y="5303520"/>
            <a:ext cx="3108960" cy="93268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One network record can match several telemetry rows, inflating correlation.</a:t>
            </a:r>
            <a:endParaRPr b="0" i="0" sz="1600" u="none" cap="none" strike="noStrike">
              <a:solidFill>
                <a:schemeClr val="dk1"/>
              </a:solidFill>
              <a:latin typeface="Calibri"/>
              <a:ea typeface="Calibri"/>
              <a:cs typeface="Calibri"/>
              <a:sym typeface="Calibri"/>
            </a:endParaRPr>
          </a:p>
        </p:txBody>
      </p:sp>
      <p:sp>
        <p:nvSpPr>
          <p:cNvPr id="530" name="Google Shape;530;p27"/>
          <p:cNvSpPr/>
          <p:nvPr/>
        </p:nvSpPr>
        <p:spPr>
          <a:xfrm>
            <a:off x="8138160" y="4800600"/>
            <a:ext cx="3520440" cy="15544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7"/>
          <p:cNvSpPr/>
          <p:nvPr/>
        </p:nvSpPr>
        <p:spPr>
          <a:xfrm>
            <a:off x="8366760" y="495604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Keep the residual</a:t>
            </a:r>
            <a:endParaRPr b="0" i="0" sz="1600" u="none" cap="none" strike="noStrike">
              <a:solidFill>
                <a:schemeClr val="dk1"/>
              </a:solidFill>
              <a:latin typeface="Calibri"/>
              <a:ea typeface="Calibri"/>
              <a:cs typeface="Calibri"/>
              <a:sym typeface="Calibri"/>
            </a:endParaRPr>
          </a:p>
        </p:txBody>
      </p:sp>
      <p:sp>
        <p:nvSpPr>
          <p:cNvPr id="532" name="Google Shape;532;p27"/>
          <p:cNvSpPr/>
          <p:nvPr/>
        </p:nvSpPr>
        <p:spPr>
          <a:xfrm>
            <a:off x="8366760" y="5303520"/>
            <a:ext cx="3108960" cy="93268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time_diff_seconds is stored, so fusion quality stays auditable.</a:t>
            </a:r>
            <a:endParaRPr b="0" i="0" sz="1600" u="none" cap="none" strike="noStrike">
              <a:solidFill>
                <a:schemeClr val="dk1"/>
              </a:solidFill>
              <a:latin typeface="Calibri"/>
              <a:ea typeface="Calibri"/>
              <a:cs typeface="Calibri"/>
              <a:sym typeface="Calibri"/>
            </a:endParaRPr>
          </a:p>
        </p:txBody>
      </p:sp>
      <p:sp>
        <p:nvSpPr>
          <p:cNvPr id="533" name="Google Shape;533;p27"/>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28"/>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540" name="Google Shape;540;p28"/>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541" name="Google Shape;541;p28"/>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1.5 · SYNCHRONIZATION</a:t>
            </a:r>
            <a:endParaRPr b="0" i="0" sz="1000" u="none" cap="none" strike="noStrike">
              <a:solidFill>
                <a:schemeClr val="dk1"/>
              </a:solidFill>
              <a:latin typeface="Calibri"/>
              <a:ea typeface="Calibri"/>
              <a:cs typeface="Calibri"/>
              <a:sym typeface="Calibri"/>
            </a:endParaRPr>
          </a:p>
        </p:txBody>
      </p:sp>
      <p:sp>
        <p:nvSpPr>
          <p:cNvPr id="542" name="Google Shape;542;p28"/>
          <p:cNvSpPr/>
          <p:nvPr/>
        </p:nvSpPr>
        <p:spPr>
          <a:xfrm>
            <a:off x="548640" y="566928"/>
            <a:ext cx="104241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Matching on timestamps is an attack surface </a:t>
            </a:r>
            <a:endParaRPr b="0" i="0" sz="3000" u="none" cap="none" strike="noStrike">
              <a:solidFill>
                <a:schemeClr val="dk1"/>
              </a:solidFill>
              <a:latin typeface="Calibri"/>
              <a:ea typeface="Calibri"/>
              <a:cs typeface="Calibri"/>
              <a:sym typeface="Calibri"/>
            </a:endParaRPr>
          </a:p>
        </p:txBody>
      </p:sp>
      <p:sp>
        <p:nvSpPr>
          <p:cNvPr id="543" name="Google Shape;543;p28"/>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8"/>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pic>
        <p:nvPicPr>
          <p:cNvPr id="545" name="Google Shape;545;p28"/>
          <p:cNvPicPr preferRelativeResize="0"/>
          <p:nvPr/>
        </p:nvPicPr>
        <p:blipFill>
          <a:blip r:embed="rId4">
            <a:alphaModFix/>
          </a:blip>
          <a:stretch>
            <a:fillRect/>
          </a:stretch>
        </p:blipFill>
        <p:spPr>
          <a:xfrm>
            <a:off x="819050" y="1912452"/>
            <a:ext cx="5105625" cy="3789475"/>
          </a:xfrm>
          <a:prstGeom prst="rect">
            <a:avLst/>
          </a:prstGeom>
          <a:noFill/>
          <a:ln>
            <a:noFill/>
          </a:ln>
        </p:spPr>
      </p:pic>
      <p:sp>
        <p:nvSpPr>
          <p:cNvPr id="546" name="Google Shape;546;p28"/>
          <p:cNvSpPr txBox="1"/>
          <p:nvPr/>
        </p:nvSpPr>
        <p:spPr>
          <a:xfrm>
            <a:off x="238200" y="5895300"/>
            <a:ext cx="6500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8A8A8A"/>
                </a:solidFill>
                <a:latin typeface="Calibri"/>
                <a:ea typeface="Calibri"/>
                <a:cs typeface="Calibri"/>
                <a:sym typeface="Calibri"/>
              </a:rPr>
              <a:t>Shahriar et al., "Temporal Misalignment Attacks against Multimodal Perception in Autonomous Driving", arXiv 2507.09095 </a:t>
            </a:r>
            <a:endParaRPr sz="1200">
              <a:solidFill>
                <a:srgbClr val="8A8A8A"/>
              </a:solidFill>
              <a:latin typeface="Calibri"/>
              <a:ea typeface="Calibri"/>
              <a:cs typeface="Calibri"/>
              <a:sym typeface="Calibri"/>
            </a:endParaRPr>
          </a:p>
        </p:txBody>
      </p:sp>
      <p:sp>
        <p:nvSpPr>
          <p:cNvPr id="547" name="Google Shape;547;p28"/>
          <p:cNvSpPr/>
          <p:nvPr/>
        </p:nvSpPr>
        <p:spPr>
          <a:xfrm>
            <a:off x="6670525" y="2255610"/>
            <a:ext cx="5394900" cy="33984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800">
                <a:latin typeface="Calibri"/>
                <a:ea typeface="Calibri"/>
                <a:cs typeface="Calibri"/>
                <a:sym typeface="Calibri"/>
              </a:rPr>
              <a:t>What this adds</a:t>
            </a:r>
            <a:endParaRPr b="1" sz="18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Capture time (u) and timestamp (t) are different instants</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Our |Δt| ≤ 5 s is measured on t, never on u</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The clock offset φ sits between them, unobserved</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b="1" lang="en-US" sz="1800">
                <a:latin typeface="Calibri"/>
                <a:ea typeface="Calibri"/>
                <a:cs typeface="Calibri"/>
                <a:sym typeface="Calibri"/>
              </a:rPr>
              <a:t>Why it matters</a:t>
            </a:r>
            <a:endParaRPr b="1" sz="18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A pair can be inside tolerance and still semantically wrong</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Whoever controls timestamps controls what gets paired</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Same rule ships in production — ROS 2 ApproximateTimeSynchronizer</a:t>
            </a:r>
            <a:endParaRPr sz="1600">
              <a:latin typeface="Calibri"/>
              <a:ea typeface="Calibri"/>
              <a:cs typeface="Calibri"/>
              <a:sym typeface="Calibri"/>
            </a:endParaRPr>
          </a:p>
        </p:txBody>
      </p:sp>
      <p:sp>
        <p:nvSpPr>
          <p:cNvPr id="548" name="Google Shape;548;p28"/>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29"/>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555" name="Google Shape;555;p29"/>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556" name="Google Shape;556;p29"/>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1.6 · LABELS</a:t>
            </a:r>
            <a:endParaRPr b="0" i="0" sz="1000" u="none" cap="none" strike="noStrike">
              <a:solidFill>
                <a:schemeClr val="dk1"/>
              </a:solidFill>
              <a:latin typeface="Calibri"/>
              <a:ea typeface="Calibri"/>
              <a:cs typeface="Calibri"/>
              <a:sym typeface="Calibri"/>
            </a:endParaRPr>
          </a:p>
        </p:txBody>
      </p:sp>
      <p:sp>
        <p:nvSpPr>
          <p:cNvPr id="557" name="Google Shape;557;p29"/>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Injecting anomalies, then balancing the classes</a:t>
            </a:r>
            <a:endParaRPr b="0" i="0" sz="3000" u="none" cap="none" strike="noStrike">
              <a:solidFill>
                <a:schemeClr val="dk1"/>
              </a:solidFill>
              <a:latin typeface="Calibri"/>
              <a:ea typeface="Calibri"/>
              <a:cs typeface="Calibri"/>
              <a:sym typeface="Calibri"/>
            </a:endParaRPr>
          </a:p>
        </p:txBody>
      </p:sp>
      <p:sp>
        <p:nvSpPr>
          <p:cNvPr id="558" name="Google Shape;558;p29"/>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9"/>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560" name="Google Shape;560;p29"/>
          <p:cNvSpPr/>
          <p:nvPr/>
        </p:nvSpPr>
        <p:spPr>
          <a:xfrm>
            <a:off x="640080" y="1691640"/>
            <a:ext cx="10881360"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Labels are not observed — they are created by injecting patterns into random rows, then rewriting the affected features so the label is learnable.</a:t>
            </a:r>
            <a:endParaRPr b="0" i="0" sz="1600" u="none" cap="none" strike="noStrike">
              <a:solidFill>
                <a:schemeClr val="dk1"/>
              </a:solidFill>
              <a:latin typeface="Calibri"/>
              <a:ea typeface="Calibri"/>
              <a:cs typeface="Calibri"/>
              <a:sym typeface="Calibri"/>
            </a:endParaRPr>
          </a:p>
        </p:txBody>
      </p:sp>
      <p:pic>
        <p:nvPicPr>
          <p:cNvPr id="561" name="Google Shape;561;p29"/>
          <p:cNvPicPr preferRelativeResize="0"/>
          <p:nvPr/>
        </p:nvPicPr>
        <p:blipFill rotWithShape="1">
          <a:blip r:embed="rId4">
            <a:alphaModFix/>
          </a:blip>
          <a:srcRect b="0" l="0" r="0" t="0"/>
          <a:stretch/>
        </p:blipFill>
        <p:spPr>
          <a:xfrm>
            <a:off x="640080" y="2377440"/>
            <a:ext cx="5532120" cy="3291840"/>
          </a:xfrm>
          <a:prstGeom prst="rect">
            <a:avLst/>
          </a:prstGeom>
          <a:noFill/>
          <a:ln>
            <a:noFill/>
          </a:ln>
        </p:spPr>
      </p:pic>
      <p:sp>
        <p:nvSpPr>
          <p:cNvPr id="562" name="Google Shape;562;p29"/>
          <p:cNvSpPr/>
          <p:nvPr/>
        </p:nvSpPr>
        <p:spPr>
          <a:xfrm>
            <a:off x="6537960" y="2395728"/>
            <a:ext cx="5120640" cy="32918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Why rebalance</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1200"/>
              </a:spcBef>
              <a:spcAft>
                <a:spcPts val="0"/>
              </a:spcAft>
              <a:buNone/>
            </a:pPr>
            <a:r>
              <a:rPr b="0" i="0" lang="en-US" sz="1800" u="none" cap="none" strike="noStrike">
                <a:solidFill>
                  <a:srgbClr val="4A4A4A"/>
                </a:solidFill>
                <a:latin typeface="Calibri"/>
                <a:ea typeface="Calibri"/>
                <a:cs typeface="Calibri"/>
                <a:sym typeface="Calibri"/>
              </a:rPr>
              <a:t>At 88 / 6 / 6, always-Normal scores 88 % and detects nothing</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20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What it costs</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1200"/>
              </a:spcBef>
              <a:spcAft>
                <a:spcPts val="0"/>
              </a:spcAft>
              <a:buNone/>
            </a:pPr>
            <a:r>
              <a:rPr b="0" i="0" lang="en-US" sz="1800" u="none" cap="none" strike="noStrike">
                <a:solidFill>
                  <a:srgbClr val="4A4A4A"/>
                </a:solidFill>
                <a:latin typeface="Calibri"/>
                <a:ea typeface="Calibri"/>
                <a:cs typeface="Calibri"/>
                <a:sym typeface="Calibri"/>
              </a:rPr>
              <a:t>Real traffic is nowhere near 40 % anomalous</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1200"/>
              </a:spcBef>
              <a:spcAft>
                <a:spcPts val="0"/>
              </a:spcAft>
              <a:buNone/>
            </a:pPr>
            <a:r>
              <a:rPr b="0" i="0" lang="en-US" sz="1800" u="none" cap="none" strike="noStrike">
                <a:solidFill>
                  <a:srgbClr val="4A4A4A"/>
                </a:solidFill>
                <a:latin typeface="Calibri"/>
                <a:ea typeface="Calibri"/>
                <a:cs typeface="Calibri"/>
                <a:sym typeface="Calibri"/>
              </a:rPr>
              <a:t>Accuracy is optimistic by construction</a:t>
            </a:r>
            <a:endParaRPr b="0" i="0" sz="1800" u="none" cap="none" strike="noStrike">
              <a:solidFill>
                <a:schemeClr val="dk1"/>
              </a:solidFill>
              <a:latin typeface="Calibri"/>
              <a:ea typeface="Calibri"/>
              <a:cs typeface="Calibri"/>
              <a:sym typeface="Calibri"/>
            </a:endParaRPr>
          </a:p>
        </p:txBody>
      </p:sp>
      <p:sp>
        <p:nvSpPr>
          <p:cNvPr id="563" name="Google Shape;563;p29"/>
          <p:cNvSpPr/>
          <p:nvPr/>
        </p:nvSpPr>
        <p:spPr>
          <a:xfrm>
            <a:off x="1169625" y="5806450"/>
            <a:ext cx="5120700" cy="5670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
          <p:cNvSpPr/>
          <p:nvPr/>
        </p:nvSpPr>
        <p:spPr>
          <a:xfrm>
            <a:off x="914400" y="5824715"/>
            <a:ext cx="104700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lang="en-US" sz="1600">
                <a:solidFill>
                  <a:srgbClr val="4A4A4A"/>
                </a:solidFill>
                <a:latin typeface="Calibri"/>
                <a:ea typeface="Calibri"/>
                <a:cs typeface="Calibri"/>
                <a:sym typeface="Calibri"/>
              </a:rPr>
              <a:t>          1: Normal                     2: Physical                  3:Network </a:t>
            </a:r>
            <a:endParaRPr b="0" i="0" sz="1600" u="none" cap="none" strike="noStrike">
              <a:solidFill>
                <a:schemeClr val="dk1"/>
              </a:solidFill>
              <a:latin typeface="Calibri"/>
              <a:ea typeface="Calibri"/>
              <a:cs typeface="Calibri"/>
              <a:sym typeface="Calibri"/>
            </a:endParaRPr>
          </a:p>
        </p:txBody>
      </p:sp>
      <p:sp>
        <p:nvSpPr>
          <p:cNvPr id="565" name="Google Shape;565;p29"/>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30"/>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572" name="Google Shape;572;p30"/>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573" name="Google Shape;573;p30"/>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1.7 · SCALING</a:t>
            </a:r>
            <a:endParaRPr b="0" i="0" sz="1000" u="none" cap="none" strike="noStrike">
              <a:solidFill>
                <a:schemeClr val="dk1"/>
              </a:solidFill>
              <a:latin typeface="Calibri"/>
              <a:ea typeface="Calibri"/>
              <a:cs typeface="Calibri"/>
              <a:sym typeface="Calibri"/>
            </a:endParaRPr>
          </a:p>
        </p:txBody>
      </p:sp>
      <p:sp>
        <p:nvSpPr>
          <p:cNvPr id="574" name="Google Shape;574;p30"/>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Normalization — and the leakage trap</a:t>
            </a:r>
            <a:endParaRPr b="0" i="0" sz="3000" u="none" cap="none" strike="noStrike">
              <a:solidFill>
                <a:schemeClr val="dk1"/>
              </a:solidFill>
              <a:latin typeface="Calibri"/>
              <a:ea typeface="Calibri"/>
              <a:cs typeface="Calibri"/>
              <a:sym typeface="Calibri"/>
            </a:endParaRPr>
          </a:p>
        </p:txBody>
      </p:sp>
      <p:sp>
        <p:nvSpPr>
          <p:cNvPr id="575" name="Google Shape;575;p30"/>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0"/>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577" name="Google Shape;577;p30"/>
          <p:cNvSpPr/>
          <p:nvPr/>
        </p:nvSpPr>
        <p:spPr>
          <a:xfrm>
            <a:off x="640080" y="1691640"/>
            <a:ext cx="10881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StandardScaler maps every numeric feature to mean ≈ 0, std ≈ 1, so packet counts in the thousands stop dominating a speed in the tens.</a:t>
            </a:r>
            <a:endParaRPr b="0" i="0" sz="1600" u="none" cap="none" strike="noStrike">
              <a:solidFill>
                <a:schemeClr val="dk1"/>
              </a:solidFill>
              <a:latin typeface="Calibri"/>
              <a:ea typeface="Calibri"/>
              <a:cs typeface="Calibri"/>
              <a:sym typeface="Calibri"/>
            </a:endParaRPr>
          </a:p>
        </p:txBody>
      </p:sp>
      <p:sp>
        <p:nvSpPr>
          <p:cNvPr id="578" name="Google Shape;578;p30"/>
          <p:cNvSpPr/>
          <p:nvPr/>
        </p:nvSpPr>
        <p:spPr>
          <a:xfrm>
            <a:off x="640080" y="2331720"/>
            <a:ext cx="5394960" cy="278892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0"/>
          <p:cNvSpPr/>
          <p:nvPr/>
        </p:nvSpPr>
        <p:spPr>
          <a:xfrm>
            <a:off x="914400" y="2542032"/>
            <a:ext cx="2194560" cy="256032"/>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0"/>
          <p:cNvSpPr/>
          <p:nvPr/>
        </p:nvSpPr>
        <p:spPr>
          <a:xfrm>
            <a:off x="914400" y="2542032"/>
            <a:ext cx="2194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WHAT NB 01 DOES</a:t>
            </a:r>
            <a:endParaRPr b="0" i="0" sz="950" u="none" cap="none" strike="noStrike">
              <a:solidFill>
                <a:schemeClr val="dk1"/>
              </a:solidFill>
              <a:latin typeface="Calibri"/>
              <a:ea typeface="Calibri"/>
              <a:cs typeface="Calibri"/>
              <a:sym typeface="Calibri"/>
            </a:endParaRPr>
          </a:p>
        </p:txBody>
      </p:sp>
      <p:sp>
        <p:nvSpPr>
          <p:cNvPr id="581" name="Google Shape;581;p30"/>
          <p:cNvSpPr/>
          <p:nvPr/>
        </p:nvSpPr>
        <p:spPr>
          <a:xfrm>
            <a:off x="914400" y="3017520"/>
            <a:ext cx="4846320" cy="19202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Fits one scaler on the whole fused table</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Transforms every numeric column</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Writes scaled values into the CSV</a:t>
            </a:r>
            <a:endParaRPr b="0" i="0" sz="1800" u="none" cap="none" strike="noStrike">
              <a:solidFill>
                <a:schemeClr val="dk1"/>
              </a:solidFill>
              <a:latin typeface="Calibri"/>
              <a:ea typeface="Calibri"/>
              <a:cs typeface="Calibri"/>
              <a:sym typeface="Calibri"/>
            </a:endParaRPr>
          </a:p>
        </p:txBody>
      </p:sp>
      <p:sp>
        <p:nvSpPr>
          <p:cNvPr id="582" name="Google Shape;582;p30"/>
          <p:cNvSpPr/>
          <p:nvPr/>
        </p:nvSpPr>
        <p:spPr>
          <a:xfrm>
            <a:off x="6263640" y="2331720"/>
            <a:ext cx="5394960" cy="278892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0"/>
          <p:cNvSpPr/>
          <p:nvPr/>
        </p:nvSpPr>
        <p:spPr>
          <a:xfrm>
            <a:off x="6537960" y="2542032"/>
            <a:ext cx="219456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0"/>
          <p:cNvSpPr/>
          <p:nvPr/>
        </p:nvSpPr>
        <p:spPr>
          <a:xfrm>
            <a:off x="6537960" y="2542032"/>
            <a:ext cx="2194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WHY IT MATTERS</a:t>
            </a:r>
            <a:endParaRPr b="0" i="0" sz="950" u="none" cap="none" strike="noStrike">
              <a:solidFill>
                <a:schemeClr val="dk1"/>
              </a:solidFill>
              <a:latin typeface="Calibri"/>
              <a:ea typeface="Calibri"/>
              <a:cs typeface="Calibri"/>
              <a:sym typeface="Calibri"/>
            </a:endParaRPr>
          </a:p>
        </p:txBody>
      </p:sp>
      <p:sp>
        <p:nvSpPr>
          <p:cNvPr id="585" name="Google Shape;585;p30"/>
          <p:cNvSpPr/>
          <p:nvPr/>
        </p:nvSpPr>
        <p:spPr>
          <a:xfrm>
            <a:off x="6537960" y="3017520"/>
            <a:ext cx="4846320" cy="19202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Fitting before the split leaks test statistics</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Notebook 02 re-fits per branch after splitting</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In production the scaler ships with the model</a:t>
            </a:r>
            <a:endParaRPr b="0" i="0" sz="1800" u="none" cap="none" strike="noStrike">
              <a:solidFill>
                <a:schemeClr val="dk1"/>
              </a:solidFill>
              <a:latin typeface="Calibri"/>
              <a:ea typeface="Calibri"/>
              <a:cs typeface="Calibri"/>
              <a:sym typeface="Calibri"/>
            </a:endParaRPr>
          </a:p>
        </p:txBody>
      </p:sp>
      <p:sp>
        <p:nvSpPr>
          <p:cNvPr id="586" name="Google Shape;586;p30"/>
          <p:cNvSpPr/>
          <p:nvPr/>
        </p:nvSpPr>
        <p:spPr>
          <a:xfrm>
            <a:off x="640080" y="5349240"/>
            <a:ext cx="11018520" cy="100584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0"/>
          <p:cNvSpPr/>
          <p:nvPr/>
        </p:nvSpPr>
        <p:spPr>
          <a:xfrm>
            <a:off x="914400" y="5349240"/>
            <a:ext cx="10469880"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BC97F"/>
              </a:buClr>
              <a:buSzPts val="1700"/>
              <a:buFont typeface="Calibri"/>
              <a:buNone/>
            </a:pPr>
            <a:r>
              <a:rPr b="1" i="0" lang="en-US" sz="1700" u="none" cap="none" strike="noStrike">
                <a:solidFill>
                  <a:srgbClr val="EBC97F"/>
                </a:solidFill>
                <a:latin typeface="Calibri"/>
                <a:ea typeface="Calibri"/>
                <a:cs typeface="Calibri"/>
                <a:sym typeface="Calibri"/>
              </a:rPr>
              <a:t>The rule to remember</a:t>
            </a:r>
            <a:br>
              <a:rPr b="1" i="0" lang="en-US" sz="1700" u="none" cap="none" strike="noStrike">
                <a:solidFill>
                  <a:srgbClr val="EBC97F"/>
                </a:solidFill>
                <a:latin typeface="Calibri"/>
                <a:ea typeface="Calibri"/>
                <a:cs typeface="Calibri"/>
                <a:sym typeface="Calibri"/>
              </a:rPr>
            </a:b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8E8E8"/>
              </a:buClr>
              <a:buSzPts val="1600"/>
              <a:buFont typeface="Calibri"/>
              <a:buNone/>
            </a:pPr>
            <a:r>
              <a:rPr b="0" i="0" lang="en-US" sz="1600" u="none" cap="none" strike="noStrike">
                <a:solidFill>
                  <a:srgbClr val="E8E8E8"/>
                </a:solidFill>
                <a:latin typeface="Calibri"/>
                <a:ea typeface="Calibri"/>
                <a:cs typeface="Calibri"/>
                <a:sym typeface="Calibri"/>
              </a:rPr>
              <a:t>fit on train only, transform everywhere else — and for time-ordered data, split by time, not at random.</a:t>
            </a:r>
            <a:endParaRPr b="0" i="0" sz="1700" u="none" cap="none" strike="noStrike">
              <a:solidFill>
                <a:schemeClr val="dk1"/>
              </a:solidFill>
              <a:latin typeface="Calibri"/>
              <a:ea typeface="Calibri"/>
              <a:cs typeface="Calibri"/>
              <a:sym typeface="Calibri"/>
            </a:endParaRPr>
          </a:p>
        </p:txBody>
      </p:sp>
      <p:sp>
        <p:nvSpPr>
          <p:cNvPr id="588" name="Google Shape;588;p30"/>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31"/>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595" name="Google Shape;595;p31"/>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596" name="Google Shape;596;p31"/>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1.8 · EDA</a:t>
            </a:r>
            <a:endParaRPr b="0" i="0" sz="1000" u="none" cap="none" strike="noStrike">
              <a:solidFill>
                <a:schemeClr val="dk1"/>
              </a:solidFill>
              <a:latin typeface="Calibri"/>
              <a:ea typeface="Calibri"/>
              <a:cs typeface="Calibri"/>
              <a:sym typeface="Calibri"/>
            </a:endParaRPr>
          </a:p>
        </p:txBody>
      </p:sp>
      <p:sp>
        <p:nvSpPr>
          <p:cNvPr id="597" name="Google Shape;597;p31"/>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What to look for in the fusion dashboard</a:t>
            </a:r>
            <a:endParaRPr b="0" i="0" sz="3000" u="none" cap="none" strike="noStrike">
              <a:solidFill>
                <a:schemeClr val="dk1"/>
              </a:solidFill>
              <a:latin typeface="Calibri"/>
              <a:ea typeface="Calibri"/>
              <a:cs typeface="Calibri"/>
              <a:sym typeface="Calibri"/>
            </a:endParaRPr>
          </a:p>
        </p:txBody>
      </p:sp>
      <p:sp>
        <p:nvSpPr>
          <p:cNvPr id="598" name="Google Shape;598;p31"/>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1"/>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600" name="Google Shape;600;p31"/>
          <p:cNvSpPr/>
          <p:nvPr/>
        </p:nvSpPr>
        <p:spPr>
          <a:xfrm>
            <a:off x="640080" y="1783080"/>
            <a:ext cx="5394960" cy="20574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1"/>
          <p:cNvSpPr/>
          <p:nvPr/>
        </p:nvSpPr>
        <p:spPr>
          <a:xfrm>
            <a:off x="896112" y="2020824"/>
            <a:ext cx="347472" cy="347472"/>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1"/>
          <p:cNvSpPr/>
          <p:nvPr/>
        </p:nvSpPr>
        <p:spPr>
          <a:xfrm>
            <a:off x="896112" y="202082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603" name="Google Shape;603;p31"/>
          <p:cNvSpPr/>
          <p:nvPr/>
        </p:nvSpPr>
        <p:spPr>
          <a:xfrm>
            <a:off x="1389888" y="2002536"/>
            <a:ext cx="4389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Correlation matrix</a:t>
            </a:r>
            <a:endParaRPr b="0" i="0" sz="1700" u="none" cap="none" strike="noStrike">
              <a:solidFill>
                <a:schemeClr val="dk1"/>
              </a:solidFill>
              <a:latin typeface="Calibri"/>
              <a:ea typeface="Calibri"/>
              <a:cs typeface="Calibri"/>
              <a:sym typeface="Calibri"/>
            </a:endParaRPr>
          </a:p>
        </p:txBody>
      </p:sp>
      <p:sp>
        <p:nvSpPr>
          <p:cNvPr id="604" name="Google Shape;604;p31"/>
          <p:cNvSpPr/>
          <p:nvPr/>
        </p:nvSpPr>
        <p:spPr>
          <a:xfrm>
            <a:off x="896112" y="2514600"/>
            <a:ext cx="4892040" cy="11704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Look for near-zero cross-modal correlation — fusion is adding information, not repeating it.</a:t>
            </a:r>
            <a:endParaRPr b="0" i="0" sz="1600" u="none" cap="none" strike="noStrike">
              <a:solidFill>
                <a:schemeClr val="dk1"/>
              </a:solidFill>
              <a:latin typeface="Calibri"/>
              <a:ea typeface="Calibri"/>
              <a:cs typeface="Calibri"/>
              <a:sym typeface="Calibri"/>
            </a:endParaRPr>
          </a:p>
        </p:txBody>
      </p:sp>
      <p:sp>
        <p:nvSpPr>
          <p:cNvPr id="605" name="Google Shape;605;p31"/>
          <p:cNvSpPr/>
          <p:nvPr/>
        </p:nvSpPr>
        <p:spPr>
          <a:xfrm>
            <a:off x="6263640" y="1783080"/>
            <a:ext cx="5394960" cy="20574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1"/>
          <p:cNvSpPr/>
          <p:nvPr/>
        </p:nvSpPr>
        <p:spPr>
          <a:xfrm>
            <a:off x="6519672" y="2020824"/>
            <a:ext cx="347472" cy="347472"/>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1"/>
          <p:cNvSpPr/>
          <p:nvPr/>
        </p:nvSpPr>
        <p:spPr>
          <a:xfrm>
            <a:off x="6519672" y="202082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608" name="Google Shape;608;p31"/>
          <p:cNvSpPr/>
          <p:nvPr/>
        </p:nvSpPr>
        <p:spPr>
          <a:xfrm>
            <a:off x="7013448" y="2002536"/>
            <a:ext cx="4389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Anomalies over time</a:t>
            </a:r>
            <a:endParaRPr b="0" i="0" sz="1700" u="none" cap="none" strike="noStrike">
              <a:solidFill>
                <a:schemeClr val="dk1"/>
              </a:solidFill>
              <a:latin typeface="Calibri"/>
              <a:ea typeface="Calibri"/>
              <a:cs typeface="Calibri"/>
              <a:sym typeface="Calibri"/>
            </a:endParaRPr>
          </a:p>
        </p:txBody>
      </p:sp>
      <p:sp>
        <p:nvSpPr>
          <p:cNvPr id="609" name="Google Shape;609;p31"/>
          <p:cNvSpPr/>
          <p:nvPr/>
        </p:nvSpPr>
        <p:spPr>
          <a:xfrm>
            <a:off x="6519672" y="2514600"/>
            <a:ext cx="4892040" cy="11704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Injection is uniform by design, so visible bursts mean sampling introduced structure.</a:t>
            </a:r>
            <a:endParaRPr b="0" i="0" sz="1600" u="none" cap="none" strike="noStrike">
              <a:solidFill>
                <a:schemeClr val="dk1"/>
              </a:solidFill>
              <a:latin typeface="Calibri"/>
              <a:ea typeface="Calibri"/>
              <a:cs typeface="Calibri"/>
              <a:sym typeface="Calibri"/>
            </a:endParaRPr>
          </a:p>
        </p:txBody>
      </p:sp>
      <p:sp>
        <p:nvSpPr>
          <p:cNvPr id="610" name="Google Shape;610;p31"/>
          <p:cNvSpPr/>
          <p:nvPr/>
        </p:nvSpPr>
        <p:spPr>
          <a:xfrm>
            <a:off x="640080" y="4023360"/>
            <a:ext cx="5394960" cy="20574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1"/>
          <p:cNvSpPr/>
          <p:nvPr/>
        </p:nvSpPr>
        <p:spPr>
          <a:xfrm>
            <a:off x="896112" y="4261104"/>
            <a:ext cx="347472" cy="347472"/>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1"/>
          <p:cNvSpPr/>
          <p:nvPr/>
        </p:nvSpPr>
        <p:spPr>
          <a:xfrm>
            <a:off x="896112" y="42611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613" name="Google Shape;613;p31"/>
          <p:cNvSpPr/>
          <p:nvPr/>
        </p:nvSpPr>
        <p:spPr>
          <a:xfrm>
            <a:off x="1389888" y="4242816"/>
            <a:ext cx="4389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Speed × packet count</a:t>
            </a:r>
            <a:endParaRPr b="0" i="0" sz="1700" u="none" cap="none" strike="noStrike">
              <a:solidFill>
                <a:schemeClr val="dk1"/>
              </a:solidFill>
              <a:latin typeface="Calibri"/>
              <a:ea typeface="Calibri"/>
              <a:cs typeface="Calibri"/>
              <a:sym typeface="Calibri"/>
            </a:endParaRPr>
          </a:p>
        </p:txBody>
      </p:sp>
      <p:sp>
        <p:nvSpPr>
          <p:cNvPr id="614" name="Google Shape;614;p31"/>
          <p:cNvSpPr/>
          <p:nvPr/>
        </p:nvSpPr>
        <p:spPr>
          <a:xfrm>
            <a:off x="896112" y="4754880"/>
            <a:ext cx="4892040" cy="11704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If the classes overlap completely in 2-D, the model must lean on the other ten features.</a:t>
            </a:r>
            <a:endParaRPr b="0" i="0" sz="1600" u="none" cap="none" strike="noStrike">
              <a:solidFill>
                <a:schemeClr val="dk1"/>
              </a:solidFill>
              <a:latin typeface="Calibri"/>
              <a:ea typeface="Calibri"/>
              <a:cs typeface="Calibri"/>
              <a:sym typeface="Calibri"/>
            </a:endParaRPr>
          </a:p>
        </p:txBody>
      </p:sp>
      <p:sp>
        <p:nvSpPr>
          <p:cNvPr id="615" name="Google Shape;615;p31"/>
          <p:cNvSpPr/>
          <p:nvPr/>
        </p:nvSpPr>
        <p:spPr>
          <a:xfrm>
            <a:off x="6263640" y="4023360"/>
            <a:ext cx="5394960" cy="20574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1"/>
          <p:cNvSpPr/>
          <p:nvPr/>
        </p:nvSpPr>
        <p:spPr>
          <a:xfrm>
            <a:off x="6519672" y="4261104"/>
            <a:ext cx="347472" cy="347472"/>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1"/>
          <p:cNvSpPr/>
          <p:nvPr/>
        </p:nvSpPr>
        <p:spPr>
          <a:xfrm>
            <a:off x="6519672" y="42611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618" name="Google Shape;618;p31"/>
          <p:cNvSpPr/>
          <p:nvPr/>
        </p:nvSpPr>
        <p:spPr>
          <a:xfrm>
            <a:off x="7013448" y="4242816"/>
            <a:ext cx="43891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Class distribution</a:t>
            </a:r>
            <a:endParaRPr b="0" i="0" sz="1700" u="none" cap="none" strike="noStrike">
              <a:solidFill>
                <a:schemeClr val="dk1"/>
              </a:solidFill>
              <a:latin typeface="Calibri"/>
              <a:ea typeface="Calibri"/>
              <a:cs typeface="Calibri"/>
              <a:sym typeface="Calibri"/>
            </a:endParaRPr>
          </a:p>
        </p:txBody>
      </p:sp>
      <p:sp>
        <p:nvSpPr>
          <p:cNvPr id="619" name="Google Shape;619;p31"/>
          <p:cNvSpPr/>
          <p:nvPr/>
        </p:nvSpPr>
        <p:spPr>
          <a:xfrm>
            <a:off x="6519672" y="4754880"/>
            <a:ext cx="4892040" cy="11704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Expect 60 / 20 / 20. Drift means injection collided with dropped rows.</a:t>
            </a:r>
            <a:endParaRPr b="0" i="0" sz="1600" u="none" cap="none" strike="noStrike">
              <a:solidFill>
                <a:schemeClr val="dk1"/>
              </a:solidFill>
              <a:latin typeface="Calibri"/>
              <a:ea typeface="Calibri"/>
              <a:cs typeface="Calibri"/>
              <a:sym typeface="Calibri"/>
            </a:endParaRPr>
          </a:p>
        </p:txBody>
      </p:sp>
      <p:sp>
        <p:nvSpPr>
          <p:cNvPr id="620" name="Google Shape;620;p31"/>
          <p:cNvSpPr/>
          <p:nvPr/>
        </p:nvSpPr>
        <p:spPr>
          <a:xfrm>
            <a:off x="640080" y="6263640"/>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0" i="1" lang="en-US" sz="1600" u="none" cap="none" strike="noStrike">
                <a:solidFill>
                  <a:srgbClr val="B8932E"/>
                </a:solidFill>
                <a:latin typeface="Calibri"/>
                <a:ea typeface="Calibri"/>
                <a:cs typeface="Calibri"/>
                <a:sym typeface="Calibri"/>
              </a:rPr>
              <a:t>Each panel tests an assumption the Part 2 model depends on.</a:t>
            </a:r>
            <a:endParaRPr b="0" i="0" sz="1600" u="none" cap="none" strike="noStrike">
              <a:solidFill>
                <a:schemeClr val="dk1"/>
              </a:solidFill>
              <a:latin typeface="Calibri"/>
              <a:ea typeface="Calibri"/>
              <a:cs typeface="Calibri"/>
              <a:sym typeface="Calibri"/>
            </a:endParaRPr>
          </a:p>
        </p:txBody>
      </p:sp>
      <p:sp>
        <p:nvSpPr>
          <p:cNvPr id="621" name="Google Shape;621;p31"/>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32"/>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628" name="Google Shape;628;p32"/>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629" name="Google Shape;629;p32"/>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1.9 · OUTPUT</a:t>
            </a:r>
            <a:endParaRPr b="0" i="0" sz="1000" u="none" cap="none" strike="noStrike">
              <a:solidFill>
                <a:schemeClr val="dk1"/>
              </a:solidFill>
              <a:latin typeface="Calibri"/>
              <a:ea typeface="Calibri"/>
              <a:cs typeface="Calibri"/>
              <a:sym typeface="Calibri"/>
            </a:endParaRPr>
          </a:p>
        </p:txBody>
      </p:sp>
      <p:sp>
        <p:nvSpPr>
          <p:cNvPr id="630" name="Google Shape;630;p32"/>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combined_dataset.csv</a:t>
            </a:r>
            <a:endParaRPr b="0" i="0" sz="3000" u="none" cap="none" strike="noStrike">
              <a:solidFill>
                <a:schemeClr val="dk1"/>
              </a:solidFill>
              <a:latin typeface="Calibri"/>
              <a:ea typeface="Calibri"/>
              <a:cs typeface="Calibri"/>
              <a:sym typeface="Calibri"/>
            </a:endParaRPr>
          </a:p>
        </p:txBody>
      </p:sp>
      <p:sp>
        <p:nvSpPr>
          <p:cNvPr id="631" name="Google Shape;631;p32"/>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2"/>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633" name="Google Shape;633;p32"/>
          <p:cNvSpPr/>
          <p:nvPr/>
        </p:nvSpPr>
        <p:spPr>
          <a:xfrm>
            <a:off x="640080" y="1783080"/>
            <a:ext cx="2093976" cy="128016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2"/>
          <p:cNvSpPr/>
          <p:nvPr/>
        </p:nvSpPr>
        <p:spPr>
          <a:xfrm>
            <a:off x="640080" y="1901952"/>
            <a:ext cx="2093976"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3000"/>
              <a:buFont typeface="Georgia"/>
              <a:buNone/>
            </a:pPr>
            <a:r>
              <a:rPr b="1" i="0" lang="en-US" sz="3000" u="none" cap="none" strike="noStrike">
                <a:solidFill>
                  <a:srgbClr val="B8932E"/>
                </a:solidFill>
                <a:latin typeface="Georgia"/>
                <a:ea typeface="Georgia"/>
                <a:cs typeface="Georgia"/>
                <a:sym typeface="Georgia"/>
              </a:rPr>
              <a:t>3 000</a:t>
            </a:r>
            <a:endParaRPr b="0" i="0" sz="3000" u="none" cap="none" strike="noStrike">
              <a:solidFill>
                <a:schemeClr val="dk1"/>
              </a:solidFill>
              <a:latin typeface="Calibri"/>
              <a:ea typeface="Calibri"/>
              <a:cs typeface="Calibri"/>
              <a:sym typeface="Calibri"/>
            </a:endParaRPr>
          </a:p>
        </p:txBody>
      </p:sp>
      <p:sp>
        <p:nvSpPr>
          <p:cNvPr id="635" name="Google Shape;635;p32"/>
          <p:cNvSpPr/>
          <p:nvPr/>
        </p:nvSpPr>
        <p:spPr>
          <a:xfrm>
            <a:off x="640080" y="2505456"/>
            <a:ext cx="20939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fused rows</a:t>
            </a:r>
            <a:endParaRPr b="0" i="0" sz="1200" u="none" cap="none" strike="noStrike">
              <a:solidFill>
                <a:schemeClr val="dk1"/>
              </a:solidFill>
              <a:latin typeface="Calibri"/>
              <a:ea typeface="Calibri"/>
              <a:cs typeface="Calibri"/>
              <a:sym typeface="Calibri"/>
            </a:endParaRPr>
          </a:p>
        </p:txBody>
      </p:sp>
      <p:sp>
        <p:nvSpPr>
          <p:cNvPr id="636" name="Google Shape;636;p32"/>
          <p:cNvSpPr/>
          <p:nvPr/>
        </p:nvSpPr>
        <p:spPr>
          <a:xfrm>
            <a:off x="2871216" y="1783080"/>
            <a:ext cx="2093976" cy="128016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2"/>
          <p:cNvSpPr/>
          <p:nvPr/>
        </p:nvSpPr>
        <p:spPr>
          <a:xfrm>
            <a:off x="2871216" y="1901952"/>
            <a:ext cx="2093976"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3000"/>
              <a:buFont typeface="Georgia"/>
              <a:buNone/>
            </a:pPr>
            <a:r>
              <a:rPr b="1" i="0" lang="en-US" sz="3000" u="none" cap="none" strike="noStrike">
                <a:solidFill>
                  <a:srgbClr val="B8932E"/>
                </a:solidFill>
                <a:latin typeface="Georgia"/>
                <a:ea typeface="Georgia"/>
                <a:cs typeface="Georgia"/>
                <a:sym typeface="Georgia"/>
              </a:rPr>
              <a:t>12</a:t>
            </a:r>
            <a:endParaRPr b="0" i="0" sz="3000" u="none" cap="none" strike="noStrike">
              <a:solidFill>
                <a:schemeClr val="dk1"/>
              </a:solidFill>
              <a:latin typeface="Calibri"/>
              <a:ea typeface="Calibri"/>
              <a:cs typeface="Calibri"/>
              <a:sym typeface="Calibri"/>
            </a:endParaRPr>
          </a:p>
        </p:txBody>
      </p:sp>
      <p:sp>
        <p:nvSpPr>
          <p:cNvPr id="638" name="Google Shape;638;p32"/>
          <p:cNvSpPr/>
          <p:nvPr/>
        </p:nvSpPr>
        <p:spPr>
          <a:xfrm>
            <a:off x="2871216" y="2505456"/>
            <a:ext cx="20939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model features</a:t>
            </a:r>
            <a:endParaRPr b="0" i="0" sz="1200" u="none" cap="none" strike="noStrike">
              <a:solidFill>
                <a:schemeClr val="dk1"/>
              </a:solidFill>
              <a:latin typeface="Calibri"/>
              <a:ea typeface="Calibri"/>
              <a:cs typeface="Calibri"/>
              <a:sym typeface="Calibri"/>
            </a:endParaRPr>
          </a:p>
        </p:txBody>
      </p:sp>
      <p:sp>
        <p:nvSpPr>
          <p:cNvPr id="639" name="Google Shape;639;p32"/>
          <p:cNvSpPr/>
          <p:nvPr/>
        </p:nvSpPr>
        <p:spPr>
          <a:xfrm>
            <a:off x="5102352" y="1783080"/>
            <a:ext cx="2093976" cy="128016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2"/>
          <p:cNvSpPr/>
          <p:nvPr/>
        </p:nvSpPr>
        <p:spPr>
          <a:xfrm>
            <a:off x="5102352" y="1901952"/>
            <a:ext cx="2093976"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3000"/>
              <a:buFont typeface="Georgia"/>
              <a:buNone/>
            </a:pPr>
            <a:r>
              <a:rPr b="1" i="0" lang="en-US" sz="3000" u="none" cap="none" strike="noStrike">
                <a:solidFill>
                  <a:srgbClr val="B8932E"/>
                </a:solidFill>
                <a:latin typeface="Georgia"/>
                <a:ea typeface="Georgia"/>
                <a:cs typeface="Georgia"/>
                <a:sym typeface="Georgia"/>
              </a:rPr>
              <a:t>3</a:t>
            </a:r>
            <a:endParaRPr b="0" i="0" sz="3000" u="none" cap="none" strike="noStrike">
              <a:solidFill>
                <a:schemeClr val="dk1"/>
              </a:solidFill>
              <a:latin typeface="Calibri"/>
              <a:ea typeface="Calibri"/>
              <a:cs typeface="Calibri"/>
              <a:sym typeface="Calibri"/>
            </a:endParaRPr>
          </a:p>
        </p:txBody>
      </p:sp>
      <p:sp>
        <p:nvSpPr>
          <p:cNvPr id="641" name="Google Shape;641;p32"/>
          <p:cNvSpPr/>
          <p:nvPr/>
        </p:nvSpPr>
        <p:spPr>
          <a:xfrm>
            <a:off x="5102352" y="2505456"/>
            <a:ext cx="20939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classes</a:t>
            </a:r>
            <a:endParaRPr b="0" i="0" sz="1200" u="none" cap="none" strike="noStrike">
              <a:solidFill>
                <a:schemeClr val="dk1"/>
              </a:solidFill>
              <a:latin typeface="Calibri"/>
              <a:ea typeface="Calibri"/>
              <a:cs typeface="Calibri"/>
              <a:sym typeface="Calibri"/>
            </a:endParaRPr>
          </a:p>
        </p:txBody>
      </p:sp>
      <p:sp>
        <p:nvSpPr>
          <p:cNvPr id="642" name="Google Shape;642;p32"/>
          <p:cNvSpPr/>
          <p:nvPr/>
        </p:nvSpPr>
        <p:spPr>
          <a:xfrm>
            <a:off x="7333488" y="1783080"/>
            <a:ext cx="2093976" cy="128016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2"/>
          <p:cNvSpPr/>
          <p:nvPr/>
        </p:nvSpPr>
        <p:spPr>
          <a:xfrm>
            <a:off x="7333488" y="1901952"/>
            <a:ext cx="2093976"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3000"/>
              <a:buFont typeface="Georgia"/>
              <a:buNone/>
            </a:pPr>
            <a:r>
              <a:rPr b="1" i="0" lang="en-US" sz="3000" u="none" cap="none" strike="noStrike">
                <a:solidFill>
                  <a:srgbClr val="B8932E"/>
                </a:solidFill>
                <a:latin typeface="Georgia"/>
                <a:ea typeface="Georgia"/>
                <a:cs typeface="Georgia"/>
                <a:sym typeface="Georgia"/>
              </a:rPr>
              <a:t>90 min</a:t>
            </a:r>
            <a:endParaRPr b="0" i="0" sz="3000" u="none" cap="none" strike="noStrike">
              <a:solidFill>
                <a:schemeClr val="dk1"/>
              </a:solidFill>
              <a:latin typeface="Calibri"/>
              <a:ea typeface="Calibri"/>
              <a:cs typeface="Calibri"/>
              <a:sym typeface="Calibri"/>
            </a:endParaRPr>
          </a:p>
        </p:txBody>
      </p:sp>
      <p:sp>
        <p:nvSpPr>
          <p:cNvPr id="644" name="Google Shape;644;p32"/>
          <p:cNvSpPr/>
          <p:nvPr/>
        </p:nvSpPr>
        <p:spPr>
          <a:xfrm>
            <a:off x="7333488" y="2505456"/>
            <a:ext cx="20939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time span</a:t>
            </a:r>
            <a:endParaRPr b="0" i="0" sz="1200" u="none" cap="none" strike="noStrike">
              <a:solidFill>
                <a:schemeClr val="dk1"/>
              </a:solidFill>
              <a:latin typeface="Calibri"/>
              <a:ea typeface="Calibri"/>
              <a:cs typeface="Calibri"/>
              <a:sym typeface="Calibri"/>
            </a:endParaRPr>
          </a:p>
        </p:txBody>
      </p:sp>
      <p:sp>
        <p:nvSpPr>
          <p:cNvPr id="645" name="Google Shape;645;p32"/>
          <p:cNvSpPr/>
          <p:nvPr/>
        </p:nvSpPr>
        <p:spPr>
          <a:xfrm>
            <a:off x="9564624" y="1783080"/>
            <a:ext cx="2093976" cy="128016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2"/>
          <p:cNvSpPr/>
          <p:nvPr/>
        </p:nvSpPr>
        <p:spPr>
          <a:xfrm>
            <a:off x="9564624" y="1901952"/>
            <a:ext cx="2093976"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3000"/>
              <a:buFont typeface="Georgia"/>
              <a:buNone/>
            </a:pPr>
            <a:r>
              <a:rPr b="1" i="0" lang="en-US" sz="3000" u="none" cap="none" strike="noStrike">
                <a:solidFill>
                  <a:srgbClr val="B8932E"/>
                </a:solidFill>
                <a:latin typeface="Georgia"/>
                <a:ea typeface="Georgia"/>
                <a:cs typeface="Georgia"/>
                <a:sym typeface="Georgia"/>
              </a:rPr>
              <a:t>≤ 5 s</a:t>
            </a:r>
            <a:endParaRPr b="0" i="0" sz="3000" u="none" cap="none" strike="noStrike">
              <a:solidFill>
                <a:schemeClr val="dk1"/>
              </a:solidFill>
              <a:latin typeface="Calibri"/>
              <a:ea typeface="Calibri"/>
              <a:cs typeface="Calibri"/>
              <a:sym typeface="Calibri"/>
            </a:endParaRPr>
          </a:p>
        </p:txBody>
      </p:sp>
      <p:sp>
        <p:nvSpPr>
          <p:cNvPr id="647" name="Google Shape;647;p32"/>
          <p:cNvSpPr/>
          <p:nvPr/>
        </p:nvSpPr>
        <p:spPr>
          <a:xfrm>
            <a:off x="9564624" y="2505456"/>
            <a:ext cx="20939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tolerance</a:t>
            </a:r>
            <a:endParaRPr b="0" i="0" sz="1200" u="none" cap="none" strike="noStrike">
              <a:solidFill>
                <a:schemeClr val="dk1"/>
              </a:solidFill>
              <a:latin typeface="Calibri"/>
              <a:ea typeface="Calibri"/>
              <a:cs typeface="Calibri"/>
              <a:sym typeface="Calibri"/>
            </a:endParaRPr>
          </a:p>
        </p:txBody>
      </p:sp>
      <p:sp>
        <p:nvSpPr>
          <p:cNvPr id="648" name="Google Shape;648;p32"/>
          <p:cNvSpPr/>
          <p:nvPr/>
        </p:nvSpPr>
        <p:spPr>
          <a:xfrm>
            <a:off x="640080" y="3310128"/>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Column order on disk</a:t>
            </a:r>
            <a:endParaRPr b="0" i="0" sz="1800" u="none" cap="none" strike="noStrike">
              <a:solidFill>
                <a:schemeClr val="dk1"/>
              </a:solidFill>
              <a:latin typeface="Calibri"/>
              <a:ea typeface="Calibri"/>
              <a:cs typeface="Calibri"/>
              <a:sym typeface="Calibri"/>
            </a:endParaRPr>
          </a:p>
        </p:txBody>
      </p:sp>
      <p:sp>
        <p:nvSpPr>
          <p:cNvPr id="649" name="Google Shape;649;p32"/>
          <p:cNvSpPr/>
          <p:nvPr/>
        </p:nvSpPr>
        <p:spPr>
          <a:xfrm>
            <a:off x="640080" y="3730752"/>
            <a:ext cx="5989320" cy="2377440"/>
          </a:xfrm>
          <a:prstGeom prst="rect">
            <a:avLst/>
          </a:prstGeom>
          <a:solidFill>
            <a:srgbClr val="F4F2EC"/>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2"/>
          <p:cNvSpPr/>
          <p:nvPr/>
        </p:nvSpPr>
        <p:spPr>
          <a:xfrm>
            <a:off x="914400" y="3730752"/>
            <a:ext cx="5486400" cy="237744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1A1A1A"/>
              </a:buClr>
              <a:buSzPts val="1200"/>
              <a:buFont typeface="Courier New"/>
              <a:buNone/>
            </a:pPr>
            <a:r>
              <a:rPr b="1" i="0" lang="en-US" sz="1200" u="none" cap="none" strike="noStrike">
                <a:solidFill>
                  <a:srgbClr val="1A1A1A"/>
                </a:solidFill>
                <a:latin typeface="Courier New"/>
                <a:ea typeface="Courier New"/>
                <a:cs typeface="Courier New"/>
                <a:sym typeface="Courier New"/>
              </a:rPr>
              <a:t>timestamp, label,</a:t>
            </a:r>
            <a:br>
              <a:rPr b="1" i="0" lang="en-US" sz="1200" u="none" cap="none" strike="noStrike">
                <a:solidFill>
                  <a:srgbClr val="1A1A1A"/>
                </a:solidFill>
                <a:latin typeface="Courier New"/>
                <a:ea typeface="Courier New"/>
                <a:cs typeface="Courier New"/>
                <a:sym typeface="Courier New"/>
              </a:rPr>
            </a:br>
            <a:endParaRPr b="0" i="0" sz="12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7A6420"/>
              </a:buClr>
              <a:buSzPts val="1200"/>
              <a:buFont typeface="Courier New"/>
              <a:buNone/>
            </a:pPr>
            <a:r>
              <a:rPr b="0" i="0" lang="en-US" sz="1200" u="none" cap="none" strike="noStrike">
                <a:solidFill>
                  <a:srgbClr val="7A6420"/>
                </a:solidFill>
                <a:latin typeface="Courier New"/>
                <a:ea typeface="Courier New"/>
                <a:cs typeface="Courier New"/>
                <a:sym typeface="Courier New"/>
              </a:rPr>
              <a:t>veh_acceleration, veh_brake_status,</a:t>
            </a:r>
            <a:br>
              <a:rPr b="0" i="0" lang="en-US" sz="1200" u="none" cap="none" strike="noStrike">
                <a:solidFill>
                  <a:srgbClr val="7A6420"/>
                </a:solidFill>
                <a:latin typeface="Courier New"/>
                <a:ea typeface="Courier New"/>
                <a:cs typeface="Courier New"/>
                <a:sym typeface="Courier New"/>
              </a:rPr>
            </a:br>
            <a:r>
              <a:rPr b="0" i="0" lang="en-US" sz="1200" u="none" cap="none" strike="noStrike">
                <a:solidFill>
                  <a:srgbClr val="7A6420"/>
                </a:solidFill>
                <a:latin typeface="Courier New"/>
                <a:ea typeface="Courier New"/>
                <a:cs typeface="Courier New"/>
                <a:sym typeface="Courier New"/>
              </a:rPr>
              <a:t>veh_distance_to_obstacle, veh_gps_lat,</a:t>
            </a:r>
            <a:br>
              <a:rPr b="0" i="0" lang="en-US" sz="1200" u="none" cap="none" strike="noStrike">
                <a:solidFill>
                  <a:srgbClr val="7A6420"/>
                </a:solidFill>
                <a:latin typeface="Courier New"/>
                <a:ea typeface="Courier New"/>
                <a:cs typeface="Courier New"/>
                <a:sym typeface="Courier New"/>
              </a:rPr>
            </a:br>
            <a:r>
              <a:rPr b="0" i="0" lang="en-US" sz="1200" u="none" cap="none" strike="noStrike">
                <a:solidFill>
                  <a:srgbClr val="7A6420"/>
                </a:solidFill>
                <a:latin typeface="Courier New"/>
                <a:ea typeface="Courier New"/>
                <a:cs typeface="Courier New"/>
                <a:sym typeface="Courier New"/>
              </a:rPr>
              <a:t>veh_gps_lon, veh_speed,</a:t>
            </a:r>
            <a:br>
              <a:rPr b="0" i="0" lang="en-US" sz="1200" u="none" cap="none" strike="noStrike">
                <a:solidFill>
                  <a:srgbClr val="7A6420"/>
                </a:solidFill>
                <a:latin typeface="Courier New"/>
                <a:ea typeface="Courier New"/>
                <a:cs typeface="Courier New"/>
                <a:sym typeface="Courier New"/>
              </a:rPr>
            </a:br>
            <a:endParaRPr b="0" i="0" sz="12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2F4F6B"/>
              </a:buClr>
              <a:buSzPts val="1200"/>
              <a:buFont typeface="Courier New"/>
              <a:buNone/>
            </a:pPr>
            <a:r>
              <a:rPr b="0" i="0" lang="en-US" sz="1200" u="none" cap="none" strike="noStrike">
                <a:solidFill>
                  <a:srgbClr val="2F4F6B"/>
                </a:solidFill>
                <a:latin typeface="Courier New"/>
                <a:ea typeface="Courier New"/>
                <a:cs typeface="Courier New"/>
                <a:sym typeface="Courier New"/>
              </a:rPr>
              <a:t>net_bytes_transferred, net_dst_ip_hash,</a:t>
            </a:r>
            <a:br>
              <a:rPr b="0" i="0" lang="en-US" sz="1200" u="none" cap="none" strike="noStrike">
                <a:solidFill>
                  <a:srgbClr val="2F4F6B"/>
                </a:solidFill>
                <a:latin typeface="Courier New"/>
                <a:ea typeface="Courier New"/>
                <a:cs typeface="Courier New"/>
                <a:sym typeface="Courier New"/>
              </a:rPr>
            </a:br>
            <a:r>
              <a:rPr b="0" i="0" lang="en-US" sz="1200" u="none" cap="none" strike="noStrike">
                <a:solidFill>
                  <a:srgbClr val="2F4F6B"/>
                </a:solidFill>
                <a:latin typeface="Courier New"/>
                <a:ea typeface="Courier New"/>
                <a:cs typeface="Courier New"/>
                <a:sym typeface="Courier New"/>
              </a:rPr>
              <a:t>net_packet_count, net_port,</a:t>
            </a:r>
            <a:br>
              <a:rPr b="0" i="0" lang="en-US" sz="1200" u="none" cap="none" strike="noStrike">
                <a:solidFill>
                  <a:srgbClr val="2F4F6B"/>
                </a:solidFill>
                <a:latin typeface="Courier New"/>
                <a:ea typeface="Courier New"/>
                <a:cs typeface="Courier New"/>
                <a:sym typeface="Courier New"/>
              </a:rPr>
            </a:br>
            <a:r>
              <a:rPr b="0" i="0" lang="en-US" sz="1200" u="none" cap="none" strike="noStrike">
                <a:solidFill>
                  <a:srgbClr val="2F4F6B"/>
                </a:solidFill>
                <a:latin typeface="Courier New"/>
                <a:ea typeface="Courier New"/>
                <a:cs typeface="Courier New"/>
                <a:sym typeface="Courier New"/>
              </a:rPr>
              <a:t>net_protocol_encoded, net_src_ip_hash,</a:t>
            </a:r>
            <a:br>
              <a:rPr b="0" i="0" lang="en-US" sz="1200" u="none" cap="none" strike="noStrike">
                <a:solidFill>
                  <a:srgbClr val="2F4F6B"/>
                </a:solidFill>
                <a:latin typeface="Courier New"/>
                <a:ea typeface="Courier New"/>
                <a:cs typeface="Courier New"/>
                <a:sym typeface="Courier New"/>
              </a:rPr>
            </a:br>
            <a:endParaRPr b="0" i="0" sz="12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A8A8A"/>
              </a:buClr>
              <a:buSzPts val="1200"/>
              <a:buFont typeface="Courier New"/>
              <a:buNone/>
            </a:pPr>
            <a:r>
              <a:rPr b="0" i="0" lang="en-US" sz="1200" u="none" cap="none" strike="noStrike">
                <a:solidFill>
                  <a:srgbClr val="8A8A8A"/>
                </a:solidFill>
                <a:latin typeface="Courier New"/>
                <a:ea typeface="Courier New"/>
                <a:cs typeface="Courier New"/>
                <a:sym typeface="Courier New"/>
              </a:rPr>
              <a:t>time_diff_seconds</a:t>
            </a:r>
            <a:endParaRPr b="0" i="0" sz="1200" u="none" cap="none" strike="noStrike">
              <a:solidFill>
                <a:schemeClr val="dk1"/>
              </a:solidFill>
              <a:latin typeface="Calibri"/>
              <a:ea typeface="Calibri"/>
              <a:cs typeface="Calibri"/>
              <a:sym typeface="Calibri"/>
            </a:endParaRPr>
          </a:p>
        </p:txBody>
      </p:sp>
      <p:sp>
        <p:nvSpPr>
          <p:cNvPr id="651" name="Google Shape;651;p32"/>
          <p:cNvSpPr/>
          <p:nvPr/>
        </p:nvSpPr>
        <p:spPr>
          <a:xfrm>
            <a:off x="6995160" y="3749040"/>
            <a:ext cx="4663440" cy="23774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Checkpoint before Part 2</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2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Row count near 3 000</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2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Labels near 60 / 20 / 20</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2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No NaNs; completeness 100 %</a:t>
            </a:r>
            <a:endParaRPr b="0" i="0" sz="1800" u="none" cap="none" strike="noStrike">
              <a:solidFill>
                <a:schemeClr val="dk1"/>
              </a:solidFill>
              <a:latin typeface="Calibri"/>
              <a:ea typeface="Calibri"/>
              <a:cs typeface="Calibri"/>
              <a:sym typeface="Calibri"/>
            </a:endParaRPr>
          </a:p>
        </p:txBody>
      </p:sp>
      <p:sp>
        <p:nvSpPr>
          <p:cNvPr id="652" name="Google Shape;652;p32"/>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7" name="Shape 657"/>
        <p:cNvGrpSpPr/>
        <p:nvPr/>
      </p:nvGrpSpPr>
      <p:grpSpPr>
        <a:xfrm>
          <a:off x="0" y="0"/>
          <a:ext cx="0" cy="0"/>
          <a:chOff x="0" y="0"/>
          <a:chExt cx="0" cy="0"/>
        </a:xfrm>
      </p:grpSpPr>
      <p:sp>
        <p:nvSpPr>
          <p:cNvPr id="658" name="Google Shape;658;p33"/>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659" name="Google Shape;659;p33"/>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660" name="Google Shape;660;p33"/>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1.10 · HANDS-ON</a:t>
            </a:r>
            <a:endParaRPr b="0" i="0" sz="1000" u="none" cap="none" strike="noStrike">
              <a:solidFill>
                <a:schemeClr val="dk1"/>
              </a:solidFill>
              <a:latin typeface="Calibri"/>
              <a:ea typeface="Calibri"/>
              <a:cs typeface="Calibri"/>
              <a:sym typeface="Calibri"/>
            </a:endParaRPr>
          </a:p>
        </p:txBody>
      </p:sp>
      <p:sp>
        <p:nvSpPr>
          <p:cNvPr id="661" name="Google Shape;661;p33"/>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Notebook 01 — what you'll do</a:t>
            </a:r>
            <a:endParaRPr b="0" i="0" sz="3000" u="none" cap="none" strike="noStrike">
              <a:solidFill>
                <a:schemeClr val="dk1"/>
              </a:solidFill>
              <a:latin typeface="Calibri"/>
              <a:ea typeface="Calibri"/>
              <a:cs typeface="Calibri"/>
              <a:sym typeface="Calibri"/>
            </a:endParaRPr>
          </a:p>
        </p:txBody>
      </p:sp>
      <p:sp>
        <p:nvSpPr>
          <p:cNvPr id="662" name="Google Shape;662;p33"/>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3"/>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1 · DATA SYNCHRONIZATION      </a:t>
            </a:r>
            <a:endParaRPr b="0" i="0" sz="900" u="none" cap="none" strike="noStrike">
              <a:solidFill>
                <a:schemeClr val="dk1"/>
              </a:solidFill>
              <a:latin typeface="Calibri"/>
              <a:ea typeface="Calibri"/>
              <a:cs typeface="Calibri"/>
              <a:sym typeface="Calibri"/>
            </a:endParaRPr>
          </a:p>
        </p:txBody>
      </p:sp>
      <p:sp>
        <p:nvSpPr>
          <p:cNvPr id="664" name="Google Shape;664;p33"/>
          <p:cNvSpPr/>
          <p:nvPr/>
        </p:nvSpPr>
        <p:spPr>
          <a:xfrm>
            <a:off x="640080" y="1929384"/>
            <a:ext cx="960120" cy="256032"/>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3"/>
          <p:cNvSpPr/>
          <p:nvPr/>
        </p:nvSpPr>
        <p:spPr>
          <a:xfrm>
            <a:off x="640080" y="1929384"/>
            <a:ext cx="960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RUN</a:t>
            </a:r>
            <a:endParaRPr b="0" i="0" sz="950" u="none" cap="none" strike="noStrike">
              <a:solidFill>
                <a:schemeClr val="dk1"/>
              </a:solidFill>
              <a:latin typeface="Calibri"/>
              <a:ea typeface="Calibri"/>
              <a:cs typeface="Calibri"/>
              <a:sym typeface="Calibri"/>
            </a:endParaRPr>
          </a:p>
        </p:txBody>
      </p:sp>
      <p:sp>
        <p:nvSpPr>
          <p:cNvPr id="666" name="Google Shape;666;p33"/>
          <p:cNvSpPr/>
          <p:nvPr/>
        </p:nvSpPr>
        <p:spPr>
          <a:xfrm>
            <a:off x="1783080" y="1732199"/>
            <a:ext cx="4983600" cy="60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Generate both streams, inspect their raw shapes</a:t>
            </a:r>
            <a:endParaRPr b="0" i="0" sz="1600" u="none" cap="none" strike="noStrike">
              <a:solidFill>
                <a:schemeClr val="dk1"/>
              </a:solidFill>
              <a:latin typeface="Calibri"/>
              <a:ea typeface="Calibri"/>
              <a:cs typeface="Calibri"/>
              <a:sym typeface="Calibri"/>
            </a:endParaRPr>
          </a:p>
        </p:txBody>
      </p:sp>
      <p:sp>
        <p:nvSpPr>
          <p:cNvPr id="667" name="Google Shape;667;p33"/>
          <p:cNvSpPr/>
          <p:nvPr/>
        </p:nvSpPr>
        <p:spPr>
          <a:xfrm>
            <a:off x="640080" y="2679192"/>
            <a:ext cx="960120" cy="256032"/>
          </a:xfrm>
          <a:prstGeom prst="roundRect">
            <a:avLst>
              <a:gd fmla="val 46429" name="adj"/>
            </a:avLst>
          </a:prstGeom>
          <a:solidFill>
            <a:srgbClr val="8A8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3"/>
          <p:cNvSpPr/>
          <p:nvPr/>
        </p:nvSpPr>
        <p:spPr>
          <a:xfrm>
            <a:off x="640080" y="2679192"/>
            <a:ext cx="960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RUN</a:t>
            </a:r>
            <a:endParaRPr b="0" i="0" sz="950" u="none" cap="none" strike="noStrike">
              <a:solidFill>
                <a:schemeClr val="dk1"/>
              </a:solidFill>
              <a:latin typeface="Calibri"/>
              <a:ea typeface="Calibri"/>
              <a:cs typeface="Calibri"/>
              <a:sym typeface="Calibri"/>
            </a:endParaRPr>
          </a:p>
        </p:txBody>
      </p:sp>
      <p:sp>
        <p:nvSpPr>
          <p:cNvPr id="669" name="Google Shape;669;p33"/>
          <p:cNvSpPr/>
          <p:nvPr/>
        </p:nvSpPr>
        <p:spPr>
          <a:xfrm>
            <a:off x="1783080" y="2459632"/>
            <a:ext cx="4983600" cy="60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Preprocess each modality with its own repair rule</a:t>
            </a:r>
            <a:endParaRPr b="0" i="0" sz="1600" u="none" cap="none" strike="noStrike">
              <a:solidFill>
                <a:schemeClr val="dk1"/>
              </a:solidFill>
              <a:latin typeface="Calibri"/>
              <a:ea typeface="Calibri"/>
              <a:cs typeface="Calibri"/>
              <a:sym typeface="Calibri"/>
            </a:endParaRPr>
          </a:p>
        </p:txBody>
      </p:sp>
      <p:sp>
        <p:nvSpPr>
          <p:cNvPr id="670" name="Google Shape;670;p33"/>
          <p:cNvSpPr/>
          <p:nvPr/>
        </p:nvSpPr>
        <p:spPr>
          <a:xfrm>
            <a:off x="640080" y="3429000"/>
            <a:ext cx="96012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3"/>
          <p:cNvSpPr/>
          <p:nvPr/>
        </p:nvSpPr>
        <p:spPr>
          <a:xfrm>
            <a:off x="640080" y="3429000"/>
            <a:ext cx="960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EDIT</a:t>
            </a:r>
            <a:endParaRPr b="0" i="0" sz="950" u="none" cap="none" strike="noStrike">
              <a:solidFill>
                <a:schemeClr val="dk1"/>
              </a:solidFill>
              <a:latin typeface="Calibri"/>
              <a:ea typeface="Calibri"/>
              <a:cs typeface="Calibri"/>
              <a:sym typeface="Calibri"/>
            </a:endParaRPr>
          </a:p>
        </p:txBody>
      </p:sp>
      <p:sp>
        <p:nvSpPr>
          <p:cNvPr id="672" name="Google Shape;672;p33"/>
          <p:cNvSpPr/>
          <p:nvPr/>
        </p:nvSpPr>
        <p:spPr>
          <a:xfrm>
            <a:off x="1783080" y="3209440"/>
            <a:ext cx="4983600" cy="60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Change the tolerance, watch the row count move</a:t>
            </a:r>
            <a:endParaRPr b="0" i="0" sz="1600" u="none" cap="none" strike="noStrike">
              <a:solidFill>
                <a:schemeClr val="dk1"/>
              </a:solidFill>
              <a:latin typeface="Calibri"/>
              <a:ea typeface="Calibri"/>
              <a:cs typeface="Calibri"/>
              <a:sym typeface="Calibri"/>
            </a:endParaRPr>
          </a:p>
        </p:txBody>
      </p:sp>
      <p:sp>
        <p:nvSpPr>
          <p:cNvPr id="673" name="Google Shape;673;p33"/>
          <p:cNvSpPr/>
          <p:nvPr/>
        </p:nvSpPr>
        <p:spPr>
          <a:xfrm>
            <a:off x="640080" y="4178808"/>
            <a:ext cx="96012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3"/>
          <p:cNvSpPr/>
          <p:nvPr/>
        </p:nvSpPr>
        <p:spPr>
          <a:xfrm>
            <a:off x="640080" y="4178808"/>
            <a:ext cx="960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EDIT</a:t>
            </a:r>
            <a:endParaRPr b="0" i="0" sz="950" u="none" cap="none" strike="noStrike">
              <a:solidFill>
                <a:schemeClr val="dk1"/>
              </a:solidFill>
              <a:latin typeface="Calibri"/>
              <a:ea typeface="Calibri"/>
              <a:cs typeface="Calibri"/>
              <a:sym typeface="Calibri"/>
            </a:endParaRPr>
          </a:p>
        </p:txBody>
      </p:sp>
      <p:sp>
        <p:nvSpPr>
          <p:cNvPr id="675" name="Google Shape;675;p33"/>
          <p:cNvSpPr/>
          <p:nvPr/>
        </p:nvSpPr>
        <p:spPr>
          <a:xfrm>
            <a:off x="1783080" y="3959248"/>
            <a:ext cx="4983600" cy="60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Change the 60 / 20 / 20 target, re-read the report</a:t>
            </a:r>
            <a:endParaRPr b="0" i="0" sz="1600" u="none" cap="none" strike="noStrike">
              <a:solidFill>
                <a:schemeClr val="dk1"/>
              </a:solidFill>
              <a:latin typeface="Calibri"/>
              <a:ea typeface="Calibri"/>
              <a:cs typeface="Calibri"/>
              <a:sym typeface="Calibri"/>
            </a:endParaRPr>
          </a:p>
        </p:txBody>
      </p:sp>
      <p:sp>
        <p:nvSpPr>
          <p:cNvPr id="676" name="Google Shape;676;p33"/>
          <p:cNvSpPr/>
          <p:nvPr/>
        </p:nvSpPr>
        <p:spPr>
          <a:xfrm>
            <a:off x="640080" y="4928616"/>
            <a:ext cx="960120" cy="256032"/>
          </a:xfrm>
          <a:prstGeom prst="roundRect">
            <a:avLst>
              <a:gd fmla="val 46429" name="adj"/>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3"/>
          <p:cNvSpPr/>
          <p:nvPr/>
        </p:nvSpPr>
        <p:spPr>
          <a:xfrm>
            <a:off x="640080" y="4928616"/>
            <a:ext cx="9600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WRITE</a:t>
            </a:r>
            <a:endParaRPr b="0" i="0" sz="950" u="none" cap="none" strike="noStrike">
              <a:solidFill>
                <a:schemeClr val="dk1"/>
              </a:solidFill>
              <a:latin typeface="Calibri"/>
              <a:ea typeface="Calibri"/>
              <a:cs typeface="Calibri"/>
              <a:sym typeface="Calibri"/>
            </a:endParaRPr>
          </a:p>
        </p:txBody>
      </p:sp>
      <p:sp>
        <p:nvSpPr>
          <p:cNvPr id="678" name="Google Shape;678;p33"/>
          <p:cNvSpPr/>
          <p:nvPr/>
        </p:nvSpPr>
        <p:spPr>
          <a:xfrm>
            <a:off x="1783080" y="4709056"/>
            <a:ext cx="4983600" cy="60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Add a feature, justify which branch it belongs to</a:t>
            </a:r>
            <a:endParaRPr b="0" i="0" sz="1600" u="none" cap="none" strike="noStrike">
              <a:solidFill>
                <a:schemeClr val="dk1"/>
              </a:solidFill>
              <a:latin typeface="Calibri"/>
              <a:ea typeface="Calibri"/>
              <a:cs typeface="Calibri"/>
              <a:sym typeface="Calibri"/>
            </a:endParaRPr>
          </a:p>
        </p:txBody>
      </p:sp>
      <p:sp>
        <p:nvSpPr>
          <p:cNvPr id="679" name="Google Shape;679;p33"/>
          <p:cNvSpPr/>
          <p:nvPr/>
        </p:nvSpPr>
        <p:spPr>
          <a:xfrm>
            <a:off x="6853590" y="1577405"/>
            <a:ext cx="4480500" cy="37032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3"/>
          <p:cNvSpPr/>
          <p:nvPr/>
        </p:nvSpPr>
        <p:spPr>
          <a:xfrm>
            <a:off x="7127910" y="1760285"/>
            <a:ext cx="3931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700"/>
              <a:buFont typeface="Georgia"/>
              <a:buNone/>
            </a:pPr>
            <a:r>
              <a:rPr b="1" i="0" lang="en-US" sz="1700" u="none" cap="none" strike="noStrike">
                <a:solidFill>
                  <a:srgbClr val="1A1A1A"/>
                </a:solidFill>
                <a:latin typeface="Georgia"/>
                <a:ea typeface="Georgia"/>
                <a:cs typeface="Georgia"/>
                <a:sym typeface="Georgia"/>
              </a:rPr>
              <a:t>Questions worth answering</a:t>
            </a:r>
            <a:endParaRPr b="0" i="0" sz="1700" u="none" cap="none" strike="noStrike">
              <a:solidFill>
                <a:schemeClr val="dk1"/>
              </a:solidFill>
              <a:latin typeface="Calibri"/>
              <a:ea typeface="Calibri"/>
              <a:cs typeface="Calibri"/>
              <a:sym typeface="Calibri"/>
            </a:endParaRPr>
          </a:p>
        </p:txBody>
      </p:sp>
      <p:sp>
        <p:nvSpPr>
          <p:cNvPr id="681" name="Google Shape;681;p33"/>
          <p:cNvSpPr/>
          <p:nvPr/>
        </p:nvSpPr>
        <p:spPr>
          <a:xfrm>
            <a:off x="7127910" y="2263205"/>
            <a:ext cx="3977700" cy="28347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At what tolerance does quality degrade faster than coverage improves?</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2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Which feature would you drop first, and why?</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2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If the network stream stopped, would the model notice?</a:t>
            </a:r>
            <a:endParaRPr b="0" i="0" sz="1800" u="none" cap="none" strike="noStrike">
              <a:solidFill>
                <a:schemeClr val="dk1"/>
              </a:solidFill>
              <a:latin typeface="Calibri"/>
              <a:ea typeface="Calibri"/>
              <a:cs typeface="Calibri"/>
              <a:sym typeface="Calibri"/>
            </a:endParaRPr>
          </a:p>
        </p:txBody>
      </p:sp>
      <p:sp>
        <p:nvSpPr>
          <p:cNvPr id="682" name="Google Shape;682;p33"/>
          <p:cNvSpPr/>
          <p:nvPr/>
        </p:nvSpPr>
        <p:spPr>
          <a:xfrm>
            <a:off x="640080" y="5715000"/>
            <a:ext cx="11018520" cy="658368"/>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3"/>
          <p:cNvSpPr/>
          <p:nvPr/>
        </p:nvSpPr>
        <p:spPr>
          <a:xfrm>
            <a:off x="914400" y="5715000"/>
            <a:ext cx="1046988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BC97F"/>
              </a:buClr>
              <a:buSzPts val="1600"/>
              <a:buFont typeface="Calibri"/>
              <a:buNone/>
            </a:pPr>
            <a:r>
              <a:rPr b="1" i="0" lang="en-US" sz="1600" u="none" cap="none" strike="noStrike">
                <a:solidFill>
                  <a:srgbClr val="EBC97F"/>
                </a:solidFill>
                <a:latin typeface="Calibri"/>
                <a:ea typeface="Calibri"/>
                <a:cs typeface="Calibri"/>
                <a:sym typeface="Calibri"/>
              </a:rPr>
              <a:t>Exit criterion:  </a:t>
            </a:r>
            <a:r>
              <a:rPr b="0" i="0" lang="en-US" sz="1600" u="none" cap="none" strike="noStrike">
                <a:solidFill>
                  <a:srgbClr val="E8E8E8"/>
                </a:solidFill>
                <a:latin typeface="Calibri"/>
                <a:ea typeface="Calibri"/>
                <a:cs typeface="Calibri"/>
                <a:sym typeface="Calibri"/>
              </a:rPr>
              <a:t>combined_dataset.csv exists, has no missing values, and its labels land near 60 / 20 / 20.</a:t>
            </a:r>
            <a:endParaRPr b="0" i="0" sz="1600" u="none" cap="none" strike="noStrike">
              <a:solidFill>
                <a:schemeClr val="dk1"/>
              </a:solidFill>
              <a:latin typeface="Calibri"/>
              <a:ea typeface="Calibri"/>
              <a:cs typeface="Calibri"/>
              <a:sym typeface="Calibri"/>
            </a:endParaRPr>
          </a:p>
        </p:txBody>
      </p:sp>
      <p:sp>
        <p:nvSpPr>
          <p:cNvPr id="684" name="Google Shape;684;p33"/>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689" name="Shape 689"/>
        <p:cNvGrpSpPr/>
        <p:nvPr/>
      </p:nvGrpSpPr>
      <p:grpSpPr>
        <a:xfrm>
          <a:off x="0" y="0"/>
          <a:ext cx="0" cy="0"/>
          <a:chOff x="0" y="0"/>
          <a:chExt cx="0" cy="0"/>
        </a:xfrm>
      </p:grpSpPr>
      <p:sp>
        <p:nvSpPr>
          <p:cNvPr id="690" name="Google Shape;690;p34"/>
          <p:cNvSpPr/>
          <p:nvPr/>
        </p:nvSpPr>
        <p:spPr>
          <a:xfrm>
            <a:off x="777240" y="21945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8932E"/>
              </a:buClr>
              <a:buSzPts val="1300"/>
              <a:buFont typeface="Arial"/>
              <a:buNone/>
            </a:pPr>
            <a:r>
              <a:rPr b="1" i="0" lang="en-US" sz="1300" u="none" cap="none" strike="noStrike">
                <a:solidFill>
                  <a:srgbClr val="B8932E"/>
                </a:solidFill>
                <a:latin typeface="Arial"/>
                <a:ea typeface="Arial"/>
                <a:cs typeface="Arial"/>
                <a:sym typeface="Arial"/>
              </a:rPr>
              <a:t>MODULE 5.</a:t>
            </a:r>
            <a:r>
              <a:rPr b="1" lang="en-US" sz="1300">
                <a:solidFill>
                  <a:srgbClr val="B8932E"/>
                </a:solidFill>
              </a:rPr>
              <a:t>4</a:t>
            </a:r>
            <a:r>
              <a:rPr b="1" i="0" lang="en-US" sz="1300" u="none" cap="none" strike="noStrike">
                <a:solidFill>
                  <a:srgbClr val="B8932E"/>
                </a:solidFill>
                <a:latin typeface="Arial"/>
                <a:ea typeface="Arial"/>
                <a:cs typeface="Arial"/>
                <a:sym typeface="Arial"/>
              </a:rPr>
              <a:t>   ·   TOPIC </a:t>
            </a:r>
            <a:r>
              <a:rPr b="1" lang="en-US" sz="1300">
                <a:solidFill>
                  <a:srgbClr val="B8932E"/>
                </a:solidFill>
              </a:rPr>
              <a:t>2</a:t>
            </a:r>
            <a:r>
              <a:rPr b="1" i="0" lang="en-US" sz="1300" u="none" cap="none" strike="noStrike">
                <a:solidFill>
                  <a:srgbClr val="B8932E"/>
                </a:solidFill>
                <a:latin typeface="Arial"/>
                <a:ea typeface="Arial"/>
                <a:cs typeface="Arial"/>
                <a:sym typeface="Arial"/>
              </a:rPr>
              <a:t>  </a:t>
            </a:r>
            <a:endParaRPr b="0" i="0" sz="1300" u="none" cap="none" strike="noStrike">
              <a:solidFill>
                <a:schemeClr val="dk1"/>
              </a:solidFill>
              <a:latin typeface="Calibri"/>
              <a:ea typeface="Calibri"/>
              <a:cs typeface="Calibri"/>
              <a:sym typeface="Calibri"/>
            </a:endParaRPr>
          </a:p>
        </p:txBody>
      </p:sp>
      <p:sp>
        <p:nvSpPr>
          <p:cNvPr id="691" name="Google Shape;691;p34"/>
          <p:cNvSpPr/>
          <p:nvPr/>
        </p:nvSpPr>
        <p:spPr>
          <a:xfrm>
            <a:off x="731520" y="2560320"/>
            <a:ext cx="96012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Georgia"/>
              <a:buNone/>
            </a:pPr>
            <a:r>
              <a:rPr b="1" lang="en-US" sz="4600">
                <a:solidFill>
                  <a:srgbClr val="FFFFFF"/>
                </a:solidFill>
                <a:latin typeface="Georgia"/>
                <a:ea typeface="Georgia"/>
                <a:cs typeface="Georgia"/>
                <a:sym typeface="Georgia"/>
              </a:rPr>
              <a:t>Multimodal Edge AI Model</a:t>
            </a:r>
            <a:endParaRPr b="1" sz="4600">
              <a:solidFill>
                <a:srgbClr val="FFFFFF"/>
              </a:solidFill>
              <a:latin typeface="Georgia"/>
              <a:ea typeface="Georgia"/>
              <a:cs typeface="Georgia"/>
              <a:sym typeface="Georgia"/>
            </a:endParaRPr>
          </a:p>
        </p:txBody>
      </p:sp>
      <p:sp>
        <p:nvSpPr>
          <p:cNvPr id="692" name="Google Shape;692;p34"/>
          <p:cNvSpPr/>
          <p:nvPr/>
        </p:nvSpPr>
        <p:spPr>
          <a:xfrm>
            <a:off x="786384" y="4370832"/>
            <a:ext cx="914400" cy="549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ou_logo.png" id="693" name="Google Shape;693;p34"/>
          <p:cNvPicPr preferRelativeResize="0"/>
          <p:nvPr/>
        </p:nvPicPr>
        <p:blipFill rotWithShape="1">
          <a:blip r:embed="rId3">
            <a:alphaModFix/>
          </a:blip>
          <a:srcRect b="0" l="0" r="0" t="0"/>
          <a:stretch/>
        </p:blipFill>
        <p:spPr>
          <a:xfrm>
            <a:off x="9189720" y="384048"/>
            <a:ext cx="713232" cy="685801"/>
          </a:xfrm>
          <a:prstGeom prst="rect">
            <a:avLst/>
          </a:prstGeom>
          <a:noFill/>
          <a:ln>
            <a:noFill/>
          </a:ln>
        </p:spPr>
      </p:pic>
      <p:pic>
        <p:nvPicPr>
          <p:cNvPr descr="assets/nsf_logo.png" id="694" name="Google Shape;694;p34"/>
          <p:cNvPicPr preferRelativeResize="0"/>
          <p:nvPr/>
        </p:nvPicPr>
        <p:blipFill rotWithShape="1">
          <a:blip r:embed="rId4">
            <a:alphaModFix/>
          </a:blip>
          <a:srcRect b="0" l="0" r="0" t="0"/>
          <a:stretch/>
        </p:blipFill>
        <p:spPr>
          <a:xfrm>
            <a:off x="10012680" y="384048"/>
            <a:ext cx="685800" cy="685800"/>
          </a:xfrm>
          <a:prstGeom prst="rect">
            <a:avLst/>
          </a:prstGeom>
          <a:noFill/>
          <a:ln>
            <a:noFill/>
          </a:ln>
        </p:spPr>
      </p:pic>
      <p:pic>
        <p:nvPicPr>
          <p:cNvPr descr="assets/wpi_logo.png" id="695" name="Google Shape;695;p34"/>
          <p:cNvPicPr preferRelativeResize="0"/>
          <p:nvPr/>
        </p:nvPicPr>
        <p:blipFill rotWithShape="1">
          <a:blip r:embed="rId5">
            <a:alphaModFix/>
          </a:blip>
          <a:srcRect b="0" l="0" r="0" t="0"/>
          <a:stretch/>
        </p:blipFill>
        <p:spPr>
          <a:xfrm>
            <a:off x="10789920" y="566928"/>
            <a:ext cx="1078991" cy="438912"/>
          </a:xfrm>
          <a:prstGeom prst="rect">
            <a:avLst/>
          </a:prstGeom>
          <a:noFill/>
          <a:ln>
            <a:noFill/>
          </a:ln>
        </p:spPr>
      </p:pic>
      <p:sp>
        <p:nvSpPr>
          <p:cNvPr id="696" name="Google Shape;696;p34"/>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1" name="Shape 701"/>
        <p:cNvGrpSpPr/>
        <p:nvPr/>
      </p:nvGrpSpPr>
      <p:grpSpPr>
        <a:xfrm>
          <a:off x="0" y="0"/>
          <a:ext cx="0" cy="0"/>
          <a:chOff x="0" y="0"/>
          <a:chExt cx="0" cy="0"/>
        </a:xfrm>
      </p:grpSpPr>
      <p:sp>
        <p:nvSpPr>
          <p:cNvPr id="702" name="Google Shape;702;p35"/>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703" name="Google Shape;703;p35"/>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704" name="Google Shape;704;p35"/>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PART 2  ·  NOTEBOOK 02</a:t>
            </a:r>
            <a:endParaRPr b="0" i="0" sz="1000" u="none" cap="none" strike="noStrike">
              <a:solidFill>
                <a:schemeClr val="dk1"/>
              </a:solidFill>
              <a:latin typeface="Calibri"/>
              <a:ea typeface="Calibri"/>
              <a:cs typeface="Calibri"/>
              <a:sym typeface="Calibri"/>
            </a:endParaRPr>
          </a:p>
        </p:txBody>
      </p:sp>
      <p:sp>
        <p:nvSpPr>
          <p:cNvPr id="705" name="Google Shape;705;p35"/>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Multimodal Edge AI Model</a:t>
            </a:r>
            <a:endParaRPr b="0" i="0" sz="3000" u="none" cap="none" strike="noStrike">
              <a:solidFill>
                <a:schemeClr val="dk1"/>
              </a:solidFill>
              <a:latin typeface="Calibri"/>
              <a:ea typeface="Calibri"/>
              <a:cs typeface="Calibri"/>
              <a:sym typeface="Calibri"/>
            </a:endParaRPr>
          </a:p>
        </p:txBody>
      </p:sp>
      <p:sp>
        <p:nvSpPr>
          <p:cNvPr id="706" name="Google Shape;706;p35"/>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5"/>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708" name="Google Shape;708;p35"/>
          <p:cNvSpPr/>
          <p:nvPr/>
        </p:nvSpPr>
        <p:spPr>
          <a:xfrm>
            <a:off x="8138160" y="1737360"/>
            <a:ext cx="3566160" cy="32918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2EEE2"/>
              </a:buClr>
              <a:buSzPts val="20000"/>
              <a:buFont typeface="Georgia"/>
              <a:buNone/>
            </a:pPr>
            <a:r>
              <a:rPr b="1" i="0" lang="en-US" sz="20000" u="none" cap="none" strike="noStrike">
                <a:solidFill>
                  <a:srgbClr val="F2EEE2"/>
                </a:solidFill>
                <a:latin typeface="Georgia"/>
                <a:ea typeface="Georgia"/>
                <a:cs typeface="Georgia"/>
                <a:sym typeface="Georgia"/>
              </a:rPr>
              <a:t>02</a:t>
            </a:r>
            <a:endParaRPr b="0" i="0" sz="20000" u="none" cap="none" strike="noStrike">
              <a:solidFill>
                <a:schemeClr val="dk1"/>
              </a:solidFill>
              <a:latin typeface="Calibri"/>
              <a:ea typeface="Calibri"/>
              <a:cs typeface="Calibri"/>
              <a:sym typeface="Calibri"/>
            </a:endParaRPr>
          </a:p>
        </p:txBody>
      </p:sp>
      <p:sp>
        <p:nvSpPr>
          <p:cNvPr id="709" name="Google Shape;709;p35"/>
          <p:cNvSpPr/>
          <p:nvPr/>
        </p:nvSpPr>
        <p:spPr>
          <a:xfrm>
            <a:off x="640080" y="182880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Georgia"/>
              <a:buNone/>
            </a:pPr>
            <a:r>
              <a:rPr b="1" i="0" lang="en-US" sz="2000" u="none" cap="none" strike="noStrike">
                <a:solidFill>
                  <a:srgbClr val="1A1A1A"/>
                </a:solidFill>
                <a:latin typeface="Georgia"/>
                <a:ea typeface="Georgia"/>
                <a:cs typeface="Georgia"/>
                <a:sym typeface="Georgia"/>
              </a:rPr>
              <a:t>Objective</a:t>
            </a:r>
            <a:endParaRPr b="0" i="0" sz="2000" u="none" cap="none" strike="noStrike">
              <a:solidFill>
                <a:schemeClr val="dk1"/>
              </a:solidFill>
              <a:latin typeface="Calibri"/>
              <a:ea typeface="Calibri"/>
              <a:cs typeface="Calibri"/>
              <a:sym typeface="Calibri"/>
            </a:endParaRPr>
          </a:p>
        </p:txBody>
      </p:sp>
      <p:sp>
        <p:nvSpPr>
          <p:cNvPr id="710" name="Google Shape;710;p35"/>
          <p:cNvSpPr/>
          <p:nvPr/>
        </p:nvSpPr>
        <p:spPr>
          <a:xfrm>
            <a:off x="640080" y="2267712"/>
            <a:ext cx="694944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Train a dual-branch network that reads both modalities, fuses them under attention, and classifies every timestamp into three classes.</a:t>
            </a:r>
            <a:endParaRPr b="0" i="0" sz="1600" u="none" cap="none" strike="noStrike">
              <a:solidFill>
                <a:schemeClr val="dk1"/>
              </a:solidFill>
              <a:latin typeface="Calibri"/>
              <a:ea typeface="Calibri"/>
              <a:cs typeface="Calibri"/>
              <a:sym typeface="Calibri"/>
            </a:endParaRPr>
          </a:p>
        </p:txBody>
      </p:sp>
      <p:sp>
        <p:nvSpPr>
          <p:cNvPr id="711" name="Google Shape;711;p35"/>
          <p:cNvSpPr/>
          <p:nvPr/>
        </p:nvSpPr>
        <p:spPr>
          <a:xfrm>
            <a:off x="640080" y="3182112"/>
            <a:ext cx="411480" cy="27432"/>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5"/>
          <p:cNvSpPr/>
          <p:nvPr/>
        </p:nvSpPr>
        <p:spPr>
          <a:xfrm>
            <a:off x="640080" y="3456432"/>
            <a:ext cx="6949440" cy="23774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Learning goals</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Design per-modality encoders and an attention-gated head</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Train under imbalance with focal loss and class weights</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Read a per-class confusion matrix, not one accuracy number</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Reason about parameter budget, latency and export format</a:t>
            </a:r>
            <a:endParaRPr b="0" i="0" sz="1800" u="none" cap="none" strike="noStrike">
              <a:solidFill>
                <a:schemeClr val="dk1"/>
              </a:solidFill>
              <a:latin typeface="Calibri"/>
              <a:ea typeface="Calibri"/>
              <a:cs typeface="Calibri"/>
              <a:sym typeface="Calibri"/>
            </a:endParaRPr>
          </a:p>
        </p:txBody>
      </p:sp>
      <p:sp>
        <p:nvSpPr>
          <p:cNvPr id="713" name="Google Shape;713;p35"/>
          <p:cNvSpPr/>
          <p:nvPr/>
        </p:nvSpPr>
        <p:spPr>
          <a:xfrm>
            <a:off x="640080" y="5989320"/>
            <a:ext cx="7680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150"/>
              <a:buFont typeface="Courier New"/>
              <a:buNone/>
            </a:pPr>
            <a:r>
              <a:rPr b="0" i="0" lang="en-US" sz="1150" u="none" cap="none" strike="noStrike">
                <a:solidFill>
                  <a:srgbClr val="8A8A8A"/>
                </a:solidFill>
                <a:latin typeface="Courier New"/>
                <a:ea typeface="Courier New"/>
                <a:cs typeface="Courier New"/>
                <a:sym typeface="Courier New"/>
              </a:rPr>
              <a:t>≈ 45 minutes  ·  02_multimodal_edge_ai_model.ipynb</a:t>
            </a:r>
            <a:endParaRPr b="0" i="0" sz="1150" u="none" cap="none" strike="noStrike">
              <a:solidFill>
                <a:schemeClr val="dk1"/>
              </a:solidFill>
              <a:latin typeface="Calibri"/>
              <a:ea typeface="Calibri"/>
              <a:cs typeface="Calibri"/>
              <a:sym typeface="Calibri"/>
            </a:endParaRPr>
          </a:p>
        </p:txBody>
      </p:sp>
      <p:sp>
        <p:nvSpPr>
          <p:cNvPr id="714" name="Google Shape;714;p35"/>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p36"/>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721" name="Google Shape;721;p36"/>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722" name="Google Shape;722;p36"/>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 · REAL SCENARIO</a:t>
            </a:r>
            <a:endParaRPr b="0" i="0" sz="1000" u="none" cap="none" strike="noStrike">
              <a:solidFill>
                <a:schemeClr val="dk1"/>
              </a:solidFill>
              <a:latin typeface="Calibri"/>
              <a:ea typeface="Calibri"/>
              <a:cs typeface="Calibri"/>
              <a:sym typeface="Calibri"/>
            </a:endParaRPr>
          </a:p>
        </p:txBody>
      </p:sp>
      <p:sp>
        <p:nvSpPr>
          <p:cNvPr id="723" name="Google Shape;723;p36"/>
          <p:cNvSpPr/>
          <p:nvPr/>
        </p:nvSpPr>
        <p:spPr>
          <a:xfrm>
            <a:off x="548640" y="566928"/>
            <a:ext cx="104241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Why this has to run on the vehicle</a:t>
            </a:r>
            <a:endParaRPr b="0" i="0" sz="3000" u="none" cap="none" strike="noStrike">
              <a:solidFill>
                <a:schemeClr val="dk1"/>
              </a:solidFill>
              <a:latin typeface="Calibri"/>
              <a:ea typeface="Calibri"/>
              <a:cs typeface="Calibri"/>
              <a:sym typeface="Calibri"/>
            </a:endParaRPr>
          </a:p>
        </p:txBody>
      </p:sp>
      <p:sp>
        <p:nvSpPr>
          <p:cNvPr id="724" name="Google Shape;724;p36"/>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6"/>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REAL SCENARIO</a:t>
            </a:r>
            <a:endParaRPr b="0" i="0" sz="900" u="none" cap="none" strike="noStrike">
              <a:solidFill>
                <a:schemeClr val="dk1"/>
              </a:solidFill>
              <a:latin typeface="Calibri"/>
              <a:ea typeface="Calibri"/>
              <a:cs typeface="Calibri"/>
              <a:sym typeface="Calibri"/>
            </a:endParaRPr>
          </a:p>
        </p:txBody>
      </p:sp>
      <p:sp>
        <p:nvSpPr>
          <p:cNvPr id="726" name="Google Shape;726;p36"/>
          <p:cNvSpPr/>
          <p:nvPr/>
        </p:nvSpPr>
        <p:spPr>
          <a:xfrm>
            <a:off x="640080" y="5486400"/>
            <a:ext cx="5989200" cy="29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1100"/>
              <a:buFont typeface="Calibri"/>
              <a:buNone/>
            </a:pPr>
            <a:r>
              <a:rPr lang="en-US" sz="1100">
                <a:solidFill>
                  <a:srgbClr val="8A8A8A"/>
                </a:solidFill>
                <a:latin typeface="Calibri"/>
                <a:ea typeface="Calibri"/>
                <a:cs typeface="Calibri"/>
                <a:sym typeface="Calibri"/>
              </a:rPr>
              <a:t>Aliwa, Emad, et al. "Cyberattacks and countermeasures for in-vehicle networks." ACM computing surveys (CSUR) 54.1 (2021): 1-37.</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4A4A4A"/>
              </a:buClr>
              <a:buSzPts val="1200"/>
              <a:buFont typeface="Calibri"/>
              <a:buNone/>
            </a:pPr>
            <a:r>
              <a:t/>
            </a:r>
            <a:endParaRPr i="1" sz="1200">
              <a:solidFill>
                <a:srgbClr val="4A4A4A"/>
              </a:solidFill>
              <a:latin typeface="Calibri"/>
              <a:ea typeface="Calibri"/>
              <a:cs typeface="Calibri"/>
              <a:sym typeface="Calibri"/>
            </a:endParaRPr>
          </a:p>
        </p:txBody>
      </p:sp>
      <p:sp>
        <p:nvSpPr>
          <p:cNvPr id="727" name="Google Shape;727;p36"/>
          <p:cNvSpPr/>
          <p:nvPr/>
        </p:nvSpPr>
        <p:spPr>
          <a:xfrm>
            <a:off x="6995160" y="1783080"/>
            <a:ext cx="46635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Georgia"/>
              <a:buNone/>
            </a:pPr>
            <a:r>
              <a:rPr b="1" i="0" lang="en-US" sz="1900" u="none" cap="none" strike="noStrike">
                <a:solidFill>
                  <a:srgbClr val="1A1A1A"/>
                </a:solidFill>
                <a:latin typeface="Calibri"/>
                <a:ea typeface="Calibri"/>
                <a:cs typeface="Calibri"/>
                <a:sym typeface="Calibri"/>
              </a:rPr>
              <a:t>No longer optional</a:t>
            </a:r>
            <a:endParaRPr i="0" sz="1900" u="none" cap="none" strike="noStrike">
              <a:solidFill>
                <a:schemeClr val="dk1"/>
              </a:solidFill>
              <a:latin typeface="Calibri"/>
              <a:ea typeface="Calibri"/>
              <a:cs typeface="Calibri"/>
              <a:sym typeface="Calibri"/>
            </a:endParaRPr>
          </a:p>
        </p:txBody>
      </p:sp>
      <p:sp>
        <p:nvSpPr>
          <p:cNvPr id="728" name="Google Shape;728;p36"/>
          <p:cNvSpPr/>
          <p:nvPr/>
        </p:nvSpPr>
        <p:spPr>
          <a:xfrm>
            <a:off x="6995160" y="2212848"/>
            <a:ext cx="4663500" cy="23775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Mandatory for all new vehicle types since July 2022</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Extended to all newly produced vehicles in July 2024</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60+ contracting countries: EU, Japan, South Korea, UK</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4A4A4A"/>
              </a:buClr>
              <a:buSzPts val="1600"/>
              <a:buFont typeface="Calibri"/>
              <a:buChar char="■"/>
            </a:pPr>
            <a:r>
              <a:rPr b="0" i="0" lang="en-US" sz="1600" u="none" cap="none" strike="noStrike">
                <a:solidFill>
                  <a:srgbClr val="4A4A4A"/>
                </a:solidFill>
                <a:latin typeface="Calibri"/>
                <a:ea typeface="Calibri"/>
                <a:cs typeface="Calibri"/>
                <a:sym typeface="Calibri"/>
              </a:rPr>
              <a:t>No CSMS certificate, no type approval, no sale</a:t>
            </a:r>
            <a:endParaRPr b="0" i="0" sz="1600" u="none" cap="none" strike="noStrike">
              <a:solidFill>
                <a:srgbClr val="4A4A4A"/>
              </a:solidFill>
              <a:latin typeface="Calibri"/>
              <a:ea typeface="Calibri"/>
              <a:cs typeface="Calibri"/>
              <a:sym typeface="Calibri"/>
            </a:endParaRPr>
          </a:p>
          <a:p>
            <a:pPr indent="0" lvl="0" marL="457200" marR="0" rtl="0" algn="l">
              <a:lnSpc>
                <a:spcPct val="100000"/>
              </a:lnSpc>
              <a:spcBef>
                <a:spcPts val="900"/>
              </a:spcBef>
              <a:spcAft>
                <a:spcPts val="0"/>
              </a:spcAft>
              <a:buNone/>
            </a:pPr>
            <a:r>
              <a:t/>
            </a:r>
            <a:endParaRPr sz="1600">
              <a:solidFill>
                <a:srgbClr val="4A4A4A"/>
              </a:solidFill>
              <a:latin typeface="Calibri"/>
              <a:ea typeface="Calibri"/>
              <a:cs typeface="Calibri"/>
              <a:sym typeface="Calibri"/>
            </a:endParaRPr>
          </a:p>
          <a:p>
            <a:pPr indent="0" lvl="0" marL="0" marR="0" rtl="0" algn="l">
              <a:lnSpc>
                <a:spcPct val="100000"/>
              </a:lnSpc>
              <a:spcBef>
                <a:spcPts val="900"/>
              </a:spcBef>
              <a:spcAft>
                <a:spcPts val="0"/>
              </a:spcAft>
              <a:buNone/>
            </a:pPr>
            <a:r>
              <a:rPr b="1" lang="en-US" sz="1800">
                <a:solidFill>
                  <a:srgbClr val="0F0F0F"/>
                </a:solidFill>
                <a:latin typeface="Calibri"/>
                <a:ea typeface="Calibri"/>
                <a:cs typeface="Calibri"/>
                <a:sym typeface="Calibri"/>
              </a:rPr>
              <a:t>Your only three options </a:t>
            </a:r>
            <a:endParaRPr sz="1600">
              <a:solidFill>
                <a:srgbClr val="0F0F0F"/>
              </a:solidFill>
              <a:latin typeface="Calibri"/>
              <a:ea typeface="Calibri"/>
              <a:cs typeface="Calibri"/>
              <a:sym typeface="Calibri"/>
            </a:endParaRPr>
          </a:p>
          <a:p>
            <a:pPr indent="-330200" lvl="0" marL="457200" marR="0" rtl="0" algn="l">
              <a:lnSpc>
                <a:spcPct val="100000"/>
              </a:lnSpc>
              <a:spcBef>
                <a:spcPts val="900"/>
              </a:spcBef>
              <a:spcAft>
                <a:spcPts val="0"/>
              </a:spcAft>
              <a:buClr>
                <a:srgbClr val="4A4A4A"/>
              </a:buClr>
              <a:buSzPts val="1600"/>
              <a:buFont typeface="Calibri"/>
              <a:buChar char="●"/>
            </a:pPr>
            <a:r>
              <a:rPr lang="en-US" sz="1600">
                <a:solidFill>
                  <a:srgbClr val="4A4A4A"/>
                </a:solidFill>
                <a:latin typeface="Calibri"/>
                <a:ea typeface="Calibri"/>
                <a:cs typeface="Calibri"/>
                <a:sym typeface="Calibri"/>
              </a:rPr>
              <a:t>Host-IDS inside each ECU</a:t>
            </a:r>
            <a:endParaRPr sz="1600">
              <a:solidFill>
                <a:srgbClr val="4A4A4A"/>
              </a:solidFill>
              <a:latin typeface="Calibri"/>
              <a:ea typeface="Calibri"/>
              <a:cs typeface="Calibri"/>
              <a:sym typeface="Calibri"/>
            </a:endParaRPr>
          </a:p>
          <a:p>
            <a:pPr indent="-330200" lvl="0" marL="457200" marR="0" rtl="0" algn="l">
              <a:lnSpc>
                <a:spcPct val="100000"/>
              </a:lnSpc>
              <a:spcBef>
                <a:spcPts val="0"/>
              </a:spcBef>
              <a:spcAft>
                <a:spcPts val="0"/>
              </a:spcAft>
              <a:buClr>
                <a:srgbClr val="4A4A4A"/>
              </a:buClr>
              <a:buSzPts val="1600"/>
              <a:buFont typeface="Calibri"/>
              <a:buChar char="●"/>
            </a:pPr>
            <a:r>
              <a:rPr lang="en-US" sz="1600">
                <a:solidFill>
                  <a:srgbClr val="4A4A4A"/>
                </a:solidFill>
                <a:latin typeface="Calibri"/>
                <a:ea typeface="Calibri"/>
                <a:cs typeface="Calibri"/>
                <a:sym typeface="Calibri"/>
              </a:rPr>
              <a:t>Network-IDS watching the bus</a:t>
            </a:r>
            <a:endParaRPr sz="1600">
              <a:solidFill>
                <a:srgbClr val="4A4A4A"/>
              </a:solidFill>
              <a:latin typeface="Calibri"/>
              <a:ea typeface="Calibri"/>
              <a:cs typeface="Calibri"/>
              <a:sym typeface="Calibri"/>
            </a:endParaRPr>
          </a:p>
          <a:p>
            <a:pPr indent="-330200" lvl="0" marL="457200" marR="0" rtl="0" algn="l">
              <a:lnSpc>
                <a:spcPct val="100000"/>
              </a:lnSpc>
              <a:spcBef>
                <a:spcPts val="0"/>
              </a:spcBef>
              <a:spcAft>
                <a:spcPts val="0"/>
              </a:spcAft>
              <a:buClr>
                <a:srgbClr val="4A4A4A"/>
              </a:buClr>
              <a:buSzPts val="1600"/>
              <a:buFont typeface="Calibri"/>
              <a:buChar char="●"/>
            </a:pPr>
            <a:r>
              <a:rPr lang="en-US" sz="1600">
                <a:solidFill>
                  <a:srgbClr val="4A4A4A"/>
                </a:solidFill>
                <a:latin typeface="Calibri"/>
                <a:ea typeface="Calibri"/>
                <a:cs typeface="Calibri"/>
                <a:sym typeface="Calibri"/>
              </a:rPr>
              <a:t>A dongle on the OBD-II port</a:t>
            </a:r>
            <a:endParaRPr sz="1600">
              <a:solidFill>
                <a:srgbClr val="4A4A4A"/>
              </a:solidFill>
              <a:latin typeface="Calibri"/>
              <a:ea typeface="Calibri"/>
              <a:cs typeface="Calibri"/>
              <a:sym typeface="Calibri"/>
            </a:endParaRPr>
          </a:p>
        </p:txBody>
      </p:sp>
      <p:sp>
        <p:nvSpPr>
          <p:cNvPr id="729" name="Google Shape;729;p36"/>
          <p:cNvSpPr/>
          <p:nvPr/>
        </p:nvSpPr>
        <p:spPr>
          <a:xfrm>
            <a:off x="640080" y="6108192"/>
            <a:ext cx="11018400" cy="38400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6"/>
          <p:cNvSpPr/>
          <p:nvPr/>
        </p:nvSpPr>
        <p:spPr>
          <a:xfrm>
            <a:off x="914400" y="6108192"/>
            <a:ext cx="10470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50"/>
              <a:buFont typeface="Calibri"/>
              <a:buNone/>
            </a:pPr>
            <a:r>
              <a:rPr b="1" lang="en-US" sz="1350">
                <a:solidFill>
                  <a:srgbClr val="B8932E"/>
                </a:solidFill>
                <a:latin typeface="Calibri"/>
                <a:ea typeface="Calibri"/>
                <a:cs typeface="Calibri"/>
                <a:sym typeface="Calibri"/>
              </a:rPr>
              <a:t>All three live on the vehicle. No cloud round trip, no spare gigabyte — which is why the next slides count parameters.</a:t>
            </a:r>
            <a:endParaRPr b="0" i="0" sz="1350" u="none" cap="none" strike="noStrike">
              <a:solidFill>
                <a:schemeClr val="dk1"/>
              </a:solidFill>
              <a:latin typeface="Calibri"/>
              <a:ea typeface="Calibri"/>
              <a:cs typeface="Calibri"/>
              <a:sym typeface="Calibri"/>
            </a:endParaRPr>
          </a:p>
        </p:txBody>
      </p:sp>
      <p:pic>
        <p:nvPicPr>
          <p:cNvPr id="731" name="Google Shape;731;p36"/>
          <p:cNvPicPr preferRelativeResize="0"/>
          <p:nvPr/>
        </p:nvPicPr>
        <p:blipFill>
          <a:blip r:embed="rId4">
            <a:alphaModFix/>
          </a:blip>
          <a:stretch>
            <a:fillRect/>
          </a:stretch>
        </p:blipFill>
        <p:spPr>
          <a:xfrm>
            <a:off x="610400" y="2284337"/>
            <a:ext cx="5847538" cy="2563525"/>
          </a:xfrm>
          <a:prstGeom prst="rect">
            <a:avLst/>
          </a:prstGeom>
          <a:noFill/>
          <a:ln>
            <a:noFill/>
          </a:ln>
        </p:spPr>
      </p:pic>
      <p:sp>
        <p:nvSpPr>
          <p:cNvPr id="732" name="Google Shape;732;p36"/>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7" name="Shape 737"/>
        <p:cNvGrpSpPr/>
        <p:nvPr/>
      </p:nvGrpSpPr>
      <p:grpSpPr>
        <a:xfrm>
          <a:off x="0" y="0"/>
          <a:ext cx="0" cy="0"/>
          <a:chOff x="0" y="0"/>
          <a:chExt cx="0" cy="0"/>
        </a:xfrm>
      </p:grpSpPr>
      <p:sp>
        <p:nvSpPr>
          <p:cNvPr id="738" name="Google Shape;738;p37"/>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739" name="Google Shape;739;p37"/>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740" name="Google Shape;740;p37"/>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2.1 · DESIGN</a:t>
            </a:r>
            <a:endParaRPr b="0" i="0" sz="1000" u="none" cap="none" strike="noStrike">
              <a:solidFill>
                <a:schemeClr val="dk1"/>
              </a:solidFill>
              <a:latin typeface="Calibri"/>
              <a:ea typeface="Calibri"/>
              <a:cs typeface="Calibri"/>
              <a:sym typeface="Calibri"/>
            </a:endParaRPr>
          </a:p>
        </p:txBody>
      </p:sp>
      <p:sp>
        <p:nvSpPr>
          <p:cNvPr id="741" name="Google Shape;741;p37"/>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Three goals that pull against each other</a:t>
            </a:r>
            <a:endParaRPr b="0" i="0" sz="3000" u="none" cap="none" strike="noStrike">
              <a:solidFill>
                <a:schemeClr val="dk1"/>
              </a:solidFill>
              <a:latin typeface="Calibri"/>
              <a:ea typeface="Calibri"/>
              <a:cs typeface="Calibri"/>
              <a:sym typeface="Calibri"/>
            </a:endParaRPr>
          </a:p>
        </p:txBody>
      </p:sp>
      <p:sp>
        <p:nvSpPr>
          <p:cNvPr id="742" name="Google Shape;742;p37"/>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7"/>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744" name="Google Shape;744;p37"/>
          <p:cNvSpPr/>
          <p:nvPr/>
        </p:nvSpPr>
        <p:spPr>
          <a:xfrm>
            <a:off x="640080" y="1783080"/>
            <a:ext cx="3520440" cy="31546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7"/>
          <p:cNvSpPr/>
          <p:nvPr/>
        </p:nvSpPr>
        <p:spPr>
          <a:xfrm>
            <a:off x="896112" y="1993392"/>
            <a:ext cx="438912" cy="438912"/>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7"/>
          <p:cNvSpPr/>
          <p:nvPr/>
        </p:nvSpPr>
        <p:spPr>
          <a:xfrm>
            <a:off x="896112" y="1993392"/>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747" name="Google Shape;747;p37"/>
          <p:cNvSpPr/>
          <p:nvPr/>
        </p:nvSpPr>
        <p:spPr>
          <a:xfrm>
            <a:off x="896112" y="2560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Georgia"/>
              <a:buNone/>
            </a:pPr>
            <a:r>
              <a:rPr b="1" i="0" lang="en-US" sz="1900" u="none" cap="none" strike="noStrike">
                <a:solidFill>
                  <a:srgbClr val="1A1A1A"/>
                </a:solidFill>
                <a:latin typeface="Georgia"/>
                <a:ea typeface="Georgia"/>
                <a:cs typeface="Georgia"/>
                <a:sym typeface="Georgia"/>
              </a:rPr>
              <a:t>Accuracy</a:t>
            </a:r>
            <a:endParaRPr b="0" i="0" sz="1900" u="none" cap="none" strike="noStrike">
              <a:solidFill>
                <a:schemeClr val="dk1"/>
              </a:solidFill>
              <a:latin typeface="Calibri"/>
              <a:ea typeface="Calibri"/>
              <a:cs typeface="Calibri"/>
              <a:sym typeface="Calibri"/>
            </a:endParaRPr>
          </a:p>
        </p:txBody>
      </p:sp>
      <p:sp>
        <p:nvSpPr>
          <p:cNvPr id="748" name="Google Shape;748;p37"/>
          <p:cNvSpPr/>
          <p:nvPr/>
        </p:nvSpPr>
        <p:spPr>
          <a:xfrm>
            <a:off x="896112" y="2999232"/>
            <a:ext cx="3017520" cy="1280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Separate three classes that overlap in any single modality.</a:t>
            </a:r>
            <a:endParaRPr b="0" i="0" sz="1600" u="none" cap="none" strike="noStrike">
              <a:solidFill>
                <a:schemeClr val="dk1"/>
              </a:solidFill>
              <a:latin typeface="Calibri"/>
              <a:ea typeface="Calibri"/>
              <a:cs typeface="Calibri"/>
              <a:sym typeface="Calibri"/>
            </a:endParaRPr>
          </a:p>
        </p:txBody>
      </p:sp>
      <p:sp>
        <p:nvSpPr>
          <p:cNvPr id="749" name="Google Shape;749;p37"/>
          <p:cNvSpPr/>
          <p:nvPr/>
        </p:nvSpPr>
        <p:spPr>
          <a:xfrm>
            <a:off x="896112" y="4343400"/>
            <a:ext cx="3017520" cy="53035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8932E"/>
              </a:buClr>
              <a:buSzPts val="1300"/>
              <a:buFont typeface="Calibri"/>
              <a:buNone/>
            </a:pPr>
            <a:r>
              <a:rPr b="0" i="1" lang="en-US" sz="1300" u="none" cap="none" strike="noStrike">
                <a:solidFill>
                  <a:srgbClr val="B8932E"/>
                </a:solidFill>
                <a:latin typeface="Calibri"/>
                <a:ea typeface="Calibri"/>
                <a:cs typeface="Calibri"/>
                <a:sym typeface="Calibri"/>
              </a:rPr>
              <a:t>Lever:  Deeper branches, richer fusion</a:t>
            </a:r>
            <a:endParaRPr b="0" i="0" sz="1300" u="none" cap="none" strike="noStrike">
              <a:solidFill>
                <a:schemeClr val="dk1"/>
              </a:solidFill>
              <a:latin typeface="Calibri"/>
              <a:ea typeface="Calibri"/>
              <a:cs typeface="Calibri"/>
              <a:sym typeface="Calibri"/>
            </a:endParaRPr>
          </a:p>
        </p:txBody>
      </p:sp>
      <p:sp>
        <p:nvSpPr>
          <p:cNvPr id="750" name="Google Shape;750;p37"/>
          <p:cNvSpPr/>
          <p:nvPr/>
        </p:nvSpPr>
        <p:spPr>
          <a:xfrm>
            <a:off x="4389120" y="1783080"/>
            <a:ext cx="3520440" cy="315468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7"/>
          <p:cNvSpPr/>
          <p:nvPr/>
        </p:nvSpPr>
        <p:spPr>
          <a:xfrm>
            <a:off x="4645152" y="1993392"/>
            <a:ext cx="438912" cy="438912"/>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7"/>
          <p:cNvSpPr/>
          <p:nvPr/>
        </p:nvSpPr>
        <p:spPr>
          <a:xfrm>
            <a:off x="4645152" y="1993392"/>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753" name="Google Shape;753;p37"/>
          <p:cNvSpPr/>
          <p:nvPr/>
        </p:nvSpPr>
        <p:spPr>
          <a:xfrm>
            <a:off x="4645152" y="2560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Georgia"/>
              <a:buNone/>
            </a:pPr>
            <a:r>
              <a:rPr b="1" i="0" lang="en-US" sz="1900" u="none" cap="none" strike="noStrike">
                <a:solidFill>
                  <a:srgbClr val="1A1A1A"/>
                </a:solidFill>
                <a:latin typeface="Georgia"/>
                <a:ea typeface="Georgia"/>
                <a:cs typeface="Georgia"/>
                <a:sym typeface="Georgia"/>
              </a:rPr>
              <a:t>Edge readiness</a:t>
            </a:r>
            <a:endParaRPr b="0" i="0" sz="1900" u="none" cap="none" strike="noStrike">
              <a:solidFill>
                <a:schemeClr val="dk1"/>
              </a:solidFill>
              <a:latin typeface="Calibri"/>
              <a:ea typeface="Calibri"/>
              <a:cs typeface="Calibri"/>
              <a:sym typeface="Calibri"/>
            </a:endParaRPr>
          </a:p>
        </p:txBody>
      </p:sp>
      <p:sp>
        <p:nvSpPr>
          <p:cNvPr id="754" name="Google Shape;754;p37"/>
          <p:cNvSpPr/>
          <p:nvPr/>
        </p:nvSpPr>
        <p:spPr>
          <a:xfrm>
            <a:off x="4645152" y="2999232"/>
            <a:ext cx="3017520" cy="1280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The model runs on an ECU beside the control stack. Memory and latency are hard limits.</a:t>
            </a:r>
            <a:endParaRPr b="0" i="0" sz="1600" u="none" cap="none" strike="noStrike">
              <a:solidFill>
                <a:schemeClr val="dk1"/>
              </a:solidFill>
              <a:latin typeface="Calibri"/>
              <a:ea typeface="Calibri"/>
              <a:cs typeface="Calibri"/>
              <a:sym typeface="Calibri"/>
            </a:endParaRPr>
          </a:p>
        </p:txBody>
      </p:sp>
      <p:sp>
        <p:nvSpPr>
          <p:cNvPr id="755" name="Google Shape;755;p37"/>
          <p:cNvSpPr/>
          <p:nvPr/>
        </p:nvSpPr>
        <p:spPr>
          <a:xfrm>
            <a:off x="4645152" y="4343400"/>
            <a:ext cx="3017520" cy="53035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8932E"/>
              </a:buClr>
              <a:buSzPts val="1300"/>
              <a:buFont typeface="Calibri"/>
              <a:buNone/>
            </a:pPr>
            <a:r>
              <a:rPr b="0" i="1" lang="en-US" sz="1300" u="none" cap="none" strike="noStrike">
                <a:solidFill>
                  <a:srgbClr val="B8932E"/>
                </a:solidFill>
                <a:latin typeface="Calibri"/>
                <a:ea typeface="Calibri"/>
                <a:cs typeface="Calibri"/>
                <a:sym typeface="Calibri"/>
              </a:rPr>
              <a:t>Lever:  Fewer parameters, INT8</a:t>
            </a:r>
            <a:endParaRPr b="0" i="0" sz="1300" u="none" cap="none" strike="noStrike">
              <a:solidFill>
                <a:schemeClr val="dk1"/>
              </a:solidFill>
              <a:latin typeface="Calibri"/>
              <a:ea typeface="Calibri"/>
              <a:cs typeface="Calibri"/>
              <a:sym typeface="Calibri"/>
            </a:endParaRPr>
          </a:p>
        </p:txBody>
      </p:sp>
      <p:sp>
        <p:nvSpPr>
          <p:cNvPr id="756" name="Google Shape;756;p37"/>
          <p:cNvSpPr/>
          <p:nvPr/>
        </p:nvSpPr>
        <p:spPr>
          <a:xfrm>
            <a:off x="8138160" y="1783080"/>
            <a:ext cx="3520440" cy="31546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7"/>
          <p:cNvSpPr/>
          <p:nvPr/>
        </p:nvSpPr>
        <p:spPr>
          <a:xfrm>
            <a:off x="8394192" y="1993392"/>
            <a:ext cx="438912" cy="438912"/>
          </a:xfrm>
          <a:prstGeom prst="ellipse">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7"/>
          <p:cNvSpPr/>
          <p:nvPr/>
        </p:nvSpPr>
        <p:spPr>
          <a:xfrm>
            <a:off x="8394192" y="1993392"/>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759" name="Google Shape;759;p37"/>
          <p:cNvSpPr/>
          <p:nvPr/>
        </p:nvSpPr>
        <p:spPr>
          <a:xfrm>
            <a:off x="8394192" y="2560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Georgia"/>
              <a:buNone/>
            </a:pPr>
            <a:r>
              <a:rPr b="1" i="0" lang="en-US" sz="1900" u="none" cap="none" strike="noStrike">
                <a:solidFill>
                  <a:srgbClr val="1A1A1A"/>
                </a:solidFill>
                <a:latin typeface="Georgia"/>
                <a:ea typeface="Georgia"/>
                <a:cs typeface="Georgia"/>
                <a:sym typeface="Georgia"/>
              </a:rPr>
              <a:t>Interpretability</a:t>
            </a:r>
            <a:endParaRPr b="0" i="0" sz="1900" u="none" cap="none" strike="noStrike">
              <a:solidFill>
                <a:schemeClr val="dk1"/>
              </a:solidFill>
              <a:latin typeface="Calibri"/>
              <a:ea typeface="Calibri"/>
              <a:cs typeface="Calibri"/>
              <a:sym typeface="Calibri"/>
            </a:endParaRPr>
          </a:p>
        </p:txBody>
      </p:sp>
      <p:sp>
        <p:nvSpPr>
          <p:cNvPr id="760" name="Google Shape;760;p37"/>
          <p:cNvSpPr/>
          <p:nvPr/>
        </p:nvSpPr>
        <p:spPr>
          <a:xfrm>
            <a:off x="8394192" y="2999232"/>
            <a:ext cx="3017520" cy="1280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A safety response must be explainable. Which modality drove this alert?</a:t>
            </a:r>
            <a:endParaRPr b="0" i="0" sz="1600" u="none" cap="none" strike="noStrike">
              <a:solidFill>
                <a:schemeClr val="dk1"/>
              </a:solidFill>
              <a:latin typeface="Calibri"/>
              <a:ea typeface="Calibri"/>
              <a:cs typeface="Calibri"/>
              <a:sym typeface="Calibri"/>
            </a:endParaRPr>
          </a:p>
        </p:txBody>
      </p:sp>
      <p:sp>
        <p:nvSpPr>
          <p:cNvPr id="761" name="Google Shape;761;p37"/>
          <p:cNvSpPr/>
          <p:nvPr/>
        </p:nvSpPr>
        <p:spPr>
          <a:xfrm>
            <a:off x="8394192" y="4343400"/>
            <a:ext cx="3017520" cy="53035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8932E"/>
              </a:buClr>
              <a:buSzPts val="1300"/>
              <a:buFont typeface="Calibri"/>
              <a:buNone/>
            </a:pPr>
            <a:r>
              <a:rPr b="0" i="1" lang="en-US" sz="1300" u="none" cap="none" strike="noStrike">
                <a:solidFill>
                  <a:srgbClr val="B8932E"/>
                </a:solidFill>
                <a:latin typeface="Calibri"/>
                <a:ea typeface="Calibri"/>
                <a:cs typeface="Calibri"/>
                <a:sym typeface="Calibri"/>
              </a:rPr>
              <a:t>Lever:  Attention weights, per-class metrics</a:t>
            </a:r>
            <a:endParaRPr b="0" i="0" sz="1300" u="none" cap="none" strike="noStrike">
              <a:solidFill>
                <a:schemeClr val="dk1"/>
              </a:solidFill>
              <a:latin typeface="Calibri"/>
              <a:ea typeface="Calibri"/>
              <a:cs typeface="Calibri"/>
              <a:sym typeface="Calibri"/>
            </a:endParaRPr>
          </a:p>
        </p:txBody>
      </p:sp>
      <p:sp>
        <p:nvSpPr>
          <p:cNvPr id="762" name="Google Shape;762;p37"/>
          <p:cNvSpPr/>
          <p:nvPr/>
        </p:nvSpPr>
        <p:spPr>
          <a:xfrm>
            <a:off x="640080" y="5166360"/>
            <a:ext cx="11018520" cy="114300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7"/>
          <p:cNvSpPr/>
          <p:nvPr/>
        </p:nvSpPr>
        <p:spPr>
          <a:xfrm>
            <a:off x="914400" y="5166360"/>
            <a:ext cx="10469880" cy="1143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BC97F"/>
              </a:buClr>
              <a:buSzPts val="1700"/>
              <a:buFont typeface="Calibri"/>
              <a:buNone/>
            </a:pPr>
            <a:r>
              <a:rPr b="1" i="0" lang="en-US" sz="1700" u="none" cap="none" strike="noStrike">
                <a:solidFill>
                  <a:srgbClr val="EBC97F"/>
                </a:solidFill>
                <a:latin typeface="Calibri"/>
                <a:ea typeface="Calibri"/>
                <a:cs typeface="Calibri"/>
                <a:sym typeface="Calibri"/>
              </a:rPr>
              <a:t>The honest framing</a:t>
            </a: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8E8E8"/>
              </a:buClr>
              <a:buSzPts val="1600"/>
              <a:buFont typeface="Calibri"/>
              <a:buNone/>
            </a:pPr>
            <a:r>
              <a:rPr lang="en-US" sz="1600">
                <a:solidFill>
                  <a:srgbClr val="E8E8E8"/>
                </a:solidFill>
                <a:latin typeface="Calibri"/>
                <a:ea typeface="Calibri"/>
                <a:cs typeface="Calibri"/>
                <a:sym typeface="Calibri"/>
              </a:rPr>
              <a:t>we</a:t>
            </a:r>
            <a:r>
              <a:rPr b="0" i="0" lang="en-US" sz="1600" u="none" cap="none" strike="noStrike">
                <a:solidFill>
                  <a:srgbClr val="E8E8E8"/>
                </a:solidFill>
                <a:latin typeface="Calibri"/>
                <a:ea typeface="Calibri"/>
                <a:cs typeface="Calibri"/>
                <a:sym typeface="Calibri"/>
              </a:rPr>
              <a:t> cannot maximize all three. This notebook over-provisions capacity first and treats compression as a later step, so </a:t>
            </a:r>
            <a:r>
              <a:rPr lang="en-US" sz="1600">
                <a:solidFill>
                  <a:srgbClr val="E8E8E8"/>
                </a:solidFill>
                <a:latin typeface="Calibri"/>
                <a:ea typeface="Calibri"/>
                <a:cs typeface="Calibri"/>
                <a:sym typeface="Calibri"/>
              </a:rPr>
              <a:t>we</a:t>
            </a:r>
            <a:r>
              <a:rPr b="0" i="0" lang="en-US" sz="1600" u="none" cap="none" strike="noStrike">
                <a:solidFill>
                  <a:srgbClr val="E8E8E8"/>
                </a:solidFill>
                <a:latin typeface="Calibri"/>
                <a:ea typeface="Calibri"/>
                <a:cs typeface="Calibri"/>
                <a:sym typeface="Calibri"/>
              </a:rPr>
              <a:t> measure what accuracy costs in megabytes and milliseconds.</a:t>
            </a:r>
            <a:endParaRPr b="0" i="0" sz="1700" u="none" cap="none" strike="noStrike">
              <a:solidFill>
                <a:schemeClr val="dk1"/>
              </a:solidFill>
              <a:latin typeface="Calibri"/>
              <a:ea typeface="Calibri"/>
              <a:cs typeface="Calibri"/>
              <a:sym typeface="Calibri"/>
            </a:endParaRPr>
          </a:p>
        </p:txBody>
      </p:sp>
      <p:sp>
        <p:nvSpPr>
          <p:cNvPr id="764" name="Google Shape;764;p37"/>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sp>
        <p:nvSpPr>
          <p:cNvPr id="770" name="Google Shape;770;p38"/>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771" name="Google Shape;771;p38"/>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772" name="Google Shape;772;p38"/>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2.2 · ARCHITECTURE</a:t>
            </a:r>
            <a:endParaRPr b="0" i="0" sz="1000" u="none" cap="none" strike="noStrike">
              <a:solidFill>
                <a:schemeClr val="dk1"/>
              </a:solidFill>
              <a:latin typeface="Calibri"/>
              <a:ea typeface="Calibri"/>
              <a:cs typeface="Calibri"/>
              <a:sym typeface="Calibri"/>
            </a:endParaRPr>
          </a:p>
        </p:txBody>
      </p:sp>
      <p:sp>
        <p:nvSpPr>
          <p:cNvPr id="773" name="Google Shape;773;p38"/>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Dual-branch encoder with attention-gated fusion</a:t>
            </a:r>
            <a:endParaRPr b="0" i="0" sz="3000" u="none" cap="none" strike="noStrike">
              <a:solidFill>
                <a:schemeClr val="dk1"/>
              </a:solidFill>
              <a:latin typeface="Calibri"/>
              <a:ea typeface="Calibri"/>
              <a:cs typeface="Calibri"/>
              <a:sym typeface="Calibri"/>
            </a:endParaRPr>
          </a:p>
        </p:txBody>
      </p:sp>
      <p:sp>
        <p:nvSpPr>
          <p:cNvPr id="774" name="Google Shape;774;p38"/>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8"/>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776" name="Google Shape;776;p38"/>
          <p:cNvSpPr/>
          <p:nvPr/>
        </p:nvSpPr>
        <p:spPr>
          <a:xfrm>
            <a:off x="731520" y="1755648"/>
            <a:ext cx="21488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Vehicle branch</a:t>
            </a:r>
            <a:endParaRPr b="0" i="0" sz="1400" u="none" cap="none" strike="noStrike">
              <a:solidFill>
                <a:schemeClr val="dk1"/>
              </a:solidFill>
              <a:latin typeface="Calibri"/>
              <a:ea typeface="Calibri"/>
              <a:cs typeface="Calibri"/>
              <a:sym typeface="Calibri"/>
            </a:endParaRPr>
          </a:p>
        </p:txBody>
      </p:sp>
      <p:sp>
        <p:nvSpPr>
          <p:cNvPr id="777" name="Google Shape;777;p38"/>
          <p:cNvSpPr/>
          <p:nvPr/>
        </p:nvSpPr>
        <p:spPr>
          <a:xfrm>
            <a:off x="777240" y="2011680"/>
            <a:ext cx="20574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950"/>
              <a:buFont typeface="Courier New"/>
              <a:buNone/>
            </a:pPr>
            <a:r>
              <a:rPr b="0" i="0" lang="en-US" sz="950" u="none" cap="none" strike="noStrike">
                <a:solidFill>
                  <a:srgbClr val="8A8A8A"/>
                </a:solidFill>
                <a:latin typeface="Courier New"/>
                <a:ea typeface="Courier New"/>
                <a:cs typeface="Courier New"/>
                <a:sym typeface="Courier New"/>
              </a:rPr>
              <a:t>Linear+ReLU+BN ×6</a:t>
            </a:r>
            <a:endParaRPr b="0" i="0" sz="950" u="none" cap="none" strike="noStrike">
              <a:solidFill>
                <a:schemeClr val="dk1"/>
              </a:solidFill>
              <a:latin typeface="Calibri"/>
              <a:ea typeface="Calibri"/>
              <a:cs typeface="Calibri"/>
              <a:sym typeface="Calibri"/>
            </a:endParaRPr>
          </a:p>
        </p:txBody>
      </p:sp>
      <p:sp>
        <p:nvSpPr>
          <p:cNvPr id="778" name="Google Shape;778;p38"/>
          <p:cNvSpPr/>
          <p:nvPr/>
        </p:nvSpPr>
        <p:spPr>
          <a:xfrm>
            <a:off x="960120" y="2377440"/>
            <a:ext cx="1691640" cy="493776"/>
          </a:xfrm>
          <a:prstGeom prst="rect">
            <a:avLst/>
          </a:prstGeom>
          <a:solidFill>
            <a:srgbClr val="1A1A1A"/>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8"/>
          <p:cNvSpPr/>
          <p:nvPr/>
        </p:nvSpPr>
        <p:spPr>
          <a:xfrm>
            <a:off x="960120" y="2377440"/>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veh_  (6)</a:t>
            </a:r>
            <a:endParaRPr b="0" i="0" sz="1300" u="none" cap="none" strike="noStrike">
              <a:solidFill>
                <a:schemeClr val="dk1"/>
              </a:solidFill>
              <a:latin typeface="Calibri"/>
              <a:ea typeface="Calibri"/>
              <a:cs typeface="Calibri"/>
              <a:sym typeface="Calibri"/>
            </a:endParaRPr>
          </a:p>
        </p:txBody>
      </p:sp>
      <p:cxnSp>
        <p:nvCxnSpPr>
          <p:cNvPr id="780" name="Google Shape;780;p38"/>
          <p:cNvCxnSpPr/>
          <p:nvPr/>
        </p:nvCxnSpPr>
        <p:spPr>
          <a:xfrm>
            <a:off x="1805940" y="2871216"/>
            <a:ext cx="0" cy="128016"/>
          </a:xfrm>
          <a:prstGeom prst="straightConnector1">
            <a:avLst/>
          </a:prstGeom>
          <a:noFill/>
          <a:ln cap="flat" cmpd="sng" w="15875">
            <a:solidFill>
              <a:srgbClr val="C8C5BC"/>
            </a:solidFill>
            <a:prstDash val="solid"/>
            <a:round/>
            <a:headEnd len="sm" w="sm" type="none"/>
            <a:tailEnd len="med" w="med" type="triangle"/>
          </a:ln>
        </p:spPr>
      </p:cxnSp>
      <p:sp>
        <p:nvSpPr>
          <p:cNvPr id="781" name="Google Shape;781;p38"/>
          <p:cNvSpPr/>
          <p:nvPr/>
        </p:nvSpPr>
        <p:spPr>
          <a:xfrm>
            <a:off x="960120" y="2999232"/>
            <a:ext cx="1691640" cy="493776"/>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8"/>
          <p:cNvSpPr/>
          <p:nvPr/>
        </p:nvSpPr>
        <p:spPr>
          <a:xfrm>
            <a:off x="960120" y="2999232"/>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512 → 256 → 128</a:t>
            </a:r>
            <a:endParaRPr b="0" i="0" sz="1300" u="none" cap="none" strike="noStrike">
              <a:solidFill>
                <a:schemeClr val="dk1"/>
              </a:solidFill>
              <a:latin typeface="Calibri"/>
              <a:ea typeface="Calibri"/>
              <a:cs typeface="Calibri"/>
              <a:sym typeface="Calibri"/>
            </a:endParaRPr>
          </a:p>
        </p:txBody>
      </p:sp>
      <p:cxnSp>
        <p:nvCxnSpPr>
          <p:cNvPr id="783" name="Google Shape;783;p38"/>
          <p:cNvCxnSpPr/>
          <p:nvPr/>
        </p:nvCxnSpPr>
        <p:spPr>
          <a:xfrm>
            <a:off x="1805940" y="3493008"/>
            <a:ext cx="0" cy="128016"/>
          </a:xfrm>
          <a:prstGeom prst="straightConnector1">
            <a:avLst/>
          </a:prstGeom>
          <a:noFill/>
          <a:ln cap="flat" cmpd="sng" w="15875">
            <a:solidFill>
              <a:srgbClr val="C8C5BC"/>
            </a:solidFill>
            <a:prstDash val="solid"/>
            <a:round/>
            <a:headEnd len="sm" w="sm" type="none"/>
            <a:tailEnd len="med" w="med" type="triangle"/>
          </a:ln>
        </p:spPr>
      </p:cxnSp>
      <p:sp>
        <p:nvSpPr>
          <p:cNvPr id="784" name="Google Shape;784;p38"/>
          <p:cNvSpPr/>
          <p:nvPr/>
        </p:nvSpPr>
        <p:spPr>
          <a:xfrm>
            <a:off x="960120" y="3621024"/>
            <a:ext cx="1691640" cy="493776"/>
          </a:xfrm>
          <a:prstGeom prst="rect">
            <a:avLst/>
          </a:prstGeom>
          <a:solidFill>
            <a:srgbClr val="F0E6CA"/>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8"/>
          <p:cNvSpPr/>
          <p:nvPr/>
        </p:nvSpPr>
        <p:spPr>
          <a:xfrm>
            <a:off x="960120" y="3621024"/>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64 → 32 → 16</a:t>
            </a:r>
            <a:endParaRPr b="0" i="0" sz="1300" u="none" cap="none" strike="noStrike">
              <a:solidFill>
                <a:schemeClr val="dk1"/>
              </a:solidFill>
              <a:latin typeface="Calibri"/>
              <a:ea typeface="Calibri"/>
              <a:cs typeface="Calibri"/>
              <a:sym typeface="Calibri"/>
            </a:endParaRPr>
          </a:p>
        </p:txBody>
      </p:sp>
      <p:sp>
        <p:nvSpPr>
          <p:cNvPr id="786" name="Google Shape;786;p38"/>
          <p:cNvSpPr/>
          <p:nvPr/>
        </p:nvSpPr>
        <p:spPr>
          <a:xfrm>
            <a:off x="2926080" y="1755648"/>
            <a:ext cx="21488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Network branch</a:t>
            </a:r>
            <a:endParaRPr b="0" i="0" sz="1400" u="none" cap="none" strike="noStrike">
              <a:solidFill>
                <a:schemeClr val="dk1"/>
              </a:solidFill>
              <a:latin typeface="Calibri"/>
              <a:ea typeface="Calibri"/>
              <a:cs typeface="Calibri"/>
              <a:sym typeface="Calibri"/>
            </a:endParaRPr>
          </a:p>
        </p:txBody>
      </p:sp>
      <p:sp>
        <p:nvSpPr>
          <p:cNvPr id="787" name="Google Shape;787;p38"/>
          <p:cNvSpPr/>
          <p:nvPr/>
        </p:nvSpPr>
        <p:spPr>
          <a:xfrm>
            <a:off x="2971800" y="2011680"/>
            <a:ext cx="20574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950"/>
              <a:buFont typeface="Courier New"/>
              <a:buNone/>
            </a:pPr>
            <a:r>
              <a:rPr b="0" i="0" lang="en-US" sz="950" u="none" cap="none" strike="noStrike">
                <a:solidFill>
                  <a:srgbClr val="8A8A8A"/>
                </a:solidFill>
                <a:latin typeface="Courier New"/>
                <a:ea typeface="Courier New"/>
                <a:cs typeface="Courier New"/>
                <a:sym typeface="Courier New"/>
              </a:rPr>
              <a:t>Linear+ReLU+BN ×6</a:t>
            </a:r>
            <a:endParaRPr b="0" i="0" sz="950" u="none" cap="none" strike="noStrike">
              <a:solidFill>
                <a:schemeClr val="dk1"/>
              </a:solidFill>
              <a:latin typeface="Calibri"/>
              <a:ea typeface="Calibri"/>
              <a:cs typeface="Calibri"/>
              <a:sym typeface="Calibri"/>
            </a:endParaRPr>
          </a:p>
        </p:txBody>
      </p:sp>
      <p:sp>
        <p:nvSpPr>
          <p:cNvPr id="788" name="Google Shape;788;p38"/>
          <p:cNvSpPr/>
          <p:nvPr/>
        </p:nvSpPr>
        <p:spPr>
          <a:xfrm>
            <a:off x="3154680" y="2377440"/>
            <a:ext cx="1691640" cy="493776"/>
          </a:xfrm>
          <a:prstGeom prst="rect">
            <a:avLst/>
          </a:prstGeom>
          <a:solidFill>
            <a:srgbClr val="1A1A1A"/>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8"/>
          <p:cNvSpPr/>
          <p:nvPr/>
        </p:nvSpPr>
        <p:spPr>
          <a:xfrm>
            <a:off x="3154680" y="2377440"/>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net_  (6)</a:t>
            </a:r>
            <a:endParaRPr b="0" i="0" sz="1300" u="none" cap="none" strike="noStrike">
              <a:solidFill>
                <a:schemeClr val="dk1"/>
              </a:solidFill>
              <a:latin typeface="Calibri"/>
              <a:ea typeface="Calibri"/>
              <a:cs typeface="Calibri"/>
              <a:sym typeface="Calibri"/>
            </a:endParaRPr>
          </a:p>
        </p:txBody>
      </p:sp>
      <p:cxnSp>
        <p:nvCxnSpPr>
          <p:cNvPr id="790" name="Google Shape;790;p38"/>
          <p:cNvCxnSpPr/>
          <p:nvPr/>
        </p:nvCxnSpPr>
        <p:spPr>
          <a:xfrm>
            <a:off x="4000500" y="2871216"/>
            <a:ext cx="0" cy="128016"/>
          </a:xfrm>
          <a:prstGeom prst="straightConnector1">
            <a:avLst/>
          </a:prstGeom>
          <a:noFill/>
          <a:ln cap="flat" cmpd="sng" w="15875">
            <a:solidFill>
              <a:srgbClr val="C8C5BC"/>
            </a:solidFill>
            <a:prstDash val="solid"/>
            <a:round/>
            <a:headEnd len="sm" w="sm" type="none"/>
            <a:tailEnd len="med" w="med" type="triangle"/>
          </a:ln>
        </p:spPr>
      </p:cxnSp>
      <p:sp>
        <p:nvSpPr>
          <p:cNvPr id="791" name="Google Shape;791;p38"/>
          <p:cNvSpPr/>
          <p:nvPr/>
        </p:nvSpPr>
        <p:spPr>
          <a:xfrm>
            <a:off x="3154680" y="2999232"/>
            <a:ext cx="1691640" cy="493776"/>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8"/>
          <p:cNvSpPr/>
          <p:nvPr/>
        </p:nvSpPr>
        <p:spPr>
          <a:xfrm>
            <a:off x="3154680" y="2999232"/>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512 → 256 → 128</a:t>
            </a:r>
            <a:endParaRPr b="0" i="0" sz="1300" u="none" cap="none" strike="noStrike">
              <a:solidFill>
                <a:schemeClr val="dk1"/>
              </a:solidFill>
              <a:latin typeface="Calibri"/>
              <a:ea typeface="Calibri"/>
              <a:cs typeface="Calibri"/>
              <a:sym typeface="Calibri"/>
            </a:endParaRPr>
          </a:p>
        </p:txBody>
      </p:sp>
      <p:cxnSp>
        <p:nvCxnSpPr>
          <p:cNvPr id="793" name="Google Shape;793;p38"/>
          <p:cNvCxnSpPr/>
          <p:nvPr/>
        </p:nvCxnSpPr>
        <p:spPr>
          <a:xfrm>
            <a:off x="4000500" y="3493008"/>
            <a:ext cx="0" cy="128016"/>
          </a:xfrm>
          <a:prstGeom prst="straightConnector1">
            <a:avLst/>
          </a:prstGeom>
          <a:noFill/>
          <a:ln cap="flat" cmpd="sng" w="15875">
            <a:solidFill>
              <a:srgbClr val="C8C5BC"/>
            </a:solidFill>
            <a:prstDash val="solid"/>
            <a:round/>
            <a:headEnd len="sm" w="sm" type="none"/>
            <a:tailEnd len="med" w="med" type="triangle"/>
          </a:ln>
        </p:spPr>
      </p:cxnSp>
      <p:sp>
        <p:nvSpPr>
          <p:cNvPr id="794" name="Google Shape;794;p38"/>
          <p:cNvSpPr/>
          <p:nvPr/>
        </p:nvSpPr>
        <p:spPr>
          <a:xfrm>
            <a:off x="3154680" y="3621024"/>
            <a:ext cx="1691640" cy="493776"/>
          </a:xfrm>
          <a:prstGeom prst="rect">
            <a:avLst/>
          </a:prstGeom>
          <a:solidFill>
            <a:srgbClr val="F0E6CA"/>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8"/>
          <p:cNvSpPr/>
          <p:nvPr/>
        </p:nvSpPr>
        <p:spPr>
          <a:xfrm>
            <a:off x="3154680" y="3621024"/>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64 → 32 → 16</a:t>
            </a:r>
            <a:endParaRPr b="0" i="0" sz="1300" u="none" cap="none" strike="noStrike">
              <a:solidFill>
                <a:schemeClr val="dk1"/>
              </a:solidFill>
              <a:latin typeface="Calibri"/>
              <a:ea typeface="Calibri"/>
              <a:cs typeface="Calibri"/>
              <a:sym typeface="Calibri"/>
            </a:endParaRPr>
          </a:p>
        </p:txBody>
      </p:sp>
      <p:sp>
        <p:nvSpPr>
          <p:cNvPr id="796" name="Google Shape;796;p38"/>
          <p:cNvSpPr/>
          <p:nvPr/>
        </p:nvSpPr>
        <p:spPr>
          <a:xfrm>
            <a:off x="960120" y="4526280"/>
            <a:ext cx="3886200" cy="493776"/>
          </a:xfrm>
          <a:prstGeom prst="roundRect">
            <a:avLst>
              <a:gd fmla="val 14815" name="adj"/>
            </a:avLst>
          </a:prstGeom>
          <a:solidFill>
            <a:srgbClr val="FFFFFF"/>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8"/>
          <p:cNvSpPr/>
          <p:nvPr/>
        </p:nvSpPr>
        <p:spPr>
          <a:xfrm>
            <a:off x="960120" y="4526280"/>
            <a:ext cx="388620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400"/>
              <a:buFont typeface="Calibri"/>
              <a:buNone/>
            </a:pPr>
            <a:r>
              <a:rPr b="1" i="0" lang="en-US" sz="1400" u="none" cap="none" strike="noStrike">
                <a:solidFill>
                  <a:srgbClr val="B8932E"/>
                </a:solidFill>
                <a:latin typeface="Calibri"/>
                <a:ea typeface="Calibri"/>
                <a:cs typeface="Calibri"/>
                <a:sym typeface="Calibri"/>
              </a:rPr>
              <a:t>concat → 32-d joint vector</a:t>
            </a:r>
            <a:endParaRPr b="0" i="0" sz="1400" u="none" cap="none" strike="noStrike">
              <a:solidFill>
                <a:schemeClr val="dk1"/>
              </a:solidFill>
              <a:latin typeface="Calibri"/>
              <a:ea typeface="Calibri"/>
              <a:cs typeface="Calibri"/>
              <a:sym typeface="Calibri"/>
            </a:endParaRPr>
          </a:p>
        </p:txBody>
      </p:sp>
      <p:cxnSp>
        <p:nvCxnSpPr>
          <p:cNvPr id="798" name="Google Shape;798;p38"/>
          <p:cNvCxnSpPr/>
          <p:nvPr/>
        </p:nvCxnSpPr>
        <p:spPr>
          <a:xfrm>
            <a:off x="1805940" y="4114800"/>
            <a:ext cx="0" cy="411480"/>
          </a:xfrm>
          <a:prstGeom prst="straightConnector1">
            <a:avLst/>
          </a:prstGeom>
          <a:noFill/>
          <a:ln cap="flat" cmpd="sng" w="15875">
            <a:solidFill>
              <a:srgbClr val="C8C5BC"/>
            </a:solidFill>
            <a:prstDash val="solid"/>
            <a:round/>
            <a:headEnd len="sm" w="sm" type="none"/>
            <a:tailEnd len="med" w="med" type="triangle"/>
          </a:ln>
        </p:spPr>
      </p:cxnSp>
      <p:cxnSp>
        <p:nvCxnSpPr>
          <p:cNvPr id="799" name="Google Shape;799;p38"/>
          <p:cNvCxnSpPr/>
          <p:nvPr/>
        </p:nvCxnSpPr>
        <p:spPr>
          <a:xfrm>
            <a:off x="4000500" y="4114800"/>
            <a:ext cx="0" cy="411480"/>
          </a:xfrm>
          <a:prstGeom prst="straightConnector1">
            <a:avLst/>
          </a:prstGeom>
          <a:noFill/>
          <a:ln cap="flat" cmpd="sng" w="15875">
            <a:solidFill>
              <a:srgbClr val="C8C5BC"/>
            </a:solidFill>
            <a:prstDash val="solid"/>
            <a:round/>
            <a:headEnd len="sm" w="sm" type="none"/>
            <a:tailEnd len="med" w="med" type="triangle"/>
          </a:ln>
        </p:spPr>
      </p:cxnSp>
      <p:sp>
        <p:nvSpPr>
          <p:cNvPr id="800" name="Google Shape;800;p38"/>
          <p:cNvSpPr/>
          <p:nvPr/>
        </p:nvSpPr>
        <p:spPr>
          <a:xfrm>
            <a:off x="5440680" y="4297680"/>
            <a:ext cx="2377440" cy="950976"/>
          </a:xfrm>
          <a:prstGeom prst="rect">
            <a:avLst/>
          </a:prstGeom>
          <a:solidFill>
            <a:srgbClr val="FBF6E9"/>
          </a:solidFill>
          <a:ln cap="flat" cmpd="sng" w="12700">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8"/>
          <p:cNvSpPr/>
          <p:nvPr/>
        </p:nvSpPr>
        <p:spPr>
          <a:xfrm>
            <a:off x="5440680" y="4297680"/>
            <a:ext cx="2377440" cy="95097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B8932E"/>
              </a:buClr>
              <a:buSzPts val="1400"/>
              <a:buFont typeface="Calibri"/>
              <a:buNone/>
            </a:pPr>
            <a:r>
              <a:rPr b="1" i="0" lang="en-US" sz="1400" u="none" cap="none" strike="noStrike">
                <a:solidFill>
                  <a:srgbClr val="B8932E"/>
                </a:solidFill>
                <a:latin typeface="Calibri"/>
                <a:ea typeface="Calibri"/>
                <a:cs typeface="Calibri"/>
                <a:sym typeface="Calibri"/>
              </a:rPr>
              <a:t>Attention gate</a:t>
            </a:r>
            <a:br>
              <a:rPr b="1" i="0" lang="en-US" sz="1400" u="none" cap="none" strike="noStrike">
                <a:solidFill>
                  <a:srgbClr val="B8932E"/>
                </a:solidFill>
                <a:latin typeface="Calibri"/>
                <a:ea typeface="Calibri"/>
                <a:cs typeface="Calibri"/>
                <a:sym typeface="Calibri"/>
              </a:rPr>
            </a:br>
            <a:endParaRPr b="0" i="0" sz="14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4A4A4A"/>
              </a:buClr>
              <a:buSzPts val="1000"/>
              <a:buFont typeface="Courier New"/>
              <a:buNone/>
            </a:pPr>
            <a:r>
              <a:rPr b="0" i="0" lang="en-US" sz="1000" u="none" cap="none" strike="noStrike">
                <a:solidFill>
                  <a:srgbClr val="4A4A4A"/>
                </a:solidFill>
                <a:latin typeface="Courier New"/>
                <a:ea typeface="Courier New"/>
                <a:cs typeface="Courier New"/>
                <a:sym typeface="Courier New"/>
              </a:rPr>
              <a:t>32→64→tanh→32→softmax</a:t>
            </a:r>
            <a:endParaRPr b="0" i="0" sz="1400" u="none" cap="none" strike="noStrike">
              <a:solidFill>
                <a:schemeClr val="dk1"/>
              </a:solidFill>
              <a:latin typeface="Calibri"/>
              <a:ea typeface="Calibri"/>
              <a:cs typeface="Calibri"/>
              <a:sym typeface="Calibri"/>
            </a:endParaRPr>
          </a:p>
        </p:txBody>
      </p:sp>
      <p:cxnSp>
        <p:nvCxnSpPr>
          <p:cNvPr id="802" name="Google Shape;802;p38"/>
          <p:cNvCxnSpPr/>
          <p:nvPr/>
        </p:nvCxnSpPr>
        <p:spPr>
          <a:xfrm>
            <a:off x="4846320" y="4773168"/>
            <a:ext cx="594360" cy="0"/>
          </a:xfrm>
          <a:prstGeom prst="straightConnector1">
            <a:avLst/>
          </a:prstGeom>
          <a:noFill/>
          <a:ln cap="flat" cmpd="sng" w="15875">
            <a:solidFill>
              <a:srgbClr val="B8932E"/>
            </a:solidFill>
            <a:prstDash val="solid"/>
            <a:round/>
            <a:headEnd len="sm" w="sm" type="none"/>
            <a:tailEnd len="med" w="med" type="triangle"/>
          </a:ln>
        </p:spPr>
      </p:cxnSp>
      <p:sp>
        <p:nvSpPr>
          <p:cNvPr id="803" name="Google Shape;803;p38"/>
          <p:cNvSpPr/>
          <p:nvPr/>
        </p:nvSpPr>
        <p:spPr>
          <a:xfrm>
            <a:off x="5440680" y="5321808"/>
            <a:ext cx="23774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150"/>
              <a:buFont typeface="Calibri"/>
              <a:buNone/>
            </a:pPr>
            <a:r>
              <a:rPr b="0" i="1" lang="en-US" sz="1150" u="none" cap="none" strike="noStrike">
                <a:solidFill>
                  <a:srgbClr val="8A8A8A"/>
                </a:solidFill>
                <a:latin typeface="Calibri"/>
                <a:ea typeface="Calibri"/>
                <a:cs typeface="Calibri"/>
                <a:sym typeface="Calibri"/>
              </a:rPr>
              <a:t>⊙  element-wise</a:t>
            </a:r>
            <a:endParaRPr b="0" i="0" sz="1150" u="none" cap="none" strike="noStrike">
              <a:solidFill>
                <a:schemeClr val="dk1"/>
              </a:solidFill>
              <a:latin typeface="Calibri"/>
              <a:ea typeface="Calibri"/>
              <a:cs typeface="Calibri"/>
              <a:sym typeface="Calibri"/>
            </a:endParaRPr>
          </a:p>
        </p:txBody>
      </p:sp>
      <p:cxnSp>
        <p:nvCxnSpPr>
          <p:cNvPr id="804" name="Google Shape;804;p38"/>
          <p:cNvCxnSpPr/>
          <p:nvPr/>
        </p:nvCxnSpPr>
        <p:spPr>
          <a:xfrm>
            <a:off x="7818120" y="4773168"/>
            <a:ext cx="292608" cy="0"/>
          </a:xfrm>
          <a:prstGeom prst="straightConnector1">
            <a:avLst/>
          </a:prstGeom>
          <a:noFill/>
          <a:ln cap="flat" cmpd="sng" w="15875">
            <a:solidFill>
              <a:srgbClr val="B8932E"/>
            </a:solidFill>
            <a:prstDash val="solid"/>
            <a:round/>
            <a:headEnd len="sm" w="sm" type="none"/>
            <a:tailEnd len="sm" w="sm" type="none"/>
          </a:ln>
        </p:spPr>
      </p:cxnSp>
      <p:cxnSp>
        <p:nvCxnSpPr>
          <p:cNvPr id="805" name="Google Shape;805;p38"/>
          <p:cNvCxnSpPr/>
          <p:nvPr/>
        </p:nvCxnSpPr>
        <p:spPr>
          <a:xfrm>
            <a:off x="8110728" y="2624328"/>
            <a:ext cx="0" cy="2148840"/>
          </a:xfrm>
          <a:prstGeom prst="straightConnector1">
            <a:avLst/>
          </a:prstGeom>
          <a:noFill/>
          <a:ln cap="flat" cmpd="sng" w="15875">
            <a:solidFill>
              <a:srgbClr val="B8932E"/>
            </a:solidFill>
            <a:prstDash val="solid"/>
            <a:round/>
            <a:headEnd len="sm" w="sm" type="none"/>
            <a:tailEnd len="sm" w="sm" type="none"/>
          </a:ln>
        </p:spPr>
      </p:cxnSp>
      <p:cxnSp>
        <p:nvCxnSpPr>
          <p:cNvPr id="806" name="Google Shape;806;p38"/>
          <p:cNvCxnSpPr/>
          <p:nvPr/>
        </p:nvCxnSpPr>
        <p:spPr>
          <a:xfrm>
            <a:off x="8110728" y="2624328"/>
            <a:ext cx="256032" cy="0"/>
          </a:xfrm>
          <a:prstGeom prst="straightConnector1">
            <a:avLst/>
          </a:prstGeom>
          <a:noFill/>
          <a:ln cap="flat" cmpd="sng" w="15875">
            <a:solidFill>
              <a:srgbClr val="B8932E"/>
            </a:solidFill>
            <a:prstDash val="solid"/>
            <a:round/>
            <a:headEnd len="sm" w="sm" type="none"/>
            <a:tailEnd len="med" w="med" type="triangle"/>
          </a:ln>
        </p:spPr>
      </p:cxnSp>
      <p:sp>
        <p:nvSpPr>
          <p:cNvPr id="807" name="Google Shape;807;p38"/>
          <p:cNvSpPr/>
          <p:nvPr/>
        </p:nvSpPr>
        <p:spPr>
          <a:xfrm>
            <a:off x="8138160" y="1755648"/>
            <a:ext cx="21488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Fusion head</a:t>
            </a:r>
            <a:endParaRPr b="0" i="0" sz="1400" u="none" cap="none" strike="noStrike">
              <a:solidFill>
                <a:schemeClr val="dk1"/>
              </a:solidFill>
              <a:latin typeface="Calibri"/>
              <a:ea typeface="Calibri"/>
              <a:cs typeface="Calibri"/>
              <a:sym typeface="Calibri"/>
            </a:endParaRPr>
          </a:p>
        </p:txBody>
      </p:sp>
      <p:sp>
        <p:nvSpPr>
          <p:cNvPr id="808" name="Google Shape;808;p38"/>
          <p:cNvSpPr/>
          <p:nvPr/>
        </p:nvSpPr>
        <p:spPr>
          <a:xfrm>
            <a:off x="8183880" y="2011680"/>
            <a:ext cx="20574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950"/>
              <a:buFont typeface="Courier New"/>
              <a:buNone/>
            </a:pPr>
            <a:r>
              <a:rPr b="0" i="0" lang="en-US" sz="950" u="none" cap="none" strike="noStrike">
                <a:solidFill>
                  <a:srgbClr val="8A8A8A"/>
                </a:solidFill>
                <a:latin typeface="Courier New"/>
                <a:ea typeface="Courier New"/>
                <a:cs typeface="Courier New"/>
                <a:sym typeface="Courier New"/>
              </a:rPr>
              <a:t>Linear+ReLU+BN ×6 + out</a:t>
            </a:r>
            <a:endParaRPr b="0" i="0" sz="950" u="none" cap="none" strike="noStrike">
              <a:solidFill>
                <a:schemeClr val="dk1"/>
              </a:solidFill>
              <a:latin typeface="Calibri"/>
              <a:ea typeface="Calibri"/>
              <a:cs typeface="Calibri"/>
              <a:sym typeface="Calibri"/>
            </a:endParaRPr>
          </a:p>
        </p:txBody>
      </p:sp>
      <p:sp>
        <p:nvSpPr>
          <p:cNvPr id="809" name="Google Shape;809;p38"/>
          <p:cNvSpPr/>
          <p:nvPr/>
        </p:nvSpPr>
        <p:spPr>
          <a:xfrm>
            <a:off x="8366760" y="2377440"/>
            <a:ext cx="1691640" cy="493776"/>
          </a:xfrm>
          <a:prstGeom prst="rect">
            <a:avLst/>
          </a:prstGeom>
          <a:solidFill>
            <a:srgbClr val="1A1A1A"/>
          </a:solid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8"/>
          <p:cNvSpPr/>
          <p:nvPr/>
        </p:nvSpPr>
        <p:spPr>
          <a:xfrm>
            <a:off x="8366760" y="2377440"/>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gated  (32)</a:t>
            </a:r>
            <a:endParaRPr b="0" i="0" sz="1300" u="none" cap="none" strike="noStrike">
              <a:solidFill>
                <a:schemeClr val="dk1"/>
              </a:solidFill>
              <a:latin typeface="Calibri"/>
              <a:ea typeface="Calibri"/>
              <a:cs typeface="Calibri"/>
              <a:sym typeface="Calibri"/>
            </a:endParaRPr>
          </a:p>
        </p:txBody>
      </p:sp>
      <p:cxnSp>
        <p:nvCxnSpPr>
          <p:cNvPr id="811" name="Google Shape;811;p38"/>
          <p:cNvCxnSpPr/>
          <p:nvPr/>
        </p:nvCxnSpPr>
        <p:spPr>
          <a:xfrm>
            <a:off x="9212580" y="2871216"/>
            <a:ext cx="0" cy="128016"/>
          </a:xfrm>
          <a:prstGeom prst="straightConnector1">
            <a:avLst/>
          </a:prstGeom>
          <a:noFill/>
          <a:ln cap="flat" cmpd="sng" w="15875">
            <a:solidFill>
              <a:srgbClr val="C8C5BC"/>
            </a:solidFill>
            <a:prstDash val="solid"/>
            <a:round/>
            <a:headEnd len="sm" w="sm" type="none"/>
            <a:tailEnd len="med" w="med" type="triangle"/>
          </a:ln>
        </p:spPr>
      </p:cxnSp>
      <p:sp>
        <p:nvSpPr>
          <p:cNvPr id="812" name="Google Shape;812;p38"/>
          <p:cNvSpPr/>
          <p:nvPr/>
        </p:nvSpPr>
        <p:spPr>
          <a:xfrm>
            <a:off x="8366760" y="2999232"/>
            <a:ext cx="1691640" cy="493776"/>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8"/>
          <p:cNvSpPr/>
          <p:nvPr/>
        </p:nvSpPr>
        <p:spPr>
          <a:xfrm>
            <a:off x="8366760" y="2999232"/>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512 → 256 → 128</a:t>
            </a:r>
            <a:endParaRPr b="0" i="0" sz="1300" u="none" cap="none" strike="noStrike">
              <a:solidFill>
                <a:schemeClr val="dk1"/>
              </a:solidFill>
              <a:latin typeface="Calibri"/>
              <a:ea typeface="Calibri"/>
              <a:cs typeface="Calibri"/>
              <a:sym typeface="Calibri"/>
            </a:endParaRPr>
          </a:p>
        </p:txBody>
      </p:sp>
      <p:cxnSp>
        <p:nvCxnSpPr>
          <p:cNvPr id="814" name="Google Shape;814;p38"/>
          <p:cNvCxnSpPr/>
          <p:nvPr/>
        </p:nvCxnSpPr>
        <p:spPr>
          <a:xfrm>
            <a:off x="9212580" y="3493008"/>
            <a:ext cx="0" cy="128016"/>
          </a:xfrm>
          <a:prstGeom prst="straightConnector1">
            <a:avLst/>
          </a:prstGeom>
          <a:noFill/>
          <a:ln cap="flat" cmpd="sng" w="15875">
            <a:solidFill>
              <a:srgbClr val="C8C5BC"/>
            </a:solidFill>
            <a:prstDash val="solid"/>
            <a:round/>
            <a:headEnd len="sm" w="sm" type="none"/>
            <a:tailEnd len="med" w="med" type="triangle"/>
          </a:ln>
        </p:spPr>
      </p:cxnSp>
      <p:sp>
        <p:nvSpPr>
          <p:cNvPr id="815" name="Google Shape;815;p38"/>
          <p:cNvSpPr/>
          <p:nvPr/>
        </p:nvSpPr>
        <p:spPr>
          <a:xfrm>
            <a:off x="8366760" y="3621024"/>
            <a:ext cx="1691640" cy="493776"/>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8"/>
          <p:cNvSpPr/>
          <p:nvPr/>
        </p:nvSpPr>
        <p:spPr>
          <a:xfrm>
            <a:off x="8366760" y="3621024"/>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64 → 32 → 16</a:t>
            </a:r>
            <a:endParaRPr b="0" i="0" sz="1300" u="none" cap="none" strike="noStrike">
              <a:solidFill>
                <a:schemeClr val="dk1"/>
              </a:solidFill>
              <a:latin typeface="Calibri"/>
              <a:ea typeface="Calibri"/>
              <a:cs typeface="Calibri"/>
              <a:sym typeface="Calibri"/>
            </a:endParaRPr>
          </a:p>
        </p:txBody>
      </p:sp>
      <p:cxnSp>
        <p:nvCxnSpPr>
          <p:cNvPr id="817" name="Google Shape;817;p38"/>
          <p:cNvCxnSpPr/>
          <p:nvPr/>
        </p:nvCxnSpPr>
        <p:spPr>
          <a:xfrm>
            <a:off x="9212580" y="4114800"/>
            <a:ext cx="0" cy="128016"/>
          </a:xfrm>
          <a:prstGeom prst="straightConnector1">
            <a:avLst/>
          </a:prstGeom>
          <a:noFill/>
          <a:ln cap="flat" cmpd="sng" w="15875">
            <a:solidFill>
              <a:srgbClr val="C8C5BC"/>
            </a:solidFill>
            <a:prstDash val="solid"/>
            <a:round/>
            <a:headEnd len="sm" w="sm" type="none"/>
            <a:tailEnd len="med" w="med" type="triangle"/>
          </a:ln>
        </p:spPr>
      </p:cxnSp>
      <p:sp>
        <p:nvSpPr>
          <p:cNvPr id="818" name="Google Shape;818;p38"/>
          <p:cNvSpPr/>
          <p:nvPr/>
        </p:nvSpPr>
        <p:spPr>
          <a:xfrm>
            <a:off x="8366760" y="4242816"/>
            <a:ext cx="1691640" cy="493776"/>
          </a:xfrm>
          <a:prstGeom prst="rect">
            <a:avLst/>
          </a:prstGeom>
          <a:solidFill>
            <a:srgbClr val="F0E6CA"/>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8"/>
          <p:cNvSpPr/>
          <p:nvPr/>
        </p:nvSpPr>
        <p:spPr>
          <a:xfrm>
            <a:off x="8366760" y="4242816"/>
            <a:ext cx="1691640"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300"/>
              <a:buFont typeface="Calibri"/>
              <a:buNone/>
            </a:pPr>
            <a:r>
              <a:rPr b="0" i="0" lang="en-US" sz="1300" u="none" cap="none" strike="noStrike">
                <a:solidFill>
                  <a:srgbClr val="1A1A1A"/>
                </a:solidFill>
                <a:latin typeface="Calibri"/>
                <a:ea typeface="Calibri"/>
                <a:cs typeface="Calibri"/>
                <a:sym typeface="Calibri"/>
              </a:rPr>
              <a:t>logits  (3)</a:t>
            </a:r>
            <a:endParaRPr b="0" i="0" sz="1300" u="none" cap="none" strike="noStrike">
              <a:solidFill>
                <a:schemeClr val="dk1"/>
              </a:solidFill>
              <a:latin typeface="Calibri"/>
              <a:ea typeface="Calibri"/>
              <a:cs typeface="Calibri"/>
              <a:sym typeface="Calibri"/>
            </a:endParaRPr>
          </a:p>
        </p:txBody>
      </p:sp>
      <p:sp>
        <p:nvSpPr>
          <p:cNvPr id="820" name="Google Shape;820;p38"/>
          <p:cNvSpPr/>
          <p:nvPr/>
        </p:nvSpPr>
        <p:spPr>
          <a:xfrm>
            <a:off x="10287000" y="4041648"/>
            <a:ext cx="1417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300"/>
              <a:buFont typeface="Calibri"/>
              <a:buNone/>
            </a:pPr>
            <a:r>
              <a:rPr b="0" i="0" lang="en-US" sz="1300" u="none" cap="none" strike="noStrike">
                <a:solidFill>
                  <a:srgbClr val="4A4A4A"/>
                </a:solidFill>
                <a:latin typeface="Calibri"/>
                <a:ea typeface="Calibri"/>
                <a:cs typeface="Calibri"/>
                <a:sym typeface="Calibri"/>
              </a:rPr>
              <a:t>0  Normal</a:t>
            </a:r>
            <a:endParaRPr b="0" i="0" sz="1300" u="none" cap="none" strike="noStrike">
              <a:solidFill>
                <a:schemeClr val="dk1"/>
              </a:solidFill>
              <a:latin typeface="Calibri"/>
              <a:ea typeface="Calibri"/>
              <a:cs typeface="Calibri"/>
              <a:sym typeface="Calibri"/>
            </a:endParaRPr>
          </a:p>
        </p:txBody>
      </p:sp>
      <p:sp>
        <p:nvSpPr>
          <p:cNvPr id="821" name="Google Shape;821;p38"/>
          <p:cNvSpPr/>
          <p:nvPr/>
        </p:nvSpPr>
        <p:spPr>
          <a:xfrm>
            <a:off x="10287000" y="4315968"/>
            <a:ext cx="1417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300"/>
              <a:buFont typeface="Calibri"/>
              <a:buNone/>
            </a:pPr>
            <a:r>
              <a:rPr b="0" i="0" lang="en-US" sz="1300" u="none" cap="none" strike="noStrike">
                <a:solidFill>
                  <a:srgbClr val="4A4A4A"/>
                </a:solidFill>
                <a:latin typeface="Calibri"/>
                <a:ea typeface="Calibri"/>
                <a:cs typeface="Calibri"/>
                <a:sym typeface="Calibri"/>
              </a:rPr>
              <a:t>1  Physical</a:t>
            </a:r>
            <a:endParaRPr b="0" i="0" sz="1300" u="none" cap="none" strike="noStrike">
              <a:solidFill>
                <a:schemeClr val="dk1"/>
              </a:solidFill>
              <a:latin typeface="Calibri"/>
              <a:ea typeface="Calibri"/>
              <a:cs typeface="Calibri"/>
              <a:sym typeface="Calibri"/>
            </a:endParaRPr>
          </a:p>
        </p:txBody>
      </p:sp>
      <p:sp>
        <p:nvSpPr>
          <p:cNvPr id="822" name="Google Shape;822;p38"/>
          <p:cNvSpPr/>
          <p:nvPr/>
        </p:nvSpPr>
        <p:spPr>
          <a:xfrm>
            <a:off x="10287000" y="4590288"/>
            <a:ext cx="1417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300"/>
              <a:buFont typeface="Calibri"/>
              <a:buNone/>
            </a:pPr>
            <a:r>
              <a:rPr b="0" i="0" lang="en-US" sz="1300" u="none" cap="none" strike="noStrike">
                <a:solidFill>
                  <a:srgbClr val="4A4A4A"/>
                </a:solidFill>
                <a:latin typeface="Calibri"/>
                <a:ea typeface="Calibri"/>
                <a:cs typeface="Calibri"/>
                <a:sym typeface="Calibri"/>
              </a:rPr>
              <a:t>2  Network</a:t>
            </a:r>
            <a:endParaRPr b="0" i="0" sz="1300" u="none" cap="none" strike="noStrike">
              <a:solidFill>
                <a:schemeClr val="dk1"/>
              </a:solidFill>
              <a:latin typeface="Calibri"/>
              <a:ea typeface="Calibri"/>
              <a:cs typeface="Calibri"/>
              <a:sym typeface="Calibri"/>
            </a:endParaRPr>
          </a:p>
        </p:txBody>
      </p:sp>
      <p:cxnSp>
        <p:nvCxnSpPr>
          <p:cNvPr id="823" name="Google Shape;823;p38"/>
          <p:cNvCxnSpPr/>
          <p:nvPr/>
        </p:nvCxnSpPr>
        <p:spPr>
          <a:xfrm>
            <a:off x="10058400" y="4453128"/>
            <a:ext cx="182880" cy="0"/>
          </a:xfrm>
          <a:prstGeom prst="straightConnector1">
            <a:avLst/>
          </a:prstGeom>
          <a:noFill/>
          <a:ln cap="flat" cmpd="sng" w="12700">
            <a:solidFill>
              <a:srgbClr val="C8C5BC"/>
            </a:solidFill>
            <a:prstDash val="solid"/>
            <a:round/>
            <a:headEnd len="sm" w="sm" type="none"/>
            <a:tailEnd len="sm" w="sm" type="none"/>
          </a:ln>
        </p:spPr>
      </p:cxnSp>
      <p:sp>
        <p:nvSpPr>
          <p:cNvPr id="824" name="Google Shape;824;p38"/>
          <p:cNvSpPr/>
          <p:nvPr/>
        </p:nvSpPr>
        <p:spPr>
          <a:xfrm>
            <a:off x="640080" y="5897880"/>
            <a:ext cx="11018520" cy="5029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Dropout is scaled by 0.7 and tapers with depth — heavy where the layers are wide, almost none where the representation is already compressed.</a:t>
            </a:r>
            <a:endParaRPr b="0" i="0" sz="1600" u="none" cap="none" strike="noStrike">
              <a:solidFill>
                <a:schemeClr val="dk1"/>
              </a:solidFill>
              <a:latin typeface="Calibri"/>
              <a:ea typeface="Calibri"/>
              <a:cs typeface="Calibri"/>
              <a:sym typeface="Calibri"/>
            </a:endParaRPr>
          </a:p>
        </p:txBody>
      </p:sp>
      <p:sp>
        <p:nvSpPr>
          <p:cNvPr id="825" name="Google Shape;825;p38"/>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0" name="Shape 830"/>
        <p:cNvGrpSpPr/>
        <p:nvPr/>
      </p:nvGrpSpPr>
      <p:grpSpPr>
        <a:xfrm>
          <a:off x="0" y="0"/>
          <a:ext cx="0" cy="0"/>
          <a:chOff x="0" y="0"/>
          <a:chExt cx="0" cy="0"/>
        </a:xfrm>
      </p:grpSpPr>
      <p:sp>
        <p:nvSpPr>
          <p:cNvPr id="831" name="Google Shape;831;p39"/>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832" name="Google Shape;832;p39"/>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833" name="Google Shape;833;p39"/>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2.3 · BUDGET</a:t>
            </a:r>
            <a:endParaRPr b="0" i="0" sz="1000" u="none" cap="none" strike="noStrike">
              <a:solidFill>
                <a:schemeClr val="dk1"/>
              </a:solidFill>
              <a:latin typeface="Calibri"/>
              <a:ea typeface="Calibri"/>
              <a:cs typeface="Calibri"/>
              <a:sym typeface="Calibri"/>
            </a:endParaRPr>
          </a:p>
        </p:txBody>
      </p:sp>
      <p:sp>
        <p:nvSpPr>
          <p:cNvPr id="834" name="Google Shape;834;p39"/>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Where the parameters actually go</a:t>
            </a:r>
            <a:endParaRPr b="0" i="0" sz="3000" u="none" cap="none" strike="noStrike">
              <a:solidFill>
                <a:schemeClr val="dk1"/>
              </a:solidFill>
              <a:latin typeface="Calibri"/>
              <a:ea typeface="Calibri"/>
              <a:cs typeface="Calibri"/>
              <a:sym typeface="Calibri"/>
            </a:endParaRPr>
          </a:p>
        </p:txBody>
      </p:sp>
      <p:sp>
        <p:nvSpPr>
          <p:cNvPr id="835" name="Google Shape;835;p39"/>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9"/>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pic>
        <p:nvPicPr>
          <p:cNvPr id="837" name="Google Shape;837;p39"/>
          <p:cNvPicPr preferRelativeResize="0"/>
          <p:nvPr/>
        </p:nvPicPr>
        <p:blipFill rotWithShape="1">
          <a:blip r:embed="rId4">
            <a:alphaModFix/>
          </a:blip>
          <a:srcRect b="0" l="0" r="0" t="0"/>
          <a:stretch/>
        </p:blipFill>
        <p:spPr>
          <a:xfrm>
            <a:off x="640080" y="1828800"/>
            <a:ext cx="4572000" cy="3794760"/>
          </a:xfrm>
          <a:prstGeom prst="rect">
            <a:avLst/>
          </a:prstGeom>
          <a:noFill/>
          <a:ln>
            <a:noFill/>
          </a:ln>
        </p:spPr>
      </p:pic>
      <p:sp>
        <p:nvSpPr>
          <p:cNvPr id="838" name="Google Shape;838;p39"/>
          <p:cNvSpPr/>
          <p:nvPr/>
        </p:nvSpPr>
        <p:spPr>
          <a:xfrm>
            <a:off x="5623560" y="1828800"/>
            <a:ext cx="5943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Layer-group breakdown</a:t>
            </a:r>
            <a:endParaRPr b="0" i="0" sz="1800" u="none" cap="none" strike="noStrike">
              <a:solidFill>
                <a:schemeClr val="dk1"/>
              </a:solidFill>
              <a:latin typeface="Calibri"/>
              <a:ea typeface="Calibri"/>
              <a:cs typeface="Calibri"/>
              <a:sym typeface="Calibri"/>
            </a:endParaRPr>
          </a:p>
        </p:txBody>
      </p:sp>
      <p:sp>
        <p:nvSpPr>
          <p:cNvPr id="839" name="Google Shape;839;p39"/>
          <p:cNvSpPr/>
          <p:nvPr/>
        </p:nvSpPr>
        <p:spPr>
          <a:xfrm>
            <a:off x="5623560" y="2286000"/>
            <a:ext cx="6035040" cy="420624"/>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9"/>
          <p:cNvSpPr/>
          <p:nvPr/>
        </p:nvSpPr>
        <p:spPr>
          <a:xfrm>
            <a:off x="5806440" y="2286000"/>
            <a:ext cx="3108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Group</a:t>
            </a:r>
            <a:endParaRPr b="0" i="0" sz="1600" u="none" cap="none" strike="noStrike">
              <a:solidFill>
                <a:schemeClr val="dk1"/>
              </a:solidFill>
              <a:latin typeface="Calibri"/>
              <a:ea typeface="Calibri"/>
              <a:cs typeface="Calibri"/>
              <a:sym typeface="Calibri"/>
            </a:endParaRPr>
          </a:p>
        </p:txBody>
      </p:sp>
      <p:sp>
        <p:nvSpPr>
          <p:cNvPr id="841" name="Google Shape;841;p39"/>
          <p:cNvSpPr/>
          <p:nvPr/>
        </p:nvSpPr>
        <p:spPr>
          <a:xfrm>
            <a:off x="9235440" y="2286000"/>
            <a:ext cx="2240280" cy="42062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Params</a:t>
            </a:r>
            <a:endParaRPr b="0" i="0" sz="1600" u="none" cap="none" strike="noStrike">
              <a:solidFill>
                <a:schemeClr val="dk1"/>
              </a:solidFill>
              <a:latin typeface="Calibri"/>
              <a:ea typeface="Calibri"/>
              <a:cs typeface="Calibri"/>
              <a:sym typeface="Calibri"/>
            </a:endParaRPr>
          </a:p>
        </p:txBody>
      </p:sp>
      <p:sp>
        <p:nvSpPr>
          <p:cNvPr id="842" name="Google Shape;842;p39"/>
          <p:cNvSpPr/>
          <p:nvPr/>
        </p:nvSpPr>
        <p:spPr>
          <a:xfrm>
            <a:off x="5806440" y="2706624"/>
            <a:ext cx="31089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Vehicle branch</a:t>
            </a:r>
            <a:endParaRPr b="0" i="0" sz="1600" u="none" cap="none" strike="noStrike">
              <a:solidFill>
                <a:schemeClr val="dk1"/>
              </a:solidFill>
              <a:latin typeface="Calibri"/>
              <a:ea typeface="Calibri"/>
              <a:cs typeface="Calibri"/>
              <a:sym typeface="Calibri"/>
            </a:endParaRPr>
          </a:p>
        </p:txBody>
      </p:sp>
      <p:sp>
        <p:nvSpPr>
          <p:cNvPr id="843" name="Google Shape;843;p39"/>
          <p:cNvSpPr/>
          <p:nvPr/>
        </p:nvSpPr>
        <p:spPr>
          <a:xfrm>
            <a:off x="9235440" y="2706624"/>
            <a:ext cx="224028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180 688</a:t>
            </a:r>
            <a:endParaRPr b="0" i="0" sz="1600" u="none" cap="none" strike="noStrike">
              <a:solidFill>
                <a:schemeClr val="dk1"/>
              </a:solidFill>
              <a:latin typeface="Calibri"/>
              <a:ea typeface="Calibri"/>
              <a:cs typeface="Calibri"/>
              <a:sym typeface="Calibri"/>
            </a:endParaRPr>
          </a:p>
        </p:txBody>
      </p:sp>
      <p:sp>
        <p:nvSpPr>
          <p:cNvPr id="844" name="Google Shape;844;p39"/>
          <p:cNvSpPr/>
          <p:nvPr/>
        </p:nvSpPr>
        <p:spPr>
          <a:xfrm>
            <a:off x="5623560" y="3145536"/>
            <a:ext cx="6035040" cy="438912"/>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9"/>
          <p:cNvSpPr/>
          <p:nvPr/>
        </p:nvSpPr>
        <p:spPr>
          <a:xfrm>
            <a:off x="5806440" y="3145536"/>
            <a:ext cx="31089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Network branch</a:t>
            </a:r>
            <a:endParaRPr b="0" i="0" sz="1600" u="none" cap="none" strike="noStrike">
              <a:solidFill>
                <a:schemeClr val="dk1"/>
              </a:solidFill>
              <a:latin typeface="Calibri"/>
              <a:ea typeface="Calibri"/>
              <a:cs typeface="Calibri"/>
              <a:sym typeface="Calibri"/>
            </a:endParaRPr>
          </a:p>
        </p:txBody>
      </p:sp>
      <p:sp>
        <p:nvSpPr>
          <p:cNvPr id="846" name="Google Shape;846;p39"/>
          <p:cNvSpPr/>
          <p:nvPr/>
        </p:nvSpPr>
        <p:spPr>
          <a:xfrm>
            <a:off x="9235440" y="3145536"/>
            <a:ext cx="224028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185 296</a:t>
            </a:r>
            <a:endParaRPr b="0" i="0" sz="1600" u="none" cap="none" strike="noStrike">
              <a:solidFill>
                <a:schemeClr val="dk1"/>
              </a:solidFill>
              <a:latin typeface="Calibri"/>
              <a:ea typeface="Calibri"/>
              <a:cs typeface="Calibri"/>
              <a:sym typeface="Calibri"/>
            </a:endParaRPr>
          </a:p>
        </p:txBody>
      </p:sp>
      <p:sp>
        <p:nvSpPr>
          <p:cNvPr id="847" name="Google Shape;847;p39"/>
          <p:cNvSpPr/>
          <p:nvPr/>
        </p:nvSpPr>
        <p:spPr>
          <a:xfrm>
            <a:off x="5806440" y="3584448"/>
            <a:ext cx="31089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Attention gate</a:t>
            </a:r>
            <a:endParaRPr b="0" i="0" sz="1600" u="none" cap="none" strike="noStrike">
              <a:solidFill>
                <a:schemeClr val="dk1"/>
              </a:solidFill>
              <a:latin typeface="Calibri"/>
              <a:ea typeface="Calibri"/>
              <a:cs typeface="Calibri"/>
              <a:sym typeface="Calibri"/>
            </a:endParaRPr>
          </a:p>
        </p:txBody>
      </p:sp>
      <p:sp>
        <p:nvSpPr>
          <p:cNvPr id="848" name="Google Shape;848;p39"/>
          <p:cNvSpPr/>
          <p:nvPr/>
        </p:nvSpPr>
        <p:spPr>
          <a:xfrm>
            <a:off x="9235440" y="3584448"/>
            <a:ext cx="224028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4 192</a:t>
            </a:r>
            <a:endParaRPr b="0" i="0" sz="1600" u="none" cap="none" strike="noStrike">
              <a:solidFill>
                <a:schemeClr val="dk1"/>
              </a:solidFill>
              <a:latin typeface="Calibri"/>
              <a:ea typeface="Calibri"/>
              <a:cs typeface="Calibri"/>
              <a:sym typeface="Calibri"/>
            </a:endParaRPr>
          </a:p>
        </p:txBody>
      </p:sp>
      <p:sp>
        <p:nvSpPr>
          <p:cNvPr id="849" name="Google Shape;849;p39"/>
          <p:cNvSpPr/>
          <p:nvPr/>
        </p:nvSpPr>
        <p:spPr>
          <a:xfrm>
            <a:off x="5623560" y="4023360"/>
            <a:ext cx="6035040" cy="438912"/>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9"/>
          <p:cNvSpPr/>
          <p:nvPr/>
        </p:nvSpPr>
        <p:spPr>
          <a:xfrm>
            <a:off x="5806440" y="4023360"/>
            <a:ext cx="31089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0" i="0" lang="en-US" sz="1600" u="none" cap="none" strike="noStrike">
                <a:solidFill>
                  <a:srgbClr val="1A1A1A"/>
                </a:solidFill>
                <a:latin typeface="Calibri"/>
                <a:ea typeface="Calibri"/>
                <a:cs typeface="Calibri"/>
                <a:sym typeface="Calibri"/>
              </a:rPr>
              <a:t>Fusion head</a:t>
            </a:r>
            <a:endParaRPr b="0" i="0" sz="1600" u="none" cap="none" strike="noStrike">
              <a:solidFill>
                <a:schemeClr val="dk1"/>
              </a:solidFill>
              <a:latin typeface="Calibri"/>
              <a:ea typeface="Calibri"/>
              <a:cs typeface="Calibri"/>
              <a:sym typeface="Calibri"/>
            </a:endParaRPr>
          </a:p>
        </p:txBody>
      </p:sp>
      <p:sp>
        <p:nvSpPr>
          <p:cNvPr id="851" name="Google Shape;851;p39"/>
          <p:cNvSpPr/>
          <p:nvPr/>
        </p:nvSpPr>
        <p:spPr>
          <a:xfrm>
            <a:off x="9235440" y="4023360"/>
            <a:ext cx="224028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194 051</a:t>
            </a:r>
            <a:endParaRPr b="0" i="0" sz="1600" u="none" cap="none" strike="noStrike">
              <a:solidFill>
                <a:schemeClr val="dk1"/>
              </a:solidFill>
              <a:latin typeface="Calibri"/>
              <a:ea typeface="Calibri"/>
              <a:cs typeface="Calibri"/>
              <a:sym typeface="Calibri"/>
            </a:endParaRPr>
          </a:p>
        </p:txBody>
      </p:sp>
      <p:sp>
        <p:nvSpPr>
          <p:cNvPr id="852" name="Google Shape;852;p39"/>
          <p:cNvSpPr/>
          <p:nvPr/>
        </p:nvSpPr>
        <p:spPr>
          <a:xfrm>
            <a:off x="5623560" y="4462272"/>
            <a:ext cx="6035040" cy="438912"/>
          </a:xfrm>
          <a:prstGeom prst="rect">
            <a:avLst/>
          </a:prstGeom>
          <a:solidFill>
            <a:srgbClr val="F0E6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9"/>
          <p:cNvSpPr/>
          <p:nvPr/>
        </p:nvSpPr>
        <p:spPr>
          <a:xfrm>
            <a:off x="5806440" y="4462272"/>
            <a:ext cx="310896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Total</a:t>
            </a:r>
            <a:endParaRPr b="0" i="0" sz="1600" u="none" cap="none" strike="noStrike">
              <a:solidFill>
                <a:schemeClr val="dk1"/>
              </a:solidFill>
              <a:latin typeface="Calibri"/>
              <a:ea typeface="Calibri"/>
              <a:cs typeface="Calibri"/>
              <a:sym typeface="Calibri"/>
            </a:endParaRPr>
          </a:p>
        </p:txBody>
      </p:sp>
      <p:sp>
        <p:nvSpPr>
          <p:cNvPr id="854" name="Google Shape;854;p39"/>
          <p:cNvSpPr/>
          <p:nvPr/>
        </p:nvSpPr>
        <p:spPr>
          <a:xfrm>
            <a:off x="9235440" y="4462272"/>
            <a:ext cx="2240280" cy="4389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559 619</a:t>
            </a:r>
            <a:endParaRPr b="0" i="0" sz="1600" u="none" cap="none" strike="noStrike">
              <a:solidFill>
                <a:schemeClr val="dk1"/>
              </a:solidFill>
              <a:latin typeface="Calibri"/>
              <a:ea typeface="Calibri"/>
              <a:cs typeface="Calibri"/>
              <a:sym typeface="Calibri"/>
            </a:endParaRPr>
          </a:p>
        </p:txBody>
      </p:sp>
      <p:sp>
        <p:nvSpPr>
          <p:cNvPr id="855" name="Google Shape;855;p39"/>
          <p:cNvSpPr/>
          <p:nvPr/>
        </p:nvSpPr>
        <p:spPr>
          <a:xfrm>
            <a:off x="5623560" y="5074920"/>
            <a:ext cx="1920240" cy="786384"/>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9"/>
          <p:cNvSpPr/>
          <p:nvPr/>
        </p:nvSpPr>
        <p:spPr>
          <a:xfrm>
            <a:off x="5623560" y="514807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800"/>
              <a:buFont typeface="Georgia"/>
              <a:buNone/>
            </a:pPr>
            <a:r>
              <a:rPr b="1" i="0" lang="en-US" sz="1800" u="none" cap="none" strike="noStrike">
                <a:solidFill>
                  <a:srgbClr val="B8932E"/>
                </a:solidFill>
                <a:latin typeface="Georgia"/>
                <a:ea typeface="Georgia"/>
                <a:cs typeface="Georgia"/>
                <a:sym typeface="Georgia"/>
              </a:rPr>
              <a:t>2.13 MB</a:t>
            </a:r>
            <a:endParaRPr b="0" i="0" sz="1800" u="none" cap="none" strike="noStrike">
              <a:solidFill>
                <a:schemeClr val="dk1"/>
              </a:solidFill>
              <a:latin typeface="Calibri"/>
              <a:ea typeface="Calibri"/>
              <a:cs typeface="Calibri"/>
              <a:sym typeface="Calibri"/>
            </a:endParaRPr>
          </a:p>
        </p:txBody>
      </p:sp>
      <p:sp>
        <p:nvSpPr>
          <p:cNvPr id="857" name="Google Shape;857;p39"/>
          <p:cNvSpPr/>
          <p:nvPr/>
        </p:nvSpPr>
        <p:spPr>
          <a:xfrm>
            <a:off x="5623560" y="5522976"/>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FP32</a:t>
            </a:r>
            <a:endParaRPr b="0" i="0" sz="1200" u="none" cap="none" strike="noStrike">
              <a:solidFill>
                <a:schemeClr val="dk1"/>
              </a:solidFill>
              <a:latin typeface="Calibri"/>
              <a:ea typeface="Calibri"/>
              <a:cs typeface="Calibri"/>
              <a:sym typeface="Calibri"/>
            </a:endParaRPr>
          </a:p>
        </p:txBody>
      </p:sp>
      <p:sp>
        <p:nvSpPr>
          <p:cNvPr id="858" name="Google Shape;858;p39"/>
          <p:cNvSpPr/>
          <p:nvPr/>
        </p:nvSpPr>
        <p:spPr>
          <a:xfrm>
            <a:off x="7680960" y="5074920"/>
            <a:ext cx="1920240" cy="786384"/>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9"/>
          <p:cNvSpPr/>
          <p:nvPr/>
        </p:nvSpPr>
        <p:spPr>
          <a:xfrm>
            <a:off x="7680960" y="514807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800"/>
              <a:buFont typeface="Georgia"/>
              <a:buNone/>
            </a:pPr>
            <a:r>
              <a:rPr b="1" i="0" lang="en-US" sz="1800" u="none" cap="none" strike="noStrike">
                <a:solidFill>
                  <a:srgbClr val="B8932E"/>
                </a:solidFill>
                <a:latin typeface="Georgia"/>
                <a:ea typeface="Georgia"/>
                <a:cs typeface="Georgia"/>
                <a:sym typeface="Georgia"/>
              </a:rPr>
              <a:t>1.07 MB</a:t>
            </a:r>
            <a:endParaRPr b="0" i="0" sz="1800" u="none" cap="none" strike="noStrike">
              <a:solidFill>
                <a:schemeClr val="dk1"/>
              </a:solidFill>
              <a:latin typeface="Calibri"/>
              <a:ea typeface="Calibri"/>
              <a:cs typeface="Calibri"/>
              <a:sym typeface="Calibri"/>
            </a:endParaRPr>
          </a:p>
        </p:txBody>
      </p:sp>
      <p:sp>
        <p:nvSpPr>
          <p:cNvPr id="860" name="Google Shape;860;p39"/>
          <p:cNvSpPr/>
          <p:nvPr/>
        </p:nvSpPr>
        <p:spPr>
          <a:xfrm>
            <a:off x="7680960" y="5522976"/>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FP16</a:t>
            </a:r>
            <a:endParaRPr b="0" i="0" sz="1200" u="none" cap="none" strike="noStrike">
              <a:solidFill>
                <a:schemeClr val="dk1"/>
              </a:solidFill>
              <a:latin typeface="Calibri"/>
              <a:ea typeface="Calibri"/>
              <a:cs typeface="Calibri"/>
              <a:sym typeface="Calibri"/>
            </a:endParaRPr>
          </a:p>
        </p:txBody>
      </p:sp>
      <p:sp>
        <p:nvSpPr>
          <p:cNvPr id="861" name="Google Shape;861;p39"/>
          <p:cNvSpPr/>
          <p:nvPr/>
        </p:nvSpPr>
        <p:spPr>
          <a:xfrm>
            <a:off x="9738360" y="5074920"/>
            <a:ext cx="1920240" cy="786384"/>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9"/>
          <p:cNvSpPr/>
          <p:nvPr/>
        </p:nvSpPr>
        <p:spPr>
          <a:xfrm>
            <a:off x="9738360" y="514807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932E"/>
              </a:buClr>
              <a:buSzPts val="1800"/>
              <a:buFont typeface="Georgia"/>
              <a:buNone/>
            </a:pPr>
            <a:r>
              <a:rPr b="1" i="0" lang="en-US" sz="1800" u="none" cap="none" strike="noStrike">
                <a:solidFill>
                  <a:srgbClr val="B8932E"/>
                </a:solidFill>
                <a:latin typeface="Georgia"/>
                <a:ea typeface="Georgia"/>
                <a:cs typeface="Georgia"/>
                <a:sym typeface="Georgia"/>
              </a:rPr>
              <a:t>0.53 MB</a:t>
            </a:r>
            <a:endParaRPr b="0" i="0" sz="1800" u="none" cap="none" strike="noStrike">
              <a:solidFill>
                <a:schemeClr val="dk1"/>
              </a:solidFill>
              <a:latin typeface="Calibri"/>
              <a:ea typeface="Calibri"/>
              <a:cs typeface="Calibri"/>
              <a:sym typeface="Calibri"/>
            </a:endParaRPr>
          </a:p>
        </p:txBody>
      </p:sp>
      <p:sp>
        <p:nvSpPr>
          <p:cNvPr id="863" name="Google Shape;863;p39"/>
          <p:cNvSpPr/>
          <p:nvPr/>
        </p:nvSpPr>
        <p:spPr>
          <a:xfrm>
            <a:off x="9738360" y="5522976"/>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0" i="0" lang="en-US" sz="1200" u="none" cap="none" strike="noStrike">
                <a:solidFill>
                  <a:srgbClr val="8A8A8A"/>
                </a:solidFill>
                <a:latin typeface="Calibri"/>
                <a:ea typeface="Calibri"/>
                <a:cs typeface="Calibri"/>
                <a:sym typeface="Calibri"/>
              </a:rPr>
              <a:t>INT8</a:t>
            </a:r>
            <a:endParaRPr b="0" i="0" sz="1200" u="none" cap="none" strike="noStrike">
              <a:solidFill>
                <a:schemeClr val="dk1"/>
              </a:solidFill>
              <a:latin typeface="Calibri"/>
              <a:ea typeface="Calibri"/>
              <a:cs typeface="Calibri"/>
              <a:sym typeface="Calibri"/>
            </a:endParaRPr>
          </a:p>
        </p:txBody>
      </p:sp>
      <p:sp>
        <p:nvSpPr>
          <p:cNvPr id="864" name="Google Shape;864;p39"/>
          <p:cNvSpPr/>
          <p:nvPr/>
        </p:nvSpPr>
        <p:spPr>
          <a:xfrm>
            <a:off x="640080" y="5961888"/>
            <a:ext cx="11018520" cy="512064"/>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9"/>
          <p:cNvSpPr/>
          <p:nvPr/>
        </p:nvSpPr>
        <p:spPr>
          <a:xfrm>
            <a:off x="914400" y="5961888"/>
            <a:ext cx="104698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Read the code, not the comment.  </a:t>
            </a:r>
            <a:r>
              <a:rPr b="0" i="0" lang="en-US" sz="1600" u="none" cap="none" strike="noStrike">
                <a:solidFill>
                  <a:srgbClr val="4A4A4A"/>
                </a:solidFill>
                <a:latin typeface="Calibri"/>
                <a:ea typeface="Calibri"/>
                <a:cs typeface="Calibri"/>
                <a:sym typeface="Calibri"/>
              </a:rPr>
              <a:t>The docstring claims ~3.4 M parameters; the layer stack totals 559 619. Counting them is the exercise.</a:t>
            </a:r>
            <a:endParaRPr b="0" i="0" sz="1600" u="none" cap="none" strike="noStrike">
              <a:solidFill>
                <a:schemeClr val="dk1"/>
              </a:solidFill>
              <a:latin typeface="Calibri"/>
              <a:ea typeface="Calibri"/>
              <a:cs typeface="Calibri"/>
              <a:sym typeface="Calibri"/>
            </a:endParaRPr>
          </a:p>
        </p:txBody>
      </p:sp>
      <p:sp>
        <p:nvSpPr>
          <p:cNvPr id="866" name="Google Shape;866;p39"/>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1" name="Shape 871"/>
        <p:cNvGrpSpPr/>
        <p:nvPr/>
      </p:nvGrpSpPr>
      <p:grpSpPr>
        <a:xfrm>
          <a:off x="0" y="0"/>
          <a:ext cx="0" cy="0"/>
          <a:chOff x="0" y="0"/>
          <a:chExt cx="0" cy="0"/>
        </a:xfrm>
      </p:grpSpPr>
      <p:sp>
        <p:nvSpPr>
          <p:cNvPr id="872" name="Google Shape;872;p40"/>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873" name="Google Shape;873;p40"/>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874" name="Google Shape;874;p40"/>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2.4 · FUSION</a:t>
            </a:r>
            <a:endParaRPr b="0" i="0" sz="1000" u="none" cap="none" strike="noStrike">
              <a:solidFill>
                <a:schemeClr val="dk1"/>
              </a:solidFill>
              <a:latin typeface="Calibri"/>
              <a:ea typeface="Calibri"/>
              <a:cs typeface="Calibri"/>
              <a:sym typeface="Calibri"/>
            </a:endParaRPr>
          </a:p>
        </p:txBody>
      </p:sp>
      <p:sp>
        <p:nvSpPr>
          <p:cNvPr id="875" name="Google Shape;875;p40"/>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What the attention gate actually does</a:t>
            </a:r>
            <a:endParaRPr b="0" i="0" sz="3000" u="none" cap="none" strike="noStrike">
              <a:solidFill>
                <a:schemeClr val="dk1"/>
              </a:solidFill>
              <a:latin typeface="Calibri"/>
              <a:ea typeface="Calibri"/>
              <a:cs typeface="Calibri"/>
              <a:sym typeface="Calibri"/>
            </a:endParaRPr>
          </a:p>
        </p:txBody>
      </p:sp>
      <p:sp>
        <p:nvSpPr>
          <p:cNvPr id="876" name="Google Shape;876;p40"/>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0"/>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878" name="Google Shape;878;p40"/>
          <p:cNvSpPr/>
          <p:nvPr/>
        </p:nvSpPr>
        <p:spPr>
          <a:xfrm>
            <a:off x="640080" y="1819656"/>
            <a:ext cx="548640" cy="548640"/>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0"/>
          <p:cNvSpPr/>
          <p:nvPr/>
        </p:nvSpPr>
        <p:spPr>
          <a:xfrm>
            <a:off x="640080" y="1819656"/>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880" name="Google Shape;880;p40"/>
          <p:cNvSpPr/>
          <p:nvPr/>
        </p:nvSpPr>
        <p:spPr>
          <a:xfrm>
            <a:off x="1417320" y="17830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Concatenate</a:t>
            </a:r>
            <a:endParaRPr b="0" i="0" sz="1800" u="none" cap="none" strike="noStrike">
              <a:solidFill>
                <a:schemeClr val="dk1"/>
              </a:solidFill>
              <a:latin typeface="Calibri"/>
              <a:ea typeface="Calibri"/>
              <a:cs typeface="Calibri"/>
              <a:sym typeface="Calibri"/>
            </a:endParaRPr>
          </a:p>
        </p:txBody>
      </p:sp>
      <p:sp>
        <p:nvSpPr>
          <p:cNvPr id="881" name="Google Shape;881;p40"/>
          <p:cNvSpPr/>
          <p:nvPr/>
        </p:nvSpPr>
        <p:spPr>
          <a:xfrm>
            <a:off x="3703320" y="1764792"/>
            <a:ext cx="3383280" cy="402336"/>
          </a:xfrm>
          <a:prstGeom prst="rect">
            <a:avLst/>
          </a:prstGeom>
          <a:solidFill>
            <a:srgbClr val="F4F2EC"/>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0"/>
          <p:cNvSpPr/>
          <p:nvPr/>
        </p:nvSpPr>
        <p:spPr>
          <a:xfrm>
            <a:off x="3703320" y="1764792"/>
            <a:ext cx="338328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ourier New"/>
              <a:buNone/>
            </a:pPr>
            <a:r>
              <a:rPr b="0" i="0" lang="en-US" sz="1200" u="none" cap="none" strike="noStrike">
                <a:solidFill>
                  <a:srgbClr val="1A1A1A"/>
                </a:solidFill>
                <a:latin typeface="Courier New"/>
                <a:ea typeface="Courier New"/>
                <a:cs typeface="Courier New"/>
                <a:sym typeface="Courier New"/>
              </a:rPr>
              <a:t>h = [ h_veh ; h_net ]</a:t>
            </a:r>
            <a:endParaRPr b="0" i="0" sz="1200" u="none" cap="none" strike="noStrike">
              <a:solidFill>
                <a:schemeClr val="dk1"/>
              </a:solidFill>
              <a:latin typeface="Calibri"/>
              <a:ea typeface="Calibri"/>
              <a:cs typeface="Calibri"/>
              <a:sym typeface="Calibri"/>
            </a:endParaRPr>
          </a:p>
        </p:txBody>
      </p:sp>
      <p:sp>
        <p:nvSpPr>
          <p:cNvPr id="883" name="Google Shape;883;p40"/>
          <p:cNvSpPr/>
          <p:nvPr/>
        </p:nvSpPr>
        <p:spPr>
          <a:xfrm>
            <a:off x="7315200" y="1728216"/>
            <a:ext cx="4343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Two 16-d encodings become one 32-d vector: dims 0–15 physical, 16–31 network.</a:t>
            </a:r>
            <a:endParaRPr b="0" i="0" sz="1600" u="none" cap="none" strike="noStrike">
              <a:solidFill>
                <a:schemeClr val="dk1"/>
              </a:solidFill>
              <a:latin typeface="Calibri"/>
              <a:ea typeface="Calibri"/>
              <a:cs typeface="Calibri"/>
              <a:sym typeface="Calibri"/>
            </a:endParaRPr>
          </a:p>
        </p:txBody>
      </p:sp>
      <p:sp>
        <p:nvSpPr>
          <p:cNvPr id="884" name="Google Shape;884;p40"/>
          <p:cNvSpPr/>
          <p:nvPr/>
        </p:nvSpPr>
        <p:spPr>
          <a:xfrm>
            <a:off x="640080" y="2935224"/>
            <a:ext cx="548640" cy="548640"/>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0"/>
          <p:cNvSpPr/>
          <p:nvPr/>
        </p:nvSpPr>
        <p:spPr>
          <a:xfrm>
            <a:off x="640080" y="2935224"/>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886" name="Google Shape;886;p40"/>
          <p:cNvSpPr/>
          <p:nvPr/>
        </p:nvSpPr>
        <p:spPr>
          <a:xfrm>
            <a:off x="1417320" y="2898648"/>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Score</a:t>
            </a:r>
            <a:endParaRPr b="0" i="0" sz="1800" u="none" cap="none" strike="noStrike">
              <a:solidFill>
                <a:schemeClr val="dk1"/>
              </a:solidFill>
              <a:latin typeface="Calibri"/>
              <a:ea typeface="Calibri"/>
              <a:cs typeface="Calibri"/>
              <a:sym typeface="Calibri"/>
            </a:endParaRPr>
          </a:p>
        </p:txBody>
      </p:sp>
      <p:sp>
        <p:nvSpPr>
          <p:cNvPr id="887" name="Google Shape;887;p40"/>
          <p:cNvSpPr/>
          <p:nvPr/>
        </p:nvSpPr>
        <p:spPr>
          <a:xfrm>
            <a:off x="3703320" y="2880360"/>
            <a:ext cx="3383280" cy="402336"/>
          </a:xfrm>
          <a:prstGeom prst="rect">
            <a:avLst/>
          </a:prstGeom>
          <a:solidFill>
            <a:srgbClr val="F4F2EC"/>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0"/>
          <p:cNvSpPr/>
          <p:nvPr/>
        </p:nvSpPr>
        <p:spPr>
          <a:xfrm>
            <a:off x="3703320" y="2880360"/>
            <a:ext cx="338328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ourier New"/>
              <a:buNone/>
            </a:pPr>
            <a:r>
              <a:rPr b="0" i="0" lang="en-US" sz="1200" u="none" cap="none" strike="noStrike">
                <a:solidFill>
                  <a:srgbClr val="1A1A1A"/>
                </a:solidFill>
                <a:latin typeface="Courier New"/>
                <a:ea typeface="Courier New"/>
                <a:cs typeface="Courier New"/>
                <a:sym typeface="Courier New"/>
              </a:rPr>
              <a:t>a = softmax(W₂·tanh(W₁h))</a:t>
            </a:r>
            <a:endParaRPr b="0" i="0" sz="1200" u="none" cap="none" strike="noStrike">
              <a:solidFill>
                <a:schemeClr val="dk1"/>
              </a:solidFill>
              <a:latin typeface="Calibri"/>
              <a:ea typeface="Calibri"/>
              <a:cs typeface="Calibri"/>
              <a:sym typeface="Calibri"/>
            </a:endParaRPr>
          </a:p>
        </p:txBody>
      </p:sp>
      <p:sp>
        <p:nvSpPr>
          <p:cNvPr id="889" name="Google Shape;889;p40"/>
          <p:cNvSpPr/>
          <p:nvPr/>
        </p:nvSpPr>
        <p:spPr>
          <a:xfrm>
            <a:off x="7315200" y="2843784"/>
            <a:ext cx="4343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A two-layer MLP scores every dimension. Softmax makes the 32 scores sum to 1.</a:t>
            </a:r>
            <a:endParaRPr b="0" i="0" sz="1600" u="none" cap="none" strike="noStrike">
              <a:solidFill>
                <a:schemeClr val="dk1"/>
              </a:solidFill>
              <a:latin typeface="Calibri"/>
              <a:ea typeface="Calibri"/>
              <a:cs typeface="Calibri"/>
              <a:sym typeface="Calibri"/>
            </a:endParaRPr>
          </a:p>
        </p:txBody>
      </p:sp>
      <p:sp>
        <p:nvSpPr>
          <p:cNvPr id="890" name="Google Shape;890;p40"/>
          <p:cNvSpPr/>
          <p:nvPr/>
        </p:nvSpPr>
        <p:spPr>
          <a:xfrm>
            <a:off x="640080" y="4050792"/>
            <a:ext cx="548640" cy="548640"/>
          </a:xfrm>
          <a:prstGeom prst="ellipse">
            <a:avLst/>
          </a:prstGeom>
          <a:solidFill>
            <a:srgbClr val="B8932E"/>
          </a:solidFill>
          <a:ln cap="flat" cmpd="sng" w="15875">
            <a:solidFill>
              <a:srgbClr val="B89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0"/>
          <p:cNvSpPr/>
          <p:nvPr/>
        </p:nvSpPr>
        <p:spPr>
          <a:xfrm>
            <a:off x="640080" y="4050792"/>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892" name="Google Shape;892;p40"/>
          <p:cNvSpPr/>
          <p:nvPr/>
        </p:nvSpPr>
        <p:spPr>
          <a:xfrm>
            <a:off x="1417320" y="4014216"/>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Georgia"/>
              <a:buNone/>
            </a:pPr>
            <a:r>
              <a:rPr b="1" i="0" lang="en-US" sz="1800" u="none" cap="none" strike="noStrike">
                <a:solidFill>
                  <a:srgbClr val="1A1A1A"/>
                </a:solidFill>
                <a:latin typeface="Georgia"/>
                <a:ea typeface="Georgia"/>
                <a:cs typeface="Georgia"/>
                <a:sym typeface="Georgia"/>
              </a:rPr>
              <a:t>Gate</a:t>
            </a:r>
            <a:endParaRPr b="0" i="0" sz="1800" u="none" cap="none" strike="noStrike">
              <a:solidFill>
                <a:schemeClr val="dk1"/>
              </a:solidFill>
              <a:latin typeface="Calibri"/>
              <a:ea typeface="Calibri"/>
              <a:cs typeface="Calibri"/>
              <a:sym typeface="Calibri"/>
            </a:endParaRPr>
          </a:p>
        </p:txBody>
      </p:sp>
      <p:sp>
        <p:nvSpPr>
          <p:cNvPr id="893" name="Google Shape;893;p40"/>
          <p:cNvSpPr/>
          <p:nvPr/>
        </p:nvSpPr>
        <p:spPr>
          <a:xfrm>
            <a:off x="3703320" y="3995928"/>
            <a:ext cx="3383280" cy="402336"/>
          </a:xfrm>
          <a:prstGeom prst="rect">
            <a:avLst/>
          </a:prstGeom>
          <a:solidFill>
            <a:srgbClr val="F4F2EC"/>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0"/>
          <p:cNvSpPr/>
          <p:nvPr/>
        </p:nvSpPr>
        <p:spPr>
          <a:xfrm>
            <a:off x="3703320" y="3995928"/>
            <a:ext cx="338328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ourier New"/>
              <a:buNone/>
            </a:pPr>
            <a:r>
              <a:rPr b="0" i="0" lang="en-US" sz="1200" u="none" cap="none" strike="noStrike">
                <a:solidFill>
                  <a:srgbClr val="1A1A1A"/>
                </a:solidFill>
                <a:latin typeface="Courier New"/>
                <a:ea typeface="Courier New"/>
                <a:cs typeface="Courier New"/>
                <a:sym typeface="Courier New"/>
              </a:rPr>
              <a:t>h̃ = h ⊙ a</a:t>
            </a:r>
            <a:endParaRPr b="0" i="0" sz="1200" u="none" cap="none" strike="noStrike">
              <a:solidFill>
                <a:schemeClr val="dk1"/>
              </a:solidFill>
              <a:latin typeface="Calibri"/>
              <a:ea typeface="Calibri"/>
              <a:cs typeface="Calibri"/>
              <a:sym typeface="Calibri"/>
            </a:endParaRPr>
          </a:p>
        </p:txBody>
      </p:sp>
      <p:sp>
        <p:nvSpPr>
          <p:cNvPr id="895" name="Google Shape;895;p40"/>
          <p:cNvSpPr/>
          <p:nvPr/>
        </p:nvSpPr>
        <p:spPr>
          <a:xfrm>
            <a:off x="7315200" y="3959352"/>
            <a:ext cx="4343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Dimensions the gate scores low are suppressed before the classifier sees them.</a:t>
            </a:r>
            <a:endParaRPr b="0" i="0" sz="1600" u="none" cap="none" strike="noStrike">
              <a:solidFill>
                <a:schemeClr val="dk1"/>
              </a:solidFill>
              <a:latin typeface="Calibri"/>
              <a:ea typeface="Calibri"/>
              <a:cs typeface="Calibri"/>
              <a:sym typeface="Calibri"/>
            </a:endParaRPr>
          </a:p>
        </p:txBody>
      </p:sp>
      <p:sp>
        <p:nvSpPr>
          <p:cNvPr id="896" name="Google Shape;896;p40"/>
          <p:cNvSpPr/>
          <p:nvPr/>
        </p:nvSpPr>
        <p:spPr>
          <a:xfrm>
            <a:off x="640080" y="5074920"/>
            <a:ext cx="5394960" cy="1298448"/>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40"/>
          <p:cNvSpPr/>
          <p:nvPr/>
        </p:nvSpPr>
        <p:spPr>
          <a:xfrm>
            <a:off x="914400" y="5212080"/>
            <a:ext cx="4846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Worth the 4 192 parameters</a:t>
            </a:r>
            <a:endParaRPr b="0" i="0" sz="1600" u="none" cap="none" strike="noStrike">
              <a:solidFill>
                <a:schemeClr val="dk1"/>
              </a:solidFill>
              <a:latin typeface="Calibri"/>
              <a:ea typeface="Calibri"/>
              <a:cs typeface="Calibri"/>
              <a:sym typeface="Calibri"/>
            </a:endParaRPr>
          </a:p>
        </p:txBody>
      </p:sp>
      <p:sp>
        <p:nvSpPr>
          <p:cNvPr id="898" name="Google Shape;898;p40"/>
          <p:cNvSpPr/>
          <p:nvPr/>
        </p:nvSpPr>
        <p:spPr>
          <a:xfrm>
            <a:off x="914400" y="5541264"/>
            <a:ext cx="4892040" cy="74980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The model learns which modality to trust per class, instead of having it hard-coded.</a:t>
            </a:r>
            <a:endParaRPr b="0" i="0" sz="1600" u="none" cap="none" strike="noStrike">
              <a:solidFill>
                <a:schemeClr val="dk1"/>
              </a:solidFill>
              <a:latin typeface="Calibri"/>
              <a:ea typeface="Calibri"/>
              <a:cs typeface="Calibri"/>
              <a:sym typeface="Calibri"/>
            </a:endParaRPr>
          </a:p>
        </p:txBody>
      </p:sp>
      <p:sp>
        <p:nvSpPr>
          <p:cNvPr id="899" name="Google Shape;899;p40"/>
          <p:cNvSpPr/>
          <p:nvPr/>
        </p:nvSpPr>
        <p:spPr>
          <a:xfrm>
            <a:off x="6263640" y="5074920"/>
            <a:ext cx="5394960" cy="1298448"/>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0"/>
          <p:cNvSpPr/>
          <p:nvPr/>
        </p:nvSpPr>
        <p:spPr>
          <a:xfrm>
            <a:off x="6537960" y="5212080"/>
            <a:ext cx="4846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Caveat to raise</a:t>
            </a:r>
            <a:endParaRPr b="0" i="0" sz="1600" u="none" cap="none" strike="noStrike">
              <a:solidFill>
                <a:schemeClr val="dk1"/>
              </a:solidFill>
              <a:latin typeface="Calibri"/>
              <a:ea typeface="Calibri"/>
              <a:cs typeface="Calibri"/>
              <a:sym typeface="Calibri"/>
            </a:endParaRPr>
          </a:p>
        </p:txBody>
      </p:sp>
      <p:sp>
        <p:nvSpPr>
          <p:cNvPr id="901" name="Google Shape;901;p40"/>
          <p:cNvSpPr/>
          <p:nvPr/>
        </p:nvSpPr>
        <p:spPr>
          <a:xfrm>
            <a:off x="6537960" y="5541264"/>
            <a:ext cx="4892040" cy="74980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Softmax forces the 32 dims to compete — a sigmoid gate would let both modalities be loud at once.</a:t>
            </a:r>
            <a:endParaRPr b="0" i="0" sz="1600" u="none" cap="none" strike="noStrike">
              <a:solidFill>
                <a:schemeClr val="dk1"/>
              </a:solidFill>
              <a:latin typeface="Calibri"/>
              <a:ea typeface="Calibri"/>
              <a:cs typeface="Calibri"/>
              <a:sym typeface="Calibri"/>
            </a:endParaRPr>
          </a:p>
        </p:txBody>
      </p:sp>
      <p:sp>
        <p:nvSpPr>
          <p:cNvPr id="902" name="Google Shape;902;p40"/>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41"/>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909" name="Google Shape;909;p41"/>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910" name="Google Shape;910;p41"/>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2.4 · FUSION</a:t>
            </a:r>
            <a:endParaRPr b="0" i="0" sz="1000" u="none" cap="none" strike="noStrike">
              <a:solidFill>
                <a:schemeClr val="dk1"/>
              </a:solidFill>
              <a:latin typeface="Calibri"/>
              <a:ea typeface="Calibri"/>
              <a:cs typeface="Calibri"/>
              <a:sym typeface="Calibri"/>
            </a:endParaRPr>
          </a:p>
        </p:txBody>
      </p:sp>
      <p:sp>
        <p:nvSpPr>
          <p:cNvPr id="911" name="Google Shape;911;p41"/>
          <p:cNvSpPr/>
          <p:nvPr/>
        </p:nvSpPr>
        <p:spPr>
          <a:xfrm>
            <a:off x="548640" y="566928"/>
            <a:ext cx="104241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Why focal loss</a:t>
            </a:r>
            <a:endParaRPr b="0" i="0" sz="3000" u="none" cap="none" strike="noStrike">
              <a:solidFill>
                <a:schemeClr val="dk1"/>
              </a:solidFill>
              <a:latin typeface="Calibri"/>
              <a:ea typeface="Calibri"/>
              <a:cs typeface="Calibri"/>
              <a:sym typeface="Calibri"/>
            </a:endParaRPr>
          </a:p>
        </p:txBody>
      </p:sp>
      <p:sp>
        <p:nvSpPr>
          <p:cNvPr id="912" name="Google Shape;912;p41"/>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1"/>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914" name="Google Shape;914;p41"/>
          <p:cNvSpPr/>
          <p:nvPr/>
        </p:nvSpPr>
        <p:spPr>
          <a:xfrm>
            <a:off x="6174275" y="1814275"/>
            <a:ext cx="5394900" cy="279060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γ = 0 is plain cross-entropy — the top curve</a:t>
            </a:r>
            <a:endParaRPr sz="16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Higher γ flattens the right tail: easy examples stop contributing gradient</a:t>
            </a:r>
            <a:endParaRPr sz="16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γ = 2.0 (our setting): p_t = 0.9 keeps 1 % of its loss, p_t = 0.1 keeps 81 %</a:t>
            </a:r>
            <a:endParaRPr sz="16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US" sz="1600">
                <a:latin typeface="Calibri"/>
                <a:ea typeface="Calibri"/>
                <a:cs typeface="Calibri"/>
                <a:sym typeface="Calibri"/>
              </a:rPr>
              <a:t>Hard examples get ~80× the relative weight</a:t>
            </a:r>
            <a:endParaRPr sz="1600">
              <a:latin typeface="Calibri"/>
              <a:ea typeface="Calibri"/>
              <a:cs typeface="Calibri"/>
              <a:sym typeface="Calibri"/>
            </a:endParaRPr>
          </a:p>
        </p:txBody>
      </p:sp>
      <p:sp>
        <p:nvSpPr>
          <p:cNvPr id="915" name="Google Shape;915;p41"/>
          <p:cNvSpPr/>
          <p:nvPr/>
        </p:nvSpPr>
        <p:spPr>
          <a:xfrm>
            <a:off x="6448635" y="1668930"/>
            <a:ext cx="48462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t/>
            </a:r>
            <a:endParaRPr b="0" i="0" sz="1600" u="none" cap="none" strike="noStrike">
              <a:solidFill>
                <a:schemeClr val="dk1"/>
              </a:solidFill>
              <a:latin typeface="Calibri"/>
              <a:ea typeface="Calibri"/>
              <a:cs typeface="Calibri"/>
              <a:sym typeface="Calibri"/>
            </a:endParaRPr>
          </a:p>
        </p:txBody>
      </p:sp>
      <p:pic>
        <p:nvPicPr>
          <p:cNvPr id="916" name="Google Shape;916;p41"/>
          <p:cNvPicPr preferRelativeResize="0"/>
          <p:nvPr/>
        </p:nvPicPr>
        <p:blipFill>
          <a:blip r:embed="rId4">
            <a:alphaModFix/>
          </a:blip>
          <a:stretch>
            <a:fillRect/>
          </a:stretch>
        </p:blipFill>
        <p:spPr>
          <a:xfrm>
            <a:off x="1249740" y="1496628"/>
            <a:ext cx="3814544" cy="3425892"/>
          </a:xfrm>
          <a:prstGeom prst="rect">
            <a:avLst/>
          </a:prstGeom>
          <a:noFill/>
          <a:ln>
            <a:noFill/>
          </a:ln>
        </p:spPr>
      </p:pic>
      <p:sp>
        <p:nvSpPr>
          <p:cNvPr id="917" name="Google Shape;917;p41"/>
          <p:cNvSpPr txBox="1"/>
          <p:nvPr/>
        </p:nvSpPr>
        <p:spPr>
          <a:xfrm>
            <a:off x="1097350" y="5637225"/>
            <a:ext cx="3910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200">
                <a:solidFill>
                  <a:srgbClr val="8A8A8A"/>
                </a:solidFill>
                <a:latin typeface="Calibri"/>
                <a:ea typeface="Calibri"/>
                <a:cs typeface="Calibri"/>
                <a:sym typeface="Calibri"/>
              </a:rPr>
              <a:t>Lin et al., "Focal Loss for Dense Object Detection," ICCV 2017. arXiv:1708.02002 </a:t>
            </a:r>
            <a:endParaRPr i="1" sz="1200">
              <a:solidFill>
                <a:srgbClr val="8A8A8A"/>
              </a:solidFill>
              <a:latin typeface="Calibri"/>
              <a:ea typeface="Calibri"/>
              <a:cs typeface="Calibri"/>
              <a:sym typeface="Calibri"/>
            </a:endParaRPr>
          </a:p>
        </p:txBody>
      </p:sp>
      <p:sp>
        <p:nvSpPr>
          <p:cNvPr id="918" name="Google Shape;918;p41"/>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3" name="Shape 923"/>
        <p:cNvGrpSpPr/>
        <p:nvPr/>
      </p:nvGrpSpPr>
      <p:grpSpPr>
        <a:xfrm>
          <a:off x="0" y="0"/>
          <a:ext cx="0" cy="0"/>
          <a:chOff x="0" y="0"/>
          <a:chExt cx="0" cy="0"/>
        </a:xfrm>
      </p:grpSpPr>
      <p:sp>
        <p:nvSpPr>
          <p:cNvPr id="924" name="Google Shape;924;p42"/>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925" name="Google Shape;925;p42"/>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926" name="Google Shape;926;p42"/>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2.5 · OBJECTIVE</a:t>
            </a:r>
            <a:endParaRPr b="0" i="0" sz="1000" u="none" cap="none" strike="noStrike">
              <a:solidFill>
                <a:schemeClr val="dk1"/>
              </a:solidFill>
              <a:latin typeface="Calibri"/>
              <a:ea typeface="Calibri"/>
              <a:cs typeface="Calibri"/>
              <a:sym typeface="Calibri"/>
            </a:endParaRPr>
          </a:p>
        </p:txBody>
      </p:sp>
      <p:sp>
        <p:nvSpPr>
          <p:cNvPr id="927" name="Google Shape;927;p42"/>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Training under an imbalanced objective</a:t>
            </a:r>
            <a:endParaRPr b="0" i="0" sz="3000" u="none" cap="none" strike="noStrike">
              <a:solidFill>
                <a:schemeClr val="dk1"/>
              </a:solidFill>
              <a:latin typeface="Calibri"/>
              <a:ea typeface="Calibri"/>
              <a:cs typeface="Calibri"/>
              <a:sym typeface="Calibri"/>
            </a:endParaRPr>
          </a:p>
        </p:txBody>
      </p:sp>
      <p:sp>
        <p:nvSpPr>
          <p:cNvPr id="928" name="Google Shape;928;p42"/>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2"/>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930" name="Google Shape;930;p42"/>
          <p:cNvSpPr/>
          <p:nvPr/>
        </p:nvSpPr>
        <p:spPr>
          <a:xfrm>
            <a:off x="640080" y="1783080"/>
            <a:ext cx="11018520" cy="86868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2"/>
          <p:cNvSpPr/>
          <p:nvPr/>
        </p:nvSpPr>
        <p:spPr>
          <a:xfrm>
            <a:off x="640080" y="1783080"/>
            <a:ext cx="110185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BC97F"/>
              </a:buClr>
              <a:buSzPts val="2200"/>
              <a:buFont typeface="Courier New"/>
              <a:buNone/>
            </a:pPr>
            <a:r>
              <a:rPr b="1" i="0" lang="en-US" sz="2200" u="none" cap="none" strike="noStrike">
                <a:solidFill>
                  <a:srgbClr val="EBC97F"/>
                </a:solidFill>
                <a:latin typeface="Courier New"/>
                <a:ea typeface="Courier New"/>
                <a:cs typeface="Courier New"/>
                <a:sym typeface="Courier New"/>
              </a:rPr>
              <a:t>FL(p_t)  =  −  α_t  ·  (1 − p_t)^γ  ·  log(p_t)</a:t>
            </a:r>
            <a:endParaRPr b="0" i="0" sz="2200" u="none" cap="none" strike="noStrike">
              <a:solidFill>
                <a:schemeClr val="dk1"/>
              </a:solidFill>
              <a:latin typeface="Calibri"/>
              <a:ea typeface="Calibri"/>
              <a:cs typeface="Calibri"/>
              <a:sym typeface="Calibri"/>
            </a:endParaRPr>
          </a:p>
        </p:txBody>
      </p:sp>
      <p:sp>
        <p:nvSpPr>
          <p:cNvPr id="932" name="Google Shape;932;p42"/>
          <p:cNvSpPr/>
          <p:nvPr/>
        </p:nvSpPr>
        <p:spPr>
          <a:xfrm>
            <a:off x="640080" y="2880360"/>
            <a:ext cx="3520440" cy="24688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2"/>
          <p:cNvSpPr/>
          <p:nvPr/>
        </p:nvSpPr>
        <p:spPr>
          <a:xfrm>
            <a:off x="896112" y="3035808"/>
            <a:ext cx="3017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700"/>
              <a:buFont typeface="Courier New"/>
              <a:buNone/>
            </a:pPr>
            <a:r>
              <a:rPr b="1" i="0" lang="en-US" sz="1700" u="none" cap="none" strike="noStrike">
                <a:solidFill>
                  <a:srgbClr val="B8932E"/>
                </a:solidFill>
                <a:latin typeface="Courier New"/>
                <a:ea typeface="Courier New"/>
                <a:cs typeface="Courier New"/>
                <a:sym typeface="Courier New"/>
              </a:rPr>
              <a:t>α_t</a:t>
            </a:r>
            <a:endParaRPr b="0" i="0" sz="1700" u="none" cap="none" strike="noStrike">
              <a:solidFill>
                <a:schemeClr val="dk1"/>
              </a:solidFill>
              <a:latin typeface="Calibri"/>
              <a:ea typeface="Calibri"/>
              <a:cs typeface="Calibri"/>
              <a:sym typeface="Calibri"/>
            </a:endParaRPr>
          </a:p>
        </p:txBody>
      </p:sp>
      <p:sp>
        <p:nvSpPr>
          <p:cNvPr id="934" name="Google Shape;934;p42"/>
          <p:cNvSpPr/>
          <p:nvPr/>
        </p:nvSpPr>
        <p:spPr>
          <a:xfrm>
            <a:off x="896112" y="3456432"/>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Class weight</a:t>
            </a:r>
            <a:endParaRPr b="0" i="0" sz="1600" u="none" cap="none" strike="noStrike">
              <a:solidFill>
                <a:schemeClr val="dk1"/>
              </a:solidFill>
              <a:latin typeface="Calibri"/>
              <a:ea typeface="Calibri"/>
              <a:cs typeface="Calibri"/>
              <a:sym typeface="Calibri"/>
            </a:endParaRPr>
          </a:p>
        </p:txBody>
      </p:sp>
      <p:sp>
        <p:nvSpPr>
          <p:cNvPr id="935" name="Google Shape;935;p42"/>
          <p:cNvSpPr/>
          <p:nvPr/>
        </p:nvSpPr>
        <p:spPr>
          <a:xfrm>
            <a:off x="896112" y="3767328"/>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200"/>
              <a:buFont typeface="Courier New"/>
              <a:buNone/>
            </a:pPr>
            <a:r>
              <a:rPr b="0" i="0" lang="en-US" sz="1200" u="none" cap="none" strike="noStrike">
                <a:solidFill>
                  <a:srgbClr val="4A4A4A"/>
                </a:solidFill>
                <a:latin typeface="Courier New"/>
                <a:ea typeface="Courier New"/>
                <a:cs typeface="Courier New"/>
                <a:sym typeface="Courier New"/>
              </a:rPr>
              <a:t>[ 0.6, 1.4, 1.0 ]</a:t>
            </a:r>
            <a:endParaRPr b="0" i="0" sz="1200" u="none" cap="none" strike="noStrike">
              <a:solidFill>
                <a:schemeClr val="dk1"/>
              </a:solidFill>
              <a:latin typeface="Calibri"/>
              <a:ea typeface="Calibri"/>
              <a:cs typeface="Calibri"/>
              <a:sym typeface="Calibri"/>
            </a:endParaRPr>
          </a:p>
        </p:txBody>
      </p:sp>
      <p:cxnSp>
        <p:nvCxnSpPr>
          <p:cNvPr id="936" name="Google Shape;936;p42"/>
          <p:cNvCxnSpPr/>
          <p:nvPr/>
        </p:nvCxnSpPr>
        <p:spPr>
          <a:xfrm>
            <a:off x="896112" y="4133088"/>
            <a:ext cx="3017520" cy="0"/>
          </a:xfrm>
          <a:prstGeom prst="straightConnector1">
            <a:avLst/>
          </a:prstGeom>
          <a:noFill/>
          <a:ln cap="flat" cmpd="sng" w="9525">
            <a:solidFill>
              <a:srgbClr val="C8C5BC"/>
            </a:solidFill>
            <a:prstDash val="solid"/>
            <a:round/>
            <a:headEnd len="sm" w="sm" type="none"/>
            <a:tailEnd len="sm" w="sm" type="none"/>
          </a:ln>
        </p:spPr>
      </p:cxnSp>
      <p:sp>
        <p:nvSpPr>
          <p:cNvPr id="937" name="Google Shape;937;p42"/>
          <p:cNvSpPr/>
          <p:nvPr/>
        </p:nvSpPr>
        <p:spPr>
          <a:xfrm>
            <a:off x="896112" y="4224528"/>
            <a:ext cx="3017520" cy="10241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Physical anomalies up-weighted 1.4× — hardest class, most safety-relevant.</a:t>
            </a:r>
            <a:endParaRPr b="0" i="0" sz="1600" u="none" cap="none" strike="noStrike">
              <a:solidFill>
                <a:schemeClr val="dk1"/>
              </a:solidFill>
              <a:latin typeface="Calibri"/>
              <a:ea typeface="Calibri"/>
              <a:cs typeface="Calibri"/>
              <a:sym typeface="Calibri"/>
            </a:endParaRPr>
          </a:p>
        </p:txBody>
      </p:sp>
      <p:sp>
        <p:nvSpPr>
          <p:cNvPr id="938" name="Google Shape;938;p42"/>
          <p:cNvSpPr/>
          <p:nvPr/>
        </p:nvSpPr>
        <p:spPr>
          <a:xfrm>
            <a:off x="4389120" y="2880360"/>
            <a:ext cx="3520440" cy="24688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2"/>
          <p:cNvSpPr/>
          <p:nvPr/>
        </p:nvSpPr>
        <p:spPr>
          <a:xfrm>
            <a:off x="4645152" y="3035808"/>
            <a:ext cx="3017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700"/>
              <a:buFont typeface="Courier New"/>
              <a:buNone/>
            </a:pPr>
            <a:r>
              <a:rPr b="1" i="0" lang="en-US" sz="1700" u="none" cap="none" strike="noStrike">
                <a:solidFill>
                  <a:srgbClr val="B8932E"/>
                </a:solidFill>
                <a:latin typeface="Courier New"/>
                <a:ea typeface="Courier New"/>
                <a:cs typeface="Courier New"/>
                <a:sym typeface="Courier New"/>
              </a:rPr>
              <a:t>(1 − p_t)^γ</a:t>
            </a:r>
            <a:endParaRPr b="0" i="0" sz="1700" u="none" cap="none" strike="noStrike">
              <a:solidFill>
                <a:schemeClr val="dk1"/>
              </a:solidFill>
              <a:latin typeface="Calibri"/>
              <a:ea typeface="Calibri"/>
              <a:cs typeface="Calibri"/>
              <a:sym typeface="Calibri"/>
            </a:endParaRPr>
          </a:p>
        </p:txBody>
      </p:sp>
      <p:sp>
        <p:nvSpPr>
          <p:cNvPr id="940" name="Google Shape;940;p42"/>
          <p:cNvSpPr/>
          <p:nvPr/>
        </p:nvSpPr>
        <p:spPr>
          <a:xfrm>
            <a:off x="4645152" y="3456432"/>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Focusing term</a:t>
            </a:r>
            <a:endParaRPr b="0" i="0" sz="1600" u="none" cap="none" strike="noStrike">
              <a:solidFill>
                <a:schemeClr val="dk1"/>
              </a:solidFill>
              <a:latin typeface="Calibri"/>
              <a:ea typeface="Calibri"/>
              <a:cs typeface="Calibri"/>
              <a:sym typeface="Calibri"/>
            </a:endParaRPr>
          </a:p>
        </p:txBody>
      </p:sp>
      <p:sp>
        <p:nvSpPr>
          <p:cNvPr id="941" name="Google Shape;941;p42"/>
          <p:cNvSpPr/>
          <p:nvPr/>
        </p:nvSpPr>
        <p:spPr>
          <a:xfrm>
            <a:off x="4645152" y="3767328"/>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200"/>
              <a:buFont typeface="Courier New"/>
              <a:buNone/>
            </a:pPr>
            <a:r>
              <a:rPr b="0" i="0" lang="en-US" sz="1200" u="none" cap="none" strike="noStrike">
                <a:solidFill>
                  <a:srgbClr val="4A4A4A"/>
                </a:solidFill>
                <a:latin typeface="Courier New"/>
                <a:ea typeface="Courier New"/>
                <a:cs typeface="Courier New"/>
                <a:sym typeface="Courier New"/>
              </a:rPr>
              <a:t>γ = 2.0</a:t>
            </a:r>
            <a:endParaRPr b="0" i="0" sz="1200" u="none" cap="none" strike="noStrike">
              <a:solidFill>
                <a:schemeClr val="dk1"/>
              </a:solidFill>
              <a:latin typeface="Calibri"/>
              <a:ea typeface="Calibri"/>
              <a:cs typeface="Calibri"/>
              <a:sym typeface="Calibri"/>
            </a:endParaRPr>
          </a:p>
        </p:txBody>
      </p:sp>
      <p:cxnSp>
        <p:nvCxnSpPr>
          <p:cNvPr id="942" name="Google Shape;942;p42"/>
          <p:cNvCxnSpPr/>
          <p:nvPr/>
        </p:nvCxnSpPr>
        <p:spPr>
          <a:xfrm>
            <a:off x="4645152" y="4133088"/>
            <a:ext cx="3017520" cy="0"/>
          </a:xfrm>
          <a:prstGeom prst="straightConnector1">
            <a:avLst/>
          </a:prstGeom>
          <a:noFill/>
          <a:ln cap="flat" cmpd="sng" w="9525">
            <a:solidFill>
              <a:srgbClr val="C8C5BC"/>
            </a:solidFill>
            <a:prstDash val="solid"/>
            <a:round/>
            <a:headEnd len="sm" w="sm" type="none"/>
            <a:tailEnd len="sm" w="sm" type="none"/>
          </a:ln>
        </p:spPr>
      </p:cxnSp>
      <p:sp>
        <p:nvSpPr>
          <p:cNvPr id="943" name="Google Shape;943;p42"/>
          <p:cNvSpPr/>
          <p:nvPr/>
        </p:nvSpPr>
        <p:spPr>
          <a:xfrm>
            <a:off x="4645152" y="4224528"/>
            <a:ext cx="3017520" cy="10241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An example already right at p = 0.9 gives 1 % of its usual gradient.</a:t>
            </a:r>
            <a:endParaRPr b="0" i="0" sz="1600" u="none" cap="none" strike="noStrike">
              <a:solidFill>
                <a:schemeClr val="dk1"/>
              </a:solidFill>
              <a:latin typeface="Calibri"/>
              <a:ea typeface="Calibri"/>
              <a:cs typeface="Calibri"/>
              <a:sym typeface="Calibri"/>
            </a:endParaRPr>
          </a:p>
        </p:txBody>
      </p:sp>
      <p:sp>
        <p:nvSpPr>
          <p:cNvPr id="944" name="Google Shape;944;p42"/>
          <p:cNvSpPr/>
          <p:nvPr/>
        </p:nvSpPr>
        <p:spPr>
          <a:xfrm>
            <a:off x="8138160" y="2880360"/>
            <a:ext cx="3520440" cy="2468880"/>
          </a:xfrm>
          <a:prstGeom prst="rect">
            <a:avLst/>
          </a:prstGeom>
          <a:solidFill>
            <a:srgbClr val="F8F7F3"/>
          </a:solidFill>
          <a:ln cap="flat" cmpd="sng" w="9525">
            <a:solidFill>
              <a:srgbClr val="C8C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2"/>
          <p:cNvSpPr/>
          <p:nvPr/>
        </p:nvSpPr>
        <p:spPr>
          <a:xfrm>
            <a:off x="8394192" y="3035808"/>
            <a:ext cx="3017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700"/>
              <a:buFont typeface="Courier New"/>
              <a:buNone/>
            </a:pPr>
            <a:r>
              <a:rPr b="1" i="0" lang="en-US" sz="1700" u="none" cap="none" strike="noStrike">
                <a:solidFill>
                  <a:srgbClr val="B8932E"/>
                </a:solidFill>
                <a:latin typeface="Courier New"/>
                <a:ea typeface="Courier New"/>
                <a:cs typeface="Courier New"/>
                <a:sym typeface="Courier New"/>
              </a:rPr>
              <a:t>log(p_t)</a:t>
            </a:r>
            <a:endParaRPr b="0" i="0" sz="1700" u="none" cap="none" strike="noStrike">
              <a:solidFill>
                <a:schemeClr val="dk1"/>
              </a:solidFill>
              <a:latin typeface="Calibri"/>
              <a:ea typeface="Calibri"/>
              <a:cs typeface="Calibri"/>
              <a:sym typeface="Calibri"/>
            </a:endParaRPr>
          </a:p>
        </p:txBody>
      </p:sp>
      <p:sp>
        <p:nvSpPr>
          <p:cNvPr id="946" name="Google Shape;946;p42"/>
          <p:cNvSpPr/>
          <p:nvPr/>
        </p:nvSpPr>
        <p:spPr>
          <a:xfrm>
            <a:off x="8394192" y="3456432"/>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Cross-entropy core</a:t>
            </a:r>
            <a:endParaRPr b="0" i="0" sz="1600" u="none" cap="none" strike="noStrike">
              <a:solidFill>
                <a:schemeClr val="dk1"/>
              </a:solidFill>
              <a:latin typeface="Calibri"/>
              <a:ea typeface="Calibri"/>
              <a:cs typeface="Calibri"/>
              <a:sym typeface="Calibri"/>
            </a:endParaRPr>
          </a:p>
        </p:txBody>
      </p:sp>
      <p:sp>
        <p:nvSpPr>
          <p:cNvPr id="947" name="Google Shape;947;p42"/>
          <p:cNvSpPr/>
          <p:nvPr/>
        </p:nvSpPr>
        <p:spPr>
          <a:xfrm>
            <a:off x="8394192" y="3767328"/>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4A"/>
              </a:buClr>
              <a:buSzPts val="1200"/>
              <a:buFont typeface="Courier New"/>
              <a:buNone/>
            </a:pPr>
            <a:r>
              <a:rPr b="0" i="0" lang="en-US" sz="1200" u="none" cap="none" strike="noStrike">
                <a:solidFill>
                  <a:srgbClr val="4A4A4A"/>
                </a:solidFill>
                <a:latin typeface="Courier New"/>
                <a:ea typeface="Courier New"/>
                <a:cs typeface="Courier New"/>
                <a:sym typeface="Courier New"/>
              </a:rPr>
              <a:t>50 / 50 mix</a:t>
            </a:r>
            <a:endParaRPr b="0" i="0" sz="1200" u="none" cap="none" strike="noStrike">
              <a:solidFill>
                <a:schemeClr val="dk1"/>
              </a:solidFill>
              <a:latin typeface="Calibri"/>
              <a:ea typeface="Calibri"/>
              <a:cs typeface="Calibri"/>
              <a:sym typeface="Calibri"/>
            </a:endParaRPr>
          </a:p>
        </p:txBody>
      </p:sp>
      <p:cxnSp>
        <p:nvCxnSpPr>
          <p:cNvPr id="948" name="Google Shape;948;p42"/>
          <p:cNvCxnSpPr/>
          <p:nvPr/>
        </p:nvCxnSpPr>
        <p:spPr>
          <a:xfrm>
            <a:off x="8394192" y="4133088"/>
            <a:ext cx="3017520" cy="0"/>
          </a:xfrm>
          <a:prstGeom prst="straightConnector1">
            <a:avLst/>
          </a:prstGeom>
          <a:noFill/>
          <a:ln cap="flat" cmpd="sng" w="9525">
            <a:solidFill>
              <a:srgbClr val="C8C5BC"/>
            </a:solidFill>
            <a:prstDash val="solid"/>
            <a:round/>
            <a:headEnd len="sm" w="sm" type="none"/>
            <a:tailEnd len="sm" w="sm" type="none"/>
          </a:ln>
        </p:spPr>
      </p:cxnSp>
      <p:sp>
        <p:nvSpPr>
          <p:cNvPr id="949" name="Google Shape;949;p42"/>
          <p:cNvSpPr/>
          <p:nvPr/>
        </p:nvSpPr>
        <p:spPr>
          <a:xfrm>
            <a:off x="8394192" y="4224528"/>
            <a:ext cx="3017520" cy="10241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Half focal, half weighted CE with label smoothing 0.05.</a:t>
            </a:r>
            <a:endParaRPr b="0" i="0" sz="1600" u="none" cap="none" strike="noStrike">
              <a:solidFill>
                <a:schemeClr val="dk1"/>
              </a:solidFill>
              <a:latin typeface="Calibri"/>
              <a:ea typeface="Calibri"/>
              <a:cs typeface="Calibri"/>
              <a:sym typeface="Calibri"/>
            </a:endParaRPr>
          </a:p>
        </p:txBody>
      </p:sp>
      <p:sp>
        <p:nvSpPr>
          <p:cNvPr id="950" name="Google Shape;950;p42"/>
          <p:cNvSpPr/>
          <p:nvPr/>
        </p:nvSpPr>
        <p:spPr>
          <a:xfrm>
            <a:off x="640080" y="5577840"/>
            <a:ext cx="11018520" cy="777240"/>
          </a:xfrm>
          <a:prstGeom prst="rect">
            <a:avLst/>
          </a:prstGeom>
          <a:solidFill>
            <a:srgbClr val="FBF6E9"/>
          </a:solidFill>
          <a:ln cap="flat" cmpd="sng" w="9525">
            <a:solidFill>
              <a:srgbClr val="D4B0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42"/>
          <p:cNvSpPr/>
          <p:nvPr/>
        </p:nvSpPr>
        <p:spPr>
          <a:xfrm>
            <a:off x="914400" y="5577840"/>
            <a:ext cx="1046988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B8932E"/>
              </a:buClr>
              <a:buSzPts val="1600"/>
              <a:buFont typeface="Calibri"/>
              <a:buNone/>
            </a:pPr>
            <a:r>
              <a:rPr b="1" i="0" lang="en-US" sz="1600" u="none" cap="none" strike="noStrike">
                <a:solidFill>
                  <a:srgbClr val="B8932E"/>
                </a:solidFill>
                <a:latin typeface="Calibri"/>
                <a:ea typeface="Calibri"/>
                <a:cs typeface="Calibri"/>
                <a:sym typeface="Calibri"/>
              </a:rPr>
              <a:t>Two knobs pointing the same way.  </a:t>
            </a:r>
            <a:r>
              <a:rPr b="0" i="0" lang="en-US" sz="1600" u="none" cap="none" strike="noStrike">
                <a:solidFill>
                  <a:srgbClr val="4A4A4A"/>
                </a:solidFill>
                <a:latin typeface="Calibri"/>
                <a:ea typeface="Calibri"/>
                <a:cs typeface="Calibri"/>
                <a:sym typeface="Calibri"/>
              </a:rPr>
              <a:t>α re-weights by class, γ by difficulty, and the data was already rebalanced. Stacking all three can over-correct.</a:t>
            </a:r>
            <a:endParaRPr b="0" i="0" sz="1600" u="none" cap="none" strike="noStrike">
              <a:solidFill>
                <a:schemeClr val="dk1"/>
              </a:solidFill>
              <a:latin typeface="Calibri"/>
              <a:ea typeface="Calibri"/>
              <a:cs typeface="Calibri"/>
              <a:sym typeface="Calibri"/>
            </a:endParaRPr>
          </a:p>
        </p:txBody>
      </p:sp>
      <p:sp>
        <p:nvSpPr>
          <p:cNvPr id="952" name="Google Shape;952;p42"/>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7" name="Shape 957"/>
        <p:cNvGrpSpPr/>
        <p:nvPr/>
      </p:nvGrpSpPr>
      <p:grpSpPr>
        <a:xfrm>
          <a:off x="0" y="0"/>
          <a:ext cx="0" cy="0"/>
          <a:chOff x="0" y="0"/>
          <a:chExt cx="0" cy="0"/>
        </a:xfrm>
      </p:grpSpPr>
      <p:sp>
        <p:nvSpPr>
          <p:cNvPr id="958" name="Google Shape;958;p43"/>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959" name="Google Shape;959;p43"/>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960" name="Google Shape;960;p43"/>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2.6 · TRAINING</a:t>
            </a:r>
            <a:endParaRPr b="0" i="0" sz="1000" u="none" cap="none" strike="noStrike">
              <a:solidFill>
                <a:schemeClr val="dk1"/>
              </a:solidFill>
              <a:latin typeface="Calibri"/>
              <a:ea typeface="Calibri"/>
              <a:cs typeface="Calibri"/>
              <a:sym typeface="Calibri"/>
            </a:endParaRPr>
          </a:p>
        </p:txBody>
      </p:sp>
      <p:sp>
        <p:nvSpPr>
          <p:cNvPr id="961" name="Google Shape;961;p43"/>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The training recipe, and what each knob buys</a:t>
            </a:r>
            <a:endParaRPr b="0" i="0" sz="3000" u="none" cap="none" strike="noStrike">
              <a:solidFill>
                <a:schemeClr val="dk1"/>
              </a:solidFill>
              <a:latin typeface="Calibri"/>
              <a:ea typeface="Calibri"/>
              <a:cs typeface="Calibri"/>
              <a:sym typeface="Calibri"/>
            </a:endParaRPr>
          </a:p>
        </p:txBody>
      </p:sp>
      <p:sp>
        <p:nvSpPr>
          <p:cNvPr id="962" name="Google Shape;962;p43"/>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3"/>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964" name="Google Shape;964;p43"/>
          <p:cNvSpPr/>
          <p:nvPr/>
        </p:nvSpPr>
        <p:spPr>
          <a:xfrm>
            <a:off x="640080" y="1783080"/>
            <a:ext cx="11018520" cy="475488"/>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3"/>
          <p:cNvSpPr/>
          <p:nvPr/>
        </p:nvSpPr>
        <p:spPr>
          <a:xfrm>
            <a:off x="822960" y="1783080"/>
            <a:ext cx="24231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Knob</a:t>
            </a:r>
            <a:endParaRPr b="0" i="0" sz="1600" u="none" cap="none" strike="noStrike">
              <a:solidFill>
                <a:schemeClr val="dk1"/>
              </a:solidFill>
              <a:latin typeface="Calibri"/>
              <a:ea typeface="Calibri"/>
              <a:cs typeface="Calibri"/>
              <a:sym typeface="Calibri"/>
            </a:endParaRPr>
          </a:p>
        </p:txBody>
      </p:sp>
      <p:sp>
        <p:nvSpPr>
          <p:cNvPr id="966" name="Google Shape;966;p43"/>
          <p:cNvSpPr/>
          <p:nvPr/>
        </p:nvSpPr>
        <p:spPr>
          <a:xfrm>
            <a:off x="3566160" y="1783080"/>
            <a:ext cx="23317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Setting</a:t>
            </a:r>
            <a:endParaRPr b="0" i="0" sz="1600" u="none" cap="none" strike="noStrike">
              <a:solidFill>
                <a:schemeClr val="dk1"/>
              </a:solidFill>
              <a:latin typeface="Calibri"/>
              <a:ea typeface="Calibri"/>
              <a:cs typeface="Calibri"/>
              <a:sym typeface="Calibri"/>
            </a:endParaRPr>
          </a:p>
        </p:txBody>
      </p:sp>
      <p:sp>
        <p:nvSpPr>
          <p:cNvPr id="967" name="Google Shape;967;p43"/>
          <p:cNvSpPr/>
          <p:nvPr/>
        </p:nvSpPr>
        <p:spPr>
          <a:xfrm>
            <a:off x="6217920" y="1783080"/>
            <a:ext cx="5303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Why it is there</a:t>
            </a:r>
            <a:endParaRPr b="0" i="0" sz="1600" u="none" cap="none" strike="noStrike">
              <a:solidFill>
                <a:schemeClr val="dk1"/>
              </a:solidFill>
              <a:latin typeface="Calibri"/>
              <a:ea typeface="Calibri"/>
              <a:cs typeface="Calibri"/>
              <a:sym typeface="Calibri"/>
            </a:endParaRPr>
          </a:p>
        </p:txBody>
      </p:sp>
      <p:sp>
        <p:nvSpPr>
          <p:cNvPr id="968" name="Google Shape;968;p43"/>
          <p:cNvSpPr/>
          <p:nvPr/>
        </p:nvSpPr>
        <p:spPr>
          <a:xfrm>
            <a:off x="822960" y="225856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Optimizer</a:t>
            </a:r>
            <a:endParaRPr b="0" i="0" sz="1600" u="none" cap="none" strike="noStrike">
              <a:solidFill>
                <a:schemeClr val="dk1"/>
              </a:solidFill>
              <a:latin typeface="Calibri"/>
              <a:ea typeface="Calibri"/>
              <a:cs typeface="Calibri"/>
              <a:sym typeface="Calibri"/>
            </a:endParaRPr>
          </a:p>
        </p:txBody>
      </p:sp>
      <p:sp>
        <p:nvSpPr>
          <p:cNvPr id="969" name="Google Shape;969;p43"/>
          <p:cNvSpPr/>
          <p:nvPr/>
        </p:nvSpPr>
        <p:spPr>
          <a:xfrm>
            <a:off x="3566160" y="225856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AdamW</a:t>
            </a:r>
            <a:endParaRPr b="0" i="0" sz="1300" u="none" cap="none" strike="noStrike">
              <a:solidFill>
                <a:schemeClr val="dk1"/>
              </a:solidFill>
              <a:latin typeface="Calibri"/>
              <a:ea typeface="Calibri"/>
              <a:cs typeface="Calibri"/>
              <a:sym typeface="Calibri"/>
            </a:endParaRPr>
          </a:p>
        </p:txBody>
      </p:sp>
      <p:sp>
        <p:nvSpPr>
          <p:cNvPr id="970" name="Google Shape;970;p43"/>
          <p:cNvSpPr/>
          <p:nvPr/>
        </p:nvSpPr>
        <p:spPr>
          <a:xfrm>
            <a:off x="6217920" y="225856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Decoupled weight decay</a:t>
            </a:r>
            <a:endParaRPr b="0" i="0" sz="1600" u="none" cap="none" strike="noStrike">
              <a:solidFill>
                <a:schemeClr val="dk1"/>
              </a:solidFill>
              <a:latin typeface="Calibri"/>
              <a:ea typeface="Calibri"/>
              <a:cs typeface="Calibri"/>
              <a:sym typeface="Calibri"/>
            </a:endParaRPr>
          </a:p>
        </p:txBody>
      </p:sp>
      <p:sp>
        <p:nvSpPr>
          <p:cNvPr id="971" name="Google Shape;971;p43"/>
          <p:cNvSpPr/>
          <p:nvPr/>
        </p:nvSpPr>
        <p:spPr>
          <a:xfrm>
            <a:off x="640080" y="2807208"/>
            <a:ext cx="11018520" cy="548640"/>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3"/>
          <p:cNvSpPr/>
          <p:nvPr/>
        </p:nvSpPr>
        <p:spPr>
          <a:xfrm>
            <a:off x="822960" y="280720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Learning rate</a:t>
            </a:r>
            <a:endParaRPr b="0" i="0" sz="1600" u="none" cap="none" strike="noStrike">
              <a:solidFill>
                <a:schemeClr val="dk1"/>
              </a:solidFill>
              <a:latin typeface="Calibri"/>
              <a:ea typeface="Calibri"/>
              <a:cs typeface="Calibri"/>
              <a:sym typeface="Calibri"/>
            </a:endParaRPr>
          </a:p>
        </p:txBody>
      </p:sp>
      <p:sp>
        <p:nvSpPr>
          <p:cNvPr id="973" name="Google Shape;973;p43"/>
          <p:cNvSpPr/>
          <p:nvPr/>
        </p:nvSpPr>
        <p:spPr>
          <a:xfrm>
            <a:off x="3566160" y="280720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3e-4</a:t>
            </a:r>
            <a:endParaRPr b="0" i="0" sz="1300" u="none" cap="none" strike="noStrike">
              <a:solidFill>
                <a:schemeClr val="dk1"/>
              </a:solidFill>
              <a:latin typeface="Calibri"/>
              <a:ea typeface="Calibri"/>
              <a:cs typeface="Calibri"/>
              <a:sym typeface="Calibri"/>
            </a:endParaRPr>
          </a:p>
        </p:txBody>
      </p:sp>
      <p:sp>
        <p:nvSpPr>
          <p:cNvPr id="974" name="Google Shape;974;p43"/>
          <p:cNvSpPr/>
          <p:nvPr/>
        </p:nvSpPr>
        <p:spPr>
          <a:xfrm>
            <a:off x="6217920" y="280720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Stable across a BatchNorm-heavy stack</a:t>
            </a:r>
            <a:endParaRPr b="0" i="0" sz="1600" u="none" cap="none" strike="noStrike">
              <a:solidFill>
                <a:schemeClr val="dk1"/>
              </a:solidFill>
              <a:latin typeface="Calibri"/>
              <a:ea typeface="Calibri"/>
              <a:cs typeface="Calibri"/>
              <a:sym typeface="Calibri"/>
            </a:endParaRPr>
          </a:p>
        </p:txBody>
      </p:sp>
      <p:sp>
        <p:nvSpPr>
          <p:cNvPr id="975" name="Google Shape;975;p43"/>
          <p:cNvSpPr/>
          <p:nvPr/>
        </p:nvSpPr>
        <p:spPr>
          <a:xfrm>
            <a:off x="822960" y="335584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Weight decay</a:t>
            </a:r>
            <a:endParaRPr b="0" i="0" sz="1600" u="none" cap="none" strike="noStrike">
              <a:solidFill>
                <a:schemeClr val="dk1"/>
              </a:solidFill>
              <a:latin typeface="Calibri"/>
              <a:ea typeface="Calibri"/>
              <a:cs typeface="Calibri"/>
              <a:sym typeface="Calibri"/>
            </a:endParaRPr>
          </a:p>
        </p:txBody>
      </p:sp>
      <p:sp>
        <p:nvSpPr>
          <p:cNvPr id="976" name="Google Shape;976;p43"/>
          <p:cNvSpPr/>
          <p:nvPr/>
        </p:nvSpPr>
        <p:spPr>
          <a:xfrm>
            <a:off x="3566160" y="335584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1e-3</a:t>
            </a:r>
            <a:endParaRPr b="0" i="0" sz="1300" u="none" cap="none" strike="noStrike">
              <a:solidFill>
                <a:schemeClr val="dk1"/>
              </a:solidFill>
              <a:latin typeface="Calibri"/>
              <a:ea typeface="Calibri"/>
              <a:cs typeface="Calibri"/>
              <a:sym typeface="Calibri"/>
            </a:endParaRPr>
          </a:p>
        </p:txBody>
      </p:sp>
      <p:sp>
        <p:nvSpPr>
          <p:cNvPr id="977" name="Google Shape;977;p43"/>
          <p:cNvSpPr/>
          <p:nvPr/>
        </p:nvSpPr>
        <p:spPr>
          <a:xfrm>
            <a:off x="6217920" y="335584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Set twice — the later value is what runs</a:t>
            </a:r>
            <a:endParaRPr b="0" i="0" sz="1600" u="none" cap="none" strike="noStrike">
              <a:solidFill>
                <a:schemeClr val="dk1"/>
              </a:solidFill>
              <a:latin typeface="Calibri"/>
              <a:ea typeface="Calibri"/>
              <a:cs typeface="Calibri"/>
              <a:sym typeface="Calibri"/>
            </a:endParaRPr>
          </a:p>
        </p:txBody>
      </p:sp>
      <p:sp>
        <p:nvSpPr>
          <p:cNvPr id="978" name="Google Shape;978;p43"/>
          <p:cNvSpPr/>
          <p:nvPr/>
        </p:nvSpPr>
        <p:spPr>
          <a:xfrm>
            <a:off x="640080" y="3904488"/>
            <a:ext cx="11018520" cy="548640"/>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3"/>
          <p:cNvSpPr/>
          <p:nvPr/>
        </p:nvSpPr>
        <p:spPr>
          <a:xfrm>
            <a:off x="822960" y="390448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Batch size</a:t>
            </a:r>
            <a:endParaRPr b="0" i="0" sz="1600" u="none" cap="none" strike="noStrike">
              <a:solidFill>
                <a:schemeClr val="dk1"/>
              </a:solidFill>
              <a:latin typeface="Calibri"/>
              <a:ea typeface="Calibri"/>
              <a:cs typeface="Calibri"/>
              <a:sym typeface="Calibri"/>
            </a:endParaRPr>
          </a:p>
        </p:txBody>
      </p:sp>
      <p:sp>
        <p:nvSpPr>
          <p:cNvPr id="980" name="Google Shape;980;p43"/>
          <p:cNvSpPr/>
          <p:nvPr/>
        </p:nvSpPr>
        <p:spPr>
          <a:xfrm>
            <a:off x="3566160" y="390448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32</a:t>
            </a:r>
            <a:endParaRPr b="0" i="0" sz="1300" u="none" cap="none" strike="noStrike">
              <a:solidFill>
                <a:schemeClr val="dk1"/>
              </a:solidFill>
              <a:latin typeface="Calibri"/>
              <a:ea typeface="Calibri"/>
              <a:cs typeface="Calibri"/>
              <a:sym typeface="Calibri"/>
            </a:endParaRPr>
          </a:p>
        </p:txBody>
      </p:sp>
      <p:sp>
        <p:nvSpPr>
          <p:cNvPr id="981" name="Google Shape;981;p43"/>
          <p:cNvSpPr/>
          <p:nvPr/>
        </p:nvSpPr>
        <p:spPr>
          <a:xfrm>
            <a:off x="6217920" y="390448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Noisy but useful BatchNorm statistics</a:t>
            </a:r>
            <a:endParaRPr b="0" i="0" sz="1600" u="none" cap="none" strike="noStrike">
              <a:solidFill>
                <a:schemeClr val="dk1"/>
              </a:solidFill>
              <a:latin typeface="Calibri"/>
              <a:ea typeface="Calibri"/>
              <a:cs typeface="Calibri"/>
              <a:sym typeface="Calibri"/>
            </a:endParaRPr>
          </a:p>
        </p:txBody>
      </p:sp>
      <p:sp>
        <p:nvSpPr>
          <p:cNvPr id="982" name="Google Shape;982;p43"/>
          <p:cNvSpPr/>
          <p:nvPr/>
        </p:nvSpPr>
        <p:spPr>
          <a:xfrm>
            <a:off x="822960" y="445312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Scheduler</a:t>
            </a:r>
            <a:endParaRPr b="0" i="0" sz="1600" u="none" cap="none" strike="noStrike">
              <a:solidFill>
                <a:schemeClr val="dk1"/>
              </a:solidFill>
              <a:latin typeface="Calibri"/>
              <a:ea typeface="Calibri"/>
              <a:cs typeface="Calibri"/>
              <a:sym typeface="Calibri"/>
            </a:endParaRPr>
          </a:p>
        </p:txBody>
      </p:sp>
      <p:sp>
        <p:nvSpPr>
          <p:cNvPr id="983" name="Google Shape;983;p43"/>
          <p:cNvSpPr/>
          <p:nvPr/>
        </p:nvSpPr>
        <p:spPr>
          <a:xfrm>
            <a:off x="3566160" y="445312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ReduceLROnPlateau</a:t>
            </a:r>
            <a:endParaRPr b="0" i="0" sz="1300" u="none" cap="none" strike="noStrike">
              <a:solidFill>
                <a:schemeClr val="dk1"/>
              </a:solidFill>
              <a:latin typeface="Calibri"/>
              <a:ea typeface="Calibri"/>
              <a:cs typeface="Calibri"/>
              <a:sym typeface="Calibri"/>
            </a:endParaRPr>
          </a:p>
        </p:txBody>
      </p:sp>
      <p:sp>
        <p:nvSpPr>
          <p:cNvPr id="984" name="Google Shape;984;p43"/>
          <p:cNvSpPr/>
          <p:nvPr/>
        </p:nvSpPr>
        <p:spPr>
          <a:xfrm>
            <a:off x="6217920" y="445312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factor 0.7, patience 20 — reacts to loss</a:t>
            </a:r>
            <a:endParaRPr b="0" i="0" sz="1600" u="none" cap="none" strike="noStrike">
              <a:solidFill>
                <a:schemeClr val="dk1"/>
              </a:solidFill>
              <a:latin typeface="Calibri"/>
              <a:ea typeface="Calibri"/>
              <a:cs typeface="Calibri"/>
              <a:sym typeface="Calibri"/>
            </a:endParaRPr>
          </a:p>
        </p:txBody>
      </p:sp>
      <p:sp>
        <p:nvSpPr>
          <p:cNvPr id="985" name="Google Shape;985;p43"/>
          <p:cNvSpPr/>
          <p:nvPr/>
        </p:nvSpPr>
        <p:spPr>
          <a:xfrm>
            <a:off x="640080" y="5001768"/>
            <a:ext cx="11018520" cy="548640"/>
          </a:xfrm>
          <a:prstGeom prst="rect">
            <a:avLst/>
          </a:prstGeom>
          <a:solidFill>
            <a:srgbClr val="F8F7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3"/>
          <p:cNvSpPr/>
          <p:nvPr/>
        </p:nvSpPr>
        <p:spPr>
          <a:xfrm>
            <a:off x="822960" y="500176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Early stopping</a:t>
            </a:r>
            <a:endParaRPr b="0" i="0" sz="1600" u="none" cap="none" strike="noStrike">
              <a:solidFill>
                <a:schemeClr val="dk1"/>
              </a:solidFill>
              <a:latin typeface="Calibri"/>
              <a:ea typeface="Calibri"/>
              <a:cs typeface="Calibri"/>
              <a:sym typeface="Calibri"/>
            </a:endParaRPr>
          </a:p>
        </p:txBody>
      </p:sp>
      <p:sp>
        <p:nvSpPr>
          <p:cNvPr id="987" name="Google Shape;987;p43"/>
          <p:cNvSpPr/>
          <p:nvPr/>
        </p:nvSpPr>
        <p:spPr>
          <a:xfrm>
            <a:off x="3566160" y="500176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patience 40</a:t>
            </a:r>
            <a:endParaRPr b="0" i="0" sz="1300" u="none" cap="none" strike="noStrike">
              <a:solidFill>
                <a:schemeClr val="dk1"/>
              </a:solidFill>
              <a:latin typeface="Calibri"/>
              <a:ea typeface="Calibri"/>
              <a:cs typeface="Calibri"/>
              <a:sym typeface="Calibri"/>
            </a:endParaRPr>
          </a:p>
        </p:txBody>
      </p:sp>
      <p:sp>
        <p:nvSpPr>
          <p:cNvPr id="988" name="Google Shape;988;p43"/>
          <p:cNvSpPr/>
          <p:nvPr/>
        </p:nvSpPr>
        <p:spPr>
          <a:xfrm>
            <a:off x="6217920" y="500176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Best checkpoint restored, not the last</a:t>
            </a:r>
            <a:endParaRPr b="0" i="0" sz="1600" u="none" cap="none" strike="noStrike">
              <a:solidFill>
                <a:schemeClr val="dk1"/>
              </a:solidFill>
              <a:latin typeface="Calibri"/>
              <a:ea typeface="Calibri"/>
              <a:cs typeface="Calibri"/>
              <a:sym typeface="Calibri"/>
            </a:endParaRPr>
          </a:p>
        </p:txBody>
      </p:sp>
      <p:sp>
        <p:nvSpPr>
          <p:cNvPr id="989" name="Google Shape;989;p43"/>
          <p:cNvSpPr/>
          <p:nvPr/>
        </p:nvSpPr>
        <p:spPr>
          <a:xfrm>
            <a:off x="822960" y="5550408"/>
            <a:ext cx="2423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Validation</a:t>
            </a:r>
            <a:endParaRPr b="0" i="0" sz="1600" u="none" cap="none" strike="noStrike">
              <a:solidFill>
                <a:schemeClr val="dk1"/>
              </a:solidFill>
              <a:latin typeface="Calibri"/>
              <a:ea typeface="Calibri"/>
              <a:cs typeface="Calibri"/>
              <a:sym typeface="Calibri"/>
            </a:endParaRPr>
          </a:p>
        </p:txBody>
      </p:sp>
      <p:sp>
        <p:nvSpPr>
          <p:cNvPr id="990" name="Google Shape;990;p43"/>
          <p:cNvSpPr/>
          <p:nvPr/>
        </p:nvSpPr>
        <p:spPr>
          <a:xfrm>
            <a:off x="3566160" y="5550408"/>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300"/>
              <a:buFont typeface="Courier New"/>
              <a:buNone/>
            </a:pPr>
            <a:r>
              <a:rPr b="0" i="0" lang="en-US" sz="1300" u="none" cap="none" strike="noStrike">
                <a:solidFill>
                  <a:srgbClr val="B8932E"/>
                </a:solidFill>
                <a:latin typeface="Courier New"/>
                <a:ea typeface="Courier New"/>
                <a:cs typeface="Courier New"/>
                <a:sym typeface="Courier New"/>
              </a:rPr>
              <a:t>20 % of train</a:t>
            </a:r>
            <a:endParaRPr b="0" i="0" sz="1300" u="none" cap="none" strike="noStrike">
              <a:solidFill>
                <a:schemeClr val="dk1"/>
              </a:solidFill>
              <a:latin typeface="Calibri"/>
              <a:ea typeface="Calibri"/>
              <a:cs typeface="Calibri"/>
              <a:sym typeface="Calibri"/>
            </a:endParaRPr>
          </a:p>
        </p:txBody>
      </p:sp>
      <p:sp>
        <p:nvSpPr>
          <p:cNvPr id="991" name="Google Shape;991;p43"/>
          <p:cNvSpPr/>
          <p:nvPr/>
        </p:nvSpPr>
        <p:spPr>
          <a:xfrm>
            <a:off x="6217920" y="5550408"/>
            <a:ext cx="530352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A4A4A"/>
              </a:buClr>
              <a:buSzPts val="1600"/>
              <a:buFont typeface="Calibri"/>
              <a:buNone/>
            </a:pPr>
            <a:r>
              <a:rPr b="0" i="0" lang="en-US" sz="1600" u="none" cap="none" strike="noStrike">
                <a:solidFill>
                  <a:srgbClr val="4A4A4A"/>
                </a:solidFill>
                <a:latin typeface="Calibri"/>
                <a:ea typeface="Calibri"/>
                <a:cs typeface="Calibri"/>
                <a:sym typeface="Calibri"/>
              </a:rPr>
              <a:t>Carved out after the split; test stays clean</a:t>
            </a:r>
            <a:endParaRPr b="0" i="0" sz="1600" u="none" cap="none" strike="noStrike">
              <a:solidFill>
                <a:schemeClr val="dk1"/>
              </a:solidFill>
              <a:latin typeface="Calibri"/>
              <a:ea typeface="Calibri"/>
              <a:cs typeface="Calibri"/>
              <a:sym typeface="Calibri"/>
            </a:endParaRPr>
          </a:p>
        </p:txBody>
      </p:sp>
      <p:sp>
        <p:nvSpPr>
          <p:cNvPr id="992" name="Google Shape;992;p43"/>
          <p:cNvSpPr/>
          <p:nvPr/>
        </p:nvSpPr>
        <p:spPr>
          <a:xfrm>
            <a:off x="640080" y="6172200"/>
            <a:ext cx="11018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600"/>
              <a:buFont typeface="Calibri"/>
              <a:buNone/>
            </a:pPr>
            <a:r>
              <a:rPr b="0" i="1" lang="en-US" sz="1600" u="none" cap="none" strike="noStrike">
                <a:solidFill>
                  <a:srgbClr val="B8932E"/>
                </a:solidFill>
                <a:latin typeface="Calibri"/>
                <a:ea typeface="Calibri"/>
                <a:cs typeface="Calibri"/>
                <a:sym typeface="Calibri"/>
              </a:rPr>
              <a:t>Watch the gap between train and validation accuracy, not either curve alone.</a:t>
            </a:r>
            <a:endParaRPr b="0" i="0" sz="1600" u="none" cap="none" strike="noStrike">
              <a:solidFill>
                <a:schemeClr val="dk1"/>
              </a:solidFill>
              <a:latin typeface="Calibri"/>
              <a:ea typeface="Calibri"/>
              <a:cs typeface="Calibri"/>
              <a:sym typeface="Calibri"/>
            </a:endParaRPr>
          </a:p>
        </p:txBody>
      </p:sp>
      <p:sp>
        <p:nvSpPr>
          <p:cNvPr id="993" name="Google Shape;993;p43"/>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8" name="Shape 998"/>
        <p:cNvGrpSpPr/>
        <p:nvPr/>
      </p:nvGrpSpPr>
      <p:grpSpPr>
        <a:xfrm>
          <a:off x="0" y="0"/>
          <a:ext cx="0" cy="0"/>
          <a:chOff x="0" y="0"/>
          <a:chExt cx="0" cy="0"/>
        </a:xfrm>
      </p:grpSpPr>
      <p:sp>
        <p:nvSpPr>
          <p:cNvPr id="999" name="Google Shape;999;p44"/>
          <p:cNvSpPr/>
          <p:nvPr/>
        </p:nvSpPr>
        <p:spPr>
          <a:xfrm>
            <a:off x="0" y="0"/>
            <a:ext cx="73152"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1000" name="Google Shape;1000;p44"/>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001" name="Google Shape;1001;p44"/>
          <p:cNvSpPr/>
          <p:nvPr/>
        </p:nvSpPr>
        <p:spPr>
          <a:xfrm>
            <a:off x="548640" y="292608"/>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2.7 · EVALUATION</a:t>
            </a:r>
            <a:endParaRPr b="0" i="0" sz="1000" u="none" cap="none" strike="noStrike">
              <a:solidFill>
                <a:schemeClr val="dk1"/>
              </a:solidFill>
              <a:latin typeface="Calibri"/>
              <a:ea typeface="Calibri"/>
              <a:cs typeface="Calibri"/>
              <a:sym typeface="Calibri"/>
            </a:endParaRPr>
          </a:p>
        </p:txBody>
      </p:sp>
      <p:sp>
        <p:nvSpPr>
          <p:cNvPr id="1002" name="Google Shape;1002;p44"/>
          <p:cNvSpPr/>
          <p:nvPr/>
        </p:nvSpPr>
        <p:spPr>
          <a:xfrm>
            <a:off x="548640" y="566928"/>
            <a:ext cx="104241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Read the matrix, not the headline number</a:t>
            </a:r>
            <a:endParaRPr b="0" i="0" sz="3000" u="none" cap="none" strike="noStrike">
              <a:solidFill>
                <a:schemeClr val="dk1"/>
              </a:solidFill>
              <a:latin typeface="Calibri"/>
              <a:ea typeface="Calibri"/>
              <a:cs typeface="Calibri"/>
              <a:sym typeface="Calibri"/>
            </a:endParaRPr>
          </a:p>
        </p:txBody>
      </p:sp>
      <p:sp>
        <p:nvSpPr>
          <p:cNvPr id="1003" name="Google Shape;1003;p44"/>
          <p:cNvSpPr/>
          <p:nvPr/>
        </p:nvSpPr>
        <p:spPr>
          <a:xfrm>
            <a:off x="548640" y="1325880"/>
            <a:ext cx="548640" cy="36576"/>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4"/>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MULTIMODAL MODEL      </a:t>
            </a:r>
            <a:endParaRPr b="0" i="0" sz="900" u="none" cap="none" strike="noStrike">
              <a:solidFill>
                <a:schemeClr val="dk1"/>
              </a:solidFill>
              <a:latin typeface="Calibri"/>
              <a:ea typeface="Calibri"/>
              <a:cs typeface="Calibri"/>
              <a:sym typeface="Calibri"/>
            </a:endParaRPr>
          </a:p>
        </p:txBody>
      </p:sp>
      <p:sp>
        <p:nvSpPr>
          <p:cNvPr id="1005" name="Google Shape;1005;p44"/>
          <p:cNvSpPr/>
          <p:nvPr/>
        </p:nvSpPr>
        <p:spPr>
          <a:xfrm>
            <a:off x="1823952" y="1920031"/>
            <a:ext cx="301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1" i="0" lang="en-US" sz="1200" u="none" cap="none" strike="noStrike">
                <a:solidFill>
                  <a:srgbClr val="8A8A8A"/>
                </a:solidFill>
                <a:latin typeface="Calibri"/>
                <a:ea typeface="Calibri"/>
                <a:cs typeface="Calibri"/>
                <a:sym typeface="Calibri"/>
              </a:rPr>
              <a:t>Predicted</a:t>
            </a:r>
            <a:endParaRPr b="0" i="0" sz="1200" u="none" cap="none" strike="noStrike">
              <a:solidFill>
                <a:schemeClr val="dk1"/>
              </a:solidFill>
              <a:latin typeface="Calibri"/>
              <a:ea typeface="Calibri"/>
              <a:cs typeface="Calibri"/>
              <a:sym typeface="Calibri"/>
            </a:endParaRPr>
          </a:p>
        </p:txBody>
      </p:sp>
      <p:sp>
        <p:nvSpPr>
          <p:cNvPr id="1006" name="Google Shape;1006;p44"/>
          <p:cNvSpPr/>
          <p:nvPr/>
        </p:nvSpPr>
        <p:spPr>
          <a:xfrm>
            <a:off x="607800" y="2358943"/>
            <a:ext cx="567000" cy="301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Calibri"/>
              <a:buNone/>
            </a:pPr>
            <a:r>
              <a:rPr b="1" i="0" lang="en-US" sz="1200" u="none" cap="none" strike="noStrike">
                <a:solidFill>
                  <a:srgbClr val="8A8A8A"/>
                </a:solidFill>
                <a:latin typeface="Calibri"/>
                <a:ea typeface="Calibri"/>
                <a:cs typeface="Calibri"/>
                <a:sym typeface="Calibri"/>
              </a:rPr>
              <a:t>True</a:t>
            </a:r>
            <a:endParaRPr b="0" i="0" sz="1200" u="none" cap="none" strike="noStrike">
              <a:solidFill>
                <a:schemeClr val="dk1"/>
              </a:solidFill>
              <a:latin typeface="Calibri"/>
              <a:ea typeface="Calibri"/>
              <a:cs typeface="Calibri"/>
              <a:sym typeface="Calibri"/>
            </a:endParaRPr>
          </a:p>
        </p:txBody>
      </p:sp>
      <p:sp>
        <p:nvSpPr>
          <p:cNvPr id="1007" name="Google Shape;1007;p44"/>
          <p:cNvSpPr/>
          <p:nvPr/>
        </p:nvSpPr>
        <p:spPr>
          <a:xfrm>
            <a:off x="1823952" y="2102911"/>
            <a:ext cx="10059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A4A"/>
              </a:buClr>
              <a:buSzPts val="1200"/>
              <a:buFont typeface="Calibri"/>
              <a:buNone/>
            </a:pPr>
            <a:r>
              <a:rPr b="0" i="0" lang="en-US" sz="1200" u="none" cap="none" strike="noStrike">
                <a:solidFill>
                  <a:srgbClr val="4A4A4A"/>
                </a:solidFill>
                <a:latin typeface="Calibri"/>
                <a:ea typeface="Calibri"/>
                <a:cs typeface="Calibri"/>
                <a:sym typeface="Calibri"/>
              </a:rPr>
              <a:t>Normal</a:t>
            </a:r>
            <a:endParaRPr b="0" i="0" sz="1200" u="none" cap="none" strike="noStrike">
              <a:solidFill>
                <a:schemeClr val="dk1"/>
              </a:solidFill>
              <a:latin typeface="Calibri"/>
              <a:ea typeface="Calibri"/>
              <a:cs typeface="Calibri"/>
              <a:sym typeface="Calibri"/>
            </a:endParaRPr>
          </a:p>
        </p:txBody>
      </p:sp>
      <p:sp>
        <p:nvSpPr>
          <p:cNvPr id="1008" name="Google Shape;1008;p44"/>
          <p:cNvSpPr/>
          <p:nvPr/>
        </p:nvSpPr>
        <p:spPr>
          <a:xfrm>
            <a:off x="1211304" y="2358943"/>
            <a:ext cx="548700" cy="100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200"/>
              <a:buFont typeface="Calibri"/>
              <a:buNone/>
            </a:pPr>
            <a:r>
              <a:rPr b="0" i="0" lang="en-US" sz="1200" u="none" cap="none" strike="noStrike">
                <a:solidFill>
                  <a:srgbClr val="4A4A4A"/>
                </a:solidFill>
                <a:latin typeface="Calibri"/>
                <a:ea typeface="Calibri"/>
                <a:cs typeface="Calibri"/>
                <a:sym typeface="Calibri"/>
              </a:rPr>
              <a:t>Normal</a:t>
            </a:r>
            <a:endParaRPr b="0" i="0" sz="1200" u="none" cap="none" strike="noStrike">
              <a:solidFill>
                <a:schemeClr val="dk1"/>
              </a:solidFill>
              <a:latin typeface="Calibri"/>
              <a:ea typeface="Calibri"/>
              <a:cs typeface="Calibri"/>
              <a:sym typeface="Calibri"/>
            </a:endParaRPr>
          </a:p>
        </p:txBody>
      </p:sp>
      <p:sp>
        <p:nvSpPr>
          <p:cNvPr id="1009" name="Google Shape;1009;p44"/>
          <p:cNvSpPr/>
          <p:nvPr/>
        </p:nvSpPr>
        <p:spPr>
          <a:xfrm>
            <a:off x="2829792" y="2102911"/>
            <a:ext cx="10059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A4A"/>
              </a:buClr>
              <a:buSzPts val="1200"/>
              <a:buFont typeface="Calibri"/>
              <a:buNone/>
            </a:pPr>
            <a:r>
              <a:rPr b="0" i="0" lang="en-US" sz="1200" u="none" cap="none" strike="noStrike">
                <a:solidFill>
                  <a:srgbClr val="4A4A4A"/>
                </a:solidFill>
                <a:latin typeface="Calibri"/>
                <a:ea typeface="Calibri"/>
                <a:cs typeface="Calibri"/>
                <a:sym typeface="Calibri"/>
              </a:rPr>
              <a:t>Physical</a:t>
            </a:r>
            <a:endParaRPr b="0" i="0" sz="1200" u="none" cap="none" strike="noStrike">
              <a:solidFill>
                <a:schemeClr val="dk1"/>
              </a:solidFill>
              <a:latin typeface="Calibri"/>
              <a:ea typeface="Calibri"/>
              <a:cs typeface="Calibri"/>
              <a:sym typeface="Calibri"/>
            </a:endParaRPr>
          </a:p>
        </p:txBody>
      </p:sp>
      <p:sp>
        <p:nvSpPr>
          <p:cNvPr id="1010" name="Google Shape;1010;p44"/>
          <p:cNvSpPr/>
          <p:nvPr/>
        </p:nvSpPr>
        <p:spPr>
          <a:xfrm>
            <a:off x="1211304" y="3364783"/>
            <a:ext cx="548700" cy="100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200"/>
              <a:buFont typeface="Calibri"/>
              <a:buNone/>
            </a:pPr>
            <a:r>
              <a:rPr b="0" i="0" lang="en-US" sz="1200" u="none" cap="none" strike="noStrike">
                <a:solidFill>
                  <a:srgbClr val="4A4A4A"/>
                </a:solidFill>
                <a:latin typeface="Calibri"/>
                <a:ea typeface="Calibri"/>
                <a:cs typeface="Calibri"/>
                <a:sym typeface="Calibri"/>
              </a:rPr>
              <a:t>Physical</a:t>
            </a:r>
            <a:endParaRPr b="0" i="0" sz="1200" u="none" cap="none" strike="noStrike">
              <a:solidFill>
                <a:schemeClr val="dk1"/>
              </a:solidFill>
              <a:latin typeface="Calibri"/>
              <a:ea typeface="Calibri"/>
              <a:cs typeface="Calibri"/>
              <a:sym typeface="Calibri"/>
            </a:endParaRPr>
          </a:p>
        </p:txBody>
      </p:sp>
      <p:sp>
        <p:nvSpPr>
          <p:cNvPr id="1011" name="Google Shape;1011;p44"/>
          <p:cNvSpPr/>
          <p:nvPr/>
        </p:nvSpPr>
        <p:spPr>
          <a:xfrm>
            <a:off x="3835632" y="2102911"/>
            <a:ext cx="10059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A4A"/>
              </a:buClr>
              <a:buSzPts val="1200"/>
              <a:buFont typeface="Calibri"/>
              <a:buNone/>
            </a:pPr>
            <a:r>
              <a:rPr b="0" i="0" lang="en-US" sz="1200" u="none" cap="none" strike="noStrike">
                <a:solidFill>
                  <a:srgbClr val="4A4A4A"/>
                </a:solidFill>
                <a:latin typeface="Calibri"/>
                <a:ea typeface="Calibri"/>
                <a:cs typeface="Calibri"/>
                <a:sym typeface="Calibri"/>
              </a:rPr>
              <a:t>Network</a:t>
            </a:r>
            <a:endParaRPr b="0" i="0" sz="1200" u="none" cap="none" strike="noStrike">
              <a:solidFill>
                <a:schemeClr val="dk1"/>
              </a:solidFill>
              <a:latin typeface="Calibri"/>
              <a:ea typeface="Calibri"/>
              <a:cs typeface="Calibri"/>
              <a:sym typeface="Calibri"/>
            </a:endParaRPr>
          </a:p>
        </p:txBody>
      </p:sp>
      <p:sp>
        <p:nvSpPr>
          <p:cNvPr id="1012" name="Google Shape;1012;p44"/>
          <p:cNvSpPr/>
          <p:nvPr/>
        </p:nvSpPr>
        <p:spPr>
          <a:xfrm>
            <a:off x="1211304" y="4370623"/>
            <a:ext cx="548700" cy="100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4A4A"/>
              </a:buClr>
              <a:buSzPts val="1200"/>
              <a:buFont typeface="Calibri"/>
              <a:buNone/>
            </a:pPr>
            <a:r>
              <a:rPr b="0" i="0" lang="en-US" sz="1200" u="none" cap="none" strike="noStrike">
                <a:solidFill>
                  <a:srgbClr val="4A4A4A"/>
                </a:solidFill>
                <a:latin typeface="Calibri"/>
                <a:ea typeface="Calibri"/>
                <a:cs typeface="Calibri"/>
                <a:sym typeface="Calibri"/>
              </a:rPr>
              <a:t>Network</a:t>
            </a:r>
            <a:endParaRPr b="0" i="0" sz="1200" u="none" cap="none" strike="noStrike">
              <a:solidFill>
                <a:schemeClr val="dk1"/>
              </a:solidFill>
              <a:latin typeface="Calibri"/>
              <a:ea typeface="Calibri"/>
              <a:cs typeface="Calibri"/>
              <a:sym typeface="Calibri"/>
            </a:endParaRPr>
          </a:p>
        </p:txBody>
      </p:sp>
      <p:sp>
        <p:nvSpPr>
          <p:cNvPr id="1013" name="Google Shape;1013;p44"/>
          <p:cNvSpPr/>
          <p:nvPr/>
        </p:nvSpPr>
        <p:spPr>
          <a:xfrm>
            <a:off x="1823952" y="2358943"/>
            <a:ext cx="1005900" cy="1005900"/>
          </a:xfrm>
          <a:prstGeom prst="rect">
            <a:avLst/>
          </a:prstGeom>
          <a:solidFill>
            <a:srgbClr val="B8932E"/>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4"/>
          <p:cNvSpPr/>
          <p:nvPr/>
        </p:nvSpPr>
        <p:spPr>
          <a:xfrm>
            <a:off x="1823952" y="235894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15" name="Google Shape;1015;p44"/>
          <p:cNvSpPr/>
          <p:nvPr/>
        </p:nvSpPr>
        <p:spPr>
          <a:xfrm>
            <a:off x="2829792" y="2358943"/>
            <a:ext cx="1005900" cy="1005900"/>
          </a:xfrm>
          <a:prstGeom prst="rect">
            <a:avLst/>
          </a:prstGeom>
          <a:solidFill>
            <a:srgbClr val="F8F7F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4"/>
          <p:cNvSpPr/>
          <p:nvPr/>
        </p:nvSpPr>
        <p:spPr>
          <a:xfrm>
            <a:off x="2829792" y="235894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false</a:t>
            </a:r>
            <a:endParaRPr b="0" i="0" sz="11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alarm</a:t>
            </a:r>
            <a:endParaRPr b="0" i="0" sz="1100" u="none" cap="none" strike="noStrike">
              <a:solidFill>
                <a:schemeClr val="dk1"/>
              </a:solidFill>
              <a:latin typeface="Calibri"/>
              <a:ea typeface="Calibri"/>
              <a:cs typeface="Calibri"/>
              <a:sym typeface="Calibri"/>
            </a:endParaRPr>
          </a:p>
        </p:txBody>
      </p:sp>
      <p:sp>
        <p:nvSpPr>
          <p:cNvPr id="1017" name="Google Shape;1017;p44"/>
          <p:cNvSpPr/>
          <p:nvPr/>
        </p:nvSpPr>
        <p:spPr>
          <a:xfrm>
            <a:off x="3835632" y="2358943"/>
            <a:ext cx="1005900" cy="1005900"/>
          </a:xfrm>
          <a:prstGeom prst="rect">
            <a:avLst/>
          </a:prstGeom>
          <a:solidFill>
            <a:srgbClr val="F8F7F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4"/>
          <p:cNvSpPr/>
          <p:nvPr/>
        </p:nvSpPr>
        <p:spPr>
          <a:xfrm>
            <a:off x="3835632" y="235894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false</a:t>
            </a:r>
            <a:endParaRPr b="0" i="0" sz="11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alarm</a:t>
            </a:r>
            <a:endParaRPr b="0" i="0" sz="1100" u="none" cap="none" strike="noStrike">
              <a:solidFill>
                <a:schemeClr val="dk1"/>
              </a:solidFill>
              <a:latin typeface="Calibri"/>
              <a:ea typeface="Calibri"/>
              <a:cs typeface="Calibri"/>
              <a:sym typeface="Calibri"/>
            </a:endParaRPr>
          </a:p>
        </p:txBody>
      </p:sp>
      <p:sp>
        <p:nvSpPr>
          <p:cNvPr id="1019" name="Google Shape;1019;p44"/>
          <p:cNvSpPr/>
          <p:nvPr/>
        </p:nvSpPr>
        <p:spPr>
          <a:xfrm>
            <a:off x="1823952" y="3364783"/>
            <a:ext cx="1005900" cy="1005900"/>
          </a:xfrm>
          <a:prstGeom prst="rect">
            <a:avLst/>
          </a:prstGeom>
          <a:solidFill>
            <a:srgbClr val="F0DCDA"/>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44"/>
          <p:cNvSpPr/>
          <p:nvPr/>
        </p:nvSpPr>
        <p:spPr>
          <a:xfrm>
            <a:off x="1823952" y="336478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missed</a:t>
            </a:r>
            <a:endParaRPr b="0" i="0" sz="11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fault</a:t>
            </a:r>
            <a:endParaRPr b="0" i="0" sz="1100" u="none" cap="none" strike="noStrike">
              <a:solidFill>
                <a:schemeClr val="dk1"/>
              </a:solidFill>
              <a:latin typeface="Calibri"/>
              <a:ea typeface="Calibri"/>
              <a:cs typeface="Calibri"/>
              <a:sym typeface="Calibri"/>
            </a:endParaRPr>
          </a:p>
        </p:txBody>
      </p:sp>
      <p:sp>
        <p:nvSpPr>
          <p:cNvPr id="1021" name="Google Shape;1021;p44"/>
          <p:cNvSpPr/>
          <p:nvPr/>
        </p:nvSpPr>
        <p:spPr>
          <a:xfrm>
            <a:off x="2829792" y="3364783"/>
            <a:ext cx="1005900" cy="1005900"/>
          </a:xfrm>
          <a:prstGeom prst="rect">
            <a:avLst/>
          </a:prstGeom>
          <a:solidFill>
            <a:srgbClr val="B8932E"/>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4"/>
          <p:cNvSpPr/>
          <p:nvPr/>
        </p:nvSpPr>
        <p:spPr>
          <a:xfrm>
            <a:off x="2829792" y="336478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23" name="Google Shape;1023;p44"/>
          <p:cNvSpPr/>
          <p:nvPr/>
        </p:nvSpPr>
        <p:spPr>
          <a:xfrm>
            <a:off x="3835632" y="3364783"/>
            <a:ext cx="1005900" cy="1005900"/>
          </a:xfrm>
          <a:prstGeom prst="rect">
            <a:avLst/>
          </a:prstGeom>
          <a:solidFill>
            <a:srgbClr val="F8F7F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4"/>
          <p:cNvSpPr/>
          <p:nvPr/>
        </p:nvSpPr>
        <p:spPr>
          <a:xfrm>
            <a:off x="3835632" y="336478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confused</a:t>
            </a:r>
            <a:endParaRPr b="0" i="0" sz="1100" u="none" cap="none" strike="noStrike">
              <a:solidFill>
                <a:schemeClr val="dk1"/>
              </a:solidFill>
              <a:latin typeface="Calibri"/>
              <a:ea typeface="Calibri"/>
              <a:cs typeface="Calibri"/>
              <a:sym typeface="Calibri"/>
            </a:endParaRPr>
          </a:p>
        </p:txBody>
      </p:sp>
      <p:sp>
        <p:nvSpPr>
          <p:cNvPr id="1025" name="Google Shape;1025;p44"/>
          <p:cNvSpPr/>
          <p:nvPr/>
        </p:nvSpPr>
        <p:spPr>
          <a:xfrm>
            <a:off x="1823952" y="4370623"/>
            <a:ext cx="1005900" cy="1005900"/>
          </a:xfrm>
          <a:prstGeom prst="rect">
            <a:avLst/>
          </a:prstGeom>
          <a:solidFill>
            <a:srgbClr val="F0DCDA"/>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4"/>
          <p:cNvSpPr/>
          <p:nvPr/>
        </p:nvSpPr>
        <p:spPr>
          <a:xfrm>
            <a:off x="1823952" y="437062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missed</a:t>
            </a:r>
            <a:endParaRPr b="0" i="0" sz="11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attack</a:t>
            </a:r>
            <a:endParaRPr b="0" i="0" sz="1100" u="none" cap="none" strike="noStrike">
              <a:solidFill>
                <a:schemeClr val="dk1"/>
              </a:solidFill>
              <a:latin typeface="Calibri"/>
              <a:ea typeface="Calibri"/>
              <a:cs typeface="Calibri"/>
              <a:sym typeface="Calibri"/>
            </a:endParaRPr>
          </a:p>
        </p:txBody>
      </p:sp>
      <p:sp>
        <p:nvSpPr>
          <p:cNvPr id="1027" name="Google Shape;1027;p44"/>
          <p:cNvSpPr/>
          <p:nvPr/>
        </p:nvSpPr>
        <p:spPr>
          <a:xfrm>
            <a:off x="2829792" y="4370623"/>
            <a:ext cx="1005900" cy="1005900"/>
          </a:xfrm>
          <a:prstGeom prst="rect">
            <a:avLst/>
          </a:prstGeom>
          <a:solidFill>
            <a:srgbClr val="F8F7F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4"/>
          <p:cNvSpPr/>
          <p:nvPr/>
        </p:nvSpPr>
        <p:spPr>
          <a:xfrm>
            <a:off x="2829792" y="437062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4A4A4A"/>
              </a:buClr>
              <a:buSzPts val="1100"/>
              <a:buFont typeface="Calibri"/>
              <a:buNone/>
            </a:pPr>
            <a:r>
              <a:rPr b="0" i="0" lang="en-US" sz="1100" u="none" cap="none" strike="noStrike">
                <a:solidFill>
                  <a:srgbClr val="4A4A4A"/>
                </a:solidFill>
                <a:latin typeface="Calibri"/>
                <a:ea typeface="Calibri"/>
                <a:cs typeface="Calibri"/>
                <a:sym typeface="Calibri"/>
              </a:rPr>
              <a:t>confused</a:t>
            </a:r>
            <a:endParaRPr b="0" i="0" sz="1100" u="none" cap="none" strike="noStrike">
              <a:solidFill>
                <a:schemeClr val="dk1"/>
              </a:solidFill>
              <a:latin typeface="Calibri"/>
              <a:ea typeface="Calibri"/>
              <a:cs typeface="Calibri"/>
              <a:sym typeface="Calibri"/>
            </a:endParaRPr>
          </a:p>
        </p:txBody>
      </p:sp>
      <p:sp>
        <p:nvSpPr>
          <p:cNvPr id="1029" name="Google Shape;1029;p44"/>
          <p:cNvSpPr/>
          <p:nvPr/>
        </p:nvSpPr>
        <p:spPr>
          <a:xfrm>
            <a:off x="3835632" y="4370623"/>
            <a:ext cx="1005900" cy="1005900"/>
          </a:xfrm>
          <a:prstGeom prst="rect">
            <a:avLst/>
          </a:prstGeom>
          <a:solidFill>
            <a:srgbClr val="B8932E"/>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4"/>
          <p:cNvSpPr/>
          <p:nvPr/>
        </p:nvSpPr>
        <p:spPr>
          <a:xfrm>
            <a:off x="3835632" y="4370623"/>
            <a:ext cx="1005900" cy="10059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031" name="Google Shape;1031;p44"/>
          <p:cNvSpPr/>
          <p:nvPr/>
        </p:nvSpPr>
        <p:spPr>
          <a:xfrm>
            <a:off x="863832" y="5513623"/>
            <a:ext cx="5120700" cy="658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8B4A44"/>
              </a:buClr>
              <a:buSzPts val="1600"/>
              <a:buFont typeface="Calibri"/>
              <a:buNone/>
            </a:pPr>
            <a:r>
              <a:rPr b="0" i="0" lang="en-US" sz="1600" u="none" cap="none" strike="noStrike">
                <a:solidFill>
                  <a:srgbClr val="8B4A44"/>
                </a:solidFill>
                <a:latin typeface="Calibri"/>
                <a:ea typeface="Calibri"/>
                <a:cs typeface="Calibri"/>
                <a:sym typeface="Calibri"/>
              </a:rPr>
              <a:t>The first column is the dangerous one: an anomaly predicted Normal means Part 4 never fires a response.</a:t>
            </a:r>
            <a:endParaRPr b="0" i="0" sz="1600" u="none" cap="none" strike="noStrike">
              <a:solidFill>
                <a:schemeClr val="dk1"/>
              </a:solidFill>
              <a:latin typeface="Calibri"/>
              <a:ea typeface="Calibri"/>
              <a:cs typeface="Calibri"/>
              <a:sym typeface="Calibri"/>
            </a:endParaRPr>
          </a:p>
        </p:txBody>
      </p:sp>
      <p:sp>
        <p:nvSpPr>
          <p:cNvPr id="1032" name="Google Shape;1032;p44"/>
          <p:cNvSpPr/>
          <p:nvPr/>
        </p:nvSpPr>
        <p:spPr>
          <a:xfrm>
            <a:off x="6446520" y="2121408"/>
            <a:ext cx="5212080" cy="42062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What the notebook reports</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Accuracy, macro precision, macro recall</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Full classification report + per-class F1 chart</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1000"/>
              </a:spcBef>
              <a:spcAft>
                <a:spcPts val="0"/>
              </a:spcAft>
              <a:buClr>
                <a:srgbClr val="1A1A1A"/>
              </a:buClr>
              <a:buSzPts val="1800"/>
              <a:buFont typeface="Calibri"/>
              <a:buChar char="■"/>
            </a:pPr>
            <a:r>
              <a:rPr b="1" i="0" lang="en-US" sz="1800" u="none" cap="none" strike="noStrike">
                <a:solidFill>
                  <a:srgbClr val="1A1A1A"/>
                </a:solidFill>
                <a:latin typeface="Calibri"/>
                <a:ea typeface="Calibri"/>
                <a:cs typeface="Calibri"/>
                <a:sym typeface="Calibri"/>
              </a:rPr>
              <a:t>How to read it here</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Recall is the safety number, precision the nuisance number</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Always-Normal already scores 0.60 on this data</a:t>
            </a:r>
            <a:endParaRPr b="0" i="0" sz="1800" u="none" cap="none" strike="noStrike">
              <a:solidFill>
                <a:schemeClr val="dk1"/>
              </a:solidFill>
              <a:latin typeface="Calibri"/>
              <a:ea typeface="Calibri"/>
              <a:cs typeface="Calibri"/>
              <a:sym typeface="Calibri"/>
            </a:endParaRPr>
          </a:p>
          <a:p>
            <a:pPr indent="-342900" lvl="1" marL="914400" marR="0" rtl="0" algn="l">
              <a:lnSpc>
                <a:spcPct val="100000"/>
              </a:lnSpc>
              <a:spcBef>
                <a:spcPts val="1000"/>
              </a:spcBef>
              <a:spcAft>
                <a:spcPts val="0"/>
              </a:spcAft>
              <a:buClr>
                <a:srgbClr val="4A4A4A"/>
              </a:buClr>
              <a:buSzPts val="1800"/>
              <a:buFont typeface="Calibri"/>
              <a:buChar char="○"/>
            </a:pPr>
            <a:r>
              <a:rPr b="0" i="0" lang="en-US" sz="1800" u="none" cap="none" strike="noStrike">
                <a:solidFill>
                  <a:srgbClr val="4A4A4A"/>
                </a:solidFill>
                <a:latin typeface="Calibri"/>
                <a:ea typeface="Calibri"/>
                <a:cs typeface="Calibri"/>
                <a:sym typeface="Calibri"/>
              </a:rPr>
              <a:t>Recalibrate the threshold before Part 3</a:t>
            </a:r>
            <a:endParaRPr b="0" i="0" sz="1800" u="none" cap="none" strike="noStrike">
              <a:solidFill>
                <a:schemeClr val="dk1"/>
              </a:solidFill>
              <a:latin typeface="Calibri"/>
              <a:ea typeface="Calibri"/>
              <a:cs typeface="Calibri"/>
              <a:sym typeface="Calibri"/>
            </a:endParaRPr>
          </a:p>
        </p:txBody>
      </p:sp>
      <p:sp>
        <p:nvSpPr>
          <p:cNvPr id="1033" name="Google Shape;1033;p44"/>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8" name="Shape 1038"/>
        <p:cNvGrpSpPr/>
        <p:nvPr/>
      </p:nvGrpSpPr>
      <p:grpSpPr>
        <a:xfrm>
          <a:off x="0" y="0"/>
          <a:ext cx="0" cy="0"/>
          <a:chOff x="0" y="0"/>
          <a:chExt cx="0" cy="0"/>
        </a:xfrm>
      </p:grpSpPr>
      <p:sp>
        <p:nvSpPr>
          <p:cNvPr id="1039" name="Google Shape;1039;p45"/>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assets/image28.png" id="1040" name="Google Shape;1040;p45"/>
          <p:cNvPicPr preferRelativeResize="0"/>
          <p:nvPr/>
        </p:nvPicPr>
        <p:blipFill rotWithShape="1">
          <a:blip r:embed="rId3">
            <a:alphaModFix/>
          </a:blip>
          <a:srcRect b="0" l="0" r="0" t="0"/>
          <a:stretch/>
        </p:blipFill>
        <p:spPr>
          <a:xfrm>
            <a:off x="11356848" y="228600"/>
            <a:ext cx="502920" cy="484632"/>
          </a:xfrm>
          <a:prstGeom prst="rect">
            <a:avLst/>
          </a:prstGeom>
          <a:noFill/>
          <a:ln>
            <a:noFill/>
          </a:ln>
        </p:spPr>
      </p:pic>
      <p:sp>
        <p:nvSpPr>
          <p:cNvPr id="1041" name="Google Shape;1041;p45"/>
          <p:cNvSpPr/>
          <p:nvPr/>
        </p:nvSpPr>
        <p:spPr>
          <a:xfrm>
            <a:off x="731520" y="292608"/>
            <a:ext cx="1024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000"/>
              <a:buFont typeface="Calibri"/>
              <a:buNone/>
            </a:pPr>
            <a:r>
              <a:rPr b="1" i="0" lang="en-US" sz="1000" u="none" cap="none" strike="noStrike">
                <a:solidFill>
                  <a:srgbClr val="EBC97F"/>
                </a:solidFill>
                <a:latin typeface="Calibri"/>
                <a:ea typeface="Calibri"/>
                <a:cs typeface="Calibri"/>
                <a:sym typeface="Calibri"/>
              </a:rPr>
              <a:t>2.8 · DEPLOYMENT</a:t>
            </a:r>
            <a:endParaRPr b="0" i="0" sz="1000" u="none" cap="none" strike="noStrike">
              <a:solidFill>
                <a:schemeClr val="dk1"/>
              </a:solidFill>
              <a:latin typeface="Calibri"/>
              <a:ea typeface="Calibri"/>
              <a:cs typeface="Calibri"/>
              <a:sym typeface="Calibri"/>
            </a:endParaRPr>
          </a:p>
        </p:txBody>
      </p:sp>
      <p:sp>
        <p:nvSpPr>
          <p:cNvPr id="1042" name="Google Shape;1042;p45"/>
          <p:cNvSpPr/>
          <p:nvPr/>
        </p:nvSpPr>
        <p:spPr>
          <a:xfrm>
            <a:off x="731520" y="566928"/>
            <a:ext cx="10241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Georgia"/>
              <a:buNone/>
            </a:pPr>
            <a:r>
              <a:rPr b="1" i="0" lang="en-US" sz="3000" u="none" cap="none" strike="noStrike">
                <a:solidFill>
                  <a:schemeClr val="dk1"/>
                </a:solidFill>
                <a:latin typeface="Georgia"/>
                <a:ea typeface="Georgia"/>
                <a:cs typeface="Georgia"/>
                <a:sym typeface="Georgia"/>
              </a:rPr>
              <a:t>From checkpoint to edge artifact</a:t>
            </a:r>
            <a:endParaRPr b="0" i="0" sz="3000" u="none" cap="none" strike="noStrike">
              <a:solidFill>
                <a:schemeClr val="dk1"/>
              </a:solidFill>
              <a:latin typeface="Calibri"/>
              <a:ea typeface="Calibri"/>
              <a:cs typeface="Calibri"/>
              <a:sym typeface="Calibri"/>
            </a:endParaRPr>
          </a:p>
        </p:txBody>
      </p:sp>
      <p:sp>
        <p:nvSpPr>
          <p:cNvPr id="1043" name="Google Shape;1043;p45"/>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900"/>
              <a:buFont typeface="Calibri"/>
              <a:buNone/>
            </a:pPr>
            <a:r>
              <a:rPr b="1" i="0" lang="en-US" sz="900" u="none" cap="none" strike="noStrike">
                <a:solidFill>
                  <a:srgbClr val="8A8A8A"/>
                </a:solidFill>
                <a:latin typeface="Calibri"/>
                <a:ea typeface="Calibri"/>
                <a:cs typeface="Calibri"/>
                <a:sym typeface="Calibri"/>
              </a:rPr>
              <a:t>PART 2 · DEPLOYMENT      </a:t>
            </a:r>
            <a:endParaRPr b="0" i="0" sz="900" u="none" cap="none" strike="noStrike">
              <a:solidFill>
                <a:schemeClr val="dk1"/>
              </a:solidFill>
              <a:latin typeface="Calibri"/>
              <a:ea typeface="Calibri"/>
              <a:cs typeface="Calibri"/>
              <a:sym typeface="Calibri"/>
            </a:endParaRPr>
          </a:p>
        </p:txBody>
      </p:sp>
      <p:sp>
        <p:nvSpPr>
          <p:cNvPr id="1044" name="Google Shape;1044;p45"/>
          <p:cNvSpPr/>
          <p:nvPr/>
        </p:nvSpPr>
        <p:spPr>
          <a:xfrm>
            <a:off x="731520" y="1828800"/>
            <a:ext cx="3429000" cy="2469000"/>
          </a:xfrm>
          <a:prstGeom prst="rect">
            <a:avLst/>
          </a:prstGeom>
          <a:solidFill>
            <a:srgbClr val="1C1C1C"/>
          </a:solidFill>
          <a:ln cap="flat" cmpd="sng" w="9525">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5"/>
          <p:cNvSpPr/>
          <p:nvPr/>
        </p:nvSpPr>
        <p:spPr>
          <a:xfrm>
            <a:off x="987552" y="2011680"/>
            <a:ext cx="292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800"/>
              <a:buFont typeface="Georgia"/>
              <a:buNone/>
            </a:pPr>
            <a:r>
              <a:rPr b="1" i="0" lang="en-US" sz="1800" u="none" cap="none" strike="noStrike">
                <a:solidFill>
                  <a:srgbClr val="EBC97F"/>
                </a:solidFill>
                <a:latin typeface="Georgia"/>
                <a:ea typeface="Georgia"/>
                <a:cs typeface="Georgia"/>
                <a:sym typeface="Georgia"/>
              </a:rPr>
              <a:t>Save</a:t>
            </a:r>
            <a:endParaRPr b="0" i="0" sz="1800" u="none" cap="none" strike="noStrike">
              <a:solidFill>
                <a:schemeClr val="dk1"/>
              </a:solidFill>
              <a:latin typeface="Calibri"/>
              <a:ea typeface="Calibri"/>
              <a:cs typeface="Calibri"/>
              <a:sym typeface="Calibri"/>
            </a:endParaRPr>
          </a:p>
        </p:txBody>
      </p:sp>
      <p:sp>
        <p:nvSpPr>
          <p:cNvPr id="1046" name="Google Shape;1046;p45"/>
          <p:cNvSpPr/>
          <p:nvPr/>
        </p:nvSpPr>
        <p:spPr>
          <a:xfrm>
            <a:off x="987552" y="2377440"/>
            <a:ext cx="297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50"/>
              <a:buFont typeface="Courier New"/>
              <a:buNone/>
            </a:pPr>
            <a:r>
              <a:rPr b="0" i="0" lang="en-US" sz="1050" u="none" cap="none" strike="noStrike">
                <a:solidFill>
                  <a:srgbClr val="8A8A8A"/>
                </a:solidFill>
                <a:latin typeface="Courier New"/>
                <a:ea typeface="Courier New"/>
                <a:cs typeface="Courier New"/>
                <a:sym typeface="Courier New"/>
              </a:rPr>
              <a:t>best_improved_model.pth</a:t>
            </a:r>
            <a:endParaRPr b="0" i="0" sz="1050" u="none" cap="none" strike="noStrike">
              <a:solidFill>
                <a:schemeClr val="dk1"/>
              </a:solidFill>
              <a:latin typeface="Calibri"/>
              <a:ea typeface="Calibri"/>
              <a:cs typeface="Calibri"/>
              <a:sym typeface="Calibri"/>
            </a:endParaRPr>
          </a:p>
        </p:txBody>
      </p:sp>
      <p:sp>
        <p:nvSpPr>
          <p:cNvPr id="1047" name="Google Shape;1047;p45"/>
          <p:cNvSpPr/>
          <p:nvPr/>
        </p:nvSpPr>
        <p:spPr>
          <a:xfrm>
            <a:off x="987552" y="2743200"/>
            <a:ext cx="2926200" cy="13899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D0D0D0"/>
              </a:buClr>
              <a:buSzPts val="1600"/>
              <a:buFont typeface="Calibri"/>
              <a:buNone/>
            </a:pPr>
            <a:r>
              <a:rPr b="0" i="0" lang="en-US" sz="1600" u="none" cap="none" strike="noStrike">
                <a:solidFill>
                  <a:srgbClr val="D0D0D0"/>
                </a:solidFill>
                <a:latin typeface="Calibri"/>
                <a:ea typeface="Calibri"/>
                <a:cs typeface="Calibri"/>
                <a:sym typeface="Calibri"/>
              </a:rPr>
              <a:t>Best-validation checkpoint plus feature order and scalers. The model alone cannot reproduce inference.</a:t>
            </a:r>
            <a:endParaRPr b="0" i="0" sz="1600" u="none" cap="none" strike="noStrike">
              <a:solidFill>
                <a:schemeClr val="dk1"/>
              </a:solidFill>
              <a:latin typeface="Calibri"/>
              <a:ea typeface="Calibri"/>
              <a:cs typeface="Calibri"/>
              <a:sym typeface="Calibri"/>
            </a:endParaRPr>
          </a:p>
        </p:txBody>
      </p:sp>
      <p:sp>
        <p:nvSpPr>
          <p:cNvPr id="1048" name="Google Shape;1048;p45"/>
          <p:cNvSpPr/>
          <p:nvPr/>
        </p:nvSpPr>
        <p:spPr>
          <a:xfrm>
            <a:off x="4370832" y="1828800"/>
            <a:ext cx="3429000" cy="2469000"/>
          </a:xfrm>
          <a:prstGeom prst="rect">
            <a:avLst/>
          </a:prstGeom>
          <a:solidFill>
            <a:srgbClr val="1C1C1C"/>
          </a:solidFill>
          <a:ln cap="flat" cmpd="sng" w="9525">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5"/>
          <p:cNvSpPr/>
          <p:nvPr/>
        </p:nvSpPr>
        <p:spPr>
          <a:xfrm>
            <a:off x="4626864" y="2011680"/>
            <a:ext cx="292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800"/>
              <a:buFont typeface="Georgia"/>
              <a:buNone/>
            </a:pPr>
            <a:r>
              <a:rPr b="1" i="0" lang="en-US" sz="1800" u="none" cap="none" strike="noStrike">
                <a:solidFill>
                  <a:srgbClr val="EBC97F"/>
                </a:solidFill>
                <a:latin typeface="Georgia"/>
                <a:ea typeface="Georgia"/>
                <a:cs typeface="Georgia"/>
                <a:sym typeface="Georgia"/>
              </a:rPr>
              <a:t>Export</a:t>
            </a:r>
            <a:endParaRPr b="0" i="0" sz="1800" u="none" cap="none" strike="noStrike">
              <a:solidFill>
                <a:schemeClr val="dk1"/>
              </a:solidFill>
              <a:latin typeface="Calibri"/>
              <a:ea typeface="Calibri"/>
              <a:cs typeface="Calibri"/>
              <a:sym typeface="Calibri"/>
            </a:endParaRPr>
          </a:p>
        </p:txBody>
      </p:sp>
      <p:sp>
        <p:nvSpPr>
          <p:cNvPr id="1050" name="Google Shape;1050;p45"/>
          <p:cNvSpPr/>
          <p:nvPr/>
        </p:nvSpPr>
        <p:spPr>
          <a:xfrm>
            <a:off x="4626864" y="2377440"/>
            <a:ext cx="297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50"/>
              <a:buFont typeface="Courier New"/>
              <a:buNone/>
            </a:pPr>
            <a:r>
              <a:rPr b="0" i="0" lang="en-US" sz="1050" u="none" cap="none" strike="noStrike">
                <a:solidFill>
                  <a:srgbClr val="8A8A8A"/>
                </a:solidFill>
                <a:latin typeface="Courier New"/>
                <a:ea typeface="Courier New"/>
                <a:cs typeface="Courier New"/>
                <a:sym typeface="Courier New"/>
              </a:rPr>
              <a:t>improved_multimodal_net.onnx</a:t>
            </a:r>
            <a:endParaRPr b="0" i="0" sz="1050" u="none" cap="none" strike="noStrike">
              <a:solidFill>
                <a:schemeClr val="dk1"/>
              </a:solidFill>
              <a:latin typeface="Calibri"/>
              <a:ea typeface="Calibri"/>
              <a:cs typeface="Calibri"/>
              <a:sym typeface="Calibri"/>
            </a:endParaRPr>
          </a:p>
        </p:txBody>
      </p:sp>
      <p:sp>
        <p:nvSpPr>
          <p:cNvPr id="1051" name="Google Shape;1051;p45"/>
          <p:cNvSpPr/>
          <p:nvPr/>
        </p:nvSpPr>
        <p:spPr>
          <a:xfrm>
            <a:off x="4626864" y="2743200"/>
            <a:ext cx="2926200" cy="13899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D0D0D0"/>
              </a:buClr>
              <a:buSzPts val="1600"/>
              <a:buFont typeface="Calibri"/>
              <a:buNone/>
            </a:pPr>
            <a:r>
              <a:rPr b="0" i="0" lang="en-US" sz="1600" u="none" cap="none" strike="noStrike">
                <a:solidFill>
                  <a:srgbClr val="D0D0D0"/>
                </a:solidFill>
                <a:latin typeface="Calibri"/>
                <a:ea typeface="Calibri"/>
                <a:cs typeface="Calibri"/>
                <a:sym typeface="Calibri"/>
              </a:rPr>
              <a:t>ONNX decouples the model from PyTorch so an automotive runtime can execute it.</a:t>
            </a:r>
            <a:endParaRPr b="0" i="0" sz="1600" u="none" cap="none" strike="noStrike">
              <a:solidFill>
                <a:schemeClr val="dk1"/>
              </a:solidFill>
              <a:latin typeface="Calibri"/>
              <a:ea typeface="Calibri"/>
              <a:cs typeface="Calibri"/>
              <a:sym typeface="Calibri"/>
            </a:endParaRPr>
          </a:p>
        </p:txBody>
      </p:sp>
      <p:sp>
        <p:nvSpPr>
          <p:cNvPr id="1052" name="Google Shape;1052;p45"/>
          <p:cNvSpPr/>
          <p:nvPr/>
        </p:nvSpPr>
        <p:spPr>
          <a:xfrm>
            <a:off x="8010144" y="1828800"/>
            <a:ext cx="3429000" cy="2469000"/>
          </a:xfrm>
          <a:prstGeom prst="rect">
            <a:avLst/>
          </a:prstGeom>
          <a:solidFill>
            <a:srgbClr val="1C1C1C"/>
          </a:solidFill>
          <a:ln cap="flat" cmpd="sng" w="9525">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5"/>
          <p:cNvSpPr/>
          <p:nvPr/>
        </p:nvSpPr>
        <p:spPr>
          <a:xfrm>
            <a:off x="8266176" y="2011680"/>
            <a:ext cx="292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800"/>
              <a:buFont typeface="Georgia"/>
              <a:buNone/>
            </a:pPr>
            <a:r>
              <a:rPr b="1" i="0" lang="en-US" sz="1800" u="none" cap="none" strike="noStrike">
                <a:solidFill>
                  <a:srgbClr val="EBC97F"/>
                </a:solidFill>
                <a:latin typeface="Georgia"/>
                <a:ea typeface="Georgia"/>
                <a:cs typeface="Georgia"/>
                <a:sym typeface="Georgia"/>
              </a:rPr>
              <a:t>Compress</a:t>
            </a:r>
            <a:endParaRPr b="0" i="0" sz="1800" u="none" cap="none" strike="noStrike">
              <a:solidFill>
                <a:schemeClr val="dk1"/>
              </a:solidFill>
              <a:latin typeface="Calibri"/>
              <a:ea typeface="Calibri"/>
              <a:cs typeface="Calibri"/>
              <a:sym typeface="Calibri"/>
            </a:endParaRPr>
          </a:p>
        </p:txBody>
      </p:sp>
      <p:sp>
        <p:nvSpPr>
          <p:cNvPr id="1054" name="Google Shape;1054;p45"/>
          <p:cNvSpPr/>
          <p:nvPr/>
        </p:nvSpPr>
        <p:spPr>
          <a:xfrm>
            <a:off x="8266176" y="2377440"/>
            <a:ext cx="297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50"/>
              <a:buFont typeface="Courier New"/>
              <a:buNone/>
            </a:pPr>
            <a:r>
              <a:rPr b="0" i="0" lang="en-US" sz="1050" u="none" cap="none" strike="noStrike">
                <a:solidFill>
                  <a:srgbClr val="8A8A8A"/>
                </a:solidFill>
                <a:latin typeface="Courier New"/>
                <a:ea typeface="Courier New"/>
                <a:cs typeface="Courier New"/>
                <a:sym typeface="Courier New"/>
              </a:rPr>
              <a:t>FP16 / INT8</a:t>
            </a:r>
            <a:endParaRPr b="0" i="0" sz="1050" u="none" cap="none" strike="noStrike">
              <a:solidFill>
                <a:schemeClr val="dk1"/>
              </a:solidFill>
              <a:latin typeface="Calibri"/>
              <a:ea typeface="Calibri"/>
              <a:cs typeface="Calibri"/>
              <a:sym typeface="Calibri"/>
            </a:endParaRPr>
          </a:p>
        </p:txBody>
      </p:sp>
      <p:sp>
        <p:nvSpPr>
          <p:cNvPr id="1055" name="Google Shape;1055;p45"/>
          <p:cNvSpPr/>
          <p:nvPr/>
        </p:nvSpPr>
        <p:spPr>
          <a:xfrm>
            <a:off x="8266176" y="2743200"/>
            <a:ext cx="2926200" cy="13899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D0D0D0"/>
              </a:buClr>
              <a:buSzPts val="1600"/>
              <a:buFont typeface="Calibri"/>
              <a:buNone/>
            </a:pPr>
            <a:r>
              <a:rPr b="0" i="0" lang="en-US" sz="1600" u="none" cap="none" strike="noStrike">
                <a:solidFill>
                  <a:srgbClr val="D0D0D0"/>
                </a:solidFill>
                <a:latin typeface="Calibri"/>
                <a:ea typeface="Calibri"/>
                <a:cs typeface="Calibri"/>
                <a:sym typeface="Calibri"/>
              </a:rPr>
              <a:t>2.13 MB → ~0.53 MB. Re-measure per-class recall — rare classes degrade first.</a:t>
            </a:r>
            <a:endParaRPr b="0" i="0" sz="1600" u="none" cap="none" strike="noStrike">
              <a:solidFill>
                <a:schemeClr val="dk1"/>
              </a:solidFill>
              <a:latin typeface="Calibri"/>
              <a:ea typeface="Calibri"/>
              <a:cs typeface="Calibri"/>
              <a:sym typeface="Calibri"/>
            </a:endParaRPr>
          </a:p>
        </p:txBody>
      </p:sp>
      <p:sp>
        <p:nvSpPr>
          <p:cNvPr id="1056" name="Google Shape;1056;p45"/>
          <p:cNvSpPr/>
          <p:nvPr/>
        </p:nvSpPr>
        <p:spPr>
          <a:xfrm>
            <a:off x="731520" y="4572000"/>
            <a:ext cx="10680300" cy="27300"/>
          </a:xfrm>
          <a:prstGeom prst="rect">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45"/>
          <p:cNvSpPr/>
          <p:nvPr/>
        </p:nvSpPr>
        <p:spPr>
          <a:xfrm>
            <a:off x="731520" y="4754880"/>
            <a:ext cx="5029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900"/>
              <a:buFont typeface="Georgia"/>
              <a:buNone/>
            </a:pPr>
            <a:r>
              <a:rPr b="1" i="0" lang="en-US" sz="1900" u="none" cap="none" strike="noStrike">
                <a:solidFill>
                  <a:srgbClr val="B08A2E"/>
                </a:solidFill>
                <a:latin typeface="Georgia"/>
                <a:ea typeface="Georgia"/>
                <a:cs typeface="Georgia"/>
                <a:sym typeface="Georgia"/>
              </a:rPr>
              <a:t>Handoff to Part 3</a:t>
            </a:r>
            <a:endParaRPr b="0" i="0" sz="1900" u="none" cap="none" strike="noStrike">
              <a:solidFill>
                <a:srgbClr val="B08A2E"/>
              </a:solidFill>
              <a:latin typeface="Calibri"/>
              <a:ea typeface="Calibri"/>
              <a:cs typeface="Calibri"/>
              <a:sym typeface="Calibri"/>
            </a:endParaRPr>
          </a:p>
        </p:txBody>
      </p:sp>
      <p:sp>
        <p:nvSpPr>
          <p:cNvPr id="1058" name="Google Shape;1058;p45"/>
          <p:cNvSpPr/>
          <p:nvPr/>
        </p:nvSpPr>
        <p:spPr>
          <a:xfrm>
            <a:off x="731520" y="5138928"/>
            <a:ext cx="5394900" cy="896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B8B8"/>
              </a:buClr>
              <a:buSzPts val="1600"/>
              <a:buFont typeface="Calibri"/>
              <a:buNone/>
            </a:pPr>
            <a:r>
              <a:rPr b="1" i="0" lang="en-US" sz="1600" u="none" cap="none" strike="noStrike">
                <a:solidFill>
                  <a:srgbClr val="444444"/>
                </a:solidFill>
                <a:latin typeface="Calibri"/>
                <a:ea typeface="Calibri"/>
                <a:cs typeface="Calibri"/>
                <a:sym typeface="Calibri"/>
              </a:rPr>
              <a:t>Real-time inference reloads all three artifacts and replays the same preprocessing on a live stream — any drift between them shows up as silent misclassification.</a:t>
            </a:r>
            <a:endParaRPr b="1" i="0" sz="1600" u="none" cap="none" strike="noStrike">
              <a:solidFill>
                <a:srgbClr val="444444"/>
              </a:solidFill>
              <a:latin typeface="Calibri"/>
              <a:ea typeface="Calibri"/>
              <a:cs typeface="Calibri"/>
              <a:sym typeface="Calibri"/>
            </a:endParaRPr>
          </a:p>
        </p:txBody>
      </p:sp>
      <p:sp>
        <p:nvSpPr>
          <p:cNvPr id="1059" name="Google Shape;1059;p45"/>
          <p:cNvSpPr/>
          <p:nvPr/>
        </p:nvSpPr>
        <p:spPr>
          <a:xfrm>
            <a:off x="6583680" y="4754880"/>
            <a:ext cx="484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What carries forward</a:t>
            </a:r>
            <a:endParaRPr b="0" i="0" sz="1900" u="none" cap="none" strike="noStrike">
              <a:solidFill>
                <a:schemeClr val="dk1"/>
              </a:solidFill>
              <a:latin typeface="Calibri"/>
              <a:ea typeface="Calibri"/>
              <a:cs typeface="Calibri"/>
              <a:sym typeface="Calibri"/>
            </a:endParaRPr>
          </a:p>
        </p:txBody>
      </p:sp>
      <p:sp>
        <p:nvSpPr>
          <p:cNvPr id="1060" name="Google Shape;1060;p45"/>
          <p:cNvSpPr/>
          <p:nvPr/>
        </p:nvSpPr>
        <p:spPr>
          <a:xfrm>
            <a:off x="6583680" y="5138928"/>
            <a:ext cx="4827900" cy="896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B8B8"/>
              </a:buClr>
              <a:buSzPts val="1600"/>
              <a:buFont typeface="Calibri"/>
              <a:buNone/>
            </a:pPr>
            <a:r>
              <a:t/>
            </a:r>
            <a:endParaRPr i="0" sz="1600" u="none" cap="none" strike="noStrike">
              <a:solidFill>
                <a:srgbClr val="0F0F0F"/>
              </a:solidFill>
              <a:latin typeface="Calibri"/>
              <a:ea typeface="Calibri"/>
              <a:cs typeface="Calibri"/>
              <a:sym typeface="Calibri"/>
            </a:endParaRPr>
          </a:p>
        </p:txBody>
      </p:sp>
      <p:sp>
        <p:nvSpPr>
          <p:cNvPr id="1061" name="Google Shape;1061;p45"/>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1066" name="Shape 1066"/>
        <p:cNvGrpSpPr/>
        <p:nvPr/>
      </p:nvGrpSpPr>
      <p:grpSpPr>
        <a:xfrm>
          <a:off x="0" y="0"/>
          <a:ext cx="0" cy="0"/>
          <a:chOff x="0" y="0"/>
          <a:chExt cx="0" cy="0"/>
        </a:xfrm>
      </p:grpSpPr>
      <p:sp>
        <p:nvSpPr>
          <p:cNvPr id="1067" name="Google Shape;1067;p46"/>
          <p:cNvSpPr/>
          <p:nvPr/>
        </p:nvSpPr>
        <p:spPr>
          <a:xfrm>
            <a:off x="777240" y="21945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8932E"/>
              </a:buClr>
              <a:buSzPts val="1300"/>
              <a:buFont typeface="Arial"/>
              <a:buNone/>
            </a:pPr>
            <a:r>
              <a:rPr b="1" i="0" lang="en-US" sz="1300" u="none" cap="none" strike="noStrike">
                <a:solidFill>
                  <a:srgbClr val="B8932E"/>
                </a:solidFill>
                <a:latin typeface="Arial"/>
                <a:ea typeface="Arial"/>
                <a:cs typeface="Arial"/>
                <a:sym typeface="Arial"/>
              </a:rPr>
              <a:t>MODULE 5.</a:t>
            </a:r>
            <a:r>
              <a:rPr b="1" lang="en-US" sz="1300">
                <a:solidFill>
                  <a:srgbClr val="B8932E"/>
                </a:solidFill>
              </a:rPr>
              <a:t>4</a:t>
            </a:r>
            <a:r>
              <a:rPr b="1" i="0" lang="en-US" sz="1300" u="none" cap="none" strike="noStrike">
                <a:solidFill>
                  <a:srgbClr val="B8932E"/>
                </a:solidFill>
                <a:latin typeface="Arial"/>
                <a:ea typeface="Arial"/>
                <a:cs typeface="Arial"/>
                <a:sym typeface="Arial"/>
              </a:rPr>
              <a:t>   ·   TOPIC 3  </a:t>
            </a:r>
            <a:endParaRPr b="0" i="0" sz="1300" u="none" cap="none" strike="noStrike">
              <a:solidFill>
                <a:schemeClr val="dk1"/>
              </a:solidFill>
              <a:latin typeface="Calibri"/>
              <a:ea typeface="Calibri"/>
              <a:cs typeface="Calibri"/>
              <a:sym typeface="Calibri"/>
            </a:endParaRPr>
          </a:p>
        </p:txBody>
      </p:sp>
      <p:sp>
        <p:nvSpPr>
          <p:cNvPr id="1068" name="Google Shape;1068;p46"/>
          <p:cNvSpPr/>
          <p:nvPr/>
        </p:nvSpPr>
        <p:spPr>
          <a:xfrm>
            <a:off x="731525" y="2560325"/>
            <a:ext cx="116496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Georgia"/>
              <a:buNone/>
            </a:pPr>
            <a:r>
              <a:rPr b="1" lang="en-US" sz="4600">
                <a:solidFill>
                  <a:srgbClr val="FFFFFF"/>
                </a:solidFill>
                <a:latin typeface="Georgia"/>
                <a:ea typeface="Georgia"/>
                <a:cs typeface="Georgia"/>
                <a:sym typeface="Georgia"/>
              </a:rPr>
              <a:t>Real-Time </a:t>
            </a:r>
            <a:r>
              <a:rPr b="1" i="0" lang="en-US" sz="4600" u="none" cap="none" strike="noStrike">
                <a:solidFill>
                  <a:srgbClr val="FFFFFF"/>
                </a:solidFill>
                <a:latin typeface="Georgia"/>
                <a:ea typeface="Georgia"/>
                <a:cs typeface="Georgia"/>
                <a:sym typeface="Georgia"/>
              </a:rPr>
              <a:t>Inference</a:t>
            </a:r>
            <a:r>
              <a:rPr lang="en-US" sz="4600">
                <a:solidFill>
                  <a:schemeClr val="dk1"/>
                </a:solidFill>
                <a:latin typeface="Calibri"/>
                <a:ea typeface="Calibri"/>
                <a:cs typeface="Calibri"/>
                <a:sym typeface="Calibri"/>
              </a:rPr>
              <a:t> </a:t>
            </a:r>
            <a:r>
              <a:rPr b="1" i="0" lang="en-US" sz="4600" u="none" cap="none" strike="noStrike">
                <a:solidFill>
                  <a:srgbClr val="FFFFFF"/>
                </a:solidFill>
                <a:latin typeface="Georgia"/>
                <a:ea typeface="Georgia"/>
                <a:cs typeface="Georgia"/>
                <a:sym typeface="Georgia"/>
              </a:rPr>
              <a:t>&amp; Alerts</a:t>
            </a:r>
            <a:endParaRPr b="0" i="0" sz="4600" u="none" cap="none" strike="noStrike">
              <a:solidFill>
                <a:schemeClr val="dk1"/>
              </a:solidFill>
              <a:latin typeface="Calibri"/>
              <a:ea typeface="Calibri"/>
              <a:cs typeface="Calibri"/>
              <a:sym typeface="Calibri"/>
            </a:endParaRPr>
          </a:p>
        </p:txBody>
      </p:sp>
      <p:sp>
        <p:nvSpPr>
          <p:cNvPr id="1069" name="Google Shape;1069;p46"/>
          <p:cNvSpPr/>
          <p:nvPr/>
        </p:nvSpPr>
        <p:spPr>
          <a:xfrm>
            <a:off x="786384" y="4370832"/>
            <a:ext cx="914400" cy="549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6"/>
          <p:cNvSpPr/>
          <p:nvPr/>
        </p:nvSpPr>
        <p:spPr>
          <a:xfrm>
            <a:off x="786384" y="4526280"/>
            <a:ext cx="914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C5BC"/>
              </a:buClr>
              <a:buSzPts val="1500"/>
              <a:buFont typeface="Calibri"/>
              <a:buNone/>
            </a:pPr>
            <a:r>
              <a:rPr lang="en-US" sz="1500">
                <a:solidFill>
                  <a:srgbClr val="C8C5BC"/>
                </a:solidFill>
                <a:latin typeface="Calibri"/>
                <a:ea typeface="Calibri"/>
                <a:cs typeface="Calibri"/>
                <a:sym typeface="Calibri"/>
              </a:rPr>
              <a:t>Real-time anomaly detection with intelligent alert management for autonomous vehicles.</a:t>
            </a:r>
            <a:endParaRPr b="0" i="0" sz="1500" u="none" cap="none" strike="noStrike">
              <a:solidFill>
                <a:schemeClr val="dk1"/>
              </a:solidFill>
              <a:latin typeface="Calibri"/>
              <a:ea typeface="Calibri"/>
              <a:cs typeface="Calibri"/>
              <a:sym typeface="Calibri"/>
            </a:endParaRPr>
          </a:p>
        </p:txBody>
      </p:sp>
      <p:pic>
        <p:nvPicPr>
          <p:cNvPr descr="assets/ou_logo.png" id="1071" name="Google Shape;1071;p46"/>
          <p:cNvPicPr preferRelativeResize="0"/>
          <p:nvPr/>
        </p:nvPicPr>
        <p:blipFill rotWithShape="1">
          <a:blip r:embed="rId3">
            <a:alphaModFix/>
          </a:blip>
          <a:srcRect b="0" l="0" r="0" t="0"/>
          <a:stretch/>
        </p:blipFill>
        <p:spPr>
          <a:xfrm>
            <a:off x="9189720" y="384048"/>
            <a:ext cx="713232" cy="685801"/>
          </a:xfrm>
          <a:prstGeom prst="rect">
            <a:avLst/>
          </a:prstGeom>
          <a:noFill/>
          <a:ln>
            <a:noFill/>
          </a:ln>
        </p:spPr>
      </p:pic>
      <p:pic>
        <p:nvPicPr>
          <p:cNvPr descr="assets/nsf_logo.png" id="1072" name="Google Shape;1072;p46"/>
          <p:cNvPicPr preferRelativeResize="0"/>
          <p:nvPr/>
        </p:nvPicPr>
        <p:blipFill rotWithShape="1">
          <a:blip r:embed="rId4">
            <a:alphaModFix/>
          </a:blip>
          <a:srcRect b="0" l="0" r="0" t="0"/>
          <a:stretch/>
        </p:blipFill>
        <p:spPr>
          <a:xfrm>
            <a:off x="10012680" y="384048"/>
            <a:ext cx="685800" cy="685800"/>
          </a:xfrm>
          <a:prstGeom prst="rect">
            <a:avLst/>
          </a:prstGeom>
          <a:noFill/>
          <a:ln>
            <a:noFill/>
          </a:ln>
        </p:spPr>
      </p:pic>
      <p:pic>
        <p:nvPicPr>
          <p:cNvPr descr="assets/wpi_logo.png" id="1073" name="Google Shape;1073;p46"/>
          <p:cNvPicPr preferRelativeResize="0"/>
          <p:nvPr/>
        </p:nvPicPr>
        <p:blipFill rotWithShape="1">
          <a:blip r:embed="rId5">
            <a:alphaModFix/>
          </a:blip>
          <a:srcRect b="0" l="0" r="0" t="0"/>
          <a:stretch/>
        </p:blipFill>
        <p:spPr>
          <a:xfrm>
            <a:off x="10789920" y="566928"/>
            <a:ext cx="1078991" cy="438912"/>
          </a:xfrm>
          <a:prstGeom prst="rect">
            <a:avLst/>
          </a:prstGeom>
          <a:noFill/>
          <a:ln>
            <a:noFill/>
          </a:ln>
        </p:spPr>
      </p:pic>
      <p:sp>
        <p:nvSpPr>
          <p:cNvPr id="1074" name="Google Shape;1074;p46"/>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9" name="Shape 1079"/>
        <p:cNvGrpSpPr/>
        <p:nvPr/>
      </p:nvGrpSpPr>
      <p:grpSpPr>
        <a:xfrm>
          <a:off x="0" y="0"/>
          <a:ext cx="0" cy="0"/>
          <a:chOff x="0" y="0"/>
          <a:chExt cx="0" cy="0"/>
        </a:xfrm>
      </p:grpSpPr>
      <p:sp>
        <p:nvSpPr>
          <p:cNvPr id="1080" name="Google Shape;1080;p47"/>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081" name="Google Shape;1081;p47"/>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082" name="Google Shape;1082;p47"/>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a:t>
            </a:r>
            <a:r>
              <a:rPr b="1" lang="en-US" sz="900">
                <a:solidFill>
                  <a:srgbClr val="8A8A8A"/>
                </a:solidFill>
                <a:latin typeface="Calibri"/>
                <a:ea typeface="Calibri"/>
                <a:cs typeface="Calibri"/>
                <a:sym typeface="Calibri"/>
              </a:rPr>
              <a:t>Real-Time Inference &amp; Alerts</a:t>
            </a:r>
            <a:endParaRPr sz="900">
              <a:solidFill>
                <a:schemeClr val="dk1"/>
              </a:solidFill>
              <a:latin typeface="Calibri"/>
              <a:ea typeface="Calibri"/>
              <a:cs typeface="Calibri"/>
              <a:sym typeface="Calibri"/>
            </a:endParaRPr>
          </a:p>
        </p:txBody>
      </p:sp>
      <p:sp>
        <p:nvSpPr>
          <p:cNvPr id="1083" name="Google Shape;1083;p47"/>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PRELIMINARY</a:t>
            </a:r>
            <a:endParaRPr sz="1000">
              <a:solidFill>
                <a:schemeClr val="dk1"/>
              </a:solidFill>
              <a:latin typeface="Calibri"/>
              <a:ea typeface="Calibri"/>
              <a:cs typeface="Calibri"/>
              <a:sym typeface="Calibri"/>
            </a:endParaRPr>
          </a:p>
        </p:txBody>
      </p:sp>
      <p:sp>
        <p:nvSpPr>
          <p:cNvPr id="1084" name="Google Shape;1084;p47"/>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2800"/>
              <a:buFont typeface="Georgia"/>
              <a:buNone/>
            </a:pPr>
            <a:r>
              <a:rPr b="1" lang="en-US" sz="2800">
                <a:solidFill>
                  <a:srgbClr val="1A1A1A"/>
                </a:solidFill>
                <a:latin typeface="Georgia"/>
                <a:ea typeface="Georgia"/>
                <a:cs typeface="Georgia"/>
                <a:sym typeface="Georgia"/>
              </a:rPr>
              <a:t>Edge Devices in Autonomous Vehicles</a:t>
            </a:r>
            <a:endParaRPr b="1" sz="3000">
              <a:solidFill>
                <a:srgbClr val="1A1A1A"/>
              </a:solidFill>
              <a:latin typeface="Georgia"/>
              <a:ea typeface="Georgia"/>
              <a:cs typeface="Georgia"/>
              <a:sym typeface="Georgia"/>
            </a:endParaRPr>
          </a:p>
        </p:txBody>
      </p:sp>
      <p:sp>
        <p:nvSpPr>
          <p:cNvPr id="1085" name="Google Shape;1085;p47"/>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47"/>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pic>
        <p:nvPicPr>
          <p:cNvPr descr="/home/claude/deck/car.png" id="1087" name="Google Shape;1087;p47"/>
          <p:cNvPicPr preferRelativeResize="0"/>
          <p:nvPr/>
        </p:nvPicPr>
        <p:blipFill rotWithShape="1">
          <a:blip r:embed="rId4">
            <a:alphaModFix/>
          </a:blip>
          <a:srcRect b="0" l="0" r="0" t="0"/>
          <a:stretch/>
        </p:blipFill>
        <p:spPr>
          <a:xfrm>
            <a:off x="6903720" y="2148840"/>
            <a:ext cx="4709160" cy="3154680"/>
          </a:xfrm>
          <a:prstGeom prst="rect">
            <a:avLst/>
          </a:prstGeom>
          <a:noFill/>
          <a:ln>
            <a:noFill/>
          </a:ln>
        </p:spPr>
      </p:pic>
      <p:sp>
        <p:nvSpPr>
          <p:cNvPr id="1088" name="Google Shape;1088;p47"/>
          <p:cNvSpPr/>
          <p:nvPr/>
        </p:nvSpPr>
        <p:spPr>
          <a:xfrm>
            <a:off x="6903720" y="5349240"/>
            <a:ext cx="4709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1150"/>
              <a:buFont typeface="Calibri"/>
              <a:buNone/>
            </a:pPr>
            <a:r>
              <a:rPr lang="en-US" sz="1350" u="none" cap="none" strike="noStrike">
                <a:solidFill>
                  <a:srgbClr val="7A7A7A"/>
                </a:solidFill>
              </a:rPr>
              <a:t>Connected vehicles sense the road continuously</a:t>
            </a:r>
            <a:endParaRPr sz="1350" u="none" cap="none" strike="noStrike">
              <a:solidFill>
                <a:srgbClr val="000000"/>
              </a:solidFill>
            </a:endParaRPr>
          </a:p>
        </p:txBody>
      </p:sp>
      <p:sp>
        <p:nvSpPr>
          <p:cNvPr id="1089" name="Google Shape;1089;p47"/>
          <p:cNvSpPr/>
          <p:nvPr/>
        </p:nvSpPr>
        <p:spPr>
          <a:xfrm>
            <a:off x="566928" y="2313432"/>
            <a:ext cx="201300" cy="137100"/>
          </a:xfrm>
          <a:prstGeom prst="rightArrow">
            <a:avLst>
              <a:gd fmla="val 50000" name="adj1"/>
              <a:gd fmla="val 50000" name="adj2"/>
            </a:avLst>
          </a:prstGeom>
          <a:solidFill>
            <a:srgbClr val="A98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7"/>
          <p:cNvSpPr/>
          <p:nvPr/>
        </p:nvSpPr>
        <p:spPr>
          <a:xfrm>
            <a:off x="932688" y="2231136"/>
            <a:ext cx="5669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450"/>
              <a:buFont typeface="Calibri"/>
              <a:buNone/>
            </a:pPr>
            <a:r>
              <a:rPr i="0" lang="en-US" sz="1600" u="none" cap="none" strike="noStrike">
                <a:solidFill>
                  <a:srgbClr val="1C1C1C"/>
                </a:solidFill>
              </a:rPr>
              <a:t>A connected vehicle senses the road non-stop </a:t>
            </a:r>
            <a:r>
              <a:rPr lang="en-US" sz="1600">
                <a:solidFill>
                  <a:srgbClr val="1C1C1C"/>
                </a:solidFill>
              </a:rPr>
              <a:t>such as</a:t>
            </a:r>
            <a:r>
              <a:rPr i="0" lang="en-US" sz="1600" u="none" cap="none" strike="noStrike">
                <a:solidFill>
                  <a:srgbClr val="1C1C1C"/>
                </a:solidFill>
              </a:rPr>
              <a:t> cameras, radar, LiDAR, GPS, and internal telemetry.</a:t>
            </a:r>
            <a:endParaRPr i="0" sz="1600" u="none" cap="none" strike="noStrike">
              <a:solidFill>
                <a:srgbClr val="000000"/>
              </a:solidFill>
            </a:endParaRPr>
          </a:p>
        </p:txBody>
      </p:sp>
      <p:sp>
        <p:nvSpPr>
          <p:cNvPr id="1091" name="Google Shape;1091;p47"/>
          <p:cNvSpPr/>
          <p:nvPr/>
        </p:nvSpPr>
        <p:spPr>
          <a:xfrm>
            <a:off x="566928" y="3182112"/>
            <a:ext cx="201300" cy="137100"/>
          </a:xfrm>
          <a:prstGeom prst="rightArrow">
            <a:avLst>
              <a:gd fmla="val 50000" name="adj1"/>
              <a:gd fmla="val 50000" name="adj2"/>
            </a:avLst>
          </a:prstGeom>
          <a:solidFill>
            <a:srgbClr val="A98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7"/>
          <p:cNvSpPr/>
          <p:nvPr/>
        </p:nvSpPr>
        <p:spPr>
          <a:xfrm>
            <a:off x="932688" y="3099816"/>
            <a:ext cx="5669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450"/>
              <a:buFont typeface="Calibri"/>
              <a:buNone/>
            </a:pPr>
            <a:r>
              <a:rPr i="0" lang="en-US" sz="1600" u="none" cap="none" strike="noStrike">
                <a:solidFill>
                  <a:srgbClr val="1C1C1C"/>
                </a:solidFill>
              </a:rPr>
              <a:t>Threats come in two forms: a physical fault (brakes, tires, sensors) or a cyber attack on the vehicle network.</a:t>
            </a:r>
            <a:endParaRPr i="0" sz="1600" u="none" cap="none" strike="noStrike">
              <a:solidFill>
                <a:srgbClr val="000000"/>
              </a:solidFill>
            </a:endParaRPr>
          </a:p>
        </p:txBody>
      </p:sp>
      <p:sp>
        <p:nvSpPr>
          <p:cNvPr id="1093" name="Google Shape;1093;p47"/>
          <p:cNvSpPr/>
          <p:nvPr/>
        </p:nvSpPr>
        <p:spPr>
          <a:xfrm>
            <a:off x="566928" y="4050792"/>
            <a:ext cx="201300" cy="137100"/>
          </a:xfrm>
          <a:prstGeom prst="rightArrow">
            <a:avLst>
              <a:gd fmla="val 50000" name="adj1"/>
              <a:gd fmla="val 50000" name="adj2"/>
            </a:avLst>
          </a:prstGeom>
          <a:solidFill>
            <a:srgbClr val="A98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7"/>
          <p:cNvSpPr/>
          <p:nvPr/>
        </p:nvSpPr>
        <p:spPr>
          <a:xfrm>
            <a:off x="932688" y="3968496"/>
            <a:ext cx="5669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450"/>
              <a:buFont typeface="Calibri"/>
              <a:buNone/>
            </a:pPr>
            <a:r>
              <a:rPr i="0" lang="en-US" sz="1600" u="none" cap="none" strike="noStrike">
                <a:solidFill>
                  <a:srgbClr val="1C1C1C"/>
                </a:solidFill>
              </a:rPr>
              <a:t>There is no time to send data to the cloud — detection and response must happen on the vehicle, in real time.</a:t>
            </a:r>
            <a:endParaRPr i="0" sz="1600" u="none" cap="none" strike="noStrike">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9" name="Shape 1099"/>
        <p:cNvGrpSpPr/>
        <p:nvPr/>
      </p:nvGrpSpPr>
      <p:grpSpPr>
        <a:xfrm>
          <a:off x="0" y="0"/>
          <a:ext cx="0" cy="0"/>
          <a:chOff x="0" y="0"/>
          <a:chExt cx="0" cy="0"/>
        </a:xfrm>
      </p:grpSpPr>
      <p:sp>
        <p:nvSpPr>
          <p:cNvPr id="1100" name="Google Shape;1100;p48"/>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101" name="Google Shape;1101;p48"/>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102" name="Google Shape;1102;p48"/>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103" name="Google Shape;1103;p48"/>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PRELIMINARY</a:t>
            </a:r>
            <a:endParaRPr sz="1000">
              <a:solidFill>
                <a:schemeClr val="dk1"/>
              </a:solidFill>
              <a:latin typeface="Calibri"/>
              <a:ea typeface="Calibri"/>
              <a:cs typeface="Calibri"/>
              <a:sym typeface="Calibri"/>
            </a:endParaRPr>
          </a:p>
        </p:txBody>
      </p:sp>
      <p:sp>
        <p:nvSpPr>
          <p:cNvPr id="1104" name="Google Shape;1104;p48"/>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Why real-time matters for autonomous systems</a:t>
            </a:r>
            <a:endParaRPr b="1" sz="3000">
              <a:solidFill>
                <a:srgbClr val="1A1A1A"/>
              </a:solidFill>
              <a:latin typeface="Georgia"/>
              <a:ea typeface="Georgia"/>
              <a:cs typeface="Georgia"/>
              <a:sym typeface="Georgia"/>
            </a:endParaRPr>
          </a:p>
        </p:txBody>
      </p:sp>
      <p:sp>
        <p:nvSpPr>
          <p:cNvPr id="1105" name="Google Shape;1105;p48"/>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48"/>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pic>
        <p:nvPicPr>
          <p:cNvPr id="1107" name="Google Shape;1107;p48"/>
          <p:cNvPicPr preferRelativeResize="0"/>
          <p:nvPr/>
        </p:nvPicPr>
        <p:blipFill>
          <a:blip r:embed="rId4">
            <a:alphaModFix/>
          </a:blip>
          <a:stretch>
            <a:fillRect/>
          </a:stretch>
        </p:blipFill>
        <p:spPr>
          <a:xfrm>
            <a:off x="548650" y="1656836"/>
            <a:ext cx="600075" cy="600075"/>
          </a:xfrm>
          <a:prstGeom prst="rect">
            <a:avLst/>
          </a:prstGeom>
          <a:noFill/>
          <a:ln>
            <a:noFill/>
          </a:ln>
        </p:spPr>
      </p:pic>
      <p:pic>
        <p:nvPicPr>
          <p:cNvPr id="1108" name="Google Shape;1108;p48"/>
          <p:cNvPicPr preferRelativeResize="0"/>
          <p:nvPr/>
        </p:nvPicPr>
        <p:blipFill>
          <a:blip r:embed="rId5">
            <a:alphaModFix/>
          </a:blip>
          <a:stretch>
            <a:fillRect/>
          </a:stretch>
        </p:blipFill>
        <p:spPr>
          <a:xfrm>
            <a:off x="548650" y="2896361"/>
            <a:ext cx="600075" cy="600075"/>
          </a:xfrm>
          <a:prstGeom prst="rect">
            <a:avLst/>
          </a:prstGeom>
          <a:noFill/>
          <a:ln>
            <a:noFill/>
          </a:ln>
        </p:spPr>
      </p:pic>
      <p:sp>
        <p:nvSpPr>
          <p:cNvPr id="1109" name="Google Shape;1109;p48"/>
          <p:cNvSpPr txBox="1"/>
          <p:nvPr/>
        </p:nvSpPr>
        <p:spPr>
          <a:xfrm>
            <a:off x="1425150" y="3429425"/>
            <a:ext cx="946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10" name="Google Shape;1110;p48"/>
          <p:cNvSpPr txBox="1"/>
          <p:nvPr/>
        </p:nvSpPr>
        <p:spPr>
          <a:xfrm>
            <a:off x="1254425" y="2821538"/>
            <a:ext cx="10680300" cy="7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rgbClr val="1C1C1C"/>
                </a:solidFill>
              </a:rPr>
              <a:t>Threats are both cyber and physical</a:t>
            </a:r>
            <a:endParaRPr sz="1800">
              <a:solidFill>
                <a:srgbClr val="5A5A5A"/>
              </a:solidFill>
            </a:endParaRPr>
          </a:p>
          <a:p>
            <a:pPr indent="0" lvl="0" marL="0" rtl="0" algn="l">
              <a:lnSpc>
                <a:spcPct val="115000"/>
              </a:lnSpc>
              <a:spcBef>
                <a:spcPts val="0"/>
              </a:spcBef>
              <a:spcAft>
                <a:spcPts val="0"/>
              </a:spcAft>
              <a:buNone/>
            </a:pPr>
            <a:r>
              <a:rPr lang="en-US" sz="1600">
                <a:solidFill>
                  <a:srgbClr val="5A5A5A"/>
                </a:solidFill>
              </a:rPr>
              <a:t>An anomaly may be a network attack, or a failing physical component. Both must be caught as they happen.</a:t>
            </a:r>
            <a:endParaRPr sz="1600"/>
          </a:p>
        </p:txBody>
      </p:sp>
      <p:sp>
        <p:nvSpPr>
          <p:cNvPr id="1111" name="Google Shape;1111;p48"/>
          <p:cNvSpPr txBox="1"/>
          <p:nvPr/>
        </p:nvSpPr>
        <p:spPr>
          <a:xfrm>
            <a:off x="1298350" y="1543325"/>
            <a:ext cx="10680300" cy="7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rgbClr val="1C1C1C"/>
                </a:solidFill>
              </a:rPr>
              <a:t>Safety is immediate</a:t>
            </a:r>
            <a:endParaRPr sz="1800">
              <a:solidFill>
                <a:srgbClr val="5A5A5A"/>
              </a:solidFill>
            </a:endParaRPr>
          </a:p>
          <a:p>
            <a:pPr indent="0" lvl="0" marL="0" rtl="0" algn="l">
              <a:lnSpc>
                <a:spcPct val="115000"/>
              </a:lnSpc>
              <a:spcBef>
                <a:spcPts val="0"/>
              </a:spcBef>
              <a:spcAft>
                <a:spcPts val="0"/>
              </a:spcAft>
              <a:buNone/>
            </a:pPr>
            <a:r>
              <a:rPr lang="en-US" sz="1600">
                <a:solidFill>
                  <a:srgbClr val="5A5A5A"/>
                </a:solidFill>
              </a:rPr>
              <a:t>A vehicle cannot wait to analyze data later including braking, steering, and sensor decisions happen in real time.</a:t>
            </a:r>
            <a:endParaRPr sz="1600">
              <a:solidFill>
                <a:srgbClr val="5A5A5A"/>
              </a:solidFill>
            </a:endParaRPr>
          </a:p>
        </p:txBody>
      </p:sp>
      <p:pic>
        <p:nvPicPr>
          <p:cNvPr id="1112" name="Google Shape;1112;p48"/>
          <p:cNvPicPr preferRelativeResize="0"/>
          <p:nvPr/>
        </p:nvPicPr>
        <p:blipFill>
          <a:blip r:embed="rId6">
            <a:alphaModFix/>
          </a:blip>
          <a:stretch>
            <a:fillRect/>
          </a:stretch>
        </p:blipFill>
        <p:spPr>
          <a:xfrm>
            <a:off x="522963" y="4111113"/>
            <a:ext cx="600075" cy="600075"/>
          </a:xfrm>
          <a:prstGeom prst="rect">
            <a:avLst/>
          </a:prstGeom>
          <a:noFill/>
          <a:ln>
            <a:noFill/>
          </a:ln>
        </p:spPr>
      </p:pic>
      <p:sp>
        <p:nvSpPr>
          <p:cNvPr id="1113" name="Google Shape;1113;p48"/>
          <p:cNvSpPr txBox="1"/>
          <p:nvPr/>
        </p:nvSpPr>
        <p:spPr>
          <a:xfrm>
            <a:off x="1254425" y="4000913"/>
            <a:ext cx="10680300" cy="11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rgbClr val="1C1C1C"/>
                </a:solidFill>
              </a:rPr>
              <a:t>The edge cannot wait for the cloud</a:t>
            </a:r>
            <a:endParaRPr sz="1800">
              <a:solidFill>
                <a:srgbClr val="5A5A5A"/>
              </a:solidFill>
            </a:endParaRPr>
          </a:p>
          <a:p>
            <a:pPr indent="0" lvl="0" marL="0" rtl="0" algn="l">
              <a:lnSpc>
                <a:spcPct val="145454"/>
              </a:lnSpc>
              <a:spcBef>
                <a:spcPts val="0"/>
              </a:spcBef>
              <a:spcAft>
                <a:spcPts val="0"/>
              </a:spcAft>
              <a:buNone/>
            </a:pPr>
            <a:r>
              <a:rPr lang="en-US" sz="1600">
                <a:solidFill>
                  <a:srgbClr val="444444"/>
                </a:solidFill>
              </a:rPr>
              <a:t>Connectivity is intermittent and round-trips are slow. Attack traffic can grow very fast, so the vehicle cannot store data and analyze it later — inference runs on the edge device itself.</a:t>
            </a:r>
            <a:endParaRPr sz="1600">
              <a:solidFill>
                <a:srgbClr val="5A5A5A"/>
              </a:solidFill>
            </a:endParaRPr>
          </a:p>
        </p:txBody>
      </p:sp>
      <p:pic>
        <p:nvPicPr>
          <p:cNvPr id="1114" name="Google Shape;1114;p48"/>
          <p:cNvPicPr preferRelativeResize="0"/>
          <p:nvPr/>
        </p:nvPicPr>
        <p:blipFill>
          <a:blip r:embed="rId7">
            <a:alphaModFix/>
          </a:blip>
          <a:stretch>
            <a:fillRect/>
          </a:stretch>
        </p:blipFill>
        <p:spPr>
          <a:xfrm>
            <a:off x="522963" y="5382013"/>
            <a:ext cx="600075" cy="600075"/>
          </a:xfrm>
          <a:prstGeom prst="rect">
            <a:avLst/>
          </a:prstGeom>
          <a:noFill/>
          <a:ln>
            <a:noFill/>
          </a:ln>
        </p:spPr>
      </p:pic>
      <p:sp>
        <p:nvSpPr>
          <p:cNvPr id="1115" name="Google Shape;1115;p48"/>
          <p:cNvSpPr txBox="1"/>
          <p:nvPr/>
        </p:nvSpPr>
        <p:spPr>
          <a:xfrm>
            <a:off x="1254425" y="5283163"/>
            <a:ext cx="10680300" cy="7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rgbClr val="1C1C1C"/>
                </a:solidFill>
              </a:rPr>
              <a:t>Action must be actionable</a:t>
            </a:r>
            <a:endParaRPr sz="1800">
              <a:solidFill>
                <a:srgbClr val="5A5A5A"/>
              </a:solidFill>
            </a:endParaRPr>
          </a:p>
          <a:p>
            <a:pPr indent="0" lvl="0" marL="0" rtl="0" algn="l">
              <a:lnSpc>
                <a:spcPct val="115000"/>
              </a:lnSpc>
              <a:spcBef>
                <a:spcPts val="0"/>
              </a:spcBef>
              <a:spcAft>
                <a:spcPts val="0"/>
              </a:spcAft>
              <a:buNone/>
            </a:pPr>
            <a:r>
              <a:rPr lang="en-US" sz="1600">
                <a:solidFill>
                  <a:srgbClr val="5A5A5A"/>
                </a:solidFill>
              </a:rPr>
              <a:t>Raw detections are not enough; the system must turn them into clear, prioritized alerts a human can act on.</a:t>
            </a:r>
            <a:endParaRPr sz="1600">
              <a:solidFill>
                <a:srgbClr val="5A5A5A"/>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0" name="Shape 1120"/>
        <p:cNvGrpSpPr/>
        <p:nvPr/>
      </p:nvGrpSpPr>
      <p:grpSpPr>
        <a:xfrm>
          <a:off x="0" y="0"/>
          <a:ext cx="0" cy="0"/>
          <a:chOff x="0" y="0"/>
          <a:chExt cx="0" cy="0"/>
        </a:xfrm>
      </p:grpSpPr>
      <p:sp>
        <p:nvSpPr>
          <p:cNvPr id="1121" name="Google Shape;1121;p49"/>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122" name="Google Shape;1122;p49"/>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123" name="Google Shape;1123;p49"/>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124" name="Google Shape;1124;p49"/>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PRELIMINARY</a:t>
            </a:r>
            <a:endParaRPr sz="1000">
              <a:solidFill>
                <a:schemeClr val="dk1"/>
              </a:solidFill>
              <a:latin typeface="Calibri"/>
              <a:ea typeface="Calibri"/>
              <a:cs typeface="Calibri"/>
              <a:sym typeface="Calibri"/>
            </a:endParaRPr>
          </a:p>
        </p:txBody>
      </p:sp>
      <p:sp>
        <p:nvSpPr>
          <p:cNvPr id="1125" name="Google Shape;1125;p49"/>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Batch Thinking vs. Stream Thinking</a:t>
            </a:r>
            <a:endParaRPr b="1" sz="3000">
              <a:solidFill>
                <a:srgbClr val="1A1A1A"/>
              </a:solidFill>
              <a:latin typeface="Georgia"/>
              <a:ea typeface="Georgia"/>
              <a:cs typeface="Georgia"/>
              <a:sym typeface="Georgia"/>
            </a:endParaRPr>
          </a:p>
        </p:txBody>
      </p:sp>
      <p:sp>
        <p:nvSpPr>
          <p:cNvPr id="1126" name="Google Shape;1126;p49"/>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9"/>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128" name="Google Shape;1128;p49"/>
          <p:cNvSpPr/>
          <p:nvPr/>
        </p:nvSpPr>
        <p:spPr>
          <a:xfrm>
            <a:off x="566928" y="1536192"/>
            <a:ext cx="10972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300"/>
              <a:buFont typeface="Arial"/>
              <a:buNone/>
            </a:pPr>
            <a:r>
              <a:rPr i="0" lang="en-US" sz="1600" u="none" cap="none" strike="noStrike">
                <a:solidFill>
                  <a:srgbClr val="444444"/>
                </a:solidFill>
              </a:rPr>
              <a:t>Most ML training is batch work. Deployment to a live system flips almost every assumption</a:t>
            </a:r>
            <a:r>
              <a:rPr lang="en-US" sz="1600">
                <a:solidFill>
                  <a:srgbClr val="444444"/>
                </a:solidFill>
              </a:rPr>
              <a:t>.</a:t>
            </a:r>
            <a:endParaRPr i="0" sz="1600" u="none" cap="none" strike="noStrike">
              <a:solidFill>
                <a:schemeClr val="dk1"/>
              </a:solidFill>
            </a:endParaRPr>
          </a:p>
        </p:txBody>
      </p:sp>
      <p:sp>
        <p:nvSpPr>
          <p:cNvPr id="1129" name="Google Shape;1129;p49"/>
          <p:cNvSpPr/>
          <p:nvPr/>
        </p:nvSpPr>
        <p:spPr>
          <a:xfrm>
            <a:off x="566928" y="2148840"/>
            <a:ext cx="1920300" cy="45720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9"/>
          <p:cNvSpPr/>
          <p:nvPr/>
        </p:nvSpPr>
        <p:spPr>
          <a:xfrm>
            <a:off x="2487168" y="2148840"/>
            <a:ext cx="4526400" cy="457200"/>
          </a:xfrm>
          <a:prstGeom prst="rect">
            <a:avLst/>
          </a:prstGeom>
          <a:solidFill>
            <a:srgbClr val="172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9"/>
          <p:cNvSpPr/>
          <p:nvPr/>
        </p:nvSpPr>
        <p:spPr>
          <a:xfrm>
            <a:off x="2615184" y="2148840"/>
            <a:ext cx="427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i="0" lang="en-US" sz="1250" u="none" cap="none" strike="noStrike">
                <a:solidFill>
                  <a:srgbClr val="FFFFFF"/>
                </a:solidFill>
              </a:rPr>
              <a:t>Batch (training)</a:t>
            </a:r>
            <a:endParaRPr i="0" sz="1250" u="none" cap="none" strike="noStrike">
              <a:solidFill>
                <a:schemeClr val="dk1"/>
              </a:solidFill>
            </a:endParaRPr>
          </a:p>
        </p:txBody>
      </p:sp>
      <p:sp>
        <p:nvSpPr>
          <p:cNvPr id="1132" name="Google Shape;1132;p49"/>
          <p:cNvSpPr/>
          <p:nvPr/>
        </p:nvSpPr>
        <p:spPr>
          <a:xfrm>
            <a:off x="7013448" y="2148840"/>
            <a:ext cx="4572000" cy="457200"/>
          </a:xfrm>
          <a:prstGeom prst="rect">
            <a:avLst/>
          </a:prstGeom>
          <a:solidFill>
            <a:srgbClr val="172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9"/>
          <p:cNvSpPr/>
          <p:nvPr/>
        </p:nvSpPr>
        <p:spPr>
          <a:xfrm>
            <a:off x="7141464" y="2148840"/>
            <a:ext cx="4316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i="0" lang="en-US" sz="1250" u="none" cap="none" strike="noStrike">
                <a:solidFill>
                  <a:srgbClr val="FFFFFF"/>
                </a:solidFill>
              </a:rPr>
              <a:t>Stream (deployment)</a:t>
            </a:r>
            <a:endParaRPr i="0" sz="1250" u="none" cap="none" strike="noStrike">
              <a:solidFill>
                <a:schemeClr val="dk1"/>
              </a:solidFill>
            </a:endParaRPr>
          </a:p>
        </p:txBody>
      </p:sp>
      <p:sp>
        <p:nvSpPr>
          <p:cNvPr id="1134" name="Google Shape;1134;p49"/>
          <p:cNvSpPr/>
          <p:nvPr/>
        </p:nvSpPr>
        <p:spPr>
          <a:xfrm>
            <a:off x="566928" y="2606040"/>
            <a:ext cx="1920300" cy="567000"/>
          </a:xfrm>
          <a:prstGeom prst="rect">
            <a:avLst/>
          </a:prstGeom>
          <a:solidFill>
            <a:srgbClr val="F2EFE8"/>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49"/>
          <p:cNvSpPr/>
          <p:nvPr/>
        </p:nvSpPr>
        <p:spPr>
          <a:xfrm>
            <a:off x="694944" y="2606040"/>
            <a:ext cx="1664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C1C1C"/>
              </a:buClr>
              <a:buSzPts val="1150"/>
              <a:buFont typeface="Arial"/>
              <a:buNone/>
            </a:pPr>
            <a:r>
              <a:rPr b="1" i="0" lang="en-US" sz="1200" u="none" cap="none" strike="noStrike">
                <a:solidFill>
                  <a:srgbClr val="1C1C1C"/>
                </a:solidFill>
              </a:rPr>
              <a:t>Data</a:t>
            </a:r>
            <a:endParaRPr i="0" sz="1200" u="none" cap="none" strike="noStrike">
              <a:solidFill>
                <a:schemeClr val="dk1"/>
              </a:solidFill>
            </a:endParaRPr>
          </a:p>
        </p:txBody>
      </p:sp>
      <p:sp>
        <p:nvSpPr>
          <p:cNvPr id="1136" name="Google Shape;1136;p49"/>
          <p:cNvSpPr/>
          <p:nvPr/>
        </p:nvSpPr>
        <p:spPr>
          <a:xfrm>
            <a:off x="2487168" y="2606040"/>
            <a:ext cx="4526400" cy="5670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9"/>
          <p:cNvSpPr/>
          <p:nvPr/>
        </p:nvSpPr>
        <p:spPr>
          <a:xfrm>
            <a:off x="2615184" y="2606040"/>
            <a:ext cx="42702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B</a:t>
            </a:r>
            <a:r>
              <a:rPr i="0" lang="en-US" sz="1200" u="none" cap="none" strike="noStrike">
                <a:solidFill>
                  <a:srgbClr val="444444"/>
                </a:solidFill>
              </a:rPr>
              <a:t>ounded — a file with an end</a:t>
            </a:r>
            <a:endParaRPr i="0" sz="1200" u="none" cap="none" strike="noStrike">
              <a:solidFill>
                <a:schemeClr val="dk1"/>
              </a:solidFill>
            </a:endParaRPr>
          </a:p>
        </p:txBody>
      </p:sp>
      <p:sp>
        <p:nvSpPr>
          <p:cNvPr id="1138" name="Google Shape;1138;p49"/>
          <p:cNvSpPr/>
          <p:nvPr/>
        </p:nvSpPr>
        <p:spPr>
          <a:xfrm>
            <a:off x="7013448" y="2606040"/>
            <a:ext cx="4572000" cy="5670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9"/>
          <p:cNvSpPr/>
          <p:nvPr/>
        </p:nvSpPr>
        <p:spPr>
          <a:xfrm>
            <a:off x="7141464" y="2606040"/>
            <a:ext cx="4316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U</a:t>
            </a:r>
            <a:r>
              <a:rPr b="0" i="0" lang="en-US" sz="1200" u="none" cap="none" strike="noStrike">
                <a:solidFill>
                  <a:srgbClr val="444444"/>
                </a:solidFill>
                <a:latin typeface="Arial"/>
                <a:ea typeface="Arial"/>
                <a:cs typeface="Arial"/>
                <a:sym typeface="Arial"/>
              </a:rPr>
              <a:t>nbounded — it never stops arriving</a:t>
            </a:r>
            <a:endParaRPr b="0" i="0" sz="1200" u="none" cap="none" strike="noStrike">
              <a:solidFill>
                <a:schemeClr val="dk1"/>
              </a:solidFill>
              <a:latin typeface="Calibri"/>
              <a:ea typeface="Calibri"/>
              <a:cs typeface="Calibri"/>
              <a:sym typeface="Calibri"/>
            </a:endParaRPr>
          </a:p>
        </p:txBody>
      </p:sp>
      <p:sp>
        <p:nvSpPr>
          <p:cNvPr id="1140" name="Google Shape;1140;p49"/>
          <p:cNvSpPr/>
          <p:nvPr/>
        </p:nvSpPr>
        <p:spPr>
          <a:xfrm>
            <a:off x="566928" y="3172968"/>
            <a:ext cx="1920300" cy="567000"/>
          </a:xfrm>
          <a:prstGeom prst="rect">
            <a:avLst/>
          </a:prstGeom>
          <a:solidFill>
            <a:srgbClr val="F2EFE8"/>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9"/>
          <p:cNvSpPr/>
          <p:nvPr/>
        </p:nvSpPr>
        <p:spPr>
          <a:xfrm>
            <a:off x="694944" y="3172968"/>
            <a:ext cx="1664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C1C1C"/>
              </a:buClr>
              <a:buSzPts val="1150"/>
              <a:buFont typeface="Arial"/>
              <a:buNone/>
            </a:pPr>
            <a:r>
              <a:rPr b="1" i="0" lang="en-US" sz="1200" u="none" cap="none" strike="noStrike">
                <a:solidFill>
                  <a:srgbClr val="1C1C1C"/>
                </a:solidFill>
              </a:rPr>
              <a:t>Latency</a:t>
            </a:r>
            <a:endParaRPr i="0" sz="1200" u="none" cap="none" strike="noStrike">
              <a:solidFill>
                <a:schemeClr val="dk1"/>
              </a:solidFill>
            </a:endParaRPr>
          </a:p>
        </p:txBody>
      </p:sp>
      <p:sp>
        <p:nvSpPr>
          <p:cNvPr id="1142" name="Google Shape;1142;p49"/>
          <p:cNvSpPr/>
          <p:nvPr/>
        </p:nvSpPr>
        <p:spPr>
          <a:xfrm>
            <a:off x="2487168" y="3172968"/>
            <a:ext cx="4526400" cy="5670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9"/>
          <p:cNvSpPr/>
          <p:nvPr/>
        </p:nvSpPr>
        <p:spPr>
          <a:xfrm>
            <a:off x="2615184" y="3172968"/>
            <a:ext cx="42702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M</a:t>
            </a:r>
            <a:r>
              <a:rPr i="0" lang="en-US" sz="1200" u="none" cap="none" strike="noStrike">
                <a:solidFill>
                  <a:srgbClr val="444444"/>
                </a:solidFill>
              </a:rPr>
              <a:t>inutes to hours are fine</a:t>
            </a:r>
            <a:endParaRPr i="0" sz="1200" u="none" cap="none" strike="noStrike">
              <a:solidFill>
                <a:schemeClr val="dk1"/>
              </a:solidFill>
            </a:endParaRPr>
          </a:p>
        </p:txBody>
      </p:sp>
      <p:sp>
        <p:nvSpPr>
          <p:cNvPr id="1144" name="Google Shape;1144;p49"/>
          <p:cNvSpPr/>
          <p:nvPr/>
        </p:nvSpPr>
        <p:spPr>
          <a:xfrm>
            <a:off x="7013448" y="3172968"/>
            <a:ext cx="4572000" cy="5670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9"/>
          <p:cNvSpPr/>
          <p:nvPr/>
        </p:nvSpPr>
        <p:spPr>
          <a:xfrm>
            <a:off x="7141464" y="3172968"/>
            <a:ext cx="4316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M</a:t>
            </a:r>
            <a:r>
              <a:rPr b="0" i="0" lang="en-US" sz="1200" u="none" cap="none" strike="noStrike">
                <a:solidFill>
                  <a:srgbClr val="444444"/>
                </a:solidFill>
                <a:latin typeface="Arial"/>
                <a:ea typeface="Arial"/>
                <a:cs typeface="Arial"/>
                <a:sym typeface="Arial"/>
              </a:rPr>
              <a:t>illiseconds to seconds, per item</a:t>
            </a:r>
            <a:endParaRPr b="0" i="0" sz="1200" u="none" cap="none" strike="noStrike">
              <a:solidFill>
                <a:schemeClr val="dk1"/>
              </a:solidFill>
              <a:latin typeface="Calibri"/>
              <a:ea typeface="Calibri"/>
              <a:cs typeface="Calibri"/>
              <a:sym typeface="Calibri"/>
            </a:endParaRPr>
          </a:p>
        </p:txBody>
      </p:sp>
      <p:sp>
        <p:nvSpPr>
          <p:cNvPr id="1146" name="Google Shape;1146;p49"/>
          <p:cNvSpPr/>
          <p:nvPr/>
        </p:nvSpPr>
        <p:spPr>
          <a:xfrm>
            <a:off x="566928" y="3739896"/>
            <a:ext cx="1920300" cy="567000"/>
          </a:xfrm>
          <a:prstGeom prst="rect">
            <a:avLst/>
          </a:prstGeom>
          <a:solidFill>
            <a:srgbClr val="F2EFE8"/>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9"/>
          <p:cNvSpPr/>
          <p:nvPr/>
        </p:nvSpPr>
        <p:spPr>
          <a:xfrm>
            <a:off x="694944" y="3739896"/>
            <a:ext cx="1664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C1C1C"/>
              </a:buClr>
              <a:buSzPts val="1150"/>
              <a:buFont typeface="Arial"/>
              <a:buNone/>
            </a:pPr>
            <a:r>
              <a:rPr b="1" i="0" lang="en-US" sz="1200" u="none" cap="none" strike="noStrike">
                <a:solidFill>
                  <a:srgbClr val="1C1C1C"/>
                </a:solidFill>
              </a:rPr>
              <a:t>Computation</a:t>
            </a:r>
            <a:endParaRPr i="0" sz="1200" u="none" cap="none" strike="noStrike">
              <a:solidFill>
                <a:schemeClr val="dk1"/>
              </a:solidFill>
            </a:endParaRPr>
          </a:p>
        </p:txBody>
      </p:sp>
      <p:sp>
        <p:nvSpPr>
          <p:cNvPr id="1148" name="Google Shape;1148;p49"/>
          <p:cNvSpPr/>
          <p:nvPr/>
        </p:nvSpPr>
        <p:spPr>
          <a:xfrm>
            <a:off x="2487168" y="3739896"/>
            <a:ext cx="4526400" cy="5670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9"/>
          <p:cNvSpPr/>
          <p:nvPr/>
        </p:nvSpPr>
        <p:spPr>
          <a:xfrm>
            <a:off x="2615184" y="3739896"/>
            <a:ext cx="42702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R</a:t>
            </a:r>
            <a:r>
              <a:rPr i="0" lang="en-US" sz="1200" u="none" cap="none" strike="noStrike">
                <a:solidFill>
                  <a:srgbClr val="444444"/>
                </a:solidFill>
              </a:rPr>
              <a:t>ecompute from scratch anytime</a:t>
            </a:r>
            <a:endParaRPr i="0" sz="1200" u="none" cap="none" strike="noStrike">
              <a:solidFill>
                <a:schemeClr val="dk1"/>
              </a:solidFill>
            </a:endParaRPr>
          </a:p>
        </p:txBody>
      </p:sp>
      <p:sp>
        <p:nvSpPr>
          <p:cNvPr id="1150" name="Google Shape;1150;p49"/>
          <p:cNvSpPr/>
          <p:nvPr/>
        </p:nvSpPr>
        <p:spPr>
          <a:xfrm>
            <a:off x="7013448" y="3739896"/>
            <a:ext cx="4572000" cy="5670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9"/>
          <p:cNvSpPr/>
          <p:nvPr/>
        </p:nvSpPr>
        <p:spPr>
          <a:xfrm>
            <a:off x="7141464" y="3739896"/>
            <a:ext cx="4316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I</a:t>
            </a:r>
            <a:r>
              <a:rPr b="0" i="0" lang="en-US" sz="1200" u="none" cap="none" strike="noStrike">
                <a:solidFill>
                  <a:srgbClr val="444444"/>
                </a:solidFill>
                <a:latin typeface="Arial"/>
                <a:ea typeface="Arial"/>
                <a:cs typeface="Arial"/>
                <a:sym typeface="Arial"/>
              </a:rPr>
              <a:t>ncremental</a:t>
            </a:r>
            <a:r>
              <a:rPr lang="en-US" sz="1200">
                <a:solidFill>
                  <a:srgbClr val="444444"/>
                </a:solidFill>
              </a:rPr>
              <a:t>. </a:t>
            </a:r>
            <a:r>
              <a:rPr b="0" i="0" lang="en-US" sz="1200" u="none" cap="none" strike="noStrike">
                <a:solidFill>
                  <a:srgbClr val="444444"/>
                </a:solidFill>
                <a:latin typeface="Arial"/>
                <a:ea typeface="Arial"/>
                <a:cs typeface="Arial"/>
                <a:sym typeface="Arial"/>
              </a:rPr>
              <a:t>update state per event</a:t>
            </a:r>
            <a:endParaRPr b="0" i="0" sz="1200" u="none" cap="none" strike="noStrike">
              <a:solidFill>
                <a:schemeClr val="dk1"/>
              </a:solidFill>
              <a:latin typeface="Calibri"/>
              <a:ea typeface="Calibri"/>
              <a:cs typeface="Calibri"/>
              <a:sym typeface="Calibri"/>
            </a:endParaRPr>
          </a:p>
        </p:txBody>
      </p:sp>
      <p:sp>
        <p:nvSpPr>
          <p:cNvPr id="1152" name="Google Shape;1152;p49"/>
          <p:cNvSpPr/>
          <p:nvPr/>
        </p:nvSpPr>
        <p:spPr>
          <a:xfrm>
            <a:off x="566928" y="4306824"/>
            <a:ext cx="1920300" cy="567000"/>
          </a:xfrm>
          <a:prstGeom prst="rect">
            <a:avLst/>
          </a:prstGeom>
          <a:solidFill>
            <a:srgbClr val="F2EFE8"/>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9"/>
          <p:cNvSpPr/>
          <p:nvPr/>
        </p:nvSpPr>
        <p:spPr>
          <a:xfrm>
            <a:off x="694944" y="4306824"/>
            <a:ext cx="1664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C1C1C"/>
              </a:buClr>
              <a:buSzPts val="1150"/>
              <a:buFont typeface="Arial"/>
              <a:buNone/>
            </a:pPr>
            <a:r>
              <a:rPr b="1" i="0" lang="en-US" sz="1200" u="none" cap="none" strike="noStrike">
                <a:solidFill>
                  <a:srgbClr val="1C1C1C"/>
                </a:solidFill>
              </a:rPr>
              <a:t>Order &amp; time</a:t>
            </a:r>
            <a:endParaRPr i="0" sz="1200" u="none" cap="none" strike="noStrike">
              <a:solidFill>
                <a:schemeClr val="dk1"/>
              </a:solidFill>
            </a:endParaRPr>
          </a:p>
        </p:txBody>
      </p:sp>
      <p:sp>
        <p:nvSpPr>
          <p:cNvPr id="1154" name="Google Shape;1154;p49"/>
          <p:cNvSpPr/>
          <p:nvPr/>
        </p:nvSpPr>
        <p:spPr>
          <a:xfrm>
            <a:off x="2487168" y="4306824"/>
            <a:ext cx="4526400" cy="5670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9"/>
          <p:cNvSpPr/>
          <p:nvPr/>
        </p:nvSpPr>
        <p:spPr>
          <a:xfrm>
            <a:off x="2615184" y="4306824"/>
            <a:ext cx="42702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S</a:t>
            </a:r>
            <a:r>
              <a:rPr i="0" lang="en-US" sz="1200" u="none" cap="none" strike="noStrike">
                <a:solidFill>
                  <a:srgbClr val="444444"/>
                </a:solidFill>
              </a:rPr>
              <a:t>huffle freely; time is a column</a:t>
            </a:r>
            <a:endParaRPr i="0" sz="1200" u="none" cap="none" strike="noStrike">
              <a:solidFill>
                <a:schemeClr val="dk1"/>
              </a:solidFill>
            </a:endParaRPr>
          </a:p>
        </p:txBody>
      </p:sp>
      <p:sp>
        <p:nvSpPr>
          <p:cNvPr id="1156" name="Google Shape;1156;p49"/>
          <p:cNvSpPr/>
          <p:nvPr/>
        </p:nvSpPr>
        <p:spPr>
          <a:xfrm>
            <a:off x="7013448" y="4306824"/>
            <a:ext cx="4572000" cy="5670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9"/>
          <p:cNvSpPr/>
          <p:nvPr/>
        </p:nvSpPr>
        <p:spPr>
          <a:xfrm>
            <a:off x="7141464" y="4306824"/>
            <a:ext cx="4316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E</a:t>
            </a:r>
            <a:r>
              <a:rPr b="0" i="0" lang="en-US" sz="1200" u="none" cap="none" strike="noStrike">
                <a:solidFill>
                  <a:srgbClr val="444444"/>
                </a:solidFill>
                <a:latin typeface="Arial"/>
                <a:ea typeface="Arial"/>
                <a:cs typeface="Arial"/>
                <a:sym typeface="Arial"/>
              </a:rPr>
              <a:t>vent time matters; late data is real</a:t>
            </a:r>
            <a:endParaRPr b="0" i="0" sz="1200" u="none" cap="none" strike="noStrike">
              <a:solidFill>
                <a:schemeClr val="dk1"/>
              </a:solidFill>
              <a:latin typeface="Calibri"/>
              <a:ea typeface="Calibri"/>
              <a:cs typeface="Calibri"/>
              <a:sym typeface="Calibri"/>
            </a:endParaRPr>
          </a:p>
        </p:txBody>
      </p:sp>
      <p:sp>
        <p:nvSpPr>
          <p:cNvPr id="1158" name="Google Shape;1158;p49"/>
          <p:cNvSpPr/>
          <p:nvPr/>
        </p:nvSpPr>
        <p:spPr>
          <a:xfrm>
            <a:off x="566928" y="4873752"/>
            <a:ext cx="1920300" cy="567000"/>
          </a:xfrm>
          <a:prstGeom prst="rect">
            <a:avLst/>
          </a:prstGeom>
          <a:solidFill>
            <a:srgbClr val="F2EFE8"/>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9"/>
          <p:cNvSpPr/>
          <p:nvPr/>
        </p:nvSpPr>
        <p:spPr>
          <a:xfrm>
            <a:off x="694944" y="4873752"/>
            <a:ext cx="1664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1C1C1C"/>
              </a:buClr>
              <a:buSzPts val="1150"/>
              <a:buFont typeface="Arial"/>
              <a:buNone/>
            </a:pPr>
            <a:r>
              <a:rPr b="1" i="0" lang="en-US" sz="1200" u="none" cap="none" strike="noStrike">
                <a:solidFill>
                  <a:srgbClr val="1C1C1C"/>
                </a:solidFill>
              </a:rPr>
              <a:t>Failure</a:t>
            </a:r>
            <a:endParaRPr i="0" sz="1200" u="none" cap="none" strike="noStrike">
              <a:solidFill>
                <a:schemeClr val="dk1"/>
              </a:solidFill>
            </a:endParaRPr>
          </a:p>
        </p:txBody>
      </p:sp>
      <p:sp>
        <p:nvSpPr>
          <p:cNvPr id="1160" name="Google Shape;1160;p49"/>
          <p:cNvSpPr/>
          <p:nvPr/>
        </p:nvSpPr>
        <p:spPr>
          <a:xfrm>
            <a:off x="2487168" y="4873752"/>
            <a:ext cx="4526400" cy="5670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9"/>
          <p:cNvSpPr/>
          <p:nvPr/>
        </p:nvSpPr>
        <p:spPr>
          <a:xfrm>
            <a:off x="2615184" y="4873752"/>
            <a:ext cx="42702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R</a:t>
            </a:r>
            <a:r>
              <a:rPr i="0" lang="en-US" sz="1200" u="none" cap="none" strike="noStrike">
                <a:solidFill>
                  <a:srgbClr val="444444"/>
                </a:solidFill>
              </a:rPr>
              <a:t>erun the job</a:t>
            </a:r>
            <a:endParaRPr i="0" sz="1200" u="none" cap="none" strike="noStrike">
              <a:solidFill>
                <a:schemeClr val="dk1"/>
              </a:solidFill>
            </a:endParaRPr>
          </a:p>
        </p:txBody>
      </p:sp>
      <p:sp>
        <p:nvSpPr>
          <p:cNvPr id="1162" name="Google Shape;1162;p49"/>
          <p:cNvSpPr/>
          <p:nvPr/>
        </p:nvSpPr>
        <p:spPr>
          <a:xfrm>
            <a:off x="7013448" y="4873752"/>
            <a:ext cx="4572000" cy="5670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9"/>
          <p:cNvSpPr/>
          <p:nvPr/>
        </p:nvSpPr>
        <p:spPr>
          <a:xfrm>
            <a:off x="7141464" y="4873752"/>
            <a:ext cx="4316100" cy="567000"/>
          </a:xfrm>
          <a:prstGeom prst="rect">
            <a:avLst/>
          </a:prstGeom>
          <a:noFill/>
          <a:ln>
            <a:noFill/>
          </a:ln>
        </p:spPr>
        <p:txBody>
          <a:bodyPr anchorCtr="0" anchor="ctr" bIns="0" lIns="0" spcFirstLastPara="1" rIns="0" wrap="square" tIns="0">
            <a:noAutofit/>
          </a:bodyPr>
          <a:lstStyle/>
          <a:p>
            <a:pPr indent="0" lvl="0" marL="0" marR="0" rtl="0" algn="l">
              <a:lnSpc>
                <a:spcPct val="117391"/>
              </a:lnSpc>
              <a:spcBef>
                <a:spcPts val="0"/>
              </a:spcBef>
              <a:spcAft>
                <a:spcPts val="0"/>
              </a:spcAft>
              <a:buClr>
                <a:srgbClr val="444444"/>
              </a:buClr>
              <a:buSzPts val="1150"/>
              <a:buFont typeface="Arial"/>
              <a:buNone/>
            </a:pPr>
            <a:r>
              <a:rPr lang="en-US" sz="1200">
                <a:solidFill>
                  <a:srgbClr val="444444"/>
                </a:solidFill>
              </a:rPr>
              <a:t>M</a:t>
            </a:r>
            <a:r>
              <a:rPr b="0" i="0" lang="en-US" sz="1200" u="none" cap="none" strike="noStrike">
                <a:solidFill>
                  <a:srgbClr val="444444"/>
                </a:solidFill>
                <a:latin typeface="Arial"/>
                <a:ea typeface="Arial"/>
                <a:cs typeface="Arial"/>
                <a:sym typeface="Arial"/>
              </a:rPr>
              <a:t>ust keep up</a:t>
            </a:r>
            <a:r>
              <a:rPr lang="en-US" sz="1200">
                <a:solidFill>
                  <a:srgbClr val="444444"/>
                </a:solidFill>
              </a:rPr>
              <a:t>. </a:t>
            </a:r>
            <a:r>
              <a:rPr b="0" i="0" lang="en-US" sz="1200" u="none" cap="none" strike="noStrike">
                <a:solidFill>
                  <a:srgbClr val="444444"/>
                </a:solidFill>
                <a:latin typeface="Arial"/>
                <a:ea typeface="Arial"/>
                <a:cs typeface="Arial"/>
                <a:sym typeface="Arial"/>
              </a:rPr>
              <a:t>backlog compounds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8" name="Shape 1168"/>
        <p:cNvGrpSpPr/>
        <p:nvPr/>
      </p:nvGrpSpPr>
      <p:grpSpPr>
        <a:xfrm>
          <a:off x="0" y="0"/>
          <a:ext cx="0" cy="0"/>
          <a:chOff x="0" y="0"/>
          <a:chExt cx="0" cy="0"/>
        </a:xfrm>
      </p:grpSpPr>
      <p:sp>
        <p:nvSpPr>
          <p:cNvPr id="1169" name="Google Shape;1169;p50"/>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170" name="Google Shape;1170;p50"/>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171" name="Google Shape;1171;p50"/>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172" name="Google Shape;1172;p50"/>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150"/>
              <a:buFont typeface="Arial"/>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p:txBody>
      </p:sp>
      <p:sp>
        <p:nvSpPr>
          <p:cNvPr id="1173" name="Google Shape;1173;p50"/>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Synchronizing the Streams</a:t>
            </a:r>
            <a:endParaRPr b="1" sz="3000">
              <a:solidFill>
                <a:srgbClr val="1A1A1A"/>
              </a:solidFill>
              <a:latin typeface="Georgia"/>
              <a:ea typeface="Georgia"/>
              <a:cs typeface="Georgia"/>
              <a:sym typeface="Georgia"/>
            </a:endParaRPr>
          </a:p>
        </p:txBody>
      </p:sp>
      <p:sp>
        <p:nvSpPr>
          <p:cNvPr id="1174" name="Google Shape;1174;p50"/>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0"/>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176" name="Google Shape;1176;p50"/>
          <p:cNvSpPr/>
          <p:nvPr/>
        </p:nvSpPr>
        <p:spPr>
          <a:xfrm>
            <a:off x="566928" y="1554480"/>
            <a:ext cx="1101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350"/>
              <a:buFont typeface="Arial"/>
              <a:buNone/>
            </a:pPr>
            <a:r>
              <a:rPr i="0" lang="en-US" sz="1600" u="none" cap="none" strike="noStrike">
                <a:solidFill>
                  <a:srgbClr val="444444"/>
                </a:solidFill>
              </a:rPr>
              <a:t>In </a:t>
            </a:r>
            <a:r>
              <a:rPr lang="en-US" sz="1600">
                <a:solidFill>
                  <a:srgbClr val="444444"/>
                </a:solidFill>
              </a:rPr>
              <a:t>topic 1,</a:t>
            </a:r>
            <a:r>
              <a:rPr i="0" lang="en-US" sz="1600" u="none" cap="none" strike="noStrike">
                <a:solidFill>
                  <a:srgbClr val="444444"/>
                </a:solidFill>
              </a:rPr>
              <a:t> we fused two modalities offline, with all timestamps in hand. Live, the two streams arrive separately, at different rates.</a:t>
            </a:r>
            <a:endParaRPr i="0" sz="1600" u="none" cap="none" strike="noStrike">
              <a:solidFill>
                <a:srgbClr val="000000"/>
              </a:solidFill>
            </a:endParaRPr>
          </a:p>
        </p:txBody>
      </p:sp>
      <p:pic>
        <p:nvPicPr>
          <p:cNvPr descr="preencoded.png" id="1177" name="Google Shape;1177;p50"/>
          <p:cNvPicPr preferRelativeResize="0"/>
          <p:nvPr/>
        </p:nvPicPr>
        <p:blipFill rotWithShape="1">
          <a:blip r:embed="rId4">
            <a:alphaModFix/>
          </a:blip>
          <a:srcRect b="0" l="0" r="0" t="0"/>
          <a:stretch/>
        </p:blipFill>
        <p:spPr>
          <a:xfrm>
            <a:off x="658368" y="2304288"/>
            <a:ext cx="365760" cy="365760"/>
          </a:xfrm>
          <a:prstGeom prst="rect">
            <a:avLst/>
          </a:prstGeom>
          <a:noFill/>
          <a:ln>
            <a:noFill/>
          </a:ln>
        </p:spPr>
      </p:pic>
      <p:sp>
        <p:nvSpPr>
          <p:cNvPr id="1178" name="Google Shape;1178;p50"/>
          <p:cNvSpPr/>
          <p:nvPr/>
        </p:nvSpPr>
        <p:spPr>
          <a:xfrm>
            <a:off x="1143000" y="2322576"/>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4E14"/>
              </a:buClr>
              <a:buSzPts val="1150"/>
              <a:buFont typeface="Arial"/>
              <a:buNone/>
            </a:pPr>
            <a:r>
              <a:rPr b="1" i="0" lang="en-US" sz="1150" u="none" cap="none" strike="noStrike">
                <a:solidFill>
                  <a:srgbClr val="9A4E14"/>
                </a:solidFill>
              </a:rPr>
              <a:t>Vehicle sensor stream  (fast, regular — speed, accel, CAN)</a:t>
            </a:r>
            <a:endParaRPr i="0" sz="1150" u="none" cap="none" strike="noStrike">
              <a:solidFill>
                <a:srgbClr val="000000"/>
              </a:solidFill>
            </a:endParaRPr>
          </a:p>
        </p:txBody>
      </p:sp>
      <p:cxnSp>
        <p:nvCxnSpPr>
          <p:cNvPr id="1179" name="Google Shape;1179;p50"/>
          <p:cNvCxnSpPr/>
          <p:nvPr/>
        </p:nvCxnSpPr>
        <p:spPr>
          <a:xfrm>
            <a:off x="1143000" y="2788920"/>
            <a:ext cx="6949500" cy="0"/>
          </a:xfrm>
          <a:prstGeom prst="straightConnector1">
            <a:avLst/>
          </a:prstGeom>
          <a:noFill/>
          <a:ln cap="flat" cmpd="sng" w="19050">
            <a:solidFill>
              <a:srgbClr val="C55A11"/>
            </a:solidFill>
            <a:prstDash val="solid"/>
            <a:round/>
            <a:headEnd len="sm" w="sm" type="none"/>
            <a:tailEnd len="sm" w="sm" type="none"/>
          </a:ln>
        </p:spPr>
      </p:cxnSp>
      <p:cxnSp>
        <p:nvCxnSpPr>
          <p:cNvPr id="1180" name="Google Shape;1180;p50"/>
          <p:cNvCxnSpPr/>
          <p:nvPr/>
        </p:nvCxnSpPr>
        <p:spPr>
          <a:xfrm>
            <a:off x="1234440"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1" name="Google Shape;1181;p50"/>
          <p:cNvCxnSpPr/>
          <p:nvPr/>
        </p:nvCxnSpPr>
        <p:spPr>
          <a:xfrm>
            <a:off x="1499616"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2" name="Google Shape;1182;p50"/>
          <p:cNvCxnSpPr/>
          <p:nvPr/>
        </p:nvCxnSpPr>
        <p:spPr>
          <a:xfrm>
            <a:off x="1764792"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3" name="Google Shape;1183;p50"/>
          <p:cNvCxnSpPr/>
          <p:nvPr/>
        </p:nvCxnSpPr>
        <p:spPr>
          <a:xfrm>
            <a:off x="2029968"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4" name="Google Shape;1184;p50"/>
          <p:cNvCxnSpPr/>
          <p:nvPr/>
        </p:nvCxnSpPr>
        <p:spPr>
          <a:xfrm>
            <a:off x="2295144"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5" name="Google Shape;1185;p50"/>
          <p:cNvCxnSpPr/>
          <p:nvPr/>
        </p:nvCxnSpPr>
        <p:spPr>
          <a:xfrm>
            <a:off x="2560320"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6" name="Google Shape;1186;p50"/>
          <p:cNvCxnSpPr/>
          <p:nvPr/>
        </p:nvCxnSpPr>
        <p:spPr>
          <a:xfrm>
            <a:off x="2825496"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7" name="Google Shape;1187;p50"/>
          <p:cNvCxnSpPr/>
          <p:nvPr/>
        </p:nvCxnSpPr>
        <p:spPr>
          <a:xfrm>
            <a:off x="3090672"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8" name="Google Shape;1188;p50"/>
          <p:cNvCxnSpPr/>
          <p:nvPr/>
        </p:nvCxnSpPr>
        <p:spPr>
          <a:xfrm>
            <a:off x="3355848"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89" name="Google Shape;1189;p50"/>
          <p:cNvCxnSpPr/>
          <p:nvPr/>
        </p:nvCxnSpPr>
        <p:spPr>
          <a:xfrm>
            <a:off x="3621024"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0" name="Google Shape;1190;p50"/>
          <p:cNvCxnSpPr/>
          <p:nvPr/>
        </p:nvCxnSpPr>
        <p:spPr>
          <a:xfrm>
            <a:off x="3886200"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1" name="Google Shape;1191;p50"/>
          <p:cNvCxnSpPr/>
          <p:nvPr/>
        </p:nvCxnSpPr>
        <p:spPr>
          <a:xfrm>
            <a:off x="4151376"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2" name="Google Shape;1192;p50"/>
          <p:cNvCxnSpPr/>
          <p:nvPr/>
        </p:nvCxnSpPr>
        <p:spPr>
          <a:xfrm>
            <a:off x="4416552"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3" name="Google Shape;1193;p50"/>
          <p:cNvCxnSpPr/>
          <p:nvPr/>
        </p:nvCxnSpPr>
        <p:spPr>
          <a:xfrm>
            <a:off x="4681728"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4" name="Google Shape;1194;p50"/>
          <p:cNvCxnSpPr/>
          <p:nvPr/>
        </p:nvCxnSpPr>
        <p:spPr>
          <a:xfrm>
            <a:off x="4946904"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5" name="Google Shape;1195;p50"/>
          <p:cNvCxnSpPr/>
          <p:nvPr/>
        </p:nvCxnSpPr>
        <p:spPr>
          <a:xfrm>
            <a:off x="5212080"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6" name="Google Shape;1196;p50"/>
          <p:cNvCxnSpPr/>
          <p:nvPr/>
        </p:nvCxnSpPr>
        <p:spPr>
          <a:xfrm>
            <a:off x="5477256"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7" name="Google Shape;1197;p50"/>
          <p:cNvCxnSpPr/>
          <p:nvPr/>
        </p:nvCxnSpPr>
        <p:spPr>
          <a:xfrm>
            <a:off x="5742432"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8" name="Google Shape;1198;p50"/>
          <p:cNvCxnSpPr/>
          <p:nvPr/>
        </p:nvCxnSpPr>
        <p:spPr>
          <a:xfrm>
            <a:off x="6007608"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199" name="Google Shape;1199;p50"/>
          <p:cNvCxnSpPr/>
          <p:nvPr/>
        </p:nvCxnSpPr>
        <p:spPr>
          <a:xfrm>
            <a:off x="6272784"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200" name="Google Shape;1200;p50"/>
          <p:cNvCxnSpPr/>
          <p:nvPr/>
        </p:nvCxnSpPr>
        <p:spPr>
          <a:xfrm>
            <a:off x="6537960"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201" name="Google Shape;1201;p50"/>
          <p:cNvCxnSpPr/>
          <p:nvPr/>
        </p:nvCxnSpPr>
        <p:spPr>
          <a:xfrm>
            <a:off x="6803136"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202" name="Google Shape;1202;p50"/>
          <p:cNvCxnSpPr/>
          <p:nvPr/>
        </p:nvCxnSpPr>
        <p:spPr>
          <a:xfrm>
            <a:off x="7068312"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203" name="Google Shape;1203;p50"/>
          <p:cNvCxnSpPr/>
          <p:nvPr/>
        </p:nvCxnSpPr>
        <p:spPr>
          <a:xfrm>
            <a:off x="7333488"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204" name="Google Shape;1204;p50"/>
          <p:cNvCxnSpPr/>
          <p:nvPr/>
        </p:nvCxnSpPr>
        <p:spPr>
          <a:xfrm>
            <a:off x="7598664" y="2697480"/>
            <a:ext cx="0" cy="183000"/>
          </a:xfrm>
          <a:prstGeom prst="straightConnector1">
            <a:avLst/>
          </a:prstGeom>
          <a:noFill/>
          <a:ln cap="flat" cmpd="sng" w="19050">
            <a:solidFill>
              <a:srgbClr val="C55A11"/>
            </a:solidFill>
            <a:prstDash val="solid"/>
            <a:round/>
            <a:headEnd len="sm" w="sm" type="none"/>
            <a:tailEnd len="sm" w="sm" type="none"/>
          </a:ln>
        </p:spPr>
      </p:cxnSp>
      <p:cxnSp>
        <p:nvCxnSpPr>
          <p:cNvPr id="1205" name="Google Shape;1205;p50"/>
          <p:cNvCxnSpPr/>
          <p:nvPr/>
        </p:nvCxnSpPr>
        <p:spPr>
          <a:xfrm>
            <a:off x="7863840" y="2697480"/>
            <a:ext cx="0" cy="183000"/>
          </a:xfrm>
          <a:prstGeom prst="straightConnector1">
            <a:avLst/>
          </a:prstGeom>
          <a:noFill/>
          <a:ln cap="flat" cmpd="sng" w="19050">
            <a:solidFill>
              <a:srgbClr val="C55A11"/>
            </a:solidFill>
            <a:prstDash val="solid"/>
            <a:round/>
            <a:headEnd len="sm" w="sm" type="none"/>
            <a:tailEnd len="sm" w="sm" type="none"/>
          </a:ln>
        </p:spPr>
      </p:cxnSp>
      <p:pic>
        <p:nvPicPr>
          <p:cNvPr descr="preencoded.png" id="1206" name="Google Shape;1206;p50"/>
          <p:cNvPicPr preferRelativeResize="0"/>
          <p:nvPr/>
        </p:nvPicPr>
        <p:blipFill rotWithShape="1">
          <a:blip r:embed="rId5">
            <a:alphaModFix/>
          </a:blip>
          <a:srcRect b="0" l="0" r="0" t="0"/>
          <a:stretch/>
        </p:blipFill>
        <p:spPr>
          <a:xfrm>
            <a:off x="658368" y="3063240"/>
            <a:ext cx="365760" cy="365760"/>
          </a:xfrm>
          <a:prstGeom prst="rect">
            <a:avLst/>
          </a:prstGeom>
          <a:noFill/>
          <a:ln>
            <a:noFill/>
          </a:ln>
        </p:spPr>
      </p:pic>
      <p:sp>
        <p:nvSpPr>
          <p:cNvPr id="1207" name="Google Shape;1207;p50"/>
          <p:cNvSpPr/>
          <p:nvPr/>
        </p:nvSpPr>
        <p:spPr>
          <a:xfrm>
            <a:off x="1143000" y="3081528"/>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4B5"/>
              </a:buClr>
              <a:buSzPts val="1150"/>
              <a:buFont typeface="Arial"/>
              <a:buNone/>
            </a:pPr>
            <a:r>
              <a:rPr b="1" i="0" lang="en-US" sz="1150" u="none" cap="none" strike="noStrike">
                <a:solidFill>
                  <a:srgbClr val="2E74B5"/>
                </a:solidFill>
              </a:rPr>
              <a:t>Network traffic stream  (bursty, irregular — packets, flows)</a:t>
            </a:r>
            <a:endParaRPr i="0" sz="1150" u="none" cap="none" strike="noStrike">
              <a:solidFill>
                <a:srgbClr val="000000"/>
              </a:solidFill>
            </a:endParaRPr>
          </a:p>
        </p:txBody>
      </p:sp>
      <p:cxnSp>
        <p:nvCxnSpPr>
          <p:cNvPr id="1208" name="Google Shape;1208;p50"/>
          <p:cNvCxnSpPr/>
          <p:nvPr/>
        </p:nvCxnSpPr>
        <p:spPr>
          <a:xfrm>
            <a:off x="1143000" y="3547872"/>
            <a:ext cx="6949500" cy="0"/>
          </a:xfrm>
          <a:prstGeom prst="straightConnector1">
            <a:avLst/>
          </a:prstGeom>
          <a:noFill/>
          <a:ln cap="flat" cmpd="sng" w="19050">
            <a:solidFill>
              <a:srgbClr val="2E74B5"/>
            </a:solidFill>
            <a:prstDash val="solid"/>
            <a:round/>
            <a:headEnd len="sm" w="sm" type="none"/>
            <a:tailEnd len="sm" w="sm" type="none"/>
          </a:ln>
        </p:spPr>
      </p:cxnSp>
      <p:cxnSp>
        <p:nvCxnSpPr>
          <p:cNvPr id="1209" name="Google Shape;1209;p50"/>
          <p:cNvCxnSpPr/>
          <p:nvPr/>
        </p:nvCxnSpPr>
        <p:spPr>
          <a:xfrm>
            <a:off x="1325880"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0" name="Google Shape;1210;p50"/>
          <p:cNvCxnSpPr/>
          <p:nvPr/>
        </p:nvCxnSpPr>
        <p:spPr>
          <a:xfrm>
            <a:off x="1399032"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1" name="Google Shape;1211;p50"/>
          <p:cNvCxnSpPr/>
          <p:nvPr/>
        </p:nvCxnSpPr>
        <p:spPr>
          <a:xfrm>
            <a:off x="1472184"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2" name="Google Shape;1212;p50"/>
          <p:cNvCxnSpPr/>
          <p:nvPr/>
        </p:nvCxnSpPr>
        <p:spPr>
          <a:xfrm>
            <a:off x="2606040"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3" name="Google Shape;1213;p50"/>
          <p:cNvCxnSpPr/>
          <p:nvPr/>
        </p:nvCxnSpPr>
        <p:spPr>
          <a:xfrm>
            <a:off x="2679192"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4" name="Google Shape;1214;p50"/>
          <p:cNvCxnSpPr/>
          <p:nvPr/>
        </p:nvCxnSpPr>
        <p:spPr>
          <a:xfrm>
            <a:off x="2752344"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5" name="Google Shape;1215;p50"/>
          <p:cNvCxnSpPr/>
          <p:nvPr/>
        </p:nvCxnSpPr>
        <p:spPr>
          <a:xfrm>
            <a:off x="2825496"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6" name="Google Shape;1216;p50"/>
          <p:cNvCxnSpPr/>
          <p:nvPr/>
        </p:nvCxnSpPr>
        <p:spPr>
          <a:xfrm>
            <a:off x="2898648"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7" name="Google Shape;1217;p50"/>
          <p:cNvCxnSpPr/>
          <p:nvPr/>
        </p:nvCxnSpPr>
        <p:spPr>
          <a:xfrm>
            <a:off x="4343400"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8" name="Google Shape;1218;p50"/>
          <p:cNvCxnSpPr/>
          <p:nvPr/>
        </p:nvCxnSpPr>
        <p:spPr>
          <a:xfrm>
            <a:off x="4416552"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19" name="Google Shape;1219;p50"/>
          <p:cNvCxnSpPr/>
          <p:nvPr/>
        </p:nvCxnSpPr>
        <p:spPr>
          <a:xfrm>
            <a:off x="5806440"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0" name="Google Shape;1220;p50"/>
          <p:cNvCxnSpPr/>
          <p:nvPr/>
        </p:nvCxnSpPr>
        <p:spPr>
          <a:xfrm>
            <a:off x="5879592"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1" name="Google Shape;1221;p50"/>
          <p:cNvCxnSpPr/>
          <p:nvPr/>
        </p:nvCxnSpPr>
        <p:spPr>
          <a:xfrm>
            <a:off x="5952744"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2" name="Google Shape;1222;p50"/>
          <p:cNvCxnSpPr/>
          <p:nvPr/>
        </p:nvCxnSpPr>
        <p:spPr>
          <a:xfrm>
            <a:off x="6025896"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3" name="Google Shape;1223;p50"/>
          <p:cNvCxnSpPr/>
          <p:nvPr/>
        </p:nvCxnSpPr>
        <p:spPr>
          <a:xfrm>
            <a:off x="7269480"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4" name="Google Shape;1224;p50"/>
          <p:cNvCxnSpPr/>
          <p:nvPr/>
        </p:nvCxnSpPr>
        <p:spPr>
          <a:xfrm>
            <a:off x="7342632"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5" name="Google Shape;1225;p50"/>
          <p:cNvCxnSpPr/>
          <p:nvPr/>
        </p:nvCxnSpPr>
        <p:spPr>
          <a:xfrm>
            <a:off x="7543800" y="3456432"/>
            <a:ext cx="0" cy="183000"/>
          </a:xfrm>
          <a:prstGeom prst="straightConnector1">
            <a:avLst/>
          </a:prstGeom>
          <a:noFill/>
          <a:ln cap="flat" cmpd="sng" w="19050">
            <a:solidFill>
              <a:srgbClr val="2E74B5"/>
            </a:solidFill>
            <a:prstDash val="solid"/>
            <a:round/>
            <a:headEnd len="sm" w="sm" type="none"/>
            <a:tailEnd len="sm" w="sm" type="none"/>
          </a:ln>
        </p:spPr>
      </p:cxnSp>
      <p:cxnSp>
        <p:nvCxnSpPr>
          <p:cNvPr id="1226" name="Google Shape;1226;p50"/>
          <p:cNvCxnSpPr/>
          <p:nvPr/>
        </p:nvCxnSpPr>
        <p:spPr>
          <a:xfrm>
            <a:off x="7726680" y="3456432"/>
            <a:ext cx="0" cy="183000"/>
          </a:xfrm>
          <a:prstGeom prst="straightConnector1">
            <a:avLst/>
          </a:prstGeom>
          <a:noFill/>
          <a:ln cap="flat" cmpd="sng" w="19050">
            <a:solidFill>
              <a:srgbClr val="2E74B5"/>
            </a:solidFill>
            <a:prstDash val="solid"/>
            <a:round/>
            <a:headEnd len="sm" w="sm" type="none"/>
            <a:tailEnd len="sm" w="sm" type="none"/>
          </a:ln>
        </p:spPr>
      </p:cxnSp>
      <p:sp>
        <p:nvSpPr>
          <p:cNvPr id="1227" name="Google Shape;1227;p50"/>
          <p:cNvSpPr/>
          <p:nvPr/>
        </p:nvSpPr>
        <p:spPr>
          <a:xfrm>
            <a:off x="1143000" y="3840480"/>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7A2F"/>
              </a:buClr>
              <a:buSzPts val="1150"/>
              <a:buFont typeface="Arial"/>
              <a:buNone/>
            </a:pPr>
            <a:r>
              <a:rPr b="1" i="0" lang="en-US" sz="1150" u="none" cap="none" strike="noStrike">
                <a:solidFill>
                  <a:srgbClr val="3F7A2F"/>
                </a:solidFill>
              </a:rPr>
              <a:t>Aligned windows  →  one fused feature vector each</a:t>
            </a:r>
            <a:endParaRPr i="0" sz="1150" u="none" cap="none" strike="noStrike">
              <a:solidFill>
                <a:srgbClr val="000000"/>
              </a:solidFill>
            </a:endParaRPr>
          </a:p>
        </p:txBody>
      </p:sp>
      <p:sp>
        <p:nvSpPr>
          <p:cNvPr id="1228" name="Google Shape;1228;p50"/>
          <p:cNvSpPr/>
          <p:nvPr/>
        </p:nvSpPr>
        <p:spPr>
          <a:xfrm>
            <a:off x="1143000" y="4160520"/>
            <a:ext cx="1673400" cy="420600"/>
          </a:xfrm>
          <a:prstGeom prst="rect">
            <a:avLst/>
          </a:prstGeom>
          <a:solidFill>
            <a:srgbClr val="EAF3E3"/>
          </a:solidFill>
          <a:ln cap="flat" cmpd="sng" w="15875">
            <a:solidFill>
              <a:srgbClr val="6FA8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0"/>
          <p:cNvSpPr/>
          <p:nvPr/>
        </p:nvSpPr>
        <p:spPr>
          <a:xfrm>
            <a:off x="1143000" y="4160520"/>
            <a:ext cx="16734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7A2F"/>
              </a:buClr>
              <a:buSzPts val="1050"/>
              <a:buFont typeface="Arial"/>
              <a:buNone/>
            </a:pPr>
            <a:r>
              <a:rPr b="1" i="0" lang="en-US" sz="1050" u="none" cap="none" strike="noStrike">
                <a:solidFill>
                  <a:srgbClr val="3F7A2F"/>
                </a:solidFill>
              </a:rPr>
              <a:t>t0 – t1</a:t>
            </a:r>
            <a:endParaRPr i="0" sz="1050" u="none" cap="none" strike="noStrike">
              <a:solidFill>
                <a:srgbClr val="000000"/>
              </a:solidFill>
            </a:endParaRPr>
          </a:p>
        </p:txBody>
      </p:sp>
      <p:sp>
        <p:nvSpPr>
          <p:cNvPr id="1230" name="Google Shape;1230;p50"/>
          <p:cNvSpPr/>
          <p:nvPr/>
        </p:nvSpPr>
        <p:spPr>
          <a:xfrm>
            <a:off x="2907792" y="4160520"/>
            <a:ext cx="1673400" cy="420600"/>
          </a:xfrm>
          <a:prstGeom prst="rect">
            <a:avLst/>
          </a:prstGeom>
          <a:solidFill>
            <a:srgbClr val="EAF3E3"/>
          </a:solidFill>
          <a:ln cap="flat" cmpd="sng" w="15875">
            <a:solidFill>
              <a:srgbClr val="6FA8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0"/>
          <p:cNvSpPr/>
          <p:nvPr/>
        </p:nvSpPr>
        <p:spPr>
          <a:xfrm>
            <a:off x="2907792" y="4160520"/>
            <a:ext cx="16734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7A2F"/>
              </a:buClr>
              <a:buSzPts val="1050"/>
              <a:buFont typeface="Arial"/>
              <a:buNone/>
            </a:pPr>
            <a:r>
              <a:rPr b="1" i="0" lang="en-US" sz="1050" u="none" cap="none" strike="noStrike">
                <a:solidFill>
                  <a:srgbClr val="3F7A2F"/>
                </a:solidFill>
              </a:rPr>
              <a:t>t1 – t2</a:t>
            </a:r>
            <a:endParaRPr i="0" sz="1050" u="none" cap="none" strike="noStrike">
              <a:solidFill>
                <a:srgbClr val="000000"/>
              </a:solidFill>
            </a:endParaRPr>
          </a:p>
        </p:txBody>
      </p:sp>
      <p:sp>
        <p:nvSpPr>
          <p:cNvPr id="1232" name="Google Shape;1232;p50"/>
          <p:cNvSpPr/>
          <p:nvPr/>
        </p:nvSpPr>
        <p:spPr>
          <a:xfrm>
            <a:off x="4672584" y="4160520"/>
            <a:ext cx="1673400" cy="420600"/>
          </a:xfrm>
          <a:prstGeom prst="rect">
            <a:avLst/>
          </a:prstGeom>
          <a:solidFill>
            <a:srgbClr val="EAF3E3"/>
          </a:solidFill>
          <a:ln cap="flat" cmpd="sng" w="15875">
            <a:solidFill>
              <a:srgbClr val="6FA8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0"/>
          <p:cNvSpPr/>
          <p:nvPr/>
        </p:nvSpPr>
        <p:spPr>
          <a:xfrm>
            <a:off x="4672584" y="4160520"/>
            <a:ext cx="16734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7A2F"/>
              </a:buClr>
              <a:buSzPts val="1050"/>
              <a:buFont typeface="Arial"/>
              <a:buNone/>
            </a:pPr>
            <a:r>
              <a:rPr b="1" i="0" lang="en-US" sz="1050" u="none" cap="none" strike="noStrike">
                <a:solidFill>
                  <a:srgbClr val="3F7A2F"/>
                </a:solidFill>
              </a:rPr>
              <a:t>t2 – t3</a:t>
            </a:r>
            <a:endParaRPr i="0" sz="1050" u="none" cap="none" strike="noStrike">
              <a:solidFill>
                <a:srgbClr val="000000"/>
              </a:solidFill>
            </a:endParaRPr>
          </a:p>
        </p:txBody>
      </p:sp>
      <p:sp>
        <p:nvSpPr>
          <p:cNvPr id="1234" name="Google Shape;1234;p50"/>
          <p:cNvSpPr/>
          <p:nvPr/>
        </p:nvSpPr>
        <p:spPr>
          <a:xfrm>
            <a:off x="6437376" y="4160520"/>
            <a:ext cx="1673400" cy="420600"/>
          </a:xfrm>
          <a:prstGeom prst="rect">
            <a:avLst/>
          </a:prstGeom>
          <a:solidFill>
            <a:srgbClr val="EAF3E3"/>
          </a:solidFill>
          <a:ln cap="flat" cmpd="sng" w="15875">
            <a:solidFill>
              <a:srgbClr val="6FA8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50"/>
          <p:cNvSpPr/>
          <p:nvPr/>
        </p:nvSpPr>
        <p:spPr>
          <a:xfrm>
            <a:off x="6437376" y="4160520"/>
            <a:ext cx="16734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7A2F"/>
              </a:buClr>
              <a:buSzPts val="1050"/>
              <a:buFont typeface="Arial"/>
              <a:buNone/>
            </a:pPr>
            <a:r>
              <a:rPr b="1" i="0" lang="en-US" sz="1050" u="none" cap="none" strike="noStrike">
                <a:solidFill>
                  <a:srgbClr val="3F7A2F"/>
                </a:solidFill>
              </a:rPr>
              <a:t>t3 – t4</a:t>
            </a:r>
            <a:endParaRPr i="0" sz="1050" u="none" cap="none" strike="noStrike">
              <a:solidFill>
                <a:srgbClr val="000000"/>
              </a:solidFill>
            </a:endParaRPr>
          </a:p>
        </p:txBody>
      </p:sp>
      <p:cxnSp>
        <p:nvCxnSpPr>
          <p:cNvPr id="1236" name="Google Shape;1236;p50"/>
          <p:cNvCxnSpPr/>
          <p:nvPr/>
        </p:nvCxnSpPr>
        <p:spPr>
          <a:xfrm>
            <a:off x="1143000" y="2697480"/>
            <a:ext cx="0" cy="1883700"/>
          </a:xfrm>
          <a:prstGeom prst="straightConnector1">
            <a:avLst/>
          </a:prstGeom>
          <a:noFill/>
          <a:ln cap="flat" cmpd="sng" w="9525">
            <a:solidFill>
              <a:srgbClr val="BDBDBD"/>
            </a:solidFill>
            <a:prstDash val="dash"/>
            <a:round/>
            <a:headEnd len="sm" w="sm" type="none"/>
            <a:tailEnd len="sm" w="sm" type="none"/>
          </a:ln>
        </p:spPr>
      </p:cxnSp>
      <p:cxnSp>
        <p:nvCxnSpPr>
          <p:cNvPr id="1237" name="Google Shape;1237;p50"/>
          <p:cNvCxnSpPr/>
          <p:nvPr/>
        </p:nvCxnSpPr>
        <p:spPr>
          <a:xfrm>
            <a:off x="2907792" y="2697480"/>
            <a:ext cx="0" cy="1883700"/>
          </a:xfrm>
          <a:prstGeom prst="straightConnector1">
            <a:avLst/>
          </a:prstGeom>
          <a:noFill/>
          <a:ln cap="flat" cmpd="sng" w="9525">
            <a:solidFill>
              <a:srgbClr val="BDBDBD"/>
            </a:solidFill>
            <a:prstDash val="dash"/>
            <a:round/>
            <a:headEnd len="sm" w="sm" type="none"/>
            <a:tailEnd len="sm" w="sm" type="none"/>
          </a:ln>
        </p:spPr>
      </p:cxnSp>
      <p:cxnSp>
        <p:nvCxnSpPr>
          <p:cNvPr id="1238" name="Google Shape;1238;p50"/>
          <p:cNvCxnSpPr/>
          <p:nvPr/>
        </p:nvCxnSpPr>
        <p:spPr>
          <a:xfrm>
            <a:off x="4672584" y="2697480"/>
            <a:ext cx="0" cy="1883700"/>
          </a:xfrm>
          <a:prstGeom prst="straightConnector1">
            <a:avLst/>
          </a:prstGeom>
          <a:noFill/>
          <a:ln cap="flat" cmpd="sng" w="9525">
            <a:solidFill>
              <a:srgbClr val="BDBDBD"/>
            </a:solidFill>
            <a:prstDash val="dash"/>
            <a:round/>
            <a:headEnd len="sm" w="sm" type="none"/>
            <a:tailEnd len="sm" w="sm" type="none"/>
          </a:ln>
        </p:spPr>
      </p:cxnSp>
      <p:cxnSp>
        <p:nvCxnSpPr>
          <p:cNvPr id="1239" name="Google Shape;1239;p50"/>
          <p:cNvCxnSpPr/>
          <p:nvPr/>
        </p:nvCxnSpPr>
        <p:spPr>
          <a:xfrm>
            <a:off x="6437376" y="2697480"/>
            <a:ext cx="0" cy="1883700"/>
          </a:xfrm>
          <a:prstGeom prst="straightConnector1">
            <a:avLst/>
          </a:prstGeom>
          <a:noFill/>
          <a:ln cap="flat" cmpd="sng" w="9525">
            <a:solidFill>
              <a:srgbClr val="BDBDBD"/>
            </a:solidFill>
            <a:prstDash val="dash"/>
            <a:round/>
            <a:headEnd len="sm" w="sm" type="none"/>
            <a:tailEnd len="sm" w="sm" type="none"/>
          </a:ln>
        </p:spPr>
      </p:cxnSp>
      <p:cxnSp>
        <p:nvCxnSpPr>
          <p:cNvPr id="1240" name="Google Shape;1240;p50"/>
          <p:cNvCxnSpPr/>
          <p:nvPr/>
        </p:nvCxnSpPr>
        <p:spPr>
          <a:xfrm>
            <a:off x="8202168" y="2697480"/>
            <a:ext cx="0" cy="1883700"/>
          </a:xfrm>
          <a:prstGeom prst="straightConnector1">
            <a:avLst/>
          </a:prstGeom>
          <a:noFill/>
          <a:ln cap="flat" cmpd="sng" w="9525">
            <a:solidFill>
              <a:srgbClr val="BDBDBD"/>
            </a:solidFill>
            <a:prstDash val="dash"/>
            <a:round/>
            <a:headEnd len="sm" w="sm" type="none"/>
            <a:tailEnd len="sm" w="sm" type="none"/>
          </a:ln>
        </p:spPr>
      </p:cxnSp>
      <p:sp>
        <p:nvSpPr>
          <p:cNvPr id="1241" name="Google Shape;1241;p50"/>
          <p:cNvSpPr/>
          <p:nvPr/>
        </p:nvSpPr>
        <p:spPr>
          <a:xfrm>
            <a:off x="8549650" y="2240275"/>
            <a:ext cx="3063300" cy="3067200"/>
          </a:xfrm>
          <a:prstGeom prst="roundRect">
            <a:avLst>
              <a:gd fmla="val 2388" name="adj"/>
            </a:avLst>
          </a:prstGeom>
          <a:solidFill>
            <a:srgbClr val="F7F5F0"/>
          </a:solidFill>
          <a:ln cap="flat" cmpd="sng" w="12700">
            <a:solidFill>
              <a:srgbClr val="E3E0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0"/>
          <p:cNvSpPr/>
          <p:nvPr/>
        </p:nvSpPr>
        <p:spPr>
          <a:xfrm>
            <a:off x="8750808" y="2395728"/>
            <a:ext cx="2661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8A2E"/>
              </a:buClr>
              <a:buSzPts val="1000"/>
              <a:buFont typeface="Arial"/>
              <a:buNone/>
            </a:pPr>
            <a:r>
              <a:rPr b="1" i="0" lang="en-US" sz="1000" u="none" cap="none" strike="noStrike">
                <a:solidFill>
                  <a:srgbClr val="B08A2E"/>
                </a:solidFill>
              </a:rPr>
              <a:t>WHAT CAN GO WRONG LIVE</a:t>
            </a:r>
            <a:endParaRPr i="0" sz="1000" u="none" cap="none" strike="noStrike">
              <a:solidFill>
                <a:srgbClr val="000000"/>
              </a:solidFill>
            </a:endParaRPr>
          </a:p>
        </p:txBody>
      </p:sp>
      <p:sp>
        <p:nvSpPr>
          <p:cNvPr id="1243" name="Google Shape;1243;p50"/>
          <p:cNvSpPr/>
          <p:nvPr/>
        </p:nvSpPr>
        <p:spPr>
          <a:xfrm>
            <a:off x="8677675" y="2445925"/>
            <a:ext cx="2798100" cy="2926200"/>
          </a:xfrm>
          <a:prstGeom prst="rect">
            <a:avLst/>
          </a:prstGeom>
          <a:noFill/>
          <a:ln>
            <a:noFill/>
          </a:ln>
        </p:spPr>
        <p:txBody>
          <a:bodyPr anchorCtr="0" anchor="ctr" bIns="0" lIns="0" spcFirstLastPara="1" rIns="0" wrap="square" tIns="0">
            <a:noAutofit/>
          </a:bodyPr>
          <a:lstStyle/>
          <a:p>
            <a:pPr indent="-307975" lvl="0" marL="457200" marR="0" rtl="0" algn="l">
              <a:lnSpc>
                <a:spcPct val="130434"/>
              </a:lnSpc>
              <a:spcBef>
                <a:spcPts val="0"/>
              </a:spcBef>
              <a:spcAft>
                <a:spcPts val="0"/>
              </a:spcAft>
              <a:buClr>
                <a:srgbClr val="444444"/>
              </a:buClr>
              <a:buSzPts val="1250"/>
              <a:buChar char="❖"/>
            </a:pPr>
            <a:r>
              <a:rPr i="0" lang="en-US" sz="1250" u="none" cap="none" strike="noStrike">
                <a:solidFill>
                  <a:srgbClr val="444444"/>
                </a:solidFill>
              </a:rPr>
              <a:t>Rate mismatch:</a:t>
            </a:r>
            <a:r>
              <a:rPr lang="en-US" sz="1250">
                <a:solidFill>
                  <a:srgbClr val="444444"/>
                </a:solidFill>
              </a:rPr>
              <a:t> O</a:t>
            </a:r>
            <a:r>
              <a:rPr i="0" lang="en-US" sz="1250" u="none" cap="none" strike="noStrike">
                <a:solidFill>
                  <a:srgbClr val="444444"/>
                </a:solidFill>
              </a:rPr>
              <a:t>ne modality has hundreds of readings per window, the other may have three.</a:t>
            </a:r>
            <a:endParaRPr sz="1250"/>
          </a:p>
          <a:p>
            <a:pPr indent="-307975" lvl="0" marL="457200" marR="0" rtl="0" algn="l">
              <a:lnSpc>
                <a:spcPct val="130434"/>
              </a:lnSpc>
              <a:spcBef>
                <a:spcPts val="0"/>
              </a:spcBef>
              <a:spcAft>
                <a:spcPts val="0"/>
              </a:spcAft>
              <a:buClr>
                <a:srgbClr val="444444"/>
              </a:buClr>
              <a:buSzPts val="1250"/>
              <a:buChar char="❖"/>
            </a:pPr>
            <a:r>
              <a:rPr i="0" lang="en-US" sz="1250" u="none" cap="none" strike="noStrike">
                <a:solidFill>
                  <a:srgbClr val="444444"/>
                </a:solidFill>
              </a:rPr>
              <a:t>Clock skew </a:t>
            </a:r>
            <a:r>
              <a:rPr lang="en-US" sz="1250">
                <a:solidFill>
                  <a:srgbClr val="444444"/>
                </a:solidFill>
              </a:rPr>
              <a:t>: S</a:t>
            </a:r>
            <a:r>
              <a:rPr i="0" lang="en-US" sz="1250" u="none" cap="none" strike="noStrike">
                <a:solidFill>
                  <a:srgbClr val="444444"/>
                </a:solidFill>
              </a:rPr>
              <a:t>ensors and network capture timestamp events on different clocks.</a:t>
            </a:r>
            <a:endParaRPr sz="1250"/>
          </a:p>
          <a:p>
            <a:pPr indent="-307975" lvl="0" marL="457200" marR="0" rtl="0" algn="l">
              <a:lnSpc>
                <a:spcPct val="130434"/>
              </a:lnSpc>
              <a:spcBef>
                <a:spcPts val="0"/>
              </a:spcBef>
              <a:spcAft>
                <a:spcPts val="0"/>
              </a:spcAft>
              <a:buClr>
                <a:srgbClr val="444444"/>
              </a:buClr>
              <a:buSzPts val="1250"/>
              <a:buChar char="❖"/>
            </a:pPr>
            <a:r>
              <a:rPr i="0" lang="en-US" sz="1250" u="none" cap="none" strike="noStrike">
                <a:solidFill>
                  <a:srgbClr val="444444"/>
                </a:solidFill>
              </a:rPr>
              <a:t>Gaps &amp; late data</a:t>
            </a:r>
            <a:r>
              <a:rPr lang="en-US" sz="1250">
                <a:solidFill>
                  <a:srgbClr val="444444"/>
                </a:solidFill>
              </a:rPr>
              <a:t>: A</a:t>
            </a:r>
            <a:r>
              <a:rPr i="0" lang="en-US" sz="1250" u="none" cap="none" strike="noStrike">
                <a:solidFill>
                  <a:srgbClr val="444444"/>
                </a:solidFill>
              </a:rPr>
              <a:t> window may close with one modality missing; the engine still has to answer.</a:t>
            </a:r>
            <a:endParaRPr i="0" sz="1250" u="none" cap="none" strike="noStrike">
              <a:solidFill>
                <a:srgbClr val="000000"/>
              </a:solidFill>
            </a:endParaRPr>
          </a:p>
        </p:txBody>
      </p:sp>
      <p:sp>
        <p:nvSpPr>
          <p:cNvPr id="1244" name="Google Shape;1244;p50"/>
          <p:cNvSpPr/>
          <p:nvPr/>
        </p:nvSpPr>
        <p:spPr>
          <a:xfrm>
            <a:off x="566928" y="5897880"/>
            <a:ext cx="11018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6E"/>
              </a:buClr>
              <a:buSzPts val="1200"/>
              <a:buFont typeface="Arial"/>
              <a:buNone/>
            </a:pPr>
            <a:r>
              <a:rPr lang="en-US" sz="1200" u="none" cap="none" strike="noStrike">
                <a:solidFill>
                  <a:srgbClr val="6E6E6E"/>
                </a:solidFill>
              </a:rPr>
              <a:t>Practical rule:  aggregate each modality per window (means, counts, rates), then fuse</a:t>
            </a:r>
            <a:r>
              <a:rPr lang="en-US" sz="1200">
                <a:solidFill>
                  <a:srgbClr val="6E6E6E"/>
                </a:solidFill>
              </a:rPr>
              <a:t>.</a:t>
            </a:r>
            <a:endParaRPr sz="1200" u="none" cap="none" strike="noStrike">
              <a:solidFill>
                <a:srgbClr val="0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9" name="Shape 1249"/>
        <p:cNvGrpSpPr/>
        <p:nvPr/>
      </p:nvGrpSpPr>
      <p:grpSpPr>
        <a:xfrm>
          <a:off x="0" y="0"/>
          <a:ext cx="0" cy="0"/>
          <a:chOff x="0" y="0"/>
          <a:chExt cx="0" cy="0"/>
        </a:xfrm>
      </p:grpSpPr>
      <p:sp>
        <p:nvSpPr>
          <p:cNvPr id="1250" name="Google Shape;1250;p51"/>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251" name="Google Shape;1251;p51"/>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252" name="Google Shape;1252;p51"/>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a:t>
            </a:r>
            <a:r>
              <a:rPr b="1" lang="en-US" sz="900">
                <a:solidFill>
                  <a:srgbClr val="8A8A8A"/>
                </a:solidFill>
                <a:latin typeface="Calibri"/>
                <a:ea typeface="Calibri"/>
                <a:cs typeface="Calibri"/>
                <a:sym typeface="Calibri"/>
              </a:rPr>
              <a:t>Real-Time Inference &amp; Alerts</a:t>
            </a:r>
            <a:endParaRPr b="1" sz="900">
              <a:solidFill>
                <a:srgbClr val="8A8A8A"/>
              </a:solidFill>
              <a:latin typeface="Calibri"/>
              <a:ea typeface="Calibri"/>
              <a:cs typeface="Calibri"/>
              <a:sym typeface="Calibri"/>
            </a:endParaRPr>
          </a:p>
        </p:txBody>
      </p:sp>
      <p:sp>
        <p:nvSpPr>
          <p:cNvPr id="1253" name="Google Shape;1253;p51"/>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150"/>
              <a:buFont typeface="Arial"/>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p:txBody>
      </p:sp>
      <p:sp>
        <p:nvSpPr>
          <p:cNvPr id="1254" name="Google Shape;1254;p51"/>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n-US" sz="3100">
                <a:solidFill>
                  <a:srgbClr val="1A1A1A"/>
                </a:solidFill>
                <a:latin typeface="Georgia"/>
                <a:ea typeface="Georgia"/>
                <a:cs typeface="Georgia"/>
                <a:sym typeface="Georgia"/>
              </a:rPr>
              <a:t>The real-time inference pipeline</a:t>
            </a:r>
            <a:endParaRPr b="1" sz="3000">
              <a:solidFill>
                <a:srgbClr val="1A1A1A"/>
              </a:solidFill>
              <a:latin typeface="Georgia"/>
              <a:ea typeface="Georgia"/>
              <a:cs typeface="Georgia"/>
              <a:sym typeface="Georgia"/>
            </a:endParaRPr>
          </a:p>
        </p:txBody>
      </p:sp>
      <p:sp>
        <p:nvSpPr>
          <p:cNvPr id="1255" name="Google Shape;1255;p51"/>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1"/>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257" name="Google Shape;1257;p51"/>
          <p:cNvSpPr/>
          <p:nvPr/>
        </p:nvSpPr>
        <p:spPr>
          <a:xfrm>
            <a:off x="548650" y="1759025"/>
            <a:ext cx="11322300" cy="493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600">
                <a:solidFill>
                  <a:srgbClr val="5A5A5A"/>
                </a:solidFill>
              </a:rPr>
              <a:t>Continuous sensor and network data is turned into prioritized, actionable alerts — as events happen, on the vehicle.</a:t>
            </a:r>
            <a:endParaRPr sz="1600">
              <a:solidFill>
                <a:srgbClr val="4A4A4A"/>
              </a:solidFill>
            </a:endParaRPr>
          </a:p>
        </p:txBody>
      </p:sp>
      <p:sp>
        <p:nvSpPr>
          <p:cNvPr id="1258" name="Google Shape;1258;p51"/>
          <p:cNvSpPr/>
          <p:nvPr/>
        </p:nvSpPr>
        <p:spPr>
          <a:xfrm>
            <a:off x="642045" y="2512245"/>
            <a:ext cx="2395800" cy="1371600"/>
          </a:xfrm>
          <a:prstGeom prst="roundRect">
            <a:avLst>
              <a:gd fmla="val 6667" name="adj"/>
            </a:avLst>
          </a:prstGeom>
          <a:solidFill>
            <a:srgbClr val="F8E6D8"/>
          </a:solidFill>
          <a:ln cap="flat" cmpd="sng" w="12700">
            <a:solidFill>
              <a:srgbClr val="FFFFFF"/>
            </a:solidFill>
            <a:prstDash val="solid"/>
            <a:round/>
            <a:headEnd len="sm" w="sm" type="none"/>
            <a:tailEnd len="sm" w="sm" type="none"/>
          </a:ln>
          <a:effectLst>
            <a:outerShdw blurRad="114300" rotWithShape="0" algn="bl" dir="5400000" dist="38100">
              <a:srgbClr val="000000">
                <a:alpha val="160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1"/>
          <p:cNvSpPr/>
          <p:nvPr/>
        </p:nvSpPr>
        <p:spPr>
          <a:xfrm>
            <a:off x="642045" y="3335205"/>
            <a:ext cx="2395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B2B"/>
              </a:buClr>
              <a:buSzPts val="1450"/>
              <a:buFont typeface="Calibri"/>
              <a:buNone/>
            </a:pPr>
            <a:r>
              <a:rPr b="1" lang="en-US" sz="1450">
                <a:solidFill>
                  <a:srgbClr val="2B2B2B"/>
                </a:solidFill>
                <a:latin typeface="Calibri"/>
                <a:ea typeface="Calibri"/>
                <a:cs typeface="Calibri"/>
                <a:sym typeface="Calibri"/>
              </a:rPr>
              <a:t>Streaming Data</a:t>
            </a:r>
            <a:endParaRPr b="0" i="0" sz="1450" u="none" cap="none" strike="noStrike">
              <a:solidFill>
                <a:srgbClr val="000000"/>
              </a:solidFill>
              <a:latin typeface="Calibri"/>
              <a:ea typeface="Calibri"/>
              <a:cs typeface="Calibri"/>
              <a:sym typeface="Calibri"/>
            </a:endParaRPr>
          </a:p>
        </p:txBody>
      </p:sp>
      <p:sp>
        <p:nvSpPr>
          <p:cNvPr id="1260" name="Google Shape;1260;p51"/>
          <p:cNvSpPr/>
          <p:nvPr/>
        </p:nvSpPr>
        <p:spPr>
          <a:xfrm>
            <a:off x="642045" y="3582093"/>
            <a:ext cx="2395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4E22"/>
              </a:buClr>
              <a:buSzPts val="1100"/>
              <a:buFont typeface="Calibri"/>
              <a:buNone/>
            </a:pPr>
            <a:r>
              <a:rPr i="1" lang="en-US" sz="1100">
                <a:solidFill>
                  <a:srgbClr val="8A4E22"/>
                </a:solidFill>
                <a:latin typeface="Calibri"/>
                <a:ea typeface="Calibri"/>
                <a:cs typeface="Calibri"/>
                <a:sym typeface="Calibri"/>
              </a:rPr>
              <a:t>Sensors &amp; traffic arrive continuously</a:t>
            </a:r>
            <a:endParaRPr b="0" i="0" sz="1100" u="none" cap="none" strike="noStrike">
              <a:solidFill>
                <a:srgbClr val="000000"/>
              </a:solidFill>
              <a:latin typeface="Calibri"/>
              <a:ea typeface="Calibri"/>
              <a:cs typeface="Calibri"/>
              <a:sym typeface="Calibri"/>
            </a:endParaRPr>
          </a:p>
        </p:txBody>
      </p:sp>
      <p:sp>
        <p:nvSpPr>
          <p:cNvPr id="1261" name="Google Shape;1261;p51"/>
          <p:cNvSpPr/>
          <p:nvPr/>
        </p:nvSpPr>
        <p:spPr>
          <a:xfrm>
            <a:off x="3147501" y="3051741"/>
            <a:ext cx="329100" cy="292500"/>
          </a:xfrm>
          <a:prstGeom prst="rightArrow">
            <a:avLst>
              <a:gd fmla="val 50000" name="adj1"/>
              <a:gd fmla="val 50000" name="adj2"/>
            </a:avLst>
          </a:prstGeom>
          <a:solidFill>
            <a:srgbClr val="B891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1"/>
          <p:cNvSpPr/>
          <p:nvPr/>
        </p:nvSpPr>
        <p:spPr>
          <a:xfrm>
            <a:off x="3586413" y="2512245"/>
            <a:ext cx="2395800" cy="1371600"/>
          </a:xfrm>
          <a:prstGeom prst="roundRect">
            <a:avLst>
              <a:gd fmla="val 6667" name="adj"/>
            </a:avLst>
          </a:prstGeom>
          <a:solidFill>
            <a:srgbClr val="E4EFDC"/>
          </a:solidFill>
          <a:ln cap="flat" cmpd="sng" w="12700">
            <a:solidFill>
              <a:srgbClr val="FFFFFF"/>
            </a:solidFill>
            <a:prstDash val="solid"/>
            <a:round/>
            <a:headEnd len="sm" w="sm" type="none"/>
            <a:tailEnd len="sm" w="sm" type="none"/>
          </a:ln>
          <a:effectLst>
            <a:outerShdw blurRad="114300" rotWithShape="0" algn="bl" dir="5400000" dist="38100">
              <a:srgbClr val="000000">
                <a:alpha val="160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1"/>
          <p:cNvSpPr/>
          <p:nvPr/>
        </p:nvSpPr>
        <p:spPr>
          <a:xfrm>
            <a:off x="3586413" y="3335205"/>
            <a:ext cx="2395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B2B"/>
              </a:buClr>
              <a:buSzPts val="1450"/>
              <a:buFont typeface="Calibri"/>
              <a:buNone/>
            </a:pPr>
            <a:r>
              <a:rPr b="1" lang="en-US" sz="1450">
                <a:solidFill>
                  <a:srgbClr val="2B2B2B"/>
                </a:solidFill>
                <a:latin typeface="Calibri"/>
                <a:ea typeface="Calibri"/>
                <a:cs typeface="Calibri"/>
                <a:sym typeface="Calibri"/>
              </a:rPr>
              <a:t>Live Inference</a:t>
            </a:r>
            <a:endParaRPr b="0" i="0" sz="1450" u="none" cap="none" strike="noStrike">
              <a:solidFill>
                <a:srgbClr val="000000"/>
              </a:solidFill>
              <a:latin typeface="Calibri"/>
              <a:ea typeface="Calibri"/>
              <a:cs typeface="Calibri"/>
              <a:sym typeface="Calibri"/>
            </a:endParaRPr>
          </a:p>
        </p:txBody>
      </p:sp>
      <p:sp>
        <p:nvSpPr>
          <p:cNvPr id="1264" name="Google Shape;1264;p51"/>
          <p:cNvSpPr/>
          <p:nvPr/>
        </p:nvSpPr>
        <p:spPr>
          <a:xfrm>
            <a:off x="3586413" y="3582093"/>
            <a:ext cx="2395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6024"/>
              </a:buClr>
              <a:buSzPts val="1100"/>
              <a:buFont typeface="Calibri"/>
              <a:buNone/>
            </a:pPr>
            <a:r>
              <a:rPr i="1" lang="en-US" sz="1100">
                <a:solidFill>
                  <a:srgbClr val="3F6024"/>
                </a:solidFill>
                <a:latin typeface="Calibri"/>
                <a:ea typeface="Calibri"/>
                <a:cs typeface="Calibri"/>
                <a:sym typeface="Calibri"/>
              </a:rPr>
              <a:t>classify each sample in real time</a:t>
            </a:r>
            <a:endParaRPr b="0" i="0" sz="1100" u="none" cap="none" strike="noStrike">
              <a:solidFill>
                <a:srgbClr val="000000"/>
              </a:solidFill>
              <a:latin typeface="Calibri"/>
              <a:ea typeface="Calibri"/>
              <a:cs typeface="Calibri"/>
              <a:sym typeface="Calibri"/>
            </a:endParaRPr>
          </a:p>
        </p:txBody>
      </p:sp>
      <p:sp>
        <p:nvSpPr>
          <p:cNvPr id="1265" name="Google Shape;1265;p51"/>
          <p:cNvSpPr/>
          <p:nvPr/>
        </p:nvSpPr>
        <p:spPr>
          <a:xfrm>
            <a:off x="6091869" y="3051741"/>
            <a:ext cx="329100" cy="292500"/>
          </a:xfrm>
          <a:prstGeom prst="rightArrow">
            <a:avLst>
              <a:gd fmla="val 50000" name="adj1"/>
              <a:gd fmla="val 50000" name="adj2"/>
            </a:avLst>
          </a:prstGeom>
          <a:solidFill>
            <a:srgbClr val="B891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1"/>
          <p:cNvSpPr/>
          <p:nvPr/>
        </p:nvSpPr>
        <p:spPr>
          <a:xfrm>
            <a:off x="6530781" y="2512245"/>
            <a:ext cx="2395800" cy="1371600"/>
          </a:xfrm>
          <a:prstGeom prst="roundRect">
            <a:avLst>
              <a:gd fmla="val 6667" name="adj"/>
            </a:avLst>
          </a:prstGeom>
          <a:solidFill>
            <a:srgbClr val="FAEFCF"/>
          </a:solidFill>
          <a:ln cap="flat" cmpd="sng" w="28575">
            <a:solidFill>
              <a:srgbClr val="FAEFCF"/>
            </a:solidFill>
            <a:prstDash val="solid"/>
            <a:round/>
            <a:headEnd len="sm" w="sm" type="none"/>
            <a:tailEnd len="sm" w="sm" type="none"/>
          </a:ln>
          <a:effectLst>
            <a:outerShdw blurRad="114300" rotWithShape="0" algn="bl" dir="5400000" dist="38100">
              <a:srgbClr val="000000">
                <a:alpha val="160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1"/>
          <p:cNvSpPr/>
          <p:nvPr/>
        </p:nvSpPr>
        <p:spPr>
          <a:xfrm>
            <a:off x="6530781" y="3335205"/>
            <a:ext cx="2395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B2B"/>
              </a:buClr>
              <a:buSzPts val="1450"/>
              <a:buFont typeface="Calibri"/>
              <a:buNone/>
            </a:pPr>
            <a:r>
              <a:rPr b="1" i="0" lang="en-US" sz="1450" u="none" cap="none" strike="noStrike">
                <a:solidFill>
                  <a:srgbClr val="2B2B2B"/>
                </a:solidFill>
                <a:latin typeface="Calibri"/>
                <a:ea typeface="Calibri"/>
                <a:cs typeface="Calibri"/>
                <a:sym typeface="Calibri"/>
              </a:rPr>
              <a:t>Alert </a:t>
            </a:r>
            <a:r>
              <a:rPr b="1" lang="en-US" sz="1450">
                <a:solidFill>
                  <a:srgbClr val="2B2B2B"/>
                </a:solidFill>
                <a:latin typeface="Calibri"/>
                <a:ea typeface="Calibri"/>
                <a:cs typeface="Calibri"/>
                <a:sym typeface="Calibri"/>
              </a:rPr>
              <a:t>Decision</a:t>
            </a:r>
            <a:endParaRPr b="0" i="0" sz="1450" u="none" cap="none" strike="noStrike">
              <a:solidFill>
                <a:srgbClr val="000000"/>
              </a:solidFill>
              <a:latin typeface="Calibri"/>
              <a:ea typeface="Calibri"/>
              <a:cs typeface="Calibri"/>
              <a:sym typeface="Calibri"/>
            </a:endParaRPr>
          </a:p>
        </p:txBody>
      </p:sp>
      <p:sp>
        <p:nvSpPr>
          <p:cNvPr id="1268" name="Google Shape;1268;p51"/>
          <p:cNvSpPr/>
          <p:nvPr/>
        </p:nvSpPr>
        <p:spPr>
          <a:xfrm>
            <a:off x="6530781" y="3582093"/>
            <a:ext cx="2395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6A12"/>
              </a:buClr>
              <a:buSzPts val="1100"/>
              <a:buFont typeface="Calibri"/>
              <a:buNone/>
            </a:pPr>
            <a:r>
              <a:rPr i="1" lang="en-US" sz="1100">
                <a:solidFill>
                  <a:srgbClr val="8A6A12"/>
                </a:solidFill>
                <a:latin typeface="Calibri"/>
                <a:ea typeface="Calibri"/>
                <a:cs typeface="Calibri"/>
                <a:sym typeface="Calibri"/>
              </a:rPr>
              <a:t>confidence, cooldown,severity</a:t>
            </a:r>
            <a:endParaRPr b="0" i="0" sz="1100" u="none" cap="none" strike="noStrike">
              <a:solidFill>
                <a:srgbClr val="000000"/>
              </a:solidFill>
              <a:latin typeface="Calibri"/>
              <a:ea typeface="Calibri"/>
              <a:cs typeface="Calibri"/>
              <a:sym typeface="Calibri"/>
            </a:endParaRPr>
          </a:p>
        </p:txBody>
      </p:sp>
      <p:sp>
        <p:nvSpPr>
          <p:cNvPr id="1269" name="Google Shape;1269;p51"/>
          <p:cNvSpPr/>
          <p:nvPr/>
        </p:nvSpPr>
        <p:spPr>
          <a:xfrm>
            <a:off x="9036237" y="3051741"/>
            <a:ext cx="329100" cy="292500"/>
          </a:xfrm>
          <a:prstGeom prst="rightArrow">
            <a:avLst>
              <a:gd fmla="val 50000" name="adj1"/>
              <a:gd fmla="val 50000" name="adj2"/>
            </a:avLst>
          </a:prstGeom>
          <a:solidFill>
            <a:srgbClr val="B891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1"/>
          <p:cNvSpPr/>
          <p:nvPr/>
        </p:nvSpPr>
        <p:spPr>
          <a:xfrm>
            <a:off x="9475149" y="2512245"/>
            <a:ext cx="2395800" cy="1371600"/>
          </a:xfrm>
          <a:prstGeom prst="roundRect">
            <a:avLst>
              <a:gd fmla="val 6667" name="adj"/>
            </a:avLst>
          </a:prstGeom>
          <a:solidFill>
            <a:srgbClr val="DCE9F6"/>
          </a:solidFill>
          <a:ln cap="flat" cmpd="sng" w="12700">
            <a:solidFill>
              <a:srgbClr val="FFFFFF"/>
            </a:solidFill>
            <a:prstDash val="solid"/>
            <a:round/>
            <a:headEnd len="sm" w="sm" type="none"/>
            <a:tailEnd len="sm" w="sm" type="none"/>
          </a:ln>
          <a:effectLst>
            <a:outerShdw blurRad="114300" rotWithShape="0" algn="bl" dir="5400000" dist="38100">
              <a:srgbClr val="000000">
                <a:alpha val="160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1"/>
          <p:cNvSpPr/>
          <p:nvPr/>
        </p:nvSpPr>
        <p:spPr>
          <a:xfrm>
            <a:off x="9475149" y="3335205"/>
            <a:ext cx="2395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B2B"/>
              </a:buClr>
              <a:buSzPts val="1450"/>
              <a:buFont typeface="Calibri"/>
              <a:buNone/>
            </a:pPr>
            <a:r>
              <a:rPr b="1" lang="en-US" sz="1450">
                <a:solidFill>
                  <a:srgbClr val="2B2B2B"/>
                </a:solidFill>
                <a:latin typeface="Calibri"/>
                <a:ea typeface="Calibri"/>
                <a:cs typeface="Calibri"/>
                <a:sym typeface="Calibri"/>
              </a:rPr>
              <a:t>Monitoring</a:t>
            </a:r>
            <a:endParaRPr b="0" i="0" sz="1450" u="none" cap="none" strike="noStrike">
              <a:solidFill>
                <a:srgbClr val="000000"/>
              </a:solidFill>
              <a:latin typeface="Calibri"/>
              <a:ea typeface="Calibri"/>
              <a:cs typeface="Calibri"/>
              <a:sym typeface="Calibri"/>
            </a:endParaRPr>
          </a:p>
        </p:txBody>
      </p:sp>
      <p:sp>
        <p:nvSpPr>
          <p:cNvPr id="1272" name="Google Shape;1272;p51"/>
          <p:cNvSpPr/>
          <p:nvPr/>
        </p:nvSpPr>
        <p:spPr>
          <a:xfrm>
            <a:off x="9475149" y="3582093"/>
            <a:ext cx="2395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4B7A"/>
              </a:buClr>
              <a:buSzPts val="1100"/>
              <a:buFont typeface="Calibri"/>
              <a:buNone/>
            </a:pPr>
            <a:r>
              <a:rPr i="1" lang="en-US" sz="1100">
                <a:solidFill>
                  <a:srgbClr val="234B7A"/>
                </a:solidFill>
                <a:latin typeface="Calibri"/>
                <a:ea typeface="Calibri"/>
                <a:cs typeface="Calibri"/>
                <a:sym typeface="Calibri"/>
              </a:rPr>
              <a:t>track surface alerts</a:t>
            </a:r>
            <a:endParaRPr b="0" i="0" sz="1100" u="none" cap="none" strike="noStrike">
              <a:solidFill>
                <a:srgbClr val="000000"/>
              </a:solidFill>
              <a:latin typeface="Calibri"/>
              <a:ea typeface="Calibri"/>
              <a:cs typeface="Calibri"/>
              <a:sym typeface="Calibri"/>
            </a:endParaRPr>
          </a:p>
        </p:txBody>
      </p:sp>
      <p:pic>
        <p:nvPicPr>
          <p:cNvPr id="1273" name="Google Shape;1273;p51"/>
          <p:cNvPicPr preferRelativeResize="0"/>
          <p:nvPr/>
        </p:nvPicPr>
        <p:blipFill>
          <a:blip r:embed="rId4">
            <a:alphaModFix/>
          </a:blip>
          <a:stretch>
            <a:fillRect/>
          </a:stretch>
        </p:blipFill>
        <p:spPr>
          <a:xfrm>
            <a:off x="1596625" y="2659702"/>
            <a:ext cx="585300" cy="585247"/>
          </a:xfrm>
          <a:prstGeom prst="rect">
            <a:avLst/>
          </a:prstGeom>
          <a:noFill/>
          <a:ln>
            <a:noFill/>
          </a:ln>
        </p:spPr>
      </p:pic>
      <p:pic>
        <p:nvPicPr>
          <p:cNvPr id="1274" name="Google Shape;1274;p51"/>
          <p:cNvPicPr preferRelativeResize="0"/>
          <p:nvPr/>
        </p:nvPicPr>
        <p:blipFill>
          <a:blip r:embed="rId5">
            <a:alphaModFix/>
          </a:blip>
          <a:stretch>
            <a:fillRect/>
          </a:stretch>
        </p:blipFill>
        <p:spPr>
          <a:xfrm>
            <a:off x="4500775" y="2668863"/>
            <a:ext cx="566925" cy="566925"/>
          </a:xfrm>
          <a:prstGeom prst="rect">
            <a:avLst/>
          </a:prstGeom>
          <a:noFill/>
          <a:ln>
            <a:noFill/>
          </a:ln>
        </p:spPr>
      </p:pic>
      <p:pic>
        <p:nvPicPr>
          <p:cNvPr id="1275" name="Google Shape;1275;p51"/>
          <p:cNvPicPr preferRelativeResize="0"/>
          <p:nvPr/>
        </p:nvPicPr>
        <p:blipFill>
          <a:blip r:embed="rId6">
            <a:alphaModFix/>
          </a:blip>
          <a:stretch>
            <a:fillRect/>
          </a:stretch>
        </p:blipFill>
        <p:spPr>
          <a:xfrm>
            <a:off x="7454238" y="2677966"/>
            <a:ext cx="548700" cy="548721"/>
          </a:xfrm>
          <a:prstGeom prst="rect">
            <a:avLst/>
          </a:prstGeom>
          <a:noFill/>
          <a:ln>
            <a:noFill/>
          </a:ln>
        </p:spPr>
      </p:pic>
      <p:pic>
        <p:nvPicPr>
          <p:cNvPr id="1276" name="Google Shape;1276;p51"/>
          <p:cNvPicPr preferRelativeResize="0"/>
          <p:nvPr/>
        </p:nvPicPr>
        <p:blipFill>
          <a:blip r:embed="rId7">
            <a:alphaModFix/>
          </a:blip>
          <a:stretch>
            <a:fillRect/>
          </a:stretch>
        </p:blipFill>
        <p:spPr>
          <a:xfrm>
            <a:off x="10435725" y="2668864"/>
            <a:ext cx="566925" cy="566925"/>
          </a:xfrm>
          <a:prstGeom prst="rect">
            <a:avLst/>
          </a:prstGeom>
          <a:noFill/>
          <a:ln>
            <a:noFill/>
          </a:ln>
        </p:spPr>
      </p:pic>
      <p:sp>
        <p:nvSpPr>
          <p:cNvPr id="1277" name="Google Shape;1277;p51"/>
          <p:cNvSpPr/>
          <p:nvPr/>
        </p:nvSpPr>
        <p:spPr>
          <a:xfrm>
            <a:off x="671750" y="4591575"/>
            <a:ext cx="11224500" cy="141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1278" name="Google Shape;1278;p51"/>
          <p:cNvSpPr txBox="1"/>
          <p:nvPr/>
        </p:nvSpPr>
        <p:spPr>
          <a:xfrm>
            <a:off x="1113975" y="4657725"/>
            <a:ext cx="4275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Data never stops- the system must keep up.</a:t>
            </a:r>
            <a:endParaRPr sz="1600"/>
          </a:p>
        </p:txBody>
      </p:sp>
      <p:sp>
        <p:nvSpPr>
          <p:cNvPr id="1279" name="Google Shape;1279;p51"/>
          <p:cNvSpPr/>
          <p:nvPr/>
        </p:nvSpPr>
        <p:spPr>
          <a:xfrm>
            <a:off x="831975" y="4764525"/>
            <a:ext cx="282000" cy="186600"/>
          </a:xfrm>
          <a:prstGeom prst="rightArrow">
            <a:avLst>
              <a:gd fmla="val 50000" name="adj1"/>
              <a:gd fmla="val 50000" name="adj2"/>
            </a:avLst>
          </a:prstGeom>
          <a:solidFill>
            <a:srgbClr val="B893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1280" name="Google Shape;1280;p51"/>
          <p:cNvSpPr/>
          <p:nvPr/>
        </p:nvSpPr>
        <p:spPr>
          <a:xfrm>
            <a:off x="831975" y="5207025"/>
            <a:ext cx="282000" cy="186600"/>
          </a:xfrm>
          <a:prstGeom prst="rightArrow">
            <a:avLst>
              <a:gd fmla="val 50000" name="adj1"/>
              <a:gd fmla="val 50000" name="adj2"/>
            </a:avLst>
          </a:prstGeom>
          <a:solidFill>
            <a:srgbClr val="B893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1281" name="Google Shape;1281;p51"/>
          <p:cNvSpPr txBox="1"/>
          <p:nvPr/>
        </p:nvSpPr>
        <p:spPr>
          <a:xfrm>
            <a:off x="1113975" y="5100225"/>
            <a:ext cx="739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Every detection is filtered before it becomes an alert to reduce the false alarms.</a:t>
            </a:r>
            <a:endParaRPr sz="1600"/>
          </a:p>
        </p:txBody>
      </p:sp>
      <p:sp>
        <p:nvSpPr>
          <p:cNvPr id="1282" name="Google Shape;1282;p51"/>
          <p:cNvSpPr/>
          <p:nvPr/>
        </p:nvSpPr>
        <p:spPr>
          <a:xfrm>
            <a:off x="831975" y="5617613"/>
            <a:ext cx="282000" cy="186600"/>
          </a:xfrm>
          <a:prstGeom prst="rightArrow">
            <a:avLst>
              <a:gd fmla="val 50000" name="adj1"/>
              <a:gd fmla="val 50000" name="adj2"/>
            </a:avLst>
          </a:prstGeom>
          <a:solidFill>
            <a:srgbClr val="B893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1283" name="Google Shape;1283;p51"/>
          <p:cNvSpPr txBox="1"/>
          <p:nvPr/>
        </p:nvSpPr>
        <p:spPr>
          <a:xfrm>
            <a:off x="1113975" y="5510813"/>
            <a:ext cx="739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The pipeline runs locally, so response happens in milliseconds.</a:t>
            </a:r>
            <a:endParaRPr sz="1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8" name="Shape 1288"/>
        <p:cNvGrpSpPr/>
        <p:nvPr/>
      </p:nvGrpSpPr>
      <p:grpSpPr>
        <a:xfrm>
          <a:off x="0" y="0"/>
          <a:ext cx="0" cy="0"/>
          <a:chOff x="0" y="0"/>
          <a:chExt cx="0" cy="0"/>
        </a:xfrm>
      </p:grpSpPr>
      <p:sp>
        <p:nvSpPr>
          <p:cNvPr id="1289" name="Google Shape;1289;p52"/>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290" name="Google Shape;1290;p52"/>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291" name="Google Shape;1291;p52"/>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292" name="Google Shape;1292;p52"/>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150"/>
              <a:buFont typeface="Arial"/>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p:txBody>
      </p:sp>
      <p:sp>
        <p:nvSpPr>
          <p:cNvPr id="1293" name="Google Shape;1293;p52"/>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3100"/>
              <a:buFont typeface="Georgia"/>
              <a:buNone/>
            </a:pPr>
            <a:r>
              <a:rPr b="1" lang="en-US" sz="3100">
                <a:solidFill>
                  <a:srgbClr val="1A1A1A"/>
                </a:solidFill>
                <a:latin typeface="Georgia"/>
                <a:ea typeface="Georgia"/>
                <a:cs typeface="Georgia"/>
                <a:sym typeface="Georgia"/>
              </a:rPr>
              <a:t>Traffic Windowing</a:t>
            </a:r>
            <a:endParaRPr b="1" sz="3100">
              <a:solidFill>
                <a:srgbClr val="1A1A1A"/>
              </a:solidFill>
              <a:latin typeface="Georgia"/>
              <a:ea typeface="Georgia"/>
              <a:cs typeface="Georgia"/>
              <a:sym typeface="Georgia"/>
            </a:endParaRPr>
          </a:p>
        </p:txBody>
      </p:sp>
      <p:sp>
        <p:nvSpPr>
          <p:cNvPr id="1294" name="Google Shape;1294;p52"/>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2"/>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296" name="Google Shape;1296;p52"/>
          <p:cNvSpPr txBox="1"/>
          <p:nvPr/>
        </p:nvSpPr>
        <p:spPr>
          <a:xfrm>
            <a:off x="433375" y="1507250"/>
            <a:ext cx="11089200" cy="689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n-US" sz="1600">
                <a:solidFill>
                  <a:srgbClr val="4A4A4A"/>
                </a:solidFill>
              </a:rPr>
              <a:t>Real-time systems use windows to split continuous data streams into small chunks for analysis. The window type affects how quickly the system detects changes, how much context it captures, and how much computation it needs.</a:t>
            </a:r>
            <a:endParaRPr sz="1600">
              <a:solidFill>
                <a:schemeClr val="dk1"/>
              </a:solidFill>
            </a:endParaRPr>
          </a:p>
        </p:txBody>
      </p:sp>
      <p:sp>
        <p:nvSpPr>
          <p:cNvPr id="1297" name="Google Shape;1297;p52"/>
          <p:cNvSpPr txBox="1"/>
          <p:nvPr/>
        </p:nvSpPr>
        <p:spPr>
          <a:xfrm>
            <a:off x="493750" y="2390300"/>
            <a:ext cx="10844700" cy="554100"/>
          </a:xfrm>
          <a:prstGeom prst="rect">
            <a:avLst/>
          </a:prstGeom>
          <a:noFill/>
          <a:ln>
            <a:noFill/>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600"/>
              <a:buChar char="❑"/>
            </a:pPr>
            <a:r>
              <a:rPr b="1" lang="en-US" sz="1600">
                <a:solidFill>
                  <a:schemeClr val="dk1"/>
                </a:solidFill>
              </a:rPr>
              <a:t>Session Windows: </a:t>
            </a:r>
            <a:endParaRPr sz="1600"/>
          </a:p>
          <a:p>
            <a:pPr indent="0" lvl="0" marL="0" marR="0" rtl="0" algn="l">
              <a:spcBef>
                <a:spcPts val="0"/>
              </a:spcBef>
              <a:spcAft>
                <a:spcPts val="0"/>
              </a:spcAft>
              <a:buNone/>
            </a:pPr>
            <a:r>
              <a:rPr b="1" lang="en-US">
                <a:solidFill>
                  <a:srgbClr val="4A4A4A"/>
                </a:solidFill>
              </a:rPr>
              <a:t>       </a:t>
            </a:r>
            <a:r>
              <a:rPr lang="en-US">
                <a:solidFill>
                  <a:srgbClr val="4A4A4A"/>
                </a:solidFill>
              </a:rPr>
              <a:t>No fixed size at all. A window stays open while events keep arriving and closes after an idle gap longer than a G.</a:t>
            </a:r>
            <a:endParaRPr/>
          </a:p>
        </p:txBody>
      </p:sp>
      <p:sp>
        <p:nvSpPr>
          <p:cNvPr id="1298" name="Google Shape;1298;p52"/>
          <p:cNvSpPr txBox="1"/>
          <p:nvPr/>
        </p:nvSpPr>
        <p:spPr>
          <a:xfrm>
            <a:off x="493749" y="4910650"/>
            <a:ext cx="5187900" cy="98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US" sz="1600">
                <a:solidFill>
                  <a:schemeClr val="dk1"/>
                </a:solidFill>
              </a:rPr>
              <a:t>Advantages</a:t>
            </a:r>
            <a:endParaRPr sz="1600">
              <a:solidFill>
                <a:schemeClr val="dk1"/>
              </a:solidFill>
            </a:endParaRPr>
          </a:p>
          <a:p>
            <a:pPr indent="-285750" lvl="0" marL="285750" marR="0" rtl="0" algn="l">
              <a:spcBef>
                <a:spcPts val="0"/>
              </a:spcBef>
              <a:spcAft>
                <a:spcPts val="0"/>
              </a:spcAft>
              <a:buClr>
                <a:srgbClr val="4A4A4A"/>
              </a:buClr>
              <a:buSzPts val="1400"/>
              <a:buChar char="•"/>
            </a:pPr>
            <a:r>
              <a:rPr lang="en-US">
                <a:solidFill>
                  <a:srgbClr val="4A4A4A"/>
                </a:solidFill>
              </a:rPr>
              <a:t>Matches traffic semantics. A burst becomes one window.</a:t>
            </a:r>
            <a:endParaRPr/>
          </a:p>
          <a:p>
            <a:pPr indent="-285750" lvl="0" marL="285750" marR="0" rtl="0" algn="l">
              <a:spcBef>
                <a:spcPts val="0"/>
              </a:spcBef>
              <a:spcAft>
                <a:spcPts val="0"/>
              </a:spcAft>
              <a:buClr>
                <a:srgbClr val="4A4A4A"/>
              </a:buClr>
              <a:buSzPts val="1400"/>
              <a:buChar char="•"/>
            </a:pPr>
            <a:r>
              <a:rPr lang="en-US">
                <a:solidFill>
                  <a:srgbClr val="4A4A4A"/>
                </a:solidFill>
              </a:rPr>
              <a:t>Quiet periods cost nothing.</a:t>
            </a:r>
            <a:endParaRPr/>
          </a:p>
          <a:p>
            <a:pPr indent="-285750" lvl="0" marL="285750" marR="0" rtl="0" algn="l">
              <a:spcBef>
                <a:spcPts val="0"/>
              </a:spcBef>
              <a:spcAft>
                <a:spcPts val="0"/>
              </a:spcAft>
              <a:buClr>
                <a:srgbClr val="4A4A4A"/>
              </a:buClr>
              <a:buSzPts val="1400"/>
              <a:buChar char="•"/>
            </a:pPr>
            <a:r>
              <a:rPr lang="en-US">
                <a:solidFill>
                  <a:srgbClr val="4A4A4A"/>
                </a:solidFill>
              </a:rPr>
              <a:t>Window count adapts to activity.</a:t>
            </a:r>
            <a:endParaRPr/>
          </a:p>
        </p:txBody>
      </p:sp>
      <p:sp>
        <p:nvSpPr>
          <p:cNvPr id="1299" name="Google Shape;1299;p52"/>
          <p:cNvSpPr txBox="1"/>
          <p:nvPr/>
        </p:nvSpPr>
        <p:spPr>
          <a:xfrm>
            <a:off x="5607500" y="4842125"/>
            <a:ext cx="60165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US" sz="1600">
                <a:solidFill>
                  <a:schemeClr val="dk1"/>
                </a:solidFill>
              </a:rPr>
              <a:t>Disadvantages</a:t>
            </a:r>
            <a:endParaRPr sz="1600"/>
          </a:p>
          <a:p>
            <a:pPr indent="-285750" lvl="0" marL="285750" marR="0" rtl="0" algn="l">
              <a:spcBef>
                <a:spcPts val="0"/>
              </a:spcBef>
              <a:spcAft>
                <a:spcPts val="0"/>
              </a:spcAft>
              <a:buClr>
                <a:srgbClr val="4A4A4A"/>
              </a:buClr>
              <a:buSzPts val="1400"/>
              <a:buChar char="•"/>
            </a:pPr>
            <a:r>
              <a:rPr lang="en-US">
                <a:solidFill>
                  <a:srgbClr val="4A4A4A"/>
                </a:solidFill>
              </a:rPr>
              <a:t>Window length and closing time are unpredictable. Detection latency and memory are no longer bounded by design.</a:t>
            </a:r>
            <a:endParaRPr/>
          </a:p>
          <a:p>
            <a:pPr indent="-285750" lvl="0" marL="285750" marR="0" rtl="0" algn="l">
              <a:spcBef>
                <a:spcPts val="0"/>
              </a:spcBef>
              <a:spcAft>
                <a:spcPts val="0"/>
              </a:spcAft>
              <a:buClr>
                <a:srgbClr val="4A4A4A"/>
              </a:buClr>
              <a:buSzPts val="1400"/>
              <a:buFont typeface="Arial"/>
              <a:buChar char="•"/>
            </a:pPr>
            <a:r>
              <a:rPr lang="en-US">
                <a:solidFill>
                  <a:srgbClr val="4A4A4A"/>
                </a:solidFill>
              </a:rPr>
              <a:t>The gap parameter </a:t>
            </a:r>
            <a:r>
              <a:rPr b="1" lang="en-US">
                <a:solidFill>
                  <a:srgbClr val="4A4A4A"/>
                </a:solidFill>
              </a:rPr>
              <a:t>G </a:t>
            </a:r>
            <a:r>
              <a:rPr lang="en-US">
                <a:solidFill>
                  <a:srgbClr val="4A4A4A"/>
                </a:solidFill>
              </a:rPr>
              <a:t>constant must be tuned.</a:t>
            </a:r>
            <a:endParaRPr/>
          </a:p>
          <a:p>
            <a:pPr indent="-285750" lvl="0" marL="285750" marR="0" rtl="0" algn="l">
              <a:spcBef>
                <a:spcPts val="0"/>
              </a:spcBef>
              <a:spcAft>
                <a:spcPts val="0"/>
              </a:spcAft>
              <a:buClr>
                <a:srgbClr val="4A4A4A"/>
              </a:buClr>
              <a:buSzPts val="1400"/>
              <a:buChar char="•"/>
            </a:pPr>
            <a:r>
              <a:rPr lang="en-US">
                <a:solidFill>
                  <a:srgbClr val="4A4A4A"/>
                </a:solidFill>
              </a:rPr>
              <a:t>Sustained traffic can hold a window open indefinitely.</a:t>
            </a:r>
            <a:endParaRPr/>
          </a:p>
        </p:txBody>
      </p:sp>
      <p:sp>
        <p:nvSpPr>
          <p:cNvPr id="1300" name="Google Shape;1300;p52"/>
          <p:cNvSpPr/>
          <p:nvPr/>
        </p:nvSpPr>
        <p:spPr>
          <a:xfrm>
            <a:off x="909912" y="3487617"/>
            <a:ext cx="1408200" cy="457200"/>
          </a:xfrm>
          <a:prstGeom prst="roundRect">
            <a:avLst>
              <a:gd fmla="val 16000" name="adj"/>
            </a:avLst>
          </a:prstGeom>
          <a:solidFill>
            <a:srgbClr val="EAF1EF"/>
          </a:solidFill>
          <a:ln cap="flat" cmpd="sng" w="19050">
            <a:solidFill>
              <a:srgbClr val="4E8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1" name="Google Shape;1301;p52"/>
          <p:cNvCxnSpPr/>
          <p:nvPr/>
        </p:nvCxnSpPr>
        <p:spPr>
          <a:xfrm>
            <a:off x="101964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2" name="Google Shape;1302;p52"/>
          <p:cNvCxnSpPr/>
          <p:nvPr/>
        </p:nvCxnSpPr>
        <p:spPr>
          <a:xfrm>
            <a:off x="117508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3" name="Google Shape;1303;p52"/>
          <p:cNvCxnSpPr/>
          <p:nvPr/>
        </p:nvCxnSpPr>
        <p:spPr>
          <a:xfrm>
            <a:off x="1330536"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4" name="Google Shape;1304;p52"/>
          <p:cNvCxnSpPr/>
          <p:nvPr/>
        </p:nvCxnSpPr>
        <p:spPr>
          <a:xfrm>
            <a:off x="1485984"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5" name="Google Shape;1305;p52"/>
          <p:cNvCxnSpPr/>
          <p:nvPr/>
        </p:nvCxnSpPr>
        <p:spPr>
          <a:xfrm>
            <a:off x="1641432"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6" name="Google Shape;1306;p52"/>
          <p:cNvCxnSpPr/>
          <p:nvPr/>
        </p:nvCxnSpPr>
        <p:spPr>
          <a:xfrm>
            <a:off x="179688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7" name="Google Shape;1307;p52"/>
          <p:cNvCxnSpPr/>
          <p:nvPr/>
        </p:nvCxnSpPr>
        <p:spPr>
          <a:xfrm>
            <a:off x="195232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08" name="Google Shape;1308;p52"/>
          <p:cNvCxnSpPr/>
          <p:nvPr/>
        </p:nvCxnSpPr>
        <p:spPr>
          <a:xfrm>
            <a:off x="2107776" y="3551625"/>
            <a:ext cx="0" cy="201300"/>
          </a:xfrm>
          <a:prstGeom prst="straightConnector1">
            <a:avLst/>
          </a:prstGeom>
          <a:noFill/>
          <a:ln cap="flat" cmpd="sng" w="22225">
            <a:solidFill>
              <a:srgbClr val="C55A11"/>
            </a:solidFill>
            <a:prstDash val="solid"/>
            <a:round/>
            <a:headEnd len="sm" w="sm" type="none"/>
            <a:tailEnd len="sm" w="sm" type="none"/>
          </a:ln>
        </p:spPr>
      </p:cxnSp>
      <p:sp>
        <p:nvSpPr>
          <p:cNvPr id="1309" name="Google Shape;1309;p52"/>
          <p:cNvSpPr/>
          <p:nvPr/>
        </p:nvSpPr>
        <p:spPr>
          <a:xfrm>
            <a:off x="3653112" y="3487617"/>
            <a:ext cx="1682400" cy="457200"/>
          </a:xfrm>
          <a:prstGeom prst="roundRect">
            <a:avLst>
              <a:gd fmla="val 16000" name="adj"/>
            </a:avLst>
          </a:prstGeom>
          <a:solidFill>
            <a:srgbClr val="EAF1EF"/>
          </a:solidFill>
          <a:ln cap="flat" cmpd="sng" w="19050">
            <a:solidFill>
              <a:srgbClr val="4E8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0" name="Google Shape;1310;p52"/>
          <p:cNvCxnSpPr/>
          <p:nvPr/>
        </p:nvCxnSpPr>
        <p:spPr>
          <a:xfrm>
            <a:off x="376284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1" name="Google Shape;1311;p52"/>
          <p:cNvCxnSpPr/>
          <p:nvPr/>
        </p:nvCxnSpPr>
        <p:spPr>
          <a:xfrm>
            <a:off x="391828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2" name="Google Shape;1312;p52"/>
          <p:cNvCxnSpPr/>
          <p:nvPr/>
        </p:nvCxnSpPr>
        <p:spPr>
          <a:xfrm>
            <a:off x="4073736"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3" name="Google Shape;1313;p52"/>
          <p:cNvCxnSpPr/>
          <p:nvPr/>
        </p:nvCxnSpPr>
        <p:spPr>
          <a:xfrm>
            <a:off x="4229184"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4" name="Google Shape;1314;p52"/>
          <p:cNvCxnSpPr/>
          <p:nvPr/>
        </p:nvCxnSpPr>
        <p:spPr>
          <a:xfrm>
            <a:off x="4384632"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5" name="Google Shape;1315;p52"/>
          <p:cNvCxnSpPr/>
          <p:nvPr/>
        </p:nvCxnSpPr>
        <p:spPr>
          <a:xfrm>
            <a:off x="454008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6" name="Google Shape;1316;p52"/>
          <p:cNvCxnSpPr/>
          <p:nvPr/>
        </p:nvCxnSpPr>
        <p:spPr>
          <a:xfrm>
            <a:off x="469552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7" name="Google Shape;1317;p52"/>
          <p:cNvCxnSpPr/>
          <p:nvPr/>
        </p:nvCxnSpPr>
        <p:spPr>
          <a:xfrm>
            <a:off x="4850976"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8" name="Google Shape;1318;p52"/>
          <p:cNvCxnSpPr/>
          <p:nvPr/>
        </p:nvCxnSpPr>
        <p:spPr>
          <a:xfrm>
            <a:off x="5006424"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19" name="Google Shape;1319;p52"/>
          <p:cNvCxnSpPr/>
          <p:nvPr/>
        </p:nvCxnSpPr>
        <p:spPr>
          <a:xfrm>
            <a:off x="5161872" y="3551625"/>
            <a:ext cx="0" cy="201300"/>
          </a:xfrm>
          <a:prstGeom prst="straightConnector1">
            <a:avLst/>
          </a:prstGeom>
          <a:noFill/>
          <a:ln cap="flat" cmpd="sng" w="22225">
            <a:solidFill>
              <a:srgbClr val="C55A11"/>
            </a:solidFill>
            <a:prstDash val="solid"/>
            <a:round/>
            <a:headEnd len="sm" w="sm" type="none"/>
            <a:tailEnd len="sm" w="sm" type="none"/>
          </a:ln>
        </p:spPr>
      </p:cxnSp>
      <p:sp>
        <p:nvSpPr>
          <p:cNvPr id="1320" name="Google Shape;1320;p52"/>
          <p:cNvSpPr/>
          <p:nvPr/>
        </p:nvSpPr>
        <p:spPr>
          <a:xfrm>
            <a:off x="6899232" y="3487617"/>
            <a:ext cx="951000" cy="457200"/>
          </a:xfrm>
          <a:prstGeom prst="roundRect">
            <a:avLst>
              <a:gd fmla="val 16000" name="adj"/>
            </a:avLst>
          </a:prstGeom>
          <a:solidFill>
            <a:srgbClr val="EAF1EF"/>
          </a:solidFill>
          <a:ln cap="flat" cmpd="sng" w="19050">
            <a:solidFill>
              <a:srgbClr val="4E8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1" name="Google Shape;1321;p52"/>
          <p:cNvCxnSpPr/>
          <p:nvPr/>
        </p:nvCxnSpPr>
        <p:spPr>
          <a:xfrm>
            <a:off x="700896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22" name="Google Shape;1322;p52"/>
          <p:cNvCxnSpPr/>
          <p:nvPr/>
        </p:nvCxnSpPr>
        <p:spPr>
          <a:xfrm>
            <a:off x="716440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23" name="Google Shape;1323;p52"/>
          <p:cNvCxnSpPr/>
          <p:nvPr/>
        </p:nvCxnSpPr>
        <p:spPr>
          <a:xfrm>
            <a:off x="7319856"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24" name="Google Shape;1324;p52"/>
          <p:cNvCxnSpPr/>
          <p:nvPr/>
        </p:nvCxnSpPr>
        <p:spPr>
          <a:xfrm>
            <a:off x="7475304"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25" name="Google Shape;1325;p52"/>
          <p:cNvCxnSpPr/>
          <p:nvPr/>
        </p:nvCxnSpPr>
        <p:spPr>
          <a:xfrm>
            <a:off x="7630752" y="3551625"/>
            <a:ext cx="0" cy="201300"/>
          </a:xfrm>
          <a:prstGeom prst="straightConnector1">
            <a:avLst/>
          </a:prstGeom>
          <a:noFill/>
          <a:ln cap="flat" cmpd="sng" w="22225">
            <a:solidFill>
              <a:srgbClr val="C55A11"/>
            </a:solidFill>
            <a:prstDash val="solid"/>
            <a:round/>
            <a:headEnd len="sm" w="sm" type="none"/>
            <a:tailEnd len="sm" w="sm" type="none"/>
          </a:ln>
        </p:spPr>
      </p:cxnSp>
      <p:sp>
        <p:nvSpPr>
          <p:cNvPr id="1326" name="Google Shape;1326;p52"/>
          <p:cNvSpPr/>
          <p:nvPr/>
        </p:nvSpPr>
        <p:spPr>
          <a:xfrm>
            <a:off x="8956632" y="3487617"/>
            <a:ext cx="1408200" cy="457200"/>
          </a:xfrm>
          <a:prstGeom prst="roundRect">
            <a:avLst>
              <a:gd fmla="val 16000" name="adj"/>
            </a:avLst>
          </a:prstGeom>
          <a:solidFill>
            <a:srgbClr val="EAF1EF"/>
          </a:solidFill>
          <a:ln cap="flat" cmpd="sng" w="19050">
            <a:solidFill>
              <a:srgbClr val="4E8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7" name="Google Shape;1327;p52"/>
          <p:cNvCxnSpPr/>
          <p:nvPr/>
        </p:nvCxnSpPr>
        <p:spPr>
          <a:xfrm>
            <a:off x="906636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28" name="Google Shape;1328;p52"/>
          <p:cNvCxnSpPr/>
          <p:nvPr/>
        </p:nvCxnSpPr>
        <p:spPr>
          <a:xfrm>
            <a:off x="922180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29" name="Google Shape;1329;p52"/>
          <p:cNvCxnSpPr/>
          <p:nvPr/>
        </p:nvCxnSpPr>
        <p:spPr>
          <a:xfrm>
            <a:off x="9377256"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30" name="Google Shape;1330;p52"/>
          <p:cNvCxnSpPr/>
          <p:nvPr/>
        </p:nvCxnSpPr>
        <p:spPr>
          <a:xfrm>
            <a:off x="9532704"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31" name="Google Shape;1331;p52"/>
          <p:cNvCxnSpPr/>
          <p:nvPr/>
        </p:nvCxnSpPr>
        <p:spPr>
          <a:xfrm>
            <a:off x="9688152"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32" name="Google Shape;1332;p52"/>
          <p:cNvCxnSpPr/>
          <p:nvPr/>
        </p:nvCxnSpPr>
        <p:spPr>
          <a:xfrm>
            <a:off x="9843600"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33" name="Google Shape;1333;p52"/>
          <p:cNvCxnSpPr/>
          <p:nvPr/>
        </p:nvCxnSpPr>
        <p:spPr>
          <a:xfrm>
            <a:off x="9999048"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34" name="Google Shape;1334;p52"/>
          <p:cNvCxnSpPr/>
          <p:nvPr/>
        </p:nvCxnSpPr>
        <p:spPr>
          <a:xfrm>
            <a:off x="10154496" y="3551625"/>
            <a:ext cx="0" cy="201300"/>
          </a:xfrm>
          <a:prstGeom prst="straightConnector1">
            <a:avLst/>
          </a:prstGeom>
          <a:noFill/>
          <a:ln cap="flat" cmpd="sng" w="22225">
            <a:solidFill>
              <a:srgbClr val="C55A11"/>
            </a:solidFill>
            <a:prstDash val="solid"/>
            <a:round/>
            <a:headEnd len="sm" w="sm" type="none"/>
            <a:tailEnd len="sm" w="sm" type="none"/>
          </a:ln>
        </p:spPr>
      </p:cxnSp>
      <p:cxnSp>
        <p:nvCxnSpPr>
          <p:cNvPr id="1335" name="Google Shape;1335;p52"/>
          <p:cNvCxnSpPr/>
          <p:nvPr/>
        </p:nvCxnSpPr>
        <p:spPr>
          <a:xfrm>
            <a:off x="2391240" y="3716217"/>
            <a:ext cx="1188600" cy="0"/>
          </a:xfrm>
          <a:prstGeom prst="straightConnector1">
            <a:avLst/>
          </a:prstGeom>
          <a:noFill/>
          <a:ln cap="flat" cmpd="sng" w="15875">
            <a:solidFill>
              <a:srgbClr val="1C1C1C"/>
            </a:solidFill>
            <a:prstDash val="solid"/>
            <a:round/>
            <a:headEnd len="med" w="med" type="stealth"/>
            <a:tailEnd len="med" w="med" type="stealth"/>
          </a:ln>
        </p:spPr>
      </p:cxnSp>
      <p:sp>
        <p:nvSpPr>
          <p:cNvPr id="1336" name="Google Shape;1336;p52"/>
          <p:cNvSpPr/>
          <p:nvPr/>
        </p:nvSpPr>
        <p:spPr>
          <a:xfrm>
            <a:off x="2116927" y="4008825"/>
            <a:ext cx="2619300" cy="402300"/>
          </a:xfrm>
          <a:prstGeom prst="rect">
            <a:avLst/>
          </a:prstGeom>
          <a:noFill/>
          <a:ln>
            <a:noFill/>
          </a:ln>
        </p:spPr>
        <p:txBody>
          <a:bodyPr anchorCtr="0" anchor="ctr" bIns="0" lIns="0" spcFirstLastPara="1" rIns="0" wrap="square" tIns="0">
            <a:noAutofit/>
          </a:bodyPr>
          <a:lstStyle/>
          <a:p>
            <a:pPr indent="0" lvl="0" marL="0" marR="0" rtl="0" algn="ctr">
              <a:lnSpc>
                <a:spcPct val="122222"/>
              </a:lnSpc>
              <a:spcBef>
                <a:spcPts val="0"/>
              </a:spcBef>
              <a:spcAft>
                <a:spcPts val="0"/>
              </a:spcAft>
              <a:buClr>
                <a:srgbClr val="1C1C1C"/>
              </a:buClr>
              <a:buSzPts val="900"/>
              <a:buFont typeface="Arial"/>
              <a:buNone/>
            </a:pPr>
            <a:r>
              <a:rPr b="1" i="0" lang="en-US" sz="900" u="none" cap="none" strike="noStrike">
                <a:solidFill>
                  <a:srgbClr val="1C1C1C"/>
                </a:solidFill>
              </a:rPr>
              <a:t>idle gap &gt; </a:t>
            </a:r>
            <a:r>
              <a:rPr b="1" lang="en-US" sz="900">
                <a:solidFill>
                  <a:srgbClr val="1C1C1C"/>
                </a:solidFill>
              </a:rPr>
              <a:t>G</a:t>
            </a:r>
            <a:r>
              <a:rPr b="1" i="0" lang="en-US" sz="900" u="none" cap="none" strike="noStrike">
                <a:solidFill>
                  <a:srgbClr val="1C1C1C"/>
                </a:solidFill>
              </a:rPr>
              <a:t> →  window closes</a:t>
            </a:r>
            <a:endParaRPr i="0" sz="900" u="none" cap="none" strike="noStrike">
              <a:solidFill>
                <a:srgbClr val="000000"/>
              </a:solidFill>
            </a:endParaRPr>
          </a:p>
        </p:txBody>
      </p:sp>
      <p:sp>
        <p:nvSpPr>
          <p:cNvPr id="1337" name="Google Shape;1337;p52"/>
          <p:cNvSpPr/>
          <p:nvPr/>
        </p:nvSpPr>
        <p:spPr>
          <a:xfrm>
            <a:off x="699600" y="3094425"/>
            <a:ext cx="6400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8B85"/>
              </a:buClr>
              <a:buSzPts val="1050"/>
              <a:buFont typeface="Arial"/>
              <a:buNone/>
            </a:pPr>
            <a:r>
              <a:rPr lang="en-US" sz="1100" u="none" cap="none" strike="noStrike">
                <a:solidFill>
                  <a:srgbClr val="4E8B85"/>
                </a:solidFill>
              </a:rPr>
              <a:t>one window per burst of activity</a:t>
            </a:r>
            <a:endParaRPr sz="1100" u="none" cap="none" strike="noStrike">
              <a:solidFill>
                <a:srgbClr val="000000"/>
              </a:solidFill>
            </a:endParaRPr>
          </a:p>
        </p:txBody>
      </p:sp>
      <p:cxnSp>
        <p:nvCxnSpPr>
          <p:cNvPr id="1338" name="Google Shape;1338;p52"/>
          <p:cNvCxnSpPr/>
          <p:nvPr/>
        </p:nvCxnSpPr>
        <p:spPr>
          <a:xfrm>
            <a:off x="699600" y="4054545"/>
            <a:ext cx="10332600" cy="0"/>
          </a:xfrm>
          <a:prstGeom prst="straightConnector1">
            <a:avLst/>
          </a:prstGeom>
          <a:noFill/>
          <a:ln cap="flat" cmpd="sng" w="15875">
            <a:solidFill>
              <a:srgbClr val="9A9A9A"/>
            </a:solidFill>
            <a:prstDash val="solid"/>
            <a:round/>
            <a:headEnd len="sm" w="sm" type="none"/>
            <a:tailEnd len="med" w="med" type="stealth"/>
          </a:ln>
        </p:spPr>
      </p:cxnSp>
      <p:sp>
        <p:nvSpPr>
          <p:cNvPr id="1339" name="Google Shape;1339;p52"/>
          <p:cNvSpPr/>
          <p:nvPr/>
        </p:nvSpPr>
        <p:spPr>
          <a:xfrm>
            <a:off x="10392240" y="4127697"/>
            <a:ext cx="640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Arial"/>
              <a:buNone/>
            </a:pPr>
            <a:r>
              <a:rPr b="0" i="1" lang="en-US" sz="1000" u="none" cap="none" strike="noStrike">
                <a:solidFill>
                  <a:srgbClr val="8A8A8A"/>
                </a:solidFill>
                <a:latin typeface="Arial"/>
                <a:ea typeface="Arial"/>
                <a:cs typeface="Arial"/>
                <a:sym typeface="Arial"/>
              </a:rPr>
              <a:t>time</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4" name="Shape 1344"/>
        <p:cNvGrpSpPr/>
        <p:nvPr/>
      </p:nvGrpSpPr>
      <p:grpSpPr>
        <a:xfrm>
          <a:off x="0" y="0"/>
          <a:ext cx="0" cy="0"/>
          <a:chOff x="0" y="0"/>
          <a:chExt cx="0" cy="0"/>
        </a:xfrm>
      </p:grpSpPr>
      <p:sp>
        <p:nvSpPr>
          <p:cNvPr id="1345" name="Google Shape;1345;p53"/>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346" name="Google Shape;1346;p53"/>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347" name="Google Shape;1347;p53"/>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348" name="Google Shape;1348;p53"/>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150"/>
              <a:buFont typeface="Arial"/>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p:txBody>
      </p:sp>
      <p:sp>
        <p:nvSpPr>
          <p:cNvPr id="1349" name="Google Shape;1349;p53"/>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3100"/>
              <a:buFont typeface="Georgia"/>
              <a:buNone/>
            </a:pPr>
            <a:r>
              <a:rPr b="1" lang="en-US" sz="3100">
                <a:solidFill>
                  <a:srgbClr val="1A1A1A"/>
                </a:solidFill>
                <a:latin typeface="Georgia"/>
                <a:ea typeface="Georgia"/>
                <a:cs typeface="Georgia"/>
                <a:sym typeface="Georgia"/>
              </a:rPr>
              <a:t>Traffic Windowing</a:t>
            </a:r>
            <a:endParaRPr b="1" sz="3100">
              <a:solidFill>
                <a:srgbClr val="1A1A1A"/>
              </a:solidFill>
              <a:latin typeface="Georgia"/>
              <a:ea typeface="Georgia"/>
              <a:cs typeface="Georgia"/>
              <a:sym typeface="Georgia"/>
            </a:endParaRPr>
          </a:p>
        </p:txBody>
      </p:sp>
      <p:sp>
        <p:nvSpPr>
          <p:cNvPr id="1350" name="Google Shape;1350;p53"/>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3"/>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352" name="Google Shape;1352;p53"/>
          <p:cNvSpPr txBox="1"/>
          <p:nvPr/>
        </p:nvSpPr>
        <p:spPr>
          <a:xfrm>
            <a:off x="548650" y="1595550"/>
            <a:ext cx="10844700" cy="338700"/>
          </a:xfrm>
          <a:prstGeom prst="rect">
            <a:avLst/>
          </a:prstGeom>
          <a:noFill/>
          <a:ln>
            <a:noFill/>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600"/>
              <a:buChar char="❑"/>
            </a:pPr>
            <a:r>
              <a:rPr b="1" lang="en-US" sz="1600">
                <a:solidFill>
                  <a:schemeClr val="dk1"/>
                </a:solidFill>
              </a:rPr>
              <a:t>Count-Based Windows: </a:t>
            </a:r>
            <a:endParaRPr sz="1600"/>
          </a:p>
        </p:txBody>
      </p:sp>
      <p:sp>
        <p:nvSpPr>
          <p:cNvPr id="1353" name="Google Shape;1353;p53"/>
          <p:cNvSpPr txBox="1"/>
          <p:nvPr/>
        </p:nvSpPr>
        <p:spPr>
          <a:xfrm>
            <a:off x="365750" y="1916288"/>
            <a:ext cx="10765200" cy="831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1"/>
              </a:buClr>
              <a:buFont typeface="Arial"/>
              <a:buNone/>
            </a:pPr>
            <a:r>
              <a:rPr b="1" lang="en-US">
                <a:solidFill>
                  <a:srgbClr val="4A4A4A"/>
                </a:solidFill>
              </a:rPr>
              <a:t>Close after every N events instead of every Δt seconds. Each window carries the same  amount of evidence, but its duration varies with traffic rate.</a:t>
            </a:r>
            <a:endParaRPr>
              <a:solidFill>
                <a:schemeClr val="dk1"/>
              </a:solidFill>
            </a:endParaRPr>
          </a:p>
          <a:p>
            <a:pPr indent="0" lvl="0" marL="0" rtl="0" algn="l">
              <a:spcBef>
                <a:spcPts val="0"/>
              </a:spcBef>
              <a:spcAft>
                <a:spcPts val="0"/>
              </a:spcAft>
              <a:buNone/>
            </a:pPr>
            <a:r>
              <a:t/>
            </a:r>
            <a:endParaRPr/>
          </a:p>
        </p:txBody>
      </p:sp>
      <p:sp>
        <p:nvSpPr>
          <p:cNvPr id="1354" name="Google Shape;1354;p53"/>
          <p:cNvSpPr/>
          <p:nvPr/>
        </p:nvSpPr>
        <p:spPr>
          <a:xfrm>
            <a:off x="1124637" y="3093292"/>
            <a:ext cx="996600" cy="457200"/>
          </a:xfrm>
          <a:prstGeom prst="roundRect">
            <a:avLst>
              <a:gd fmla="val 16000" name="adj"/>
            </a:avLst>
          </a:prstGeom>
          <a:solidFill>
            <a:srgbClr val="FBF3E2"/>
          </a:solidFill>
          <a:ln cap="flat" cmpd="sng" w="19050">
            <a:solidFill>
              <a:srgbClr val="B08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5" name="Google Shape;1355;p53"/>
          <p:cNvCxnSpPr/>
          <p:nvPr/>
        </p:nvCxnSpPr>
        <p:spPr>
          <a:xfrm>
            <a:off x="123436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56" name="Google Shape;1356;p53"/>
          <p:cNvCxnSpPr/>
          <p:nvPr/>
        </p:nvCxnSpPr>
        <p:spPr>
          <a:xfrm>
            <a:off x="1389813"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57" name="Google Shape;1357;p53"/>
          <p:cNvCxnSpPr/>
          <p:nvPr/>
        </p:nvCxnSpPr>
        <p:spPr>
          <a:xfrm>
            <a:off x="1545261"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58" name="Google Shape;1358;p53"/>
          <p:cNvCxnSpPr/>
          <p:nvPr/>
        </p:nvCxnSpPr>
        <p:spPr>
          <a:xfrm>
            <a:off x="1700709"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59" name="Google Shape;1359;p53"/>
          <p:cNvCxnSpPr/>
          <p:nvPr/>
        </p:nvCxnSpPr>
        <p:spPr>
          <a:xfrm>
            <a:off x="1856157"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60" name="Google Shape;1360;p53"/>
          <p:cNvCxnSpPr/>
          <p:nvPr/>
        </p:nvCxnSpPr>
        <p:spPr>
          <a:xfrm>
            <a:off x="2011605" y="3157300"/>
            <a:ext cx="0" cy="201300"/>
          </a:xfrm>
          <a:prstGeom prst="straightConnector1">
            <a:avLst/>
          </a:prstGeom>
          <a:noFill/>
          <a:ln cap="flat" cmpd="sng" w="22225">
            <a:solidFill>
              <a:srgbClr val="C55A11"/>
            </a:solidFill>
            <a:prstDash val="solid"/>
            <a:round/>
            <a:headEnd len="sm" w="sm" type="none"/>
            <a:tailEnd len="sm" w="sm" type="none"/>
          </a:ln>
        </p:spPr>
      </p:cxnSp>
      <p:sp>
        <p:nvSpPr>
          <p:cNvPr id="1361" name="Google Shape;1361;p53"/>
          <p:cNvSpPr/>
          <p:nvPr/>
        </p:nvSpPr>
        <p:spPr>
          <a:xfrm>
            <a:off x="2404797" y="3093292"/>
            <a:ext cx="2825400" cy="457200"/>
          </a:xfrm>
          <a:prstGeom prst="roundRect">
            <a:avLst>
              <a:gd fmla="val 16000" name="adj"/>
            </a:avLst>
          </a:prstGeom>
          <a:solidFill>
            <a:srgbClr val="FBF3E2"/>
          </a:solidFill>
          <a:ln cap="flat" cmpd="sng" w="19050">
            <a:solidFill>
              <a:srgbClr val="B08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2" name="Google Shape;1362;p53"/>
          <p:cNvCxnSpPr/>
          <p:nvPr/>
        </p:nvCxnSpPr>
        <p:spPr>
          <a:xfrm>
            <a:off x="251452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63" name="Google Shape;1363;p53"/>
          <p:cNvCxnSpPr/>
          <p:nvPr/>
        </p:nvCxnSpPr>
        <p:spPr>
          <a:xfrm>
            <a:off x="301744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64" name="Google Shape;1364;p53"/>
          <p:cNvCxnSpPr/>
          <p:nvPr/>
        </p:nvCxnSpPr>
        <p:spPr>
          <a:xfrm>
            <a:off x="352036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65" name="Google Shape;1365;p53"/>
          <p:cNvCxnSpPr/>
          <p:nvPr/>
        </p:nvCxnSpPr>
        <p:spPr>
          <a:xfrm>
            <a:off x="406900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66" name="Google Shape;1366;p53"/>
          <p:cNvCxnSpPr/>
          <p:nvPr/>
        </p:nvCxnSpPr>
        <p:spPr>
          <a:xfrm>
            <a:off x="461764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67" name="Google Shape;1367;p53"/>
          <p:cNvCxnSpPr/>
          <p:nvPr/>
        </p:nvCxnSpPr>
        <p:spPr>
          <a:xfrm>
            <a:off x="5120565" y="3157300"/>
            <a:ext cx="0" cy="201300"/>
          </a:xfrm>
          <a:prstGeom prst="straightConnector1">
            <a:avLst/>
          </a:prstGeom>
          <a:noFill/>
          <a:ln cap="flat" cmpd="sng" w="22225">
            <a:solidFill>
              <a:srgbClr val="C55A11"/>
            </a:solidFill>
            <a:prstDash val="solid"/>
            <a:round/>
            <a:headEnd len="sm" w="sm" type="none"/>
            <a:tailEnd len="sm" w="sm" type="none"/>
          </a:ln>
        </p:spPr>
      </p:cxnSp>
      <p:sp>
        <p:nvSpPr>
          <p:cNvPr id="1368" name="Google Shape;1368;p53"/>
          <p:cNvSpPr/>
          <p:nvPr/>
        </p:nvSpPr>
        <p:spPr>
          <a:xfrm>
            <a:off x="5513757" y="3093292"/>
            <a:ext cx="1728300" cy="457200"/>
          </a:xfrm>
          <a:prstGeom prst="roundRect">
            <a:avLst>
              <a:gd fmla="val 16000" name="adj"/>
            </a:avLst>
          </a:prstGeom>
          <a:solidFill>
            <a:srgbClr val="FBF3E2"/>
          </a:solidFill>
          <a:ln cap="flat" cmpd="sng" w="19050">
            <a:solidFill>
              <a:srgbClr val="B08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9" name="Google Shape;1369;p53"/>
          <p:cNvCxnSpPr/>
          <p:nvPr/>
        </p:nvCxnSpPr>
        <p:spPr>
          <a:xfrm>
            <a:off x="562348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0" name="Google Shape;1370;p53"/>
          <p:cNvCxnSpPr/>
          <p:nvPr/>
        </p:nvCxnSpPr>
        <p:spPr>
          <a:xfrm>
            <a:off x="5925237"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1" name="Google Shape;1371;p53"/>
          <p:cNvCxnSpPr/>
          <p:nvPr/>
        </p:nvCxnSpPr>
        <p:spPr>
          <a:xfrm>
            <a:off x="6226989"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2" name="Google Shape;1372;p53"/>
          <p:cNvCxnSpPr/>
          <p:nvPr/>
        </p:nvCxnSpPr>
        <p:spPr>
          <a:xfrm>
            <a:off x="6528741"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3" name="Google Shape;1373;p53"/>
          <p:cNvCxnSpPr/>
          <p:nvPr/>
        </p:nvCxnSpPr>
        <p:spPr>
          <a:xfrm>
            <a:off x="6830493"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4" name="Google Shape;1374;p53"/>
          <p:cNvCxnSpPr/>
          <p:nvPr/>
        </p:nvCxnSpPr>
        <p:spPr>
          <a:xfrm>
            <a:off x="7132245" y="3157300"/>
            <a:ext cx="0" cy="201300"/>
          </a:xfrm>
          <a:prstGeom prst="straightConnector1">
            <a:avLst/>
          </a:prstGeom>
          <a:noFill/>
          <a:ln cap="flat" cmpd="sng" w="22225">
            <a:solidFill>
              <a:srgbClr val="C55A11"/>
            </a:solidFill>
            <a:prstDash val="solid"/>
            <a:round/>
            <a:headEnd len="sm" w="sm" type="none"/>
            <a:tailEnd len="sm" w="sm" type="none"/>
          </a:ln>
        </p:spPr>
      </p:cxnSp>
      <p:sp>
        <p:nvSpPr>
          <p:cNvPr id="1375" name="Google Shape;1375;p53"/>
          <p:cNvSpPr/>
          <p:nvPr/>
        </p:nvSpPr>
        <p:spPr>
          <a:xfrm>
            <a:off x="7525437" y="3093292"/>
            <a:ext cx="905400" cy="457200"/>
          </a:xfrm>
          <a:prstGeom prst="roundRect">
            <a:avLst>
              <a:gd fmla="val 16000" name="adj"/>
            </a:avLst>
          </a:prstGeom>
          <a:solidFill>
            <a:srgbClr val="FBF3E2"/>
          </a:solidFill>
          <a:ln cap="flat" cmpd="sng" w="19050">
            <a:solidFill>
              <a:srgbClr val="B08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6" name="Google Shape;1376;p53"/>
          <p:cNvCxnSpPr/>
          <p:nvPr/>
        </p:nvCxnSpPr>
        <p:spPr>
          <a:xfrm>
            <a:off x="763516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7" name="Google Shape;1377;p53"/>
          <p:cNvCxnSpPr/>
          <p:nvPr/>
        </p:nvCxnSpPr>
        <p:spPr>
          <a:xfrm>
            <a:off x="777232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8" name="Google Shape;1378;p53"/>
          <p:cNvCxnSpPr/>
          <p:nvPr/>
        </p:nvCxnSpPr>
        <p:spPr>
          <a:xfrm>
            <a:off x="790948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79" name="Google Shape;1379;p53"/>
          <p:cNvCxnSpPr/>
          <p:nvPr/>
        </p:nvCxnSpPr>
        <p:spPr>
          <a:xfrm>
            <a:off x="804664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0" name="Google Shape;1380;p53"/>
          <p:cNvCxnSpPr/>
          <p:nvPr/>
        </p:nvCxnSpPr>
        <p:spPr>
          <a:xfrm>
            <a:off x="818380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1" name="Google Shape;1381;p53"/>
          <p:cNvCxnSpPr/>
          <p:nvPr/>
        </p:nvCxnSpPr>
        <p:spPr>
          <a:xfrm>
            <a:off x="8320965" y="3157300"/>
            <a:ext cx="0" cy="201300"/>
          </a:xfrm>
          <a:prstGeom prst="straightConnector1">
            <a:avLst/>
          </a:prstGeom>
          <a:noFill/>
          <a:ln cap="flat" cmpd="sng" w="22225">
            <a:solidFill>
              <a:srgbClr val="C55A11"/>
            </a:solidFill>
            <a:prstDash val="solid"/>
            <a:round/>
            <a:headEnd len="sm" w="sm" type="none"/>
            <a:tailEnd len="sm" w="sm" type="none"/>
          </a:ln>
        </p:spPr>
      </p:cxnSp>
      <p:sp>
        <p:nvSpPr>
          <p:cNvPr id="1382" name="Google Shape;1382;p53"/>
          <p:cNvSpPr/>
          <p:nvPr/>
        </p:nvSpPr>
        <p:spPr>
          <a:xfrm>
            <a:off x="8759877" y="3093292"/>
            <a:ext cx="2231100" cy="457200"/>
          </a:xfrm>
          <a:prstGeom prst="roundRect">
            <a:avLst>
              <a:gd fmla="val 16000" name="adj"/>
            </a:avLst>
          </a:prstGeom>
          <a:solidFill>
            <a:srgbClr val="FBF3E2"/>
          </a:solidFill>
          <a:ln cap="flat" cmpd="sng" w="19050">
            <a:solidFill>
              <a:srgbClr val="B08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3" name="Google Shape;1383;p53"/>
          <p:cNvCxnSpPr/>
          <p:nvPr/>
        </p:nvCxnSpPr>
        <p:spPr>
          <a:xfrm>
            <a:off x="886960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4" name="Google Shape;1384;p53"/>
          <p:cNvCxnSpPr/>
          <p:nvPr/>
        </p:nvCxnSpPr>
        <p:spPr>
          <a:xfrm>
            <a:off x="928108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5" name="Google Shape;1385;p53"/>
          <p:cNvCxnSpPr/>
          <p:nvPr/>
        </p:nvCxnSpPr>
        <p:spPr>
          <a:xfrm>
            <a:off x="969256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6" name="Google Shape;1386;p53"/>
          <p:cNvCxnSpPr/>
          <p:nvPr/>
        </p:nvCxnSpPr>
        <p:spPr>
          <a:xfrm>
            <a:off x="1010404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7" name="Google Shape;1387;p53"/>
          <p:cNvCxnSpPr/>
          <p:nvPr/>
        </p:nvCxnSpPr>
        <p:spPr>
          <a:xfrm>
            <a:off x="10515525" y="3157300"/>
            <a:ext cx="0" cy="201300"/>
          </a:xfrm>
          <a:prstGeom prst="straightConnector1">
            <a:avLst/>
          </a:prstGeom>
          <a:noFill/>
          <a:ln cap="flat" cmpd="sng" w="22225">
            <a:solidFill>
              <a:srgbClr val="C55A11"/>
            </a:solidFill>
            <a:prstDash val="solid"/>
            <a:round/>
            <a:headEnd len="sm" w="sm" type="none"/>
            <a:tailEnd len="sm" w="sm" type="none"/>
          </a:ln>
        </p:spPr>
      </p:cxnSp>
      <p:cxnSp>
        <p:nvCxnSpPr>
          <p:cNvPr id="1388" name="Google Shape;1388;p53"/>
          <p:cNvCxnSpPr/>
          <p:nvPr/>
        </p:nvCxnSpPr>
        <p:spPr>
          <a:xfrm>
            <a:off x="10881285" y="3157300"/>
            <a:ext cx="0" cy="201300"/>
          </a:xfrm>
          <a:prstGeom prst="straightConnector1">
            <a:avLst/>
          </a:prstGeom>
          <a:noFill/>
          <a:ln cap="flat" cmpd="sng" w="22225">
            <a:solidFill>
              <a:srgbClr val="C55A11"/>
            </a:solidFill>
            <a:prstDash val="solid"/>
            <a:round/>
            <a:headEnd len="sm" w="sm" type="none"/>
            <a:tailEnd len="sm" w="sm" type="none"/>
          </a:ln>
        </p:spPr>
      </p:cxnSp>
      <p:sp>
        <p:nvSpPr>
          <p:cNvPr id="1389" name="Google Shape;1389;p53"/>
          <p:cNvSpPr/>
          <p:nvPr/>
        </p:nvSpPr>
        <p:spPr>
          <a:xfrm>
            <a:off x="914325" y="2700100"/>
            <a:ext cx="7315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6A1C"/>
              </a:buClr>
              <a:buSzPts val="1050"/>
              <a:buFont typeface="Arial"/>
              <a:buNone/>
            </a:pPr>
            <a:r>
              <a:rPr lang="en-US" sz="1050" u="none" cap="none" strike="noStrike">
                <a:solidFill>
                  <a:srgbClr val="8A6A1C"/>
                </a:solidFill>
              </a:rPr>
              <a:t>N = 6 events per window — equal evidence, unequal duration</a:t>
            </a:r>
            <a:endParaRPr sz="1050" u="none" cap="none" strike="noStrike">
              <a:solidFill>
                <a:srgbClr val="000000"/>
              </a:solidFill>
            </a:endParaRPr>
          </a:p>
        </p:txBody>
      </p:sp>
      <p:cxnSp>
        <p:nvCxnSpPr>
          <p:cNvPr id="1390" name="Google Shape;1390;p53"/>
          <p:cNvCxnSpPr/>
          <p:nvPr/>
        </p:nvCxnSpPr>
        <p:spPr>
          <a:xfrm>
            <a:off x="914325" y="3660220"/>
            <a:ext cx="10332600" cy="0"/>
          </a:xfrm>
          <a:prstGeom prst="straightConnector1">
            <a:avLst/>
          </a:prstGeom>
          <a:noFill/>
          <a:ln cap="flat" cmpd="sng" w="15875">
            <a:solidFill>
              <a:srgbClr val="9A9A9A"/>
            </a:solidFill>
            <a:prstDash val="solid"/>
            <a:round/>
            <a:headEnd len="sm" w="sm" type="none"/>
            <a:tailEnd len="med" w="med" type="stealth"/>
          </a:ln>
        </p:spPr>
      </p:cxnSp>
      <p:sp>
        <p:nvSpPr>
          <p:cNvPr id="1391" name="Google Shape;1391;p53"/>
          <p:cNvSpPr/>
          <p:nvPr/>
        </p:nvSpPr>
        <p:spPr>
          <a:xfrm>
            <a:off x="10606965" y="3733372"/>
            <a:ext cx="640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Arial"/>
              <a:buNone/>
            </a:pPr>
            <a:r>
              <a:rPr b="0" i="1" lang="en-US" sz="1000" u="none" cap="none" strike="noStrike">
                <a:solidFill>
                  <a:srgbClr val="8A8A8A"/>
                </a:solidFill>
                <a:latin typeface="Arial"/>
                <a:ea typeface="Arial"/>
                <a:cs typeface="Arial"/>
                <a:sym typeface="Arial"/>
              </a:rPr>
              <a:t>time</a:t>
            </a:r>
            <a:endParaRPr b="0" i="0" sz="1000" u="none" cap="none" strike="noStrike">
              <a:solidFill>
                <a:srgbClr val="000000"/>
              </a:solidFill>
              <a:latin typeface="Calibri"/>
              <a:ea typeface="Calibri"/>
              <a:cs typeface="Calibri"/>
              <a:sym typeface="Calibri"/>
            </a:endParaRPr>
          </a:p>
        </p:txBody>
      </p:sp>
      <p:sp>
        <p:nvSpPr>
          <p:cNvPr id="1392" name="Google Shape;1392;p53"/>
          <p:cNvSpPr txBox="1"/>
          <p:nvPr/>
        </p:nvSpPr>
        <p:spPr>
          <a:xfrm>
            <a:off x="486899" y="4581038"/>
            <a:ext cx="5187900" cy="141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US" sz="1600">
                <a:solidFill>
                  <a:schemeClr val="dk1"/>
                </a:solidFill>
              </a:rPr>
              <a:t>Advantages</a:t>
            </a:r>
            <a:endParaRPr sz="1600">
              <a:solidFill>
                <a:schemeClr val="dk1"/>
              </a:solidFill>
            </a:endParaRPr>
          </a:p>
          <a:p>
            <a:pPr indent="-285750" lvl="0" marL="285750" marR="0" rtl="0" algn="l">
              <a:spcBef>
                <a:spcPts val="0"/>
              </a:spcBef>
              <a:spcAft>
                <a:spcPts val="0"/>
              </a:spcAft>
              <a:buClr>
                <a:srgbClr val="4A4A4A"/>
              </a:buClr>
              <a:buSzPts val="1400"/>
              <a:buChar char="•"/>
            </a:pPr>
            <a:r>
              <a:rPr lang="en-US">
                <a:solidFill>
                  <a:srgbClr val="4A4A4A"/>
                </a:solidFill>
              </a:rPr>
              <a:t>Equal evidence per window.</a:t>
            </a:r>
            <a:endParaRPr/>
          </a:p>
          <a:p>
            <a:pPr indent="-285750" lvl="0" marL="285750" marR="0" rtl="0" algn="l">
              <a:spcBef>
                <a:spcPts val="0"/>
              </a:spcBef>
              <a:spcAft>
                <a:spcPts val="0"/>
              </a:spcAft>
              <a:buClr>
                <a:srgbClr val="4A4A4A"/>
              </a:buClr>
              <a:buSzPts val="1400"/>
              <a:buChar char="•"/>
            </a:pPr>
            <a:r>
              <a:rPr lang="en-US">
                <a:solidFill>
                  <a:srgbClr val="4A4A4A"/>
                </a:solidFill>
              </a:rPr>
              <a:t>Feature statistics (means, distributions) stay comparable across rate swings.</a:t>
            </a:r>
            <a:endParaRPr/>
          </a:p>
          <a:p>
            <a:pPr indent="-285750" lvl="0" marL="285750" marR="0" rtl="0" algn="l">
              <a:spcBef>
                <a:spcPts val="0"/>
              </a:spcBef>
              <a:spcAft>
                <a:spcPts val="0"/>
              </a:spcAft>
              <a:buClr>
                <a:srgbClr val="4A4A4A"/>
              </a:buClr>
              <a:buSzPts val="1400"/>
              <a:buChar char="•"/>
            </a:pPr>
            <a:r>
              <a:rPr lang="en-US">
                <a:solidFill>
                  <a:srgbClr val="4A4A4A"/>
                </a:solidFill>
              </a:rPr>
              <a:t>Robust default for sources whose rate varies by orders of magnitude.</a:t>
            </a:r>
            <a:endParaRPr/>
          </a:p>
        </p:txBody>
      </p:sp>
      <p:sp>
        <p:nvSpPr>
          <p:cNvPr id="1393" name="Google Shape;1393;p53"/>
          <p:cNvSpPr txBox="1"/>
          <p:nvPr/>
        </p:nvSpPr>
        <p:spPr>
          <a:xfrm>
            <a:off x="5600650" y="4512513"/>
            <a:ext cx="6016500" cy="98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US" sz="1600">
                <a:solidFill>
                  <a:schemeClr val="dk1"/>
                </a:solidFill>
              </a:rPr>
              <a:t>Disadvantages</a:t>
            </a:r>
            <a:endParaRPr sz="1600"/>
          </a:p>
          <a:p>
            <a:pPr indent="-285750" lvl="0" marL="285750" marR="0" rtl="0" algn="l">
              <a:spcBef>
                <a:spcPts val="0"/>
              </a:spcBef>
              <a:spcAft>
                <a:spcPts val="0"/>
              </a:spcAft>
              <a:buClr>
                <a:srgbClr val="4A4A4A"/>
              </a:buClr>
              <a:buSzPts val="1400"/>
              <a:buChar char="•"/>
            </a:pPr>
            <a:r>
              <a:rPr lang="en-US">
                <a:solidFill>
                  <a:srgbClr val="4A4A4A"/>
                </a:solidFill>
              </a:rPr>
              <a:t>Detection latency becomes traffic-dependent.</a:t>
            </a:r>
            <a:endParaRPr/>
          </a:p>
          <a:p>
            <a:pPr indent="-285750" lvl="0" marL="285750" marR="0" rtl="0" algn="l">
              <a:spcBef>
                <a:spcPts val="0"/>
              </a:spcBef>
              <a:spcAft>
                <a:spcPts val="0"/>
              </a:spcAft>
              <a:buClr>
                <a:srgbClr val="4A4A4A"/>
              </a:buClr>
              <a:buSzPts val="1400"/>
              <a:buFont typeface="Arial"/>
              <a:buChar char="•"/>
            </a:pPr>
            <a:r>
              <a:rPr lang="en-US">
                <a:solidFill>
                  <a:srgbClr val="4A4A4A"/>
                </a:solidFill>
              </a:rPr>
              <a:t>Duration-based features (rates, inter-arrival times) need care.</a:t>
            </a:r>
            <a:endParaRPr/>
          </a:p>
          <a:p>
            <a:pPr indent="-285750" lvl="0" marL="285750" marR="0" rtl="0" algn="l">
              <a:spcBef>
                <a:spcPts val="0"/>
              </a:spcBef>
              <a:spcAft>
                <a:spcPts val="0"/>
              </a:spcAft>
              <a:buClr>
                <a:srgbClr val="4A4A4A"/>
              </a:buClr>
              <a:buSzPts val="1400"/>
              <a:buChar char="•"/>
            </a:pPr>
            <a:r>
              <a:rPr lang="en-US">
                <a:solidFill>
                  <a:srgbClr val="4A4A4A"/>
                </a:solidFill>
              </a:rPr>
              <a:t>A flood closes windows extremely fast.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8" name="Shape 1398"/>
        <p:cNvGrpSpPr/>
        <p:nvPr/>
      </p:nvGrpSpPr>
      <p:grpSpPr>
        <a:xfrm>
          <a:off x="0" y="0"/>
          <a:ext cx="0" cy="0"/>
          <a:chOff x="0" y="0"/>
          <a:chExt cx="0" cy="0"/>
        </a:xfrm>
      </p:grpSpPr>
      <p:sp>
        <p:nvSpPr>
          <p:cNvPr id="1399" name="Google Shape;1399;p54"/>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400" name="Google Shape;1400;p54"/>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401" name="Google Shape;1401;p54"/>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402" name="Google Shape;1402;p54"/>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sz="1000">
              <a:solidFill>
                <a:schemeClr val="dk1"/>
              </a:solidFill>
              <a:latin typeface="Calibri"/>
              <a:ea typeface="Calibri"/>
              <a:cs typeface="Calibri"/>
              <a:sym typeface="Calibri"/>
            </a:endParaRPr>
          </a:p>
        </p:txBody>
      </p:sp>
      <p:sp>
        <p:nvSpPr>
          <p:cNvPr id="1403" name="Google Shape;1403;p54"/>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Cooldown and severity</a:t>
            </a:r>
            <a:endParaRPr b="1" sz="3000">
              <a:solidFill>
                <a:srgbClr val="1A1A1A"/>
              </a:solidFill>
              <a:latin typeface="Georgia"/>
              <a:ea typeface="Georgia"/>
              <a:cs typeface="Georgia"/>
              <a:sym typeface="Georgia"/>
            </a:endParaRPr>
          </a:p>
        </p:txBody>
      </p:sp>
      <p:sp>
        <p:nvSpPr>
          <p:cNvPr id="1404" name="Google Shape;1404;p54"/>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4"/>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406" name="Google Shape;1406;p54"/>
          <p:cNvSpPr/>
          <p:nvPr/>
        </p:nvSpPr>
        <p:spPr>
          <a:xfrm>
            <a:off x="548640" y="1828800"/>
            <a:ext cx="5486400" cy="3977700"/>
          </a:xfrm>
          <a:prstGeom prst="roundRect">
            <a:avLst>
              <a:gd fmla="val 1379" name="adj"/>
            </a:avLst>
          </a:prstGeom>
          <a:solidFill>
            <a:srgbClr val="F3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4"/>
          <p:cNvSpPr/>
          <p:nvPr/>
        </p:nvSpPr>
        <p:spPr>
          <a:xfrm>
            <a:off x="868680" y="2057400"/>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800"/>
              <a:buFont typeface="Century Schoolbook"/>
              <a:buNone/>
            </a:pPr>
            <a:r>
              <a:rPr b="1" i="0" lang="en-US" sz="1800" u="none" cap="none" strike="noStrike">
                <a:solidFill>
                  <a:srgbClr val="1C1C1C"/>
                </a:solidFill>
              </a:rPr>
              <a:t>Cooldown</a:t>
            </a:r>
            <a:r>
              <a:rPr b="1" lang="en-US" sz="1800">
                <a:solidFill>
                  <a:srgbClr val="1C1C1C"/>
                </a:solidFill>
              </a:rPr>
              <a:t>:</a:t>
            </a:r>
            <a:r>
              <a:rPr b="1" i="0" lang="en-US" sz="1800" u="none" cap="none" strike="noStrike">
                <a:solidFill>
                  <a:srgbClr val="1C1C1C"/>
                </a:solidFill>
              </a:rPr>
              <a:t> reducing repeats</a:t>
            </a:r>
            <a:endParaRPr i="0" sz="1800" u="none" cap="none" strike="noStrike">
              <a:solidFill>
                <a:srgbClr val="000000"/>
              </a:solidFill>
            </a:endParaRPr>
          </a:p>
        </p:txBody>
      </p:sp>
      <p:sp>
        <p:nvSpPr>
          <p:cNvPr id="1408" name="Google Shape;1408;p54"/>
          <p:cNvSpPr/>
          <p:nvPr/>
        </p:nvSpPr>
        <p:spPr>
          <a:xfrm>
            <a:off x="868680" y="2724912"/>
            <a:ext cx="201300" cy="137100"/>
          </a:xfrm>
          <a:prstGeom prst="rightArrow">
            <a:avLst>
              <a:gd fmla="val 50000" name="adj1"/>
              <a:gd fmla="val 50000" name="adj2"/>
            </a:avLst>
          </a:prstGeom>
          <a:solidFill>
            <a:srgbClr val="A98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4"/>
          <p:cNvSpPr/>
          <p:nvPr/>
        </p:nvSpPr>
        <p:spPr>
          <a:xfrm>
            <a:off x="1234440" y="2642616"/>
            <a:ext cx="4572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350"/>
              <a:buFont typeface="Calibri"/>
              <a:buNone/>
            </a:pPr>
            <a:r>
              <a:rPr i="0" lang="en-US" u="none" cap="none" strike="noStrike">
                <a:solidFill>
                  <a:srgbClr val="1C1C1C"/>
                </a:solidFill>
              </a:rPr>
              <a:t>After an alert fires, the same type is muted briefly.</a:t>
            </a:r>
            <a:endParaRPr i="0" u="none" cap="none" strike="noStrike">
              <a:solidFill>
                <a:srgbClr val="000000"/>
              </a:solidFill>
            </a:endParaRPr>
          </a:p>
        </p:txBody>
      </p:sp>
      <p:sp>
        <p:nvSpPr>
          <p:cNvPr id="1410" name="Google Shape;1410;p54"/>
          <p:cNvSpPr/>
          <p:nvPr/>
        </p:nvSpPr>
        <p:spPr>
          <a:xfrm>
            <a:off x="868680" y="3438144"/>
            <a:ext cx="201300" cy="137100"/>
          </a:xfrm>
          <a:prstGeom prst="rightArrow">
            <a:avLst>
              <a:gd fmla="val 50000" name="adj1"/>
              <a:gd fmla="val 50000" name="adj2"/>
            </a:avLst>
          </a:prstGeom>
          <a:solidFill>
            <a:srgbClr val="A98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4"/>
          <p:cNvSpPr/>
          <p:nvPr/>
        </p:nvSpPr>
        <p:spPr>
          <a:xfrm>
            <a:off x="1234440" y="3355848"/>
            <a:ext cx="4572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350"/>
              <a:buFont typeface="Calibri"/>
              <a:buNone/>
            </a:pPr>
            <a:r>
              <a:rPr i="0" lang="en-US" u="none" cap="none" strike="noStrike">
                <a:solidFill>
                  <a:srgbClr val="1C1C1C"/>
                </a:solidFill>
              </a:rPr>
              <a:t>Stops one event from becoming a stream of alarms.</a:t>
            </a:r>
            <a:endParaRPr i="0" u="none" cap="none" strike="noStrike">
              <a:solidFill>
                <a:srgbClr val="000000"/>
              </a:solidFill>
            </a:endParaRPr>
          </a:p>
        </p:txBody>
      </p:sp>
      <p:sp>
        <p:nvSpPr>
          <p:cNvPr id="1412" name="Google Shape;1412;p54"/>
          <p:cNvSpPr/>
          <p:nvPr/>
        </p:nvSpPr>
        <p:spPr>
          <a:xfrm>
            <a:off x="868680" y="4151376"/>
            <a:ext cx="201300" cy="137100"/>
          </a:xfrm>
          <a:prstGeom prst="rightArrow">
            <a:avLst>
              <a:gd fmla="val 50000" name="adj1"/>
              <a:gd fmla="val 50000" name="adj2"/>
            </a:avLst>
          </a:prstGeom>
          <a:solidFill>
            <a:srgbClr val="A98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4"/>
          <p:cNvSpPr/>
          <p:nvPr/>
        </p:nvSpPr>
        <p:spPr>
          <a:xfrm>
            <a:off x="1234440" y="4069080"/>
            <a:ext cx="4572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350"/>
              <a:buFont typeface="Calibri"/>
              <a:buNone/>
            </a:pPr>
            <a:r>
              <a:rPr i="0" lang="en-US" u="none" cap="none" strike="noStrike">
                <a:solidFill>
                  <a:srgbClr val="1C1C1C"/>
                </a:solidFill>
              </a:rPr>
              <a:t>Normal status is reported only occasionally</a:t>
            </a:r>
            <a:r>
              <a:rPr lang="en-US">
                <a:solidFill>
                  <a:srgbClr val="1C1C1C"/>
                </a:solidFill>
              </a:rPr>
              <a:t>.</a:t>
            </a:r>
            <a:endParaRPr i="0" u="none" cap="none" strike="noStrike">
              <a:solidFill>
                <a:srgbClr val="000000"/>
              </a:solidFill>
            </a:endParaRPr>
          </a:p>
        </p:txBody>
      </p:sp>
      <p:sp>
        <p:nvSpPr>
          <p:cNvPr id="1414" name="Google Shape;1414;p54"/>
          <p:cNvSpPr/>
          <p:nvPr/>
        </p:nvSpPr>
        <p:spPr>
          <a:xfrm>
            <a:off x="6263640" y="1828800"/>
            <a:ext cx="5486400" cy="3977700"/>
          </a:xfrm>
          <a:prstGeom prst="roundRect">
            <a:avLst>
              <a:gd fmla="val 1379" name="adj"/>
            </a:avLst>
          </a:prstGeom>
          <a:solidFill>
            <a:srgbClr val="F3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4"/>
          <p:cNvSpPr/>
          <p:nvPr/>
        </p:nvSpPr>
        <p:spPr>
          <a:xfrm>
            <a:off x="6583680" y="2057400"/>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800"/>
              <a:buFont typeface="Century Schoolbook"/>
              <a:buNone/>
            </a:pPr>
            <a:r>
              <a:rPr b="1" i="0" lang="en-US" sz="1800" u="none" cap="none" strike="noStrike">
                <a:solidFill>
                  <a:srgbClr val="1C1C1C"/>
                </a:solidFill>
              </a:rPr>
              <a:t>Severity</a:t>
            </a:r>
            <a:r>
              <a:rPr b="1" lang="en-US" sz="1800">
                <a:solidFill>
                  <a:srgbClr val="1C1C1C"/>
                </a:solidFill>
              </a:rPr>
              <a:t>: ranking</a:t>
            </a:r>
            <a:r>
              <a:rPr b="1" i="0" lang="en-US" sz="1800" u="none" cap="none" strike="noStrike">
                <a:solidFill>
                  <a:srgbClr val="1C1C1C"/>
                </a:solidFill>
              </a:rPr>
              <a:t> what matters</a:t>
            </a:r>
            <a:endParaRPr i="0" sz="1800" u="none" cap="none" strike="noStrike">
              <a:solidFill>
                <a:srgbClr val="000000"/>
              </a:solidFill>
            </a:endParaRPr>
          </a:p>
        </p:txBody>
      </p:sp>
      <p:sp>
        <p:nvSpPr>
          <p:cNvPr id="1416" name="Google Shape;1416;p54"/>
          <p:cNvSpPr/>
          <p:nvPr/>
        </p:nvSpPr>
        <p:spPr>
          <a:xfrm>
            <a:off x="6583680" y="2743200"/>
            <a:ext cx="1280100" cy="329100"/>
          </a:xfrm>
          <a:prstGeom prst="roundRect">
            <a:avLst>
              <a:gd fmla="val 47222" name="adj"/>
            </a:avLst>
          </a:prstGeom>
          <a:solidFill>
            <a:srgbClr val="9E3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4"/>
          <p:cNvSpPr/>
          <p:nvPr/>
        </p:nvSpPr>
        <p:spPr>
          <a:xfrm>
            <a:off x="6583680" y="2743200"/>
            <a:ext cx="1280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CRITICAL</a:t>
            </a:r>
            <a:endParaRPr b="0" i="0" sz="1050" u="none" cap="none" strike="noStrike">
              <a:solidFill>
                <a:srgbClr val="000000"/>
              </a:solidFill>
              <a:latin typeface="Calibri"/>
              <a:ea typeface="Calibri"/>
              <a:cs typeface="Calibri"/>
              <a:sym typeface="Calibri"/>
            </a:endParaRPr>
          </a:p>
        </p:txBody>
      </p:sp>
      <p:sp>
        <p:nvSpPr>
          <p:cNvPr id="1418" name="Google Shape;1418;p54"/>
          <p:cNvSpPr/>
          <p:nvPr/>
        </p:nvSpPr>
        <p:spPr>
          <a:xfrm>
            <a:off x="8001000" y="2724900"/>
            <a:ext cx="3694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50"/>
              <a:buFont typeface="Calibri"/>
              <a:buNone/>
            </a:pPr>
            <a:r>
              <a:rPr i="0" lang="en-US" u="none" cap="none" strike="noStrike">
                <a:solidFill>
                  <a:srgbClr val="1C1C1C"/>
                </a:solidFill>
              </a:rPr>
              <a:t>Physical anomaly</a:t>
            </a:r>
            <a:r>
              <a:rPr lang="en-US">
                <a:solidFill>
                  <a:srgbClr val="1C1C1C"/>
                </a:solidFill>
              </a:rPr>
              <a:t>:</a:t>
            </a:r>
            <a:r>
              <a:rPr i="0" lang="en-US" u="none" cap="none" strike="noStrike">
                <a:solidFill>
                  <a:srgbClr val="1C1C1C"/>
                </a:solidFill>
              </a:rPr>
              <a:t> the car itself can cause harm</a:t>
            </a:r>
            <a:endParaRPr i="0" u="none" cap="none" strike="noStrike">
              <a:solidFill>
                <a:srgbClr val="000000"/>
              </a:solidFill>
            </a:endParaRPr>
          </a:p>
        </p:txBody>
      </p:sp>
      <p:sp>
        <p:nvSpPr>
          <p:cNvPr id="1419" name="Google Shape;1419;p54"/>
          <p:cNvSpPr/>
          <p:nvPr/>
        </p:nvSpPr>
        <p:spPr>
          <a:xfrm>
            <a:off x="6583680" y="3493008"/>
            <a:ext cx="1280100" cy="329100"/>
          </a:xfrm>
          <a:prstGeom prst="roundRect">
            <a:avLst>
              <a:gd fmla="val 47222" name="adj"/>
            </a:avLst>
          </a:prstGeom>
          <a:solidFill>
            <a:srgbClr val="B07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4"/>
          <p:cNvSpPr/>
          <p:nvPr/>
        </p:nvSpPr>
        <p:spPr>
          <a:xfrm>
            <a:off x="6583680" y="3493008"/>
            <a:ext cx="1280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HIGH</a:t>
            </a:r>
            <a:endParaRPr b="0" i="0" sz="1050" u="none" cap="none" strike="noStrike">
              <a:solidFill>
                <a:srgbClr val="000000"/>
              </a:solidFill>
              <a:latin typeface="Calibri"/>
              <a:ea typeface="Calibri"/>
              <a:cs typeface="Calibri"/>
              <a:sym typeface="Calibri"/>
            </a:endParaRPr>
          </a:p>
        </p:txBody>
      </p:sp>
      <p:sp>
        <p:nvSpPr>
          <p:cNvPr id="1421" name="Google Shape;1421;p54"/>
          <p:cNvSpPr/>
          <p:nvPr/>
        </p:nvSpPr>
        <p:spPr>
          <a:xfrm>
            <a:off x="8001000" y="3474711"/>
            <a:ext cx="3694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50"/>
              <a:buFont typeface="Calibri"/>
              <a:buNone/>
            </a:pPr>
            <a:r>
              <a:rPr i="0" lang="en-US" u="none" cap="none" strike="noStrike">
                <a:solidFill>
                  <a:srgbClr val="1C1C1C"/>
                </a:solidFill>
              </a:rPr>
              <a:t>Network anomaly</a:t>
            </a:r>
            <a:r>
              <a:rPr lang="en-US">
                <a:solidFill>
                  <a:srgbClr val="1C1C1C"/>
                </a:solidFill>
              </a:rPr>
              <a:t>:</a:t>
            </a:r>
            <a:r>
              <a:rPr i="0" lang="en-US" u="none" cap="none" strike="noStrike">
                <a:solidFill>
                  <a:srgbClr val="1C1C1C"/>
                </a:solidFill>
              </a:rPr>
              <a:t> an attack in progress</a:t>
            </a:r>
            <a:endParaRPr i="0" u="none" cap="none" strike="noStrike">
              <a:solidFill>
                <a:srgbClr val="000000"/>
              </a:solidFill>
            </a:endParaRPr>
          </a:p>
        </p:txBody>
      </p:sp>
      <p:sp>
        <p:nvSpPr>
          <p:cNvPr id="1422" name="Google Shape;1422;p54"/>
          <p:cNvSpPr/>
          <p:nvPr/>
        </p:nvSpPr>
        <p:spPr>
          <a:xfrm>
            <a:off x="6583680" y="4242816"/>
            <a:ext cx="1280100" cy="329100"/>
          </a:xfrm>
          <a:prstGeom prst="roundRect">
            <a:avLst>
              <a:gd fmla="val 47222" name="adj"/>
            </a:avLst>
          </a:prstGeom>
          <a:solidFill>
            <a:srgbClr val="3F7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4"/>
          <p:cNvSpPr/>
          <p:nvPr/>
        </p:nvSpPr>
        <p:spPr>
          <a:xfrm>
            <a:off x="6583680" y="4242816"/>
            <a:ext cx="1280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INFO</a:t>
            </a:r>
            <a:endParaRPr b="0" i="0" sz="1050" u="none" cap="none" strike="noStrike">
              <a:solidFill>
                <a:srgbClr val="000000"/>
              </a:solidFill>
              <a:latin typeface="Calibri"/>
              <a:ea typeface="Calibri"/>
              <a:cs typeface="Calibri"/>
              <a:sym typeface="Calibri"/>
            </a:endParaRPr>
          </a:p>
        </p:txBody>
      </p:sp>
      <p:sp>
        <p:nvSpPr>
          <p:cNvPr id="1424" name="Google Shape;1424;p54"/>
          <p:cNvSpPr/>
          <p:nvPr/>
        </p:nvSpPr>
        <p:spPr>
          <a:xfrm>
            <a:off x="8001000" y="4224523"/>
            <a:ext cx="3694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50"/>
              <a:buFont typeface="Calibri"/>
              <a:buNone/>
            </a:pPr>
            <a:r>
              <a:rPr i="0" lang="en-US" u="none" cap="none" strike="noStrike">
                <a:solidFill>
                  <a:srgbClr val="1C1C1C"/>
                </a:solidFill>
              </a:rPr>
              <a:t>Normal operation</a:t>
            </a:r>
            <a:r>
              <a:rPr lang="en-US">
                <a:solidFill>
                  <a:srgbClr val="1C1C1C"/>
                </a:solidFill>
              </a:rPr>
              <a:t>:</a:t>
            </a:r>
            <a:r>
              <a:rPr i="0" lang="en-US" u="none" cap="none" strike="noStrike">
                <a:solidFill>
                  <a:srgbClr val="1C1C1C"/>
                </a:solidFill>
              </a:rPr>
              <a:t> routine health signal</a:t>
            </a:r>
            <a:endParaRPr i="0" u="none" cap="none" strike="noStrike">
              <a:solidFill>
                <a:srgbClr val="000000"/>
              </a:solidFill>
            </a:endParaRPr>
          </a:p>
        </p:txBody>
      </p:sp>
      <p:sp>
        <p:nvSpPr>
          <p:cNvPr id="1425" name="Google Shape;1425;p54"/>
          <p:cNvSpPr/>
          <p:nvPr/>
        </p:nvSpPr>
        <p:spPr>
          <a:xfrm>
            <a:off x="6583680" y="5074920"/>
            <a:ext cx="489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7A1F"/>
              </a:buClr>
              <a:buSzPts val="1250"/>
              <a:buFont typeface="Calibri"/>
              <a:buNone/>
            </a:pPr>
            <a:r>
              <a:rPr i="1" lang="en-US" sz="1300" u="none" cap="none" strike="noStrike">
                <a:solidFill>
                  <a:srgbClr val="B07A1F"/>
                </a:solidFill>
              </a:rPr>
              <a:t>Priority follows safety impact — in a vehicle, a physical fault outranks a network attack.</a:t>
            </a:r>
            <a:endParaRPr i="0" sz="1300" u="none" cap="none" strike="noStrike">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0" name="Shape 1430"/>
        <p:cNvGrpSpPr/>
        <p:nvPr/>
      </p:nvGrpSpPr>
      <p:grpSpPr>
        <a:xfrm>
          <a:off x="0" y="0"/>
          <a:ext cx="0" cy="0"/>
          <a:chOff x="0" y="0"/>
          <a:chExt cx="0" cy="0"/>
        </a:xfrm>
      </p:grpSpPr>
      <p:sp>
        <p:nvSpPr>
          <p:cNvPr id="1431" name="Google Shape;1431;p55"/>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432" name="Google Shape;1432;p55"/>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433" name="Google Shape;1433;p55"/>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434" name="Google Shape;1434;p55"/>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p:txBody>
      </p:sp>
      <p:sp>
        <p:nvSpPr>
          <p:cNvPr id="1435" name="Google Shape;1435;p55"/>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Monitoring a Safety-critical Live System</a:t>
            </a:r>
            <a:endParaRPr b="1" sz="3000">
              <a:solidFill>
                <a:srgbClr val="1A1A1A"/>
              </a:solidFill>
              <a:latin typeface="Georgia"/>
              <a:ea typeface="Georgia"/>
              <a:cs typeface="Georgia"/>
              <a:sym typeface="Georgia"/>
            </a:endParaRPr>
          </a:p>
        </p:txBody>
      </p:sp>
      <p:sp>
        <p:nvSpPr>
          <p:cNvPr id="1436" name="Google Shape;1436;p55"/>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5"/>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438" name="Google Shape;1438;p55"/>
          <p:cNvSpPr/>
          <p:nvPr/>
        </p:nvSpPr>
        <p:spPr>
          <a:xfrm>
            <a:off x="548640" y="1691640"/>
            <a:ext cx="11155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5A"/>
              </a:buClr>
              <a:buSzPts val="1400"/>
              <a:buFont typeface="Calibri"/>
              <a:buNone/>
            </a:pPr>
            <a:r>
              <a:rPr i="0" lang="en-US" sz="1600" u="none" cap="none" strike="noStrike">
                <a:solidFill>
                  <a:srgbClr val="5A5A5A"/>
                </a:solidFill>
              </a:rPr>
              <a:t>A deployed model can fail quietly. In the field there are no labels, so the system watches indirect signs of trouble.</a:t>
            </a:r>
            <a:endParaRPr i="0" sz="1600" u="none" cap="none" strike="noStrike">
              <a:solidFill>
                <a:srgbClr val="000000"/>
              </a:solidFill>
            </a:endParaRPr>
          </a:p>
        </p:txBody>
      </p:sp>
      <p:sp>
        <p:nvSpPr>
          <p:cNvPr id="1439" name="Google Shape;1439;p55"/>
          <p:cNvSpPr/>
          <p:nvPr/>
        </p:nvSpPr>
        <p:spPr>
          <a:xfrm>
            <a:off x="566928" y="2331720"/>
            <a:ext cx="5440800" cy="1371600"/>
          </a:xfrm>
          <a:prstGeom prst="roundRect">
            <a:avLst>
              <a:gd fmla="val 4000" name="adj"/>
            </a:avLst>
          </a:prstGeom>
          <a:solidFill>
            <a:srgbClr val="F3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55"/>
          <p:cNvSpPr/>
          <p:nvPr/>
        </p:nvSpPr>
        <p:spPr>
          <a:xfrm>
            <a:off x="841248" y="2624328"/>
            <a:ext cx="365700" cy="365700"/>
          </a:xfrm>
          <a:prstGeom prst="ellipse">
            <a:avLst/>
          </a:prstGeom>
          <a:solidFill>
            <a:srgbClr val="3550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5"/>
          <p:cNvSpPr/>
          <p:nvPr/>
        </p:nvSpPr>
        <p:spPr>
          <a:xfrm>
            <a:off x="1389888" y="2551176"/>
            <a:ext cx="4434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entury Schoolbook"/>
              <a:buNone/>
            </a:pPr>
            <a:r>
              <a:rPr b="1" i="0" lang="en-US" sz="1800" u="none" cap="none" strike="noStrike">
                <a:solidFill>
                  <a:srgbClr val="1C1C1C"/>
                </a:solidFill>
              </a:rPr>
              <a:t>Speed</a:t>
            </a:r>
            <a:endParaRPr i="0" sz="1800" u="none" cap="none" strike="noStrike">
              <a:solidFill>
                <a:srgbClr val="000000"/>
              </a:solidFill>
            </a:endParaRPr>
          </a:p>
        </p:txBody>
      </p:sp>
      <p:sp>
        <p:nvSpPr>
          <p:cNvPr id="1442" name="Google Shape;1442;p55"/>
          <p:cNvSpPr/>
          <p:nvPr/>
        </p:nvSpPr>
        <p:spPr>
          <a:xfrm>
            <a:off x="1389888" y="2990088"/>
            <a:ext cx="4343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5A"/>
              </a:buClr>
              <a:buSzPts val="1250"/>
              <a:buFont typeface="Calibri"/>
              <a:buNone/>
            </a:pPr>
            <a:r>
              <a:rPr i="0" lang="en-US" u="none" cap="none" strike="noStrike">
                <a:solidFill>
                  <a:srgbClr val="5A5A5A"/>
                </a:solidFill>
              </a:rPr>
              <a:t>Is each decision made within its time budget?</a:t>
            </a:r>
            <a:endParaRPr i="0" u="none" cap="none" strike="noStrike">
              <a:solidFill>
                <a:srgbClr val="000000"/>
              </a:solidFill>
            </a:endParaRPr>
          </a:p>
        </p:txBody>
      </p:sp>
      <p:sp>
        <p:nvSpPr>
          <p:cNvPr id="1443" name="Google Shape;1443;p55"/>
          <p:cNvSpPr/>
          <p:nvPr/>
        </p:nvSpPr>
        <p:spPr>
          <a:xfrm>
            <a:off x="6309360" y="2331720"/>
            <a:ext cx="5440800" cy="1371600"/>
          </a:xfrm>
          <a:prstGeom prst="roundRect">
            <a:avLst>
              <a:gd fmla="val 4000" name="adj"/>
            </a:avLst>
          </a:prstGeom>
          <a:solidFill>
            <a:srgbClr val="F3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5"/>
          <p:cNvSpPr/>
          <p:nvPr/>
        </p:nvSpPr>
        <p:spPr>
          <a:xfrm>
            <a:off x="6583680" y="2624328"/>
            <a:ext cx="365700" cy="365700"/>
          </a:xfrm>
          <a:prstGeom prst="ellipse">
            <a:avLst/>
          </a:prstGeom>
          <a:solidFill>
            <a:srgbClr val="3F7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5"/>
          <p:cNvSpPr/>
          <p:nvPr/>
        </p:nvSpPr>
        <p:spPr>
          <a:xfrm>
            <a:off x="7132320" y="2551176"/>
            <a:ext cx="4434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entury Schoolbook"/>
              <a:buNone/>
            </a:pPr>
            <a:r>
              <a:rPr b="1" i="0" lang="en-US" sz="1800" u="none" cap="none" strike="noStrike">
                <a:solidFill>
                  <a:srgbClr val="1C1C1C"/>
                </a:solidFill>
              </a:rPr>
              <a:t>Throughput</a:t>
            </a:r>
            <a:endParaRPr i="0" sz="1800" u="none" cap="none" strike="noStrike">
              <a:solidFill>
                <a:srgbClr val="000000"/>
              </a:solidFill>
            </a:endParaRPr>
          </a:p>
        </p:txBody>
      </p:sp>
      <p:sp>
        <p:nvSpPr>
          <p:cNvPr id="1446" name="Google Shape;1446;p55"/>
          <p:cNvSpPr/>
          <p:nvPr/>
        </p:nvSpPr>
        <p:spPr>
          <a:xfrm>
            <a:off x="7132320" y="2990088"/>
            <a:ext cx="4343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5A"/>
              </a:buClr>
              <a:buSzPts val="1250"/>
              <a:buFont typeface="Calibri"/>
              <a:buNone/>
            </a:pPr>
            <a:r>
              <a:rPr i="0" lang="en-US" u="none" cap="none" strike="noStrike">
                <a:solidFill>
                  <a:srgbClr val="5A5A5A"/>
                </a:solidFill>
              </a:rPr>
              <a:t>Is the system keeping up with the data rate?</a:t>
            </a:r>
            <a:endParaRPr i="0" u="none" cap="none" strike="noStrike">
              <a:solidFill>
                <a:srgbClr val="000000"/>
              </a:solidFill>
            </a:endParaRPr>
          </a:p>
        </p:txBody>
      </p:sp>
      <p:sp>
        <p:nvSpPr>
          <p:cNvPr id="1447" name="Google Shape;1447;p55"/>
          <p:cNvSpPr/>
          <p:nvPr/>
        </p:nvSpPr>
        <p:spPr>
          <a:xfrm>
            <a:off x="566928" y="3886200"/>
            <a:ext cx="5440800" cy="1371600"/>
          </a:xfrm>
          <a:prstGeom prst="roundRect">
            <a:avLst>
              <a:gd fmla="val 4000" name="adj"/>
            </a:avLst>
          </a:prstGeom>
          <a:solidFill>
            <a:srgbClr val="F3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5"/>
          <p:cNvSpPr/>
          <p:nvPr/>
        </p:nvSpPr>
        <p:spPr>
          <a:xfrm>
            <a:off x="841248" y="4178808"/>
            <a:ext cx="365700" cy="365700"/>
          </a:xfrm>
          <a:prstGeom prst="ellipse">
            <a:avLst/>
          </a:prstGeom>
          <a:solidFill>
            <a:srgbClr val="B07A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55"/>
          <p:cNvSpPr/>
          <p:nvPr/>
        </p:nvSpPr>
        <p:spPr>
          <a:xfrm>
            <a:off x="1389888" y="4105656"/>
            <a:ext cx="4434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entury Schoolbook"/>
              <a:buNone/>
            </a:pPr>
            <a:r>
              <a:rPr b="1" i="0" lang="en-US" sz="1800" u="none" cap="none" strike="noStrike">
                <a:solidFill>
                  <a:srgbClr val="1C1C1C"/>
                </a:solidFill>
              </a:rPr>
              <a:t>Alert volume</a:t>
            </a:r>
            <a:endParaRPr i="0" sz="1800" u="none" cap="none" strike="noStrike">
              <a:solidFill>
                <a:srgbClr val="000000"/>
              </a:solidFill>
            </a:endParaRPr>
          </a:p>
        </p:txBody>
      </p:sp>
      <p:sp>
        <p:nvSpPr>
          <p:cNvPr id="1450" name="Google Shape;1450;p55"/>
          <p:cNvSpPr/>
          <p:nvPr/>
        </p:nvSpPr>
        <p:spPr>
          <a:xfrm>
            <a:off x="1389901" y="4544575"/>
            <a:ext cx="46179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5A"/>
              </a:buClr>
              <a:buSzPts val="1250"/>
              <a:buFont typeface="Calibri"/>
              <a:buNone/>
            </a:pPr>
            <a:r>
              <a:rPr i="0" lang="en-US" u="none" cap="none" strike="noStrike">
                <a:solidFill>
                  <a:srgbClr val="5A5A5A"/>
                </a:solidFill>
              </a:rPr>
              <a:t>A sudden flood — or total silence — both signal problems.</a:t>
            </a:r>
            <a:endParaRPr i="0" u="none" cap="none" strike="noStrike">
              <a:solidFill>
                <a:srgbClr val="000000"/>
              </a:solidFill>
            </a:endParaRPr>
          </a:p>
        </p:txBody>
      </p:sp>
      <p:sp>
        <p:nvSpPr>
          <p:cNvPr id="1451" name="Google Shape;1451;p55"/>
          <p:cNvSpPr/>
          <p:nvPr/>
        </p:nvSpPr>
        <p:spPr>
          <a:xfrm>
            <a:off x="6309360" y="3886200"/>
            <a:ext cx="5440800" cy="1371600"/>
          </a:xfrm>
          <a:prstGeom prst="roundRect">
            <a:avLst>
              <a:gd fmla="val 4000" name="adj"/>
            </a:avLst>
          </a:prstGeom>
          <a:solidFill>
            <a:srgbClr val="F3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55"/>
          <p:cNvSpPr/>
          <p:nvPr/>
        </p:nvSpPr>
        <p:spPr>
          <a:xfrm>
            <a:off x="6583680" y="4178808"/>
            <a:ext cx="365700" cy="365700"/>
          </a:xfrm>
          <a:prstGeom prst="ellipse">
            <a:avLst/>
          </a:prstGeom>
          <a:solidFill>
            <a:srgbClr val="9E3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5"/>
          <p:cNvSpPr/>
          <p:nvPr/>
        </p:nvSpPr>
        <p:spPr>
          <a:xfrm>
            <a:off x="7132320" y="4105656"/>
            <a:ext cx="4434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600"/>
              <a:buFont typeface="Century Schoolbook"/>
              <a:buNone/>
            </a:pPr>
            <a:r>
              <a:rPr b="1" i="0" lang="en-US" sz="1800" u="none" cap="none" strike="noStrike">
                <a:solidFill>
                  <a:srgbClr val="1C1C1C"/>
                </a:solidFill>
              </a:rPr>
              <a:t>Confidence trend</a:t>
            </a:r>
            <a:endParaRPr i="0" sz="1800" u="none" cap="none" strike="noStrike">
              <a:solidFill>
                <a:srgbClr val="000000"/>
              </a:solidFill>
            </a:endParaRPr>
          </a:p>
        </p:txBody>
      </p:sp>
      <p:sp>
        <p:nvSpPr>
          <p:cNvPr id="1454" name="Google Shape;1454;p55"/>
          <p:cNvSpPr/>
          <p:nvPr/>
        </p:nvSpPr>
        <p:spPr>
          <a:xfrm>
            <a:off x="7132320" y="4544568"/>
            <a:ext cx="4343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A5A"/>
              </a:buClr>
              <a:buSzPts val="1250"/>
              <a:buFont typeface="Calibri"/>
              <a:buNone/>
            </a:pPr>
            <a:r>
              <a:rPr i="0" lang="en-US" u="none" cap="none" strike="noStrike">
                <a:solidFill>
                  <a:srgbClr val="5A5A5A"/>
                </a:solidFill>
              </a:rPr>
              <a:t>Falling confidence can mean the model is drifting.</a:t>
            </a:r>
            <a:endParaRPr i="0" u="none" cap="none" strike="noStrike">
              <a:solidFill>
                <a:srgbClr val="000000"/>
              </a:solidFill>
            </a:endParaRPr>
          </a:p>
        </p:txBody>
      </p:sp>
      <p:sp>
        <p:nvSpPr>
          <p:cNvPr id="1455" name="Google Shape;1455;p55"/>
          <p:cNvSpPr/>
          <p:nvPr/>
        </p:nvSpPr>
        <p:spPr>
          <a:xfrm>
            <a:off x="566928" y="5532120"/>
            <a:ext cx="11183100" cy="567000"/>
          </a:xfrm>
          <a:prstGeom prst="roundRect">
            <a:avLst>
              <a:gd fmla="val 9677" name="adj"/>
            </a:avLst>
          </a:prstGeom>
          <a:solidFill>
            <a:srgbClr val="1413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55"/>
          <p:cNvSpPr/>
          <p:nvPr/>
        </p:nvSpPr>
        <p:spPr>
          <a:xfrm>
            <a:off x="868680" y="5532120"/>
            <a:ext cx="106986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94E"/>
              </a:buClr>
              <a:buSzPts val="1400"/>
              <a:buFont typeface="Calibri"/>
              <a:buNone/>
            </a:pPr>
            <a:r>
              <a:rPr b="1" i="0" lang="en-US" sz="1400" u="none" cap="none" strike="noStrike">
                <a:solidFill>
                  <a:srgbClr val="C9A94E"/>
                </a:solidFill>
                <a:latin typeface="Calibri"/>
                <a:ea typeface="Calibri"/>
                <a:cs typeface="Calibri"/>
                <a:sym typeface="Calibri"/>
              </a:rPr>
              <a:t>Key idea:  </a:t>
            </a:r>
            <a:r>
              <a:rPr b="0" i="0" lang="en-US" sz="1400" u="none" cap="none" strike="noStrike">
                <a:solidFill>
                  <a:srgbClr val="FFFFFF"/>
                </a:solidFill>
                <a:latin typeface="Calibri"/>
                <a:ea typeface="Calibri"/>
                <a:cs typeface="Calibri"/>
                <a:sym typeface="Calibri"/>
              </a:rPr>
              <a:t>monitoring is part of the system, not an afterthought</a:t>
            </a:r>
            <a:r>
              <a:rPr lang="en-US">
                <a:solidFill>
                  <a:srgbClr val="FFFFFF"/>
                </a:solidFill>
                <a:latin typeface="Calibri"/>
                <a:ea typeface="Calibri"/>
                <a:cs typeface="Calibri"/>
                <a:sym typeface="Calibri"/>
              </a:rPr>
              <a:t>; </a:t>
            </a:r>
            <a:r>
              <a:rPr b="0" i="0" lang="en-US" sz="1400" u="none" cap="none" strike="noStrike">
                <a:solidFill>
                  <a:srgbClr val="FFFFFF"/>
                </a:solidFill>
                <a:latin typeface="Calibri"/>
                <a:ea typeface="Calibri"/>
                <a:cs typeface="Calibri"/>
                <a:sym typeface="Calibri"/>
              </a:rPr>
              <a:t> especially where safety is on the line.</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1" name="Shape 1461"/>
        <p:cNvGrpSpPr/>
        <p:nvPr/>
      </p:nvGrpSpPr>
      <p:grpSpPr>
        <a:xfrm>
          <a:off x="0" y="0"/>
          <a:ext cx="0" cy="0"/>
          <a:chOff x="0" y="0"/>
          <a:chExt cx="0" cy="0"/>
        </a:xfrm>
      </p:grpSpPr>
      <p:sp>
        <p:nvSpPr>
          <p:cNvPr id="1462" name="Google Shape;1462;p56"/>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ou_monogram_transparent.png" id="1463" name="Google Shape;1463;p56"/>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464" name="Google Shape;1464;p56"/>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p:txBody>
      </p:sp>
      <p:sp>
        <p:nvSpPr>
          <p:cNvPr id="1465" name="Google Shape;1465;p56"/>
          <p:cNvSpPr/>
          <p:nvPr/>
        </p:nvSpPr>
        <p:spPr>
          <a:xfrm>
            <a:off x="548640" y="292608"/>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p:txBody>
      </p:sp>
      <p:sp>
        <p:nvSpPr>
          <p:cNvPr id="1466" name="Google Shape;1466;p56"/>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How The System is Scored</a:t>
            </a:r>
            <a:endParaRPr b="1" sz="3000">
              <a:solidFill>
                <a:srgbClr val="1A1A1A"/>
              </a:solidFill>
              <a:latin typeface="Georgia"/>
              <a:ea typeface="Georgia"/>
              <a:cs typeface="Georgia"/>
              <a:sym typeface="Georgia"/>
            </a:endParaRPr>
          </a:p>
        </p:txBody>
      </p:sp>
      <p:sp>
        <p:nvSpPr>
          <p:cNvPr id="1467" name="Google Shape;1467;p56"/>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56"/>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469" name="Google Shape;1469;p56"/>
          <p:cNvSpPr/>
          <p:nvPr/>
        </p:nvSpPr>
        <p:spPr>
          <a:xfrm>
            <a:off x="566928" y="1783080"/>
            <a:ext cx="2377500" cy="457200"/>
          </a:xfrm>
          <a:prstGeom prst="rect">
            <a:avLst/>
          </a:prstGeom>
          <a:solidFill>
            <a:srgbClr val="172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56"/>
          <p:cNvSpPr/>
          <p:nvPr/>
        </p:nvSpPr>
        <p:spPr>
          <a:xfrm>
            <a:off x="676656" y="1783080"/>
            <a:ext cx="2157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u="none" cap="none" strike="noStrike">
                <a:solidFill>
                  <a:srgbClr val="FFFFFF"/>
                </a:solidFill>
              </a:rPr>
              <a:t>Metric</a:t>
            </a:r>
            <a:endParaRPr i="0" u="none" cap="none" strike="noStrike">
              <a:solidFill>
                <a:schemeClr val="dk1"/>
              </a:solidFill>
            </a:endParaRPr>
          </a:p>
        </p:txBody>
      </p:sp>
      <p:sp>
        <p:nvSpPr>
          <p:cNvPr id="1471" name="Google Shape;1471;p56"/>
          <p:cNvSpPr/>
          <p:nvPr/>
        </p:nvSpPr>
        <p:spPr>
          <a:xfrm>
            <a:off x="2944368" y="1783080"/>
            <a:ext cx="3977700" cy="457200"/>
          </a:xfrm>
          <a:prstGeom prst="rect">
            <a:avLst/>
          </a:prstGeom>
          <a:solidFill>
            <a:srgbClr val="172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6"/>
          <p:cNvSpPr/>
          <p:nvPr/>
        </p:nvSpPr>
        <p:spPr>
          <a:xfrm>
            <a:off x="3054096" y="1783080"/>
            <a:ext cx="375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u="none" cap="none" strike="noStrike">
                <a:solidFill>
                  <a:srgbClr val="FFFFFF"/>
                </a:solidFill>
              </a:rPr>
              <a:t>Definition</a:t>
            </a:r>
            <a:endParaRPr i="0" u="none" cap="none" strike="noStrike">
              <a:solidFill>
                <a:schemeClr val="dk1"/>
              </a:solidFill>
            </a:endParaRPr>
          </a:p>
        </p:txBody>
      </p:sp>
      <p:sp>
        <p:nvSpPr>
          <p:cNvPr id="1473" name="Google Shape;1473;p56"/>
          <p:cNvSpPr/>
          <p:nvPr/>
        </p:nvSpPr>
        <p:spPr>
          <a:xfrm>
            <a:off x="6922008" y="1783080"/>
            <a:ext cx="4663500" cy="457200"/>
          </a:xfrm>
          <a:prstGeom prst="rect">
            <a:avLst/>
          </a:prstGeom>
          <a:solidFill>
            <a:srgbClr val="172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6"/>
          <p:cNvSpPr/>
          <p:nvPr/>
        </p:nvSpPr>
        <p:spPr>
          <a:xfrm>
            <a:off x="7031736" y="1783080"/>
            <a:ext cx="4443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u="none" cap="none" strike="noStrike">
                <a:solidFill>
                  <a:srgbClr val="FFFFFF"/>
                </a:solidFill>
              </a:rPr>
              <a:t>What it tells you</a:t>
            </a:r>
            <a:endParaRPr i="0" u="none" cap="none" strike="noStrike">
              <a:solidFill>
                <a:schemeClr val="dk1"/>
              </a:solidFill>
            </a:endParaRPr>
          </a:p>
        </p:txBody>
      </p:sp>
      <p:sp>
        <p:nvSpPr>
          <p:cNvPr id="1475" name="Google Shape;1475;p56"/>
          <p:cNvSpPr/>
          <p:nvPr/>
        </p:nvSpPr>
        <p:spPr>
          <a:xfrm>
            <a:off x="566928" y="2240280"/>
            <a:ext cx="23775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6"/>
          <p:cNvSpPr/>
          <p:nvPr/>
        </p:nvSpPr>
        <p:spPr>
          <a:xfrm>
            <a:off x="676656" y="2240280"/>
            <a:ext cx="2157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1C1C1C"/>
              </a:buClr>
              <a:buSzPts val="1080"/>
              <a:buFont typeface="Arial"/>
              <a:buNone/>
            </a:pPr>
            <a:r>
              <a:rPr b="1" i="0" lang="en-US" sz="1200" u="none" cap="none" strike="noStrike">
                <a:solidFill>
                  <a:srgbClr val="1C1C1C"/>
                </a:solidFill>
              </a:rPr>
              <a:t>Detection latency</a:t>
            </a:r>
            <a:endParaRPr i="0" sz="1200" u="none" cap="none" strike="noStrike">
              <a:solidFill>
                <a:schemeClr val="dk1"/>
              </a:solidFill>
            </a:endParaRPr>
          </a:p>
        </p:txBody>
      </p:sp>
      <p:sp>
        <p:nvSpPr>
          <p:cNvPr id="1477" name="Google Shape;1477;p56"/>
          <p:cNvSpPr/>
          <p:nvPr/>
        </p:nvSpPr>
        <p:spPr>
          <a:xfrm>
            <a:off x="2944368" y="2240280"/>
            <a:ext cx="39777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6"/>
          <p:cNvSpPr/>
          <p:nvPr/>
        </p:nvSpPr>
        <p:spPr>
          <a:xfrm>
            <a:off x="3054096" y="2240280"/>
            <a:ext cx="3758100" cy="6948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444444"/>
              </a:buClr>
              <a:buSzPts val="950"/>
              <a:buFont typeface="Courier New"/>
              <a:buNone/>
            </a:pPr>
            <a:r>
              <a:rPr i="0" lang="en-US" sz="1200" u="none" cap="none" strike="noStrike">
                <a:solidFill>
                  <a:srgbClr val="444444"/>
                </a:solidFill>
              </a:rPr>
              <a:t>t(first alert) − t(anomaly onset)</a:t>
            </a:r>
            <a:endParaRPr i="0" sz="1200" u="none" cap="none" strike="noStrike">
              <a:solidFill>
                <a:schemeClr val="dk1"/>
              </a:solidFill>
            </a:endParaRPr>
          </a:p>
        </p:txBody>
      </p:sp>
      <p:sp>
        <p:nvSpPr>
          <p:cNvPr id="1479" name="Google Shape;1479;p56"/>
          <p:cNvSpPr/>
          <p:nvPr/>
        </p:nvSpPr>
        <p:spPr>
          <a:xfrm>
            <a:off x="6922008" y="2240280"/>
            <a:ext cx="46635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6"/>
          <p:cNvSpPr/>
          <p:nvPr/>
        </p:nvSpPr>
        <p:spPr>
          <a:xfrm>
            <a:off x="7031736" y="2240280"/>
            <a:ext cx="4443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444444"/>
              </a:buClr>
              <a:buSzPts val="1080"/>
              <a:buFont typeface="Arial"/>
              <a:buNone/>
            </a:pPr>
            <a:r>
              <a:rPr i="0" lang="en-US" sz="1200" u="none" cap="none" strike="noStrike">
                <a:solidFill>
                  <a:srgbClr val="444444"/>
                </a:solidFill>
              </a:rPr>
              <a:t>how many windows pass before the attack is surfaced</a:t>
            </a:r>
            <a:endParaRPr i="0" sz="1200" u="none" cap="none" strike="noStrike">
              <a:solidFill>
                <a:schemeClr val="dk1"/>
              </a:solidFill>
            </a:endParaRPr>
          </a:p>
        </p:txBody>
      </p:sp>
      <p:sp>
        <p:nvSpPr>
          <p:cNvPr id="1481" name="Google Shape;1481;p56"/>
          <p:cNvSpPr/>
          <p:nvPr/>
        </p:nvSpPr>
        <p:spPr>
          <a:xfrm>
            <a:off x="566928" y="2935224"/>
            <a:ext cx="2377500" cy="6948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6"/>
          <p:cNvSpPr/>
          <p:nvPr/>
        </p:nvSpPr>
        <p:spPr>
          <a:xfrm>
            <a:off x="676656" y="2935224"/>
            <a:ext cx="2157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1C1C1C"/>
              </a:buClr>
              <a:buSzPts val="1080"/>
              <a:buFont typeface="Arial"/>
              <a:buNone/>
            </a:pPr>
            <a:r>
              <a:rPr b="1" i="0" lang="en-US" sz="1200" u="none" cap="none" strike="noStrike">
                <a:solidFill>
                  <a:srgbClr val="1C1C1C"/>
                </a:solidFill>
              </a:rPr>
              <a:t>False alarms / hour</a:t>
            </a:r>
            <a:endParaRPr i="0" sz="1200" u="none" cap="none" strike="noStrike">
              <a:solidFill>
                <a:schemeClr val="dk1"/>
              </a:solidFill>
            </a:endParaRPr>
          </a:p>
        </p:txBody>
      </p:sp>
      <p:sp>
        <p:nvSpPr>
          <p:cNvPr id="1483" name="Google Shape;1483;p56"/>
          <p:cNvSpPr/>
          <p:nvPr/>
        </p:nvSpPr>
        <p:spPr>
          <a:xfrm>
            <a:off x="2944368" y="2935224"/>
            <a:ext cx="3977700" cy="6948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6"/>
          <p:cNvSpPr/>
          <p:nvPr/>
        </p:nvSpPr>
        <p:spPr>
          <a:xfrm>
            <a:off x="3054096" y="2935224"/>
            <a:ext cx="3758100" cy="6948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444444"/>
              </a:buClr>
              <a:buSzPts val="950"/>
              <a:buFont typeface="Courier New"/>
              <a:buNone/>
            </a:pPr>
            <a:r>
              <a:rPr i="0" lang="en-US" sz="1200" u="none" cap="none" strike="noStrike">
                <a:solidFill>
                  <a:srgbClr val="444444"/>
                </a:solidFill>
              </a:rPr>
              <a:t>alerts emitted on the Normal scenario ÷ hours</a:t>
            </a:r>
            <a:endParaRPr i="0" sz="1200" u="none" cap="none" strike="noStrike">
              <a:solidFill>
                <a:schemeClr val="dk1"/>
              </a:solidFill>
            </a:endParaRPr>
          </a:p>
        </p:txBody>
      </p:sp>
      <p:sp>
        <p:nvSpPr>
          <p:cNvPr id="1485" name="Google Shape;1485;p56"/>
          <p:cNvSpPr/>
          <p:nvPr/>
        </p:nvSpPr>
        <p:spPr>
          <a:xfrm>
            <a:off x="6922008" y="2935224"/>
            <a:ext cx="4663500" cy="6948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56"/>
          <p:cNvSpPr/>
          <p:nvPr/>
        </p:nvSpPr>
        <p:spPr>
          <a:xfrm>
            <a:off x="7031736" y="2935224"/>
            <a:ext cx="4443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444444"/>
              </a:buClr>
              <a:buSzPts val="1080"/>
              <a:buFont typeface="Arial"/>
              <a:buNone/>
            </a:pPr>
            <a:r>
              <a:rPr i="0" lang="en-US" sz="1200" u="none" cap="none" strike="noStrike">
                <a:solidFill>
                  <a:srgbClr val="444444"/>
                </a:solidFill>
              </a:rPr>
              <a:t>the cost of </a:t>
            </a:r>
            <a:r>
              <a:rPr lang="en-US" sz="1200">
                <a:solidFill>
                  <a:srgbClr val="444444"/>
                </a:solidFill>
              </a:rPr>
              <a:t>confidence </a:t>
            </a:r>
            <a:r>
              <a:rPr i="0" lang="en-US" sz="1200" u="none" cap="none" strike="noStrike">
                <a:solidFill>
                  <a:srgbClr val="444444"/>
                </a:solidFill>
              </a:rPr>
              <a:t>set too low</a:t>
            </a:r>
            <a:endParaRPr i="0" sz="1200" u="none" cap="none" strike="noStrike">
              <a:solidFill>
                <a:schemeClr val="dk1"/>
              </a:solidFill>
            </a:endParaRPr>
          </a:p>
        </p:txBody>
      </p:sp>
      <p:sp>
        <p:nvSpPr>
          <p:cNvPr id="1487" name="Google Shape;1487;p56"/>
          <p:cNvSpPr/>
          <p:nvPr/>
        </p:nvSpPr>
        <p:spPr>
          <a:xfrm>
            <a:off x="566928" y="3630168"/>
            <a:ext cx="23775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6"/>
          <p:cNvSpPr/>
          <p:nvPr/>
        </p:nvSpPr>
        <p:spPr>
          <a:xfrm>
            <a:off x="676656" y="3630168"/>
            <a:ext cx="2157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1C1C1C"/>
              </a:buClr>
              <a:buSzPts val="1080"/>
              <a:buFont typeface="Arial"/>
              <a:buNone/>
            </a:pPr>
            <a:r>
              <a:rPr b="1" i="0" lang="en-US" sz="1200" u="none" cap="none" strike="noStrike">
                <a:solidFill>
                  <a:srgbClr val="1C1C1C"/>
                </a:solidFill>
              </a:rPr>
              <a:t>Per-class P / R / F1</a:t>
            </a:r>
            <a:endParaRPr i="0" sz="1200" u="none" cap="none" strike="noStrike">
              <a:solidFill>
                <a:schemeClr val="dk1"/>
              </a:solidFill>
            </a:endParaRPr>
          </a:p>
        </p:txBody>
      </p:sp>
      <p:sp>
        <p:nvSpPr>
          <p:cNvPr id="1489" name="Google Shape;1489;p56"/>
          <p:cNvSpPr/>
          <p:nvPr/>
        </p:nvSpPr>
        <p:spPr>
          <a:xfrm>
            <a:off x="2944368" y="3630168"/>
            <a:ext cx="39777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56"/>
          <p:cNvSpPr/>
          <p:nvPr/>
        </p:nvSpPr>
        <p:spPr>
          <a:xfrm>
            <a:off x="3054096" y="3630168"/>
            <a:ext cx="3758100" cy="6948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444444"/>
              </a:buClr>
              <a:buSzPts val="950"/>
              <a:buFont typeface="Courier New"/>
              <a:buNone/>
            </a:pPr>
            <a:r>
              <a:rPr i="0" lang="en-US" sz="1200" u="none" cap="none" strike="noStrike">
                <a:solidFill>
                  <a:srgbClr val="444444"/>
                </a:solidFill>
              </a:rPr>
              <a:t>computed on labeled replay, per class</a:t>
            </a:r>
            <a:endParaRPr i="0" sz="1200" u="none" cap="none" strike="noStrike">
              <a:solidFill>
                <a:schemeClr val="dk1"/>
              </a:solidFill>
            </a:endParaRPr>
          </a:p>
        </p:txBody>
      </p:sp>
      <p:sp>
        <p:nvSpPr>
          <p:cNvPr id="1491" name="Google Shape;1491;p56"/>
          <p:cNvSpPr/>
          <p:nvPr/>
        </p:nvSpPr>
        <p:spPr>
          <a:xfrm>
            <a:off x="6922008" y="3630168"/>
            <a:ext cx="46635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6"/>
          <p:cNvSpPr/>
          <p:nvPr/>
        </p:nvSpPr>
        <p:spPr>
          <a:xfrm>
            <a:off x="7031736" y="3630168"/>
            <a:ext cx="4443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444444"/>
              </a:buClr>
              <a:buSzPts val="1080"/>
              <a:buFont typeface="Arial"/>
              <a:buNone/>
            </a:pPr>
            <a:r>
              <a:rPr i="0" lang="en-US" sz="1200" u="none" cap="none" strike="noStrike">
                <a:solidFill>
                  <a:srgbClr val="444444"/>
                </a:solidFill>
              </a:rPr>
              <a:t>Physical and Network are scored separately — a detector can be good at one and blind to the other</a:t>
            </a:r>
            <a:endParaRPr i="0" sz="1200" u="none" cap="none" strike="noStrike">
              <a:solidFill>
                <a:schemeClr val="dk1"/>
              </a:solidFill>
            </a:endParaRPr>
          </a:p>
        </p:txBody>
      </p:sp>
      <p:sp>
        <p:nvSpPr>
          <p:cNvPr id="1493" name="Google Shape;1493;p56"/>
          <p:cNvSpPr/>
          <p:nvPr/>
        </p:nvSpPr>
        <p:spPr>
          <a:xfrm>
            <a:off x="566928" y="4325112"/>
            <a:ext cx="2377500" cy="6948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6"/>
          <p:cNvSpPr/>
          <p:nvPr/>
        </p:nvSpPr>
        <p:spPr>
          <a:xfrm>
            <a:off x="676656" y="4325112"/>
            <a:ext cx="2157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1C1C1C"/>
              </a:buClr>
              <a:buSzPts val="1080"/>
              <a:buFont typeface="Arial"/>
              <a:buNone/>
            </a:pPr>
            <a:r>
              <a:rPr b="1" i="0" lang="en-US" sz="1200" u="none" cap="none" strike="noStrike">
                <a:solidFill>
                  <a:srgbClr val="1C1C1C"/>
                </a:solidFill>
              </a:rPr>
              <a:t>Suppression ratio</a:t>
            </a:r>
            <a:endParaRPr i="0" sz="1200" u="none" cap="none" strike="noStrike">
              <a:solidFill>
                <a:schemeClr val="dk1"/>
              </a:solidFill>
            </a:endParaRPr>
          </a:p>
        </p:txBody>
      </p:sp>
      <p:sp>
        <p:nvSpPr>
          <p:cNvPr id="1495" name="Google Shape;1495;p56"/>
          <p:cNvSpPr/>
          <p:nvPr/>
        </p:nvSpPr>
        <p:spPr>
          <a:xfrm>
            <a:off x="2944368" y="4325112"/>
            <a:ext cx="3977700" cy="6948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6"/>
          <p:cNvSpPr/>
          <p:nvPr/>
        </p:nvSpPr>
        <p:spPr>
          <a:xfrm>
            <a:off x="3054096" y="4325112"/>
            <a:ext cx="3758100" cy="6948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444444"/>
              </a:buClr>
              <a:buSzPts val="950"/>
              <a:buFont typeface="Courier New"/>
              <a:buNone/>
            </a:pPr>
            <a:r>
              <a:rPr i="0" lang="en-US" sz="1200" u="none" cap="none" strike="noStrike">
                <a:solidFill>
                  <a:srgbClr val="444444"/>
                </a:solidFill>
              </a:rPr>
              <a:t>raw detections → surfaced alerts (e.g., 87 → 4)</a:t>
            </a:r>
            <a:endParaRPr i="0" sz="1200" u="none" cap="none" strike="noStrike">
              <a:solidFill>
                <a:schemeClr val="dk1"/>
              </a:solidFill>
            </a:endParaRPr>
          </a:p>
        </p:txBody>
      </p:sp>
      <p:sp>
        <p:nvSpPr>
          <p:cNvPr id="1497" name="Google Shape;1497;p56"/>
          <p:cNvSpPr/>
          <p:nvPr/>
        </p:nvSpPr>
        <p:spPr>
          <a:xfrm>
            <a:off x="6922008" y="4325112"/>
            <a:ext cx="4663500" cy="694800"/>
          </a:xfrm>
          <a:prstGeom prst="rect">
            <a:avLst/>
          </a:prstGeom>
          <a:solidFill>
            <a:srgbClr val="FAF8F3"/>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6"/>
          <p:cNvSpPr/>
          <p:nvPr/>
        </p:nvSpPr>
        <p:spPr>
          <a:xfrm>
            <a:off x="7031736" y="4325112"/>
            <a:ext cx="4443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444444"/>
              </a:buClr>
              <a:buSzPts val="1080"/>
              <a:buFont typeface="Arial"/>
              <a:buNone/>
            </a:pPr>
            <a:r>
              <a:rPr i="0" lang="en-US" sz="1200" u="none" cap="none" strike="noStrike">
                <a:solidFill>
                  <a:srgbClr val="444444"/>
                </a:solidFill>
              </a:rPr>
              <a:t>what cooldown buys the operator</a:t>
            </a:r>
            <a:endParaRPr i="0" sz="1200" u="none" cap="none" strike="noStrike">
              <a:solidFill>
                <a:schemeClr val="dk1"/>
              </a:solidFill>
            </a:endParaRPr>
          </a:p>
        </p:txBody>
      </p:sp>
      <p:sp>
        <p:nvSpPr>
          <p:cNvPr id="1499" name="Google Shape;1499;p56"/>
          <p:cNvSpPr/>
          <p:nvPr/>
        </p:nvSpPr>
        <p:spPr>
          <a:xfrm>
            <a:off x="566928" y="5020056"/>
            <a:ext cx="23775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6"/>
          <p:cNvSpPr/>
          <p:nvPr/>
        </p:nvSpPr>
        <p:spPr>
          <a:xfrm>
            <a:off x="676656" y="5020056"/>
            <a:ext cx="2157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1C1C1C"/>
              </a:buClr>
              <a:buSzPts val="1080"/>
              <a:buFont typeface="Arial"/>
              <a:buNone/>
            </a:pPr>
            <a:r>
              <a:rPr b="1" i="0" lang="en-US" sz="1200" u="none" cap="none" strike="noStrike">
                <a:solidFill>
                  <a:srgbClr val="1C1C1C"/>
                </a:solidFill>
              </a:rPr>
              <a:t>p95 latency &amp; throughput</a:t>
            </a:r>
            <a:endParaRPr i="0" sz="1200" u="none" cap="none" strike="noStrike">
              <a:solidFill>
                <a:schemeClr val="dk1"/>
              </a:solidFill>
            </a:endParaRPr>
          </a:p>
        </p:txBody>
      </p:sp>
      <p:sp>
        <p:nvSpPr>
          <p:cNvPr id="1501" name="Google Shape;1501;p56"/>
          <p:cNvSpPr/>
          <p:nvPr/>
        </p:nvSpPr>
        <p:spPr>
          <a:xfrm>
            <a:off x="2944368" y="5020056"/>
            <a:ext cx="39777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6"/>
          <p:cNvSpPr/>
          <p:nvPr/>
        </p:nvSpPr>
        <p:spPr>
          <a:xfrm>
            <a:off x="3054096" y="5020056"/>
            <a:ext cx="3758100" cy="694800"/>
          </a:xfrm>
          <a:prstGeom prst="rect">
            <a:avLst/>
          </a:prstGeom>
          <a:noFill/>
          <a:ln>
            <a:noFill/>
          </a:ln>
        </p:spPr>
        <p:txBody>
          <a:bodyPr anchorCtr="0" anchor="ctr" bIns="0" lIns="0" spcFirstLastPara="1" rIns="0" wrap="square" tIns="0">
            <a:noAutofit/>
          </a:bodyPr>
          <a:lstStyle/>
          <a:p>
            <a:pPr indent="0" lvl="0" marL="0" marR="0" rtl="0" algn="l">
              <a:lnSpc>
                <a:spcPct val="131579"/>
              </a:lnSpc>
              <a:spcBef>
                <a:spcPts val="0"/>
              </a:spcBef>
              <a:spcAft>
                <a:spcPts val="0"/>
              </a:spcAft>
              <a:buClr>
                <a:srgbClr val="444444"/>
              </a:buClr>
              <a:buSzPts val="950"/>
              <a:buFont typeface="Courier New"/>
              <a:buNone/>
            </a:pPr>
            <a:r>
              <a:rPr i="0" lang="en-US" sz="1200" u="none" cap="none" strike="noStrike">
                <a:solidFill>
                  <a:srgbClr val="444444"/>
                </a:solidFill>
              </a:rPr>
              <a:t>from the monitor, during the same replay</a:t>
            </a:r>
            <a:endParaRPr i="0" sz="1200" u="none" cap="none" strike="noStrike">
              <a:solidFill>
                <a:schemeClr val="dk1"/>
              </a:solidFill>
            </a:endParaRPr>
          </a:p>
        </p:txBody>
      </p:sp>
      <p:sp>
        <p:nvSpPr>
          <p:cNvPr id="1503" name="Google Shape;1503;p56"/>
          <p:cNvSpPr/>
          <p:nvPr/>
        </p:nvSpPr>
        <p:spPr>
          <a:xfrm>
            <a:off x="6922008" y="5020056"/>
            <a:ext cx="4663500" cy="694800"/>
          </a:xfrm>
          <a:prstGeom prst="rect">
            <a:avLst/>
          </a:prstGeom>
          <a:solidFill>
            <a:srgbClr val="FFFFFF"/>
          </a:solidFill>
          <a:ln cap="flat" cmpd="sng" w="9525">
            <a:solidFill>
              <a:srgbClr val="E3DF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6"/>
          <p:cNvSpPr/>
          <p:nvPr/>
        </p:nvSpPr>
        <p:spPr>
          <a:xfrm>
            <a:off x="7031736" y="5020056"/>
            <a:ext cx="4443900" cy="694800"/>
          </a:xfrm>
          <a:prstGeom prst="rect">
            <a:avLst/>
          </a:prstGeom>
          <a:noFill/>
          <a:ln>
            <a:noFill/>
          </a:ln>
        </p:spPr>
        <p:txBody>
          <a:bodyPr anchorCtr="0" anchor="ctr" bIns="0" lIns="0" spcFirstLastPara="1" rIns="0" wrap="square" tIns="0">
            <a:noAutofit/>
          </a:bodyPr>
          <a:lstStyle/>
          <a:p>
            <a:pPr indent="0" lvl="0" marL="0" marR="0" rtl="0" algn="l">
              <a:lnSpc>
                <a:spcPct val="115740"/>
              </a:lnSpc>
              <a:spcBef>
                <a:spcPts val="0"/>
              </a:spcBef>
              <a:spcAft>
                <a:spcPts val="0"/>
              </a:spcAft>
              <a:buClr>
                <a:srgbClr val="444444"/>
              </a:buClr>
              <a:buSzPts val="1080"/>
              <a:buFont typeface="Arial"/>
              <a:buNone/>
            </a:pPr>
            <a:r>
              <a:rPr i="0" lang="en-US" sz="1200" u="none" cap="none" strike="noStrike">
                <a:solidFill>
                  <a:srgbClr val="444444"/>
                </a:solidFill>
              </a:rPr>
              <a:t>correctness numbers only count if the deadline holds</a:t>
            </a:r>
            <a:endParaRPr i="0" sz="1200" u="none" cap="none" strike="noStrike">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8" name="Shape 1508"/>
        <p:cNvGrpSpPr/>
        <p:nvPr/>
      </p:nvGrpSpPr>
      <p:grpSpPr>
        <a:xfrm>
          <a:off x="0" y="0"/>
          <a:ext cx="0" cy="0"/>
          <a:chOff x="0" y="0"/>
          <a:chExt cx="0" cy="0"/>
        </a:xfrm>
      </p:grpSpPr>
      <p:sp>
        <p:nvSpPr>
          <p:cNvPr id="1509" name="Google Shape;1509;p57"/>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510" name="Google Shape;1510;p57"/>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511" name="Google Shape;1511;p57"/>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3 · Real-Time Inference &amp; Alerts</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512" name="Google Shape;1512;p57"/>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HANDS-ON</a:t>
            </a:r>
            <a:endParaRPr b="0" i="0" sz="1000" u="none" cap="none" strike="noStrike">
              <a:solidFill>
                <a:schemeClr val="dk1"/>
              </a:solidFill>
              <a:latin typeface="Calibri"/>
              <a:ea typeface="Calibri"/>
              <a:cs typeface="Calibri"/>
              <a:sym typeface="Calibri"/>
            </a:endParaRPr>
          </a:p>
        </p:txBody>
      </p:sp>
      <p:sp>
        <p:nvSpPr>
          <p:cNvPr id="1513" name="Google Shape;1513;p57"/>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What You'll Implement</a:t>
            </a:r>
            <a:endParaRPr b="0" i="0" sz="3000" u="none" cap="none" strike="noStrike">
              <a:solidFill>
                <a:schemeClr val="dk1"/>
              </a:solidFill>
              <a:latin typeface="Calibri"/>
              <a:ea typeface="Calibri"/>
              <a:cs typeface="Calibri"/>
              <a:sym typeface="Calibri"/>
            </a:endParaRPr>
          </a:p>
        </p:txBody>
      </p:sp>
      <p:sp>
        <p:nvSpPr>
          <p:cNvPr id="1514" name="Google Shape;1514;p57"/>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57"/>
          <p:cNvSpPr/>
          <p:nvPr/>
        </p:nvSpPr>
        <p:spPr>
          <a:xfrm>
            <a:off x="5712594" y="6001396"/>
            <a:ext cx="5211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A8A"/>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1516" name="Google Shape;1516;p57"/>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517" name="Google Shape;1517;p57"/>
          <p:cNvSpPr/>
          <p:nvPr/>
        </p:nvSpPr>
        <p:spPr>
          <a:xfrm>
            <a:off x="620600" y="1325875"/>
            <a:ext cx="10307700" cy="3617100"/>
          </a:xfrm>
          <a:prstGeom prst="rect">
            <a:avLst/>
          </a:prstGeom>
          <a:noFill/>
          <a:ln>
            <a:noFill/>
          </a:ln>
        </p:spPr>
        <p:txBody>
          <a:bodyPr anchorCtr="0" anchor="ctr" bIns="45700" lIns="91425" spcFirstLastPara="1" rIns="91425" wrap="square" tIns="45700">
            <a:noAutofit/>
          </a:bodyPr>
          <a:lstStyle/>
          <a:p>
            <a:pPr indent="-342900" lvl="0" marL="457200" rtl="0" algn="l">
              <a:spcBef>
                <a:spcPts val="800"/>
              </a:spcBef>
              <a:spcAft>
                <a:spcPts val="0"/>
              </a:spcAft>
              <a:buClr>
                <a:srgbClr val="1A1A1A"/>
              </a:buClr>
              <a:buSzPts val="1800"/>
              <a:buChar char="■"/>
            </a:pPr>
            <a:r>
              <a:rPr b="1" lang="en-US" sz="1800">
                <a:solidFill>
                  <a:schemeClr val="dk1"/>
                </a:solidFill>
              </a:rPr>
              <a:t>Review Key Ideas</a:t>
            </a:r>
            <a:endParaRPr b="1" sz="1800">
              <a:solidFill>
                <a:srgbClr val="1A1A1A"/>
              </a:solidFill>
            </a:endParaRPr>
          </a:p>
          <a:p>
            <a:pPr indent="-330200" lvl="1" marL="914400" rtl="0" algn="l">
              <a:spcBef>
                <a:spcPts val="400"/>
              </a:spcBef>
              <a:spcAft>
                <a:spcPts val="0"/>
              </a:spcAft>
              <a:buClr>
                <a:srgbClr val="B8932E"/>
              </a:buClr>
              <a:buSzPts val="1600"/>
              <a:buChar char="—"/>
            </a:pPr>
            <a:r>
              <a:rPr lang="en-US" sz="1600">
                <a:solidFill>
                  <a:srgbClr val="404040"/>
                </a:solidFill>
              </a:rPr>
              <a:t>Real-time streaming and continuous data processing.</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Confidence-based inference and decision making.</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Intelligent alerting: cooldown,severity and false-positive reduction</a:t>
            </a:r>
            <a:endParaRPr sz="1600">
              <a:solidFill>
                <a:srgbClr val="404040"/>
              </a:solidFill>
            </a:endParaRPr>
          </a:p>
          <a:p>
            <a:pPr indent="0" lvl="0" marL="914400" marR="0" rtl="0" algn="l">
              <a:lnSpc>
                <a:spcPct val="100000"/>
              </a:lnSpc>
              <a:spcBef>
                <a:spcPts val="400"/>
              </a:spcBef>
              <a:spcAft>
                <a:spcPts val="0"/>
              </a:spcAft>
              <a:buNone/>
            </a:pPr>
            <a:r>
              <a:t/>
            </a:r>
            <a:endParaRPr sz="1600">
              <a:solidFill>
                <a:srgbClr val="404040"/>
              </a:solidFill>
            </a:endParaRPr>
          </a:p>
          <a:p>
            <a:pPr indent="0" lvl="0" marL="0" marR="0" rtl="0" algn="l">
              <a:lnSpc>
                <a:spcPct val="100000"/>
              </a:lnSpc>
              <a:spcBef>
                <a:spcPts val="200"/>
              </a:spcBef>
              <a:spcAft>
                <a:spcPts val="0"/>
              </a:spcAft>
              <a:buClr>
                <a:srgbClr val="000000"/>
              </a:buClr>
              <a:buSzPts val="800"/>
              <a:buFont typeface="Arial"/>
              <a:buNone/>
            </a:pPr>
            <a:r>
              <a:t/>
            </a:r>
            <a:endParaRPr i="0" sz="800" u="none" cap="none" strike="noStrike">
              <a:solidFill>
                <a:srgbClr val="1A1A1A"/>
              </a:solidFill>
            </a:endParaRPr>
          </a:p>
          <a:p>
            <a:pPr indent="0" lvl="0" marL="457200" marR="0" rtl="0" algn="l">
              <a:lnSpc>
                <a:spcPct val="100000"/>
              </a:lnSpc>
              <a:spcBef>
                <a:spcPts val="800"/>
              </a:spcBef>
              <a:spcAft>
                <a:spcPts val="0"/>
              </a:spcAft>
              <a:buNone/>
            </a:pPr>
            <a:r>
              <a:t/>
            </a:r>
            <a:endParaRPr i="0" sz="1600" u="none" cap="none" strike="noStrike">
              <a:solidFill>
                <a:schemeClr val="dk1"/>
              </a:solidFill>
            </a:endParaRPr>
          </a:p>
        </p:txBody>
      </p:sp>
      <p:sp>
        <p:nvSpPr>
          <p:cNvPr id="1518" name="Google Shape;1518;p57"/>
          <p:cNvSpPr/>
          <p:nvPr/>
        </p:nvSpPr>
        <p:spPr>
          <a:xfrm>
            <a:off x="724550" y="2384300"/>
            <a:ext cx="10307700" cy="3617100"/>
          </a:xfrm>
          <a:prstGeom prst="rect">
            <a:avLst/>
          </a:prstGeom>
          <a:noFill/>
          <a:ln>
            <a:noFill/>
          </a:ln>
        </p:spPr>
        <p:txBody>
          <a:bodyPr anchorCtr="0" anchor="ctr" bIns="45700" lIns="91425" spcFirstLastPara="1" rIns="91425" wrap="square" tIns="45700">
            <a:noAutofit/>
          </a:bodyPr>
          <a:lstStyle/>
          <a:p>
            <a:pPr indent="0" lvl="0" marL="0" rtl="0" algn="l">
              <a:spcBef>
                <a:spcPts val="800"/>
              </a:spcBef>
              <a:spcAft>
                <a:spcPts val="0"/>
              </a:spcAft>
              <a:buNone/>
            </a:pPr>
            <a:r>
              <a:t/>
            </a:r>
            <a:endParaRPr sz="1600">
              <a:solidFill>
                <a:srgbClr val="404040"/>
              </a:solidFill>
            </a:endParaRPr>
          </a:p>
          <a:p>
            <a:pPr indent="0" lvl="0" marL="0" marR="0" rtl="0" algn="l">
              <a:lnSpc>
                <a:spcPct val="100000"/>
              </a:lnSpc>
              <a:spcBef>
                <a:spcPts val="200"/>
              </a:spcBef>
              <a:spcAft>
                <a:spcPts val="0"/>
              </a:spcAft>
              <a:buClr>
                <a:srgbClr val="000000"/>
              </a:buClr>
              <a:buSzPts val="800"/>
              <a:buFont typeface="Arial"/>
              <a:buNone/>
            </a:pPr>
            <a:r>
              <a:t/>
            </a:r>
            <a:endParaRPr i="0" sz="800" u="none" cap="none" strike="noStrike">
              <a:solidFill>
                <a:srgbClr val="1A1A1A"/>
              </a:solidFill>
            </a:endParaRPr>
          </a:p>
          <a:p>
            <a:pPr indent="-355600" lvl="0" marL="342900" marR="0" rtl="0" algn="l">
              <a:lnSpc>
                <a:spcPct val="100000"/>
              </a:lnSpc>
              <a:spcBef>
                <a:spcPts val="800"/>
              </a:spcBef>
              <a:spcAft>
                <a:spcPts val="0"/>
              </a:spcAft>
              <a:buClr>
                <a:srgbClr val="1A1A1A"/>
              </a:buClr>
              <a:buSzPts val="1800"/>
              <a:buChar char="■"/>
            </a:pPr>
            <a:r>
              <a:rPr b="1" i="0" lang="en-US" sz="1800" u="none" cap="none" strike="noStrike">
                <a:solidFill>
                  <a:srgbClr val="1A1A1A"/>
                </a:solidFill>
              </a:rPr>
              <a:t>Analyze</a:t>
            </a:r>
            <a:endParaRPr i="0" sz="1800" u="none" cap="none" strike="noStrike">
              <a:solidFill>
                <a:schemeClr val="dk1"/>
              </a:solidFill>
            </a:endParaRPr>
          </a:p>
          <a:p>
            <a:pPr indent="-330200" lvl="1" marL="914400" rtl="0" algn="l">
              <a:spcBef>
                <a:spcPts val="400"/>
              </a:spcBef>
              <a:spcAft>
                <a:spcPts val="0"/>
              </a:spcAft>
              <a:buClr>
                <a:srgbClr val="B8932E"/>
              </a:buClr>
              <a:buSzPts val="1600"/>
              <a:buChar char="—"/>
            </a:pPr>
            <a:r>
              <a:rPr lang="en-US" sz="1600">
                <a:solidFill>
                  <a:srgbClr val="404040"/>
                </a:solidFill>
              </a:rPr>
              <a:t>Simulate and process a live sensor +network data stream</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Run a live inference engine with confidence-based alerting.</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Explore the security alert dashboard and timeline.</a:t>
            </a:r>
            <a:endParaRPr i="0" sz="1600" u="none" cap="none" strike="noStrike">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1523" name="Shape 1523"/>
        <p:cNvGrpSpPr/>
        <p:nvPr/>
      </p:nvGrpSpPr>
      <p:grpSpPr>
        <a:xfrm>
          <a:off x="0" y="0"/>
          <a:ext cx="0" cy="0"/>
          <a:chOff x="0" y="0"/>
          <a:chExt cx="0" cy="0"/>
        </a:xfrm>
      </p:grpSpPr>
      <p:sp>
        <p:nvSpPr>
          <p:cNvPr id="1524" name="Google Shape;1524;p58"/>
          <p:cNvSpPr/>
          <p:nvPr/>
        </p:nvSpPr>
        <p:spPr>
          <a:xfrm>
            <a:off x="777240" y="21945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8932E"/>
              </a:buClr>
              <a:buSzPts val="1300"/>
              <a:buFont typeface="Arial"/>
              <a:buNone/>
            </a:pPr>
            <a:r>
              <a:rPr b="1" i="0" lang="en-US" sz="1300" u="none" cap="none" strike="noStrike">
                <a:solidFill>
                  <a:srgbClr val="B8932E"/>
                </a:solidFill>
                <a:latin typeface="Arial"/>
                <a:ea typeface="Arial"/>
                <a:cs typeface="Arial"/>
                <a:sym typeface="Arial"/>
              </a:rPr>
              <a:t>MODULE 5.</a:t>
            </a:r>
            <a:r>
              <a:rPr b="1" lang="en-US" sz="1300">
                <a:solidFill>
                  <a:srgbClr val="B8932E"/>
                </a:solidFill>
              </a:rPr>
              <a:t>4</a:t>
            </a:r>
            <a:r>
              <a:rPr b="1" i="0" lang="en-US" sz="1300" u="none" cap="none" strike="noStrike">
                <a:solidFill>
                  <a:srgbClr val="B8932E"/>
                </a:solidFill>
                <a:latin typeface="Arial"/>
                <a:ea typeface="Arial"/>
                <a:cs typeface="Arial"/>
                <a:sym typeface="Arial"/>
              </a:rPr>
              <a:t>   ·   TOPIC </a:t>
            </a:r>
            <a:r>
              <a:rPr b="1" lang="en-US" sz="1300">
                <a:solidFill>
                  <a:srgbClr val="B8932E"/>
                </a:solidFill>
              </a:rPr>
              <a:t>4</a:t>
            </a:r>
            <a:r>
              <a:rPr b="1" i="0" lang="en-US" sz="1300" u="none" cap="none" strike="noStrike">
                <a:solidFill>
                  <a:srgbClr val="B8932E"/>
                </a:solidFill>
                <a:latin typeface="Arial"/>
                <a:ea typeface="Arial"/>
                <a:cs typeface="Arial"/>
                <a:sym typeface="Arial"/>
              </a:rPr>
              <a:t>  </a:t>
            </a:r>
            <a:endParaRPr b="0" i="0" sz="1300" u="none" cap="none" strike="noStrike">
              <a:solidFill>
                <a:schemeClr val="dk1"/>
              </a:solidFill>
              <a:latin typeface="Calibri"/>
              <a:ea typeface="Calibri"/>
              <a:cs typeface="Calibri"/>
              <a:sym typeface="Calibri"/>
            </a:endParaRPr>
          </a:p>
        </p:txBody>
      </p:sp>
      <p:sp>
        <p:nvSpPr>
          <p:cNvPr id="1525" name="Google Shape;1525;p58"/>
          <p:cNvSpPr/>
          <p:nvPr/>
        </p:nvSpPr>
        <p:spPr>
          <a:xfrm>
            <a:off x="731526" y="2560325"/>
            <a:ext cx="112959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Georgia"/>
              <a:buNone/>
            </a:pPr>
            <a:r>
              <a:rPr b="1" lang="en-US" sz="4600">
                <a:solidFill>
                  <a:srgbClr val="FFFFFF"/>
                </a:solidFill>
                <a:latin typeface="Georgia"/>
                <a:ea typeface="Georgia"/>
                <a:cs typeface="Georgia"/>
                <a:sym typeface="Georgia"/>
              </a:rPr>
              <a:t>Autonomous Response Simulation</a:t>
            </a:r>
            <a:endParaRPr b="0" i="0" sz="4600" u="none" cap="none" strike="noStrike">
              <a:solidFill>
                <a:schemeClr val="dk1"/>
              </a:solidFill>
              <a:latin typeface="Calibri"/>
              <a:ea typeface="Calibri"/>
              <a:cs typeface="Calibri"/>
              <a:sym typeface="Calibri"/>
            </a:endParaRPr>
          </a:p>
        </p:txBody>
      </p:sp>
      <p:sp>
        <p:nvSpPr>
          <p:cNvPr id="1526" name="Google Shape;1526;p58"/>
          <p:cNvSpPr/>
          <p:nvPr/>
        </p:nvSpPr>
        <p:spPr>
          <a:xfrm>
            <a:off x="786384" y="4370832"/>
            <a:ext cx="914400" cy="549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8"/>
          <p:cNvSpPr/>
          <p:nvPr/>
        </p:nvSpPr>
        <p:spPr>
          <a:xfrm>
            <a:off x="786384" y="4526280"/>
            <a:ext cx="914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C5BC"/>
              </a:buClr>
              <a:buSzPts val="1500"/>
              <a:buFont typeface="Calibri"/>
              <a:buNone/>
            </a:pPr>
            <a:r>
              <a:rPr lang="en-US" sz="1500">
                <a:solidFill>
                  <a:srgbClr val="C8C5BC"/>
                </a:solidFill>
                <a:latin typeface="Calibri"/>
                <a:ea typeface="Calibri"/>
                <a:cs typeface="Calibri"/>
                <a:sym typeface="Calibri"/>
              </a:rPr>
              <a:t>Autonomous response simulation with decision-making and vehicle control.</a:t>
            </a:r>
            <a:endParaRPr b="0" i="0" sz="1500" u="none" cap="none" strike="noStrike">
              <a:solidFill>
                <a:schemeClr val="dk1"/>
              </a:solidFill>
              <a:latin typeface="Calibri"/>
              <a:ea typeface="Calibri"/>
              <a:cs typeface="Calibri"/>
              <a:sym typeface="Calibri"/>
            </a:endParaRPr>
          </a:p>
        </p:txBody>
      </p:sp>
      <p:pic>
        <p:nvPicPr>
          <p:cNvPr descr="assets/ou_logo.png" id="1528" name="Google Shape;1528;p58"/>
          <p:cNvPicPr preferRelativeResize="0"/>
          <p:nvPr/>
        </p:nvPicPr>
        <p:blipFill rotWithShape="1">
          <a:blip r:embed="rId3">
            <a:alphaModFix/>
          </a:blip>
          <a:srcRect b="0" l="0" r="0" t="0"/>
          <a:stretch/>
        </p:blipFill>
        <p:spPr>
          <a:xfrm>
            <a:off x="9189720" y="384048"/>
            <a:ext cx="713232" cy="685801"/>
          </a:xfrm>
          <a:prstGeom prst="rect">
            <a:avLst/>
          </a:prstGeom>
          <a:noFill/>
          <a:ln>
            <a:noFill/>
          </a:ln>
        </p:spPr>
      </p:pic>
      <p:pic>
        <p:nvPicPr>
          <p:cNvPr descr="assets/nsf_logo.png" id="1529" name="Google Shape;1529;p58"/>
          <p:cNvPicPr preferRelativeResize="0"/>
          <p:nvPr/>
        </p:nvPicPr>
        <p:blipFill rotWithShape="1">
          <a:blip r:embed="rId4">
            <a:alphaModFix/>
          </a:blip>
          <a:srcRect b="0" l="0" r="0" t="0"/>
          <a:stretch/>
        </p:blipFill>
        <p:spPr>
          <a:xfrm>
            <a:off x="10012680" y="384048"/>
            <a:ext cx="685800" cy="685800"/>
          </a:xfrm>
          <a:prstGeom prst="rect">
            <a:avLst/>
          </a:prstGeom>
          <a:noFill/>
          <a:ln>
            <a:noFill/>
          </a:ln>
        </p:spPr>
      </p:pic>
      <p:pic>
        <p:nvPicPr>
          <p:cNvPr descr="assets/wpi_logo.png" id="1530" name="Google Shape;1530;p58"/>
          <p:cNvPicPr preferRelativeResize="0"/>
          <p:nvPr/>
        </p:nvPicPr>
        <p:blipFill rotWithShape="1">
          <a:blip r:embed="rId5">
            <a:alphaModFix/>
          </a:blip>
          <a:srcRect b="0" l="0" r="0" t="0"/>
          <a:stretch/>
        </p:blipFill>
        <p:spPr>
          <a:xfrm>
            <a:off x="10789920" y="566928"/>
            <a:ext cx="1078991" cy="438912"/>
          </a:xfrm>
          <a:prstGeom prst="rect">
            <a:avLst/>
          </a:prstGeom>
          <a:noFill/>
          <a:ln>
            <a:noFill/>
          </a:ln>
        </p:spPr>
      </p:pic>
      <p:sp>
        <p:nvSpPr>
          <p:cNvPr id="1531" name="Google Shape;1531;p58"/>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5" name="Shape 1535"/>
        <p:cNvGrpSpPr/>
        <p:nvPr/>
      </p:nvGrpSpPr>
      <p:grpSpPr>
        <a:xfrm>
          <a:off x="0" y="0"/>
          <a:ext cx="0" cy="0"/>
          <a:chOff x="0" y="0"/>
          <a:chExt cx="0" cy="0"/>
        </a:xfrm>
      </p:grpSpPr>
      <p:sp>
        <p:nvSpPr>
          <p:cNvPr id="1536" name="Google Shape;1536;p59"/>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537" name="Google Shape;1537;p59"/>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538" name="Google Shape;1538;p59"/>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p:txBody>
      </p:sp>
      <p:sp>
        <p:nvSpPr>
          <p:cNvPr id="1539" name="Google Shape;1539;p59"/>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540" name="Google Shape;1540;p59"/>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Prevention isn’t enough anymore</a:t>
            </a:r>
            <a:endParaRPr b="0" i="0" sz="3000" u="none" cap="none" strike="noStrike">
              <a:solidFill>
                <a:schemeClr val="dk1"/>
              </a:solidFill>
              <a:latin typeface="Calibri"/>
              <a:ea typeface="Calibri"/>
              <a:cs typeface="Calibri"/>
              <a:sym typeface="Calibri"/>
            </a:endParaRPr>
          </a:p>
        </p:txBody>
      </p:sp>
      <p:sp>
        <p:nvSpPr>
          <p:cNvPr id="1541" name="Google Shape;1541;p59"/>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59"/>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543" name="Google Shape;1543;p59"/>
          <p:cNvSpPr/>
          <p:nvPr/>
        </p:nvSpPr>
        <p:spPr>
          <a:xfrm>
            <a:off x="548659" y="1554475"/>
            <a:ext cx="10927200" cy="155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433"/>
              </a:buClr>
              <a:buSzPts val="1550"/>
              <a:buFont typeface="Calibri"/>
              <a:buNone/>
            </a:pPr>
            <a:r>
              <a:rPr b="1" i="0" lang="en-US" sz="1550" u="none" cap="none" strike="noStrike">
                <a:solidFill>
                  <a:srgbClr val="1A2433"/>
                </a:solidFill>
                <a:latin typeface="Calibri"/>
                <a:ea typeface="Calibri"/>
                <a:cs typeface="Calibri"/>
                <a:sym typeface="Calibri"/>
              </a:rPr>
              <a:t>Modern vehicles are networks on wheels — dozens of electronic control units, sensors, and external links </a:t>
            </a:r>
            <a:r>
              <a:rPr b="1" lang="en-US" sz="1550">
                <a:solidFill>
                  <a:srgbClr val="1A2433"/>
                </a:solidFill>
                <a:latin typeface="Calibri"/>
                <a:ea typeface="Calibri"/>
                <a:cs typeface="Calibri"/>
                <a:sym typeface="Calibri"/>
              </a:rPr>
              <a:t>from </a:t>
            </a:r>
            <a:r>
              <a:rPr b="1" i="0" lang="en-US" sz="1550" u="none" cap="none" strike="noStrike">
                <a:solidFill>
                  <a:srgbClr val="1A2433"/>
                </a:solidFill>
                <a:latin typeface="Calibri"/>
                <a:ea typeface="Calibri"/>
                <a:cs typeface="Calibri"/>
                <a:sym typeface="Calibri"/>
              </a:rPr>
              <a:t>a large attack surface. </a:t>
            </a:r>
            <a:r>
              <a:rPr b="0" i="0" lang="en-US" sz="1550" u="none" cap="none" strike="noStrike">
                <a:solidFill>
                  <a:srgbClr val="1A2433"/>
                </a:solidFill>
                <a:latin typeface="Calibri"/>
                <a:ea typeface="Calibri"/>
                <a:cs typeface="Calibri"/>
                <a:sym typeface="Calibri"/>
              </a:rPr>
              <a:t>Security is never absolute, so the field is shifting from purely preventing attacks to actively mitigating their impact once they occur.</a:t>
            </a:r>
            <a:endParaRPr b="0" i="0" sz="1550" u="none" cap="none" strike="noStrike">
              <a:solidFill>
                <a:srgbClr val="000000"/>
              </a:solidFill>
              <a:latin typeface="Calibri"/>
              <a:ea typeface="Calibri"/>
              <a:cs typeface="Calibri"/>
              <a:sym typeface="Calibri"/>
            </a:endParaRPr>
          </a:p>
        </p:txBody>
      </p:sp>
      <p:sp>
        <p:nvSpPr>
          <p:cNvPr id="1544" name="Google Shape;1544;p59"/>
          <p:cNvSpPr/>
          <p:nvPr/>
        </p:nvSpPr>
        <p:spPr>
          <a:xfrm>
            <a:off x="548640" y="2976190"/>
            <a:ext cx="5486400" cy="2423100"/>
          </a:xfrm>
          <a:prstGeom prst="roundRect">
            <a:avLst>
              <a:gd fmla="val 3774" name="adj"/>
            </a:avLst>
          </a:prstGeom>
          <a:solidFill>
            <a:srgbClr val="FDE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9"/>
          <p:cNvSpPr/>
          <p:nvPr/>
        </p:nvSpPr>
        <p:spPr>
          <a:xfrm>
            <a:off x="822960" y="3268798"/>
            <a:ext cx="502800" cy="502800"/>
          </a:xfrm>
          <a:prstGeom prst="ellipse">
            <a:avLst/>
          </a:prstGeom>
          <a:solidFill>
            <a:srgbClr val="E84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6" name="Google Shape;1546;p59"/>
          <p:cNvPicPr preferRelativeResize="0"/>
          <p:nvPr/>
        </p:nvPicPr>
        <p:blipFill rotWithShape="1">
          <a:blip r:embed="rId4">
            <a:alphaModFix/>
          </a:blip>
          <a:srcRect b="0" l="0" r="0" t="0"/>
          <a:stretch/>
        </p:blipFill>
        <p:spPr>
          <a:xfrm>
            <a:off x="953719" y="3399557"/>
            <a:ext cx="241402" cy="241402"/>
          </a:xfrm>
          <a:prstGeom prst="rect">
            <a:avLst/>
          </a:prstGeom>
          <a:noFill/>
          <a:ln>
            <a:noFill/>
          </a:ln>
        </p:spPr>
      </p:pic>
      <p:sp>
        <p:nvSpPr>
          <p:cNvPr id="1547" name="Google Shape;1547;p59"/>
          <p:cNvSpPr/>
          <p:nvPr/>
        </p:nvSpPr>
        <p:spPr>
          <a:xfrm>
            <a:off x="1444752" y="3268798"/>
            <a:ext cx="4434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43A"/>
              </a:buClr>
              <a:buSzPts val="1450"/>
              <a:buFont typeface="Calibri"/>
              <a:buNone/>
            </a:pPr>
            <a:r>
              <a:rPr b="1" lang="en-US" sz="1450">
                <a:solidFill>
                  <a:srgbClr val="E8443A"/>
                </a:solidFill>
                <a:latin typeface="Calibri"/>
                <a:ea typeface="Calibri"/>
                <a:cs typeface="Calibri"/>
                <a:sym typeface="Calibri"/>
              </a:rPr>
              <a:t>Traditional</a:t>
            </a:r>
            <a:r>
              <a:rPr b="1" i="0" lang="en-US" sz="1450" u="none" cap="none" strike="noStrike">
                <a:solidFill>
                  <a:srgbClr val="E8443A"/>
                </a:solidFill>
                <a:latin typeface="Calibri"/>
                <a:ea typeface="Calibri"/>
                <a:cs typeface="Calibri"/>
                <a:sym typeface="Calibri"/>
              </a:rPr>
              <a:t>: wait for the operations center</a:t>
            </a:r>
            <a:endParaRPr b="0" i="0" sz="1450" u="none" cap="none" strike="noStrike">
              <a:solidFill>
                <a:srgbClr val="000000"/>
              </a:solidFill>
              <a:latin typeface="Calibri"/>
              <a:ea typeface="Calibri"/>
              <a:cs typeface="Calibri"/>
              <a:sym typeface="Calibri"/>
            </a:endParaRPr>
          </a:p>
        </p:txBody>
      </p:sp>
      <p:sp>
        <p:nvSpPr>
          <p:cNvPr id="1548" name="Google Shape;1548;p59"/>
          <p:cNvSpPr/>
          <p:nvPr/>
        </p:nvSpPr>
        <p:spPr>
          <a:xfrm>
            <a:off x="822960" y="3936310"/>
            <a:ext cx="4983600" cy="132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00"/>
              <a:buFont typeface="Calibri"/>
              <a:buNone/>
            </a:pPr>
            <a:r>
              <a:rPr b="0" i="0" lang="en-US" sz="1200" u="none" cap="none" strike="noStrike">
                <a:solidFill>
                  <a:srgbClr val="42536B"/>
                </a:solidFill>
                <a:latin typeface="Calibri"/>
                <a:ea typeface="Calibri"/>
                <a:cs typeface="Calibri"/>
                <a:sym typeface="Calibri"/>
              </a:rPr>
              <a:t>Attack data is shipped to a Vehicle Security Operations Center, analyzed by experts, and a patch is sent back. With huge fleets and terabytes of data per car, high-severity incidents can take days or weeks to resolve</a:t>
            </a:r>
            <a:r>
              <a:rPr lang="en-US" sz="1200">
                <a:solidFill>
                  <a:srgbClr val="42536B"/>
                </a:solidFill>
                <a:latin typeface="Calibri"/>
                <a:ea typeface="Calibri"/>
                <a:cs typeface="Calibri"/>
                <a:sym typeface="Calibri"/>
              </a:rPr>
              <a:t>.</a:t>
            </a:r>
            <a:endParaRPr b="0" i="0" sz="1200" u="none" cap="none" strike="noStrike">
              <a:solidFill>
                <a:srgbClr val="000000"/>
              </a:solidFill>
              <a:latin typeface="Calibri"/>
              <a:ea typeface="Calibri"/>
              <a:cs typeface="Calibri"/>
              <a:sym typeface="Calibri"/>
            </a:endParaRPr>
          </a:p>
        </p:txBody>
      </p:sp>
      <p:sp>
        <p:nvSpPr>
          <p:cNvPr id="1549" name="Google Shape;1549;p59"/>
          <p:cNvSpPr/>
          <p:nvPr/>
        </p:nvSpPr>
        <p:spPr>
          <a:xfrm>
            <a:off x="6336792" y="2976190"/>
            <a:ext cx="5486400" cy="2423100"/>
          </a:xfrm>
          <a:prstGeom prst="roundRect">
            <a:avLst>
              <a:gd fmla="val 3774" name="adj"/>
            </a:avLst>
          </a:prstGeom>
          <a:solidFill>
            <a:srgbClr val="E9F4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9"/>
          <p:cNvSpPr/>
          <p:nvPr/>
        </p:nvSpPr>
        <p:spPr>
          <a:xfrm>
            <a:off x="6611112" y="3268798"/>
            <a:ext cx="502800" cy="5028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51" name="Google Shape;1551;p59"/>
          <p:cNvPicPr preferRelativeResize="0"/>
          <p:nvPr/>
        </p:nvPicPr>
        <p:blipFill rotWithShape="1">
          <a:blip r:embed="rId5">
            <a:alphaModFix/>
          </a:blip>
          <a:srcRect b="0" l="0" r="0" t="0"/>
          <a:stretch/>
        </p:blipFill>
        <p:spPr>
          <a:xfrm>
            <a:off x="6741871" y="3399557"/>
            <a:ext cx="241402" cy="241402"/>
          </a:xfrm>
          <a:prstGeom prst="rect">
            <a:avLst/>
          </a:prstGeom>
          <a:noFill/>
          <a:ln>
            <a:noFill/>
          </a:ln>
        </p:spPr>
      </p:pic>
      <p:sp>
        <p:nvSpPr>
          <p:cNvPr id="1552" name="Google Shape;1552;p59"/>
          <p:cNvSpPr/>
          <p:nvPr/>
        </p:nvSpPr>
        <p:spPr>
          <a:xfrm>
            <a:off x="7232904" y="3268798"/>
            <a:ext cx="438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450"/>
              <a:buFont typeface="Calibri"/>
              <a:buNone/>
            </a:pPr>
            <a:r>
              <a:rPr b="1" lang="en-US" sz="1450">
                <a:solidFill>
                  <a:srgbClr val="2E8B57"/>
                </a:solidFill>
                <a:latin typeface="Calibri"/>
                <a:ea typeface="Calibri"/>
                <a:cs typeface="Calibri"/>
                <a:sym typeface="Calibri"/>
              </a:rPr>
              <a:t>Current</a:t>
            </a:r>
            <a:r>
              <a:rPr b="1" i="0" lang="en-US" sz="1450" u="none" cap="none" strike="noStrike">
                <a:solidFill>
                  <a:srgbClr val="2E8B57"/>
                </a:solidFill>
                <a:latin typeface="Calibri"/>
                <a:ea typeface="Calibri"/>
                <a:cs typeface="Calibri"/>
                <a:sym typeface="Calibri"/>
              </a:rPr>
              <a:t>: respond inside the vehicle</a:t>
            </a:r>
            <a:endParaRPr b="0" i="0" sz="1450" u="none" cap="none" strike="noStrike">
              <a:solidFill>
                <a:srgbClr val="000000"/>
              </a:solidFill>
              <a:latin typeface="Calibri"/>
              <a:ea typeface="Calibri"/>
              <a:cs typeface="Calibri"/>
              <a:sym typeface="Calibri"/>
            </a:endParaRPr>
          </a:p>
        </p:txBody>
      </p:sp>
      <p:sp>
        <p:nvSpPr>
          <p:cNvPr id="1553" name="Google Shape;1553;p59"/>
          <p:cNvSpPr/>
          <p:nvPr/>
        </p:nvSpPr>
        <p:spPr>
          <a:xfrm>
            <a:off x="6611112" y="3936310"/>
            <a:ext cx="4983600" cy="132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00"/>
              <a:buFont typeface="Calibri"/>
              <a:buNone/>
            </a:pPr>
            <a:r>
              <a:rPr b="0" i="0" lang="en-US" sz="1200" u="none" cap="none" strike="noStrike">
                <a:solidFill>
                  <a:srgbClr val="42536B"/>
                </a:solidFill>
                <a:latin typeface="Calibri"/>
                <a:ea typeface="Calibri"/>
                <a:cs typeface="Calibri"/>
                <a:sym typeface="Calibri"/>
              </a:rPr>
              <a:t>An response system decides and acts in near-real time</a:t>
            </a:r>
            <a:r>
              <a:rPr lang="en-US" sz="1200">
                <a:solidFill>
                  <a:srgbClr val="42536B"/>
                </a:solidFill>
                <a:latin typeface="Calibri"/>
                <a:ea typeface="Calibri"/>
                <a:cs typeface="Calibri"/>
                <a:sym typeface="Calibri"/>
              </a:rPr>
              <a:t>.</a:t>
            </a:r>
            <a:r>
              <a:rPr b="0" i="0" lang="en-US" sz="1200" u="none" cap="none" strike="noStrike">
                <a:solidFill>
                  <a:srgbClr val="42536B"/>
                </a:solidFill>
                <a:latin typeface="Calibri"/>
                <a:ea typeface="Calibri"/>
                <a:cs typeface="Calibri"/>
                <a:sym typeface="Calibri"/>
              </a:rPr>
              <a:t> </a:t>
            </a:r>
            <a:r>
              <a:rPr lang="en-US" sz="1200">
                <a:solidFill>
                  <a:srgbClr val="42536B"/>
                </a:solidFill>
                <a:latin typeface="Calibri"/>
                <a:ea typeface="Calibri"/>
                <a:cs typeface="Calibri"/>
                <a:sym typeface="Calibri"/>
              </a:rPr>
              <a:t>N</a:t>
            </a:r>
            <a:r>
              <a:rPr b="0" i="0" lang="en-US" sz="1200" u="none" cap="none" strike="noStrike">
                <a:solidFill>
                  <a:srgbClr val="42536B"/>
                </a:solidFill>
                <a:latin typeface="Calibri"/>
                <a:ea typeface="Calibri"/>
                <a:cs typeface="Calibri"/>
                <a:sym typeface="Calibri"/>
              </a:rPr>
              <a:t>o round-trip to the cloud, no human in the loop for the first move. The vehicle contains the threat itself and returns to a safe state within milliseconds.</a:t>
            </a:r>
            <a:endParaRPr b="0" i="0" sz="1200" u="none" cap="none" strike="noStrike">
              <a:solidFill>
                <a:srgbClr val="000000"/>
              </a:solidFill>
              <a:latin typeface="Calibri"/>
              <a:ea typeface="Calibri"/>
              <a:cs typeface="Calibri"/>
              <a:sym typeface="Calibri"/>
            </a:endParaRPr>
          </a:p>
        </p:txBody>
      </p:sp>
      <p:sp>
        <p:nvSpPr>
          <p:cNvPr id="1554" name="Google Shape;1554;p59"/>
          <p:cNvSpPr txBox="1"/>
          <p:nvPr/>
        </p:nvSpPr>
        <p:spPr>
          <a:xfrm>
            <a:off x="953725" y="6205500"/>
            <a:ext cx="11154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Hamad, M., Finkenzeller, A., Kühr, M., Roberts, A., Maennel, O., Prevelakis, V., &amp; Steinhorst, S. (2024). REACT: Autonomous intrusion response system for intelligent vehicles. Computers &amp; Security, 145, 104008.</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8" name="Shape 1558"/>
        <p:cNvGrpSpPr/>
        <p:nvPr/>
      </p:nvGrpSpPr>
      <p:grpSpPr>
        <a:xfrm>
          <a:off x="0" y="0"/>
          <a:ext cx="0" cy="0"/>
          <a:chOff x="0" y="0"/>
          <a:chExt cx="0" cy="0"/>
        </a:xfrm>
      </p:grpSpPr>
      <p:sp>
        <p:nvSpPr>
          <p:cNvPr id="1559" name="Google Shape;1559;p60"/>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560" name="Google Shape;1560;p60"/>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561" name="Google Shape;1561;p60"/>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p:txBody>
      </p:sp>
      <p:sp>
        <p:nvSpPr>
          <p:cNvPr id="1562" name="Google Shape;1562;p60"/>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563" name="Google Shape;1563;p60"/>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Types of Responses</a:t>
            </a:r>
            <a:endParaRPr b="0" i="0" sz="3000" u="none" cap="none" strike="noStrike">
              <a:solidFill>
                <a:schemeClr val="dk1"/>
              </a:solidFill>
              <a:latin typeface="Calibri"/>
              <a:ea typeface="Calibri"/>
              <a:cs typeface="Calibri"/>
              <a:sym typeface="Calibri"/>
            </a:endParaRPr>
          </a:p>
        </p:txBody>
      </p:sp>
      <p:sp>
        <p:nvSpPr>
          <p:cNvPr id="1564" name="Google Shape;1564;p60"/>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60"/>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566" name="Google Shape;1566;p60"/>
          <p:cNvSpPr txBox="1"/>
          <p:nvPr/>
        </p:nvSpPr>
        <p:spPr>
          <a:xfrm>
            <a:off x="953725" y="6205500"/>
            <a:ext cx="11154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Bashendy, May, Ashraf Tantawy, and Abdelkarim Erradi. "Intrusion response systems for cyber-physical systems: A comprehensive survey." Computers &amp; Security 124 (2023): 102984.</a:t>
            </a:r>
            <a:endParaRPr sz="800"/>
          </a:p>
        </p:txBody>
      </p:sp>
      <p:sp>
        <p:nvSpPr>
          <p:cNvPr id="1567" name="Google Shape;1567;p60"/>
          <p:cNvSpPr/>
          <p:nvPr/>
        </p:nvSpPr>
        <p:spPr>
          <a:xfrm>
            <a:off x="550190" y="1587480"/>
            <a:ext cx="11091600" cy="960000"/>
          </a:xfrm>
          <a:prstGeom prst="roundRect">
            <a:avLst>
              <a:gd fmla="val 6667" name="adj"/>
            </a:avLst>
          </a:prstGeom>
          <a:solidFill>
            <a:srgbClr val="F7F9FC"/>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60"/>
          <p:cNvSpPr/>
          <p:nvPr/>
        </p:nvSpPr>
        <p:spPr>
          <a:xfrm>
            <a:off x="769646" y="1802364"/>
            <a:ext cx="530400" cy="5304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9" name="Google Shape;1569;p60"/>
          <p:cNvPicPr preferRelativeResize="0"/>
          <p:nvPr/>
        </p:nvPicPr>
        <p:blipFill rotWithShape="1">
          <a:blip r:embed="rId4">
            <a:alphaModFix/>
          </a:blip>
          <a:srcRect b="0" l="0" r="0" t="0"/>
          <a:stretch/>
        </p:blipFill>
        <p:spPr>
          <a:xfrm>
            <a:off x="907538" y="1940256"/>
            <a:ext cx="254569" cy="254569"/>
          </a:xfrm>
          <a:prstGeom prst="rect">
            <a:avLst/>
          </a:prstGeom>
          <a:noFill/>
          <a:ln>
            <a:noFill/>
          </a:ln>
        </p:spPr>
      </p:pic>
      <p:sp>
        <p:nvSpPr>
          <p:cNvPr id="1570" name="Google Shape;1570;p60"/>
          <p:cNvSpPr/>
          <p:nvPr/>
        </p:nvSpPr>
        <p:spPr>
          <a:xfrm>
            <a:off x="1464590" y="1587480"/>
            <a:ext cx="18288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By timing</a:t>
            </a:r>
            <a:endParaRPr i="0" sz="1400" u="none" cap="none" strike="noStrike">
              <a:solidFill>
                <a:srgbClr val="000000"/>
              </a:solidFill>
            </a:endParaRPr>
          </a:p>
        </p:txBody>
      </p:sp>
      <p:sp>
        <p:nvSpPr>
          <p:cNvPr id="1571" name="Google Shape;1571;p60"/>
          <p:cNvSpPr/>
          <p:nvPr/>
        </p:nvSpPr>
        <p:spPr>
          <a:xfrm>
            <a:off x="3384830" y="1697208"/>
            <a:ext cx="41148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b="1" i="0" lang="en-US" sz="1200" u="none" cap="none" strike="noStrike">
                <a:solidFill>
                  <a:srgbClr val="42536B"/>
                </a:solidFill>
              </a:rPr>
              <a:t>Proactive </a:t>
            </a:r>
            <a:r>
              <a:rPr b="1" lang="en-US" sz="1200">
                <a:solidFill>
                  <a:srgbClr val="42536B"/>
                </a:solidFill>
              </a:rPr>
              <a:t>preempt</a:t>
            </a:r>
            <a:r>
              <a:rPr lang="en-US" sz="1200">
                <a:solidFill>
                  <a:srgbClr val="5B6B7F"/>
                </a:solidFill>
              </a:rPr>
              <a:t>:</a:t>
            </a:r>
            <a:r>
              <a:rPr i="0" lang="en-US" sz="1200" u="none" cap="none" strike="noStrike">
                <a:solidFill>
                  <a:srgbClr val="5B6B7F"/>
                </a:solidFill>
              </a:rPr>
              <a:t>  </a:t>
            </a:r>
            <a:r>
              <a:rPr lang="en-US" sz="1200">
                <a:solidFill>
                  <a:srgbClr val="5B6B7F"/>
                </a:solidFill>
              </a:rPr>
              <a:t>A</a:t>
            </a:r>
            <a:r>
              <a:rPr i="0" lang="en-US" sz="1200" u="none" cap="none" strike="noStrike">
                <a:solidFill>
                  <a:srgbClr val="5B6B7F"/>
                </a:solidFill>
              </a:rPr>
              <a:t>cts before or as the threat unfolds, anticipating impact</a:t>
            </a:r>
            <a:endParaRPr i="0" sz="1200" u="none" cap="none" strike="noStrike">
              <a:solidFill>
                <a:srgbClr val="000000"/>
              </a:solidFill>
            </a:endParaRPr>
          </a:p>
        </p:txBody>
      </p:sp>
      <p:cxnSp>
        <p:nvCxnSpPr>
          <p:cNvPr id="1572" name="Google Shape;1572;p60"/>
          <p:cNvCxnSpPr/>
          <p:nvPr/>
        </p:nvCxnSpPr>
        <p:spPr>
          <a:xfrm>
            <a:off x="7636790" y="1733784"/>
            <a:ext cx="0" cy="667500"/>
          </a:xfrm>
          <a:prstGeom prst="straightConnector1">
            <a:avLst/>
          </a:prstGeom>
          <a:noFill/>
          <a:ln cap="flat" cmpd="sng" w="9525">
            <a:solidFill>
              <a:srgbClr val="D7DEE8"/>
            </a:solidFill>
            <a:prstDash val="solid"/>
            <a:round/>
            <a:headEnd len="sm" w="sm" type="none"/>
            <a:tailEnd len="sm" w="sm" type="none"/>
          </a:ln>
        </p:spPr>
      </p:cxnSp>
      <p:sp>
        <p:nvSpPr>
          <p:cNvPr id="1573" name="Google Shape;1573;p60"/>
          <p:cNvSpPr/>
          <p:nvPr/>
        </p:nvSpPr>
        <p:spPr>
          <a:xfrm>
            <a:off x="7819670" y="1697208"/>
            <a:ext cx="35661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1150"/>
              <a:buFont typeface="Calibri"/>
              <a:buNone/>
            </a:pPr>
            <a:r>
              <a:rPr b="1" i="0" lang="en-US" sz="1200" u="none" cap="none" strike="noStrike">
                <a:solidFill>
                  <a:srgbClr val="2D6CDF"/>
                </a:solidFill>
              </a:rPr>
              <a:t>Reactive after detection</a:t>
            </a:r>
            <a:r>
              <a:rPr lang="en-US" sz="1200">
                <a:solidFill>
                  <a:srgbClr val="5B6B7F"/>
                </a:solidFill>
              </a:rPr>
              <a:t>:</a:t>
            </a:r>
            <a:r>
              <a:rPr i="0" lang="en-US" sz="1200" u="none" cap="none" strike="noStrike">
                <a:solidFill>
                  <a:srgbClr val="5B6B7F"/>
                </a:solidFill>
              </a:rPr>
              <a:t> </a:t>
            </a:r>
            <a:r>
              <a:rPr lang="en-US" sz="1200">
                <a:solidFill>
                  <a:srgbClr val="5B6B7F"/>
                </a:solidFill>
              </a:rPr>
              <a:t>M</a:t>
            </a:r>
            <a:r>
              <a:rPr i="0" lang="en-US" sz="1200" u="none" cap="none" strike="noStrike">
                <a:solidFill>
                  <a:srgbClr val="5B6B7F"/>
                </a:solidFill>
              </a:rPr>
              <a:t>itigates only once an intrusion is confirmed</a:t>
            </a:r>
            <a:endParaRPr i="0" sz="1200" u="none" cap="none" strike="noStrike">
              <a:solidFill>
                <a:srgbClr val="000000"/>
              </a:solidFill>
            </a:endParaRPr>
          </a:p>
        </p:txBody>
      </p:sp>
      <p:sp>
        <p:nvSpPr>
          <p:cNvPr id="1574" name="Google Shape;1574;p60"/>
          <p:cNvSpPr/>
          <p:nvPr/>
        </p:nvSpPr>
        <p:spPr>
          <a:xfrm>
            <a:off x="550190" y="2593320"/>
            <a:ext cx="11091600" cy="960000"/>
          </a:xfrm>
          <a:prstGeom prst="roundRect">
            <a:avLst>
              <a:gd fmla="val 6667" name="adj"/>
            </a:avLst>
          </a:prstGeom>
          <a:solidFill>
            <a:srgbClr val="F7F9FC"/>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60"/>
          <p:cNvSpPr/>
          <p:nvPr/>
        </p:nvSpPr>
        <p:spPr>
          <a:xfrm>
            <a:off x="769646" y="2808204"/>
            <a:ext cx="530400" cy="530400"/>
          </a:xfrm>
          <a:prstGeom prst="ellipse">
            <a:avLst/>
          </a:prstGeom>
          <a:solidFill>
            <a:srgbClr val="6A4C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6" name="Google Shape;1576;p60"/>
          <p:cNvPicPr preferRelativeResize="0"/>
          <p:nvPr/>
        </p:nvPicPr>
        <p:blipFill rotWithShape="1">
          <a:blip r:embed="rId5">
            <a:alphaModFix/>
          </a:blip>
          <a:srcRect b="0" l="0" r="0" t="0"/>
          <a:stretch/>
        </p:blipFill>
        <p:spPr>
          <a:xfrm>
            <a:off x="907538" y="2946096"/>
            <a:ext cx="254569" cy="254569"/>
          </a:xfrm>
          <a:prstGeom prst="rect">
            <a:avLst/>
          </a:prstGeom>
          <a:noFill/>
          <a:ln>
            <a:noFill/>
          </a:ln>
        </p:spPr>
      </p:pic>
      <p:sp>
        <p:nvSpPr>
          <p:cNvPr id="1577" name="Google Shape;1577;p60"/>
          <p:cNvSpPr/>
          <p:nvPr/>
        </p:nvSpPr>
        <p:spPr>
          <a:xfrm>
            <a:off x="1464590" y="2593320"/>
            <a:ext cx="18288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By adaptivity</a:t>
            </a:r>
            <a:endParaRPr i="0" sz="1400" u="none" cap="none" strike="noStrike">
              <a:solidFill>
                <a:srgbClr val="000000"/>
              </a:solidFill>
            </a:endParaRPr>
          </a:p>
        </p:txBody>
      </p:sp>
      <p:sp>
        <p:nvSpPr>
          <p:cNvPr id="1578" name="Google Shape;1578;p60"/>
          <p:cNvSpPr/>
          <p:nvPr/>
        </p:nvSpPr>
        <p:spPr>
          <a:xfrm>
            <a:off x="3384830" y="2703048"/>
            <a:ext cx="41148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b="1" i="0" lang="en-US" sz="1200" u="none" cap="none" strike="noStrike">
                <a:solidFill>
                  <a:srgbClr val="42536B"/>
                </a:solidFill>
              </a:rPr>
              <a:t>Static</a:t>
            </a:r>
            <a:r>
              <a:rPr b="1" lang="en-US" sz="1200">
                <a:solidFill>
                  <a:srgbClr val="42536B"/>
                </a:solidFill>
              </a:rPr>
              <a:t> </a:t>
            </a:r>
            <a:r>
              <a:rPr b="1" i="0" lang="en-US" sz="1200" u="none" cap="none" strike="noStrike">
                <a:solidFill>
                  <a:srgbClr val="42536B"/>
                </a:solidFill>
              </a:rPr>
              <a:t>fixed mapping</a:t>
            </a:r>
            <a:r>
              <a:rPr lang="en-US" sz="1200">
                <a:solidFill>
                  <a:srgbClr val="5B6B7F"/>
                </a:solidFill>
              </a:rPr>
              <a:t>:</a:t>
            </a:r>
            <a:r>
              <a:rPr i="0" lang="en-US" sz="1200" u="none" cap="none" strike="noStrike">
                <a:solidFill>
                  <a:srgbClr val="5B6B7F"/>
                </a:solidFill>
              </a:rPr>
              <a:t> </a:t>
            </a:r>
            <a:r>
              <a:rPr lang="en-US" sz="1200">
                <a:solidFill>
                  <a:srgbClr val="5B6B7F"/>
                </a:solidFill>
              </a:rPr>
              <a:t>E</a:t>
            </a:r>
            <a:r>
              <a:rPr i="0" lang="en-US" sz="1200" u="none" cap="none" strike="noStrike">
                <a:solidFill>
                  <a:srgbClr val="5B6B7F"/>
                </a:solidFill>
              </a:rPr>
              <a:t>ach alert triggers a pre-set, unchanging countermeasure</a:t>
            </a:r>
            <a:endParaRPr i="0" sz="1200" u="none" cap="none" strike="noStrike">
              <a:solidFill>
                <a:srgbClr val="000000"/>
              </a:solidFill>
            </a:endParaRPr>
          </a:p>
        </p:txBody>
      </p:sp>
      <p:cxnSp>
        <p:nvCxnSpPr>
          <p:cNvPr id="1579" name="Google Shape;1579;p60"/>
          <p:cNvCxnSpPr/>
          <p:nvPr/>
        </p:nvCxnSpPr>
        <p:spPr>
          <a:xfrm>
            <a:off x="7636790" y="2739624"/>
            <a:ext cx="0" cy="667500"/>
          </a:xfrm>
          <a:prstGeom prst="straightConnector1">
            <a:avLst/>
          </a:prstGeom>
          <a:noFill/>
          <a:ln cap="flat" cmpd="sng" w="9525">
            <a:solidFill>
              <a:srgbClr val="D7DEE8"/>
            </a:solidFill>
            <a:prstDash val="solid"/>
            <a:round/>
            <a:headEnd len="sm" w="sm" type="none"/>
            <a:tailEnd len="sm" w="sm" type="none"/>
          </a:ln>
        </p:spPr>
      </p:cxnSp>
      <p:sp>
        <p:nvSpPr>
          <p:cNvPr id="1580" name="Google Shape;1580;p60"/>
          <p:cNvSpPr/>
          <p:nvPr/>
        </p:nvSpPr>
        <p:spPr>
          <a:xfrm>
            <a:off x="7819670" y="2703048"/>
            <a:ext cx="35661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4CB0"/>
              </a:buClr>
              <a:buSzPts val="1150"/>
              <a:buFont typeface="Calibri"/>
              <a:buNone/>
            </a:pPr>
            <a:r>
              <a:rPr b="1" i="0" lang="en-US" sz="1200" u="none" cap="none" strike="noStrike">
                <a:solidFill>
                  <a:srgbClr val="6A4CB0"/>
                </a:solidFill>
              </a:rPr>
              <a:t>Dynamic context-aware</a:t>
            </a:r>
            <a:r>
              <a:rPr lang="en-US" sz="1200">
                <a:solidFill>
                  <a:srgbClr val="5B6B7F"/>
                </a:solidFill>
              </a:rPr>
              <a:t>:</a:t>
            </a:r>
            <a:r>
              <a:rPr i="0" lang="en-US" sz="1200" u="none" cap="none" strike="noStrike">
                <a:solidFill>
                  <a:srgbClr val="5B6B7F"/>
                </a:solidFill>
              </a:rPr>
              <a:t>  </a:t>
            </a:r>
            <a:r>
              <a:rPr lang="en-US" sz="1200">
                <a:solidFill>
                  <a:srgbClr val="5B6B7F"/>
                </a:solidFill>
              </a:rPr>
              <a:t>C</a:t>
            </a:r>
            <a:r>
              <a:rPr i="0" lang="en-US" sz="1200" u="none" cap="none" strike="noStrike">
                <a:solidFill>
                  <a:srgbClr val="5B6B7F"/>
                </a:solidFill>
              </a:rPr>
              <a:t>hoice adapts to vehicle state, severity, and past success</a:t>
            </a:r>
            <a:endParaRPr i="0" sz="1200" u="none" cap="none" strike="noStrike">
              <a:solidFill>
                <a:srgbClr val="000000"/>
              </a:solidFill>
            </a:endParaRPr>
          </a:p>
        </p:txBody>
      </p:sp>
      <p:sp>
        <p:nvSpPr>
          <p:cNvPr id="1581" name="Google Shape;1581;p60"/>
          <p:cNvSpPr/>
          <p:nvPr/>
        </p:nvSpPr>
        <p:spPr>
          <a:xfrm>
            <a:off x="550190" y="3599160"/>
            <a:ext cx="11091600" cy="960000"/>
          </a:xfrm>
          <a:prstGeom prst="roundRect">
            <a:avLst>
              <a:gd fmla="val 6667" name="adj"/>
            </a:avLst>
          </a:prstGeom>
          <a:solidFill>
            <a:srgbClr val="F7F9FC"/>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60"/>
          <p:cNvSpPr/>
          <p:nvPr/>
        </p:nvSpPr>
        <p:spPr>
          <a:xfrm>
            <a:off x="769646" y="3814044"/>
            <a:ext cx="530400" cy="5304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3" name="Google Shape;1583;p60"/>
          <p:cNvPicPr preferRelativeResize="0"/>
          <p:nvPr/>
        </p:nvPicPr>
        <p:blipFill rotWithShape="1">
          <a:blip r:embed="rId6">
            <a:alphaModFix/>
          </a:blip>
          <a:srcRect b="0" l="0" r="0" t="0"/>
          <a:stretch/>
        </p:blipFill>
        <p:spPr>
          <a:xfrm>
            <a:off x="907538" y="3951936"/>
            <a:ext cx="254569" cy="254569"/>
          </a:xfrm>
          <a:prstGeom prst="rect">
            <a:avLst/>
          </a:prstGeom>
          <a:noFill/>
          <a:ln>
            <a:noFill/>
          </a:ln>
        </p:spPr>
      </p:pic>
      <p:sp>
        <p:nvSpPr>
          <p:cNvPr id="1584" name="Google Shape;1584;p60"/>
          <p:cNvSpPr/>
          <p:nvPr/>
        </p:nvSpPr>
        <p:spPr>
          <a:xfrm>
            <a:off x="1464590" y="3599160"/>
            <a:ext cx="18288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By selection</a:t>
            </a:r>
            <a:endParaRPr i="0" sz="1400" u="none" cap="none" strike="noStrike">
              <a:solidFill>
                <a:srgbClr val="000000"/>
              </a:solidFill>
            </a:endParaRPr>
          </a:p>
        </p:txBody>
      </p:sp>
      <p:sp>
        <p:nvSpPr>
          <p:cNvPr id="1585" name="Google Shape;1585;p60"/>
          <p:cNvSpPr/>
          <p:nvPr/>
        </p:nvSpPr>
        <p:spPr>
          <a:xfrm>
            <a:off x="3384830" y="3708888"/>
            <a:ext cx="41148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b="1" i="0" lang="en-US" sz="1200" u="none" cap="none" strike="noStrike">
                <a:solidFill>
                  <a:srgbClr val="42536B"/>
                </a:solidFill>
              </a:rPr>
              <a:t>Cost-agnostic</a:t>
            </a:r>
            <a:r>
              <a:rPr lang="en-US" sz="1200">
                <a:solidFill>
                  <a:srgbClr val="5B6B7F"/>
                </a:solidFill>
              </a:rPr>
              <a:t>:</a:t>
            </a:r>
            <a:r>
              <a:rPr i="0" lang="en-US" sz="1200" u="none" cap="none" strike="noStrike">
                <a:solidFill>
                  <a:srgbClr val="5B6B7F"/>
                </a:solidFill>
              </a:rPr>
              <a:t>  </a:t>
            </a:r>
            <a:r>
              <a:rPr lang="en-US" sz="1200">
                <a:solidFill>
                  <a:srgbClr val="5B6B7F"/>
                </a:solidFill>
              </a:rPr>
              <a:t>A</a:t>
            </a:r>
            <a:r>
              <a:rPr i="0" lang="en-US" sz="1200" u="none" cap="none" strike="noStrike">
                <a:solidFill>
                  <a:srgbClr val="5B6B7F"/>
                </a:solidFill>
              </a:rPr>
              <a:t>pplies a response without weighing its side effects</a:t>
            </a:r>
            <a:endParaRPr i="0" sz="1200" u="none" cap="none" strike="noStrike">
              <a:solidFill>
                <a:srgbClr val="000000"/>
              </a:solidFill>
            </a:endParaRPr>
          </a:p>
        </p:txBody>
      </p:sp>
      <p:cxnSp>
        <p:nvCxnSpPr>
          <p:cNvPr id="1586" name="Google Shape;1586;p60"/>
          <p:cNvCxnSpPr/>
          <p:nvPr/>
        </p:nvCxnSpPr>
        <p:spPr>
          <a:xfrm>
            <a:off x="7636790" y="3745464"/>
            <a:ext cx="0" cy="667500"/>
          </a:xfrm>
          <a:prstGeom prst="straightConnector1">
            <a:avLst/>
          </a:prstGeom>
          <a:noFill/>
          <a:ln cap="flat" cmpd="sng" w="9525">
            <a:solidFill>
              <a:srgbClr val="D7DEE8"/>
            </a:solidFill>
            <a:prstDash val="solid"/>
            <a:round/>
            <a:headEnd len="sm" w="sm" type="none"/>
            <a:tailEnd len="sm" w="sm" type="none"/>
          </a:ln>
        </p:spPr>
      </p:cxnSp>
      <p:sp>
        <p:nvSpPr>
          <p:cNvPr id="1587" name="Google Shape;1587;p60"/>
          <p:cNvSpPr/>
          <p:nvPr/>
        </p:nvSpPr>
        <p:spPr>
          <a:xfrm>
            <a:off x="7819670" y="3708888"/>
            <a:ext cx="35661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C00"/>
              </a:buClr>
              <a:buSzPts val="1150"/>
              <a:buFont typeface="Calibri"/>
              <a:buNone/>
            </a:pPr>
            <a:r>
              <a:rPr b="1" i="0" lang="en-US" sz="1200" u="none" cap="none" strike="noStrike">
                <a:solidFill>
                  <a:srgbClr val="F08C00"/>
                </a:solidFill>
              </a:rPr>
              <a:t>Cost-sensitive</a:t>
            </a:r>
            <a:r>
              <a:rPr lang="en-US" sz="1200">
                <a:solidFill>
                  <a:srgbClr val="5B6B7F"/>
                </a:solidFill>
              </a:rPr>
              <a:t>:</a:t>
            </a:r>
            <a:r>
              <a:rPr i="0" lang="en-US" sz="1200" u="none" cap="none" strike="noStrike">
                <a:solidFill>
                  <a:srgbClr val="5B6B7F"/>
                </a:solidFill>
              </a:rPr>
              <a:t>  </a:t>
            </a:r>
            <a:r>
              <a:rPr lang="en-US" sz="1200">
                <a:solidFill>
                  <a:srgbClr val="5B6B7F"/>
                </a:solidFill>
              </a:rPr>
              <a:t>W</a:t>
            </a:r>
            <a:r>
              <a:rPr i="0" lang="en-US" sz="1200" u="none" cap="none" strike="noStrike">
                <a:solidFill>
                  <a:srgbClr val="5B6B7F"/>
                </a:solidFill>
              </a:rPr>
              <a:t>eighs response benefit against its operational cost</a:t>
            </a:r>
            <a:endParaRPr i="0" sz="1200" u="none" cap="none" strike="noStrike">
              <a:solidFill>
                <a:srgbClr val="000000"/>
              </a:solidFill>
            </a:endParaRPr>
          </a:p>
        </p:txBody>
      </p:sp>
      <p:sp>
        <p:nvSpPr>
          <p:cNvPr id="1588" name="Google Shape;1588;p60"/>
          <p:cNvSpPr/>
          <p:nvPr/>
        </p:nvSpPr>
        <p:spPr>
          <a:xfrm>
            <a:off x="550190" y="4605000"/>
            <a:ext cx="11091600" cy="960000"/>
          </a:xfrm>
          <a:prstGeom prst="roundRect">
            <a:avLst>
              <a:gd fmla="val 6667" name="adj"/>
            </a:avLst>
          </a:prstGeom>
          <a:solidFill>
            <a:srgbClr val="F7F9FC"/>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60"/>
          <p:cNvSpPr/>
          <p:nvPr/>
        </p:nvSpPr>
        <p:spPr>
          <a:xfrm>
            <a:off x="769646" y="4819884"/>
            <a:ext cx="530400" cy="5304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0" name="Google Shape;1590;p60"/>
          <p:cNvPicPr preferRelativeResize="0"/>
          <p:nvPr/>
        </p:nvPicPr>
        <p:blipFill rotWithShape="1">
          <a:blip r:embed="rId7">
            <a:alphaModFix/>
          </a:blip>
          <a:srcRect b="0" l="0" r="0" t="0"/>
          <a:stretch/>
        </p:blipFill>
        <p:spPr>
          <a:xfrm>
            <a:off x="907538" y="4957776"/>
            <a:ext cx="254569" cy="254569"/>
          </a:xfrm>
          <a:prstGeom prst="rect">
            <a:avLst/>
          </a:prstGeom>
          <a:noFill/>
          <a:ln>
            <a:noFill/>
          </a:ln>
        </p:spPr>
      </p:pic>
      <p:sp>
        <p:nvSpPr>
          <p:cNvPr id="1591" name="Google Shape;1591;p60"/>
          <p:cNvSpPr/>
          <p:nvPr/>
        </p:nvSpPr>
        <p:spPr>
          <a:xfrm>
            <a:off x="1464590" y="4605000"/>
            <a:ext cx="18288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By autonomy</a:t>
            </a:r>
            <a:endParaRPr i="0" sz="1400" u="none" cap="none" strike="noStrike">
              <a:solidFill>
                <a:srgbClr val="000000"/>
              </a:solidFill>
            </a:endParaRPr>
          </a:p>
        </p:txBody>
      </p:sp>
      <p:sp>
        <p:nvSpPr>
          <p:cNvPr id="1592" name="Google Shape;1592;p60"/>
          <p:cNvSpPr/>
          <p:nvPr/>
        </p:nvSpPr>
        <p:spPr>
          <a:xfrm>
            <a:off x="3384830" y="4714728"/>
            <a:ext cx="41148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b="1" i="0" lang="en-US" sz="1200" u="none" cap="none" strike="noStrike">
                <a:solidFill>
                  <a:srgbClr val="42536B"/>
                </a:solidFill>
              </a:rPr>
              <a:t>Human-in-the-loop</a:t>
            </a:r>
            <a:r>
              <a:rPr lang="en-US" sz="1200">
                <a:solidFill>
                  <a:srgbClr val="5B6B7F"/>
                </a:solidFill>
              </a:rPr>
              <a:t>:</a:t>
            </a:r>
            <a:r>
              <a:rPr i="0" lang="en-US" sz="1200" u="none" cap="none" strike="noStrike">
                <a:solidFill>
                  <a:srgbClr val="5B6B7F"/>
                </a:solidFill>
              </a:rPr>
              <a:t>  </a:t>
            </a:r>
            <a:r>
              <a:rPr lang="en-US" sz="1200">
                <a:solidFill>
                  <a:srgbClr val="5B6B7F"/>
                </a:solidFill>
              </a:rPr>
              <a:t>A</a:t>
            </a:r>
            <a:r>
              <a:rPr i="0" lang="en-US" sz="1200" u="none" cap="none" strike="noStrike">
                <a:solidFill>
                  <a:srgbClr val="5B6B7F"/>
                </a:solidFill>
              </a:rPr>
              <a:t>n operator or security center approves the action</a:t>
            </a:r>
            <a:endParaRPr i="0" sz="1200" u="none" cap="none" strike="noStrike">
              <a:solidFill>
                <a:srgbClr val="000000"/>
              </a:solidFill>
            </a:endParaRPr>
          </a:p>
        </p:txBody>
      </p:sp>
      <p:cxnSp>
        <p:nvCxnSpPr>
          <p:cNvPr id="1593" name="Google Shape;1593;p60"/>
          <p:cNvCxnSpPr/>
          <p:nvPr/>
        </p:nvCxnSpPr>
        <p:spPr>
          <a:xfrm>
            <a:off x="7636790" y="4751304"/>
            <a:ext cx="0" cy="667500"/>
          </a:xfrm>
          <a:prstGeom prst="straightConnector1">
            <a:avLst/>
          </a:prstGeom>
          <a:noFill/>
          <a:ln cap="flat" cmpd="sng" w="9525">
            <a:solidFill>
              <a:srgbClr val="D7DEE8"/>
            </a:solidFill>
            <a:prstDash val="solid"/>
            <a:round/>
            <a:headEnd len="sm" w="sm" type="none"/>
            <a:tailEnd len="sm" w="sm" type="none"/>
          </a:ln>
        </p:spPr>
      </p:cxnSp>
      <p:sp>
        <p:nvSpPr>
          <p:cNvPr id="1594" name="Google Shape;1594;p60"/>
          <p:cNvSpPr/>
          <p:nvPr/>
        </p:nvSpPr>
        <p:spPr>
          <a:xfrm>
            <a:off x="7819670" y="4714728"/>
            <a:ext cx="35661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150"/>
              <a:buFont typeface="Calibri"/>
              <a:buNone/>
            </a:pPr>
            <a:r>
              <a:rPr b="1" i="0" lang="en-US" sz="1200" u="none" cap="none" strike="noStrike">
                <a:solidFill>
                  <a:srgbClr val="2E8B57"/>
                </a:solidFill>
              </a:rPr>
              <a:t>Autonomous</a:t>
            </a:r>
            <a:r>
              <a:rPr lang="en-US" sz="1200">
                <a:solidFill>
                  <a:srgbClr val="5B6B7F"/>
                </a:solidFill>
              </a:rPr>
              <a:t>:</a:t>
            </a:r>
            <a:r>
              <a:rPr i="0" lang="en-US" sz="1200" u="none" cap="none" strike="noStrike">
                <a:solidFill>
                  <a:srgbClr val="5B6B7F"/>
                </a:solidFill>
              </a:rPr>
              <a:t>  </a:t>
            </a:r>
            <a:r>
              <a:rPr lang="en-US" sz="1200">
                <a:solidFill>
                  <a:srgbClr val="5B6B7F"/>
                </a:solidFill>
              </a:rPr>
              <a:t>T</a:t>
            </a:r>
            <a:r>
              <a:rPr i="0" lang="en-US" sz="1200" u="none" cap="none" strike="noStrike">
                <a:solidFill>
                  <a:srgbClr val="5B6B7F"/>
                </a:solidFill>
              </a:rPr>
              <a:t>he vehicle decides and acts on its own, in real time</a:t>
            </a:r>
            <a:endParaRPr i="0" sz="1200" u="none" cap="none" strike="noStrike">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8" name="Shape 1598"/>
        <p:cNvGrpSpPr/>
        <p:nvPr/>
      </p:nvGrpSpPr>
      <p:grpSpPr>
        <a:xfrm>
          <a:off x="0" y="0"/>
          <a:ext cx="0" cy="0"/>
          <a:chOff x="0" y="0"/>
          <a:chExt cx="0" cy="0"/>
        </a:xfrm>
      </p:grpSpPr>
      <p:sp>
        <p:nvSpPr>
          <p:cNvPr id="1599" name="Google Shape;1599;p61"/>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600" name="Google Shape;1600;p61"/>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601" name="Google Shape;1601;p61"/>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p:txBody>
      </p:sp>
      <p:sp>
        <p:nvSpPr>
          <p:cNvPr id="1602" name="Google Shape;1602;p61"/>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b="1" sz="1000">
              <a:solidFill>
                <a:srgbClr val="B8932E"/>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603" name="Google Shape;1603;p61"/>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Confidence Threshold</a:t>
            </a:r>
            <a:endParaRPr b="0" i="0" sz="3000" u="none" cap="none" strike="noStrike">
              <a:solidFill>
                <a:schemeClr val="dk1"/>
              </a:solidFill>
              <a:latin typeface="Calibri"/>
              <a:ea typeface="Calibri"/>
              <a:cs typeface="Calibri"/>
              <a:sym typeface="Calibri"/>
            </a:endParaRPr>
          </a:p>
        </p:txBody>
      </p:sp>
      <p:sp>
        <p:nvSpPr>
          <p:cNvPr id="1604" name="Google Shape;1604;p61"/>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61"/>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606" name="Google Shape;1606;p61"/>
          <p:cNvSpPr/>
          <p:nvPr/>
        </p:nvSpPr>
        <p:spPr>
          <a:xfrm>
            <a:off x="548640" y="1463040"/>
            <a:ext cx="11091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450"/>
              <a:buFont typeface="Calibri"/>
              <a:buNone/>
            </a:pPr>
            <a:r>
              <a:rPr i="0" lang="en-US" sz="1600" u="none" cap="none" strike="noStrike">
                <a:solidFill>
                  <a:srgbClr val="42536B"/>
                </a:solidFill>
              </a:rPr>
              <a:t>The detector never just says “attack” or “fine”</a:t>
            </a:r>
            <a:r>
              <a:rPr lang="en-US" sz="1600">
                <a:solidFill>
                  <a:srgbClr val="42536B"/>
                </a:solidFill>
              </a:rPr>
              <a:t>. I</a:t>
            </a:r>
            <a:r>
              <a:rPr i="0" lang="en-US" sz="1600" u="none" cap="none" strike="noStrike">
                <a:solidFill>
                  <a:srgbClr val="42536B"/>
                </a:solidFill>
              </a:rPr>
              <a:t>t outputs a confidence score. </a:t>
            </a:r>
            <a:endParaRPr i="0" sz="1600" u="none" cap="none" strike="noStrike">
              <a:solidFill>
                <a:srgbClr val="000000"/>
              </a:solidFill>
            </a:endParaRPr>
          </a:p>
        </p:txBody>
      </p:sp>
      <p:sp>
        <p:nvSpPr>
          <p:cNvPr id="1607" name="Google Shape;1607;p61"/>
          <p:cNvSpPr/>
          <p:nvPr/>
        </p:nvSpPr>
        <p:spPr>
          <a:xfrm>
            <a:off x="1467578" y="2779856"/>
            <a:ext cx="9235500" cy="201300"/>
          </a:xfrm>
          <a:prstGeom prst="roundRect">
            <a:avLst>
              <a:gd fmla="val 50000" name="adj"/>
            </a:avLst>
          </a:prstGeom>
          <a:solidFill>
            <a:srgbClr val="EDE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61"/>
          <p:cNvSpPr/>
          <p:nvPr/>
        </p:nvSpPr>
        <p:spPr>
          <a:xfrm>
            <a:off x="7932386" y="2779856"/>
            <a:ext cx="2770500" cy="201300"/>
          </a:xfrm>
          <a:prstGeom prst="roundRect">
            <a:avLst>
              <a:gd fmla="val 50000" name="adj"/>
            </a:avLst>
          </a:prstGeom>
          <a:solidFill>
            <a:srgbClr val="FDE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61"/>
          <p:cNvSpPr/>
          <p:nvPr/>
        </p:nvSpPr>
        <p:spPr>
          <a:xfrm>
            <a:off x="1010378" y="2715848"/>
            <a:ext cx="4572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200"/>
              <a:buFont typeface="Consolas"/>
              <a:buNone/>
            </a:pPr>
            <a:r>
              <a:rPr b="0" i="0" lang="en-US" sz="1200" u="none" cap="none" strike="noStrike">
                <a:solidFill>
                  <a:srgbClr val="5B6B7F"/>
                </a:solidFill>
                <a:latin typeface="Consolas"/>
                <a:ea typeface="Consolas"/>
                <a:cs typeface="Consolas"/>
                <a:sym typeface="Consolas"/>
              </a:rPr>
              <a:t>0.0</a:t>
            </a:r>
            <a:endParaRPr b="0" i="0" sz="1200" u="none" cap="none" strike="noStrike">
              <a:solidFill>
                <a:srgbClr val="000000"/>
              </a:solidFill>
              <a:latin typeface="Calibri"/>
              <a:ea typeface="Calibri"/>
              <a:cs typeface="Calibri"/>
              <a:sym typeface="Calibri"/>
            </a:endParaRPr>
          </a:p>
        </p:txBody>
      </p:sp>
      <p:sp>
        <p:nvSpPr>
          <p:cNvPr id="1610" name="Google Shape;1610;p61"/>
          <p:cNvSpPr/>
          <p:nvPr/>
        </p:nvSpPr>
        <p:spPr>
          <a:xfrm>
            <a:off x="10721306" y="2715848"/>
            <a:ext cx="4572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200"/>
              <a:buFont typeface="Consolas"/>
              <a:buNone/>
            </a:pPr>
            <a:r>
              <a:rPr b="0" i="0" lang="en-US" sz="1200" u="none" cap="none" strike="noStrike">
                <a:solidFill>
                  <a:srgbClr val="5B6B7F"/>
                </a:solidFill>
                <a:latin typeface="Consolas"/>
                <a:ea typeface="Consolas"/>
                <a:cs typeface="Consolas"/>
                <a:sym typeface="Consolas"/>
              </a:rPr>
              <a:t>1.0</a:t>
            </a:r>
            <a:endParaRPr b="0" i="0" sz="1200" u="none" cap="none" strike="noStrike">
              <a:solidFill>
                <a:srgbClr val="000000"/>
              </a:solidFill>
              <a:latin typeface="Calibri"/>
              <a:ea typeface="Calibri"/>
              <a:cs typeface="Calibri"/>
              <a:sym typeface="Calibri"/>
            </a:endParaRPr>
          </a:p>
        </p:txBody>
      </p:sp>
      <p:sp>
        <p:nvSpPr>
          <p:cNvPr id="1611" name="Google Shape;1611;p61"/>
          <p:cNvSpPr/>
          <p:nvPr/>
        </p:nvSpPr>
        <p:spPr>
          <a:xfrm>
            <a:off x="7919584" y="2377520"/>
            <a:ext cx="25500" cy="1005900"/>
          </a:xfrm>
          <a:prstGeom prst="rect">
            <a:avLst/>
          </a:prstGeom>
          <a:solidFill>
            <a:srgbClr val="1A2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61"/>
          <p:cNvSpPr/>
          <p:nvPr/>
        </p:nvSpPr>
        <p:spPr>
          <a:xfrm>
            <a:off x="7804370" y="2752424"/>
            <a:ext cx="255900" cy="255900"/>
          </a:xfrm>
          <a:prstGeom prst="ellipse">
            <a:avLst/>
          </a:prstGeom>
          <a:solidFill>
            <a:srgbClr val="1A2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61"/>
          <p:cNvSpPr/>
          <p:nvPr/>
        </p:nvSpPr>
        <p:spPr>
          <a:xfrm>
            <a:off x="6835105" y="2011760"/>
            <a:ext cx="21945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400"/>
              <a:buFont typeface="Calibri"/>
              <a:buNone/>
            </a:pPr>
            <a:r>
              <a:rPr b="1" i="0" lang="en-US" sz="1400" u="none" cap="none" strike="noStrike">
                <a:solidFill>
                  <a:srgbClr val="1A2433"/>
                </a:solidFill>
              </a:rPr>
              <a:t>threshold  0.7</a:t>
            </a:r>
            <a:endParaRPr i="0" sz="1400" u="none" cap="none" strike="noStrike">
              <a:solidFill>
                <a:srgbClr val="000000"/>
              </a:solidFill>
            </a:endParaRPr>
          </a:p>
        </p:txBody>
      </p:sp>
      <p:sp>
        <p:nvSpPr>
          <p:cNvPr id="1614" name="Google Shape;1614;p61"/>
          <p:cNvSpPr/>
          <p:nvPr/>
        </p:nvSpPr>
        <p:spPr>
          <a:xfrm>
            <a:off x="1467578" y="3099896"/>
            <a:ext cx="6464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1250"/>
              <a:buFont typeface="Calibri"/>
              <a:buNone/>
            </a:pPr>
            <a:r>
              <a:rPr i="1" lang="en-US" sz="1250" u="none" cap="none" strike="noStrike">
                <a:solidFill>
                  <a:srgbClr val="2E8B57"/>
                </a:solidFill>
              </a:rPr>
              <a:t>below — treat as normal / cautious</a:t>
            </a:r>
            <a:endParaRPr i="0" sz="1250" u="none" cap="none" strike="noStrike">
              <a:solidFill>
                <a:srgbClr val="000000"/>
              </a:solidFill>
            </a:endParaRPr>
          </a:p>
        </p:txBody>
      </p:sp>
      <p:sp>
        <p:nvSpPr>
          <p:cNvPr id="1615" name="Google Shape;1615;p61"/>
          <p:cNvSpPr/>
          <p:nvPr/>
        </p:nvSpPr>
        <p:spPr>
          <a:xfrm>
            <a:off x="7932386" y="3099896"/>
            <a:ext cx="27705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43A"/>
              </a:buClr>
              <a:buSzPts val="1250"/>
              <a:buFont typeface="Calibri"/>
              <a:buNone/>
            </a:pPr>
            <a:r>
              <a:rPr i="1" lang="en-US" sz="1250" u="none" cap="none" strike="noStrike">
                <a:solidFill>
                  <a:srgbClr val="E8443A"/>
                </a:solidFill>
              </a:rPr>
              <a:t>at or above — act on it</a:t>
            </a:r>
            <a:endParaRPr i="0" sz="1250" u="none" cap="none" strike="noStrike">
              <a:solidFill>
                <a:srgbClr val="000000"/>
              </a:solidFill>
            </a:endParaRPr>
          </a:p>
        </p:txBody>
      </p:sp>
      <p:sp>
        <p:nvSpPr>
          <p:cNvPr id="1616" name="Google Shape;1616;p61"/>
          <p:cNvSpPr/>
          <p:nvPr/>
        </p:nvSpPr>
        <p:spPr>
          <a:xfrm>
            <a:off x="495303" y="4004550"/>
            <a:ext cx="5449800" cy="1554600"/>
          </a:xfrm>
          <a:prstGeom prst="roundRect">
            <a:avLst>
              <a:gd fmla="val 5294" name="adj"/>
            </a:avLst>
          </a:prstGeom>
          <a:solidFill>
            <a:srgbClr val="FEF3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61"/>
          <p:cNvSpPr/>
          <p:nvPr/>
        </p:nvSpPr>
        <p:spPr>
          <a:xfrm>
            <a:off x="787823" y="4169083"/>
            <a:ext cx="548700" cy="5487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8" name="Google Shape;1618;p61"/>
          <p:cNvPicPr preferRelativeResize="0"/>
          <p:nvPr/>
        </p:nvPicPr>
        <p:blipFill rotWithShape="1">
          <a:blip r:embed="rId4">
            <a:alphaModFix/>
          </a:blip>
          <a:srcRect b="0" l="0" r="0" t="0"/>
          <a:stretch/>
        </p:blipFill>
        <p:spPr>
          <a:xfrm>
            <a:off x="930469" y="4311729"/>
            <a:ext cx="263347" cy="263347"/>
          </a:xfrm>
          <a:prstGeom prst="rect">
            <a:avLst/>
          </a:prstGeom>
          <a:noFill/>
          <a:ln>
            <a:noFill/>
          </a:ln>
        </p:spPr>
      </p:pic>
      <p:sp>
        <p:nvSpPr>
          <p:cNvPr id="1619" name="Google Shape;1619;p61"/>
          <p:cNvSpPr/>
          <p:nvPr/>
        </p:nvSpPr>
        <p:spPr>
          <a:xfrm>
            <a:off x="1638303" y="4260582"/>
            <a:ext cx="4306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8C00"/>
              </a:buClr>
              <a:buSzPts val="1600"/>
              <a:buFont typeface="Calibri"/>
              <a:buNone/>
            </a:pPr>
            <a:r>
              <a:rPr b="1" i="0" lang="en-US" sz="1600" u="none" cap="none" strike="noStrike">
                <a:solidFill>
                  <a:srgbClr val="F08C00"/>
                </a:solidFill>
              </a:rPr>
              <a:t>Threshold too low</a:t>
            </a:r>
            <a:endParaRPr i="0" sz="1600" u="none" cap="none" strike="noStrike">
              <a:solidFill>
                <a:srgbClr val="000000"/>
              </a:solidFill>
            </a:endParaRPr>
          </a:p>
        </p:txBody>
      </p:sp>
      <p:sp>
        <p:nvSpPr>
          <p:cNvPr id="1620" name="Google Shape;1620;p61"/>
          <p:cNvSpPr/>
          <p:nvPr/>
        </p:nvSpPr>
        <p:spPr>
          <a:xfrm>
            <a:off x="769622" y="4717782"/>
            <a:ext cx="49470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50"/>
              <a:buFont typeface="Calibri"/>
              <a:buNone/>
            </a:pPr>
            <a:r>
              <a:rPr i="0" lang="en-US" sz="1200" u="none" cap="none" strike="noStrike">
                <a:solidFill>
                  <a:srgbClr val="42536B"/>
                </a:solidFill>
              </a:rPr>
              <a:t>Every flicker becomes an alert. The vehicle brakes at shadows — false alarms are themselves a safety hazard, and operators stop trusting the system.</a:t>
            </a:r>
            <a:endParaRPr i="0" sz="1200" u="none" cap="none" strike="noStrike">
              <a:solidFill>
                <a:srgbClr val="000000"/>
              </a:solidFill>
            </a:endParaRPr>
          </a:p>
        </p:txBody>
      </p:sp>
      <p:sp>
        <p:nvSpPr>
          <p:cNvPr id="1621" name="Google Shape;1621;p61"/>
          <p:cNvSpPr/>
          <p:nvPr/>
        </p:nvSpPr>
        <p:spPr>
          <a:xfrm>
            <a:off x="6246879" y="4004550"/>
            <a:ext cx="5449800" cy="1554600"/>
          </a:xfrm>
          <a:prstGeom prst="roundRect">
            <a:avLst>
              <a:gd fmla="val 5294"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61"/>
          <p:cNvSpPr/>
          <p:nvPr/>
        </p:nvSpPr>
        <p:spPr>
          <a:xfrm>
            <a:off x="6521199" y="4188058"/>
            <a:ext cx="548700" cy="5487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3" name="Google Shape;1623;p61"/>
          <p:cNvPicPr preferRelativeResize="0"/>
          <p:nvPr/>
        </p:nvPicPr>
        <p:blipFill rotWithShape="1">
          <a:blip r:embed="rId5">
            <a:alphaModFix/>
          </a:blip>
          <a:srcRect b="0" l="0" r="0" t="0"/>
          <a:stretch/>
        </p:blipFill>
        <p:spPr>
          <a:xfrm>
            <a:off x="6663845" y="4330704"/>
            <a:ext cx="263347" cy="263347"/>
          </a:xfrm>
          <a:prstGeom prst="rect">
            <a:avLst/>
          </a:prstGeom>
          <a:noFill/>
          <a:ln>
            <a:noFill/>
          </a:ln>
        </p:spPr>
      </p:pic>
      <p:sp>
        <p:nvSpPr>
          <p:cNvPr id="1624" name="Google Shape;1624;p61"/>
          <p:cNvSpPr/>
          <p:nvPr/>
        </p:nvSpPr>
        <p:spPr>
          <a:xfrm>
            <a:off x="7333459" y="4265782"/>
            <a:ext cx="4306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1600"/>
              <a:buFont typeface="Calibri"/>
              <a:buNone/>
            </a:pPr>
            <a:r>
              <a:rPr b="1" i="0" lang="en-US" sz="1600" u="none" cap="none" strike="noStrike">
                <a:solidFill>
                  <a:srgbClr val="2D6CDF"/>
                </a:solidFill>
              </a:rPr>
              <a:t>Threshold too high</a:t>
            </a:r>
            <a:endParaRPr i="0" sz="1600" u="none" cap="none" strike="noStrike">
              <a:solidFill>
                <a:srgbClr val="000000"/>
              </a:solidFill>
            </a:endParaRPr>
          </a:p>
        </p:txBody>
      </p:sp>
      <p:sp>
        <p:nvSpPr>
          <p:cNvPr id="1625" name="Google Shape;1625;p61"/>
          <p:cNvSpPr/>
          <p:nvPr/>
        </p:nvSpPr>
        <p:spPr>
          <a:xfrm>
            <a:off x="6521199" y="4717782"/>
            <a:ext cx="49470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50"/>
              <a:buFont typeface="Calibri"/>
              <a:buNone/>
            </a:pPr>
            <a:r>
              <a:rPr i="0" lang="en-US" sz="1200" u="none" cap="none" strike="noStrike">
                <a:solidFill>
                  <a:srgbClr val="42536B"/>
                </a:solidFill>
              </a:rPr>
              <a:t>Only </a:t>
            </a:r>
            <a:r>
              <a:rPr lang="en-US" sz="1200">
                <a:solidFill>
                  <a:srgbClr val="42536B"/>
                </a:solidFill>
              </a:rPr>
              <a:t>in</a:t>
            </a:r>
            <a:r>
              <a:rPr i="0" lang="en-US" sz="1200" u="none" cap="none" strike="noStrike">
                <a:solidFill>
                  <a:srgbClr val="42536B"/>
                </a:solidFill>
              </a:rPr>
              <a:t>-certain threats get through. Real attacks and faults slip by while confidence climbs</a:t>
            </a:r>
            <a:r>
              <a:rPr lang="en-US" sz="1200">
                <a:solidFill>
                  <a:srgbClr val="42536B"/>
                </a:solidFill>
              </a:rPr>
              <a:t>.</a:t>
            </a:r>
            <a:r>
              <a:rPr i="0" lang="en-US" sz="1200" u="none" cap="none" strike="noStrike">
                <a:solidFill>
                  <a:srgbClr val="42536B"/>
                </a:solidFill>
              </a:rPr>
              <a:t> </a:t>
            </a:r>
            <a:r>
              <a:rPr lang="en-US" sz="1200">
                <a:solidFill>
                  <a:srgbClr val="42536B"/>
                </a:solidFill>
              </a:rPr>
              <a:t>T</a:t>
            </a:r>
            <a:r>
              <a:rPr i="0" lang="en-US" sz="1200" u="none" cap="none" strike="noStrike">
                <a:solidFill>
                  <a:srgbClr val="42536B"/>
                </a:solidFill>
              </a:rPr>
              <a:t>he vehicle reacts too late.</a:t>
            </a:r>
            <a:endParaRPr i="0" sz="1200" u="none" cap="none" strike="noStrike">
              <a:solidFill>
                <a:srgbClr val="000000"/>
              </a:solidFill>
            </a:endParaRPr>
          </a:p>
        </p:txBody>
      </p:sp>
      <p:sp>
        <p:nvSpPr>
          <p:cNvPr id="1626" name="Google Shape;1626;p61"/>
          <p:cNvSpPr/>
          <p:nvPr/>
        </p:nvSpPr>
        <p:spPr>
          <a:xfrm>
            <a:off x="495303" y="5696190"/>
            <a:ext cx="11091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250"/>
              <a:buFont typeface="Calibri"/>
              <a:buNone/>
            </a:pPr>
            <a:r>
              <a:rPr b="1" i="0" lang="en-US" sz="1250" u="none" cap="none" strike="noStrike">
                <a:solidFill>
                  <a:srgbClr val="1A2433"/>
                </a:solidFill>
                <a:latin typeface="Calibri"/>
                <a:ea typeface="Calibri"/>
                <a:cs typeface="Calibri"/>
                <a:sym typeface="Calibri"/>
              </a:rPr>
              <a:t>The threshold is the dial between these two. </a:t>
            </a:r>
            <a:r>
              <a:rPr b="1" lang="en-US" sz="1250">
                <a:solidFill>
                  <a:srgbClr val="1A2433"/>
                </a:solidFill>
                <a:latin typeface="Calibri"/>
                <a:ea typeface="Calibri"/>
                <a:cs typeface="Calibri"/>
                <a:sym typeface="Calibri"/>
              </a:rPr>
              <a:t>In the hands-on experiment, we will use 0.7.</a:t>
            </a:r>
            <a:endParaRPr b="0" i="0" sz="1250" u="none" cap="none" strike="noStrike">
              <a:solidFill>
                <a:srgbClr val="000000"/>
              </a:solidFill>
              <a:latin typeface="Calibri"/>
              <a:ea typeface="Calibri"/>
              <a:cs typeface="Calibri"/>
              <a:sym typeface="Calibri"/>
            </a:endParaRPr>
          </a:p>
        </p:txBody>
      </p:sp>
      <p:sp>
        <p:nvSpPr>
          <p:cNvPr id="1627" name="Google Shape;1627;p61"/>
          <p:cNvSpPr/>
          <p:nvPr/>
        </p:nvSpPr>
        <p:spPr>
          <a:xfrm>
            <a:off x="11521440" y="6400800"/>
            <a:ext cx="4572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2536B"/>
              </a:buClr>
              <a:buSzPts val="1300"/>
              <a:buFont typeface="Calibri"/>
              <a:buNone/>
            </a:pPr>
            <a:r>
              <a:rPr b="0" i="0" lang="en-US" sz="1300" u="none" cap="none" strike="noStrike">
                <a:solidFill>
                  <a:srgbClr val="42536B"/>
                </a:solidFill>
                <a:latin typeface="Calibri"/>
                <a:ea typeface="Calibri"/>
                <a:cs typeface="Calibri"/>
                <a:sym typeface="Calibri"/>
              </a:rPr>
              <a:t>18</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1" name="Shape 1631"/>
        <p:cNvGrpSpPr/>
        <p:nvPr/>
      </p:nvGrpSpPr>
      <p:grpSpPr>
        <a:xfrm>
          <a:off x="0" y="0"/>
          <a:ext cx="0" cy="0"/>
          <a:chOff x="0" y="0"/>
          <a:chExt cx="0" cy="0"/>
        </a:xfrm>
      </p:grpSpPr>
      <p:sp>
        <p:nvSpPr>
          <p:cNvPr id="1632" name="Google Shape;1632;p62"/>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633" name="Google Shape;1633;p62"/>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634" name="Google Shape;1634;p62"/>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635" name="Google Shape;1635;p62"/>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636" name="Google Shape;1636;p62"/>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Decision to Vehicle Action</a:t>
            </a:r>
            <a:endParaRPr b="0" i="0" sz="3000" u="none" cap="none" strike="noStrike">
              <a:solidFill>
                <a:schemeClr val="dk1"/>
              </a:solidFill>
              <a:latin typeface="Calibri"/>
              <a:ea typeface="Calibri"/>
              <a:cs typeface="Calibri"/>
              <a:sym typeface="Calibri"/>
            </a:endParaRPr>
          </a:p>
        </p:txBody>
      </p:sp>
      <p:sp>
        <p:nvSpPr>
          <p:cNvPr id="1637" name="Google Shape;1637;p62"/>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62"/>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639" name="Google Shape;1639;p62"/>
          <p:cNvSpPr/>
          <p:nvPr/>
        </p:nvSpPr>
        <p:spPr>
          <a:xfrm>
            <a:off x="548640" y="1481328"/>
            <a:ext cx="11064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500"/>
              <a:buFont typeface="Calibri"/>
              <a:buNone/>
            </a:pPr>
            <a:r>
              <a:rPr i="0" lang="en-US" sz="1500" u="none" cap="none" strike="noStrike">
                <a:solidFill>
                  <a:srgbClr val="42536B"/>
                </a:solidFill>
              </a:rPr>
              <a:t>The response layer continuously tracks the vehicle's state</a:t>
            </a:r>
            <a:r>
              <a:rPr lang="en-US" sz="1500">
                <a:solidFill>
                  <a:srgbClr val="42536B"/>
                </a:solidFill>
              </a:rPr>
              <a:t> such as </a:t>
            </a:r>
            <a:r>
              <a:rPr i="0" lang="en-US" sz="1500" u="none" cap="none" strike="noStrike">
                <a:solidFill>
                  <a:srgbClr val="42536B"/>
                </a:solidFill>
              </a:rPr>
              <a:t>speed, target speed, communication status, and active anomalies</a:t>
            </a:r>
            <a:r>
              <a:rPr lang="en-US" sz="1500">
                <a:solidFill>
                  <a:srgbClr val="42536B"/>
                </a:solidFill>
              </a:rPr>
              <a:t> </a:t>
            </a:r>
            <a:r>
              <a:rPr i="0" lang="en-US" sz="1500" u="none" cap="none" strike="noStrike">
                <a:solidFill>
                  <a:srgbClr val="42536B"/>
                </a:solidFill>
              </a:rPr>
              <a:t>and translates every decision into a concrete, safe maneuver.</a:t>
            </a:r>
            <a:endParaRPr i="0" sz="1500" u="none" cap="none" strike="noStrike">
              <a:solidFill>
                <a:srgbClr val="000000"/>
              </a:solidFill>
            </a:endParaRPr>
          </a:p>
        </p:txBody>
      </p:sp>
      <p:sp>
        <p:nvSpPr>
          <p:cNvPr id="1640" name="Google Shape;1640;p62"/>
          <p:cNvSpPr/>
          <p:nvPr/>
        </p:nvSpPr>
        <p:spPr>
          <a:xfrm>
            <a:off x="548640" y="2286000"/>
            <a:ext cx="11091600" cy="1234500"/>
          </a:xfrm>
          <a:prstGeom prst="roundRect">
            <a:avLst>
              <a:gd fmla="val 6667"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62"/>
          <p:cNvSpPr/>
          <p:nvPr/>
        </p:nvSpPr>
        <p:spPr>
          <a:xfrm>
            <a:off x="868680" y="2606040"/>
            <a:ext cx="594300" cy="594300"/>
          </a:xfrm>
          <a:prstGeom prst="ellipse">
            <a:avLst/>
          </a:prstGeom>
          <a:solidFill>
            <a:srgbClr val="E84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2" name="Google Shape;1642;p62"/>
          <p:cNvPicPr preferRelativeResize="0"/>
          <p:nvPr/>
        </p:nvPicPr>
        <p:blipFill rotWithShape="1">
          <a:blip r:embed="rId4">
            <a:alphaModFix/>
          </a:blip>
          <a:srcRect b="0" l="0" r="0" t="0"/>
          <a:stretch/>
        </p:blipFill>
        <p:spPr>
          <a:xfrm>
            <a:off x="1023214" y="2760574"/>
            <a:ext cx="285293" cy="285293"/>
          </a:xfrm>
          <a:prstGeom prst="rect">
            <a:avLst/>
          </a:prstGeom>
          <a:noFill/>
          <a:ln>
            <a:noFill/>
          </a:ln>
        </p:spPr>
      </p:pic>
      <p:sp>
        <p:nvSpPr>
          <p:cNvPr id="1643" name="Google Shape;1643;p62"/>
          <p:cNvSpPr/>
          <p:nvPr/>
        </p:nvSpPr>
        <p:spPr>
          <a:xfrm>
            <a:off x="1691640" y="2432304"/>
            <a:ext cx="9692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650"/>
              <a:buFont typeface="Calibri"/>
              <a:buNone/>
            </a:pPr>
            <a:r>
              <a:rPr b="1" i="0" lang="en-US" sz="1600" u="none" cap="none" strike="noStrike">
                <a:solidFill>
                  <a:srgbClr val="1A2433"/>
                </a:solidFill>
              </a:rPr>
              <a:t>Physical response</a:t>
            </a:r>
            <a:r>
              <a:rPr b="1" lang="en-US" sz="1600">
                <a:solidFill>
                  <a:srgbClr val="1A2433"/>
                </a:solidFill>
              </a:rPr>
              <a:t>:</a:t>
            </a:r>
            <a:r>
              <a:rPr b="1" i="0" lang="en-US" sz="1600" u="none" cap="none" strike="noStrike">
                <a:solidFill>
                  <a:srgbClr val="1A2433"/>
                </a:solidFill>
              </a:rPr>
              <a:t> </a:t>
            </a:r>
            <a:r>
              <a:rPr b="1" lang="en-US" sz="1600">
                <a:solidFill>
                  <a:srgbClr val="1A2433"/>
                </a:solidFill>
              </a:rPr>
              <a:t>S</a:t>
            </a:r>
            <a:r>
              <a:rPr b="1" i="0" lang="en-US" sz="1600" u="none" cap="none" strike="noStrike">
                <a:solidFill>
                  <a:srgbClr val="1A2433"/>
                </a:solidFill>
              </a:rPr>
              <a:t>low the vehicle</a:t>
            </a:r>
            <a:endParaRPr i="0" sz="1600" u="none" cap="none" strike="noStrike">
              <a:solidFill>
                <a:srgbClr val="000000"/>
              </a:solidFill>
            </a:endParaRPr>
          </a:p>
        </p:txBody>
      </p:sp>
      <p:sp>
        <p:nvSpPr>
          <p:cNvPr id="1644" name="Google Shape;1644;p62"/>
          <p:cNvSpPr/>
          <p:nvPr/>
        </p:nvSpPr>
        <p:spPr>
          <a:xfrm>
            <a:off x="1691640" y="2798064"/>
            <a:ext cx="96468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50"/>
              <a:buFont typeface="Calibri"/>
              <a:buNone/>
            </a:pPr>
            <a:r>
              <a:rPr i="0" lang="en-US" u="none" cap="none" strike="noStrike">
                <a:solidFill>
                  <a:srgbClr val="42536B"/>
                </a:solidFill>
              </a:rPr>
              <a:t>Gradual, controlled speed reduction keeps the vehicle stable while a suspected brake or engine fault is active. No abrupt braking </a:t>
            </a:r>
            <a:r>
              <a:rPr lang="en-US">
                <a:solidFill>
                  <a:srgbClr val="42536B"/>
                </a:solidFill>
              </a:rPr>
              <a:t>and </a:t>
            </a:r>
            <a:r>
              <a:rPr i="0" lang="en-US" u="none" cap="none" strike="noStrike">
                <a:solidFill>
                  <a:srgbClr val="42536B"/>
                </a:solidFill>
              </a:rPr>
              <a:t>smooth deceleration toward the reduced target.</a:t>
            </a:r>
            <a:endParaRPr i="0" u="none" cap="none" strike="noStrike">
              <a:solidFill>
                <a:srgbClr val="000000"/>
              </a:solidFill>
            </a:endParaRPr>
          </a:p>
        </p:txBody>
      </p:sp>
      <p:sp>
        <p:nvSpPr>
          <p:cNvPr id="1645" name="Google Shape;1645;p62"/>
          <p:cNvSpPr/>
          <p:nvPr/>
        </p:nvSpPr>
        <p:spPr>
          <a:xfrm>
            <a:off x="548640" y="3703320"/>
            <a:ext cx="11091600" cy="1234500"/>
          </a:xfrm>
          <a:prstGeom prst="roundRect">
            <a:avLst>
              <a:gd fmla="val 6667"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62"/>
          <p:cNvSpPr/>
          <p:nvPr/>
        </p:nvSpPr>
        <p:spPr>
          <a:xfrm>
            <a:off x="868680" y="4023360"/>
            <a:ext cx="594300" cy="5943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7" name="Google Shape;1647;p62"/>
          <p:cNvPicPr preferRelativeResize="0"/>
          <p:nvPr/>
        </p:nvPicPr>
        <p:blipFill rotWithShape="1">
          <a:blip r:embed="rId5">
            <a:alphaModFix/>
          </a:blip>
          <a:srcRect b="0" l="0" r="0" t="0"/>
          <a:stretch/>
        </p:blipFill>
        <p:spPr>
          <a:xfrm>
            <a:off x="1023214" y="4177894"/>
            <a:ext cx="285293" cy="285293"/>
          </a:xfrm>
          <a:prstGeom prst="rect">
            <a:avLst/>
          </a:prstGeom>
          <a:noFill/>
          <a:ln>
            <a:noFill/>
          </a:ln>
        </p:spPr>
      </p:pic>
      <p:sp>
        <p:nvSpPr>
          <p:cNvPr id="1648" name="Google Shape;1648;p62"/>
          <p:cNvSpPr/>
          <p:nvPr/>
        </p:nvSpPr>
        <p:spPr>
          <a:xfrm>
            <a:off x="1691640" y="3849624"/>
            <a:ext cx="9692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650"/>
              <a:buFont typeface="Calibri"/>
              <a:buNone/>
            </a:pPr>
            <a:r>
              <a:rPr b="1" i="0" lang="en-US" sz="1600" u="none" cap="none" strike="noStrike">
                <a:solidFill>
                  <a:srgbClr val="1A2433"/>
                </a:solidFill>
              </a:rPr>
              <a:t>Network response</a:t>
            </a:r>
            <a:r>
              <a:rPr b="1" lang="en-US" sz="1600">
                <a:solidFill>
                  <a:srgbClr val="1A2433"/>
                </a:solidFill>
              </a:rPr>
              <a:t>: C</a:t>
            </a:r>
            <a:r>
              <a:rPr b="1" i="0" lang="en-US" sz="1600" u="none" cap="none" strike="noStrike">
                <a:solidFill>
                  <a:srgbClr val="1A2433"/>
                </a:solidFill>
              </a:rPr>
              <a:t>ut the attack surface</a:t>
            </a:r>
            <a:endParaRPr i="0" sz="1600" u="none" cap="none" strike="noStrike">
              <a:solidFill>
                <a:srgbClr val="000000"/>
              </a:solidFill>
            </a:endParaRPr>
          </a:p>
        </p:txBody>
      </p:sp>
      <p:sp>
        <p:nvSpPr>
          <p:cNvPr id="1649" name="Google Shape;1649;p62"/>
          <p:cNvSpPr/>
          <p:nvPr/>
        </p:nvSpPr>
        <p:spPr>
          <a:xfrm>
            <a:off x="1691640" y="4215384"/>
            <a:ext cx="96468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50"/>
              <a:buFont typeface="Calibri"/>
              <a:buNone/>
            </a:pPr>
            <a:r>
              <a:rPr i="0" lang="en-US" u="none" cap="none" strike="noStrike">
                <a:solidFill>
                  <a:srgbClr val="42536B"/>
                </a:solidFill>
              </a:rPr>
              <a:t>Communication systems are isolated and switched to secure protocols. The vehicle keeps driving at near-normal speed; the threat is contained at the network layer instead of the road.</a:t>
            </a:r>
            <a:endParaRPr i="0" u="none" cap="none" strike="noStrike">
              <a:solidFill>
                <a:srgbClr val="000000"/>
              </a:solidFill>
            </a:endParaRPr>
          </a:p>
        </p:txBody>
      </p:sp>
      <p:sp>
        <p:nvSpPr>
          <p:cNvPr id="1650" name="Google Shape;1650;p62"/>
          <p:cNvSpPr/>
          <p:nvPr/>
        </p:nvSpPr>
        <p:spPr>
          <a:xfrm>
            <a:off x="548640" y="5120640"/>
            <a:ext cx="11091600" cy="1234500"/>
          </a:xfrm>
          <a:prstGeom prst="roundRect">
            <a:avLst>
              <a:gd fmla="val 6667"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62"/>
          <p:cNvSpPr/>
          <p:nvPr/>
        </p:nvSpPr>
        <p:spPr>
          <a:xfrm>
            <a:off x="868680" y="5440680"/>
            <a:ext cx="594300" cy="5943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2" name="Google Shape;1652;p62"/>
          <p:cNvPicPr preferRelativeResize="0"/>
          <p:nvPr/>
        </p:nvPicPr>
        <p:blipFill rotWithShape="1">
          <a:blip r:embed="rId6">
            <a:alphaModFix/>
          </a:blip>
          <a:srcRect b="0" l="0" r="0" t="0"/>
          <a:stretch/>
        </p:blipFill>
        <p:spPr>
          <a:xfrm>
            <a:off x="1023214" y="5595214"/>
            <a:ext cx="285293" cy="285293"/>
          </a:xfrm>
          <a:prstGeom prst="rect">
            <a:avLst/>
          </a:prstGeom>
          <a:noFill/>
          <a:ln>
            <a:noFill/>
          </a:ln>
        </p:spPr>
      </p:pic>
      <p:sp>
        <p:nvSpPr>
          <p:cNvPr id="1653" name="Google Shape;1653;p62"/>
          <p:cNvSpPr/>
          <p:nvPr/>
        </p:nvSpPr>
        <p:spPr>
          <a:xfrm>
            <a:off x="1691640" y="5266944"/>
            <a:ext cx="9692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650"/>
              <a:buFont typeface="Calibri"/>
              <a:buNone/>
            </a:pPr>
            <a:r>
              <a:rPr b="1" i="0" lang="en-US" sz="1600" u="none" cap="none" strike="noStrike">
                <a:solidFill>
                  <a:srgbClr val="1A2433"/>
                </a:solidFill>
              </a:rPr>
              <a:t>Recovery</a:t>
            </a:r>
            <a:r>
              <a:rPr b="1" lang="en-US" sz="1600">
                <a:solidFill>
                  <a:srgbClr val="1A2433"/>
                </a:solidFill>
              </a:rPr>
              <a:t>:</a:t>
            </a:r>
            <a:r>
              <a:rPr b="1" i="0" lang="en-US" sz="1600" u="none" cap="none" strike="noStrike">
                <a:solidFill>
                  <a:srgbClr val="1A2433"/>
                </a:solidFill>
              </a:rPr>
              <a:t> </a:t>
            </a:r>
            <a:r>
              <a:rPr b="1" lang="en-US" sz="1600">
                <a:solidFill>
                  <a:srgbClr val="1A2433"/>
                </a:solidFill>
              </a:rPr>
              <a:t>R</a:t>
            </a:r>
            <a:r>
              <a:rPr b="1" i="0" lang="en-US" sz="1600" u="none" cap="none" strike="noStrike">
                <a:solidFill>
                  <a:srgbClr val="1A2433"/>
                </a:solidFill>
              </a:rPr>
              <a:t>eturn to normal</a:t>
            </a:r>
            <a:endParaRPr i="0" sz="1600" u="none" cap="none" strike="noStrike">
              <a:solidFill>
                <a:srgbClr val="000000"/>
              </a:solidFill>
            </a:endParaRPr>
          </a:p>
        </p:txBody>
      </p:sp>
      <p:sp>
        <p:nvSpPr>
          <p:cNvPr id="1654" name="Google Shape;1654;p62"/>
          <p:cNvSpPr/>
          <p:nvPr/>
        </p:nvSpPr>
        <p:spPr>
          <a:xfrm>
            <a:off x="1691640" y="5632704"/>
            <a:ext cx="96468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250"/>
              <a:buFont typeface="Calibri"/>
              <a:buNone/>
            </a:pPr>
            <a:r>
              <a:rPr i="0" lang="en-US" u="none" cap="none" strike="noStrike">
                <a:solidFill>
                  <a:srgbClr val="42536B"/>
                </a:solidFill>
              </a:rPr>
              <a:t>When an </a:t>
            </a:r>
            <a:r>
              <a:rPr lang="en-US">
                <a:solidFill>
                  <a:srgbClr val="42536B"/>
                </a:solidFill>
              </a:rPr>
              <a:t>anomaly</a:t>
            </a:r>
            <a:r>
              <a:rPr i="0" lang="en-US" u="none" cap="none" strike="noStrike">
                <a:solidFill>
                  <a:srgbClr val="42536B"/>
                </a:solidFill>
              </a:rPr>
              <a:t> duration expires, the system ramps speed back toward the 65 km/h target and restores communications, logging the full response cycle.</a:t>
            </a:r>
            <a:endParaRPr i="0" u="none" cap="none" strike="noStrike">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8" name="Shape 1658"/>
        <p:cNvGrpSpPr/>
        <p:nvPr/>
      </p:nvGrpSpPr>
      <p:grpSpPr>
        <a:xfrm>
          <a:off x="0" y="0"/>
          <a:ext cx="0" cy="0"/>
          <a:chOff x="0" y="0"/>
          <a:chExt cx="0" cy="0"/>
        </a:xfrm>
      </p:grpSpPr>
      <p:sp>
        <p:nvSpPr>
          <p:cNvPr id="1659" name="Google Shape;1659;p63"/>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660" name="Google Shape;1660;p63"/>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661" name="Google Shape;1661;p63"/>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662" name="Google Shape;1662;p63"/>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663" name="Google Shape;1663;p63"/>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System Architecture</a:t>
            </a:r>
            <a:endParaRPr b="0" i="0" sz="3000" u="none" cap="none" strike="noStrike">
              <a:solidFill>
                <a:schemeClr val="dk1"/>
              </a:solidFill>
              <a:latin typeface="Calibri"/>
              <a:ea typeface="Calibri"/>
              <a:cs typeface="Calibri"/>
              <a:sym typeface="Calibri"/>
            </a:endParaRPr>
          </a:p>
        </p:txBody>
      </p:sp>
      <p:sp>
        <p:nvSpPr>
          <p:cNvPr id="1664" name="Google Shape;1664;p63"/>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63"/>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666" name="Google Shape;1666;p63"/>
          <p:cNvSpPr txBox="1"/>
          <p:nvPr/>
        </p:nvSpPr>
        <p:spPr>
          <a:xfrm>
            <a:off x="953725" y="6205500"/>
            <a:ext cx="11154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Hamad, M., Finkenzeller, A., Kühr, M., Roberts, A., Maennel, O., Prevelakis, V., &amp; Steinhorst, S. (2024). REACT: Autonomous intrusion response system for intelligent vehicles. Computers &amp; Security, 145, 104008.</a:t>
            </a:r>
            <a:endParaRPr sz="800"/>
          </a:p>
        </p:txBody>
      </p:sp>
      <p:sp>
        <p:nvSpPr>
          <p:cNvPr id="1667" name="Google Shape;1667;p63"/>
          <p:cNvSpPr/>
          <p:nvPr/>
        </p:nvSpPr>
        <p:spPr>
          <a:xfrm>
            <a:off x="365746" y="1835975"/>
            <a:ext cx="2514600" cy="2286000"/>
          </a:xfrm>
          <a:prstGeom prst="roundRect">
            <a:avLst>
              <a:gd fmla="val 4000"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63"/>
          <p:cNvSpPr/>
          <p:nvPr/>
        </p:nvSpPr>
        <p:spPr>
          <a:xfrm>
            <a:off x="1303006" y="2110295"/>
            <a:ext cx="640200" cy="6402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9" name="Google Shape;1669;p63"/>
          <p:cNvPicPr preferRelativeResize="0"/>
          <p:nvPr/>
        </p:nvPicPr>
        <p:blipFill rotWithShape="1">
          <a:blip r:embed="rId4">
            <a:alphaModFix/>
          </a:blip>
          <a:srcRect b="0" l="0" r="0" t="0"/>
          <a:stretch/>
        </p:blipFill>
        <p:spPr>
          <a:xfrm>
            <a:off x="1469427" y="2276716"/>
            <a:ext cx="307238" cy="307238"/>
          </a:xfrm>
          <a:prstGeom prst="rect">
            <a:avLst/>
          </a:prstGeom>
          <a:noFill/>
          <a:ln>
            <a:noFill/>
          </a:ln>
        </p:spPr>
      </p:pic>
      <p:sp>
        <p:nvSpPr>
          <p:cNvPr id="1670" name="Google Shape;1670;p63"/>
          <p:cNvSpPr/>
          <p:nvPr/>
        </p:nvSpPr>
        <p:spPr>
          <a:xfrm>
            <a:off x="502906" y="2841815"/>
            <a:ext cx="2240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600"/>
              <a:buFont typeface="Calibri"/>
              <a:buNone/>
            </a:pPr>
            <a:r>
              <a:rPr b="1" i="0" lang="en-US" sz="1600" u="none" cap="none" strike="noStrike">
                <a:solidFill>
                  <a:srgbClr val="1A2433"/>
                </a:solidFill>
              </a:rPr>
              <a:t>Alert Detection</a:t>
            </a:r>
            <a:endParaRPr i="0" sz="1600" u="none" cap="none" strike="noStrike">
              <a:solidFill>
                <a:srgbClr val="000000"/>
              </a:solidFill>
            </a:endParaRPr>
          </a:p>
        </p:txBody>
      </p:sp>
      <p:sp>
        <p:nvSpPr>
          <p:cNvPr id="1671" name="Google Shape;1671;p63"/>
          <p:cNvSpPr/>
          <p:nvPr/>
        </p:nvSpPr>
        <p:spPr>
          <a:xfrm>
            <a:off x="548626" y="3207575"/>
            <a:ext cx="21489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200"/>
              <a:buFont typeface="Calibri"/>
              <a:buNone/>
            </a:pPr>
            <a:r>
              <a:rPr i="0" lang="en-US" sz="1200" u="none" cap="none" strike="noStrike">
                <a:solidFill>
                  <a:srgbClr val="42536B"/>
                </a:solidFill>
              </a:rPr>
              <a:t>Anomaly alerts arrive with type, confidence &amp; duration</a:t>
            </a:r>
            <a:endParaRPr i="0" sz="1200" u="none" cap="none" strike="noStrike">
              <a:solidFill>
                <a:srgbClr val="000000"/>
              </a:solidFill>
            </a:endParaRPr>
          </a:p>
        </p:txBody>
      </p:sp>
      <p:sp>
        <p:nvSpPr>
          <p:cNvPr id="1672" name="Google Shape;1672;p63"/>
          <p:cNvSpPr/>
          <p:nvPr/>
        </p:nvSpPr>
        <p:spPr>
          <a:xfrm>
            <a:off x="2953498" y="2850959"/>
            <a:ext cx="356700" cy="255900"/>
          </a:xfrm>
          <a:prstGeom prst="rightArrow">
            <a:avLst>
              <a:gd fmla="val 50000" name="adj1"/>
              <a:gd fmla="val 50000" name="adj2"/>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63"/>
          <p:cNvSpPr/>
          <p:nvPr/>
        </p:nvSpPr>
        <p:spPr>
          <a:xfrm>
            <a:off x="3383266" y="1835975"/>
            <a:ext cx="2514600" cy="2286000"/>
          </a:xfrm>
          <a:prstGeom prst="roundRect">
            <a:avLst>
              <a:gd fmla="val 4000"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63"/>
          <p:cNvSpPr/>
          <p:nvPr/>
        </p:nvSpPr>
        <p:spPr>
          <a:xfrm>
            <a:off x="4320526" y="2110295"/>
            <a:ext cx="640200" cy="6402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5" name="Google Shape;1675;p63"/>
          <p:cNvPicPr preferRelativeResize="0"/>
          <p:nvPr/>
        </p:nvPicPr>
        <p:blipFill rotWithShape="1">
          <a:blip r:embed="rId5">
            <a:alphaModFix/>
          </a:blip>
          <a:srcRect b="0" l="0" r="0" t="0"/>
          <a:stretch/>
        </p:blipFill>
        <p:spPr>
          <a:xfrm>
            <a:off x="4486947" y="2276716"/>
            <a:ext cx="307238" cy="307238"/>
          </a:xfrm>
          <a:prstGeom prst="rect">
            <a:avLst/>
          </a:prstGeom>
          <a:noFill/>
          <a:ln>
            <a:noFill/>
          </a:ln>
        </p:spPr>
      </p:pic>
      <p:sp>
        <p:nvSpPr>
          <p:cNvPr id="1676" name="Google Shape;1676;p63"/>
          <p:cNvSpPr/>
          <p:nvPr/>
        </p:nvSpPr>
        <p:spPr>
          <a:xfrm>
            <a:off x="3520426" y="2841815"/>
            <a:ext cx="2240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600"/>
              <a:buFont typeface="Calibri"/>
              <a:buNone/>
            </a:pPr>
            <a:r>
              <a:rPr b="1" i="0" lang="en-US" sz="1600" u="none" cap="none" strike="noStrike">
                <a:solidFill>
                  <a:srgbClr val="1A2433"/>
                </a:solidFill>
              </a:rPr>
              <a:t>Decision Engine</a:t>
            </a:r>
            <a:endParaRPr i="0" sz="1600" u="none" cap="none" strike="noStrike">
              <a:solidFill>
                <a:srgbClr val="000000"/>
              </a:solidFill>
            </a:endParaRPr>
          </a:p>
        </p:txBody>
      </p:sp>
      <p:sp>
        <p:nvSpPr>
          <p:cNvPr id="1677" name="Google Shape;1677;p63"/>
          <p:cNvSpPr/>
          <p:nvPr/>
        </p:nvSpPr>
        <p:spPr>
          <a:xfrm>
            <a:off x="3566146" y="3207575"/>
            <a:ext cx="21489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200"/>
              <a:buFont typeface="Calibri"/>
              <a:buNone/>
            </a:pPr>
            <a:r>
              <a:rPr i="0" lang="en-US" sz="1200" u="none" cap="none" strike="noStrike">
                <a:solidFill>
                  <a:srgbClr val="42536B"/>
                </a:solidFill>
              </a:rPr>
              <a:t>Confidence thresholding selects the response protocol</a:t>
            </a:r>
            <a:endParaRPr i="0" sz="1200" u="none" cap="none" strike="noStrike">
              <a:solidFill>
                <a:srgbClr val="000000"/>
              </a:solidFill>
            </a:endParaRPr>
          </a:p>
        </p:txBody>
      </p:sp>
      <p:sp>
        <p:nvSpPr>
          <p:cNvPr id="1678" name="Google Shape;1678;p63"/>
          <p:cNvSpPr/>
          <p:nvPr/>
        </p:nvSpPr>
        <p:spPr>
          <a:xfrm>
            <a:off x="5971018" y="2850959"/>
            <a:ext cx="356700" cy="255900"/>
          </a:xfrm>
          <a:prstGeom prst="rightArrow">
            <a:avLst>
              <a:gd fmla="val 50000" name="adj1"/>
              <a:gd fmla="val 50000" name="adj2"/>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63"/>
          <p:cNvSpPr/>
          <p:nvPr/>
        </p:nvSpPr>
        <p:spPr>
          <a:xfrm>
            <a:off x="6400786" y="1835975"/>
            <a:ext cx="2514600" cy="2286000"/>
          </a:xfrm>
          <a:prstGeom prst="roundRect">
            <a:avLst>
              <a:gd fmla="val 4000"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63"/>
          <p:cNvSpPr/>
          <p:nvPr/>
        </p:nvSpPr>
        <p:spPr>
          <a:xfrm>
            <a:off x="7338046" y="2110295"/>
            <a:ext cx="640200" cy="640200"/>
          </a:xfrm>
          <a:prstGeom prst="ellipse">
            <a:avLst/>
          </a:prstGeom>
          <a:solidFill>
            <a:srgbClr val="E84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1" name="Google Shape;1681;p63"/>
          <p:cNvPicPr preferRelativeResize="0"/>
          <p:nvPr/>
        </p:nvPicPr>
        <p:blipFill rotWithShape="1">
          <a:blip r:embed="rId6">
            <a:alphaModFix/>
          </a:blip>
          <a:srcRect b="0" l="0" r="0" t="0"/>
          <a:stretch/>
        </p:blipFill>
        <p:spPr>
          <a:xfrm>
            <a:off x="7504467" y="2276716"/>
            <a:ext cx="307238" cy="307238"/>
          </a:xfrm>
          <a:prstGeom prst="rect">
            <a:avLst/>
          </a:prstGeom>
          <a:noFill/>
          <a:ln>
            <a:noFill/>
          </a:ln>
        </p:spPr>
      </p:pic>
      <p:sp>
        <p:nvSpPr>
          <p:cNvPr id="1682" name="Google Shape;1682;p63"/>
          <p:cNvSpPr/>
          <p:nvPr/>
        </p:nvSpPr>
        <p:spPr>
          <a:xfrm>
            <a:off x="6537946" y="2841815"/>
            <a:ext cx="2240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600"/>
              <a:buFont typeface="Calibri"/>
              <a:buNone/>
            </a:pPr>
            <a:r>
              <a:rPr b="1" i="0" lang="en-US" sz="1600" u="none" cap="none" strike="noStrike">
                <a:solidFill>
                  <a:srgbClr val="1A2433"/>
                </a:solidFill>
              </a:rPr>
              <a:t>Response Executor</a:t>
            </a:r>
            <a:endParaRPr i="0" sz="1600" u="none" cap="none" strike="noStrike">
              <a:solidFill>
                <a:srgbClr val="000000"/>
              </a:solidFill>
            </a:endParaRPr>
          </a:p>
        </p:txBody>
      </p:sp>
      <p:sp>
        <p:nvSpPr>
          <p:cNvPr id="1683" name="Google Shape;1683;p63"/>
          <p:cNvSpPr/>
          <p:nvPr/>
        </p:nvSpPr>
        <p:spPr>
          <a:xfrm>
            <a:off x="6583666" y="3207575"/>
            <a:ext cx="21489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200"/>
              <a:buFont typeface="Calibri"/>
              <a:buNone/>
            </a:pPr>
            <a:r>
              <a:rPr i="0" lang="en-US" sz="1200" u="none" cap="none" strike="noStrike">
                <a:solidFill>
                  <a:srgbClr val="42536B"/>
                </a:solidFill>
              </a:rPr>
              <a:t>Speed adjustment or communication isolation</a:t>
            </a:r>
            <a:endParaRPr i="0" sz="1200" u="none" cap="none" strike="noStrike">
              <a:solidFill>
                <a:srgbClr val="000000"/>
              </a:solidFill>
            </a:endParaRPr>
          </a:p>
        </p:txBody>
      </p:sp>
      <p:sp>
        <p:nvSpPr>
          <p:cNvPr id="1684" name="Google Shape;1684;p63"/>
          <p:cNvSpPr/>
          <p:nvPr/>
        </p:nvSpPr>
        <p:spPr>
          <a:xfrm>
            <a:off x="8988538" y="2850959"/>
            <a:ext cx="356700" cy="255900"/>
          </a:xfrm>
          <a:prstGeom prst="rightArrow">
            <a:avLst>
              <a:gd fmla="val 50000" name="adj1"/>
              <a:gd fmla="val 50000" name="adj2"/>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63"/>
          <p:cNvSpPr/>
          <p:nvPr/>
        </p:nvSpPr>
        <p:spPr>
          <a:xfrm>
            <a:off x="9418306" y="1835975"/>
            <a:ext cx="2514600" cy="2286000"/>
          </a:xfrm>
          <a:prstGeom prst="roundRect">
            <a:avLst>
              <a:gd fmla="val 4000" name="adj"/>
            </a:avLst>
          </a:prstGeom>
          <a:solidFill>
            <a:srgbClr val="F5F8FB"/>
          </a:solidFill>
          <a:ln cap="flat" cmpd="sng" w="1270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63"/>
          <p:cNvSpPr/>
          <p:nvPr/>
        </p:nvSpPr>
        <p:spPr>
          <a:xfrm>
            <a:off x="10355566" y="2110295"/>
            <a:ext cx="640200" cy="6402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7" name="Google Shape;1687;p63"/>
          <p:cNvPicPr preferRelativeResize="0"/>
          <p:nvPr/>
        </p:nvPicPr>
        <p:blipFill rotWithShape="1">
          <a:blip r:embed="rId7">
            <a:alphaModFix/>
          </a:blip>
          <a:srcRect b="0" l="0" r="0" t="0"/>
          <a:stretch/>
        </p:blipFill>
        <p:spPr>
          <a:xfrm>
            <a:off x="10521987" y="2276716"/>
            <a:ext cx="307238" cy="307238"/>
          </a:xfrm>
          <a:prstGeom prst="rect">
            <a:avLst/>
          </a:prstGeom>
          <a:noFill/>
          <a:ln>
            <a:noFill/>
          </a:ln>
        </p:spPr>
      </p:pic>
      <p:sp>
        <p:nvSpPr>
          <p:cNvPr id="1688" name="Google Shape;1688;p63"/>
          <p:cNvSpPr/>
          <p:nvPr/>
        </p:nvSpPr>
        <p:spPr>
          <a:xfrm>
            <a:off x="9555466" y="2841815"/>
            <a:ext cx="2240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600"/>
              <a:buFont typeface="Calibri"/>
              <a:buNone/>
            </a:pPr>
            <a:r>
              <a:rPr b="1" i="0" lang="en-US" sz="1600" u="none" cap="none" strike="noStrike">
                <a:solidFill>
                  <a:srgbClr val="1A2433"/>
                </a:solidFill>
              </a:rPr>
              <a:t>System Recovery</a:t>
            </a:r>
            <a:endParaRPr i="0" sz="1600" u="none" cap="none" strike="noStrike">
              <a:solidFill>
                <a:srgbClr val="000000"/>
              </a:solidFill>
            </a:endParaRPr>
          </a:p>
        </p:txBody>
      </p:sp>
      <p:sp>
        <p:nvSpPr>
          <p:cNvPr id="1689" name="Google Shape;1689;p63"/>
          <p:cNvSpPr/>
          <p:nvPr/>
        </p:nvSpPr>
        <p:spPr>
          <a:xfrm>
            <a:off x="9601186" y="3207575"/>
            <a:ext cx="21489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200"/>
              <a:buFont typeface="Calibri"/>
              <a:buNone/>
            </a:pPr>
            <a:r>
              <a:rPr i="0" lang="en-US" sz="1200" u="none" cap="none" strike="noStrike">
                <a:solidFill>
                  <a:srgbClr val="42536B"/>
                </a:solidFill>
              </a:rPr>
              <a:t>Gradual return to normal 65 km/h operation</a:t>
            </a:r>
            <a:endParaRPr i="0" sz="1200" u="none" cap="none" strike="noStrike">
              <a:solidFill>
                <a:srgbClr val="000000"/>
              </a:solidFill>
            </a:endParaRPr>
          </a:p>
        </p:txBody>
      </p:sp>
      <p:sp>
        <p:nvSpPr>
          <p:cNvPr id="1690" name="Google Shape;1690;p63"/>
          <p:cNvSpPr txBox="1"/>
          <p:nvPr/>
        </p:nvSpPr>
        <p:spPr>
          <a:xfrm>
            <a:off x="365750" y="4268350"/>
            <a:ext cx="11795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u="sng">
                <a:solidFill>
                  <a:srgbClr val="1A1A1A"/>
                </a:solidFill>
              </a:rPr>
              <a:t>General four stage architecture for system recovery. Note:</a:t>
            </a:r>
            <a:r>
              <a:rPr b="1" lang="en-US" sz="1200" u="sng">
                <a:solidFill>
                  <a:srgbClr val="1A1A1A"/>
                </a:solidFill>
              </a:rPr>
              <a:t> </a:t>
            </a:r>
            <a:r>
              <a:rPr lang="en-US" sz="1200" u="sng">
                <a:solidFill>
                  <a:srgbClr val="1A1A1A"/>
                </a:solidFill>
              </a:rPr>
              <a:t>Every alert, decision, and action is recorded. So the system's behavior can be analyzed, audited, and improved.</a:t>
            </a:r>
            <a:endParaRPr sz="1200" u="sng">
              <a:solidFill>
                <a:srgbClr val="1A1A1A"/>
              </a:solidFill>
            </a:endParaRPr>
          </a:p>
          <a:p>
            <a:pPr indent="0" lvl="0" marL="0" rtl="0" algn="l">
              <a:spcBef>
                <a:spcPts val="0"/>
              </a:spcBef>
              <a:spcAft>
                <a:spcPts val="0"/>
              </a:spcAft>
              <a:buNone/>
            </a:pPr>
            <a:r>
              <a:t/>
            </a:r>
            <a:endParaRPr sz="1200">
              <a:solidFill>
                <a:srgbClr val="1A1A1A"/>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4" name="Shape 1694"/>
        <p:cNvGrpSpPr/>
        <p:nvPr/>
      </p:nvGrpSpPr>
      <p:grpSpPr>
        <a:xfrm>
          <a:off x="0" y="0"/>
          <a:ext cx="0" cy="0"/>
          <a:chOff x="0" y="0"/>
          <a:chExt cx="0" cy="0"/>
        </a:xfrm>
      </p:grpSpPr>
      <p:sp>
        <p:nvSpPr>
          <p:cNvPr id="1695" name="Google Shape;1695;p64"/>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696" name="Google Shape;1696;p64"/>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697" name="Google Shape;1697;p64"/>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698" name="Google Shape;1698;p64"/>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699" name="Google Shape;1699;p64"/>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Response Executor</a:t>
            </a:r>
            <a:endParaRPr b="0" i="0" sz="3000" u="none" cap="none" strike="noStrike">
              <a:solidFill>
                <a:schemeClr val="dk1"/>
              </a:solidFill>
              <a:latin typeface="Calibri"/>
              <a:ea typeface="Calibri"/>
              <a:cs typeface="Calibri"/>
              <a:sym typeface="Calibri"/>
            </a:endParaRPr>
          </a:p>
        </p:txBody>
      </p:sp>
      <p:sp>
        <p:nvSpPr>
          <p:cNvPr id="1700" name="Google Shape;1700;p64"/>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64"/>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702" name="Google Shape;1702;p64"/>
          <p:cNvSpPr txBox="1"/>
          <p:nvPr/>
        </p:nvSpPr>
        <p:spPr>
          <a:xfrm>
            <a:off x="953725" y="6205500"/>
            <a:ext cx="11154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Segovia-Ferreira, Mariana, Jose Rubio-Hernan, Ana Cavalli, and Joaquin Garcia-Alfaro. "A survey on cyber-resilience approaches for cyber-physical systems." ACM Computing Surveys 56, no. 8 (2024): 1-37.</a:t>
            </a:r>
            <a:endParaRPr sz="800"/>
          </a:p>
        </p:txBody>
      </p:sp>
      <p:sp>
        <p:nvSpPr>
          <p:cNvPr id="1703" name="Google Shape;1703;p64"/>
          <p:cNvSpPr/>
          <p:nvPr/>
        </p:nvSpPr>
        <p:spPr>
          <a:xfrm>
            <a:off x="548640" y="1463040"/>
            <a:ext cx="11091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450"/>
              <a:buFont typeface="Calibri"/>
              <a:buNone/>
            </a:pPr>
            <a:r>
              <a:rPr i="0" lang="en-US" sz="1600" u="none" cap="none" strike="noStrike">
                <a:solidFill>
                  <a:srgbClr val="42536B"/>
                </a:solidFill>
              </a:rPr>
              <a:t>Once a response is chosen, the executor carries it out on the physical vehicle.</a:t>
            </a:r>
            <a:endParaRPr i="0" sz="1600" u="none" cap="none" strike="noStrike">
              <a:solidFill>
                <a:srgbClr val="000000"/>
              </a:solidFill>
            </a:endParaRPr>
          </a:p>
        </p:txBody>
      </p:sp>
      <p:sp>
        <p:nvSpPr>
          <p:cNvPr id="1704" name="Google Shape;1704;p64"/>
          <p:cNvSpPr/>
          <p:nvPr/>
        </p:nvSpPr>
        <p:spPr>
          <a:xfrm>
            <a:off x="548640" y="2331720"/>
            <a:ext cx="3566100" cy="2880300"/>
          </a:xfrm>
          <a:prstGeom prst="roundRect">
            <a:avLst>
              <a:gd fmla="val 2857"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64"/>
          <p:cNvSpPr/>
          <p:nvPr/>
        </p:nvSpPr>
        <p:spPr>
          <a:xfrm>
            <a:off x="841248" y="2624328"/>
            <a:ext cx="567000" cy="567000"/>
          </a:xfrm>
          <a:prstGeom prst="ellipse">
            <a:avLst/>
          </a:prstGeom>
          <a:solidFill>
            <a:srgbClr val="E84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6" name="Google Shape;1706;p64"/>
          <p:cNvPicPr preferRelativeResize="0"/>
          <p:nvPr/>
        </p:nvPicPr>
        <p:blipFill rotWithShape="1">
          <a:blip r:embed="rId4">
            <a:alphaModFix/>
          </a:blip>
          <a:srcRect b="0" l="0" r="0" t="0"/>
          <a:stretch/>
        </p:blipFill>
        <p:spPr>
          <a:xfrm>
            <a:off x="988649" y="2771729"/>
            <a:ext cx="272125" cy="272125"/>
          </a:xfrm>
          <a:prstGeom prst="rect">
            <a:avLst/>
          </a:prstGeom>
          <a:noFill/>
          <a:ln>
            <a:noFill/>
          </a:ln>
        </p:spPr>
      </p:pic>
      <p:sp>
        <p:nvSpPr>
          <p:cNvPr id="1707" name="Google Shape;1707;p64"/>
          <p:cNvSpPr/>
          <p:nvPr/>
        </p:nvSpPr>
        <p:spPr>
          <a:xfrm>
            <a:off x="1536192" y="2651760"/>
            <a:ext cx="2377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550"/>
              <a:buFont typeface="Calibri"/>
              <a:buNone/>
            </a:pPr>
            <a:r>
              <a:rPr b="1" i="0" lang="en-US" sz="1600" u="none" cap="none" strike="noStrike">
                <a:solidFill>
                  <a:srgbClr val="1A2433"/>
                </a:solidFill>
              </a:rPr>
              <a:t>Bounded actuation</a:t>
            </a:r>
            <a:endParaRPr i="0" sz="1600" u="none" cap="none" strike="noStrike">
              <a:solidFill>
                <a:srgbClr val="000000"/>
              </a:solidFill>
            </a:endParaRPr>
          </a:p>
        </p:txBody>
      </p:sp>
      <p:sp>
        <p:nvSpPr>
          <p:cNvPr id="1708" name="Google Shape;1708;p64"/>
          <p:cNvSpPr/>
          <p:nvPr/>
        </p:nvSpPr>
        <p:spPr>
          <a:xfrm>
            <a:off x="841248" y="3383280"/>
            <a:ext cx="3017400" cy="169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536B"/>
              </a:buClr>
              <a:buSzPts val="1200"/>
              <a:buFont typeface="Calibri"/>
              <a:buNone/>
            </a:pPr>
            <a:r>
              <a:rPr i="0" lang="en-US" sz="1200" u="none" cap="none" strike="noStrike">
                <a:solidFill>
                  <a:srgbClr val="42536B"/>
                </a:solidFill>
              </a:rPr>
              <a:t>Actions stay within safe physical limits — e.g. a rate-limited speed reduction, not an abrupt stop. The classic CPS example: cap a car’s speed after a control fault rather than shutting it off.</a:t>
            </a:r>
            <a:endParaRPr i="0" sz="1200" u="none" cap="none" strike="noStrike">
              <a:solidFill>
                <a:srgbClr val="000000"/>
              </a:solidFill>
            </a:endParaRPr>
          </a:p>
        </p:txBody>
      </p:sp>
      <p:sp>
        <p:nvSpPr>
          <p:cNvPr id="1709" name="Google Shape;1709;p64"/>
          <p:cNvSpPr/>
          <p:nvPr/>
        </p:nvSpPr>
        <p:spPr>
          <a:xfrm>
            <a:off x="4407408" y="2331720"/>
            <a:ext cx="3566100" cy="2880300"/>
          </a:xfrm>
          <a:prstGeom prst="roundRect">
            <a:avLst>
              <a:gd fmla="val 2857"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64"/>
          <p:cNvSpPr/>
          <p:nvPr/>
        </p:nvSpPr>
        <p:spPr>
          <a:xfrm>
            <a:off x="4700016" y="2624328"/>
            <a:ext cx="567000" cy="5670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1" name="Google Shape;1711;p64"/>
          <p:cNvPicPr preferRelativeResize="0"/>
          <p:nvPr/>
        </p:nvPicPr>
        <p:blipFill rotWithShape="1">
          <a:blip r:embed="rId5">
            <a:alphaModFix/>
          </a:blip>
          <a:srcRect b="0" l="0" r="0" t="0"/>
          <a:stretch/>
        </p:blipFill>
        <p:spPr>
          <a:xfrm>
            <a:off x="4847417" y="2771729"/>
            <a:ext cx="272125" cy="272125"/>
          </a:xfrm>
          <a:prstGeom prst="rect">
            <a:avLst/>
          </a:prstGeom>
          <a:noFill/>
          <a:ln>
            <a:noFill/>
          </a:ln>
        </p:spPr>
      </p:pic>
      <p:sp>
        <p:nvSpPr>
          <p:cNvPr id="1712" name="Google Shape;1712;p64"/>
          <p:cNvSpPr/>
          <p:nvPr/>
        </p:nvSpPr>
        <p:spPr>
          <a:xfrm>
            <a:off x="5376699" y="2633438"/>
            <a:ext cx="232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550"/>
              <a:buFont typeface="Calibri"/>
              <a:buNone/>
            </a:pPr>
            <a:r>
              <a:rPr b="1" i="0" lang="en-US" sz="1600" u="none" cap="none" strike="noStrike">
                <a:solidFill>
                  <a:srgbClr val="1A2433"/>
                </a:solidFill>
              </a:rPr>
              <a:t>Containment</a:t>
            </a:r>
            <a:endParaRPr i="0" sz="1600" u="none" cap="none" strike="noStrike">
              <a:solidFill>
                <a:srgbClr val="000000"/>
              </a:solidFill>
            </a:endParaRPr>
          </a:p>
        </p:txBody>
      </p:sp>
      <p:sp>
        <p:nvSpPr>
          <p:cNvPr id="1713" name="Google Shape;1713;p64"/>
          <p:cNvSpPr/>
          <p:nvPr/>
        </p:nvSpPr>
        <p:spPr>
          <a:xfrm>
            <a:off x="4700016" y="3383280"/>
            <a:ext cx="3017400" cy="169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536B"/>
              </a:buClr>
              <a:buSzPts val="1200"/>
              <a:buFont typeface="Calibri"/>
              <a:buNone/>
            </a:pPr>
            <a:r>
              <a:rPr i="0" lang="en-US" sz="1200" u="none" cap="none" strike="noStrike">
                <a:solidFill>
                  <a:srgbClr val="42536B"/>
                </a:solidFill>
              </a:rPr>
              <a:t>For a cyber threat, isolate the affected channel and switch to secure/redundant paths so the vehicle keeps operating</a:t>
            </a:r>
            <a:r>
              <a:rPr lang="en-US" sz="1200">
                <a:solidFill>
                  <a:srgbClr val="42536B"/>
                </a:solidFill>
              </a:rPr>
              <a:t>.</a:t>
            </a:r>
            <a:r>
              <a:rPr i="0" lang="en-US" sz="1200" u="none" cap="none" strike="noStrike">
                <a:solidFill>
                  <a:srgbClr val="42536B"/>
                </a:solidFill>
              </a:rPr>
              <a:t> </a:t>
            </a:r>
            <a:r>
              <a:rPr lang="en-US" sz="1200">
                <a:solidFill>
                  <a:srgbClr val="42536B"/>
                </a:solidFill>
              </a:rPr>
              <a:t>C</a:t>
            </a:r>
            <a:r>
              <a:rPr i="0" lang="en-US" sz="1200" u="none" cap="none" strike="noStrike">
                <a:solidFill>
                  <a:srgbClr val="42536B"/>
                </a:solidFill>
              </a:rPr>
              <a:t>ontain the attack surface instead of disabling the function.</a:t>
            </a:r>
            <a:endParaRPr i="0" sz="1200" u="none" cap="none" strike="noStrike">
              <a:solidFill>
                <a:srgbClr val="000000"/>
              </a:solidFill>
            </a:endParaRPr>
          </a:p>
        </p:txBody>
      </p:sp>
      <p:sp>
        <p:nvSpPr>
          <p:cNvPr id="1714" name="Google Shape;1714;p64"/>
          <p:cNvSpPr/>
          <p:nvPr/>
        </p:nvSpPr>
        <p:spPr>
          <a:xfrm>
            <a:off x="8266176" y="2331720"/>
            <a:ext cx="3566100" cy="2880300"/>
          </a:xfrm>
          <a:prstGeom prst="roundRect">
            <a:avLst>
              <a:gd fmla="val 2857"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64"/>
          <p:cNvSpPr/>
          <p:nvPr/>
        </p:nvSpPr>
        <p:spPr>
          <a:xfrm>
            <a:off x="8558784" y="2624328"/>
            <a:ext cx="567000" cy="5670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6" name="Google Shape;1716;p64"/>
          <p:cNvPicPr preferRelativeResize="0"/>
          <p:nvPr/>
        </p:nvPicPr>
        <p:blipFill rotWithShape="1">
          <a:blip r:embed="rId6">
            <a:alphaModFix/>
          </a:blip>
          <a:srcRect b="0" l="0" r="0" t="0"/>
          <a:stretch/>
        </p:blipFill>
        <p:spPr>
          <a:xfrm>
            <a:off x="8706185" y="2771729"/>
            <a:ext cx="272125" cy="272125"/>
          </a:xfrm>
          <a:prstGeom prst="rect">
            <a:avLst/>
          </a:prstGeom>
          <a:noFill/>
          <a:ln>
            <a:noFill/>
          </a:ln>
        </p:spPr>
      </p:pic>
      <p:sp>
        <p:nvSpPr>
          <p:cNvPr id="1717" name="Google Shape;1717;p64"/>
          <p:cNvSpPr/>
          <p:nvPr/>
        </p:nvSpPr>
        <p:spPr>
          <a:xfrm>
            <a:off x="9253728" y="2651760"/>
            <a:ext cx="23775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550"/>
              <a:buFont typeface="Calibri"/>
              <a:buNone/>
            </a:pPr>
            <a:r>
              <a:rPr b="1" i="0" lang="en-US" sz="1600" u="none" cap="none" strike="noStrike">
                <a:solidFill>
                  <a:srgbClr val="1A2433"/>
                </a:solidFill>
              </a:rPr>
              <a:t>Degraded safe mode</a:t>
            </a:r>
            <a:endParaRPr i="0" sz="1600" u="none" cap="none" strike="noStrike">
              <a:solidFill>
                <a:srgbClr val="000000"/>
              </a:solidFill>
            </a:endParaRPr>
          </a:p>
        </p:txBody>
      </p:sp>
      <p:sp>
        <p:nvSpPr>
          <p:cNvPr id="1718" name="Google Shape;1718;p64"/>
          <p:cNvSpPr/>
          <p:nvPr/>
        </p:nvSpPr>
        <p:spPr>
          <a:xfrm>
            <a:off x="8558784" y="3383280"/>
            <a:ext cx="3017400" cy="169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536B"/>
              </a:buClr>
              <a:buSzPts val="1200"/>
              <a:buFont typeface="Calibri"/>
              <a:buNone/>
            </a:pPr>
            <a:r>
              <a:rPr i="0" lang="en-US" sz="1200" u="none" cap="none" strike="noStrike">
                <a:solidFill>
                  <a:srgbClr val="42536B"/>
                </a:solidFill>
              </a:rPr>
              <a:t>The vehicle enters a defined fallback state with explicit limits</a:t>
            </a:r>
            <a:r>
              <a:rPr lang="en-US" sz="1200">
                <a:solidFill>
                  <a:srgbClr val="42536B"/>
                </a:solidFill>
              </a:rPr>
              <a:t>.</a:t>
            </a:r>
            <a:r>
              <a:rPr i="0" lang="en-US" sz="1200" u="none" cap="none" strike="noStrike">
                <a:solidFill>
                  <a:srgbClr val="42536B"/>
                </a:solidFill>
              </a:rPr>
              <a:t> </a:t>
            </a:r>
            <a:r>
              <a:rPr lang="en-US" sz="1200">
                <a:solidFill>
                  <a:srgbClr val="42536B"/>
                </a:solidFill>
              </a:rPr>
              <a:t>A</a:t>
            </a:r>
            <a:r>
              <a:rPr i="0" lang="en-US" sz="1200" u="none" cap="none" strike="noStrike">
                <a:solidFill>
                  <a:srgbClr val="42536B"/>
                </a:solidFill>
              </a:rPr>
              <a:t>n intentional, documented mode, never an unmanaged workaround that hides new risk.</a:t>
            </a:r>
            <a:endParaRPr i="0" sz="1200" u="none" cap="none" strike="noStrike">
              <a:solidFill>
                <a:srgbClr val="000000"/>
              </a:solidFill>
            </a:endParaRPr>
          </a:p>
        </p:txBody>
      </p:sp>
      <p:sp>
        <p:nvSpPr>
          <p:cNvPr id="1719" name="Google Shape;1719;p64"/>
          <p:cNvSpPr/>
          <p:nvPr/>
        </p:nvSpPr>
        <p:spPr>
          <a:xfrm>
            <a:off x="548640" y="5532120"/>
            <a:ext cx="11091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300"/>
              <a:buFont typeface="Calibri"/>
              <a:buNone/>
            </a:pPr>
            <a:r>
              <a:rPr b="1" i="0" lang="en-US" sz="1300" u="none" cap="none" strike="noStrike">
                <a:solidFill>
                  <a:srgbClr val="1A2433"/>
                </a:solidFill>
              </a:rPr>
              <a:t>Respond first, recover later.  </a:t>
            </a:r>
            <a:r>
              <a:rPr i="0" lang="en-US" sz="1300" u="none" cap="none" strike="noStrike">
                <a:solidFill>
                  <a:srgbClr val="42536B"/>
                </a:solidFill>
              </a:rPr>
              <a:t>Response is fast and deployed immediately after detection; full recovery is a slower process that follows. The executor’s job is to buy safe time.</a:t>
            </a:r>
            <a:endParaRPr i="0" sz="1300" u="none" cap="none" strike="noStrike">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3" name="Shape 1723"/>
        <p:cNvGrpSpPr/>
        <p:nvPr/>
      </p:nvGrpSpPr>
      <p:grpSpPr>
        <a:xfrm>
          <a:off x="0" y="0"/>
          <a:ext cx="0" cy="0"/>
          <a:chOff x="0" y="0"/>
          <a:chExt cx="0" cy="0"/>
        </a:xfrm>
      </p:grpSpPr>
      <p:sp>
        <p:nvSpPr>
          <p:cNvPr id="1724" name="Google Shape;1724;p65"/>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725" name="Google Shape;1725;p65"/>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726" name="Google Shape;1726;p65"/>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727" name="Google Shape;1727;p65"/>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728" name="Google Shape;1728;p65"/>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System Recovery</a:t>
            </a:r>
            <a:endParaRPr b="0" i="0" sz="3000" u="none" cap="none" strike="noStrike">
              <a:solidFill>
                <a:schemeClr val="dk1"/>
              </a:solidFill>
              <a:latin typeface="Calibri"/>
              <a:ea typeface="Calibri"/>
              <a:cs typeface="Calibri"/>
              <a:sym typeface="Calibri"/>
            </a:endParaRPr>
          </a:p>
        </p:txBody>
      </p:sp>
      <p:sp>
        <p:nvSpPr>
          <p:cNvPr id="1729" name="Google Shape;1729;p65"/>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65"/>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731" name="Google Shape;1731;p65"/>
          <p:cNvSpPr txBox="1"/>
          <p:nvPr/>
        </p:nvSpPr>
        <p:spPr>
          <a:xfrm>
            <a:off x="2131150" y="6112250"/>
            <a:ext cx="762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Pisón, Mª Teresa Araúz. "Cybersecurity in model-based control: resilient design and software rejuvenation methods." PhD diss., Universidad de Sevilla, 2025.</a:t>
            </a:r>
            <a:endParaRPr sz="800"/>
          </a:p>
        </p:txBody>
      </p:sp>
      <p:sp>
        <p:nvSpPr>
          <p:cNvPr id="1732" name="Google Shape;1732;p65"/>
          <p:cNvSpPr/>
          <p:nvPr/>
        </p:nvSpPr>
        <p:spPr>
          <a:xfrm>
            <a:off x="550165" y="1854390"/>
            <a:ext cx="11091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450"/>
              <a:buFont typeface="Calibri"/>
              <a:buNone/>
            </a:pPr>
            <a:r>
              <a:rPr i="0" lang="en-US" sz="1600" u="none" cap="none" strike="noStrike">
                <a:solidFill>
                  <a:srgbClr val="42536B"/>
                </a:solidFill>
              </a:rPr>
              <a:t>Recovery is the reverse journey: from the degraded safe state back to full nominal operation</a:t>
            </a:r>
            <a:r>
              <a:rPr lang="en-US" sz="1600">
                <a:solidFill>
                  <a:srgbClr val="42536B"/>
                </a:solidFill>
              </a:rPr>
              <a:t>.</a:t>
            </a:r>
            <a:endParaRPr i="0" sz="1600" u="none" cap="none" strike="noStrike">
              <a:solidFill>
                <a:srgbClr val="000000"/>
              </a:solidFill>
            </a:endParaRPr>
          </a:p>
        </p:txBody>
      </p:sp>
      <p:sp>
        <p:nvSpPr>
          <p:cNvPr id="1733" name="Google Shape;1733;p65"/>
          <p:cNvSpPr/>
          <p:nvPr/>
        </p:nvSpPr>
        <p:spPr>
          <a:xfrm>
            <a:off x="312421" y="2677350"/>
            <a:ext cx="2514600" cy="2514600"/>
          </a:xfrm>
          <a:prstGeom prst="roundRect">
            <a:avLst>
              <a:gd fmla="val 3636"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65"/>
          <p:cNvSpPr/>
          <p:nvPr/>
        </p:nvSpPr>
        <p:spPr>
          <a:xfrm>
            <a:off x="1267969" y="2933382"/>
            <a:ext cx="603600" cy="6036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5" name="Google Shape;1735;p65"/>
          <p:cNvPicPr preferRelativeResize="0"/>
          <p:nvPr/>
        </p:nvPicPr>
        <p:blipFill rotWithShape="1">
          <a:blip r:embed="rId4">
            <a:alphaModFix/>
          </a:blip>
          <a:srcRect b="0" l="0" r="0" t="0"/>
          <a:stretch/>
        </p:blipFill>
        <p:spPr>
          <a:xfrm>
            <a:off x="1424880" y="3090293"/>
            <a:ext cx="289682" cy="289682"/>
          </a:xfrm>
          <a:prstGeom prst="rect">
            <a:avLst/>
          </a:prstGeom>
          <a:noFill/>
          <a:ln>
            <a:noFill/>
          </a:ln>
        </p:spPr>
      </p:pic>
      <p:sp>
        <p:nvSpPr>
          <p:cNvPr id="1736" name="Google Shape;1736;p65"/>
          <p:cNvSpPr/>
          <p:nvPr/>
        </p:nvSpPr>
        <p:spPr>
          <a:xfrm>
            <a:off x="422149" y="3637470"/>
            <a:ext cx="22950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450"/>
              <a:buFont typeface="Calibri"/>
              <a:buNone/>
            </a:pPr>
            <a:r>
              <a:rPr b="1" i="0" lang="en-US" sz="1600" u="none" cap="none" strike="noStrike">
                <a:solidFill>
                  <a:srgbClr val="1A2433"/>
                </a:solidFill>
              </a:rPr>
              <a:t>Damage assessment</a:t>
            </a:r>
            <a:endParaRPr i="0" sz="1600" u="none" cap="none" strike="noStrike">
              <a:solidFill>
                <a:srgbClr val="000000"/>
              </a:solidFill>
            </a:endParaRPr>
          </a:p>
        </p:txBody>
      </p:sp>
      <p:sp>
        <p:nvSpPr>
          <p:cNvPr id="1737" name="Google Shape;1737;p65"/>
          <p:cNvSpPr/>
          <p:nvPr/>
        </p:nvSpPr>
        <p:spPr>
          <a:xfrm>
            <a:off x="495301" y="4094670"/>
            <a:ext cx="2148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100"/>
              <a:buFont typeface="Calibri"/>
              <a:buNone/>
            </a:pPr>
            <a:r>
              <a:rPr i="0" lang="en-US" sz="1200" u="none" cap="none" strike="noStrike">
                <a:solidFill>
                  <a:srgbClr val="42536B"/>
                </a:solidFill>
              </a:rPr>
              <a:t>Determine the extent which components were touched and from when. Operational logs pin the attack-start time and scope.</a:t>
            </a:r>
            <a:endParaRPr i="0" sz="1200" u="none" cap="none" strike="noStrike">
              <a:solidFill>
                <a:srgbClr val="000000"/>
              </a:solidFill>
            </a:endParaRPr>
          </a:p>
        </p:txBody>
      </p:sp>
      <p:sp>
        <p:nvSpPr>
          <p:cNvPr id="1738" name="Google Shape;1738;p65"/>
          <p:cNvSpPr/>
          <p:nvPr/>
        </p:nvSpPr>
        <p:spPr>
          <a:xfrm>
            <a:off x="2900173" y="3806634"/>
            <a:ext cx="356700" cy="255900"/>
          </a:xfrm>
          <a:prstGeom prst="rightArrow">
            <a:avLst>
              <a:gd fmla="val 50000" name="adj1"/>
              <a:gd fmla="val 50000" name="adj2"/>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65"/>
          <p:cNvSpPr/>
          <p:nvPr/>
        </p:nvSpPr>
        <p:spPr>
          <a:xfrm>
            <a:off x="3329941" y="2677350"/>
            <a:ext cx="2514600" cy="2514600"/>
          </a:xfrm>
          <a:prstGeom prst="roundRect">
            <a:avLst>
              <a:gd fmla="val 3636"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65"/>
          <p:cNvSpPr/>
          <p:nvPr/>
        </p:nvSpPr>
        <p:spPr>
          <a:xfrm>
            <a:off x="4285489" y="2933382"/>
            <a:ext cx="603600" cy="6036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1" name="Google Shape;1741;p65"/>
          <p:cNvPicPr preferRelativeResize="0"/>
          <p:nvPr/>
        </p:nvPicPr>
        <p:blipFill rotWithShape="1">
          <a:blip r:embed="rId5">
            <a:alphaModFix/>
          </a:blip>
          <a:srcRect b="0" l="0" r="0" t="0"/>
          <a:stretch/>
        </p:blipFill>
        <p:spPr>
          <a:xfrm>
            <a:off x="4442400" y="3090293"/>
            <a:ext cx="289682" cy="289682"/>
          </a:xfrm>
          <a:prstGeom prst="rect">
            <a:avLst/>
          </a:prstGeom>
          <a:noFill/>
          <a:ln>
            <a:noFill/>
          </a:ln>
        </p:spPr>
      </p:pic>
      <p:sp>
        <p:nvSpPr>
          <p:cNvPr id="1742" name="Google Shape;1742;p65"/>
          <p:cNvSpPr/>
          <p:nvPr/>
        </p:nvSpPr>
        <p:spPr>
          <a:xfrm>
            <a:off x="2847687" y="3637475"/>
            <a:ext cx="3479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450"/>
              <a:buFont typeface="Calibri"/>
              <a:buNone/>
            </a:pPr>
            <a:r>
              <a:rPr b="1" i="0" lang="en-US" sz="1600" u="none" cap="none" strike="noStrike">
                <a:solidFill>
                  <a:srgbClr val="1A2433"/>
                </a:solidFill>
              </a:rPr>
              <a:t>Resilient state estimation</a:t>
            </a:r>
            <a:endParaRPr i="0" sz="1600" u="none" cap="none" strike="noStrike">
              <a:solidFill>
                <a:srgbClr val="000000"/>
              </a:solidFill>
            </a:endParaRPr>
          </a:p>
        </p:txBody>
      </p:sp>
      <p:sp>
        <p:nvSpPr>
          <p:cNvPr id="1743" name="Google Shape;1743;p65"/>
          <p:cNvSpPr/>
          <p:nvPr/>
        </p:nvSpPr>
        <p:spPr>
          <a:xfrm>
            <a:off x="3512821" y="4094670"/>
            <a:ext cx="2148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100"/>
              <a:buFont typeface="Calibri"/>
              <a:buNone/>
            </a:pPr>
            <a:r>
              <a:rPr i="0" lang="en-US" sz="1200" u="none" cap="none" strike="noStrike">
                <a:solidFill>
                  <a:srgbClr val="42536B"/>
                </a:solidFill>
              </a:rPr>
              <a:t>Recover the vehicle’s true state even if some sensor inputs were corrupted, so recovery acts on reality, not manipulated data.</a:t>
            </a:r>
            <a:endParaRPr i="0" sz="1200" u="none" cap="none" strike="noStrike">
              <a:solidFill>
                <a:srgbClr val="000000"/>
              </a:solidFill>
            </a:endParaRPr>
          </a:p>
        </p:txBody>
      </p:sp>
      <p:sp>
        <p:nvSpPr>
          <p:cNvPr id="1744" name="Google Shape;1744;p65"/>
          <p:cNvSpPr/>
          <p:nvPr/>
        </p:nvSpPr>
        <p:spPr>
          <a:xfrm>
            <a:off x="5917693" y="3806634"/>
            <a:ext cx="356700" cy="255900"/>
          </a:xfrm>
          <a:prstGeom prst="rightArrow">
            <a:avLst>
              <a:gd fmla="val 50000" name="adj1"/>
              <a:gd fmla="val 50000" name="adj2"/>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5"/>
          <p:cNvSpPr/>
          <p:nvPr/>
        </p:nvSpPr>
        <p:spPr>
          <a:xfrm>
            <a:off x="6347461" y="2677350"/>
            <a:ext cx="2514600" cy="2514600"/>
          </a:xfrm>
          <a:prstGeom prst="roundRect">
            <a:avLst>
              <a:gd fmla="val 3636"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65"/>
          <p:cNvSpPr/>
          <p:nvPr/>
        </p:nvSpPr>
        <p:spPr>
          <a:xfrm>
            <a:off x="7303009" y="2933382"/>
            <a:ext cx="603600" cy="6036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7" name="Google Shape;1747;p65"/>
          <p:cNvPicPr preferRelativeResize="0"/>
          <p:nvPr/>
        </p:nvPicPr>
        <p:blipFill rotWithShape="1">
          <a:blip r:embed="rId6">
            <a:alphaModFix/>
          </a:blip>
          <a:srcRect b="0" l="0" r="0" t="0"/>
          <a:stretch/>
        </p:blipFill>
        <p:spPr>
          <a:xfrm>
            <a:off x="7459920" y="3090293"/>
            <a:ext cx="289682" cy="289682"/>
          </a:xfrm>
          <a:prstGeom prst="rect">
            <a:avLst/>
          </a:prstGeom>
          <a:noFill/>
          <a:ln>
            <a:noFill/>
          </a:ln>
        </p:spPr>
      </p:pic>
      <p:sp>
        <p:nvSpPr>
          <p:cNvPr id="1748" name="Google Shape;1748;p65"/>
          <p:cNvSpPr/>
          <p:nvPr/>
        </p:nvSpPr>
        <p:spPr>
          <a:xfrm>
            <a:off x="6457189" y="3637470"/>
            <a:ext cx="22950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450"/>
              <a:buFont typeface="Calibri"/>
              <a:buNone/>
            </a:pPr>
            <a:r>
              <a:rPr b="1" i="0" lang="en-US" sz="1600" u="none" cap="none" strike="noStrike">
                <a:solidFill>
                  <a:srgbClr val="1A2433"/>
                </a:solidFill>
              </a:rPr>
              <a:t>Restore to nominal</a:t>
            </a:r>
            <a:endParaRPr i="0" sz="1600" u="none" cap="none" strike="noStrike">
              <a:solidFill>
                <a:srgbClr val="000000"/>
              </a:solidFill>
            </a:endParaRPr>
          </a:p>
        </p:txBody>
      </p:sp>
      <p:sp>
        <p:nvSpPr>
          <p:cNvPr id="1749" name="Google Shape;1749;p65"/>
          <p:cNvSpPr/>
          <p:nvPr/>
        </p:nvSpPr>
        <p:spPr>
          <a:xfrm>
            <a:off x="6530341" y="4094670"/>
            <a:ext cx="2148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100"/>
              <a:buFont typeface="Calibri"/>
              <a:buNone/>
            </a:pPr>
            <a:r>
              <a:rPr i="0" lang="en-US" sz="1200" u="none" cap="none" strike="noStrike">
                <a:solidFill>
                  <a:srgbClr val="42536B"/>
                </a:solidFill>
              </a:rPr>
              <a:t>Ramp controlled variables back to target and re-enable isolated channels smoothly, not abruptly, to avoid a second disturbance.</a:t>
            </a:r>
            <a:endParaRPr i="0" sz="1200" u="none" cap="none" strike="noStrike">
              <a:solidFill>
                <a:srgbClr val="000000"/>
              </a:solidFill>
            </a:endParaRPr>
          </a:p>
        </p:txBody>
      </p:sp>
      <p:sp>
        <p:nvSpPr>
          <p:cNvPr id="1750" name="Google Shape;1750;p65"/>
          <p:cNvSpPr/>
          <p:nvPr/>
        </p:nvSpPr>
        <p:spPr>
          <a:xfrm>
            <a:off x="8935213" y="3806634"/>
            <a:ext cx="356700" cy="255900"/>
          </a:xfrm>
          <a:prstGeom prst="rightArrow">
            <a:avLst>
              <a:gd fmla="val 50000" name="adj1"/>
              <a:gd fmla="val 50000" name="adj2"/>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65"/>
          <p:cNvSpPr/>
          <p:nvPr/>
        </p:nvSpPr>
        <p:spPr>
          <a:xfrm>
            <a:off x="9364981" y="2677350"/>
            <a:ext cx="2514600" cy="2514600"/>
          </a:xfrm>
          <a:prstGeom prst="roundRect">
            <a:avLst>
              <a:gd fmla="val 3636" name="adj"/>
            </a:avLst>
          </a:prstGeom>
          <a:solidFill>
            <a:srgbClr val="F5F8FB"/>
          </a:solidFill>
          <a:ln cap="flat" cmpd="sng" w="9525">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65"/>
          <p:cNvSpPr/>
          <p:nvPr/>
        </p:nvSpPr>
        <p:spPr>
          <a:xfrm>
            <a:off x="10320529" y="2933382"/>
            <a:ext cx="603600" cy="603600"/>
          </a:xfrm>
          <a:prstGeom prst="ellipse">
            <a:avLst/>
          </a:prstGeom>
          <a:solidFill>
            <a:srgbClr val="6A4C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3" name="Google Shape;1753;p65"/>
          <p:cNvPicPr preferRelativeResize="0"/>
          <p:nvPr/>
        </p:nvPicPr>
        <p:blipFill rotWithShape="1">
          <a:blip r:embed="rId7">
            <a:alphaModFix/>
          </a:blip>
          <a:srcRect b="0" l="0" r="0" t="0"/>
          <a:stretch/>
        </p:blipFill>
        <p:spPr>
          <a:xfrm>
            <a:off x="10477440" y="3090293"/>
            <a:ext cx="289682" cy="289682"/>
          </a:xfrm>
          <a:prstGeom prst="rect">
            <a:avLst/>
          </a:prstGeom>
          <a:noFill/>
          <a:ln>
            <a:noFill/>
          </a:ln>
        </p:spPr>
      </p:pic>
      <p:sp>
        <p:nvSpPr>
          <p:cNvPr id="1754" name="Google Shape;1754;p65"/>
          <p:cNvSpPr/>
          <p:nvPr/>
        </p:nvSpPr>
        <p:spPr>
          <a:xfrm>
            <a:off x="9474709" y="3637470"/>
            <a:ext cx="22950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433"/>
              </a:buClr>
              <a:buSzPts val="1450"/>
              <a:buFont typeface="Calibri"/>
              <a:buNone/>
            </a:pPr>
            <a:r>
              <a:rPr b="1" i="0" lang="en-US" sz="1600" u="none" cap="none" strike="noStrike">
                <a:solidFill>
                  <a:srgbClr val="1A2433"/>
                </a:solidFill>
              </a:rPr>
              <a:t>Verify &amp; confirm</a:t>
            </a:r>
            <a:endParaRPr i="0" sz="1600" u="none" cap="none" strike="noStrike">
              <a:solidFill>
                <a:srgbClr val="000000"/>
              </a:solidFill>
            </a:endParaRPr>
          </a:p>
        </p:txBody>
      </p:sp>
      <p:sp>
        <p:nvSpPr>
          <p:cNvPr id="1755" name="Google Shape;1755;p65"/>
          <p:cNvSpPr/>
          <p:nvPr/>
        </p:nvSpPr>
        <p:spPr>
          <a:xfrm>
            <a:off x="9547861" y="4094670"/>
            <a:ext cx="2148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2536B"/>
              </a:buClr>
              <a:buSzPts val="1100"/>
              <a:buFont typeface="Calibri"/>
              <a:buNone/>
            </a:pPr>
            <a:r>
              <a:rPr i="0" lang="en-US" sz="1200" u="none" cap="none" strike="noStrike">
                <a:solidFill>
                  <a:srgbClr val="42536B"/>
                </a:solidFill>
              </a:rPr>
              <a:t>Recheck that the system is genuinely safe before declaring normal operation; if the threat persists, loop back to response.</a:t>
            </a:r>
            <a:endParaRPr i="0" sz="1200" u="none" cap="none" strike="noStrike">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9" name="Shape 1759"/>
        <p:cNvGrpSpPr/>
        <p:nvPr/>
      </p:nvGrpSpPr>
      <p:grpSpPr>
        <a:xfrm>
          <a:off x="0" y="0"/>
          <a:ext cx="0" cy="0"/>
          <a:chOff x="0" y="0"/>
          <a:chExt cx="0" cy="0"/>
        </a:xfrm>
      </p:grpSpPr>
      <p:sp>
        <p:nvSpPr>
          <p:cNvPr id="1760" name="Google Shape;1760;p66"/>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761" name="Google Shape;1761;p66"/>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762" name="Google Shape;1762;p66"/>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763" name="Google Shape;1763;p66"/>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932E"/>
              </a:buClr>
              <a:buSzPts val="1000"/>
              <a:buFont typeface="Calibri"/>
              <a:buNone/>
            </a:pPr>
            <a:r>
              <a:rPr b="1" lang="en-US" sz="1000">
                <a:solidFill>
                  <a:srgbClr val="B8932E"/>
                </a:solidFill>
                <a:latin typeface="Calibri"/>
                <a:ea typeface="Calibri"/>
                <a:cs typeface="Calibri"/>
                <a:sym typeface="Calibri"/>
              </a:rPr>
              <a:t>HOW IT WORKS</a:t>
            </a:r>
            <a:endParaRPr sz="1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B8932E"/>
              </a:buClr>
              <a:buSzPts val="1000"/>
              <a:buFont typeface="Calibri"/>
              <a:buNone/>
            </a:pPr>
            <a:r>
              <a:t/>
            </a:r>
            <a:endParaRPr b="1" sz="1000">
              <a:solidFill>
                <a:srgbClr val="B8932E"/>
              </a:solidFill>
              <a:latin typeface="Calibri"/>
              <a:ea typeface="Calibri"/>
              <a:cs typeface="Calibri"/>
              <a:sym typeface="Calibri"/>
            </a:endParaRPr>
          </a:p>
        </p:txBody>
      </p:sp>
      <p:sp>
        <p:nvSpPr>
          <p:cNvPr id="1764" name="Google Shape;1764;p66"/>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lang="en-US" sz="3000">
                <a:solidFill>
                  <a:srgbClr val="1A1A1A"/>
                </a:solidFill>
                <a:latin typeface="Georgia"/>
                <a:ea typeface="Georgia"/>
                <a:cs typeface="Georgia"/>
                <a:sym typeface="Georgia"/>
              </a:rPr>
              <a:t>How response &amp; recovery are logged and viewed</a:t>
            </a:r>
            <a:endParaRPr b="0" i="0" sz="3000" u="none" cap="none" strike="noStrike">
              <a:solidFill>
                <a:schemeClr val="dk1"/>
              </a:solidFill>
              <a:latin typeface="Calibri"/>
              <a:ea typeface="Calibri"/>
              <a:cs typeface="Calibri"/>
              <a:sym typeface="Calibri"/>
            </a:endParaRPr>
          </a:p>
        </p:txBody>
      </p:sp>
      <p:sp>
        <p:nvSpPr>
          <p:cNvPr id="1765" name="Google Shape;1765;p66"/>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66"/>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767" name="Google Shape;1767;p66"/>
          <p:cNvSpPr/>
          <p:nvPr/>
        </p:nvSpPr>
        <p:spPr>
          <a:xfrm>
            <a:off x="548640" y="1463040"/>
            <a:ext cx="11091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450"/>
              <a:buFont typeface="Calibri"/>
              <a:buNone/>
            </a:pPr>
            <a:r>
              <a:rPr b="0" i="0" lang="en-US" sz="1450" u="none" cap="none" strike="noStrike">
                <a:solidFill>
                  <a:srgbClr val="42536B"/>
                </a:solidFill>
                <a:latin typeface="Calibri"/>
                <a:ea typeface="Calibri"/>
                <a:cs typeface="Calibri"/>
                <a:sym typeface="Calibri"/>
              </a:rPr>
              <a:t>Every action the executor and recovery layer take is recorded as a timestamped event. Together these form an audit trail — the record that answers what happened, when, and why, and lets a run be replayed and scored.</a:t>
            </a:r>
            <a:endParaRPr b="0" i="0" sz="1450" u="none" cap="none" strike="noStrike">
              <a:solidFill>
                <a:srgbClr val="000000"/>
              </a:solidFill>
              <a:latin typeface="Calibri"/>
              <a:ea typeface="Calibri"/>
              <a:cs typeface="Calibri"/>
              <a:sym typeface="Calibri"/>
            </a:endParaRPr>
          </a:p>
        </p:txBody>
      </p:sp>
      <p:sp>
        <p:nvSpPr>
          <p:cNvPr id="1768" name="Google Shape;1768;p66"/>
          <p:cNvSpPr/>
          <p:nvPr/>
        </p:nvSpPr>
        <p:spPr>
          <a:xfrm>
            <a:off x="548640" y="2286000"/>
            <a:ext cx="5212200" cy="3108900"/>
          </a:xfrm>
          <a:prstGeom prst="roundRect">
            <a:avLst>
              <a:gd fmla="val 2353" name="adj"/>
            </a:avLst>
          </a:prstGeom>
          <a:solidFill>
            <a:srgbClr val="0E18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66"/>
          <p:cNvSpPr/>
          <p:nvPr/>
        </p:nvSpPr>
        <p:spPr>
          <a:xfrm>
            <a:off x="804672" y="2450592"/>
            <a:ext cx="4700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860B"/>
              </a:buClr>
              <a:buSzPts val="1100"/>
              <a:buFont typeface="Calibri"/>
              <a:buNone/>
            </a:pPr>
            <a:r>
              <a:rPr b="1" i="0" lang="en-US" sz="1100" u="none" cap="none" strike="noStrike">
                <a:solidFill>
                  <a:srgbClr val="B8860B"/>
                </a:solidFill>
              </a:rPr>
              <a:t>one logged event — who did what, when, why</a:t>
            </a:r>
            <a:endParaRPr i="0" sz="1100" u="none" cap="none" strike="noStrike">
              <a:solidFill>
                <a:srgbClr val="000000"/>
              </a:solidFill>
            </a:endParaRPr>
          </a:p>
        </p:txBody>
      </p:sp>
      <p:sp>
        <p:nvSpPr>
          <p:cNvPr id="1770" name="Google Shape;1770;p66"/>
          <p:cNvSpPr/>
          <p:nvPr/>
        </p:nvSpPr>
        <p:spPr>
          <a:xfrm>
            <a:off x="822960" y="2889504"/>
            <a:ext cx="128100" cy="1281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66"/>
          <p:cNvSpPr/>
          <p:nvPr/>
        </p:nvSpPr>
        <p:spPr>
          <a:xfrm>
            <a:off x="1097280" y="2852928"/>
            <a:ext cx="443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0EC"/>
              </a:buClr>
              <a:buSzPts val="1250"/>
              <a:buFont typeface="Consolas"/>
              <a:buNone/>
            </a:pPr>
            <a:r>
              <a:rPr b="1" i="0" lang="en-US" sz="1250" u="none" cap="none" strike="noStrike">
                <a:solidFill>
                  <a:srgbClr val="D7E0EC"/>
                </a:solidFill>
              </a:rPr>
              <a:t>timestamp  </a:t>
            </a:r>
            <a:r>
              <a:rPr i="0" lang="en-US" sz="1250" u="none" cap="none" strike="noStrike">
                <a:solidFill>
                  <a:srgbClr val="8FA3BC"/>
                </a:solidFill>
              </a:rPr>
              <a:t>— when the action fired</a:t>
            </a:r>
            <a:endParaRPr i="0" sz="1250" u="none" cap="none" strike="noStrike">
              <a:solidFill>
                <a:srgbClr val="000000"/>
              </a:solidFill>
            </a:endParaRPr>
          </a:p>
        </p:txBody>
      </p:sp>
      <p:sp>
        <p:nvSpPr>
          <p:cNvPr id="1772" name="Google Shape;1772;p66"/>
          <p:cNvSpPr/>
          <p:nvPr/>
        </p:nvSpPr>
        <p:spPr>
          <a:xfrm>
            <a:off x="822960" y="3300984"/>
            <a:ext cx="128100" cy="1281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6"/>
          <p:cNvSpPr/>
          <p:nvPr/>
        </p:nvSpPr>
        <p:spPr>
          <a:xfrm>
            <a:off x="1097280" y="3264408"/>
            <a:ext cx="443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0EC"/>
              </a:buClr>
              <a:buSzPts val="1250"/>
              <a:buFont typeface="Consolas"/>
              <a:buNone/>
            </a:pPr>
            <a:r>
              <a:rPr b="1" i="0" lang="en-US" sz="1250" u="none" cap="none" strike="noStrike">
                <a:solidFill>
                  <a:srgbClr val="D7E0EC"/>
                </a:solidFill>
              </a:rPr>
              <a:t>trigger  </a:t>
            </a:r>
            <a:r>
              <a:rPr i="0" lang="en-US" sz="1250" u="none" cap="none" strike="noStrike">
                <a:solidFill>
                  <a:srgbClr val="8FA3BC"/>
                </a:solidFill>
              </a:rPr>
              <a:t>— which alert / anomaly caused it</a:t>
            </a:r>
            <a:endParaRPr i="0" sz="1250" u="none" cap="none" strike="noStrike">
              <a:solidFill>
                <a:srgbClr val="000000"/>
              </a:solidFill>
            </a:endParaRPr>
          </a:p>
        </p:txBody>
      </p:sp>
      <p:sp>
        <p:nvSpPr>
          <p:cNvPr id="1774" name="Google Shape;1774;p66"/>
          <p:cNvSpPr/>
          <p:nvPr/>
        </p:nvSpPr>
        <p:spPr>
          <a:xfrm>
            <a:off x="822960" y="3712464"/>
            <a:ext cx="128100" cy="128100"/>
          </a:xfrm>
          <a:prstGeom prst="ellipse">
            <a:avLst/>
          </a:prstGeom>
          <a:solidFill>
            <a:srgbClr val="E84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66"/>
          <p:cNvSpPr/>
          <p:nvPr/>
        </p:nvSpPr>
        <p:spPr>
          <a:xfrm>
            <a:off x="1097280" y="3675888"/>
            <a:ext cx="443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0EC"/>
              </a:buClr>
              <a:buSzPts val="1250"/>
              <a:buFont typeface="Consolas"/>
              <a:buNone/>
            </a:pPr>
            <a:r>
              <a:rPr b="1" i="0" lang="en-US" sz="1250" u="none" cap="none" strike="noStrike">
                <a:solidFill>
                  <a:srgbClr val="D7E0EC"/>
                </a:solidFill>
              </a:rPr>
              <a:t>action  </a:t>
            </a:r>
            <a:r>
              <a:rPr i="0" lang="en-US" sz="1250" u="none" cap="none" strike="noStrike">
                <a:solidFill>
                  <a:srgbClr val="8FA3BC"/>
                </a:solidFill>
              </a:rPr>
              <a:t>— what was done (slow, isolate, recover)</a:t>
            </a:r>
            <a:endParaRPr i="0" sz="1250" u="none" cap="none" strike="noStrike">
              <a:solidFill>
                <a:srgbClr val="000000"/>
              </a:solidFill>
            </a:endParaRPr>
          </a:p>
        </p:txBody>
      </p:sp>
      <p:sp>
        <p:nvSpPr>
          <p:cNvPr id="1776" name="Google Shape;1776;p66"/>
          <p:cNvSpPr/>
          <p:nvPr/>
        </p:nvSpPr>
        <p:spPr>
          <a:xfrm>
            <a:off x="822960" y="4123944"/>
            <a:ext cx="128100" cy="128100"/>
          </a:xfrm>
          <a:prstGeom prst="ellipse">
            <a:avLst/>
          </a:prstGeom>
          <a:solidFill>
            <a:srgbClr val="425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66"/>
          <p:cNvSpPr/>
          <p:nvPr/>
        </p:nvSpPr>
        <p:spPr>
          <a:xfrm>
            <a:off x="1097280" y="4087368"/>
            <a:ext cx="443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0EC"/>
              </a:buClr>
              <a:buSzPts val="1250"/>
              <a:buFont typeface="Consolas"/>
              <a:buNone/>
            </a:pPr>
            <a:r>
              <a:rPr b="1" i="0" lang="en-US" sz="1250" u="none" cap="none" strike="noStrike">
                <a:solidFill>
                  <a:srgbClr val="D7E0EC"/>
                </a:solidFill>
              </a:rPr>
              <a:t>parameters  </a:t>
            </a:r>
            <a:r>
              <a:rPr i="0" lang="en-US" sz="1250" u="none" cap="none" strike="noStrike">
                <a:solidFill>
                  <a:srgbClr val="8FA3BC"/>
                </a:solidFill>
              </a:rPr>
              <a:t>— magnitude, target, limits applied</a:t>
            </a:r>
            <a:endParaRPr i="0" sz="1250" u="none" cap="none" strike="noStrike">
              <a:solidFill>
                <a:srgbClr val="000000"/>
              </a:solidFill>
            </a:endParaRPr>
          </a:p>
        </p:txBody>
      </p:sp>
      <p:sp>
        <p:nvSpPr>
          <p:cNvPr id="1778" name="Google Shape;1778;p66"/>
          <p:cNvSpPr/>
          <p:nvPr/>
        </p:nvSpPr>
        <p:spPr>
          <a:xfrm>
            <a:off x="822960" y="4535424"/>
            <a:ext cx="128100" cy="1281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6"/>
          <p:cNvSpPr/>
          <p:nvPr/>
        </p:nvSpPr>
        <p:spPr>
          <a:xfrm>
            <a:off x="1097280" y="4498848"/>
            <a:ext cx="443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0EC"/>
              </a:buClr>
              <a:buSzPts val="1250"/>
              <a:buFont typeface="Consolas"/>
              <a:buNone/>
            </a:pPr>
            <a:r>
              <a:rPr b="1" i="0" lang="en-US" sz="1250" u="none" cap="none" strike="noStrike">
                <a:solidFill>
                  <a:srgbClr val="D7E0EC"/>
                </a:solidFill>
              </a:rPr>
              <a:t>state before / after  </a:t>
            </a:r>
            <a:r>
              <a:rPr i="0" lang="en-US" sz="1250" u="none" cap="none" strike="noStrike">
                <a:solidFill>
                  <a:srgbClr val="8FA3BC"/>
                </a:solidFill>
              </a:rPr>
              <a:t>— speed, comms, mode snapshot</a:t>
            </a:r>
            <a:endParaRPr i="0" sz="1250" u="none" cap="none" strike="noStrike">
              <a:solidFill>
                <a:srgbClr val="000000"/>
              </a:solidFill>
            </a:endParaRPr>
          </a:p>
        </p:txBody>
      </p:sp>
      <p:sp>
        <p:nvSpPr>
          <p:cNvPr id="1780" name="Google Shape;1780;p66"/>
          <p:cNvSpPr/>
          <p:nvPr/>
        </p:nvSpPr>
        <p:spPr>
          <a:xfrm>
            <a:off x="822960" y="4946904"/>
            <a:ext cx="128100" cy="128100"/>
          </a:xfrm>
          <a:prstGeom prst="ellipse">
            <a:avLst/>
          </a:prstGeom>
          <a:solidFill>
            <a:srgbClr val="6A4C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6"/>
          <p:cNvSpPr/>
          <p:nvPr/>
        </p:nvSpPr>
        <p:spPr>
          <a:xfrm>
            <a:off x="1097280" y="4910328"/>
            <a:ext cx="443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E0EC"/>
              </a:buClr>
              <a:buSzPts val="1250"/>
              <a:buFont typeface="Consolas"/>
              <a:buNone/>
            </a:pPr>
            <a:r>
              <a:rPr b="1" i="0" lang="en-US" sz="1250" u="none" cap="none" strike="noStrike">
                <a:solidFill>
                  <a:srgbClr val="D7E0EC"/>
                </a:solidFill>
              </a:rPr>
              <a:t>outcome  </a:t>
            </a:r>
            <a:r>
              <a:rPr i="0" lang="en-US" sz="1250" u="none" cap="none" strike="noStrike">
                <a:solidFill>
                  <a:srgbClr val="8FA3BC"/>
                </a:solidFill>
              </a:rPr>
              <a:t>— resolved · escalated · ongoing</a:t>
            </a:r>
            <a:endParaRPr i="0" sz="1250" u="none" cap="none" strike="noStrike">
              <a:solidFill>
                <a:srgbClr val="000000"/>
              </a:solidFill>
            </a:endParaRPr>
          </a:p>
        </p:txBody>
      </p:sp>
      <p:sp>
        <p:nvSpPr>
          <p:cNvPr id="1782" name="Google Shape;1782;p66"/>
          <p:cNvSpPr/>
          <p:nvPr/>
        </p:nvSpPr>
        <p:spPr>
          <a:xfrm>
            <a:off x="6062472" y="2286000"/>
            <a:ext cx="457200" cy="457200"/>
          </a:xfrm>
          <a:prstGeom prst="ellipse">
            <a:avLst/>
          </a:prstGeom>
          <a:solidFill>
            <a:srgbClr val="2D6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3" name="Google Shape;1783;p66"/>
          <p:cNvPicPr preferRelativeResize="0"/>
          <p:nvPr/>
        </p:nvPicPr>
        <p:blipFill rotWithShape="1">
          <a:blip r:embed="rId4">
            <a:alphaModFix/>
          </a:blip>
          <a:srcRect b="0" l="0" r="0" t="0"/>
          <a:stretch/>
        </p:blipFill>
        <p:spPr>
          <a:xfrm>
            <a:off x="6181344" y="2404872"/>
            <a:ext cx="219456" cy="219456"/>
          </a:xfrm>
          <a:prstGeom prst="rect">
            <a:avLst/>
          </a:prstGeom>
          <a:noFill/>
          <a:ln>
            <a:noFill/>
          </a:ln>
        </p:spPr>
      </p:pic>
      <p:sp>
        <p:nvSpPr>
          <p:cNvPr id="1784" name="Google Shape;1784;p66"/>
          <p:cNvSpPr/>
          <p:nvPr/>
        </p:nvSpPr>
        <p:spPr>
          <a:xfrm>
            <a:off x="6656832" y="2249424"/>
            <a:ext cx="498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Live view</a:t>
            </a:r>
            <a:endParaRPr i="0" sz="1400" u="none" cap="none" strike="noStrike">
              <a:solidFill>
                <a:srgbClr val="000000"/>
              </a:solidFill>
            </a:endParaRPr>
          </a:p>
        </p:txBody>
      </p:sp>
      <p:sp>
        <p:nvSpPr>
          <p:cNvPr id="1785" name="Google Shape;1785;p66"/>
          <p:cNvSpPr/>
          <p:nvPr/>
        </p:nvSpPr>
        <p:spPr>
          <a:xfrm>
            <a:off x="6656832" y="2523744"/>
            <a:ext cx="498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i="0" lang="en-US" sz="1200" u="none" cap="none" strike="noStrike">
                <a:solidFill>
                  <a:srgbClr val="42536B"/>
                </a:solidFill>
              </a:rPr>
              <a:t>The state trace (speed, comms, mode over time) plots the response as it unfolds — the timeline chart.</a:t>
            </a:r>
            <a:endParaRPr i="0" sz="1200" u="none" cap="none" strike="noStrike">
              <a:solidFill>
                <a:srgbClr val="000000"/>
              </a:solidFill>
            </a:endParaRPr>
          </a:p>
        </p:txBody>
      </p:sp>
      <p:sp>
        <p:nvSpPr>
          <p:cNvPr id="1786" name="Google Shape;1786;p66"/>
          <p:cNvSpPr/>
          <p:nvPr/>
        </p:nvSpPr>
        <p:spPr>
          <a:xfrm>
            <a:off x="6062472" y="3063240"/>
            <a:ext cx="457200" cy="457200"/>
          </a:xfrm>
          <a:prstGeom prst="ellipse">
            <a:avLst/>
          </a:prstGeom>
          <a:solidFill>
            <a:srgbClr val="2E8B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7" name="Google Shape;1787;p66"/>
          <p:cNvPicPr preferRelativeResize="0"/>
          <p:nvPr/>
        </p:nvPicPr>
        <p:blipFill rotWithShape="1">
          <a:blip r:embed="rId5">
            <a:alphaModFix/>
          </a:blip>
          <a:srcRect b="0" l="0" r="0" t="0"/>
          <a:stretch/>
        </p:blipFill>
        <p:spPr>
          <a:xfrm>
            <a:off x="6181344" y="3182112"/>
            <a:ext cx="219456" cy="219456"/>
          </a:xfrm>
          <a:prstGeom prst="rect">
            <a:avLst/>
          </a:prstGeom>
          <a:noFill/>
          <a:ln>
            <a:noFill/>
          </a:ln>
        </p:spPr>
      </p:pic>
      <p:sp>
        <p:nvSpPr>
          <p:cNvPr id="1788" name="Google Shape;1788;p66"/>
          <p:cNvSpPr/>
          <p:nvPr/>
        </p:nvSpPr>
        <p:spPr>
          <a:xfrm>
            <a:off x="6656832" y="3026664"/>
            <a:ext cx="498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Replay</a:t>
            </a:r>
            <a:endParaRPr i="0" sz="1400" u="none" cap="none" strike="noStrike">
              <a:solidFill>
                <a:srgbClr val="000000"/>
              </a:solidFill>
            </a:endParaRPr>
          </a:p>
        </p:txBody>
      </p:sp>
      <p:sp>
        <p:nvSpPr>
          <p:cNvPr id="1789" name="Google Shape;1789;p66"/>
          <p:cNvSpPr/>
          <p:nvPr/>
        </p:nvSpPr>
        <p:spPr>
          <a:xfrm>
            <a:off x="6656832" y="3300984"/>
            <a:ext cx="498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i="0" lang="en-US" sz="1200" u="none" cap="none" strike="noStrike">
                <a:solidFill>
                  <a:srgbClr val="42536B"/>
                </a:solidFill>
              </a:rPr>
              <a:t>Because every transition is timestamped, the whole incident replays deterministically for root-cause analysis.</a:t>
            </a:r>
            <a:endParaRPr i="0" sz="1200" u="none" cap="none" strike="noStrike">
              <a:solidFill>
                <a:srgbClr val="000000"/>
              </a:solidFill>
            </a:endParaRPr>
          </a:p>
        </p:txBody>
      </p:sp>
      <p:sp>
        <p:nvSpPr>
          <p:cNvPr id="1790" name="Google Shape;1790;p66"/>
          <p:cNvSpPr/>
          <p:nvPr/>
        </p:nvSpPr>
        <p:spPr>
          <a:xfrm>
            <a:off x="6062472" y="3840480"/>
            <a:ext cx="457200" cy="457200"/>
          </a:xfrm>
          <a:prstGeom prst="ellipse">
            <a:avLst/>
          </a:prstGeom>
          <a:solidFill>
            <a:srgbClr val="F08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91" name="Google Shape;1791;p66"/>
          <p:cNvPicPr preferRelativeResize="0"/>
          <p:nvPr/>
        </p:nvPicPr>
        <p:blipFill rotWithShape="1">
          <a:blip r:embed="rId6">
            <a:alphaModFix/>
          </a:blip>
          <a:srcRect b="0" l="0" r="0" t="0"/>
          <a:stretch/>
        </p:blipFill>
        <p:spPr>
          <a:xfrm>
            <a:off x="6181344" y="3959352"/>
            <a:ext cx="219456" cy="219456"/>
          </a:xfrm>
          <a:prstGeom prst="rect">
            <a:avLst/>
          </a:prstGeom>
          <a:noFill/>
          <a:ln>
            <a:noFill/>
          </a:ln>
        </p:spPr>
      </p:pic>
      <p:sp>
        <p:nvSpPr>
          <p:cNvPr id="1792" name="Google Shape;1792;p66"/>
          <p:cNvSpPr/>
          <p:nvPr/>
        </p:nvSpPr>
        <p:spPr>
          <a:xfrm>
            <a:off x="6656832" y="3803904"/>
            <a:ext cx="498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Scoring</a:t>
            </a:r>
            <a:endParaRPr i="0" sz="1400" u="none" cap="none" strike="noStrike">
              <a:solidFill>
                <a:srgbClr val="000000"/>
              </a:solidFill>
            </a:endParaRPr>
          </a:p>
        </p:txBody>
      </p:sp>
      <p:sp>
        <p:nvSpPr>
          <p:cNvPr id="1793" name="Google Shape;1793;p66"/>
          <p:cNvSpPr/>
          <p:nvPr/>
        </p:nvSpPr>
        <p:spPr>
          <a:xfrm>
            <a:off x="6656832" y="4078224"/>
            <a:ext cx="498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i="0" lang="en-US" sz="1200" u="none" cap="none" strike="noStrike">
                <a:solidFill>
                  <a:srgbClr val="42536B"/>
                </a:solidFill>
              </a:rPr>
              <a:t>Logged events feed the metrics — response time, recovery quality, availability — turning raw activity into a performance grade.</a:t>
            </a:r>
            <a:endParaRPr i="0" sz="1200" u="none" cap="none" strike="noStrike">
              <a:solidFill>
                <a:srgbClr val="000000"/>
              </a:solidFill>
            </a:endParaRPr>
          </a:p>
        </p:txBody>
      </p:sp>
      <p:sp>
        <p:nvSpPr>
          <p:cNvPr id="1794" name="Google Shape;1794;p66"/>
          <p:cNvSpPr/>
          <p:nvPr/>
        </p:nvSpPr>
        <p:spPr>
          <a:xfrm>
            <a:off x="6062472" y="4617720"/>
            <a:ext cx="457200" cy="457200"/>
          </a:xfrm>
          <a:prstGeom prst="ellipse">
            <a:avLst/>
          </a:prstGeom>
          <a:solidFill>
            <a:srgbClr val="6A4C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95" name="Google Shape;1795;p66"/>
          <p:cNvPicPr preferRelativeResize="0"/>
          <p:nvPr/>
        </p:nvPicPr>
        <p:blipFill rotWithShape="1">
          <a:blip r:embed="rId7">
            <a:alphaModFix/>
          </a:blip>
          <a:srcRect b="0" l="0" r="0" t="0"/>
          <a:stretch/>
        </p:blipFill>
        <p:spPr>
          <a:xfrm>
            <a:off x="6181344" y="4736592"/>
            <a:ext cx="219456" cy="219456"/>
          </a:xfrm>
          <a:prstGeom prst="rect">
            <a:avLst/>
          </a:prstGeom>
          <a:noFill/>
          <a:ln>
            <a:noFill/>
          </a:ln>
        </p:spPr>
      </p:pic>
      <p:sp>
        <p:nvSpPr>
          <p:cNvPr id="1796" name="Google Shape;1796;p66"/>
          <p:cNvSpPr/>
          <p:nvPr/>
        </p:nvSpPr>
        <p:spPr>
          <a:xfrm>
            <a:off x="6656832" y="4581144"/>
            <a:ext cx="498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433"/>
              </a:buClr>
              <a:buSzPts val="1400"/>
              <a:buFont typeface="Calibri"/>
              <a:buNone/>
            </a:pPr>
            <a:r>
              <a:rPr b="1" i="0" lang="en-US" sz="1400" u="none" cap="none" strike="noStrike">
                <a:solidFill>
                  <a:srgbClr val="1A2433"/>
                </a:solidFill>
              </a:rPr>
              <a:t>Accountability</a:t>
            </a:r>
            <a:endParaRPr i="0" sz="1400" u="none" cap="none" strike="noStrike">
              <a:solidFill>
                <a:srgbClr val="000000"/>
              </a:solidFill>
            </a:endParaRPr>
          </a:p>
        </p:txBody>
      </p:sp>
      <p:sp>
        <p:nvSpPr>
          <p:cNvPr id="1797" name="Google Shape;1797;p66"/>
          <p:cNvSpPr/>
          <p:nvPr/>
        </p:nvSpPr>
        <p:spPr>
          <a:xfrm>
            <a:off x="6656832" y="4855464"/>
            <a:ext cx="498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536B"/>
              </a:buClr>
              <a:buSzPts val="1150"/>
              <a:buFont typeface="Calibri"/>
              <a:buNone/>
            </a:pPr>
            <a:r>
              <a:rPr i="0" lang="en-US" sz="1200" u="none" cap="none" strike="noStrike">
                <a:solidFill>
                  <a:srgbClr val="42536B"/>
                </a:solidFill>
              </a:rPr>
              <a:t>A tamper-evident trail supports audit and post-incident forensics — evidence of what the autonomous system did and why.</a:t>
            </a:r>
            <a:endParaRPr i="0" sz="1200" u="none" cap="none" strike="noStrike">
              <a:solidFill>
                <a:srgbClr val="00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1" name="Shape 1801"/>
        <p:cNvGrpSpPr/>
        <p:nvPr/>
      </p:nvGrpSpPr>
      <p:grpSpPr>
        <a:xfrm>
          <a:off x="0" y="0"/>
          <a:ext cx="0" cy="0"/>
          <a:chOff x="0" y="0"/>
          <a:chExt cx="0" cy="0"/>
        </a:xfrm>
      </p:grpSpPr>
      <p:sp>
        <p:nvSpPr>
          <p:cNvPr id="1802" name="Google Shape;1802;p67"/>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803" name="Google Shape;1803;p67"/>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804" name="Google Shape;1804;p67"/>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805" name="Google Shape;1805;p67"/>
          <p:cNvSpPr/>
          <p:nvPr/>
        </p:nvSpPr>
        <p:spPr>
          <a:xfrm>
            <a:off x="516653" y="333821"/>
            <a:ext cx="10515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932E"/>
              </a:buClr>
              <a:buSzPts val="1000"/>
              <a:buFont typeface="Calibri"/>
              <a:buNone/>
            </a:pPr>
            <a:r>
              <a:rPr b="1" i="0" lang="en-US" sz="1000" u="none" cap="none" strike="noStrike">
                <a:solidFill>
                  <a:srgbClr val="B8932E"/>
                </a:solidFill>
                <a:latin typeface="Calibri"/>
                <a:ea typeface="Calibri"/>
                <a:cs typeface="Calibri"/>
                <a:sym typeface="Calibri"/>
              </a:rPr>
              <a:t>HANDS-ON</a:t>
            </a:r>
            <a:endParaRPr b="0" i="0" sz="1000" u="none" cap="none" strike="noStrike">
              <a:solidFill>
                <a:schemeClr val="dk1"/>
              </a:solidFill>
              <a:latin typeface="Calibri"/>
              <a:ea typeface="Calibri"/>
              <a:cs typeface="Calibri"/>
              <a:sym typeface="Calibri"/>
            </a:endParaRPr>
          </a:p>
        </p:txBody>
      </p:sp>
      <p:sp>
        <p:nvSpPr>
          <p:cNvPr id="1806" name="Google Shape;1806;p67"/>
          <p:cNvSpPr/>
          <p:nvPr/>
        </p:nvSpPr>
        <p:spPr>
          <a:xfrm>
            <a:off x="548640" y="566928"/>
            <a:ext cx="10789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1A"/>
              </a:buClr>
              <a:buSzPts val="3000"/>
              <a:buFont typeface="Georgia"/>
              <a:buNone/>
            </a:pPr>
            <a:r>
              <a:rPr b="1" i="0" lang="en-US" sz="3000" u="none" cap="none" strike="noStrike">
                <a:solidFill>
                  <a:srgbClr val="1A1A1A"/>
                </a:solidFill>
                <a:latin typeface="Georgia"/>
                <a:ea typeface="Georgia"/>
                <a:cs typeface="Georgia"/>
                <a:sym typeface="Georgia"/>
              </a:rPr>
              <a:t>What You'll Implement</a:t>
            </a:r>
            <a:endParaRPr b="0" i="0" sz="3000" u="none" cap="none" strike="noStrike">
              <a:solidFill>
                <a:schemeClr val="dk1"/>
              </a:solidFill>
              <a:latin typeface="Calibri"/>
              <a:ea typeface="Calibri"/>
              <a:cs typeface="Calibri"/>
              <a:sym typeface="Calibri"/>
            </a:endParaRPr>
          </a:p>
        </p:txBody>
      </p:sp>
      <p:sp>
        <p:nvSpPr>
          <p:cNvPr id="1807" name="Google Shape;1807;p67"/>
          <p:cNvSpPr/>
          <p:nvPr/>
        </p:nvSpPr>
        <p:spPr>
          <a:xfrm>
            <a:off x="548640" y="1325880"/>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67"/>
          <p:cNvSpPr/>
          <p:nvPr/>
        </p:nvSpPr>
        <p:spPr>
          <a:xfrm>
            <a:off x="5712594" y="6001396"/>
            <a:ext cx="5211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8A8A"/>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1809" name="Google Shape;1809;p67"/>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810" name="Google Shape;1810;p67"/>
          <p:cNvSpPr/>
          <p:nvPr/>
        </p:nvSpPr>
        <p:spPr>
          <a:xfrm>
            <a:off x="620600" y="1325875"/>
            <a:ext cx="10307700" cy="3617100"/>
          </a:xfrm>
          <a:prstGeom prst="rect">
            <a:avLst/>
          </a:prstGeom>
          <a:noFill/>
          <a:ln>
            <a:noFill/>
          </a:ln>
        </p:spPr>
        <p:txBody>
          <a:bodyPr anchorCtr="0" anchor="ctr" bIns="45700" lIns="91425" spcFirstLastPara="1" rIns="91425" wrap="square" tIns="45700">
            <a:noAutofit/>
          </a:bodyPr>
          <a:lstStyle/>
          <a:p>
            <a:pPr indent="-342900" lvl="0" marL="457200" rtl="0" algn="l">
              <a:spcBef>
                <a:spcPts val="800"/>
              </a:spcBef>
              <a:spcAft>
                <a:spcPts val="0"/>
              </a:spcAft>
              <a:buClr>
                <a:srgbClr val="1A1A1A"/>
              </a:buClr>
              <a:buSzPts val="1800"/>
              <a:buChar char="■"/>
            </a:pPr>
            <a:r>
              <a:rPr b="1" lang="en-US" sz="1800">
                <a:solidFill>
                  <a:schemeClr val="dk1"/>
                </a:solidFill>
              </a:rPr>
              <a:t>Review Key Ideas</a:t>
            </a:r>
            <a:endParaRPr b="1" sz="1800">
              <a:solidFill>
                <a:srgbClr val="1A1A1A"/>
              </a:solidFill>
            </a:endParaRPr>
          </a:p>
          <a:p>
            <a:pPr indent="-330200" lvl="1" marL="914400" rtl="0" algn="l">
              <a:spcBef>
                <a:spcPts val="400"/>
              </a:spcBef>
              <a:spcAft>
                <a:spcPts val="0"/>
              </a:spcAft>
              <a:buClr>
                <a:srgbClr val="B8932E"/>
              </a:buClr>
              <a:buSzPts val="1600"/>
              <a:buChar char="—"/>
            </a:pPr>
            <a:r>
              <a:rPr lang="en-US" sz="1600">
                <a:solidFill>
                  <a:srgbClr val="404040"/>
                </a:solidFill>
              </a:rPr>
              <a:t>Autonomous decision-making with confidence-based thresholds.</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Vehicle response protocols for cybersecurity and physical threats.</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Real-time simulation and performance analysis techniques.</a:t>
            </a:r>
            <a:endParaRPr sz="1600">
              <a:solidFill>
                <a:srgbClr val="404040"/>
              </a:solidFill>
            </a:endParaRPr>
          </a:p>
          <a:p>
            <a:pPr indent="0" lvl="0" marL="914400" marR="0" rtl="0" algn="l">
              <a:lnSpc>
                <a:spcPct val="100000"/>
              </a:lnSpc>
              <a:spcBef>
                <a:spcPts val="400"/>
              </a:spcBef>
              <a:spcAft>
                <a:spcPts val="0"/>
              </a:spcAft>
              <a:buNone/>
            </a:pPr>
            <a:r>
              <a:t/>
            </a:r>
            <a:endParaRPr sz="1600">
              <a:solidFill>
                <a:srgbClr val="404040"/>
              </a:solidFill>
            </a:endParaRPr>
          </a:p>
          <a:p>
            <a:pPr indent="0" lvl="0" marL="0" marR="0" rtl="0" algn="l">
              <a:lnSpc>
                <a:spcPct val="100000"/>
              </a:lnSpc>
              <a:spcBef>
                <a:spcPts val="200"/>
              </a:spcBef>
              <a:spcAft>
                <a:spcPts val="0"/>
              </a:spcAft>
              <a:buClr>
                <a:srgbClr val="000000"/>
              </a:buClr>
              <a:buSzPts val="800"/>
              <a:buFont typeface="Arial"/>
              <a:buNone/>
            </a:pPr>
            <a:r>
              <a:t/>
            </a:r>
            <a:endParaRPr i="0" sz="800" u="none" cap="none" strike="noStrike">
              <a:solidFill>
                <a:srgbClr val="1A1A1A"/>
              </a:solidFill>
            </a:endParaRPr>
          </a:p>
          <a:p>
            <a:pPr indent="0" lvl="0" marL="457200" marR="0" rtl="0" algn="l">
              <a:lnSpc>
                <a:spcPct val="100000"/>
              </a:lnSpc>
              <a:spcBef>
                <a:spcPts val="800"/>
              </a:spcBef>
              <a:spcAft>
                <a:spcPts val="0"/>
              </a:spcAft>
              <a:buNone/>
            </a:pPr>
            <a:r>
              <a:t/>
            </a:r>
            <a:endParaRPr i="0" sz="1600" u="none" cap="none" strike="noStrike">
              <a:solidFill>
                <a:schemeClr val="dk1"/>
              </a:solidFill>
            </a:endParaRPr>
          </a:p>
        </p:txBody>
      </p:sp>
      <p:sp>
        <p:nvSpPr>
          <p:cNvPr id="1811" name="Google Shape;1811;p67"/>
          <p:cNvSpPr/>
          <p:nvPr/>
        </p:nvSpPr>
        <p:spPr>
          <a:xfrm>
            <a:off x="724550" y="2384300"/>
            <a:ext cx="10307700" cy="3617100"/>
          </a:xfrm>
          <a:prstGeom prst="rect">
            <a:avLst/>
          </a:prstGeom>
          <a:noFill/>
          <a:ln>
            <a:noFill/>
          </a:ln>
        </p:spPr>
        <p:txBody>
          <a:bodyPr anchorCtr="0" anchor="ctr" bIns="45700" lIns="91425" spcFirstLastPara="1" rIns="91425" wrap="square" tIns="45700">
            <a:noAutofit/>
          </a:bodyPr>
          <a:lstStyle/>
          <a:p>
            <a:pPr indent="0" lvl="0" marL="0" rtl="0" algn="l">
              <a:spcBef>
                <a:spcPts val="800"/>
              </a:spcBef>
              <a:spcAft>
                <a:spcPts val="0"/>
              </a:spcAft>
              <a:buNone/>
            </a:pPr>
            <a:r>
              <a:t/>
            </a:r>
            <a:endParaRPr sz="1600">
              <a:solidFill>
                <a:srgbClr val="404040"/>
              </a:solidFill>
            </a:endParaRPr>
          </a:p>
          <a:p>
            <a:pPr indent="0" lvl="0" marL="0" marR="0" rtl="0" algn="l">
              <a:lnSpc>
                <a:spcPct val="100000"/>
              </a:lnSpc>
              <a:spcBef>
                <a:spcPts val="200"/>
              </a:spcBef>
              <a:spcAft>
                <a:spcPts val="0"/>
              </a:spcAft>
              <a:buClr>
                <a:srgbClr val="000000"/>
              </a:buClr>
              <a:buSzPts val="800"/>
              <a:buFont typeface="Arial"/>
              <a:buNone/>
            </a:pPr>
            <a:r>
              <a:t/>
            </a:r>
            <a:endParaRPr i="0" sz="800" u="none" cap="none" strike="noStrike">
              <a:solidFill>
                <a:srgbClr val="1A1A1A"/>
              </a:solidFill>
            </a:endParaRPr>
          </a:p>
          <a:p>
            <a:pPr indent="-355600" lvl="0" marL="342900" marR="0" rtl="0" algn="l">
              <a:lnSpc>
                <a:spcPct val="100000"/>
              </a:lnSpc>
              <a:spcBef>
                <a:spcPts val="800"/>
              </a:spcBef>
              <a:spcAft>
                <a:spcPts val="0"/>
              </a:spcAft>
              <a:buClr>
                <a:srgbClr val="1A1A1A"/>
              </a:buClr>
              <a:buSzPts val="1800"/>
              <a:buChar char="■"/>
            </a:pPr>
            <a:r>
              <a:rPr b="1" i="0" lang="en-US" sz="1800" u="none" cap="none" strike="noStrike">
                <a:solidFill>
                  <a:srgbClr val="1A1A1A"/>
                </a:solidFill>
              </a:rPr>
              <a:t>Analyze</a:t>
            </a:r>
            <a:endParaRPr i="0" sz="1800" u="none" cap="none" strike="noStrike">
              <a:solidFill>
                <a:schemeClr val="dk1"/>
              </a:solidFill>
            </a:endParaRPr>
          </a:p>
          <a:p>
            <a:pPr indent="-330200" lvl="1" marL="914400" rtl="0" algn="l">
              <a:spcBef>
                <a:spcPts val="400"/>
              </a:spcBef>
              <a:spcAft>
                <a:spcPts val="0"/>
              </a:spcAft>
              <a:buClr>
                <a:srgbClr val="B8932E"/>
              </a:buClr>
              <a:buSzPts val="1600"/>
              <a:buChar char="—"/>
            </a:pPr>
            <a:r>
              <a:rPr lang="en-US" sz="1600">
                <a:solidFill>
                  <a:srgbClr val="404040"/>
                </a:solidFill>
              </a:rPr>
              <a:t>Build the decision engine and response executor</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Run the full simulation with realistic sparse alerts.</a:t>
            </a:r>
            <a:endParaRPr sz="1600">
              <a:solidFill>
                <a:srgbClr val="404040"/>
              </a:solidFill>
            </a:endParaRPr>
          </a:p>
          <a:p>
            <a:pPr indent="-330200" lvl="1" marL="914400" rtl="0" algn="l">
              <a:spcBef>
                <a:spcPts val="400"/>
              </a:spcBef>
              <a:spcAft>
                <a:spcPts val="0"/>
              </a:spcAft>
              <a:buClr>
                <a:srgbClr val="B8932E"/>
              </a:buClr>
              <a:buSzPts val="1600"/>
              <a:buChar char="—"/>
            </a:pPr>
            <a:r>
              <a:rPr lang="en-US" sz="1600">
                <a:solidFill>
                  <a:srgbClr val="404040"/>
                </a:solidFill>
              </a:rPr>
              <a:t>Explore performance analytics and the response timeline.</a:t>
            </a:r>
            <a:endParaRPr i="0" sz="1600" u="none" cap="none" strike="noStrike">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5" name="Shape 1815"/>
        <p:cNvGrpSpPr/>
        <p:nvPr/>
      </p:nvGrpSpPr>
      <p:grpSpPr>
        <a:xfrm>
          <a:off x="0" y="0"/>
          <a:ext cx="0" cy="0"/>
          <a:chOff x="0" y="0"/>
          <a:chExt cx="0" cy="0"/>
        </a:xfrm>
      </p:grpSpPr>
      <p:sp>
        <p:nvSpPr>
          <p:cNvPr id="1816" name="Google Shape;1816;p68"/>
          <p:cNvSpPr/>
          <p:nvPr/>
        </p:nvSpPr>
        <p:spPr>
          <a:xfrm>
            <a:off x="0" y="0"/>
            <a:ext cx="732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68"/>
          <p:cNvSpPr/>
          <p:nvPr/>
        </p:nvSpPr>
        <p:spPr>
          <a:xfrm>
            <a:off x="365760" y="6565392"/>
            <a:ext cx="1143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A8A8A"/>
              </a:buClr>
              <a:buSzPts val="900"/>
              <a:buFont typeface="Calibri"/>
              <a:buNone/>
            </a:pPr>
            <a:r>
              <a:rPr b="1" lang="en-US" sz="900">
                <a:solidFill>
                  <a:srgbClr val="8A8A8A"/>
                </a:solidFill>
                <a:latin typeface="Calibri"/>
                <a:ea typeface="Calibri"/>
                <a:cs typeface="Calibri"/>
                <a:sym typeface="Calibri"/>
              </a:rPr>
              <a:t>PART 4 · Autonomous Response Simulation</a:t>
            </a:r>
            <a:endParaRPr b="1" sz="900">
              <a:solidFill>
                <a:srgbClr val="8A8A8A"/>
              </a:solidFill>
              <a:latin typeface="Calibri"/>
              <a:ea typeface="Calibri"/>
              <a:cs typeface="Calibri"/>
              <a:sym typeface="Calibri"/>
            </a:endParaRPr>
          </a:p>
          <a:p>
            <a:pPr indent="0" lvl="0" marL="0" marR="0" rtl="0" algn="l">
              <a:lnSpc>
                <a:spcPct val="100000"/>
              </a:lnSpc>
              <a:spcBef>
                <a:spcPts val="0"/>
              </a:spcBef>
              <a:spcAft>
                <a:spcPts val="0"/>
              </a:spcAft>
              <a:buClr>
                <a:srgbClr val="8A8A8A"/>
              </a:buClr>
              <a:buSzPts val="900"/>
              <a:buFont typeface="Calibri"/>
              <a:buNone/>
            </a:pPr>
            <a:r>
              <a:t/>
            </a:r>
            <a:endParaRPr b="1" sz="900">
              <a:solidFill>
                <a:srgbClr val="8A8A8A"/>
              </a:solidFill>
              <a:latin typeface="Calibri"/>
              <a:ea typeface="Calibri"/>
              <a:cs typeface="Calibri"/>
              <a:sym typeface="Calibri"/>
            </a:endParaRPr>
          </a:p>
        </p:txBody>
      </p:sp>
      <p:sp>
        <p:nvSpPr>
          <p:cNvPr id="1818" name="Google Shape;1818;p68"/>
          <p:cNvSpPr txBox="1"/>
          <p:nvPr>
            <p:ph idx="12" type="sldNum"/>
          </p:nvPr>
        </p:nvSpPr>
        <p:spPr>
          <a:xfrm>
            <a:off x="11409045" y="6333134"/>
            <a:ext cx="731700" cy="525000"/>
          </a:xfrm>
          <a:prstGeom prst="rect">
            <a:avLst/>
          </a:prstGeom>
        </p:spPr>
        <p:txBody>
          <a:bodyPr anchorCtr="0" anchor="t"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dk2"/>
                </a:solidFill>
              </a:rPr>
              <a:t>‹#›</a:t>
            </a:fld>
            <a:endParaRPr>
              <a:solidFill>
                <a:schemeClr val="dk2"/>
              </a:solidFill>
            </a:endParaRPr>
          </a:p>
        </p:txBody>
      </p:sp>
      <p:sp>
        <p:nvSpPr>
          <p:cNvPr id="1819" name="Google Shape;1819;p68"/>
          <p:cNvSpPr/>
          <p:nvPr/>
        </p:nvSpPr>
        <p:spPr>
          <a:xfrm>
            <a:off x="731520" y="841248"/>
            <a:ext cx="8412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932E"/>
              </a:buClr>
              <a:buSzPts val="1100"/>
              <a:buFont typeface="Calibri"/>
              <a:buNone/>
            </a:pPr>
            <a:r>
              <a:rPr b="1" i="0" lang="en-US" sz="1100" u="none" cap="none" strike="noStrike">
                <a:solidFill>
                  <a:srgbClr val="B8932E"/>
                </a:solidFill>
                <a:latin typeface="Calibri"/>
                <a:ea typeface="Calibri"/>
                <a:cs typeface="Calibri"/>
                <a:sym typeface="Calibri"/>
              </a:rPr>
              <a:t>MODULE 5.4   ·   CONCLUSION</a:t>
            </a:r>
            <a:endParaRPr b="0" i="0" sz="1100" u="none" cap="none" strike="noStrike">
              <a:solidFill>
                <a:schemeClr val="dk1"/>
              </a:solidFill>
              <a:latin typeface="Calibri"/>
              <a:ea typeface="Calibri"/>
              <a:cs typeface="Calibri"/>
              <a:sym typeface="Calibri"/>
            </a:endParaRPr>
          </a:p>
        </p:txBody>
      </p:sp>
      <p:sp>
        <p:nvSpPr>
          <p:cNvPr id="1820" name="Google Shape;1820;p68"/>
          <p:cNvSpPr/>
          <p:nvPr/>
        </p:nvSpPr>
        <p:spPr>
          <a:xfrm>
            <a:off x="731520" y="1133856"/>
            <a:ext cx="85038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Georgia"/>
              <a:buNone/>
            </a:pPr>
            <a:r>
              <a:rPr b="1" i="0" lang="en-US" sz="3400" u="none" cap="none" strike="noStrike">
                <a:solidFill>
                  <a:schemeClr val="dk1"/>
                </a:solidFill>
                <a:latin typeface="Georgia"/>
                <a:ea typeface="Georgia"/>
                <a:cs typeface="Georgia"/>
                <a:sym typeface="Georgia"/>
              </a:rPr>
              <a:t>One pipeline, four notebooks</a:t>
            </a:r>
            <a:endParaRPr b="0" i="0" sz="3400" u="none" cap="none" strike="noStrike">
              <a:solidFill>
                <a:schemeClr val="dk1"/>
              </a:solidFill>
              <a:latin typeface="Calibri"/>
              <a:ea typeface="Calibri"/>
              <a:cs typeface="Calibri"/>
              <a:sym typeface="Calibri"/>
            </a:endParaRPr>
          </a:p>
        </p:txBody>
      </p:sp>
      <p:sp>
        <p:nvSpPr>
          <p:cNvPr id="1821" name="Google Shape;1821;p68"/>
          <p:cNvSpPr/>
          <p:nvPr/>
        </p:nvSpPr>
        <p:spPr>
          <a:xfrm>
            <a:off x="731520" y="1810512"/>
            <a:ext cx="548700" cy="36600"/>
          </a:xfrm>
          <a:prstGeom prst="rect">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68"/>
          <p:cNvSpPr/>
          <p:nvPr/>
        </p:nvSpPr>
        <p:spPr>
          <a:xfrm>
            <a:off x="731520" y="2157984"/>
            <a:ext cx="512100" cy="512100"/>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68"/>
          <p:cNvSpPr/>
          <p:nvPr/>
        </p:nvSpPr>
        <p:spPr>
          <a:xfrm>
            <a:off x="731520" y="2157984"/>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01</a:t>
            </a:r>
            <a:endParaRPr b="0" i="0" sz="1300" u="none" cap="none" strike="noStrike">
              <a:solidFill>
                <a:schemeClr val="dk1"/>
              </a:solidFill>
              <a:latin typeface="Calibri"/>
              <a:ea typeface="Calibri"/>
              <a:cs typeface="Calibri"/>
              <a:sym typeface="Calibri"/>
            </a:endParaRPr>
          </a:p>
        </p:txBody>
      </p:sp>
      <p:sp>
        <p:nvSpPr>
          <p:cNvPr id="1824" name="Google Shape;1824;p68"/>
          <p:cNvSpPr/>
          <p:nvPr/>
        </p:nvSpPr>
        <p:spPr>
          <a:xfrm>
            <a:off x="1481328" y="2121408"/>
            <a:ext cx="32460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700"/>
              <a:buFont typeface="Georgia"/>
              <a:buNone/>
            </a:pPr>
            <a:r>
              <a:rPr b="1" i="0" lang="en-US" sz="1700" u="none" cap="none" strike="noStrike">
                <a:solidFill>
                  <a:srgbClr val="A98A2E"/>
                </a:solidFill>
                <a:latin typeface="Georgia"/>
                <a:ea typeface="Georgia"/>
                <a:cs typeface="Georgia"/>
                <a:sym typeface="Georgia"/>
              </a:rPr>
              <a:t>Data Synchronization</a:t>
            </a:r>
            <a:endParaRPr b="0" i="0" sz="1700" u="none" cap="none" strike="noStrike">
              <a:solidFill>
                <a:srgbClr val="A98A2E"/>
              </a:solidFill>
              <a:latin typeface="Calibri"/>
              <a:ea typeface="Calibri"/>
              <a:cs typeface="Calibri"/>
              <a:sym typeface="Calibri"/>
            </a:endParaRPr>
          </a:p>
        </p:txBody>
      </p:sp>
      <p:sp>
        <p:nvSpPr>
          <p:cNvPr id="1825" name="Google Shape;1825;p68"/>
          <p:cNvSpPr/>
          <p:nvPr/>
        </p:nvSpPr>
        <p:spPr>
          <a:xfrm>
            <a:off x="4892040" y="2103120"/>
            <a:ext cx="6675000" cy="640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D0D0D0"/>
              </a:buClr>
              <a:buSzPts val="1600"/>
              <a:buFont typeface="Calibri"/>
              <a:buNone/>
            </a:pPr>
            <a:r>
              <a:rPr b="0" i="0" lang="en-US" sz="1600" u="none" cap="none" strike="noStrike">
                <a:solidFill>
                  <a:srgbClr val="444444"/>
                </a:solidFill>
                <a:latin typeface="Calibri"/>
                <a:ea typeface="Calibri"/>
                <a:cs typeface="Calibri"/>
                <a:sym typeface="Calibri"/>
              </a:rPr>
              <a:t>Two asynchronous streams became one labeled table — and the tolerance you pick sets coverage and attack surface at the same time.</a:t>
            </a:r>
            <a:endParaRPr b="0" i="0" sz="1600" u="none" cap="none" strike="noStrike">
              <a:solidFill>
                <a:srgbClr val="444444"/>
              </a:solidFill>
              <a:latin typeface="Calibri"/>
              <a:ea typeface="Calibri"/>
              <a:cs typeface="Calibri"/>
              <a:sym typeface="Calibri"/>
            </a:endParaRPr>
          </a:p>
        </p:txBody>
      </p:sp>
      <p:cxnSp>
        <p:nvCxnSpPr>
          <p:cNvPr id="1826" name="Google Shape;1826;p68"/>
          <p:cNvCxnSpPr/>
          <p:nvPr/>
        </p:nvCxnSpPr>
        <p:spPr>
          <a:xfrm>
            <a:off x="1481328" y="2761488"/>
            <a:ext cx="10085700" cy="0"/>
          </a:xfrm>
          <a:prstGeom prst="straightConnector1">
            <a:avLst/>
          </a:prstGeom>
          <a:noFill/>
          <a:ln cap="flat" cmpd="sng" w="11425">
            <a:solidFill>
              <a:srgbClr val="2E2E2E"/>
            </a:solidFill>
            <a:prstDash val="solid"/>
            <a:round/>
            <a:headEnd len="sm" w="sm" type="none"/>
            <a:tailEnd len="sm" w="sm" type="none"/>
          </a:ln>
        </p:spPr>
      </p:cxnSp>
      <p:sp>
        <p:nvSpPr>
          <p:cNvPr id="1827" name="Google Shape;1827;p68"/>
          <p:cNvSpPr/>
          <p:nvPr/>
        </p:nvSpPr>
        <p:spPr>
          <a:xfrm>
            <a:off x="731520" y="2907792"/>
            <a:ext cx="512100" cy="512100"/>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68"/>
          <p:cNvSpPr/>
          <p:nvPr/>
        </p:nvSpPr>
        <p:spPr>
          <a:xfrm>
            <a:off x="731520" y="2907792"/>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02</a:t>
            </a:r>
            <a:endParaRPr b="0" i="0" sz="1300" u="none" cap="none" strike="noStrike">
              <a:solidFill>
                <a:schemeClr val="dk1"/>
              </a:solidFill>
              <a:latin typeface="Calibri"/>
              <a:ea typeface="Calibri"/>
              <a:cs typeface="Calibri"/>
              <a:sym typeface="Calibri"/>
            </a:endParaRPr>
          </a:p>
        </p:txBody>
      </p:sp>
      <p:sp>
        <p:nvSpPr>
          <p:cNvPr id="1829" name="Google Shape;1829;p68"/>
          <p:cNvSpPr/>
          <p:nvPr/>
        </p:nvSpPr>
        <p:spPr>
          <a:xfrm>
            <a:off x="1481328" y="2871216"/>
            <a:ext cx="32460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700"/>
              <a:buFont typeface="Georgia"/>
              <a:buNone/>
            </a:pPr>
            <a:r>
              <a:rPr b="1" i="0" lang="en-US" sz="1700" u="none" cap="none" strike="noStrike">
                <a:solidFill>
                  <a:srgbClr val="A98A2E"/>
                </a:solidFill>
                <a:latin typeface="Georgia"/>
                <a:ea typeface="Georgia"/>
                <a:cs typeface="Georgia"/>
                <a:sym typeface="Georgia"/>
              </a:rPr>
              <a:t>Multimodal Model</a:t>
            </a:r>
            <a:endParaRPr b="0" i="0" sz="1700" u="none" cap="none" strike="noStrike">
              <a:solidFill>
                <a:srgbClr val="A98A2E"/>
              </a:solidFill>
              <a:latin typeface="Calibri"/>
              <a:ea typeface="Calibri"/>
              <a:cs typeface="Calibri"/>
              <a:sym typeface="Calibri"/>
            </a:endParaRPr>
          </a:p>
        </p:txBody>
      </p:sp>
      <p:sp>
        <p:nvSpPr>
          <p:cNvPr id="1830" name="Google Shape;1830;p68"/>
          <p:cNvSpPr/>
          <p:nvPr/>
        </p:nvSpPr>
        <p:spPr>
          <a:xfrm>
            <a:off x="4892040" y="2852928"/>
            <a:ext cx="6675000" cy="640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D0D0D0"/>
              </a:buClr>
              <a:buSzPts val="1600"/>
              <a:buFont typeface="Calibri"/>
              <a:buNone/>
            </a:pPr>
            <a:r>
              <a:rPr b="0" i="0" lang="en-US" sz="1600" u="none" cap="none" strike="noStrike">
                <a:solidFill>
                  <a:srgbClr val="444444"/>
                </a:solidFill>
                <a:latin typeface="Calibri"/>
                <a:ea typeface="Calibri"/>
                <a:cs typeface="Calibri"/>
                <a:sym typeface="Calibri"/>
              </a:rPr>
              <a:t>A dual-branch encoder with attention-gated fusion: 559,619 parameters, 2.13 MB — small enough to sit beside the control stack.</a:t>
            </a:r>
            <a:endParaRPr b="0" i="0" sz="1600" u="none" cap="none" strike="noStrike">
              <a:solidFill>
                <a:srgbClr val="444444"/>
              </a:solidFill>
              <a:latin typeface="Calibri"/>
              <a:ea typeface="Calibri"/>
              <a:cs typeface="Calibri"/>
              <a:sym typeface="Calibri"/>
            </a:endParaRPr>
          </a:p>
        </p:txBody>
      </p:sp>
      <p:cxnSp>
        <p:nvCxnSpPr>
          <p:cNvPr id="1831" name="Google Shape;1831;p68"/>
          <p:cNvCxnSpPr/>
          <p:nvPr/>
        </p:nvCxnSpPr>
        <p:spPr>
          <a:xfrm>
            <a:off x="1481328" y="3511296"/>
            <a:ext cx="10085700" cy="0"/>
          </a:xfrm>
          <a:prstGeom prst="straightConnector1">
            <a:avLst/>
          </a:prstGeom>
          <a:noFill/>
          <a:ln cap="flat" cmpd="sng" w="11425">
            <a:solidFill>
              <a:srgbClr val="2E2E2E"/>
            </a:solidFill>
            <a:prstDash val="solid"/>
            <a:round/>
            <a:headEnd len="sm" w="sm" type="none"/>
            <a:tailEnd len="sm" w="sm" type="none"/>
          </a:ln>
        </p:spPr>
      </p:cxnSp>
      <p:sp>
        <p:nvSpPr>
          <p:cNvPr id="1832" name="Google Shape;1832;p68"/>
          <p:cNvSpPr/>
          <p:nvPr/>
        </p:nvSpPr>
        <p:spPr>
          <a:xfrm>
            <a:off x="731520" y="3657600"/>
            <a:ext cx="512100" cy="512100"/>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68"/>
          <p:cNvSpPr/>
          <p:nvPr/>
        </p:nvSpPr>
        <p:spPr>
          <a:xfrm>
            <a:off x="731520" y="3657600"/>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03</a:t>
            </a:r>
            <a:endParaRPr b="0" i="0" sz="1300" u="none" cap="none" strike="noStrike">
              <a:solidFill>
                <a:schemeClr val="dk1"/>
              </a:solidFill>
              <a:latin typeface="Calibri"/>
              <a:ea typeface="Calibri"/>
              <a:cs typeface="Calibri"/>
              <a:sym typeface="Calibri"/>
            </a:endParaRPr>
          </a:p>
        </p:txBody>
      </p:sp>
      <p:sp>
        <p:nvSpPr>
          <p:cNvPr id="1834" name="Google Shape;1834;p68"/>
          <p:cNvSpPr/>
          <p:nvPr/>
        </p:nvSpPr>
        <p:spPr>
          <a:xfrm>
            <a:off x="1481328" y="3621024"/>
            <a:ext cx="32460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700"/>
              <a:buFont typeface="Georgia"/>
              <a:buNone/>
            </a:pPr>
            <a:r>
              <a:rPr b="1" i="0" lang="en-US" sz="1700" u="none" cap="none" strike="noStrike">
                <a:solidFill>
                  <a:srgbClr val="A98A2E"/>
                </a:solidFill>
                <a:latin typeface="Georgia"/>
                <a:ea typeface="Georgia"/>
                <a:cs typeface="Georgia"/>
                <a:sym typeface="Georgia"/>
              </a:rPr>
              <a:t>Real-Time Inference</a:t>
            </a:r>
            <a:endParaRPr b="0" i="0" sz="1700" u="none" cap="none" strike="noStrike">
              <a:solidFill>
                <a:srgbClr val="A98A2E"/>
              </a:solidFill>
              <a:latin typeface="Calibri"/>
              <a:ea typeface="Calibri"/>
              <a:cs typeface="Calibri"/>
              <a:sym typeface="Calibri"/>
            </a:endParaRPr>
          </a:p>
        </p:txBody>
      </p:sp>
      <p:sp>
        <p:nvSpPr>
          <p:cNvPr id="1835" name="Google Shape;1835;p68"/>
          <p:cNvSpPr/>
          <p:nvPr/>
        </p:nvSpPr>
        <p:spPr>
          <a:xfrm>
            <a:off x="4892040" y="3602736"/>
            <a:ext cx="6675000" cy="640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D0D0D0"/>
              </a:buClr>
              <a:buSzPts val="1600"/>
              <a:buFont typeface="Calibri"/>
              <a:buNone/>
            </a:pPr>
            <a:r>
              <a:rPr b="0" i="0" lang="en-US" sz="1600" u="none" cap="none" strike="noStrike">
                <a:solidFill>
                  <a:srgbClr val="444444"/>
                </a:solidFill>
                <a:latin typeface="Calibri"/>
                <a:ea typeface="Calibri"/>
                <a:cs typeface="Calibri"/>
                <a:sym typeface="Calibri"/>
              </a:rPr>
              <a:t>Confidence gating turns a stream of raw predictions into the few alerts that are actually worth acting on.</a:t>
            </a:r>
            <a:endParaRPr b="0" i="0" sz="1600" u="none" cap="none" strike="noStrike">
              <a:solidFill>
                <a:srgbClr val="444444"/>
              </a:solidFill>
              <a:latin typeface="Calibri"/>
              <a:ea typeface="Calibri"/>
              <a:cs typeface="Calibri"/>
              <a:sym typeface="Calibri"/>
            </a:endParaRPr>
          </a:p>
        </p:txBody>
      </p:sp>
      <p:cxnSp>
        <p:nvCxnSpPr>
          <p:cNvPr id="1836" name="Google Shape;1836;p68"/>
          <p:cNvCxnSpPr/>
          <p:nvPr/>
        </p:nvCxnSpPr>
        <p:spPr>
          <a:xfrm>
            <a:off x="1481328" y="4261104"/>
            <a:ext cx="10085700" cy="0"/>
          </a:xfrm>
          <a:prstGeom prst="straightConnector1">
            <a:avLst/>
          </a:prstGeom>
          <a:noFill/>
          <a:ln cap="flat" cmpd="sng" w="11425">
            <a:solidFill>
              <a:srgbClr val="2E2E2E"/>
            </a:solidFill>
            <a:prstDash val="solid"/>
            <a:round/>
            <a:headEnd len="sm" w="sm" type="none"/>
            <a:tailEnd len="sm" w="sm" type="none"/>
          </a:ln>
        </p:spPr>
      </p:cxnSp>
      <p:sp>
        <p:nvSpPr>
          <p:cNvPr id="1837" name="Google Shape;1837;p68"/>
          <p:cNvSpPr/>
          <p:nvPr/>
        </p:nvSpPr>
        <p:spPr>
          <a:xfrm>
            <a:off x="731520" y="4407408"/>
            <a:ext cx="512100" cy="512100"/>
          </a:xfrm>
          <a:prstGeom prst="ellipse">
            <a:avLst/>
          </a:prstGeom>
          <a:solidFill>
            <a:srgbClr val="B89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68"/>
          <p:cNvSpPr/>
          <p:nvPr/>
        </p:nvSpPr>
        <p:spPr>
          <a:xfrm>
            <a:off x="731520" y="4407408"/>
            <a:ext cx="5121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04</a:t>
            </a:r>
            <a:endParaRPr b="0" i="0" sz="1300" u="none" cap="none" strike="noStrike">
              <a:solidFill>
                <a:schemeClr val="dk1"/>
              </a:solidFill>
              <a:latin typeface="Calibri"/>
              <a:ea typeface="Calibri"/>
              <a:cs typeface="Calibri"/>
              <a:sym typeface="Calibri"/>
            </a:endParaRPr>
          </a:p>
        </p:txBody>
      </p:sp>
      <p:sp>
        <p:nvSpPr>
          <p:cNvPr id="1839" name="Google Shape;1839;p68"/>
          <p:cNvSpPr/>
          <p:nvPr/>
        </p:nvSpPr>
        <p:spPr>
          <a:xfrm>
            <a:off x="1481328" y="4370832"/>
            <a:ext cx="3246000" cy="58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BC97F"/>
              </a:buClr>
              <a:buSzPts val="1700"/>
              <a:buFont typeface="Georgia"/>
              <a:buNone/>
            </a:pPr>
            <a:r>
              <a:rPr b="1" i="0" lang="en-US" sz="1700" u="none" cap="none" strike="noStrike">
                <a:solidFill>
                  <a:srgbClr val="A98A2E"/>
                </a:solidFill>
                <a:latin typeface="Georgia"/>
                <a:ea typeface="Georgia"/>
                <a:cs typeface="Georgia"/>
                <a:sym typeface="Georgia"/>
              </a:rPr>
              <a:t>Autonomous Response</a:t>
            </a:r>
            <a:endParaRPr b="0" i="0" sz="1700" u="none" cap="none" strike="noStrike">
              <a:solidFill>
                <a:srgbClr val="A98A2E"/>
              </a:solidFill>
              <a:latin typeface="Calibri"/>
              <a:ea typeface="Calibri"/>
              <a:cs typeface="Calibri"/>
              <a:sym typeface="Calibri"/>
            </a:endParaRPr>
          </a:p>
        </p:txBody>
      </p:sp>
      <p:sp>
        <p:nvSpPr>
          <p:cNvPr id="1840" name="Google Shape;1840;p68"/>
          <p:cNvSpPr/>
          <p:nvPr/>
        </p:nvSpPr>
        <p:spPr>
          <a:xfrm>
            <a:off x="4892040" y="4352544"/>
            <a:ext cx="6675000" cy="640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D0D0D0"/>
              </a:buClr>
              <a:buSzPts val="1600"/>
              <a:buFont typeface="Calibri"/>
              <a:buNone/>
            </a:pPr>
            <a:r>
              <a:rPr b="0" i="0" lang="en-US" sz="1600" u="none" cap="none" strike="noStrike">
                <a:solidFill>
                  <a:srgbClr val="444444"/>
                </a:solidFill>
                <a:latin typeface="Calibri"/>
                <a:ea typeface="Calibri"/>
                <a:cs typeface="Calibri"/>
                <a:sym typeface="Calibri"/>
              </a:rPr>
              <a:t>Bounded actuation, containment instead of shutdown, and a logged path back to nominal operation.</a:t>
            </a:r>
            <a:endParaRPr b="0" i="0" sz="1600" u="none" cap="none" strike="noStrike">
              <a:solidFill>
                <a:srgbClr val="444444"/>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5" name="Shape 1845"/>
        <p:cNvGrpSpPr/>
        <p:nvPr/>
      </p:nvGrpSpPr>
      <p:grpSpPr>
        <a:xfrm>
          <a:off x="0" y="0"/>
          <a:ext cx="0" cy="0"/>
          <a:chOff x="0" y="0"/>
          <a:chExt cx="0" cy="0"/>
        </a:xfrm>
      </p:grpSpPr>
      <p:sp>
        <p:nvSpPr>
          <p:cNvPr id="1846" name="Google Shape;1846;p69"/>
          <p:cNvSpPr/>
          <p:nvPr/>
        </p:nvSpPr>
        <p:spPr>
          <a:xfrm>
            <a:off x="0" y="0"/>
            <a:ext cx="12191700" cy="6585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69"/>
          <p:cNvSpPr/>
          <p:nvPr/>
        </p:nvSpPr>
        <p:spPr>
          <a:xfrm>
            <a:off x="548640" y="197864"/>
            <a:ext cx="8869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Acknowledgements</a:t>
            </a:r>
            <a:endParaRPr b="0" i="0" sz="3200" u="none" cap="none" strike="noStrike">
              <a:solidFill>
                <a:schemeClr val="dk1"/>
              </a:solidFill>
              <a:latin typeface="Calibri"/>
              <a:ea typeface="Calibri"/>
              <a:cs typeface="Calibri"/>
              <a:sym typeface="Calibri"/>
            </a:endParaRPr>
          </a:p>
        </p:txBody>
      </p:sp>
      <p:sp>
        <p:nvSpPr>
          <p:cNvPr id="1848" name="Google Shape;1848;p69"/>
          <p:cNvSpPr/>
          <p:nvPr/>
        </p:nvSpPr>
        <p:spPr>
          <a:xfrm>
            <a:off x="548640" y="384048"/>
            <a:ext cx="88698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849" name="Google Shape;1849;p69"/>
          <p:cNvSpPr/>
          <p:nvPr/>
        </p:nvSpPr>
        <p:spPr>
          <a:xfrm>
            <a:off x="731520" y="960119"/>
            <a:ext cx="10792200" cy="2181900"/>
          </a:xfrm>
          <a:prstGeom prst="rect">
            <a:avLst/>
          </a:prstGeom>
          <a:solidFill>
            <a:srgbClr val="F8FAFC"/>
          </a:solidFill>
          <a:ln cap="flat" cmpd="sng" w="12700">
            <a:solidFill>
              <a:srgbClr val="E5E7EB"/>
            </a:solidFill>
            <a:prstDash val="solid"/>
            <a:round/>
            <a:headEnd len="sm" w="sm" type="none"/>
            <a:tailEnd len="sm" w="sm" type="none"/>
          </a:ln>
          <a:effectLst>
            <a:outerShdw blurRad="38100" rotWithShape="0" algn="bl" dir="2700000" dist="12700">
              <a:srgbClr val="000000">
                <a:alpha val="98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69"/>
          <p:cNvSpPr/>
          <p:nvPr/>
        </p:nvSpPr>
        <p:spPr>
          <a:xfrm>
            <a:off x="937259" y="1197133"/>
            <a:ext cx="10586400" cy="20199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0000"/>
              </a:lnSpc>
              <a:spcBef>
                <a:spcPts val="0"/>
              </a:spcBef>
              <a:spcAft>
                <a:spcPts val="0"/>
              </a:spcAft>
              <a:buClr>
                <a:srgbClr val="374151"/>
              </a:buClr>
              <a:buSzPts val="1800"/>
              <a:buFont typeface="Calibri"/>
              <a:buChar char="•"/>
            </a:pPr>
            <a:r>
              <a:rPr b="0" i="0" lang="en-US" sz="1800" u="none" cap="none" strike="noStrike">
                <a:solidFill>
                  <a:srgbClr val="374151"/>
                </a:solidFill>
                <a:latin typeface="Calibri"/>
                <a:ea typeface="Calibri"/>
                <a:cs typeface="Calibri"/>
                <a:sym typeface="Calibri"/>
              </a:rPr>
              <a:t>NSF </a:t>
            </a:r>
            <a:r>
              <a:rPr b="0" i="0" lang="en-US" sz="1800" u="none" cap="none" strike="noStrike">
                <a:solidFill>
                  <a:schemeClr val="dk1"/>
                </a:solidFill>
                <a:latin typeface="Calibri"/>
                <a:ea typeface="Calibri"/>
                <a:cs typeface="Calibri"/>
                <a:sym typeface="Calibri"/>
              </a:rPr>
              <a:t>NAIRR-Nat AI Research Resource (NAIRR) </a:t>
            </a:r>
            <a:r>
              <a:rPr b="0" i="0" lang="en-US" sz="1800" u="none" cap="none" strike="noStrike">
                <a:solidFill>
                  <a:srgbClr val="374151"/>
                </a:solidFill>
                <a:latin typeface="Calibri"/>
                <a:ea typeface="Calibri"/>
                <a:cs typeface="Calibri"/>
                <a:sym typeface="Calibri"/>
              </a:rPr>
              <a:t>Awards OAC-2528533 and OAC-2528534</a:t>
            </a:r>
            <a:endParaRPr b="0" i="0" sz="1800" u="none" cap="none" strike="noStrike">
              <a:solidFill>
                <a:srgbClr val="374151"/>
              </a:solidFill>
              <a:latin typeface="Calibri"/>
              <a:ea typeface="Calibri"/>
              <a:cs typeface="Calibri"/>
              <a:sym typeface="Calibri"/>
            </a:endParaRPr>
          </a:p>
          <a:p>
            <a:pPr indent="-203200" lvl="0" marL="203200" marR="0" rtl="0" algn="l">
              <a:lnSpc>
                <a:spcPct val="100000"/>
              </a:lnSpc>
              <a:spcBef>
                <a:spcPts val="400"/>
              </a:spcBef>
              <a:spcAft>
                <a:spcPts val="0"/>
              </a:spcAft>
              <a:buClr>
                <a:srgbClr val="243142"/>
              </a:buClr>
              <a:buSzPts val="1800"/>
              <a:buFont typeface="Calibri"/>
              <a:buChar char="•"/>
            </a:pPr>
            <a:r>
              <a:rPr b="0" i="0" lang="en-US" sz="1800" u="none" cap="none" strike="noStrike">
                <a:solidFill>
                  <a:srgbClr val="243142"/>
                </a:solidFill>
                <a:latin typeface="Calibri"/>
                <a:ea typeface="Calibri"/>
                <a:cs typeface="Calibri"/>
                <a:sym typeface="Calibri"/>
              </a:rPr>
              <a:t>National Artificial Intelligence Research Resource (NAIRR) Pilot allocation </a:t>
            </a:r>
            <a:r>
              <a:rPr b="0" i="0" lang="en-US" sz="1800" u="none" cap="none" strike="noStrike">
                <a:solidFill>
                  <a:schemeClr val="dk1"/>
                </a:solidFill>
                <a:latin typeface="Calibri"/>
                <a:ea typeface="Calibri"/>
                <a:cs typeface="Calibri"/>
                <a:sym typeface="Calibri"/>
              </a:rPr>
              <a:t>NAIRR250048</a:t>
            </a:r>
            <a:r>
              <a:rPr b="0" i="0" lang="en-US" sz="1800" u="none" cap="none" strike="noStrike">
                <a:solidFill>
                  <a:srgbClr val="37415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203200" lvl="0" marL="203200" marR="0" rtl="0" algn="l">
              <a:lnSpc>
                <a:spcPct val="100000"/>
              </a:lnSpc>
              <a:spcBef>
                <a:spcPts val="400"/>
              </a:spcBef>
              <a:spcAft>
                <a:spcPts val="0"/>
              </a:spcAft>
              <a:buClr>
                <a:srgbClr val="243142"/>
              </a:buClr>
              <a:buSzPts val="1800"/>
              <a:buFont typeface="Calibri"/>
              <a:buChar char="•"/>
            </a:pPr>
            <a:r>
              <a:rPr b="0" i="0" lang="en-US" sz="1800" u="none" cap="none" strike="noStrike">
                <a:solidFill>
                  <a:srgbClr val="243142"/>
                </a:solidFill>
                <a:latin typeface="Calibri"/>
                <a:ea typeface="Calibri"/>
                <a:cs typeface="Calibri"/>
                <a:sym typeface="Calibri"/>
              </a:rPr>
              <a:t>Jetstream2 cloud resource supported by the NSF (award NSF-OAC 2005506) at Indiana University</a:t>
            </a:r>
            <a:endParaRPr b="0" i="0" sz="1400" u="none" cap="none" strike="noStrike">
              <a:solidFill>
                <a:srgbClr val="000000"/>
              </a:solidFill>
              <a:latin typeface="Arial"/>
              <a:ea typeface="Arial"/>
              <a:cs typeface="Arial"/>
              <a:sym typeface="Arial"/>
            </a:endParaRPr>
          </a:p>
          <a:p>
            <a:pPr indent="-88900" lvl="0" marL="203200" marR="0" rtl="0" algn="l">
              <a:lnSpc>
                <a:spcPct val="100000"/>
              </a:lnSpc>
              <a:spcBef>
                <a:spcPts val="400"/>
              </a:spcBef>
              <a:spcAft>
                <a:spcPts val="0"/>
              </a:spcAft>
              <a:buClr>
                <a:schemeClr val="dk1"/>
              </a:buClr>
              <a:buSzPts val="1800"/>
              <a:buFont typeface="Calibri"/>
              <a:buNone/>
            </a:pPr>
            <a:r>
              <a:t/>
            </a:r>
            <a:endParaRPr b="0" i="0" sz="1800" u="none" cap="none" strike="noStrike">
              <a:solidFill>
                <a:srgbClr val="243142"/>
              </a:solidFill>
              <a:latin typeface="Calibri"/>
              <a:ea typeface="Calibri"/>
              <a:cs typeface="Calibri"/>
              <a:sym typeface="Calibri"/>
            </a:endParaRPr>
          </a:p>
        </p:txBody>
      </p:sp>
      <p:sp>
        <p:nvSpPr>
          <p:cNvPr id="1851" name="Google Shape;1851;p69"/>
          <p:cNvSpPr/>
          <p:nvPr/>
        </p:nvSpPr>
        <p:spPr>
          <a:xfrm>
            <a:off x="0" y="6537960"/>
            <a:ext cx="12191700" cy="32010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69"/>
          <p:cNvSpPr/>
          <p:nvPr/>
        </p:nvSpPr>
        <p:spPr>
          <a:xfrm>
            <a:off x="548640" y="6611112"/>
            <a:ext cx="96012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Contact: fu@oakland.edu | jdai@wpi.edu</a:t>
            </a:r>
            <a:endParaRPr b="0" i="0" sz="1000" u="none" cap="none" strike="noStrike">
              <a:solidFill>
                <a:schemeClr val="dk1"/>
              </a:solidFill>
              <a:latin typeface="Calibri"/>
              <a:ea typeface="Calibri"/>
              <a:cs typeface="Calibri"/>
              <a:sym typeface="Calibri"/>
            </a:endParaRPr>
          </a:p>
        </p:txBody>
      </p:sp>
      <p:sp>
        <p:nvSpPr>
          <p:cNvPr id="1853" name="Google Shape;1853;p69"/>
          <p:cNvSpPr/>
          <p:nvPr/>
        </p:nvSpPr>
        <p:spPr>
          <a:xfrm>
            <a:off x="895673" y="3455441"/>
            <a:ext cx="102414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Call to action for cybersecurity faculty and SFS PIs</a:t>
            </a:r>
            <a:endParaRPr b="0" i="0" sz="1800" u="none" cap="none" strike="noStrike">
              <a:solidFill>
                <a:schemeClr val="dk1"/>
              </a:solidFill>
              <a:latin typeface="Calibri"/>
              <a:ea typeface="Calibri"/>
              <a:cs typeface="Calibri"/>
              <a:sym typeface="Calibri"/>
            </a:endParaRPr>
          </a:p>
        </p:txBody>
      </p:sp>
      <p:sp>
        <p:nvSpPr>
          <p:cNvPr id="1854" name="Google Shape;1854;p69"/>
          <p:cNvSpPr/>
          <p:nvPr/>
        </p:nvSpPr>
        <p:spPr>
          <a:xfrm>
            <a:off x="895673" y="3821201"/>
            <a:ext cx="10241400" cy="1417200"/>
          </a:xfrm>
          <a:prstGeom prst="rect">
            <a:avLst/>
          </a:prstGeom>
          <a:noFill/>
          <a:ln>
            <a:noFill/>
          </a:ln>
        </p:spPr>
        <p:txBody>
          <a:bodyPr anchorCtr="0" anchor="ctr" bIns="45700" lIns="91425" spcFirstLastPara="1" rIns="91425" wrap="square" tIns="45700">
            <a:noAutofit/>
          </a:bodyPr>
          <a:lstStyle/>
          <a:p>
            <a:pPr indent="-228600" lvl="0" marL="228600" marR="0" rtl="0" algn="l">
              <a:lnSpc>
                <a:spcPct val="100000"/>
              </a:lnSpc>
              <a:spcBef>
                <a:spcPts val="0"/>
              </a:spcBef>
              <a:spcAft>
                <a:spcPts val="0"/>
              </a:spcAft>
              <a:buClr>
                <a:srgbClr val="FFFFFF"/>
              </a:buClr>
              <a:buSzPts val="1600"/>
              <a:buFont typeface="Calibri"/>
              <a:buChar char="•"/>
            </a:pPr>
            <a:r>
              <a:rPr b="0" i="0" lang="en-US" sz="1600" u="none" cap="none" strike="noStrike">
                <a:solidFill>
                  <a:srgbClr val="FFFFFF"/>
                </a:solidFill>
                <a:latin typeface="Calibri"/>
                <a:ea typeface="Calibri"/>
                <a:cs typeface="Calibri"/>
                <a:sym typeface="Calibri"/>
              </a:rPr>
              <a:t>Adopt one workshop module in a course or REU/SFS training</a:t>
            </a:r>
            <a:endParaRPr b="0" i="0" sz="1600" u="none" cap="none" strike="noStrike">
              <a:solidFill>
                <a:schemeClr val="dk1"/>
              </a:solidFill>
              <a:latin typeface="Calibri"/>
              <a:ea typeface="Calibri"/>
              <a:cs typeface="Calibri"/>
              <a:sym typeface="Calibri"/>
            </a:endParaRPr>
          </a:p>
          <a:p>
            <a:pPr indent="-228600" lvl="0" marL="228600" marR="0" rtl="0" algn="l">
              <a:lnSpc>
                <a:spcPct val="100000"/>
              </a:lnSpc>
              <a:spcBef>
                <a:spcPts val="400"/>
              </a:spcBef>
              <a:spcAft>
                <a:spcPts val="0"/>
              </a:spcAft>
              <a:buClr>
                <a:srgbClr val="FFFFFF"/>
              </a:buClr>
              <a:buSzPts val="1600"/>
              <a:buFont typeface="Calibri"/>
              <a:buChar char="•"/>
            </a:pPr>
            <a:r>
              <a:rPr b="0" i="0" lang="en-US" sz="1600" u="none" cap="none" strike="noStrike">
                <a:solidFill>
                  <a:srgbClr val="FFFFFF"/>
                </a:solidFill>
                <a:latin typeface="Calibri"/>
                <a:ea typeface="Calibri"/>
                <a:cs typeface="Calibri"/>
                <a:sym typeface="Calibri"/>
              </a:rPr>
              <a:t>Send participants to the March 2026 series (virtual)</a:t>
            </a:r>
            <a:endParaRPr b="0" i="0" sz="1600" u="none" cap="none" strike="noStrike">
              <a:solidFill>
                <a:schemeClr val="dk1"/>
              </a:solidFill>
              <a:latin typeface="Calibri"/>
              <a:ea typeface="Calibri"/>
              <a:cs typeface="Calibri"/>
              <a:sym typeface="Calibri"/>
            </a:endParaRPr>
          </a:p>
          <a:p>
            <a:pPr indent="-228600" lvl="0" marL="228600" marR="0" rtl="0" algn="l">
              <a:lnSpc>
                <a:spcPct val="100000"/>
              </a:lnSpc>
              <a:spcBef>
                <a:spcPts val="400"/>
              </a:spcBef>
              <a:spcAft>
                <a:spcPts val="0"/>
              </a:spcAft>
              <a:buClr>
                <a:srgbClr val="FFFFFF"/>
              </a:buClr>
              <a:buSzPts val="1600"/>
              <a:buFont typeface="Calibri"/>
              <a:buChar char="•"/>
            </a:pPr>
            <a:r>
              <a:rPr b="0" i="0" lang="en-US" sz="1600" u="none" cap="none" strike="noStrike">
                <a:solidFill>
                  <a:srgbClr val="FFFFFF"/>
                </a:solidFill>
                <a:latin typeface="Calibri"/>
                <a:ea typeface="Calibri"/>
                <a:cs typeface="Calibri"/>
                <a:sym typeface="Calibri"/>
              </a:rPr>
              <a:t>Co-develop a case study using your datasets or agency partners</a:t>
            </a:r>
            <a:endParaRPr b="0" i="0" sz="1600" u="none" cap="none" strike="noStrike">
              <a:solidFill>
                <a:schemeClr val="dk1"/>
              </a:solidFill>
              <a:latin typeface="Calibri"/>
              <a:ea typeface="Calibri"/>
              <a:cs typeface="Calibri"/>
              <a:sym typeface="Calibri"/>
            </a:endParaRPr>
          </a:p>
          <a:p>
            <a:pPr indent="-228600" lvl="0" marL="228600" marR="0" rtl="0" algn="l">
              <a:lnSpc>
                <a:spcPct val="100000"/>
              </a:lnSpc>
              <a:spcBef>
                <a:spcPts val="400"/>
              </a:spcBef>
              <a:spcAft>
                <a:spcPts val="0"/>
              </a:spcAft>
              <a:buClr>
                <a:srgbClr val="FFFFFF"/>
              </a:buClr>
              <a:buSzPts val="1600"/>
              <a:buFont typeface="Calibri"/>
              <a:buChar char="•"/>
            </a:pPr>
            <a:r>
              <a:rPr b="0" i="0" lang="en-US" sz="1600" u="none" cap="none" strike="noStrike">
                <a:solidFill>
                  <a:srgbClr val="FFFFFF"/>
                </a:solidFill>
                <a:latin typeface="Calibri"/>
                <a:ea typeface="Calibri"/>
                <a:cs typeface="Calibri"/>
                <a:sym typeface="Calibri"/>
              </a:rPr>
              <a:t>Share feedback on the highest-value modules to prioritize packaging</a:t>
            </a:r>
            <a:endParaRPr b="0" i="0" sz="1600" u="none" cap="none" strike="noStrike">
              <a:solidFill>
                <a:schemeClr val="dk1"/>
              </a:solidFill>
              <a:latin typeface="Calibri"/>
              <a:ea typeface="Calibri"/>
              <a:cs typeface="Calibri"/>
              <a:sym typeface="Calibri"/>
            </a:endParaRPr>
          </a:p>
        </p:txBody>
      </p:sp>
      <p:sp>
        <p:nvSpPr>
          <p:cNvPr id="1855" name="Google Shape;1855;p69"/>
          <p:cNvSpPr/>
          <p:nvPr/>
        </p:nvSpPr>
        <p:spPr>
          <a:xfrm>
            <a:off x="548640" y="6611112"/>
            <a:ext cx="96012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Contact: fu@oakland.edu | jdai@wpi.edu</a:t>
            </a:r>
            <a:endParaRPr b="0" i="0" sz="1000" u="none" cap="none" strike="noStrike">
              <a:solidFill>
                <a:schemeClr val="dk1"/>
              </a:solidFill>
              <a:latin typeface="Calibri"/>
              <a:ea typeface="Calibri"/>
              <a:cs typeface="Calibri"/>
              <a:sym typeface="Calibri"/>
            </a:endParaRPr>
          </a:p>
        </p:txBody>
      </p:sp>
      <p:sp>
        <p:nvSpPr>
          <p:cNvPr id="1856" name="Google Shape;1856;p69"/>
          <p:cNvSpPr/>
          <p:nvPr/>
        </p:nvSpPr>
        <p:spPr>
          <a:xfrm>
            <a:off x="773753" y="3821201"/>
            <a:ext cx="10744200" cy="1752600"/>
          </a:xfrm>
          <a:prstGeom prst="rect">
            <a:avLst/>
          </a:prstGeom>
          <a:solidFill>
            <a:srgbClr val="8B6E1F"/>
          </a:solidFill>
          <a:ln cap="flat" cmpd="sng" w="12700">
            <a:solidFill>
              <a:srgbClr val="8B6E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69"/>
          <p:cNvSpPr/>
          <p:nvPr/>
        </p:nvSpPr>
        <p:spPr>
          <a:xfrm>
            <a:off x="1048073" y="4015470"/>
            <a:ext cx="10241400" cy="1327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Any opinions, finding, and conclusions or recommendations expressed in this material are those of the author(s) and do no necessarily reflect the views of the National Science Foundation.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pic>
        <p:nvPicPr>
          <p:cNvPr descr="/home/claude/ou_monogram_transparent.png" id="1858" name="Google Shape;1858;p69"/>
          <p:cNvPicPr preferRelativeResize="0"/>
          <p:nvPr/>
        </p:nvPicPr>
        <p:blipFill rotWithShape="1">
          <a:blip r:embed="rId3">
            <a:alphaModFix/>
          </a:blip>
          <a:srcRect b="0" l="0" r="0" t="0"/>
          <a:stretch/>
        </p:blipFill>
        <p:spPr>
          <a:xfrm>
            <a:off x="11475720" y="228600"/>
            <a:ext cx="502920" cy="484632"/>
          </a:xfrm>
          <a:prstGeom prst="rect">
            <a:avLst/>
          </a:prstGeom>
          <a:noFill/>
          <a:ln>
            <a:noFill/>
          </a:ln>
        </p:spPr>
      </p:pic>
      <p:sp>
        <p:nvSpPr>
          <p:cNvPr id="1859" name="Google Shape;1859;p69"/>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F0F"/>
        </a:solidFill>
      </p:bgPr>
    </p:bg>
    <p:spTree>
      <p:nvGrpSpPr>
        <p:cNvPr id="1864" name="Shape 1864"/>
        <p:cNvGrpSpPr/>
        <p:nvPr/>
      </p:nvGrpSpPr>
      <p:grpSpPr>
        <a:xfrm>
          <a:off x="0" y="0"/>
          <a:ext cx="0" cy="0"/>
          <a:chOff x="0" y="0"/>
          <a:chExt cx="0" cy="0"/>
        </a:xfrm>
      </p:grpSpPr>
      <p:sp>
        <p:nvSpPr>
          <p:cNvPr id="1865" name="Google Shape;1865;p70"/>
          <p:cNvSpPr/>
          <p:nvPr/>
        </p:nvSpPr>
        <p:spPr>
          <a:xfrm>
            <a:off x="0" y="0"/>
            <a:ext cx="164700" cy="68580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ou_monogram_transparent.png" id="1866" name="Google Shape;1866;p70"/>
          <p:cNvPicPr preferRelativeResize="0"/>
          <p:nvPr/>
        </p:nvPicPr>
        <p:blipFill rotWithShape="1">
          <a:blip r:embed="rId3">
            <a:alphaModFix/>
          </a:blip>
          <a:srcRect b="0" l="0" r="0" t="0"/>
          <a:stretch/>
        </p:blipFill>
        <p:spPr>
          <a:xfrm>
            <a:off x="11430000" y="274320"/>
            <a:ext cx="548640" cy="530352"/>
          </a:xfrm>
          <a:prstGeom prst="rect">
            <a:avLst/>
          </a:prstGeom>
          <a:noFill/>
          <a:ln>
            <a:noFill/>
          </a:ln>
        </p:spPr>
      </p:pic>
      <p:sp>
        <p:nvSpPr>
          <p:cNvPr id="1867" name="Google Shape;1867;p70"/>
          <p:cNvSpPr/>
          <p:nvPr/>
        </p:nvSpPr>
        <p:spPr>
          <a:xfrm>
            <a:off x="731520" y="1463040"/>
            <a:ext cx="100584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932E"/>
              </a:buClr>
              <a:buSzPts val="1200"/>
              <a:buFont typeface="Calibri"/>
              <a:buNone/>
            </a:pPr>
            <a:r>
              <a:rPr b="1" i="0" lang="en-US" sz="1200" u="none" cap="none" strike="noStrike">
                <a:solidFill>
                  <a:srgbClr val="B8932E"/>
                </a:solidFill>
                <a:latin typeface="Calibri"/>
                <a:ea typeface="Calibri"/>
                <a:cs typeface="Calibri"/>
                <a:sym typeface="Calibri"/>
              </a:rPr>
              <a:t>THE END</a:t>
            </a:r>
            <a:endParaRPr b="0" i="0" sz="1200" u="none" cap="none" strike="noStrike">
              <a:solidFill>
                <a:schemeClr val="dk1"/>
              </a:solidFill>
              <a:latin typeface="Calibri"/>
              <a:ea typeface="Calibri"/>
              <a:cs typeface="Calibri"/>
              <a:sym typeface="Calibri"/>
            </a:endParaRPr>
          </a:p>
        </p:txBody>
      </p:sp>
      <p:sp>
        <p:nvSpPr>
          <p:cNvPr id="1868" name="Google Shape;1868;p70"/>
          <p:cNvSpPr/>
          <p:nvPr/>
        </p:nvSpPr>
        <p:spPr>
          <a:xfrm>
            <a:off x="731520" y="2011680"/>
            <a:ext cx="1097280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400"/>
              <a:buFont typeface="Georgia"/>
              <a:buNone/>
            </a:pPr>
            <a:r>
              <a:rPr b="1" i="0" lang="en-US" sz="8400" u="none" cap="none" strike="noStrike">
                <a:solidFill>
                  <a:srgbClr val="FFFFFF"/>
                </a:solidFill>
                <a:latin typeface="Georgia"/>
                <a:ea typeface="Georgia"/>
                <a:cs typeface="Georgia"/>
                <a:sym typeface="Georgia"/>
              </a:rPr>
              <a:t>Questions?</a:t>
            </a:r>
            <a:endParaRPr b="0" i="0" sz="8400" u="none" cap="none" strike="noStrike">
              <a:solidFill>
                <a:schemeClr val="dk1"/>
              </a:solidFill>
              <a:latin typeface="Calibri"/>
              <a:ea typeface="Calibri"/>
              <a:cs typeface="Calibri"/>
              <a:sym typeface="Calibri"/>
            </a:endParaRPr>
          </a:p>
        </p:txBody>
      </p:sp>
      <p:sp>
        <p:nvSpPr>
          <p:cNvPr id="1869" name="Google Shape;1869;p70"/>
          <p:cNvSpPr/>
          <p:nvPr/>
        </p:nvSpPr>
        <p:spPr>
          <a:xfrm>
            <a:off x="731520" y="3383280"/>
            <a:ext cx="457200" cy="36600"/>
          </a:xfrm>
          <a:prstGeom prst="rect">
            <a:avLst/>
          </a:prstGeom>
          <a:solidFill>
            <a:srgbClr val="B893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7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871" name="Google Shape;1871;p70"/>
          <p:cNvSpPr txBox="1"/>
          <p:nvPr/>
        </p:nvSpPr>
        <p:spPr>
          <a:xfrm>
            <a:off x="8922350" y="5967425"/>
            <a:ext cx="316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BDBDBD"/>
                </a:solidFill>
              </a:rPr>
              <a:t>https://forms.gle/NkrcSjiWub5F1qs68</a:t>
            </a:r>
            <a:endParaRPr>
              <a:solidFill>
                <a:srgbClr val="BDBDBD"/>
              </a:solidFill>
            </a:endParaRPr>
          </a:p>
        </p:txBody>
      </p:sp>
      <p:pic>
        <p:nvPicPr>
          <p:cNvPr id="1872" name="Google Shape;1872;p70"/>
          <p:cNvPicPr preferRelativeResize="0"/>
          <p:nvPr/>
        </p:nvPicPr>
        <p:blipFill>
          <a:blip r:embed="rId4">
            <a:alphaModFix/>
          </a:blip>
          <a:stretch>
            <a:fillRect/>
          </a:stretch>
        </p:blipFill>
        <p:spPr>
          <a:xfrm>
            <a:off x="8808720" y="2692080"/>
            <a:ext cx="3169920" cy="31699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