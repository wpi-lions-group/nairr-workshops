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handoutMasterIdLst>
    <p:handoutMasterId r:id="rId38"/>
  </p:handoutMasterIdLst>
  <p:sldIdLst>
    <p:sldId id="257" r:id="rId5"/>
    <p:sldId id="268" r:id="rId6"/>
    <p:sldId id="272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299" r:id="rId3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11/19/2025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Multimodal Edge AI for Autonomous Response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5.4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multimodal Edge AI for security?</a:t>
            </a:r>
          </a:p>
          <a:p>
            <a:r>
              <a:rPr lang="en-US" dirty="0"/>
              <a:t>Part 1 – Data Fusion &amp; Preprocessing</a:t>
            </a:r>
          </a:p>
          <a:p>
            <a:r>
              <a:rPr lang="en-US" dirty="0"/>
              <a:t>Part 2 – Multimodal Edge AI Model</a:t>
            </a:r>
          </a:p>
          <a:p>
            <a:r>
              <a:rPr lang="en-US" dirty="0"/>
              <a:t>Part 3 – Real-Time Inference &amp; Alerts</a:t>
            </a:r>
          </a:p>
          <a:p>
            <a:r>
              <a:rPr lang="en-US" dirty="0"/>
              <a:t>Part 4 – Autonomous Response Simulation</a:t>
            </a:r>
          </a:p>
          <a:p>
            <a:r>
              <a:rPr lang="en-US" dirty="0"/>
              <a:t>How this theory maps to the 5.4 notebooks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4B535-316B-FE30-1C83-E05BCB90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5768BA3-D77B-3D94-28F3-A32832CD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Multimodal Security on the Edge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D67433-7362-7B38-01AE-101729706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Evolving Threat Landscape</a:t>
            </a:r>
            <a:endParaRPr lang="en-US" dirty="0"/>
          </a:p>
          <a:p>
            <a:r>
              <a:rPr lang="en-US" dirty="0"/>
              <a:t>Modern environments use multiple sensors:</a:t>
            </a:r>
          </a:p>
          <a:p>
            <a:pPr lvl="1"/>
            <a:r>
              <a:rPr lang="en-US" dirty="0"/>
              <a:t>Network logs, device metrics, environmental sensors, cameras, access logs</a:t>
            </a:r>
          </a:p>
          <a:p>
            <a:r>
              <a:rPr lang="en-US" dirty="0"/>
              <a:t>Single-source monitoring is often insufficient:</a:t>
            </a:r>
          </a:p>
          <a:p>
            <a:pPr lvl="1"/>
            <a:r>
              <a:rPr lang="en-US" dirty="0"/>
              <a:t>Attackers can evade detection by avoiding obvious patterns</a:t>
            </a:r>
          </a:p>
          <a:p>
            <a:r>
              <a:rPr lang="en-US" dirty="0"/>
              <a:t>Need:</a:t>
            </a:r>
          </a:p>
          <a:p>
            <a:pPr lvl="1"/>
            <a:r>
              <a:rPr lang="en-US" dirty="0"/>
              <a:t>Holistic, context-aware security monitoring</a:t>
            </a:r>
          </a:p>
        </p:txBody>
      </p:sp>
    </p:spTree>
    <p:extLst>
      <p:ext uri="{BB962C8B-B14F-4D97-AF65-F5344CB8AC3E}">
        <p14:creationId xmlns:p14="http://schemas.microsoft.com/office/powerpoint/2010/main" val="40699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5AFA-C5EC-E36C-C28E-E3EE9C66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CF4252A-A33B-9276-51D7-7EDC6296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Multimodal Security on the Edge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72E92A1-938F-68DF-0EE5-06F759F3E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Why Multimodal Edge AI?</a:t>
            </a:r>
            <a:endParaRPr lang="en-US" dirty="0"/>
          </a:p>
          <a:p>
            <a:r>
              <a:rPr lang="en-US" b="1" dirty="0"/>
              <a:t>Multimodal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Combine different data sources: tabular, time series, system events, etc.</a:t>
            </a:r>
          </a:p>
          <a:p>
            <a:r>
              <a:rPr lang="en-US" b="1" dirty="0"/>
              <a:t>Edge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Infer close to where data is generated</a:t>
            </a:r>
          </a:p>
          <a:p>
            <a:pPr lvl="1"/>
            <a:r>
              <a:rPr lang="en-US" dirty="0"/>
              <a:t>Reduce latency and bandwidth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Improved detection accuracy</a:t>
            </a:r>
          </a:p>
          <a:p>
            <a:pPr lvl="1"/>
            <a:r>
              <a:rPr lang="en-US" dirty="0"/>
              <a:t>Richer context for alerts</a:t>
            </a:r>
          </a:p>
          <a:p>
            <a:pPr lvl="1"/>
            <a:r>
              <a:rPr lang="en-US" dirty="0"/>
              <a:t>More robust to missing/compromised sensors</a:t>
            </a:r>
          </a:p>
        </p:txBody>
      </p:sp>
    </p:spTree>
    <p:extLst>
      <p:ext uri="{BB962C8B-B14F-4D97-AF65-F5344CB8AC3E}">
        <p14:creationId xmlns:p14="http://schemas.microsoft.com/office/powerpoint/2010/main" val="3783965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96C4-B42E-6175-B509-CF0BB023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EDF936C-A13B-4E22-E836-8514C637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Multimodal Security on the Edge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9669D96-B688-4DB7-38B0-EC20F320F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Workshop 5.4 Pipeline</a:t>
            </a:r>
            <a:endParaRPr lang="en-US" dirty="0"/>
          </a:p>
          <a:p>
            <a:r>
              <a:rPr lang="en-US" dirty="0"/>
              <a:t>End-to-end multimodal security pipeline:</a:t>
            </a:r>
          </a:p>
          <a:p>
            <a:pPr lvl="1"/>
            <a:r>
              <a:rPr lang="en-US" dirty="0"/>
              <a:t>Data fusion → Model training → Real-time inference → Autonomous response simulation</a:t>
            </a:r>
          </a:p>
          <a:p>
            <a:r>
              <a:rPr lang="en-US" dirty="0"/>
              <a:t>Four notebooks:</a:t>
            </a:r>
          </a:p>
          <a:p>
            <a:pPr lvl="1"/>
            <a:r>
              <a:rPr lang="en-US" b="1" dirty="0"/>
              <a:t>01</a:t>
            </a:r>
            <a:r>
              <a:rPr lang="en-US" dirty="0"/>
              <a:t>: Data Fusion and Preprocessing</a:t>
            </a:r>
          </a:p>
          <a:p>
            <a:pPr lvl="1"/>
            <a:r>
              <a:rPr lang="en-US" b="1" dirty="0"/>
              <a:t>02</a:t>
            </a:r>
            <a:r>
              <a:rPr lang="en-US" dirty="0"/>
              <a:t>: Multimodal Edge AI Model</a:t>
            </a:r>
          </a:p>
          <a:p>
            <a:pPr lvl="1"/>
            <a:r>
              <a:rPr lang="en-US" b="1" dirty="0"/>
              <a:t>03</a:t>
            </a:r>
            <a:r>
              <a:rPr lang="en-US" dirty="0"/>
              <a:t>: Real-Time Inference and Alerts</a:t>
            </a:r>
          </a:p>
          <a:p>
            <a:pPr lvl="1"/>
            <a:r>
              <a:rPr lang="en-US" b="1" dirty="0"/>
              <a:t>04</a:t>
            </a:r>
            <a:r>
              <a:rPr lang="en-US" dirty="0"/>
              <a:t>: Autonomous Response Simulation</a:t>
            </a:r>
          </a:p>
        </p:txBody>
      </p:sp>
    </p:spTree>
    <p:extLst>
      <p:ext uri="{BB962C8B-B14F-4D97-AF65-F5344CB8AC3E}">
        <p14:creationId xmlns:p14="http://schemas.microsoft.com/office/powerpoint/2010/main" val="754931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6ACBE-1C2E-FEF2-1769-CAB58F55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62AB74E-96E4-BF16-8457-6ECE1263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Data Fusion &amp; Preprocessing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1EA9109-9F37-E856-CAA0-2C1309395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Data Fusion?</a:t>
            </a:r>
            <a:endParaRPr lang="en-US" dirty="0"/>
          </a:p>
          <a:p>
            <a:r>
              <a:rPr lang="en-US" dirty="0"/>
              <a:t>Combine multiple data sources into a unified view:</a:t>
            </a:r>
          </a:p>
          <a:p>
            <a:pPr lvl="1"/>
            <a:r>
              <a:rPr lang="en-US" dirty="0"/>
              <a:t>Sensor streams, device logs, network features, contextual metadata</a:t>
            </a:r>
          </a:p>
          <a:p>
            <a:r>
              <a:rPr lang="en-US" dirty="0"/>
              <a:t>Levels of fusion:</a:t>
            </a:r>
          </a:p>
          <a:p>
            <a:pPr lvl="1"/>
            <a:r>
              <a:rPr lang="en-US" b="1" dirty="0"/>
              <a:t>Early fusion</a:t>
            </a:r>
            <a:r>
              <a:rPr lang="en-US" dirty="0"/>
              <a:t>: combine raw/feature-level inputs</a:t>
            </a:r>
          </a:p>
          <a:p>
            <a:pPr lvl="1"/>
            <a:r>
              <a:rPr lang="en-US" b="1" dirty="0"/>
              <a:t>Late fusion</a:t>
            </a:r>
            <a:r>
              <a:rPr lang="en-US" dirty="0"/>
              <a:t>: combine model outputs</a:t>
            </a:r>
          </a:p>
          <a:p>
            <a:pPr lvl="1"/>
            <a:r>
              <a:rPr lang="en-US" b="1" dirty="0"/>
              <a:t>Hybrid fusion</a:t>
            </a:r>
            <a:r>
              <a:rPr lang="en-US" dirty="0"/>
              <a:t>: mix both levels</a:t>
            </a:r>
          </a:p>
        </p:txBody>
      </p:sp>
    </p:spTree>
    <p:extLst>
      <p:ext uri="{BB962C8B-B14F-4D97-AF65-F5344CB8AC3E}">
        <p14:creationId xmlns:p14="http://schemas.microsoft.com/office/powerpoint/2010/main" val="3440836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5730-728E-0736-260D-1C67CE9D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C651671-E6B5-97A2-0479-2DBBD9EA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Data Fusion &amp; Preprocessing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EBC2538-C07D-D851-47E5-D372C48A9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Sources in This Workshop</a:t>
            </a:r>
            <a:endParaRPr lang="en-US" dirty="0"/>
          </a:p>
          <a:p>
            <a:r>
              <a:rPr lang="en-US" dirty="0"/>
              <a:t>Example inputs (as reflected in `combined_dataset.csv`):</a:t>
            </a:r>
          </a:p>
          <a:p>
            <a:pPr lvl="1"/>
            <a:r>
              <a:rPr lang="en-US" dirty="0"/>
              <a:t>Network-related features (e.g., flow statistics)</a:t>
            </a:r>
          </a:p>
          <a:p>
            <a:pPr lvl="1"/>
            <a:r>
              <a:rPr lang="en-US" dirty="0"/>
              <a:t>Device-level metrics (e.g., CPU/Memory usage, process counts)</a:t>
            </a:r>
          </a:p>
          <a:p>
            <a:pPr lvl="1"/>
            <a:r>
              <a:rPr lang="en-US" dirty="0"/>
              <a:t>Environmental/contextual features (e.g., time, zone, scenario tags)</a:t>
            </a:r>
          </a:p>
          <a:p>
            <a:r>
              <a:rPr lang="en-US" dirty="0"/>
              <a:t>Labels:</a:t>
            </a:r>
          </a:p>
          <a:p>
            <a:pPr lvl="1"/>
            <a:r>
              <a:rPr lang="en-US" dirty="0"/>
              <a:t>Normal vs anomalous / attack / high-risk events</a:t>
            </a:r>
          </a:p>
        </p:txBody>
      </p:sp>
    </p:spTree>
    <p:extLst>
      <p:ext uri="{BB962C8B-B14F-4D97-AF65-F5344CB8AC3E}">
        <p14:creationId xmlns:p14="http://schemas.microsoft.com/office/powerpoint/2010/main" val="328893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5013C-CD40-8820-5DE4-83C0776F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B4D2AAC-EA2C-885D-A50A-9F816351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Data Fusion &amp; Preprocessing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7AA02E4-69E5-C331-98C8-51E01EB7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Fusion Goals</a:t>
            </a:r>
            <a:endParaRPr lang="en-US" dirty="0"/>
          </a:p>
          <a:p>
            <a:r>
              <a:rPr lang="en-US" dirty="0"/>
              <a:t>Align records across sources:</a:t>
            </a:r>
          </a:p>
          <a:p>
            <a:pPr lvl="1"/>
            <a:r>
              <a:rPr lang="en-US" dirty="0"/>
              <a:t>Match by time window, device ID, or session ID</a:t>
            </a:r>
          </a:p>
          <a:p>
            <a:r>
              <a:rPr lang="en-US" dirty="0"/>
              <a:t>Handle:</a:t>
            </a:r>
          </a:p>
          <a:p>
            <a:pPr lvl="1"/>
            <a:r>
              <a:rPr lang="en-US" dirty="0"/>
              <a:t>Missing data from some sensors</a:t>
            </a:r>
          </a:p>
          <a:p>
            <a:pPr lvl="1"/>
            <a:r>
              <a:rPr lang="en-US" dirty="0"/>
              <a:t>Different sample rates</a:t>
            </a:r>
          </a:p>
          <a:p>
            <a:pPr lvl="1"/>
            <a:r>
              <a:rPr lang="en-US" dirty="0"/>
              <a:t>Different feature scales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Unified feature table with multimodal information per event</a:t>
            </a:r>
          </a:p>
        </p:txBody>
      </p:sp>
    </p:spTree>
    <p:extLst>
      <p:ext uri="{BB962C8B-B14F-4D97-AF65-F5344CB8AC3E}">
        <p14:creationId xmlns:p14="http://schemas.microsoft.com/office/powerpoint/2010/main" val="293966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CB12-5249-028D-F518-6B3F7BB3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3B67941-5EE7-B3A7-0DCD-19336157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Data Fusion &amp; Preprocessing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48221BE-7E17-0EF0-2219-17DCB569D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Preprocessing Steps</a:t>
            </a:r>
            <a:endParaRPr lang="en-US" dirty="0"/>
          </a:p>
          <a:p>
            <a:r>
              <a:rPr lang="en-US" dirty="0"/>
              <a:t>Typical steps:</a:t>
            </a:r>
          </a:p>
          <a:p>
            <a:pPr lvl="1"/>
            <a:r>
              <a:rPr lang="en-US" dirty="0"/>
              <a:t>Clean raw inputs (drop or impute invalid values)</a:t>
            </a:r>
          </a:p>
          <a:p>
            <a:pPr lvl="1"/>
            <a:r>
              <a:rPr lang="en-US" dirty="0"/>
              <a:t>Encode categorical variables (e.g., device type, location)</a:t>
            </a:r>
          </a:p>
          <a:p>
            <a:pPr lvl="1"/>
            <a:r>
              <a:rPr lang="en-US" dirty="0"/>
              <a:t>Normalize/standardize numerical features</a:t>
            </a:r>
          </a:p>
          <a:p>
            <a:pPr lvl="1"/>
            <a:r>
              <a:rPr lang="en-US" dirty="0"/>
              <a:t>Split into train/validation/test sets</a:t>
            </a:r>
          </a:p>
          <a:p>
            <a:r>
              <a:rPr lang="en-US" dirty="0"/>
              <a:t>Special attention:</a:t>
            </a:r>
          </a:p>
          <a:p>
            <a:pPr lvl="1"/>
            <a:r>
              <a:rPr lang="en-US" dirty="0"/>
              <a:t>Maintain temporal ordering where relevant</a:t>
            </a:r>
          </a:p>
          <a:p>
            <a:pPr lvl="1"/>
            <a:r>
              <a:rPr lang="en-US" dirty="0"/>
              <a:t>Avoid data leakage (future information in training)</a:t>
            </a:r>
          </a:p>
        </p:txBody>
      </p:sp>
    </p:spTree>
    <p:extLst>
      <p:ext uri="{BB962C8B-B14F-4D97-AF65-F5344CB8AC3E}">
        <p14:creationId xmlns:p14="http://schemas.microsoft.com/office/powerpoint/2010/main" val="2753365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AB3E5-F85D-85DA-5848-A7049292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EE05F30-3C7A-16BE-EDA2-4EEACAB9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Data Fusion &amp; Preprocessing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127CC72-6830-B817-4DDE-1130C9D39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Features &amp; Labels Overview</a:t>
            </a:r>
            <a:endParaRPr lang="en-US" dirty="0"/>
          </a:p>
          <a:p>
            <a:r>
              <a:rPr lang="en-US" dirty="0"/>
              <a:t>Feature groups:</a:t>
            </a:r>
          </a:p>
          <a:p>
            <a:pPr lvl="1"/>
            <a:r>
              <a:rPr lang="en-US" dirty="0"/>
              <a:t>Network behavior features</a:t>
            </a:r>
          </a:p>
          <a:p>
            <a:pPr lvl="1"/>
            <a:r>
              <a:rPr lang="en-US" dirty="0"/>
              <a:t>System resource features</a:t>
            </a:r>
          </a:p>
          <a:p>
            <a:pPr lvl="1"/>
            <a:r>
              <a:rPr lang="en-US" dirty="0"/>
              <a:t>Contextual/meta features</a:t>
            </a:r>
          </a:p>
          <a:p>
            <a:r>
              <a:rPr lang="en-US" dirty="0"/>
              <a:t>Label types:</a:t>
            </a:r>
          </a:p>
          <a:p>
            <a:pPr lvl="1"/>
            <a:r>
              <a:rPr lang="en-US" dirty="0"/>
              <a:t>Binary anomaly (normal vs anomalous)</a:t>
            </a:r>
          </a:p>
          <a:p>
            <a:pPr lvl="1"/>
            <a:r>
              <a:rPr lang="en-US" dirty="0"/>
              <a:t>Possibly multi-class (normal vs attack-type)</a:t>
            </a:r>
          </a:p>
          <a:p>
            <a:r>
              <a:rPr lang="en-US" dirty="0"/>
              <a:t>Importance:</a:t>
            </a:r>
          </a:p>
          <a:p>
            <a:pPr lvl="1"/>
            <a:r>
              <a:rPr lang="en-US" dirty="0"/>
              <a:t>Each group contributes complementary signal for detection</a:t>
            </a:r>
          </a:p>
        </p:txBody>
      </p:sp>
    </p:spTree>
    <p:extLst>
      <p:ext uri="{BB962C8B-B14F-4D97-AF65-F5344CB8AC3E}">
        <p14:creationId xmlns:p14="http://schemas.microsoft.com/office/powerpoint/2010/main" val="84550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E2FD8-8198-C4CE-EE24-242270C5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81D2DFB-1C1F-5B64-D202-5F4D98DA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Data Fusion &amp; Preprocessing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F46C267-17B0-C158-2545-38C472382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Notebook 01 – What You’ll Do</a:t>
            </a:r>
            <a:endParaRPr lang="en-US" dirty="0"/>
          </a:p>
          <a:p>
            <a:r>
              <a:rPr lang="en-US" dirty="0"/>
              <a:t>Load and inspect the fused dataset (`combined_dataset.csv`)</a:t>
            </a:r>
          </a:p>
          <a:p>
            <a:r>
              <a:rPr lang="en-US" dirty="0"/>
              <a:t>Explore distributions and correlations across feature groups</a:t>
            </a:r>
          </a:p>
          <a:p>
            <a:r>
              <a:rPr lang="en-US" dirty="0"/>
              <a:t>Apply preprocessing:</a:t>
            </a:r>
          </a:p>
          <a:p>
            <a:pPr lvl="1"/>
            <a:r>
              <a:rPr lang="en-US" dirty="0"/>
              <a:t>Scaling, encoding, train/test splitting</a:t>
            </a:r>
          </a:p>
          <a:p>
            <a:r>
              <a:rPr lang="en-US" dirty="0"/>
              <a:t>Prepare multimodal inputs for the model in Notebook 02</a:t>
            </a:r>
          </a:p>
        </p:txBody>
      </p:sp>
    </p:spTree>
    <p:extLst>
      <p:ext uri="{BB962C8B-B14F-4D97-AF65-F5344CB8AC3E}">
        <p14:creationId xmlns:p14="http://schemas.microsoft.com/office/powerpoint/2010/main" val="570058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C4A55-23AA-3689-4CBF-1F90CE00C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2F7EB13-84DD-C9DA-2B27-D4C03BEE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3. Multimodal Edge AI Model (Notebook 02)</a:t>
            </a:r>
            <a:endParaRPr lang="it-IT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9182056-A578-7291-0630-4414BC41A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Design Goals for the Multimodal Model</a:t>
            </a:r>
            <a:endParaRPr lang="en-US" dirty="0"/>
          </a:p>
          <a:p>
            <a:r>
              <a:rPr lang="en-US" b="1" dirty="0"/>
              <a:t>Accuracy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Effectively combine signals from different modalities</a:t>
            </a:r>
          </a:p>
          <a:p>
            <a:r>
              <a:rPr lang="en-US" b="1" dirty="0"/>
              <a:t>Edge readiness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Compact architecture</a:t>
            </a:r>
          </a:p>
          <a:p>
            <a:pPr lvl="1"/>
            <a:r>
              <a:rPr lang="en-US" dirty="0"/>
              <a:t>Reasonable inference time on CPU</a:t>
            </a:r>
          </a:p>
          <a:p>
            <a:r>
              <a:rPr lang="en-US" b="1" dirty="0"/>
              <a:t>Interpretability</a:t>
            </a:r>
            <a:r>
              <a:rPr lang="en-US" dirty="0"/>
              <a:t> (where possible):</a:t>
            </a:r>
          </a:p>
          <a:p>
            <a:pPr lvl="1"/>
            <a:r>
              <a:rPr lang="en-US" dirty="0"/>
              <a:t>Understand which features or modalities drive decisions</a:t>
            </a:r>
          </a:p>
        </p:txBody>
      </p:sp>
    </p:spTree>
    <p:extLst>
      <p:ext uri="{BB962C8B-B14F-4D97-AF65-F5344CB8AC3E}">
        <p14:creationId xmlns:p14="http://schemas.microsoft.com/office/powerpoint/2010/main" val="678750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76AD-1C5B-332D-1B14-AEF4BE12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EA36BC2-48FB-5EB0-3D56-01A79AB5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3. Multimodal Edge AI Model (Notebook 02)</a:t>
            </a:r>
            <a:endParaRPr lang="it-IT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9E9E285-C263-1623-A140-1FB5534ED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Fusion Strategy in This Workshop</a:t>
            </a:r>
            <a:endParaRPr lang="en-US" dirty="0"/>
          </a:p>
          <a:p>
            <a:r>
              <a:rPr lang="en-US" dirty="0"/>
              <a:t>Likely approach:</a:t>
            </a:r>
          </a:p>
          <a:p>
            <a:pPr lvl="1"/>
            <a:r>
              <a:rPr lang="en-US" dirty="0"/>
              <a:t>Early fusion at feature level:</a:t>
            </a:r>
          </a:p>
          <a:p>
            <a:pPr lvl="2"/>
            <a:r>
              <a:rPr lang="en-US" dirty="0"/>
              <a:t>Concatenate normalized features from multiple sources</a:t>
            </a:r>
          </a:p>
          <a:p>
            <a:pPr lvl="1"/>
            <a:r>
              <a:rPr lang="en-US" dirty="0"/>
              <a:t>Model architecture:</a:t>
            </a:r>
          </a:p>
          <a:p>
            <a:pPr lvl="2"/>
            <a:r>
              <a:rPr lang="en-US" dirty="0"/>
              <a:t>Shared backbone network that processes fused vector</a:t>
            </a:r>
          </a:p>
          <a:p>
            <a:pPr lvl="2"/>
            <a:r>
              <a:rPr lang="en-US" dirty="0"/>
              <a:t>Possibly sub-backbones per modality before fusion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Simple, effective for structured data</a:t>
            </a:r>
          </a:p>
          <a:p>
            <a:pPr lvl="1"/>
            <a:r>
              <a:rPr lang="en-US" dirty="0"/>
              <a:t>Easy to deploy on edge hardware</a:t>
            </a:r>
          </a:p>
        </p:txBody>
      </p:sp>
    </p:spTree>
    <p:extLst>
      <p:ext uri="{BB962C8B-B14F-4D97-AF65-F5344CB8AC3E}">
        <p14:creationId xmlns:p14="http://schemas.microsoft.com/office/powerpoint/2010/main" val="3551408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A76D-AB01-145E-BBD9-6D466250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CDAE8AB-7BC0-F413-7287-A7946A64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3. Multimodal Edge AI Model (Notebook 02)</a:t>
            </a:r>
            <a:endParaRPr lang="it-IT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9D076D5-B858-143F-C528-24FB461B3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Model Architecture – High-Level</a:t>
            </a:r>
            <a:endParaRPr lang="en-US" dirty="0"/>
          </a:p>
          <a:p>
            <a:r>
              <a:rPr lang="en-US" dirty="0"/>
              <a:t>Inputs:</a:t>
            </a:r>
          </a:p>
          <a:p>
            <a:pPr lvl="1"/>
            <a:r>
              <a:rPr lang="en-US" dirty="0"/>
              <a:t>Fused vector of multimodal features</a:t>
            </a:r>
          </a:p>
          <a:p>
            <a:r>
              <a:rPr lang="en-US" dirty="0"/>
              <a:t>Hidden layers:</a:t>
            </a:r>
          </a:p>
          <a:p>
            <a:pPr lvl="1"/>
            <a:r>
              <a:rPr lang="en-US" dirty="0"/>
              <a:t>Several fully-connected layers with non-linearities</a:t>
            </a:r>
          </a:p>
          <a:p>
            <a:pPr lvl="1"/>
            <a:r>
              <a:rPr lang="en-US" dirty="0"/>
              <a:t>Regularization (Dropout, </a:t>
            </a:r>
            <a:r>
              <a:rPr lang="en-US" dirty="0" err="1"/>
              <a:t>BatchNorm</a:t>
            </a:r>
            <a:r>
              <a:rPr lang="en-US" dirty="0"/>
              <a:t>) for generalization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Binary or multi-class classification head</a:t>
            </a:r>
          </a:p>
          <a:p>
            <a:pPr lvl="1"/>
            <a:r>
              <a:rPr lang="en-US" dirty="0"/>
              <a:t>Predicts anomaly / risk level or class type</a:t>
            </a:r>
          </a:p>
          <a:p>
            <a:r>
              <a:rPr lang="en-US" dirty="0"/>
              <a:t>Emphasis:</a:t>
            </a:r>
          </a:p>
          <a:p>
            <a:pPr lvl="1"/>
            <a:r>
              <a:rPr lang="en-US" dirty="0"/>
              <a:t>Balance between model capacity and edge deployment constraints</a:t>
            </a:r>
          </a:p>
        </p:txBody>
      </p:sp>
    </p:spTree>
    <p:extLst>
      <p:ext uri="{BB962C8B-B14F-4D97-AF65-F5344CB8AC3E}">
        <p14:creationId xmlns:p14="http://schemas.microsoft.com/office/powerpoint/2010/main" val="2223192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A011-132E-4785-7541-65D81949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2DE87D-7D1F-4212-F13E-6D176AD3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3. Multimodal Edge AI Model (Notebook 02)</a:t>
            </a:r>
            <a:endParaRPr lang="it-IT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FC85A88-F3BC-9EB1-4506-C66AE4748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Training Procedure</a:t>
            </a:r>
            <a:endParaRPr lang="en-US" dirty="0"/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Use train/</a:t>
            </a:r>
            <a:r>
              <a:rPr lang="en-US" dirty="0" err="1"/>
              <a:t>val</a:t>
            </a:r>
            <a:r>
              <a:rPr lang="en-US" dirty="0"/>
              <a:t> split from Notebook 01</a:t>
            </a:r>
          </a:p>
          <a:p>
            <a:pPr lvl="1"/>
            <a:r>
              <a:rPr lang="en-US" dirty="0"/>
              <a:t>Define loss function (e.g., cross-entropy)</a:t>
            </a:r>
          </a:p>
          <a:p>
            <a:pPr lvl="1"/>
            <a:r>
              <a:rPr lang="en-US" dirty="0"/>
              <a:t>Use optimizer (e.g., Adam/</a:t>
            </a:r>
            <a:r>
              <a:rPr lang="en-US" dirty="0" err="1"/>
              <a:t>AdaGrad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Monitor validation metrics and early stop if needed</a:t>
            </a:r>
          </a:p>
          <a:p>
            <a:r>
              <a:rPr lang="en-US" dirty="0"/>
              <a:t>Metrics:</a:t>
            </a:r>
          </a:p>
          <a:p>
            <a:pPr lvl="1"/>
            <a:r>
              <a:rPr lang="en-US" dirty="0"/>
              <a:t>Accuracy, Precision, Recall, F1-score</a:t>
            </a:r>
          </a:p>
          <a:p>
            <a:pPr lvl="1"/>
            <a:r>
              <a:rPr lang="en-US" dirty="0"/>
              <a:t>ROC-AUC (optional)</a:t>
            </a:r>
          </a:p>
          <a:p>
            <a:pPr lvl="1"/>
            <a:r>
              <a:rPr lang="en-US" dirty="0"/>
              <a:t>Confusion matrix for class-level performance</a:t>
            </a:r>
          </a:p>
        </p:txBody>
      </p:sp>
    </p:spTree>
    <p:extLst>
      <p:ext uri="{BB962C8B-B14F-4D97-AF65-F5344CB8AC3E}">
        <p14:creationId xmlns:p14="http://schemas.microsoft.com/office/powerpoint/2010/main" val="3747240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1A701-B79E-D615-2F32-C6218EB6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320079A-44A1-B2B0-FDF7-4486E68F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3. Multimodal Edge AI Model (Notebook 02)</a:t>
            </a:r>
            <a:endParaRPr lang="it-IT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38E201B-4A12-3EC6-2C5A-9C607F33C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Edge-Focused Optimization</a:t>
            </a:r>
            <a:endParaRPr lang="en-US" dirty="0"/>
          </a:p>
          <a:p>
            <a:r>
              <a:rPr lang="en-US" dirty="0"/>
              <a:t>Techniques:</a:t>
            </a:r>
          </a:p>
          <a:p>
            <a:pPr lvl="1"/>
            <a:r>
              <a:rPr lang="en-US" dirty="0"/>
              <a:t>Reduced hidden layer sizes</a:t>
            </a:r>
          </a:p>
          <a:p>
            <a:pPr lvl="1"/>
            <a:r>
              <a:rPr lang="en-US" dirty="0"/>
              <a:t>Prudent use of regularization</a:t>
            </a:r>
          </a:p>
          <a:p>
            <a:pPr lvl="1"/>
            <a:r>
              <a:rPr lang="en-US" dirty="0"/>
              <a:t>Possibly reduced precision (float16) at inference time</a:t>
            </a:r>
          </a:p>
          <a:p>
            <a:r>
              <a:rPr lang="en-US" dirty="0"/>
              <a:t>Consider:</a:t>
            </a:r>
          </a:p>
          <a:p>
            <a:pPr lvl="1"/>
            <a:r>
              <a:rPr lang="en-US" dirty="0"/>
              <a:t>Impact on:</a:t>
            </a:r>
          </a:p>
          <a:p>
            <a:pPr lvl="2"/>
            <a:r>
              <a:rPr lang="en-US" dirty="0"/>
              <a:t>Inference latency</a:t>
            </a:r>
          </a:p>
          <a:p>
            <a:pPr lvl="2"/>
            <a:r>
              <a:rPr lang="en-US" dirty="0"/>
              <a:t>Memory footprint</a:t>
            </a:r>
          </a:p>
          <a:p>
            <a:pPr lvl="2"/>
            <a:r>
              <a:rPr lang="en-US" dirty="0"/>
              <a:t>Battery consumption for edge devices</a:t>
            </a:r>
          </a:p>
        </p:txBody>
      </p:sp>
    </p:spTree>
    <p:extLst>
      <p:ext uri="{BB962C8B-B14F-4D97-AF65-F5344CB8AC3E}">
        <p14:creationId xmlns:p14="http://schemas.microsoft.com/office/powerpoint/2010/main" val="2153251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E586-BD7D-07D7-E567-70DDA41B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6489E0F-8F45-9489-0ECA-B4604947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3. Multimodal Edge AI Model (Notebook 02)</a:t>
            </a:r>
            <a:endParaRPr lang="it-IT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BE19C3-BC9B-40EB-16FB-43700CDBB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Saving and Exporting the Model</a:t>
            </a:r>
            <a:endParaRPr lang="en-US" dirty="0"/>
          </a:p>
          <a:p>
            <a:r>
              <a:rPr lang="en-US" dirty="0"/>
              <a:t>Save:</a:t>
            </a:r>
          </a:p>
          <a:p>
            <a:pPr lvl="1"/>
            <a:r>
              <a:rPr lang="en-US" dirty="0"/>
              <a:t>Best performing model weights (`</a:t>
            </a:r>
            <a:r>
              <a:rPr lang="en-US" dirty="0" err="1"/>
              <a:t>best_improved_model.pth</a:t>
            </a:r>
            <a:r>
              <a:rPr lang="en-US" dirty="0"/>
              <a:t>`)</a:t>
            </a:r>
          </a:p>
          <a:p>
            <a:pPr lvl="1"/>
            <a:r>
              <a:rPr lang="en-US" dirty="0"/>
              <a:t>Relevant metadata (feature order, normalization parameters)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Reuse the model in Notebook 03 for real-time inference</a:t>
            </a:r>
          </a:p>
          <a:p>
            <a:r>
              <a:rPr lang="en-US" dirty="0"/>
              <a:t>Potential exports: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→ ONNX for deployment on different runtimes</a:t>
            </a:r>
          </a:p>
        </p:txBody>
      </p:sp>
    </p:spTree>
    <p:extLst>
      <p:ext uri="{BB962C8B-B14F-4D97-AF65-F5344CB8AC3E}">
        <p14:creationId xmlns:p14="http://schemas.microsoft.com/office/powerpoint/2010/main" val="2439763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1ABB6-A237-D061-06C6-40197EA5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F734CFE-DF05-00FF-DA74-A495F142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3. Multimodal Edge AI Model (Notebook 02)</a:t>
            </a:r>
            <a:endParaRPr lang="it-IT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E0A5930-2AD0-0F28-0A8C-2FC3FFD89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Notebook 02 – What You’ll Do</a:t>
            </a:r>
            <a:endParaRPr lang="en-US" dirty="0"/>
          </a:p>
          <a:p>
            <a:r>
              <a:rPr lang="en-US" dirty="0"/>
              <a:t>Implement the multimodal model architecture</a:t>
            </a:r>
          </a:p>
          <a:p>
            <a:r>
              <a:rPr lang="en-US" dirty="0"/>
              <a:t>Train and evaluate on the fused dataset</a:t>
            </a:r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Multimodal vs single-modality baselines (if provided)</a:t>
            </a:r>
          </a:p>
          <a:p>
            <a:r>
              <a:rPr lang="en-US" dirty="0"/>
              <a:t>Save the best model for downstream real-time inference</a:t>
            </a:r>
          </a:p>
        </p:txBody>
      </p:sp>
    </p:spTree>
    <p:extLst>
      <p:ext uri="{BB962C8B-B14F-4D97-AF65-F5344CB8AC3E}">
        <p14:creationId xmlns:p14="http://schemas.microsoft.com/office/powerpoint/2010/main" val="977986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22CC-E0F0-ED4E-0FC1-37813C16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482FAD8-1F9A-B5E0-DB77-26BA13F8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Real-Time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730485A-D83C-2222-9B4E-5A38A3920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From Offline Model to Online System</a:t>
            </a:r>
            <a:endParaRPr lang="en-US" dirty="0"/>
          </a:p>
          <a:p>
            <a:r>
              <a:rPr lang="en-US" dirty="0"/>
              <a:t>Transition:</a:t>
            </a:r>
          </a:p>
          <a:p>
            <a:pPr lvl="1"/>
            <a:r>
              <a:rPr lang="en-US" dirty="0"/>
              <a:t>Model trained offline → run online on live/streaming data</a:t>
            </a:r>
          </a:p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Process events as they arrive</a:t>
            </a:r>
          </a:p>
          <a:p>
            <a:pPr lvl="1"/>
            <a:r>
              <a:rPr lang="en-US" dirty="0"/>
              <a:t>Apply the same preprocessing pipeline</a:t>
            </a:r>
          </a:p>
          <a:p>
            <a:pPr lvl="1"/>
            <a:r>
              <a:rPr lang="en-US" dirty="0"/>
              <a:t>Generate alerts with bounded latency</a:t>
            </a:r>
          </a:p>
        </p:txBody>
      </p:sp>
    </p:spTree>
    <p:extLst>
      <p:ext uri="{BB962C8B-B14F-4D97-AF65-F5344CB8AC3E}">
        <p14:creationId xmlns:p14="http://schemas.microsoft.com/office/powerpoint/2010/main" val="1985834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F9B9F-ECEA-2DD2-D2E6-C83EFA67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376A9AB-6703-7A4E-5406-4DB543DE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Real-Time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A8F2137-FD45-B96F-AA3D-905E7BEE3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Streaming Data in This Workshop</a:t>
            </a:r>
            <a:endParaRPr lang="en-US" dirty="0"/>
          </a:p>
          <a:p>
            <a:r>
              <a:rPr lang="en-US" dirty="0"/>
              <a:t>Inputs:</a:t>
            </a:r>
          </a:p>
          <a:p>
            <a:pPr lvl="1"/>
            <a:r>
              <a:rPr lang="en-US" dirty="0"/>
              <a:t>Live-like data stream or simulated stream using stored CSV</a:t>
            </a:r>
          </a:p>
          <a:p>
            <a:pPr lvl="1"/>
            <a:r>
              <a:rPr lang="en-US" dirty="0"/>
              <a:t>Real-time feature vectors consistent with training pipeline</a:t>
            </a:r>
          </a:p>
          <a:p>
            <a:r>
              <a:rPr lang="en-US" dirty="0"/>
              <a:t>Mechanism:</a:t>
            </a:r>
          </a:p>
          <a:p>
            <a:pPr lvl="1"/>
            <a:r>
              <a:rPr lang="en-US" dirty="0"/>
              <a:t>Iterate over incoming events:</a:t>
            </a:r>
          </a:p>
          <a:p>
            <a:pPr lvl="2"/>
            <a:r>
              <a:rPr lang="en-US" dirty="0"/>
              <a:t>Preprocess</a:t>
            </a:r>
          </a:p>
          <a:p>
            <a:pPr lvl="2"/>
            <a:r>
              <a:rPr lang="en-US" dirty="0"/>
              <a:t>Infer</a:t>
            </a:r>
          </a:p>
          <a:p>
            <a:pPr lvl="2"/>
            <a:r>
              <a:rPr lang="en-US" dirty="0"/>
              <a:t>Log events and alerts</a:t>
            </a:r>
          </a:p>
          <a:p>
            <a:r>
              <a:rPr lang="en-US" dirty="0"/>
              <a:t>Files:</a:t>
            </a:r>
          </a:p>
          <a:p>
            <a:pPr lvl="1"/>
            <a:r>
              <a:rPr lang="en-US" dirty="0"/>
              <a:t>`alerts_log.csv`</a:t>
            </a:r>
          </a:p>
          <a:p>
            <a:pPr lvl="1"/>
            <a:r>
              <a:rPr lang="en-US" dirty="0"/>
              <a:t>`response_log.csv` (in Notebook 04)</a:t>
            </a:r>
          </a:p>
        </p:txBody>
      </p:sp>
    </p:spTree>
    <p:extLst>
      <p:ext uri="{BB962C8B-B14F-4D97-AF65-F5344CB8AC3E}">
        <p14:creationId xmlns:p14="http://schemas.microsoft.com/office/powerpoint/2010/main" val="3442308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CDE-5801-3CE2-3CF4-178B0CCA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0C0827-E601-D351-B898-B6D0ACA4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Real-Time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B29BB5-2687-4789-36B7-5975D8B7B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Alerting Logic</a:t>
            </a:r>
            <a:endParaRPr lang="en-US" dirty="0"/>
          </a:p>
          <a:p>
            <a:r>
              <a:rPr lang="en-US" dirty="0"/>
              <a:t>Use multimodal model predictions:</a:t>
            </a:r>
          </a:p>
          <a:p>
            <a:pPr lvl="1"/>
            <a:r>
              <a:rPr lang="en-US" dirty="0"/>
              <a:t>Probability / score of anomaly or attack</a:t>
            </a:r>
          </a:p>
          <a:p>
            <a:r>
              <a:rPr lang="en-US" dirty="0"/>
              <a:t>Thresholding:</a:t>
            </a:r>
          </a:p>
          <a:p>
            <a:pPr lvl="1"/>
            <a:r>
              <a:rPr lang="en-US" dirty="0"/>
              <a:t>If score &gt; threshold → trigger alert</a:t>
            </a:r>
          </a:p>
          <a:p>
            <a:r>
              <a:rPr lang="en-US" dirty="0"/>
              <a:t>Alerts may include:</a:t>
            </a:r>
          </a:p>
          <a:p>
            <a:pPr lvl="1"/>
            <a:r>
              <a:rPr lang="en-US" dirty="0"/>
              <a:t>Timestamp, device/sensor identifiers</a:t>
            </a:r>
          </a:p>
          <a:p>
            <a:pPr lvl="1"/>
            <a:r>
              <a:rPr lang="en-US" dirty="0"/>
              <a:t>Predicted class/probability</a:t>
            </a:r>
          </a:p>
          <a:p>
            <a:pPr lvl="1"/>
            <a:r>
              <a:rPr lang="en-US" dirty="0"/>
              <a:t>Supporting features/context</a:t>
            </a:r>
          </a:p>
        </p:txBody>
      </p:sp>
    </p:spTree>
    <p:extLst>
      <p:ext uri="{BB962C8B-B14F-4D97-AF65-F5344CB8AC3E}">
        <p14:creationId xmlns:p14="http://schemas.microsoft.com/office/powerpoint/2010/main" val="1111466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6C3FF-0E96-D898-A290-78D0EE0C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EB1ECC5-7417-53DA-8738-A2A79CB7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Real-Time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FF528F8-A5CD-2ECC-49C6-4EDF11E56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Real-Time Performance Metrics</a:t>
            </a:r>
            <a:endParaRPr lang="en-US" dirty="0"/>
          </a:p>
          <a:p>
            <a:r>
              <a:rPr lang="en-US" dirty="0"/>
              <a:t>Latency:</a:t>
            </a:r>
          </a:p>
          <a:p>
            <a:pPr lvl="1"/>
            <a:r>
              <a:rPr lang="en-US" dirty="0"/>
              <a:t>Time per inference per event</a:t>
            </a:r>
          </a:p>
          <a:p>
            <a:r>
              <a:rPr lang="en-US" dirty="0"/>
              <a:t>Throughput:</a:t>
            </a:r>
          </a:p>
          <a:p>
            <a:pPr lvl="1"/>
            <a:r>
              <a:rPr lang="en-US" dirty="0"/>
              <a:t>Events processed per unit time</a:t>
            </a:r>
          </a:p>
          <a:p>
            <a:r>
              <a:rPr lang="en-US" dirty="0"/>
              <a:t>Reliability:</a:t>
            </a:r>
          </a:p>
          <a:p>
            <a:pPr lvl="1"/>
            <a:r>
              <a:rPr lang="en-US" dirty="0"/>
              <a:t>Handling bursts of events</a:t>
            </a:r>
          </a:p>
          <a:p>
            <a:pPr lvl="1"/>
            <a:r>
              <a:rPr lang="en-US" dirty="0"/>
              <a:t>Dealing with missing data in streams</a:t>
            </a:r>
          </a:p>
        </p:txBody>
      </p:sp>
    </p:spTree>
    <p:extLst>
      <p:ext uri="{BB962C8B-B14F-4D97-AF65-F5344CB8AC3E}">
        <p14:creationId xmlns:p14="http://schemas.microsoft.com/office/powerpoint/2010/main" val="149329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46280-462D-6CD0-CFC6-45DC5FF2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0AF84C3-5021-6907-FB6F-C6E33E3F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Real-Time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93922CC-B466-A874-03D9-8EA6AD7C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Edge Resource Awareness</a:t>
            </a:r>
            <a:endParaRPr lang="en-US" dirty="0"/>
          </a:p>
          <a:p>
            <a:r>
              <a:rPr lang="en-US" dirty="0"/>
              <a:t>Monitor:</a:t>
            </a:r>
          </a:p>
          <a:p>
            <a:pPr lvl="1"/>
            <a:r>
              <a:rPr lang="en-US" dirty="0"/>
              <a:t>CPU usage</a:t>
            </a:r>
          </a:p>
          <a:p>
            <a:pPr lvl="1"/>
            <a:r>
              <a:rPr lang="en-US" dirty="0"/>
              <a:t>Memory usage</a:t>
            </a:r>
          </a:p>
          <a:p>
            <a:pPr lvl="1"/>
            <a:r>
              <a:rPr lang="en-US" dirty="0"/>
              <a:t>Optional: Thermals / power if on real devices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Verify that the multimodal model can run continuously on edge hardware</a:t>
            </a:r>
          </a:p>
        </p:txBody>
      </p:sp>
    </p:spTree>
    <p:extLst>
      <p:ext uri="{BB962C8B-B14F-4D97-AF65-F5344CB8AC3E}">
        <p14:creationId xmlns:p14="http://schemas.microsoft.com/office/powerpoint/2010/main" val="4108024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D05A-22D4-FC34-51DC-1598CECB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258014-166D-70D1-8E83-C00919E0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Real-Time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215CDE-02F4-9A89-0272-6BF44FB54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Notebook 03 – What You’ll Do</a:t>
            </a:r>
            <a:endParaRPr lang="en-US" dirty="0"/>
          </a:p>
          <a:p>
            <a:r>
              <a:rPr lang="en-US" dirty="0"/>
              <a:t>Load the trained multimodal model</a:t>
            </a:r>
          </a:p>
          <a:p>
            <a:r>
              <a:rPr lang="en-US" dirty="0"/>
              <a:t>Implement streaming inference loop</a:t>
            </a:r>
          </a:p>
          <a:p>
            <a:r>
              <a:rPr lang="en-US" dirty="0"/>
              <a:t>Generate and log alerts to `alerts_log.csv`</a:t>
            </a:r>
          </a:p>
          <a:p>
            <a:r>
              <a:rPr lang="en-US" dirty="0"/>
              <a:t>Analyze:</a:t>
            </a:r>
          </a:p>
          <a:p>
            <a:pPr lvl="1"/>
            <a:r>
              <a:rPr lang="en-US" dirty="0"/>
              <a:t>Alert frequency and patterns</a:t>
            </a:r>
          </a:p>
          <a:p>
            <a:pPr lvl="1"/>
            <a:r>
              <a:rPr lang="en-US" dirty="0"/>
              <a:t>Latency and throughput</a:t>
            </a:r>
          </a:p>
          <a:p>
            <a:r>
              <a:rPr lang="en-US" dirty="0"/>
              <a:t>Prepare inputs and patterns for autonomous response simulation</a:t>
            </a:r>
          </a:p>
        </p:txBody>
      </p:sp>
    </p:spTree>
    <p:extLst>
      <p:ext uri="{BB962C8B-B14F-4D97-AF65-F5344CB8AC3E}">
        <p14:creationId xmlns:p14="http://schemas.microsoft.com/office/powerpoint/2010/main" val="1677730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9C12-FFC9-0B58-0259-7E2EB086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B7FF404-698D-4A8E-1AF0-2EE644E4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Real-Time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8C3B7D9-1181-D101-9E08-D5E9E649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Notebook 03 – What You’ll Do</a:t>
            </a:r>
            <a:endParaRPr lang="en-US" dirty="0"/>
          </a:p>
          <a:p>
            <a:r>
              <a:rPr lang="en-US" dirty="0"/>
              <a:t>Load the trained multimodal model</a:t>
            </a:r>
          </a:p>
          <a:p>
            <a:r>
              <a:rPr lang="en-US" dirty="0"/>
              <a:t>Implement streaming inference loop</a:t>
            </a:r>
          </a:p>
          <a:p>
            <a:r>
              <a:rPr lang="en-US" dirty="0"/>
              <a:t>Generate and log alerts to `alerts_log.csv`</a:t>
            </a:r>
          </a:p>
          <a:p>
            <a:r>
              <a:rPr lang="en-US" dirty="0"/>
              <a:t>Analyze:</a:t>
            </a:r>
          </a:p>
          <a:p>
            <a:pPr lvl="1"/>
            <a:r>
              <a:rPr lang="en-US" dirty="0"/>
              <a:t>Alert frequency and patterns</a:t>
            </a:r>
          </a:p>
          <a:p>
            <a:pPr lvl="1"/>
            <a:r>
              <a:rPr lang="en-US" dirty="0"/>
              <a:t>Latency and throughput</a:t>
            </a:r>
          </a:p>
          <a:p>
            <a:r>
              <a:rPr lang="en-US" dirty="0"/>
              <a:t>Prepare inputs and patterns for autonomous response simulation</a:t>
            </a:r>
          </a:p>
        </p:txBody>
      </p:sp>
    </p:spTree>
    <p:extLst>
      <p:ext uri="{BB962C8B-B14F-4D97-AF65-F5344CB8AC3E}">
        <p14:creationId xmlns:p14="http://schemas.microsoft.com/office/powerpoint/2010/main" val="2557134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9C95-1037-D4AB-72F3-8DE4CF51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49CEC0D-DFEA-18BD-CF95-EFA56C9F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5. </a:t>
            </a:r>
            <a:r>
              <a:rPr lang="fr-FR" b="1" dirty="0" err="1"/>
              <a:t>Autonomous</a:t>
            </a:r>
            <a:r>
              <a:rPr lang="fr-FR" b="1" dirty="0"/>
              <a:t> </a:t>
            </a:r>
            <a:r>
              <a:rPr lang="fr-FR" b="1" dirty="0" err="1"/>
              <a:t>Response</a:t>
            </a:r>
            <a:r>
              <a:rPr lang="fr-FR" b="1" dirty="0"/>
              <a:t> Simulation (Notebook 04)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5632A90-215E-4B74-3EEF-44B0D15B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Autonomous Responses?</a:t>
            </a:r>
            <a:endParaRPr lang="en-US" dirty="0"/>
          </a:p>
          <a:p>
            <a:r>
              <a:rPr lang="en-US" dirty="0"/>
              <a:t>Human-in-the-loop:</a:t>
            </a:r>
          </a:p>
          <a:p>
            <a:pPr lvl="1"/>
            <a:r>
              <a:rPr lang="en-US" dirty="0"/>
              <a:t>Analysts are overloaded</a:t>
            </a:r>
          </a:p>
          <a:p>
            <a:pPr lvl="1"/>
            <a:r>
              <a:rPr lang="en-US" dirty="0"/>
              <a:t>Alerts can be noisy and numerous</a:t>
            </a:r>
          </a:p>
          <a:p>
            <a:r>
              <a:rPr lang="en-US" dirty="0"/>
              <a:t>Autonomous or semi-autonomous actions:</a:t>
            </a:r>
          </a:p>
          <a:p>
            <a:pPr lvl="1"/>
            <a:r>
              <a:rPr lang="en-US" dirty="0"/>
              <a:t>Contain threats faster</a:t>
            </a:r>
          </a:p>
          <a:p>
            <a:pPr lvl="1"/>
            <a:r>
              <a:rPr lang="en-US" dirty="0"/>
              <a:t>Reduce manual intervention for low/medium-risk events</a:t>
            </a:r>
          </a:p>
          <a:p>
            <a:r>
              <a:rPr lang="en-US" dirty="0"/>
              <a:t>Critical:</a:t>
            </a:r>
          </a:p>
          <a:p>
            <a:pPr lvl="1"/>
            <a:r>
              <a:rPr lang="en-US" dirty="0"/>
              <a:t>Must be designed carefully to avoid overreaction and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184377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E8C5-D92E-5E5E-62B5-BB4F9633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50E7658-AC8E-EEBC-9B90-6C370706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5. </a:t>
            </a:r>
            <a:r>
              <a:rPr lang="fr-FR" b="1" dirty="0" err="1"/>
              <a:t>Autonomous</a:t>
            </a:r>
            <a:r>
              <a:rPr lang="fr-FR" b="1" dirty="0"/>
              <a:t> </a:t>
            </a:r>
            <a:r>
              <a:rPr lang="fr-FR" b="1" dirty="0" err="1"/>
              <a:t>Response</a:t>
            </a:r>
            <a:r>
              <a:rPr lang="fr-FR" b="1" dirty="0"/>
              <a:t> Simulation (Notebook 04)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E50BE44-A7BA-BF66-081B-E912F5BE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Response Policy Concepts</a:t>
            </a:r>
            <a:endParaRPr lang="en-US" dirty="0"/>
          </a:p>
          <a:p>
            <a:r>
              <a:rPr lang="en-US" dirty="0"/>
              <a:t>Response actions examples:</a:t>
            </a:r>
          </a:p>
          <a:p>
            <a:pPr lvl="1"/>
            <a:r>
              <a:rPr lang="en-US" dirty="0"/>
              <a:t>Increase logging level</a:t>
            </a:r>
          </a:p>
          <a:p>
            <a:pPr lvl="1"/>
            <a:r>
              <a:rPr lang="en-US" dirty="0"/>
              <a:t>Temporarily block IP or port</a:t>
            </a:r>
          </a:p>
          <a:p>
            <a:pPr lvl="1"/>
            <a:r>
              <a:rPr lang="en-US" dirty="0"/>
              <a:t>Isolate device from network segment</a:t>
            </a:r>
          </a:p>
          <a:p>
            <a:pPr lvl="1"/>
            <a:r>
              <a:rPr lang="en-US" dirty="0"/>
              <a:t>Throttle suspicious traffic</a:t>
            </a:r>
          </a:p>
          <a:p>
            <a:r>
              <a:rPr lang="en-US" dirty="0"/>
              <a:t>Policy inputs:</a:t>
            </a:r>
          </a:p>
          <a:p>
            <a:pPr lvl="1"/>
            <a:r>
              <a:rPr lang="en-US" dirty="0"/>
              <a:t>Model confidence score</a:t>
            </a:r>
          </a:p>
          <a:p>
            <a:pPr lvl="1"/>
            <a:r>
              <a:rPr lang="en-US" dirty="0"/>
              <a:t>Event severity</a:t>
            </a:r>
          </a:p>
          <a:p>
            <a:pPr lvl="1"/>
            <a:r>
              <a:rPr lang="en-US" dirty="0"/>
              <a:t>Historical context (repeated alerts, correlations)</a:t>
            </a:r>
          </a:p>
          <a:p>
            <a:r>
              <a:rPr lang="en-US" dirty="0"/>
              <a:t>Modes:</a:t>
            </a:r>
          </a:p>
          <a:p>
            <a:pPr lvl="1"/>
            <a:r>
              <a:rPr lang="en-US" b="1" dirty="0"/>
              <a:t>Simulation-only</a:t>
            </a:r>
            <a:r>
              <a:rPr lang="en-US" dirty="0"/>
              <a:t> (safe): log intended action</a:t>
            </a:r>
          </a:p>
          <a:p>
            <a:pPr lvl="1"/>
            <a:r>
              <a:rPr lang="en-US" b="1" dirty="0"/>
              <a:t>Semi-automatic</a:t>
            </a:r>
            <a:r>
              <a:rPr lang="en-US" dirty="0"/>
              <a:t>: require human approval</a:t>
            </a:r>
          </a:p>
          <a:p>
            <a:pPr lvl="1"/>
            <a:r>
              <a:rPr lang="en-US" b="1" dirty="0"/>
              <a:t>Automatic</a:t>
            </a:r>
            <a:r>
              <a:rPr lang="en-US" dirty="0"/>
              <a:t>: execute actions directly (with safeguards)</a:t>
            </a:r>
          </a:p>
        </p:txBody>
      </p:sp>
    </p:spTree>
    <p:extLst>
      <p:ext uri="{BB962C8B-B14F-4D97-AF65-F5344CB8AC3E}">
        <p14:creationId xmlns:p14="http://schemas.microsoft.com/office/powerpoint/2010/main" val="1214939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7B93-F783-EDC3-66E6-74444D9F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EAE1E96-8F02-79B7-A8EA-E24A9F81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5. </a:t>
            </a:r>
            <a:r>
              <a:rPr lang="fr-FR" b="1" dirty="0" err="1"/>
              <a:t>Autonomous</a:t>
            </a:r>
            <a:r>
              <a:rPr lang="fr-FR" b="1" dirty="0"/>
              <a:t> </a:t>
            </a:r>
            <a:r>
              <a:rPr lang="fr-FR" b="1" dirty="0" err="1"/>
              <a:t>Response</a:t>
            </a:r>
            <a:r>
              <a:rPr lang="fr-FR" b="1" dirty="0"/>
              <a:t> Simulation (Notebook 04)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3FE6B38-7FC9-4A0E-7FE8-DE4E6D5B7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Response Simulation in This Workshop</a:t>
            </a:r>
            <a:endParaRPr lang="en-US" dirty="0"/>
          </a:p>
          <a:p>
            <a:r>
              <a:rPr lang="en-US" dirty="0"/>
              <a:t>Notebook: </a:t>
            </a:r>
            <a:r>
              <a:rPr lang="en-US" b="1" dirty="0"/>
              <a:t>04_autonomous_response_simulation</a:t>
            </a:r>
            <a:endParaRPr lang="en-US" dirty="0"/>
          </a:p>
          <a:p>
            <a:r>
              <a:rPr lang="en-US" dirty="0"/>
              <a:t>Setup:</a:t>
            </a:r>
          </a:p>
          <a:p>
            <a:pPr lvl="1"/>
            <a:r>
              <a:rPr lang="en-US" dirty="0"/>
              <a:t>Use alerts from Notebook 03 (or simulated alerts)</a:t>
            </a:r>
          </a:p>
          <a:p>
            <a:pPr lvl="1"/>
            <a:r>
              <a:rPr lang="en-US" dirty="0"/>
              <a:t>Define a response policy that maps alerts → actions</a:t>
            </a:r>
          </a:p>
          <a:p>
            <a:pPr lvl="1"/>
            <a:r>
              <a:rPr lang="en-US" dirty="0"/>
              <a:t>Log responses into `response_log.csv` (and related files)</a:t>
            </a:r>
          </a:p>
          <a:p>
            <a:r>
              <a:rPr lang="en-US" dirty="0"/>
              <a:t>Aim:</a:t>
            </a:r>
          </a:p>
          <a:p>
            <a:pPr lvl="1"/>
            <a:r>
              <a:rPr lang="en-US" dirty="0"/>
              <a:t>Explore how an autonomous response system would behave under various scenarios</a:t>
            </a:r>
          </a:p>
          <a:p>
            <a:pPr lvl="1"/>
            <a:r>
              <a:rPr lang="en-US" dirty="0"/>
              <a:t>Analyze actions under normal vs stress-test conditions</a:t>
            </a:r>
          </a:p>
        </p:txBody>
      </p:sp>
    </p:spTree>
    <p:extLst>
      <p:ext uri="{BB962C8B-B14F-4D97-AF65-F5344CB8AC3E}">
        <p14:creationId xmlns:p14="http://schemas.microsoft.com/office/powerpoint/2010/main" val="1458996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B161C-E5BE-145D-9DCB-6D58B998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BB26F87-397D-3536-842D-27AC11EA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5. </a:t>
            </a:r>
            <a:r>
              <a:rPr lang="fr-FR" b="1" dirty="0" err="1"/>
              <a:t>Autonomous</a:t>
            </a:r>
            <a:r>
              <a:rPr lang="fr-FR" b="1" dirty="0"/>
              <a:t> </a:t>
            </a:r>
            <a:r>
              <a:rPr lang="fr-FR" b="1" dirty="0" err="1"/>
              <a:t>Response</a:t>
            </a:r>
            <a:r>
              <a:rPr lang="fr-FR" b="1" dirty="0"/>
              <a:t> Simulation (Notebook 04)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F20B221-9DE5-DA08-967C-D09A50850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Stress Testing &amp; Scenarios</a:t>
            </a:r>
            <a:endParaRPr lang="en-US" dirty="0"/>
          </a:p>
          <a:p>
            <a:r>
              <a:rPr lang="en-US" dirty="0"/>
              <a:t>Scenarios:</a:t>
            </a:r>
          </a:p>
          <a:p>
            <a:pPr lvl="1"/>
            <a:r>
              <a:rPr lang="en-US" dirty="0"/>
              <a:t>Normal operation with occasional anomalies</a:t>
            </a:r>
          </a:p>
          <a:p>
            <a:pPr lvl="1"/>
            <a:r>
              <a:rPr lang="en-US" dirty="0"/>
              <a:t>Burst of attack events (DDoS-like)</a:t>
            </a:r>
          </a:p>
          <a:p>
            <a:pPr lvl="1"/>
            <a:r>
              <a:rPr lang="en-US" dirty="0"/>
              <a:t>Mixed benign and malicious spikes</a:t>
            </a:r>
          </a:p>
          <a:p>
            <a:r>
              <a:rPr lang="en-US" dirty="0"/>
              <a:t>Evaluate:</a:t>
            </a:r>
          </a:p>
          <a:p>
            <a:pPr lvl="1"/>
            <a:r>
              <a:rPr lang="en-US" dirty="0"/>
              <a:t>Are actions proportional to severity?</a:t>
            </a:r>
          </a:p>
          <a:p>
            <a:pPr lvl="1"/>
            <a:r>
              <a:rPr lang="en-US" dirty="0"/>
              <a:t>Does the system avoid repeated or escalating actions unnecessarily?</a:t>
            </a:r>
          </a:p>
          <a:p>
            <a:pPr lvl="1"/>
            <a:r>
              <a:rPr lang="en-US" dirty="0"/>
              <a:t>How often does it respond vs just log?</a:t>
            </a:r>
          </a:p>
        </p:txBody>
      </p:sp>
    </p:spTree>
    <p:extLst>
      <p:ext uri="{BB962C8B-B14F-4D97-AF65-F5344CB8AC3E}">
        <p14:creationId xmlns:p14="http://schemas.microsoft.com/office/powerpoint/2010/main" val="2476213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7202-A810-9551-7CA7-809DCDF8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2E7B67E-3D95-77FD-87EA-F12774C6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5. </a:t>
            </a:r>
            <a:r>
              <a:rPr lang="fr-FR" b="1" dirty="0" err="1"/>
              <a:t>Autonomous</a:t>
            </a:r>
            <a:r>
              <a:rPr lang="fr-FR" b="1" dirty="0"/>
              <a:t> </a:t>
            </a:r>
            <a:r>
              <a:rPr lang="fr-FR" b="1" dirty="0" err="1"/>
              <a:t>Response</a:t>
            </a:r>
            <a:r>
              <a:rPr lang="fr-FR" b="1" dirty="0"/>
              <a:t> Simulation (Notebook 04)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DC624C4-63B4-F89A-C81D-76BFC88C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Safety &amp; Governance Considerations</a:t>
            </a:r>
            <a:endParaRPr lang="en-US" dirty="0"/>
          </a:p>
          <a:p>
            <a:r>
              <a:rPr lang="en-US" dirty="0"/>
              <a:t>Key concerns:</a:t>
            </a:r>
          </a:p>
          <a:p>
            <a:pPr lvl="1"/>
            <a:r>
              <a:rPr lang="en-US" dirty="0"/>
              <a:t>False positives leading to service disruption</a:t>
            </a:r>
          </a:p>
          <a:p>
            <a:pPr lvl="1"/>
            <a:r>
              <a:rPr lang="en-US" dirty="0"/>
              <a:t>Adversarial exploitation of automated responses</a:t>
            </a:r>
          </a:p>
          <a:p>
            <a:pPr lvl="1"/>
            <a:r>
              <a:rPr lang="en-US" dirty="0"/>
              <a:t>Need for:</a:t>
            </a:r>
          </a:p>
          <a:p>
            <a:pPr lvl="2"/>
            <a:r>
              <a:rPr lang="en-US" dirty="0"/>
              <a:t>Audit logs</a:t>
            </a:r>
          </a:p>
          <a:p>
            <a:pPr lvl="2"/>
            <a:r>
              <a:rPr lang="en-US" dirty="0"/>
              <a:t>Rate limiting</a:t>
            </a:r>
          </a:p>
          <a:p>
            <a:pPr lvl="2"/>
            <a:r>
              <a:rPr lang="en-US" dirty="0"/>
              <a:t>Safety catch mechanisms (e.g., max isolation actions per period)</a:t>
            </a:r>
          </a:p>
          <a:p>
            <a:r>
              <a:rPr lang="en-US" dirty="0"/>
              <a:t>Conclusion:</a:t>
            </a:r>
          </a:p>
          <a:p>
            <a:pPr lvl="1"/>
            <a:r>
              <a:rPr lang="en-US" dirty="0"/>
              <a:t>Autonomous responses should be:</a:t>
            </a:r>
          </a:p>
          <a:p>
            <a:pPr lvl="2"/>
            <a:r>
              <a:rPr lang="en-US" dirty="0"/>
              <a:t>Transparent</a:t>
            </a:r>
          </a:p>
          <a:p>
            <a:pPr lvl="2"/>
            <a:r>
              <a:rPr lang="en-US" dirty="0"/>
              <a:t>Auditable</a:t>
            </a:r>
          </a:p>
          <a:p>
            <a:pPr lvl="2"/>
            <a:r>
              <a:rPr lang="en-US" dirty="0"/>
              <a:t>Tunable</a:t>
            </a:r>
          </a:p>
        </p:txBody>
      </p:sp>
    </p:spTree>
    <p:extLst>
      <p:ext uri="{BB962C8B-B14F-4D97-AF65-F5344CB8AC3E}">
        <p14:creationId xmlns:p14="http://schemas.microsoft.com/office/powerpoint/2010/main" val="688333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F944-B253-A402-7EC1-B06C7AAF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28AA7C9-98D5-5DD8-E365-75CC8B15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5. </a:t>
            </a:r>
            <a:r>
              <a:rPr lang="fr-FR" b="1" dirty="0" err="1"/>
              <a:t>Autonomous</a:t>
            </a:r>
            <a:r>
              <a:rPr lang="fr-FR" b="1" dirty="0"/>
              <a:t> </a:t>
            </a:r>
            <a:r>
              <a:rPr lang="fr-FR" b="1" dirty="0" err="1"/>
              <a:t>Response</a:t>
            </a:r>
            <a:r>
              <a:rPr lang="fr-FR" b="1" dirty="0"/>
              <a:t> Simulation (Notebook 04)</a:t>
            </a:r>
            <a:endParaRPr lang="fr-FR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F21B9A4-952A-35ED-B854-88A364F38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Notebook 04 – What You’ll Do</a:t>
            </a:r>
            <a:endParaRPr lang="en-US" dirty="0"/>
          </a:p>
          <a:p>
            <a:r>
              <a:rPr lang="en-US" dirty="0"/>
              <a:t>Implement:</a:t>
            </a:r>
          </a:p>
          <a:p>
            <a:pPr lvl="1"/>
            <a:r>
              <a:rPr lang="en-US" dirty="0"/>
              <a:t>A response policy mapping alerts → actions</a:t>
            </a:r>
          </a:p>
          <a:p>
            <a:r>
              <a:rPr lang="en-US" dirty="0"/>
              <a:t>Simulate:</a:t>
            </a:r>
          </a:p>
          <a:p>
            <a:pPr lvl="1"/>
            <a:r>
              <a:rPr lang="en-US" dirty="0"/>
              <a:t>Different workloads and attack scenarios</a:t>
            </a:r>
          </a:p>
          <a:p>
            <a:r>
              <a:rPr lang="en-US" dirty="0"/>
              <a:t>Log:</a:t>
            </a:r>
          </a:p>
          <a:p>
            <a:pPr lvl="1"/>
            <a:r>
              <a:rPr lang="en-US" dirty="0"/>
              <a:t>Actions to `response_log.csv` and related artifacts</a:t>
            </a:r>
          </a:p>
          <a:p>
            <a:r>
              <a:rPr lang="en-US" dirty="0"/>
              <a:t>Analyze:</a:t>
            </a:r>
          </a:p>
          <a:p>
            <a:pPr lvl="1"/>
            <a:r>
              <a:rPr lang="en-US" dirty="0"/>
              <a:t>How often, how aggressively, and how effectively the system responds</a:t>
            </a:r>
          </a:p>
        </p:txBody>
      </p:sp>
    </p:spTree>
    <p:extLst>
      <p:ext uri="{BB962C8B-B14F-4D97-AF65-F5344CB8AC3E}">
        <p14:creationId xmlns:p14="http://schemas.microsoft.com/office/powerpoint/2010/main" val="1065799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362E3-875D-34FE-D8F0-F2FF7367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C4637AF-C859-F4F8-D167-0802033A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Putting It All Together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F33E777-B527-ED83-366B-986C9A4B1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Next Steps &amp; Q&amp;A</a:t>
            </a:r>
            <a:endParaRPr lang="en-US" dirty="0"/>
          </a:p>
          <a:p>
            <a:r>
              <a:rPr lang="en-US" dirty="0"/>
              <a:t>Questions about:</a:t>
            </a:r>
          </a:p>
          <a:p>
            <a:pPr lvl="1"/>
            <a:r>
              <a:rPr lang="en-US" dirty="0"/>
              <a:t>Data fusion strategies</a:t>
            </a:r>
          </a:p>
          <a:p>
            <a:pPr lvl="1"/>
            <a:r>
              <a:rPr lang="en-US" dirty="0"/>
              <a:t>Multimodal model design</a:t>
            </a:r>
          </a:p>
          <a:p>
            <a:pPr lvl="1"/>
            <a:r>
              <a:rPr lang="en-US" dirty="0"/>
              <a:t>Real-time inference &amp; alerting</a:t>
            </a:r>
          </a:p>
          <a:p>
            <a:pPr lvl="1"/>
            <a:r>
              <a:rPr lang="en-US" dirty="0"/>
              <a:t>Autonomous response policy design</a:t>
            </a:r>
          </a:p>
          <a:p>
            <a:r>
              <a:rPr lang="en-US" dirty="0"/>
              <a:t>Suggested practice:</a:t>
            </a:r>
          </a:p>
          <a:p>
            <a:pPr lvl="1"/>
            <a:r>
              <a:rPr lang="en-US" dirty="0"/>
              <a:t>Run notebooks 01 → 04 in order</a:t>
            </a:r>
          </a:p>
          <a:p>
            <a:pPr lvl="1"/>
            <a:r>
              <a:rPr lang="en-US" dirty="0"/>
              <a:t>Experiment with:</a:t>
            </a:r>
          </a:p>
          <a:p>
            <a:pPr lvl="2"/>
            <a:r>
              <a:rPr lang="en-US" dirty="0"/>
              <a:t>Different feature subsets</a:t>
            </a:r>
          </a:p>
          <a:p>
            <a:pPr lvl="2"/>
            <a:r>
              <a:rPr lang="en-US" dirty="0"/>
              <a:t>Model architectures and thresholds</a:t>
            </a:r>
          </a:p>
          <a:p>
            <a:pPr lvl="2"/>
            <a:r>
              <a:rPr lang="en-US"/>
              <a:t>Response </a:t>
            </a:r>
            <a:r>
              <a:rPr lang="en-US" dirty="0"/>
              <a:t>policy rules and stress scenarios</a:t>
            </a:r>
          </a:p>
        </p:txBody>
      </p:sp>
    </p:spTree>
    <p:extLst>
      <p:ext uri="{BB962C8B-B14F-4D97-AF65-F5344CB8AC3E}">
        <p14:creationId xmlns:p14="http://schemas.microsoft.com/office/powerpoint/2010/main" val="42733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71</TotalTime>
  <Words>1758</Words>
  <Application>Microsoft Office PowerPoint</Application>
  <PresentationFormat>Custom</PresentationFormat>
  <Paragraphs>309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Tech 16x9</vt:lpstr>
      <vt:lpstr>Multimodal Edge AI for Autonomous Response</vt:lpstr>
      <vt:lpstr>Agenda</vt:lpstr>
      <vt:lpstr>1. Motivation: Multimodal Security on the Edge</vt:lpstr>
      <vt:lpstr>1. Motivation: Multimodal Security on the Edge</vt:lpstr>
      <vt:lpstr>1. Motivation: Multimodal Security on the Edge</vt:lpstr>
      <vt:lpstr>2. Data Fusion &amp; Preprocessing (Notebook 01)</vt:lpstr>
      <vt:lpstr>2. Data Fusion &amp; Preprocessing (Notebook 01)</vt:lpstr>
      <vt:lpstr>2. Data Fusion &amp; Preprocessing (Notebook 01)</vt:lpstr>
      <vt:lpstr>2. Data Fusion &amp; Preprocessing (Notebook 01)</vt:lpstr>
      <vt:lpstr>2. Data Fusion &amp; Preprocessing (Notebook 01)</vt:lpstr>
      <vt:lpstr>2. Data Fusion &amp; Preprocessing (Notebook 01)</vt:lpstr>
      <vt:lpstr>3. Multimodal Edge AI Model (Notebook 02)</vt:lpstr>
      <vt:lpstr>3. Multimodal Edge AI Model (Notebook 02)</vt:lpstr>
      <vt:lpstr>3. Multimodal Edge AI Model (Notebook 02)</vt:lpstr>
      <vt:lpstr>3. Multimodal Edge AI Model (Notebook 02)</vt:lpstr>
      <vt:lpstr>3. Multimodal Edge AI Model (Notebook 02)</vt:lpstr>
      <vt:lpstr>3. Multimodal Edge AI Model (Notebook 02)</vt:lpstr>
      <vt:lpstr>3. Multimodal Edge AI Model (Notebook 02)</vt:lpstr>
      <vt:lpstr>4. Real-Time Inference &amp; Alerts (Notebook 03)</vt:lpstr>
      <vt:lpstr>4. Real-Time Inference &amp; Alerts (Notebook 03)</vt:lpstr>
      <vt:lpstr>4. Real-Time Inference &amp; Alerts (Notebook 03)</vt:lpstr>
      <vt:lpstr>4. Real-Time Inference &amp; Alerts (Notebook 03)</vt:lpstr>
      <vt:lpstr>4. Real-Time Inference &amp; Alerts (Notebook 03)</vt:lpstr>
      <vt:lpstr>4. Real-Time Inference &amp; Alerts (Notebook 03)</vt:lpstr>
      <vt:lpstr>4. Real-Time Inference &amp; Alerts (Notebook 03)</vt:lpstr>
      <vt:lpstr>5. Autonomous Response Simulation (Notebook 04)</vt:lpstr>
      <vt:lpstr>5. Autonomous Response Simulation (Notebook 04)</vt:lpstr>
      <vt:lpstr>5. Autonomous Response Simulation (Notebook 04)</vt:lpstr>
      <vt:lpstr>5. Autonomous Response Simulation (Notebook 04)</vt:lpstr>
      <vt:lpstr>5. Autonomous Response Simulation (Notebook 04)</vt:lpstr>
      <vt:lpstr>5. Autonomous Response Simulation (Notebook 04)</vt:lpstr>
      <vt:lpstr>6. Putting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Alves</dc:creator>
  <cp:lastModifiedBy>Lucas Alves</cp:lastModifiedBy>
  <cp:revision>3</cp:revision>
  <dcterms:created xsi:type="dcterms:W3CDTF">2025-11-18T03:05:33Z</dcterms:created>
  <dcterms:modified xsi:type="dcterms:W3CDTF">2025-11-20T00:21:52Z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