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84" r:id="rId3"/>
    <p:sldId id="285" r:id="rId5"/>
    <p:sldId id="287" r:id="rId6"/>
    <p:sldId id="289" r:id="rId7"/>
    <p:sldId id="290" r:id="rId8"/>
    <p:sldId id="286" r:id="rId9"/>
    <p:sldId id="293" r:id="rId10"/>
    <p:sldId id="294" r:id="rId11"/>
    <p:sldId id="295" r:id="rId12"/>
    <p:sldId id="256" r:id="rId13"/>
    <p:sldId id="258" r:id="rId14"/>
    <p:sldId id="314" r:id="rId15"/>
    <p:sldId id="270" r:id="rId16"/>
    <p:sldId id="278" r:id="rId17"/>
    <p:sldId id="279" r:id="rId18"/>
    <p:sldId id="271" r:id="rId19"/>
    <p:sldId id="281" r:id="rId20"/>
    <p:sldId id="282" r:id="rId21"/>
    <p:sldId id="272" r:id="rId22"/>
    <p:sldId id="274" r:id="rId23"/>
    <p:sldId id="296" r:id="rId24"/>
    <p:sldId id="297" r:id="rId25"/>
    <p:sldId id="298" r:id="rId26"/>
    <p:sldId id="299" r:id="rId27"/>
    <p:sldId id="300" r:id="rId28"/>
    <p:sldId id="301" r:id="rId29"/>
    <p:sldId id="269"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725" userDrawn="1">
          <p15:clr>
            <a:srgbClr val="A4A3A4"/>
          </p15:clr>
        </p15:guide>
        <p15:guide id="2" orient="horz" pos="960" userDrawn="1">
          <p15:clr>
            <a:srgbClr val="A4A3A4"/>
          </p15:clr>
        </p15:guide>
        <p15:guide id="3" orient="horz" pos="3928" userDrawn="1">
          <p15:clr>
            <a:srgbClr val="A4A3A4"/>
          </p15:clr>
        </p15:guide>
        <p15:guide id="4" pos="384" userDrawn="1">
          <p15:clr>
            <a:srgbClr val="A4A3A4"/>
          </p15:clr>
        </p15:guide>
        <p15:guide id="5" pos="7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04"/>
    <p:restoredTop sz="68503"/>
  </p:normalViewPr>
  <p:slideViewPr>
    <p:cSldViewPr snapToGrid="0" showGuides="1">
      <p:cViewPr varScale="1">
        <p:scale>
          <a:sx n="85" d="100"/>
          <a:sy n="85" d="100"/>
        </p:scale>
        <p:origin x="1016" y="176"/>
      </p:cViewPr>
      <p:guideLst>
        <p:guide orient="horz" pos="725"/>
        <p:guide orient="horz" pos="960"/>
        <p:guide orient="horz" pos="3928"/>
        <p:guide pos="384"/>
        <p:guide pos="7296"/>
      </p:guideLst>
    </p:cSldViewPr>
  </p:slideViewPr>
  <p:outlineViewPr>
    <p:cViewPr>
      <p:scale>
        <a:sx n="33" d="100"/>
        <a:sy n="33" d="100"/>
      </p:scale>
      <p:origin x="0" y="-152"/>
    </p:cViewPr>
  </p:outlin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 name="Google Shape;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dirty="0"/>
              <a:t>Signature-based Intrusion Detection System: This system works on the principle of matching. The data is analyzed and compared with the signature of known attacks. In case of any matching, an alert is issued. An advantage of this system is it has more accuracy and standard alarms understood by the user.</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dirty="0"/>
              <a:t>Anomaly-based Intrusion Detection System: It consists of a statistical model of normal network traffic which consists of the bandwidth used, the protocols defined for the traffic, the ports, and devices that are part of the network. It regularly monitors the network traffic and compares it with the statistical model. In case of any anomaly or discrepancy, the administrator is alerted. An advantage of this system is it can detect new and unique attacks.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 name="Google Shape;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t>
            </a:r>
            <a:endParaRPr lang="en-US" dirty="0"/>
          </a:p>
          <a:p>
            <a:pPr marL="0" lvl="0" indent="0" algn="l" rtl="0">
              <a:spcBef>
                <a:spcPts val="0"/>
              </a:spcBef>
              <a:spcAft>
                <a:spcPts val="0"/>
              </a:spcAft>
              <a:buNone/>
            </a:pPr>
            <a:r>
              <a:rPr dirty="0"/>
              <a:t>Here is the outline of today’s talk.</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First, I’ll briefly explain how C and C++ programs execute, because this directly affects how fuzzing works.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Then I’ll explain why dynamic detection methods, especially fuzzing, are necessary compared to static analysis.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After that, I’ll introduce how large language models can help fuzzing, especially in generating and mutating inputs.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Finally, I’ll show some hands-on experimental results, including coverage improvements on real-world OSS-Fuzz projects.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diagram illustrates the core feedback-driven loop of modern fuzzing.</a:t>
            </a:r>
            <a:endParaRPr lang="en-US" dirty="0"/>
          </a:p>
          <a:p>
            <a:pPr marL="0" lvl="0" indent="0" algn="l" rtl="0">
              <a:spcBef>
                <a:spcPts val="0"/>
              </a:spcBef>
              <a:spcAft>
                <a:spcPts val="0"/>
              </a:spcAft>
              <a:buNone/>
            </a:pPr>
            <a:r>
              <a:rPr lang="en-US" dirty="0"/>
              <a:t>The process starts with a set of seed inputs, which are typically valid or representative examples of the program’s expected input format. These seeds are placed into a corpus, which acts as the evolving knowledge base of the fuzzer.</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fuzzer repeatedly selects inputs from the corpus and applies various mutation strategies to generate new test cases. Each mutated input is then passed through the fuzz harness, which serves as a wrapper that feeds the input into the software under test and executes the target code in a controlled manner.</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During execution, the fuzzer monitors runtime feedback, most importantly code coverage information. If a new input triggers previously unseen execution paths, it is considered valuable and added back into the corpus, enabling the fuzzer to progressively explore deeper and more complex program behaviors.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the same time, the fuzzer records findings such as crashes, hangs, or memory violations. These findings often correspond to real bugs or security vulnerabilities, making fuzzing an effective dynamic analysis technique for discovering flaws that are difficult to detect with static methods.</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code snippet is a typical example of a fuzz harness file used by modern fuzzers such as LibFuzzer or OSS-Fuzz.</a:t>
            </a:r>
            <a:endParaRPr lang="en-US" dirty="0"/>
          </a:p>
          <a:p>
            <a:pPr marL="0" lvl="0" indent="0" algn="l" rtl="0">
              <a:spcBef>
                <a:spcPts val="0"/>
              </a:spcBef>
              <a:spcAft>
                <a:spcPts val="0"/>
              </a:spcAft>
              <a:buNone/>
            </a:pPr>
            <a:r>
              <a:rPr lang="en-US" dirty="0"/>
              <a:t>The harness defines a special function, LLVMFuzzerTestOneInput, which serves as the entry point that the fuzzer repeatedly calls with mutated inputs.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parameters data and size represent the raw bytes generated by the fuzzer. The role of the harness is to translate these arbitrary bytes into inputs that the target software can consume. In this example, the fuzzed data is treated as in-memory file content and passed directly to a ZIP-processing API in the miniz library.</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Rather than fuzzing an entire application or command-line tool, the harness directly invokes a specific function of interest—mz_zip_add_mem_to_archive_file_in_place. This allows the fuzzer to focus on a well-defined execution path and efficiently explore edge cases inside the library code.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By isolating the target functionality and eliminating unrelated logic such as argument parsing or I/O handling, the harness improves coverage, performance, and crash reproducibility. In practice, the quality of the harness largely determines how effective fuzzing will be at uncovering deep bugs and security vulnerabilities.</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diagram is a call graph, which describes how functions call each other during program execution.</a:t>
            </a:r>
            <a:endParaRPr lang="en-US" dirty="0"/>
          </a:p>
          <a:p>
            <a:pPr marL="0" lvl="0" indent="0" algn="l" rtl="0">
              <a:spcBef>
                <a:spcPts val="0"/>
              </a:spcBef>
              <a:spcAft>
                <a:spcPts val="0"/>
              </a:spcAft>
              <a:buNone/>
            </a:pPr>
            <a:r>
              <a:rPr lang="en-US" dirty="0"/>
              <a:t>Each node represents a function, and each directed edge indicates a possible or observed function call relationship.</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Execution starts from the program entry point (_start), flows into main, and then branches into other functions such as f0 and f1. Some functions, like f2, may be called from multiple callers, which is why multiple arrows converge on them.</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numbers on the edges indicate how many times a call occurred, while the colors or percentages show relative execution cost or coverage. Call graphs are useful for understanding high-level program structure, but they do not show what happens inside a function.</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“Now we stop looking at which functions call which.</a:t>
            </a:r>
            <a:endParaRPr lang="en-US" dirty="0"/>
          </a:p>
          <a:p>
            <a:pPr marL="0" lvl="0" indent="0" algn="l" rtl="0">
              <a:spcBef>
                <a:spcPts val="0"/>
              </a:spcBef>
              <a:spcAft>
                <a:spcPts val="0"/>
              </a:spcAft>
              <a:buNone/>
            </a:pPr>
            <a:r>
              <a:rPr lang="en-US" dirty="0"/>
              <a:t>Instead, we focus on what happens inside a single function, step by step.”</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 What does a CFG describe?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Control Flow Graph shows all the possible ways execution can flow inside one function.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simple terms, it answers the question: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the program is at this line, where can it go next?”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CFG draws all those possible next steps.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2️⃣ What is a Basic Block?</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“Each box in the CFG is called a Basic Block.”</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Basic Block is a chunk of code that: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Executes straight from top to bottom</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Has no jumps in the middle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Has one entry point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Has one exit point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Once execution enters a basic block, every instruction in it will run.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remember this: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Basic Block is a piece of code that always executes together.</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3️⃣ Why do we split code into Basic Blocks?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Because real programs contain: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 else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switch</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goto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return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Whenever the program needs to make a decision, the execution can split.</a:t>
            </a:r>
            <a:endParaRPr lang="en-US" dirty="0"/>
          </a:p>
          <a:p>
            <a:pPr marL="0" lvl="0" indent="0" algn="l" rtl="0">
              <a:spcBef>
                <a:spcPts val="0"/>
              </a:spcBef>
              <a:spcAft>
                <a:spcPts val="0"/>
              </a:spcAft>
              <a:buNone/>
            </a:pPr>
            <a:r>
              <a:rPr lang="en-US" dirty="0"/>
              <a:t>At that point, the CFG cuts the code into separate basic blocks.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Each block represents one uninterrupted execution segment.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4️⃣ What do the arrows mean?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arrows show where execution may go next after finishing a block.</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Conditional statements create multiple outgoing arrows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goto creates a single forced jump</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return ends the function and has no outgoing arrow</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Important point: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CFG shows all possible paths — not one actual run.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5️⃣ How many paths does one execution take?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Only one.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Even though the CFG looks like a network of many paths,</a:t>
            </a:r>
            <a:endParaRPr lang="en-US" dirty="0"/>
          </a:p>
          <a:p>
            <a:pPr marL="0" lvl="0" indent="0" algn="l" rtl="0">
              <a:spcBef>
                <a:spcPts val="0"/>
              </a:spcBef>
              <a:spcAft>
                <a:spcPts val="0"/>
              </a:spcAft>
              <a:buNone/>
            </a:pPr>
            <a:r>
              <a:rPr lang="en-US" dirty="0"/>
              <a:t>a single program run follows only one path from start to end.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good analogy is: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CFG is a map.</a:t>
            </a:r>
            <a:endParaRPr lang="en-US" dirty="0"/>
          </a:p>
          <a:p>
            <a:pPr marL="0" lvl="0" indent="0" algn="l" rtl="0">
              <a:spcBef>
                <a:spcPts val="0"/>
              </a:spcBef>
              <a:spcAft>
                <a:spcPts val="0"/>
              </a:spcAft>
              <a:buNone/>
            </a:pPr>
            <a:r>
              <a:rPr lang="en-US" dirty="0"/>
              <a:t>A program execution is one route on that map.”</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6️⃣ Why is CFG important for fuzzing?</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explains a key idea in fuzzing:</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fuzz input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Executes one path in the CFG</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Other paths require different inputs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fuzzing works by:</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Generating many inputs to explore new paths in the CFG.</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Bugs often hide in paths that are rarely taken.</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When we compile a program with GCC using coverage flags, the compiler does not just produce a normal binary.</a:t>
            </a:r>
            <a:endParaRPr lang="en-US" dirty="0"/>
          </a:p>
          <a:p>
            <a:pPr marL="0" lvl="0" indent="0" algn="l" rtl="0">
              <a:spcBef>
                <a:spcPts val="0"/>
              </a:spcBef>
              <a:spcAft>
                <a:spcPts val="0"/>
              </a:spcAft>
              <a:buNone/>
            </a:pPr>
            <a:r>
              <a:rPr lang="en-US" dirty="0"/>
              <a:t>It instruments the code by inserting counters at important locations, such as basic blocks and branches.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During compilation, GCC generates a file called .gcno.</a:t>
            </a:r>
            <a:endParaRPr lang="en-US" dirty="0"/>
          </a:p>
          <a:p>
            <a:pPr marL="0" lvl="0" indent="0" algn="l" rtl="0">
              <a:spcBef>
                <a:spcPts val="0"/>
              </a:spcBef>
              <a:spcAft>
                <a:spcPts val="0"/>
              </a:spcAft>
              <a:buNone/>
            </a:pPr>
            <a:r>
              <a:rPr lang="en-US" dirty="0"/>
              <a:t>This file contains the static structure of the program — essentially, where the code could go.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we run the program, the instrumented binary produces a .gcda file.</a:t>
            </a:r>
            <a:endParaRPr lang="en-US" dirty="0"/>
          </a:p>
          <a:p>
            <a:pPr marL="0" lvl="0" indent="0" algn="l" rtl="0">
              <a:spcBef>
                <a:spcPts val="0"/>
              </a:spcBef>
              <a:spcAft>
                <a:spcPts val="0"/>
              </a:spcAft>
              <a:buNone/>
            </a:pPr>
            <a:r>
              <a:rPr lang="en-US" dirty="0"/>
              <a:t>This file records what actually happened at runtime — which lines or blocks were executed, and how many times.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the gcov tool combines the static structure (.gcno) with the runtime data (.gcda) and turns it into coverage information that other tools can visualize.</a:t>
            </a:r>
            <a:br>
              <a:rPr lang="en-US" dirty="0"/>
            </a:br>
            <a:br>
              <a:rPr lang="en-US" dirty="0"/>
            </a:br>
            <a:br>
              <a:rPr lang="en-US" dirty="0"/>
            </a:br>
            <a:r>
              <a:rPr lang="en-US" dirty="0"/>
              <a:t>This LCOV report shows which lines of code were executed during the test run.</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Each line in the source code is annotated with a number:</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positive number means the line was executed that many times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zero means the line was never executed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Colors make this very intuitive: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Blue or green lines were covered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Red lines were never reached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the top, LCOV summarizes coverage using percentages: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Line coverage: how many lines were executed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Function coverage: how many functions were entered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this example, one branch of the if–else statement was never taken, which means the program logic is only partially tested.</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t>
            </a:r>
            <a:endParaRPr lang="en-US" dirty="0"/>
          </a:p>
          <a:p>
            <a:pPr marL="0" lvl="0" indent="0" algn="l" rtl="0">
              <a:spcBef>
                <a:spcPts val="0"/>
              </a:spcBef>
              <a:spcAft>
                <a:spcPts val="0"/>
              </a:spcAft>
              <a:buNone/>
            </a:pPr>
            <a:r>
              <a:rPr dirty="0"/>
              <a:t>Fuzzing starts from seeds.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A seed is simply an input to the program. It can be a file like JSON or XML, a string, a number, or sometimes even a binary blob that is not human-readable.</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The quality of these seeds matters a lot, because they determine which execution paths we can reach initially.</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t>
            </a:r>
            <a:endParaRPr lang="en-US" dirty="0"/>
          </a:p>
          <a:p>
            <a:pPr marL="0" lvl="0" indent="0" algn="l" rtl="0">
              <a:spcBef>
                <a:spcPts val="0"/>
              </a:spcBef>
              <a:spcAft>
                <a:spcPts val="0"/>
              </a:spcAft>
              <a:buNone/>
            </a:pPr>
            <a:r>
              <a:rPr dirty="0"/>
              <a:t>After we have seeds, fuzzing relies on mutation strategies.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Traditional fuzzers mutate inputs at the byte level, such as flipping bits or bytes.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More advanced fuzzers use token-level or structure-level mutations, and grammar-based fuzzers ensure syntactic validity.</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Recently, there is increasing interest in semantic mutation, where we try to change the meaning of the input rather than just its bytes.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This is where LLMs become particularly useful.</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Figure Description: LLM-Driven Autoprompting and Fuzzing Pipeline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figure presents an end-to-end framework that combines LLM-based autoprompting with a semantic fuzzing loop to test complex software systems, such as compilers, interpreters, and formal verification tools.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the top of the pipeline, the framework takes heterogeneous user-provided knowledge as input, including documentation (for example, API descriptions of std::expected), example code snippets, and formal specifications. Together, these sources define the semantic scope of the target functionality and serve as the foundation for constructing effective prompts.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left side of the figure illustrates the autoprompting via distillation process. In this stage, the system samples multiple candidate prompts derived from the available documentation, examples, and specifications. A generation LLM then uses these prompts to produce multiple candidate code snippets, such as small C++ programs exercising the target feature. These generated snippets are evaluated according to criteria such as correctness, diversity, or downstream performance. Based on this evaluation, the system selects the best-performing prompt, effectively distilling a refined input prompt that captures the intended semantics of the target functionality.</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right side of the figure shows a semantic fuzzing loop guided by an LLM and feedback from the system under test (SUT). The refined prompt is fed into a generation LLM, which produces fuzzing inputs in the form of code snippets. A subset of these generated snippets is selected and executed against the SUT, which may include SMT solvers (e.g., Z3 or CVC5), compilers (e.g., GCC), or language runtimes and analysis tools. During execution, results such as failures, crashes, or coverage information are collected and used as feedback. This feedback is then used to update the input prompt, and the process iterates.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Within the fuzzing loop, the framework supports multiple generation strategies. These include generating entirely new programs, mutating existing generated code, and applying semantic-equivalent transformations that produce syntactically different but semantically equivalent inputs. By operating at the semantic level rather than relying solely on low-level syntax mutations, these strategies enable more effective exploration of the input space.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Overall, the figure highlights a closed-loop, LLM-assisted testing framework that automatically distills high-quality prompts from raw knowledge sources, leverages semantic code generation to drive fuzzing, and continuously improves input quality through execution feedback. This design enables semantics-aware fuzzing that goes beyond random mutations and is particularly well suited for testing complex, specification-heavy systems.</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t>
            </a:r>
            <a:endParaRPr lang="en-US" dirty="0"/>
          </a:p>
          <a:p>
            <a:pPr marL="0" lvl="0" indent="0" algn="l" rtl="0">
              <a:spcBef>
                <a:spcPts val="0"/>
              </a:spcBef>
              <a:spcAft>
                <a:spcPts val="0"/>
              </a:spcAft>
              <a:buNone/>
            </a:pPr>
            <a:r>
              <a:rPr dirty="0"/>
              <a:t>To evaluate these ideas, we conducted experiments on OSS-Fuzz, which is Google’s large-scale continuous fuzzing infrastructure for open-source software.</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We compare the traditional OSS-Fuzz setup with OSS-Fuzz-Gen, which uses LLM-generated fuzzing harnesses and inputs.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This allows us to measure whether LLM assistance can actually improve coverage on real-world projects.</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 name="Google Shape;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rPr lang="en-US" altLang="zh-CN" sz="1200" b="0" i="0" u="none" strike="noStrike" cap="none" dirty="0">
                <a:solidFill>
                  <a:schemeClr val="dk1"/>
                </a:solidFill>
                <a:effectLst/>
                <a:latin typeface="Calibri"/>
                <a:ea typeface="Calibri"/>
                <a:cs typeface="Calibri"/>
                <a:sym typeface="Calibri"/>
              </a:rPr>
              <a:t>Modern software systems are complex and large-scale.</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Even experienced developers can introduce vulnerabilities unintentionally.</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Traditional tools rely on manually crafted rules, which are hard to maintain and often miss unknown patterns.</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This motivates using </a:t>
            </a:r>
            <a:r>
              <a:rPr lang="en-US" altLang="zh-CN" sz="1200" b="1" i="0" u="none" strike="noStrike" cap="none" dirty="0">
                <a:solidFill>
                  <a:schemeClr val="dk1"/>
                </a:solidFill>
                <a:effectLst/>
                <a:latin typeface="Calibri"/>
                <a:ea typeface="Calibri"/>
                <a:cs typeface="Calibri"/>
                <a:sym typeface="Calibri"/>
              </a:rPr>
              <a:t>AI to automatically learn vulnerability patterns from data</a:t>
            </a:r>
            <a:r>
              <a:rPr lang="en-US" altLang="zh-CN" sz="1200" b="0" i="0" u="none" strike="noStrike" cap="none" dirty="0">
                <a:solidFill>
                  <a:schemeClr val="dk1"/>
                </a:solidFill>
                <a:effectLst/>
                <a:latin typeface="Calibri"/>
                <a:ea typeface="Calibri"/>
                <a:cs typeface="Calibri"/>
                <a:sym typeface="Calibri"/>
              </a:rPr>
              <a:t>.</a:t>
            </a:r>
            <a:endParaRPr lang="en-US" altLang="zh-CN"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rPr lang="en-US" altLang="zh-CN" sz="1200" b="0" i="0" u="none" strike="noStrike" cap="none" dirty="0">
                <a:solidFill>
                  <a:schemeClr val="dk1"/>
                </a:solidFill>
                <a:effectLst/>
                <a:latin typeface="Calibri"/>
                <a:ea typeface="Calibri"/>
                <a:cs typeface="Calibri"/>
                <a:sym typeface="Calibri"/>
              </a:rPr>
              <a:t>We frame vulnerability detection as a supervised learning problem.</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Each code function is treated as one data sample.</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The model predicts whether this function contains a vulnerability or not.</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So fundamentally, this is a </a:t>
            </a:r>
            <a:r>
              <a:rPr lang="en-US" altLang="zh-CN" sz="1200" b="1" i="0" u="none" strike="noStrike" cap="none" dirty="0">
                <a:solidFill>
                  <a:schemeClr val="dk1"/>
                </a:solidFill>
                <a:effectLst/>
                <a:latin typeface="Calibri"/>
                <a:ea typeface="Calibri"/>
                <a:cs typeface="Calibri"/>
                <a:sym typeface="Calibri"/>
              </a:rPr>
              <a:t>binary classification task</a:t>
            </a:r>
            <a:r>
              <a:rPr lang="en-US" altLang="zh-CN" sz="1200" b="0" i="0" u="none" strike="noStrike" cap="none" dirty="0">
                <a:solidFill>
                  <a:schemeClr val="dk1"/>
                </a:solidFill>
                <a:effectLst/>
                <a:latin typeface="Calibri"/>
                <a:ea typeface="Calibri"/>
                <a:cs typeface="Calibri"/>
                <a:sym typeface="Calibri"/>
              </a:rPr>
              <a:t>.</a:t>
            </a:r>
            <a:endParaRPr lang="en-US" altLang="zh-CN" sz="1200" b="0" i="0" u="none" strike="noStrike" cap="none" dirty="0">
              <a:solidFill>
                <a:schemeClr val="dk1"/>
              </a:solidFill>
              <a:effectLst/>
              <a:latin typeface="Calibri"/>
              <a:ea typeface="Calibri"/>
              <a:cs typeface="Calibri"/>
              <a:sym typeface="Calibri"/>
            </a:endParaRPr>
          </a:p>
          <a:p>
            <a:endParaRPr lang="en-US" altLang="zh-CN" sz="1200" b="0" i="0" u="none" strike="noStrike" cap="none" dirty="0">
              <a:solidFill>
                <a:schemeClr val="dk1"/>
              </a:solidFill>
              <a:effectLst/>
              <a:latin typeface="Calibri"/>
              <a:ea typeface="Calibri"/>
              <a:cs typeface="Calibri"/>
              <a:sym typeface="Calibri"/>
            </a:endParaRPr>
          </a:p>
          <a:p>
            <a:r>
              <a:rPr lang="en-US" altLang="zh-CN" dirty="0"/>
              <a:t>Our data comes from the </a:t>
            </a:r>
            <a:r>
              <a:rPr lang="en-US" altLang="zh-CN" dirty="0" err="1"/>
              <a:t>MSR_data_cleaned</a:t>
            </a:r>
            <a:r>
              <a:rPr lang="en-US" altLang="zh-CN" dirty="0"/>
              <a:t> dataset on </a:t>
            </a:r>
            <a:r>
              <a:rPr lang="en-US" altLang="zh-CN" dirty="0" err="1"/>
              <a:t>HuggingFace</a:t>
            </a:r>
            <a:r>
              <a:rPr lang="en-US" altLang="zh-CN" dirty="0"/>
              <a:t>, which is built from real-world CVE vulnerability records. It contains actual production code from well-known open-source projects like the Linux kernel, </a:t>
            </a:r>
            <a:r>
              <a:rPr lang="en-US" altLang="zh-CN" dirty="0" err="1"/>
              <a:t>FFmpeg</a:t>
            </a:r>
            <a:r>
              <a:rPr lang="en-US" altLang="zh-CN" dirty="0"/>
              <a:t>, and Apache.</a:t>
            </a:r>
            <a:endParaRPr lang="en-US" altLang="zh-CN" dirty="0"/>
          </a:p>
          <a:p>
            <a:r>
              <a:rPr lang="en-US" altLang="zh-CN" dirty="0"/>
              <a:t>In terms of scale, we have over </a:t>
            </a:r>
            <a:r>
              <a:rPr lang="en-US" altLang="zh-CN" b="1" dirty="0"/>
              <a:t>150,000 C language functions</a:t>
            </a:r>
            <a:r>
              <a:rPr lang="en-US" altLang="zh-CN" dirty="0"/>
              <a:t> in total. Among these, 8,720 functions are vulnerable, accounting for 5.8%, while over 142,000 functions are non-vulnerable, making up 94.2%.</a:t>
            </a:r>
            <a:endParaRPr lang="en-US" altLang="zh-CN"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90204"/>
              <a:buNone/>
              <a:defRPr/>
            </a:pPr>
            <a:r>
              <a:rPr lang="en-US" altLang="zh-CN" sz="1200" b="1" i="0" u="none" strike="noStrike" cap="none" dirty="0">
                <a:solidFill>
                  <a:schemeClr val="dk1"/>
                </a:solidFill>
                <a:effectLst/>
                <a:latin typeface="Calibri"/>
                <a:ea typeface="Calibri"/>
                <a:cs typeface="Calibri"/>
                <a:sym typeface="Calibri"/>
              </a:rPr>
              <a:t>To better understand and label these vulnerable functions, real-world vulnerability records provide essential contextual information.</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In vulnerability analysis, each vulnerability is described using standardized identifiers and metadata.</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CVE IDs uniquely identify individual vulnerabilities, while CWE IDs categorize them based on underlying weakness types.</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The CVSS score quantifies the severity of a vulnerability and helps prioritize remediation efforts.</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In addition, commit information and patch details provide insight into how vulnerabilities are fixed at the code level.</a:t>
            </a:r>
            <a:endParaRPr lang="en-US" altLang="zh-CN" sz="1200" b="0" i="0" u="none" strike="noStrike" cap="none" dirty="0">
              <a:solidFill>
                <a:schemeClr val="dk1"/>
              </a:solidFill>
              <a:effectLst/>
              <a:latin typeface="Calibri"/>
              <a:ea typeface="Calibri"/>
              <a:cs typeface="Calibri"/>
              <a:sym typeface="Calibri"/>
            </a:endParaRPr>
          </a:p>
          <a:p>
            <a:r>
              <a:rPr lang="en-US" altLang="zh-CN" sz="1200" b="0" i="0" u="none" strike="noStrike" cap="none" dirty="0">
                <a:solidFill>
                  <a:schemeClr val="dk1"/>
                </a:solidFill>
                <a:effectLst/>
                <a:latin typeface="Calibri"/>
                <a:ea typeface="Calibri"/>
                <a:cs typeface="Calibri"/>
                <a:sym typeface="Calibri"/>
              </a:rPr>
              <a:t>Together, these elements form the foundation for understanding, analyzing, and automatically detecting software vulnerabilities using AI-based approaches.</a:t>
            </a:r>
            <a:endParaRPr lang="en-US" altLang="zh-CN"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rPr lang="en-US" altLang="zh-CN" dirty="0"/>
              <a:t>So how do we convert code into something AI can understand?</a:t>
            </a:r>
            <a:endParaRPr lang="en-US" altLang="zh-CN" dirty="0"/>
          </a:p>
          <a:p>
            <a:r>
              <a:rPr lang="en-US" altLang="zh-CN" b="1" dirty="0"/>
              <a:t>First, tokenization.</a:t>
            </a:r>
            <a:r>
              <a:rPr lang="en-US" altLang="zh-CN" dirty="0"/>
              <a:t> We use a C </a:t>
            </a:r>
            <a:r>
              <a:rPr lang="en-US" altLang="zh-CN" dirty="0" err="1"/>
              <a:t>lexer</a:t>
            </a:r>
            <a:r>
              <a:rPr lang="en-US" altLang="zh-CN" dirty="0"/>
              <a:t> to break down the source code into tokens—things like keywords, operators, and variable names. We also preprocess the code by removing comments and string literals, since they don't affect functionality. For example, a function like '</a:t>
            </a:r>
            <a:r>
              <a:rPr lang="en-US" altLang="zh-CN" dirty="0" err="1"/>
              <a:t>strcpy</a:t>
            </a:r>
            <a:r>
              <a:rPr lang="en-US" altLang="zh-CN" dirty="0"/>
              <a:t>(buffer, input)' becomes a sequence of tokens: '</a:t>
            </a:r>
            <a:r>
              <a:rPr lang="en-US" altLang="zh-CN" dirty="0" err="1"/>
              <a:t>strcpy</a:t>
            </a:r>
            <a:r>
              <a:rPr lang="en-US" altLang="zh-CN" dirty="0"/>
              <a:t>', opening parenthesis, 'buffer', comma, 'input', closing parenthesis.</a:t>
            </a:r>
            <a:endParaRPr lang="en-US" altLang="zh-CN" dirty="0"/>
          </a:p>
          <a:p>
            <a:r>
              <a:rPr lang="en-US" altLang="zh-CN" b="1" dirty="0"/>
              <a:t>Second, vocabulary building.</a:t>
            </a:r>
            <a:r>
              <a:rPr lang="en-US" altLang="zh-CN" dirty="0"/>
              <a:t> Across all 150,000 functions, we identified over 161,000 unique tokens. To reduce noise, we filtered out tokens that appear fewer than 5 times.</a:t>
            </a:r>
            <a:endParaRPr lang="en-US" altLang="zh-CN" dirty="0"/>
          </a:p>
          <a:p>
            <a:r>
              <a:rPr lang="en-US" altLang="zh-CN" b="1" dirty="0"/>
              <a:t>Third, encoding.</a:t>
            </a:r>
            <a:r>
              <a:rPr lang="en-US" altLang="zh-CN" dirty="0"/>
              <a:t> Each token is converted to an integer ID. Then we standardize the sequence length to 300 tokens—longer functions are truncated, shorter ones are padded with zeros.</a:t>
            </a:r>
            <a:endParaRPr lang="en-US" altLang="zh-CN" dirty="0"/>
          </a:p>
          <a:p>
            <a:r>
              <a:rPr lang="en-US" altLang="zh-CN" b="1" dirty="0"/>
              <a:t>Finally, embedding.</a:t>
            </a:r>
            <a:r>
              <a:rPr lang="en-US" altLang="zh-CN" dirty="0"/>
              <a:t> These integer IDs are transformed into 128-dimensional dense vectors through an embedding layer. This captures semantic relationships between tokens—similar code patterns get similar vector representations.</a:t>
            </a:r>
            <a:endParaRPr lang="en-US" altLang="zh-CN" dirty="0"/>
          </a:p>
          <a:p>
            <a:r>
              <a:rPr lang="en-US" altLang="zh-CN" dirty="0"/>
              <a:t>The key point is: we preserve the sequential structure of the code while converting it into a numerical format the neural network can process."</a:t>
            </a:r>
            <a:endParaRPr lang="en-US" altLang="zh-CN" dirty="0"/>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rPr lang="en-US" altLang="zh-CN" dirty="0"/>
              <a:t>"Our model is a Bi-LSTM with attention. Let me explain why.</a:t>
            </a:r>
            <a:endParaRPr lang="en-US" altLang="zh-CN" dirty="0"/>
          </a:p>
          <a:p>
            <a:r>
              <a:rPr lang="en-US" altLang="zh-CN" b="1" dirty="0"/>
              <a:t>Bi-LSTM:</a:t>
            </a:r>
            <a:r>
              <a:rPr lang="en-US" altLang="zh-CN" dirty="0"/>
              <a:t> We read code in both directions—forward and backward—because vulnerabilities depend on context from both sides. For example, understanding a pointer requires knowing where it's allocated AND where it's freed.</a:t>
            </a:r>
            <a:endParaRPr lang="en-US" altLang="zh-CN" dirty="0"/>
          </a:p>
          <a:p>
            <a:r>
              <a:rPr lang="en-US" altLang="zh-CN" b="1" dirty="0"/>
              <a:t>Attention mechanism:</a:t>
            </a:r>
            <a:r>
              <a:rPr lang="en-US" altLang="zh-CN" dirty="0"/>
              <a:t> Not all code is equally important. Some keywords like '</a:t>
            </a:r>
            <a:r>
              <a:rPr lang="en-US" altLang="zh-CN" dirty="0" err="1"/>
              <a:t>strcpy</a:t>
            </a:r>
            <a:r>
              <a:rPr lang="en-US" altLang="zh-CN" dirty="0"/>
              <a:t>' are high-risk, while others like semicolons don't matter much. Attention automatically learns to focus on the critical parts—the vulnerability hotspots.</a:t>
            </a:r>
            <a:endParaRPr lang="en-US" altLang="zh-CN" dirty="0"/>
          </a:p>
          <a:p>
            <a:r>
              <a:rPr lang="en-US" altLang="zh-CN" dirty="0"/>
              <a:t>The architecture is: embedding layer, bidirectional LSTM, attention, dense layer with dropout, and sigmoid output for binary classification.</a:t>
            </a:r>
            <a:endParaRPr lang="en-US" altLang="zh-CN" dirty="0"/>
          </a:p>
          <a:p>
            <a:r>
              <a:rPr lang="en-US" altLang="zh-CN" dirty="0"/>
              <a:t>It's like teaching the model to review code the way a security expert would—scanning both ways and focusing on the dangerous patterns."</a:t>
            </a:r>
            <a:endParaRPr lang="en-US" altLang="zh-CN" dirty="0"/>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0"/>
        <p:cNvGrpSpPr/>
        <p:nvPr/>
      </p:nvGrpSpPr>
      <p:grpSpPr>
        <a:xfrm>
          <a:off x="0" y="0"/>
          <a:ext cx="0" cy="0"/>
          <a:chOff x="0" y="0"/>
          <a:chExt cx="0" cy="0"/>
        </a:xfrm>
      </p:grpSpPr>
      <p:sp>
        <p:nvSpPr>
          <p:cNvPr id="201" name="Google Shape;201;g1b23d1e9ef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1b23d1e9efb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dirty="0"/>
              <a:t>To conclude, fuzzing is fundamentally about exploring program behaviors, and dynamic execution is essential for that.</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Large language models provide a new way to guide this exploration by generating and mutating inputs at the semantic level.</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Our experiments show that this approach can lead to meaningful coverage improvements on real-world codebases.</a:t>
            </a:r>
            <a:endParaRPr dirty="0"/>
          </a:p>
          <a:p>
            <a:pPr marL="0" lvl="0" indent="0" algn="l" rtl="0">
              <a:spcBef>
                <a:spcPts val="0"/>
              </a:spcBef>
              <a:spcAft>
                <a:spcPts val="0"/>
              </a:spcAft>
              <a:buNone/>
            </a:pPr>
            <a:endParaRPr dirty="0"/>
          </a:p>
          <a:p>
            <a:pPr marL="0" lvl="0" indent="0" algn="l" rtl="0">
              <a:spcBef>
                <a:spcPts val="0"/>
              </a:spcBef>
              <a:spcAft>
                <a:spcPts val="0"/>
              </a:spcAft>
              <a:buNone/>
            </a:pPr>
            <a:r>
              <a:rPr dirty="0"/>
              <a:t>Thank you for your attention. I’m happy to take any questions.</a:t>
            </a:r>
            <a:endParaRPr dirty="0"/>
          </a:p>
        </p:txBody>
      </p:sp>
      <p:sp>
        <p:nvSpPr>
          <p:cNvPr id="203" name="Google Shape;203;g1b23d1e9efb_0_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1" name="Shape 16"/>
        <p:cNvGrpSpPr/>
        <p:nvPr/>
      </p:nvGrpSpPr>
      <p:grpSpPr>
        <a:xfrm>
          <a:off x="0" y="0"/>
          <a:ext cx="0" cy="0"/>
          <a:chOff x="0" y="0"/>
          <a:chExt cx="0" cy="0"/>
        </a:xfrm>
      </p:grpSpPr>
      <p:pic>
        <p:nvPicPr>
          <p:cNvPr id="17" name="Google Shape;17;p34" descr="greyWatermark-20.png"/>
          <p:cNvPicPr preferRelativeResize="0"/>
          <p:nvPr/>
        </p:nvPicPr>
        <p:blipFill rotWithShape="1">
          <a:blip r:embed="rId2"/>
          <a:srcRect/>
          <a:stretch>
            <a:fillRect/>
          </a:stretch>
        </p:blipFill>
        <p:spPr>
          <a:xfrm>
            <a:off x="7949092" y="2703302"/>
            <a:ext cx="4242908" cy="4154698"/>
          </a:xfrm>
          <a:prstGeom prst="rect">
            <a:avLst/>
          </a:prstGeom>
          <a:noFill/>
          <a:ln>
            <a:noFill/>
          </a:ln>
        </p:spPr>
      </p:pic>
      <p:sp>
        <p:nvSpPr>
          <p:cNvPr id="18" name="Google Shape;18;p34"/>
          <p:cNvSpPr txBox="1">
            <a:spLocks noGrp="1"/>
          </p:cNvSpPr>
          <p:nvPr>
            <p:ph type="ctrTitle"/>
          </p:nvPr>
        </p:nvSpPr>
        <p:spPr>
          <a:xfrm>
            <a:off x="609600" y="2537925"/>
            <a:ext cx="9144000" cy="15240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262626"/>
              </a:buClr>
              <a:buSzPts val="4000"/>
              <a:buFont typeface="Verdana" panose="020B0804030504040204"/>
              <a:buNone/>
              <a:defRPr sz="4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4"/>
          <p:cNvSpPr txBox="1">
            <a:spLocks noGrp="1"/>
          </p:cNvSpPr>
          <p:nvPr>
            <p:ph type="subTitle" idx="1"/>
          </p:nvPr>
        </p:nvSpPr>
        <p:spPr>
          <a:xfrm>
            <a:off x="609600" y="4293573"/>
            <a:ext cx="9144000" cy="990600"/>
          </a:xfrm>
          <a:prstGeom prst="rect">
            <a:avLst/>
          </a:prstGeom>
          <a:noFill/>
          <a:ln>
            <a:noFill/>
          </a:ln>
        </p:spPr>
        <p:txBody>
          <a:bodyPr spcFirstLastPara="1" wrap="square" lIns="91425" tIns="45700" rIns="91425" bIns="45700" anchor="t" anchorCtr="0">
            <a:normAutofit/>
          </a:bodyPr>
          <a:lstStyle>
            <a:lvl1pPr lvl="0" algn="l">
              <a:lnSpc>
                <a:spcPct val="95000"/>
              </a:lnSpc>
              <a:spcBef>
                <a:spcPts val="1200"/>
              </a:spcBef>
              <a:spcAft>
                <a:spcPts val="0"/>
              </a:spcAft>
              <a:buSzPts val="2800"/>
              <a:buNone/>
              <a:defRPr sz="2800">
                <a:solidFill>
                  <a:schemeClr val="dk2"/>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spcBef>
                <a:spcPts val="320"/>
              </a:spcBef>
              <a:spcAft>
                <a:spcPts val="0"/>
              </a:spcAft>
              <a:buSzPts val="1600"/>
              <a:buNone/>
              <a:defRPr>
                <a:solidFill>
                  <a:srgbClr val="888888"/>
                </a:solidFill>
              </a:defRPr>
            </a:lvl6pPr>
            <a:lvl7pPr lvl="6" algn="ctr">
              <a:spcBef>
                <a:spcPts val="320"/>
              </a:spcBef>
              <a:spcAft>
                <a:spcPts val="0"/>
              </a:spcAft>
              <a:buSzPts val="1600"/>
              <a:buNone/>
              <a:defRPr>
                <a:solidFill>
                  <a:srgbClr val="888888"/>
                </a:solidFill>
              </a:defRPr>
            </a:lvl7pPr>
            <a:lvl8pPr lvl="7" algn="ctr">
              <a:spcBef>
                <a:spcPts val="320"/>
              </a:spcBef>
              <a:spcAft>
                <a:spcPts val="0"/>
              </a:spcAft>
              <a:buSzPts val="1600"/>
              <a:buNone/>
              <a:defRPr>
                <a:solidFill>
                  <a:srgbClr val="888888"/>
                </a:solidFill>
              </a:defRPr>
            </a:lvl8pPr>
            <a:lvl9pPr lvl="8" algn="ctr">
              <a:spcBef>
                <a:spcPts val="320"/>
              </a:spcBef>
              <a:spcAft>
                <a:spcPts val="0"/>
              </a:spcAft>
              <a:buSzPts val="1600"/>
              <a:buNone/>
              <a:defRPr>
                <a:solidFill>
                  <a:srgbClr val="888888"/>
                </a:solidFill>
              </a:defRPr>
            </a:lvl9pPr>
          </a:lstStyle>
          <a:p/>
        </p:txBody>
      </p:sp>
      <p:pic>
        <p:nvPicPr>
          <p:cNvPr id="20" name="Google Shape;20;p34"/>
          <p:cNvPicPr preferRelativeResize="0"/>
          <p:nvPr/>
        </p:nvPicPr>
        <p:blipFill rotWithShape="1">
          <a:blip r:embed="rId3"/>
          <a:srcRect/>
          <a:stretch>
            <a:fillRect/>
          </a:stretch>
        </p:blipFill>
        <p:spPr>
          <a:xfrm>
            <a:off x="711200" y="990601"/>
            <a:ext cx="3383438" cy="1096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2">
  <p:cSld name="Title2">
    <p:bg>
      <p:bgPr>
        <a:solidFill>
          <a:srgbClr val="AB192D"/>
        </a:solidFill>
        <a:effectLst/>
      </p:bgPr>
    </p:bg>
    <p:spTree>
      <p:nvGrpSpPr>
        <p:cNvPr id="1" name="Shape 21"/>
        <p:cNvGrpSpPr/>
        <p:nvPr/>
      </p:nvGrpSpPr>
      <p:grpSpPr>
        <a:xfrm>
          <a:off x="0" y="0"/>
          <a:ext cx="0" cy="0"/>
          <a:chOff x="0" y="0"/>
          <a:chExt cx="0" cy="0"/>
        </a:xfrm>
      </p:grpSpPr>
      <p:pic>
        <p:nvPicPr>
          <p:cNvPr id="22" name="Google Shape;22;p35"/>
          <p:cNvPicPr preferRelativeResize="0"/>
          <p:nvPr/>
        </p:nvPicPr>
        <p:blipFill rotWithShape="1">
          <a:blip r:embed="rId2"/>
          <a:srcRect/>
          <a:stretch>
            <a:fillRect/>
          </a:stretch>
        </p:blipFill>
        <p:spPr>
          <a:xfrm>
            <a:off x="711200" y="990601"/>
            <a:ext cx="3383438" cy="1105313"/>
          </a:xfrm>
          <a:prstGeom prst="rect">
            <a:avLst/>
          </a:prstGeom>
          <a:noFill/>
          <a:ln>
            <a:noFill/>
          </a:ln>
        </p:spPr>
      </p:pic>
      <p:pic>
        <p:nvPicPr>
          <p:cNvPr id="23" name="Google Shape;23;p35"/>
          <p:cNvPicPr preferRelativeResize="0"/>
          <p:nvPr/>
        </p:nvPicPr>
        <p:blipFill rotWithShape="1">
          <a:blip r:embed="rId3"/>
          <a:srcRect/>
          <a:stretch>
            <a:fillRect/>
          </a:stretch>
        </p:blipFill>
        <p:spPr>
          <a:xfrm>
            <a:off x="7931182" y="2693986"/>
            <a:ext cx="4260818" cy="4172236"/>
          </a:xfrm>
          <a:prstGeom prst="rect">
            <a:avLst/>
          </a:prstGeom>
          <a:noFill/>
          <a:ln>
            <a:noFill/>
          </a:ln>
        </p:spPr>
      </p:pic>
      <p:sp>
        <p:nvSpPr>
          <p:cNvPr id="24" name="Google Shape;24;p35"/>
          <p:cNvSpPr txBox="1">
            <a:spLocks noGrp="1"/>
          </p:cNvSpPr>
          <p:nvPr>
            <p:ph type="ctrTitle"/>
          </p:nvPr>
        </p:nvSpPr>
        <p:spPr>
          <a:xfrm>
            <a:off x="609600" y="2537925"/>
            <a:ext cx="9144000" cy="15240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4000"/>
              <a:buFont typeface="Verdana" panose="020B0804030504040204"/>
              <a:buNone/>
              <a:defRPr sz="4000"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a:spLocks noGrp="1"/>
          </p:cNvSpPr>
          <p:nvPr>
            <p:ph type="subTitle" idx="1"/>
          </p:nvPr>
        </p:nvSpPr>
        <p:spPr>
          <a:xfrm>
            <a:off x="609600" y="4293573"/>
            <a:ext cx="9144000" cy="990600"/>
          </a:xfrm>
          <a:prstGeom prst="rect">
            <a:avLst/>
          </a:prstGeom>
          <a:noFill/>
          <a:ln>
            <a:noFill/>
          </a:ln>
        </p:spPr>
        <p:txBody>
          <a:bodyPr spcFirstLastPara="1" wrap="square" lIns="91425" tIns="45700" rIns="91425" bIns="45700" anchor="t" anchorCtr="0">
            <a:normAutofit/>
          </a:bodyPr>
          <a:lstStyle>
            <a:lvl1pPr lvl="0" algn="l">
              <a:lnSpc>
                <a:spcPct val="95000"/>
              </a:lnSpc>
              <a:spcBef>
                <a:spcPts val="1200"/>
              </a:spcBef>
              <a:spcAft>
                <a:spcPts val="0"/>
              </a:spcAft>
              <a:buSzPts val="2800"/>
              <a:buNone/>
              <a:defRPr sz="2800">
                <a:solidFill>
                  <a:schemeClr val="lt1"/>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spcBef>
                <a:spcPts val="320"/>
              </a:spcBef>
              <a:spcAft>
                <a:spcPts val="0"/>
              </a:spcAft>
              <a:buSzPts val="1600"/>
              <a:buNone/>
              <a:defRPr>
                <a:solidFill>
                  <a:srgbClr val="888888"/>
                </a:solidFill>
              </a:defRPr>
            </a:lvl6pPr>
            <a:lvl7pPr lvl="6" algn="ctr">
              <a:spcBef>
                <a:spcPts val="320"/>
              </a:spcBef>
              <a:spcAft>
                <a:spcPts val="0"/>
              </a:spcAft>
              <a:buSzPts val="1600"/>
              <a:buNone/>
              <a:defRPr>
                <a:solidFill>
                  <a:srgbClr val="888888"/>
                </a:solidFill>
              </a:defRPr>
            </a:lvl7pPr>
            <a:lvl8pPr lvl="7" algn="ctr">
              <a:spcBef>
                <a:spcPts val="320"/>
              </a:spcBef>
              <a:spcAft>
                <a:spcPts val="0"/>
              </a:spcAft>
              <a:buSzPts val="1600"/>
              <a:buNone/>
              <a:defRPr>
                <a:solidFill>
                  <a:srgbClr val="888888"/>
                </a:solidFill>
              </a:defRPr>
            </a:lvl8pPr>
            <a:lvl9pPr lvl="8" algn="ctr">
              <a:spcBef>
                <a:spcPts val="320"/>
              </a:spcBef>
              <a:spcAft>
                <a:spcPts val="0"/>
              </a:spcAft>
              <a:buSzPts val="1600"/>
              <a:buNone/>
              <a:defRPr>
                <a:solidFill>
                  <a:srgbClr val="888888"/>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Red">
  <p:cSld name="BlankRed">
    <p:bg>
      <p:bgPr>
        <a:solidFill>
          <a:schemeClr val="lt2"/>
        </a:solidFill>
        <a:effectLst/>
      </p:bgPr>
    </p:bg>
    <p:spTree>
      <p:nvGrpSpPr>
        <p:cNvPr id="1" name="Shape 26"/>
        <p:cNvGrpSpPr/>
        <p:nvPr/>
      </p:nvGrpSpPr>
      <p:grpSpPr>
        <a:xfrm>
          <a:off x="0" y="0"/>
          <a:ext cx="0" cy="0"/>
          <a:chOff x="0" y="0"/>
          <a:chExt cx="0" cy="0"/>
        </a:xfrm>
      </p:grpSpPr>
      <p:pic>
        <p:nvPicPr>
          <p:cNvPr id="27" name="Google Shape;27;p36"/>
          <p:cNvPicPr preferRelativeResize="0"/>
          <p:nvPr/>
        </p:nvPicPr>
        <p:blipFill rotWithShape="1">
          <a:blip r:embed="rId2"/>
          <a:srcRect/>
          <a:stretch>
            <a:fillRect/>
          </a:stretch>
        </p:blipFill>
        <p:spPr>
          <a:xfrm>
            <a:off x="3866131" y="1066834"/>
            <a:ext cx="4459738" cy="442803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showMasterSp="0" matchingName="Section Header">
  <p:cSld name="SECTION_HEADER">
    <p:spTree>
      <p:nvGrpSpPr>
        <p:cNvPr id="1" name="Shape 28"/>
        <p:cNvGrpSpPr/>
        <p:nvPr/>
      </p:nvGrpSpPr>
      <p:grpSpPr>
        <a:xfrm>
          <a:off x="0" y="0"/>
          <a:ext cx="0" cy="0"/>
          <a:chOff x="0" y="0"/>
          <a:chExt cx="0" cy="0"/>
        </a:xfrm>
      </p:grpSpPr>
      <p:sp>
        <p:nvSpPr>
          <p:cNvPr id="29" name="Google Shape;29;p37"/>
          <p:cNvSpPr/>
          <p:nvPr/>
        </p:nvSpPr>
        <p:spPr>
          <a:xfrm>
            <a:off x="0" y="0"/>
            <a:ext cx="12192000" cy="1143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30" name="Google Shape;30;p37"/>
          <p:cNvSpPr txBox="1">
            <a:spLocks noGrp="1"/>
          </p:cNvSpPr>
          <p:nvPr>
            <p:ph type="title"/>
          </p:nvPr>
        </p:nvSpPr>
        <p:spPr>
          <a:xfrm>
            <a:off x="625475" y="1447800"/>
            <a:ext cx="9144000" cy="16764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262626"/>
              </a:buClr>
              <a:buSzPts val="4000"/>
              <a:buFont typeface="Verdana" panose="020B0804030504040204"/>
              <a:buNone/>
              <a:defRPr sz="4000" b="1">
                <a:solidFill>
                  <a:srgbClr val="262626"/>
                </a:solidFill>
                <a:latin typeface="Verdana" panose="020B0804030504040204"/>
                <a:ea typeface="Verdana" panose="020B0804030504040204"/>
                <a:cs typeface="Verdana" panose="020B0804030504040204"/>
                <a:sym typeface="Verdana" panose="020B08040305040402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a:spLocks noGrp="1"/>
          </p:cNvSpPr>
          <p:nvPr>
            <p:ph type="body" idx="1"/>
          </p:nvPr>
        </p:nvSpPr>
        <p:spPr>
          <a:xfrm>
            <a:off x="625475" y="3124200"/>
            <a:ext cx="91440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95000"/>
              </a:lnSpc>
              <a:spcBef>
                <a:spcPts val="1200"/>
              </a:spcBef>
              <a:spcAft>
                <a:spcPts val="0"/>
              </a:spcAft>
              <a:buSzPts val="2800"/>
              <a:buNone/>
              <a:defRPr sz="2800">
                <a:solidFill>
                  <a:schemeClr val="dk2"/>
                </a:solidFill>
              </a:defRPr>
            </a:lvl1pPr>
            <a:lvl2pPr marL="914400" lvl="1" indent="-228600" algn="l">
              <a:lnSpc>
                <a:spcPct val="95000"/>
              </a:lnSpc>
              <a:spcBef>
                <a:spcPts val="600"/>
              </a:spcBef>
              <a:spcAft>
                <a:spcPts val="0"/>
              </a:spcAft>
              <a:buSzPts val="1800"/>
              <a:buNone/>
              <a:defRPr sz="1800">
                <a:solidFill>
                  <a:srgbClr val="888888"/>
                </a:solidFill>
              </a:defRPr>
            </a:lvl2pPr>
            <a:lvl3pPr marL="1371600" lvl="2" indent="-228600" algn="l">
              <a:lnSpc>
                <a:spcPct val="95000"/>
              </a:lnSpc>
              <a:spcBef>
                <a:spcPts val="600"/>
              </a:spcBef>
              <a:spcAft>
                <a:spcPts val="0"/>
              </a:spcAft>
              <a:buSzPts val="1600"/>
              <a:buNone/>
              <a:defRPr sz="1600">
                <a:solidFill>
                  <a:srgbClr val="888888"/>
                </a:solidFill>
              </a:defRPr>
            </a:lvl3pPr>
            <a:lvl4pPr marL="1828800" lvl="3" indent="-228600" algn="l">
              <a:lnSpc>
                <a:spcPct val="95000"/>
              </a:lnSpc>
              <a:spcBef>
                <a:spcPts val="600"/>
              </a:spcBef>
              <a:spcAft>
                <a:spcPts val="0"/>
              </a:spcAft>
              <a:buSzPts val="1400"/>
              <a:buNone/>
              <a:defRPr sz="1400">
                <a:solidFill>
                  <a:srgbClr val="888888"/>
                </a:solidFill>
              </a:defRPr>
            </a:lvl4pPr>
            <a:lvl5pPr marL="2286000" lvl="4" indent="-228600" algn="l">
              <a:lnSpc>
                <a:spcPct val="95000"/>
              </a:lnSpc>
              <a:spcBef>
                <a:spcPts val="600"/>
              </a:spcBef>
              <a:spcAft>
                <a:spcPts val="0"/>
              </a:spcAft>
              <a:buSzPts val="1400"/>
              <a:buNone/>
              <a:defRPr sz="1400">
                <a:solidFill>
                  <a:srgbClr val="888888"/>
                </a:solidFill>
              </a:defRPr>
            </a:lvl5pPr>
            <a:lvl6pPr marL="2743200" lvl="5" indent="-228600" algn="l">
              <a:spcBef>
                <a:spcPts val="280"/>
              </a:spcBef>
              <a:spcAft>
                <a:spcPts val="0"/>
              </a:spcAft>
              <a:buSzPts val="1400"/>
              <a:buNone/>
              <a:defRPr sz="1400">
                <a:solidFill>
                  <a:srgbClr val="888888"/>
                </a:solidFill>
              </a:defRPr>
            </a:lvl6pPr>
            <a:lvl7pPr marL="3200400" lvl="6" indent="-228600" algn="l">
              <a:spcBef>
                <a:spcPts val="280"/>
              </a:spcBef>
              <a:spcAft>
                <a:spcPts val="0"/>
              </a:spcAft>
              <a:buSzPts val="1400"/>
              <a:buNone/>
              <a:defRPr sz="1400">
                <a:solidFill>
                  <a:srgbClr val="888888"/>
                </a:solidFill>
              </a:defRPr>
            </a:lvl7pPr>
            <a:lvl8pPr marL="3657600" lvl="7" indent="-228600" algn="l">
              <a:spcBef>
                <a:spcPts val="280"/>
              </a:spcBef>
              <a:spcAft>
                <a:spcPts val="0"/>
              </a:spcAft>
              <a:buSzPts val="1400"/>
              <a:buNone/>
              <a:defRPr sz="1400">
                <a:solidFill>
                  <a:srgbClr val="888888"/>
                </a:solidFill>
              </a:defRPr>
            </a:lvl8pPr>
            <a:lvl9pPr marL="4114800" lvl="8" indent="-228600" algn="l">
              <a:spcBef>
                <a:spcPts val="280"/>
              </a:spcBef>
              <a:spcAft>
                <a:spcPts val="0"/>
              </a:spcAft>
              <a:buSzPts val="1400"/>
              <a:buNone/>
              <a:defRPr sz="1400">
                <a:solidFill>
                  <a:srgbClr val="888888"/>
                </a:solidFill>
              </a:defRPr>
            </a:lvl9pPr>
          </a:lstStyle>
          <a:p/>
        </p:txBody>
      </p:sp>
      <p:sp>
        <p:nvSpPr>
          <p:cNvPr id="32" name="Google Shape;32;p37"/>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sp>
        <p:nvSpPr>
          <p:cNvPr id="33" name="Google Shape;33;p37"/>
          <p:cNvSpPr txBox="1">
            <a:spLocks noGrp="1"/>
          </p:cNvSpPr>
          <p:nvPr>
            <p:ph type="ftr" idx="11"/>
          </p:nvPr>
        </p:nvSpPr>
        <p:spPr>
          <a:xfrm>
            <a:off x="625475"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600"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4" name="Google Shape;34;p37" descr="greyWatermark-20.png"/>
          <p:cNvPicPr preferRelativeResize="0"/>
          <p:nvPr/>
        </p:nvPicPr>
        <p:blipFill rotWithShape="1">
          <a:blip r:embed="rId2"/>
          <a:srcRect/>
          <a:stretch>
            <a:fillRect/>
          </a:stretch>
        </p:blipFill>
        <p:spPr>
          <a:xfrm>
            <a:off x="7949092" y="2703302"/>
            <a:ext cx="4242908" cy="415469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matchingName="1_Title and Content">
  <p:cSld name="OBJECT">
    <p:spTree>
      <p:nvGrpSpPr>
        <p:cNvPr id="1" name="Shape 35"/>
        <p:cNvGrpSpPr/>
        <p:nvPr/>
      </p:nvGrpSpPr>
      <p:grpSpPr>
        <a:xfrm>
          <a:off x="0" y="0"/>
          <a:ext cx="0" cy="0"/>
          <a:chOff x="0" y="0"/>
          <a:chExt cx="0" cy="0"/>
        </a:xfrm>
      </p:grpSpPr>
      <p:sp>
        <p:nvSpPr>
          <p:cNvPr id="36" name="Google Shape;36;p38"/>
          <p:cNvSpPr txBox="1">
            <a:spLocks noGrp="1"/>
          </p:cNvSpPr>
          <p:nvPr>
            <p:ph type="title"/>
          </p:nvPr>
        </p:nvSpPr>
        <p:spPr>
          <a:xfrm>
            <a:off x="609600" y="351367"/>
            <a:ext cx="10972800" cy="800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8"/>
          <p:cNvSpPr txBox="1">
            <a:spLocks noGrp="1"/>
          </p:cNvSpPr>
          <p:nvPr>
            <p:ph type="body" idx="1"/>
          </p:nvPr>
        </p:nvSpPr>
        <p:spPr>
          <a:xfrm>
            <a:off x="609600" y="1524000"/>
            <a:ext cx="10972800" cy="4648200"/>
          </a:xfrm>
          <a:prstGeom prst="rect">
            <a:avLst/>
          </a:prstGeom>
          <a:noFill/>
          <a:ln>
            <a:noFill/>
          </a:ln>
        </p:spPr>
        <p:txBody>
          <a:bodyPr spcFirstLastPara="1" wrap="square" lIns="91425" tIns="45700" rIns="91425" bIns="45700" anchor="t" anchorCtr="0">
            <a:normAutofit/>
          </a:bodyPr>
          <a:lstStyle>
            <a:lvl1pPr marL="457200" lvl="0" indent="-342900" algn="l">
              <a:lnSpc>
                <a:spcPct val="95000"/>
              </a:lnSpc>
              <a:spcBef>
                <a:spcPts val="1200"/>
              </a:spcBef>
              <a:spcAft>
                <a:spcPts val="0"/>
              </a:spcAft>
              <a:buSzPts val="1800"/>
              <a:buChar char="•"/>
              <a:defRPr/>
            </a:lvl1pPr>
            <a:lvl2pPr marL="914400" lvl="1" indent="-342900" algn="l">
              <a:lnSpc>
                <a:spcPct val="95000"/>
              </a:lnSpc>
              <a:spcBef>
                <a:spcPts val="600"/>
              </a:spcBef>
              <a:spcAft>
                <a:spcPts val="0"/>
              </a:spcAft>
              <a:buSzPts val="1800"/>
              <a:buChar char="─"/>
              <a:defRPr/>
            </a:lvl2pPr>
            <a:lvl3pPr marL="1371600" lvl="2" indent="-342900" algn="l">
              <a:lnSpc>
                <a:spcPct val="95000"/>
              </a:lnSpc>
              <a:spcBef>
                <a:spcPts val="600"/>
              </a:spcBef>
              <a:spcAft>
                <a:spcPts val="0"/>
              </a:spcAft>
              <a:buSzPts val="1800"/>
              <a:buChar char="▪"/>
              <a:defRPr/>
            </a:lvl3pPr>
            <a:lvl4pPr marL="1828800" lvl="3" indent="-342900" algn="l">
              <a:lnSpc>
                <a:spcPct val="95000"/>
              </a:lnSpc>
              <a:spcBef>
                <a:spcPts val="600"/>
              </a:spcBef>
              <a:spcAft>
                <a:spcPts val="0"/>
              </a:spcAft>
              <a:buSzPts val="1800"/>
              <a:buChar char="o"/>
              <a:defRPr/>
            </a:lvl4pPr>
            <a:lvl5pPr marL="2286000" lvl="4" indent="-342900" algn="l">
              <a:lnSpc>
                <a:spcPct val="95000"/>
              </a:lnSpc>
              <a:spcBef>
                <a:spcPts val="60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p:txBody>
      </p:sp>
      <p:sp>
        <p:nvSpPr>
          <p:cNvPr id="38" name="Google Shape;38;p38"/>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6"/>
        <p:cNvGrpSpPr/>
        <p:nvPr/>
      </p:nvGrpSpPr>
      <p:grpSpPr>
        <a:xfrm>
          <a:off x="0" y="0"/>
          <a:ext cx="0" cy="0"/>
          <a:chOff x="0" y="0"/>
          <a:chExt cx="0" cy="0"/>
        </a:xfrm>
      </p:grpSpPr>
      <p:sp>
        <p:nvSpPr>
          <p:cNvPr id="47" name="Google Shape;47;p40"/>
          <p:cNvSpPr txBox="1">
            <a:spLocks noGrp="1"/>
          </p:cNvSpPr>
          <p:nvPr>
            <p:ph type="title"/>
          </p:nvPr>
        </p:nvSpPr>
        <p:spPr>
          <a:xfrm>
            <a:off x="609600" y="351367"/>
            <a:ext cx="10972800" cy="800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0"/>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sp>
        <p:nvSpPr>
          <p:cNvPr id="49" name="Google Shape;49;p40"/>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Caption">
  <p:cSld name="PhotoCaption">
    <p:spTree>
      <p:nvGrpSpPr>
        <p:cNvPr id="1" name="Shape 50"/>
        <p:cNvGrpSpPr/>
        <p:nvPr/>
      </p:nvGrpSpPr>
      <p:grpSpPr>
        <a:xfrm>
          <a:off x="0" y="0"/>
          <a:ext cx="0" cy="0"/>
          <a:chOff x="0" y="0"/>
          <a:chExt cx="0" cy="0"/>
        </a:xfrm>
      </p:grpSpPr>
      <p:sp>
        <p:nvSpPr>
          <p:cNvPr id="51" name="Google Shape;51;p41"/>
          <p:cNvSpPr txBox="1">
            <a:spLocks noGrp="1"/>
          </p:cNvSpPr>
          <p:nvPr>
            <p:ph type="title"/>
          </p:nvPr>
        </p:nvSpPr>
        <p:spPr>
          <a:xfrm>
            <a:off x="609600" y="351367"/>
            <a:ext cx="10972800" cy="800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sp>
        <p:nvSpPr>
          <p:cNvPr id="53" name="Google Shape;53;p41"/>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1"/>
          <p:cNvSpPr>
            <a:spLocks noGrp="1"/>
          </p:cNvSpPr>
          <p:nvPr>
            <p:ph type="pic" idx="2"/>
          </p:nvPr>
        </p:nvSpPr>
        <p:spPr>
          <a:xfrm>
            <a:off x="609600" y="1524000"/>
            <a:ext cx="7823200" cy="4648200"/>
          </a:xfrm>
          <a:prstGeom prst="rect">
            <a:avLst/>
          </a:prstGeom>
          <a:noFill/>
          <a:ln>
            <a:noFill/>
          </a:ln>
        </p:spPr>
      </p:sp>
      <p:sp>
        <p:nvSpPr>
          <p:cNvPr id="55" name="Google Shape;55;p41"/>
          <p:cNvSpPr txBox="1">
            <a:spLocks noGrp="1"/>
          </p:cNvSpPr>
          <p:nvPr>
            <p:ph type="body" idx="1"/>
          </p:nvPr>
        </p:nvSpPr>
        <p:spPr>
          <a:xfrm>
            <a:off x="8737600" y="1524000"/>
            <a:ext cx="2844800" cy="4648200"/>
          </a:xfrm>
          <a:prstGeom prst="rect">
            <a:avLst/>
          </a:prstGeom>
          <a:noFill/>
          <a:ln>
            <a:noFill/>
          </a:ln>
        </p:spPr>
        <p:txBody>
          <a:bodyPr spcFirstLastPara="1" wrap="square" lIns="91425" tIns="45700" rIns="91425" bIns="45700" anchor="t" anchorCtr="0">
            <a:normAutofit/>
          </a:bodyPr>
          <a:lstStyle>
            <a:lvl1pPr marL="457200" lvl="0" indent="-228600" algn="l">
              <a:lnSpc>
                <a:spcPct val="95000"/>
              </a:lnSpc>
              <a:spcBef>
                <a:spcPts val="1200"/>
              </a:spcBef>
              <a:spcAft>
                <a:spcPts val="0"/>
              </a:spcAft>
              <a:buSzPts val="2000"/>
              <a:buFont typeface="Verdana" panose="020B0804030504040204"/>
              <a:buNone/>
              <a:defRPr sz="2000"/>
            </a:lvl1pPr>
            <a:lvl2pPr marL="914400" lvl="1" indent="-342900" algn="l">
              <a:lnSpc>
                <a:spcPct val="95000"/>
              </a:lnSpc>
              <a:spcBef>
                <a:spcPts val="600"/>
              </a:spcBef>
              <a:spcAft>
                <a:spcPts val="0"/>
              </a:spcAft>
              <a:buSzPts val="1800"/>
              <a:buChar char="─"/>
              <a:defRPr sz="1800"/>
            </a:lvl2pPr>
            <a:lvl3pPr marL="1371600" lvl="2" indent="-330200" algn="l">
              <a:lnSpc>
                <a:spcPct val="95000"/>
              </a:lnSpc>
              <a:spcBef>
                <a:spcPts val="600"/>
              </a:spcBef>
              <a:spcAft>
                <a:spcPts val="0"/>
              </a:spcAft>
              <a:buSzPts val="1600"/>
              <a:buChar char="▪"/>
              <a:defRPr sz="1600"/>
            </a:lvl3pPr>
            <a:lvl4pPr marL="1828800" lvl="3" indent="-317500" algn="l">
              <a:lnSpc>
                <a:spcPct val="95000"/>
              </a:lnSpc>
              <a:spcBef>
                <a:spcPts val="600"/>
              </a:spcBef>
              <a:spcAft>
                <a:spcPts val="0"/>
              </a:spcAft>
              <a:buSzPts val="1400"/>
              <a:buChar char="o"/>
              <a:defRPr sz="1400"/>
            </a:lvl4pPr>
            <a:lvl5pPr marL="2286000" lvl="4" indent="-317500" algn="l">
              <a:lnSpc>
                <a:spcPct val="95000"/>
              </a:lnSpc>
              <a:spcBef>
                <a:spcPts val="600"/>
              </a:spcBef>
              <a:spcAft>
                <a:spcPts val="0"/>
              </a:spcAft>
              <a:buSzPts val="1400"/>
              <a:buChar char="•"/>
              <a:defRPr sz="14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6"/>
        <p:cNvGrpSpPr/>
        <p:nvPr/>
      </p:nvGrpSpPr>
      <p:grpSpPr>
        <a:xfrm>
          <a:off x="0" y="0"/>
          <a:ext cx="0" cy="0"/>
          <a:chOff x="0" y="0"/>
          <a:chExt cx="0" cy="0"/>
        </a:xfrm>
      </p:grpSpPr>
      <p:sp>
        <p:nvSpPr>
          <p:cNvPr id="57" name="Google Shape;57;p51"/>
          <p:cNvSpPr txBox="1">
            <a:spLocks noGrp="1"/>
          </p:cNvSpPr>
          <p:nvPr>
            <p:ph type="title"/>
          </p:nvPr>
        </p:nvSpPr>
        <p:spPr>
          <a:xfrm>
            <a:off x="609600" y="351367"/>
            <a:ext cx="10972800" cy="800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262626"/>
              </a:buClr>
              <a:buSzPts val="3200"/>
              <a:buFont typeface="Verdana" panose="020B080403050404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1"/>
          <p:cNvSpPr txBox="1">
            <a:spLocks noGrp="1"/>
          </p:cNvSpPr>
          <p:nvPr>
            <p:ph type="body" idx="1"/>
          </p:nvPr>
        </p:nvSpPr>
        <p:spPr>
          <a:xfrm>
            <a:off x="1016000" y="1496736"/>
            <a:ext cx="4876800" cy="639762"/>
          </a:xfrm>
          <a:prstGeom prst="rect">
            <a:avLst/>
          </a:prstGeom>
          <a:noFill/>
          <a:ln>
            <a:noFill/>
          </a:ln>
        </p:spPr>
        <p:txBody>
          <a:bodyPr spcFirstLastPara="1" wrap="square" lIns="91425" tIns="45700" rIns="91425" bIns="45700" anchor="b" anchorCtr="0">
            <a:noAutofit/>
          </a:bodyPr>
          <a:lstStyle>
            <a:lvl1pPr marL="457200" lvl="0" indent="-228600" algn="l">
              <a:lnSpc>
                <a:spcPct val="95000"/>
              </a:lnSpc>
              <a:spcBef>
                <a:spcPts val="1200"/>
              </a:spcBef>
              <a:spcAft>
                <a:spcPts val="0"/>
              </a:spcAft>
              <a:buSzPts val="2000"/>
              <a:buNone/>
              <a:defRPr sz="2000" b="1">
                <a:solidFill>
                  <a:schemeClr val="dk2"/>
                </a:solidFill>
                <a:latin typeface="Verdana" panose="020B0804030504040204"/>
                <a:ea typeface="Verdana" panose="020B0804030504040204"/>
                <a:cs typeface="Verdana" panose="020B0804030504040204"/>
                <a:sym typeface="Verdana" panose="020B0804030504040204"/>
              </a:defRPr>
            </a:lvl1pPr>
            <a:lvl2pPr marL="914400" lvl="1" indent="-228600" algn="l">
              <a:lnSpc>
                <a:spcPct val="95000"/>
              </a:lnSpc>
              <a:spcBef>
                <a:spcPts val="600"/>
              </a:spcBef>
              <a:spcAft>
                <a:spcPts val="0"/>
              </a:spcAft>
              <a:buSzPts val="2000"/>
              <a:buNone/>
              <a:defRPr sz="2000" b="1"/>
            </a:lvl2pPr>
            <a:lvl3pPr marL="1371600" lvl="2" indent="-228600" algn="l">
              <a:lnSpc>
                <a:spcPct val="95000"/>
              </a:lnSpc>
              <a:spcBef>
                <a:spcPts val="600"/>
              </a:spcBef>
              <a:spcAft>
                <a:spcPts val="0"/>
              </a:spcAft>
              <a:buSzPts val="1800"/>
              <a:buNone/>
              <a:defRPr sz="1800" b="1"/>
            </a:lvl3pPr>
            <a:lvl4pPr marL="1828800" lvl="3" indent="-228600" algn="l">
              <a:lnSpc>
                <a:spcPct val="95000"/>
              </a:lnSpc>
              <a:spcBef>
                <a:spcPts val="600"/>
              </a:spcBef>
              <a:spcAft>
                <a:spcPts val="0"/>
              </a:spcAft>
              <a:buSzPts val="1600"/>
              <a:buNone/>
              <a:defRPr sz="1600" b="1"/>
            </a:lvl4pPr>
            <a:lvl5pPr marL="2286000" lvl="4" indent="-228600" algn="l">
              <a:lnSpc>
                <a:spcPct val="95000"/>
              </a:lnSpc>
              <a:spcBef>
                <a:spcPts val="60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p:txBody>
      </p:sp>
      <p:sp>
        <p:nvSpPr>
          <p:cNvPr id="59" name="Google Shape;59;p51"/>
          <p:cNvSpPr txBox="1">
            <a:spLocks noGrp="1"/>
          </p:cNvSpPr>
          <p:nvPr>
            <p:ph type="body" idx="2"/>
          </p:nvPr>
        </p:nvSpPr>
        <p:spPr>
          <a:xfrm>
            <a:off x="1016000" y="2216400"/>
            <a:ext cx="4876800" cy="3955800"/>
          </a:xfrm>
          <a:prstGeom prst="rect">
            <a:avLst/>
          </a:prstGeom>
          <a:noFill/>
          <a:ln>
            <a:noFill/>
          </a:ln>
        </p:spPr>
        <p:txBody>
          <a:bodyPr spcFirstLastPara="1" wrap="square" lIns="91425" tIns="45700" rIns="91425" bIns="45700" anchor="t" anchorCtr="0">
            <a:normAutofit/>
          </a:bodyPr>
          <a:lstStyle>
            <a:lvl1pPr marL="457200" lvl="0" indent="-355600" algn="l">
              <a:lnSpc>
                <a:spcPct val="95000"/>
              </a:lnSpc>
              <a:spcBef>
                <a:spcPts val="1200"/>
              </a:spcBef>
              <a:spcAft>
                <a:spcPts val="0"/>
              </a:spcAft>
              <a:buSzPts val="2000"/>
              <a:buChar char="•"/>
              <a:defRPr sz="2000"/>
            </a:lvl1pPr>
            <a:lvl2pPr marL="914400" lvl="1" indent="-342900" algn="l">
              <a:lnSpc>
                <a:spcPct val="95000"/>
              </a:lnSpc>
              <a:spcBef>
                <a:spcPts val="600"/>
              </a:spcBef>
              <a:spcAft>
                <a:spcPts val="0"/>
              </a:spcAft>
              <a:buSzPts val="1800"/>
              <a:buChar char="─"/>
              <a:defRPr sz="1800"/>
            </a:lvl2pPr>
            <a:lvl3pPr marL="1371600" lvl="2" indent="-330200" algn="l">
              <a:lnSpc>
                <a:spcPct val="95000"/>
              </a:lnSpc>
              <a:spcBef>
                <a:spcPts val="600"/>
              </a:spcBef>
              <a:spcAft>
                <a:spcPts val="0"/>
              </a:spcAft>
              <a:buSzPts val="1600"/>
              <a:buChar char="▪"/>
              <a:defRPr sz="1600"/>
            </a:lvl3pPr>
            <a:lvl4pPr marL="1828800" lvl="3" indent="-317500" algn="l">
              <a:lnSpc>
                <a:spcPct val="95000"/>
              </a:lnSpc>
              <a:spcBef>
                <a:spcPts val="600"/>
              </a:spcBef>
              <a:spcAft>
                <a:spcPts val="0"/>
              </a:spcAft>
              <a:buSzPts val="1400"/>
              <a:buChar char="o"/>
              <a:defRPr sz="1400"/>
            </a:lvl4pPr>
            <a:lvl5pPr marL="2286000" lvl="4" indent="-317500" algn="l">
              <a:lnSpc>
                <a:spcPct val="95000"/>
              </a:lnSpc>
              <a:spcBef>
                <a:spcPts val="600"/>
              </a:spcBef>
              <a:spcAft>
                <a:spcPts val="0"/>
              </a:spcAft>
              <a:buSzPts val="1400"/>
              <a:buChar char="•"/>
              <a:defRPr sz="14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p:txBody>
      </p:sp>
      <p:sp>
        <p:nvSpPr>
          <p:cNvPr id="60" name="Google Shape;60;p51"/>
          <p:cNvSpPr txBox="1">
            <a:spLocks noGrp="1"/>
          </p:cNvSpPr>
          <p:nvPr>
            <p:ph type="body" idx="3"/>
          </p:nvPr>
        </p:nvSpPr>
        <p:spPr>
          <a:xfrm>
            <a:off x="6197600" y="1496736"/>
            <a:ext cx="4876800" cy="639762"/>
          </a:xfrm>
          <a:prstGeom prst="rect">
            <a:avLst/>
          </a:prstGeom>
          <a:noFill/>
          <a:ln>
            <a:noFill/>
          </a:ln>
        </p:spPr>
        <p:txBody>
          <a:bodyPr spcFirstLastPara="1" wrap="square" lIns="91425" tIns="45700" rIns="91425" bIns="45700" anchor="b" anchorCtr="0">
            <a:noAutofit/>
          </a:bodyPr>
          <a:lstStyle>
            <a:lvl1pPr marL="457200" lvl="0" indent="-228600" algn="l">
              <a:lnSpc>
                <a:spcPct val="95000"/>
              </a:lnSpc>
              <a:spcBef>
                <a:spcPts val="1200"/>
              </a:spcBef>
              <a:spcAft>
                <a:spcPts val="0"/>
              </a:spcAft>
              <a:buSzPts val="2000"/>
              <a:buNone/>
              <a:defRPr sz="2000" b="1">
                <a:solidFill>
                  <a:schemeClr val="dk2"/>
                </a:solidFill>
                <a:latin typeface="Verdana" panose="020B0804030504040204"/>
                <a:ea typeface="Verdana" panose="020B0804030504040204"/>
                <a:cs typeface="Verdana" panose="020B0804030504040204"/>
                <a:sym typeface="Verdana" panose="020B0804030504040204"/>
              </a:defRPr>
            </a:lvl1pPr>
            <a:lvl2pPr marL="914400" lvl="1" indent="-228600" algn="l">
              <a:lnSpc>
                <a:spcPct val="95000"/>
              </a:lnSpc>
              <a:spcBef>
                <a:spcPts val="600"/>
              </a:spcBef>
              <a:spcAft>
                <a:spcPts val="0"/>
              </a:spcAft>
              <a:buSzPts val="2000"/>
              <a:buNone/>
              <a:defRPr sz="2000" b="1"/>
            </a:lvl2pPr>
            <a:lvl3pPr marL="1371600" lvl="2" indent="-228600" algn="l">
              <a:lnSpc>
                <a:spcPct val="95000"/>
              </a:lnSpc>
              <a:spcBef>
                <a:spcPts val="600"/>
              </a:spcBef>
              <a:spcAft>
                <a:spcPts val="0"/>
              </a:spcAft>
              <a:buSzPts val="1800"/>
              <a:buNone/>
              <a:defRPr sz="1800" b="1"/>
            </a:lvl3pPr>
            <a:lvl4pPr marL="1828800" lvl="3" indent="-228600" algn="l">
              <a:lnSpc>
                <a:spcPct val="95000"/>
              </a:lnSpc>
              <a:spcBef>
                <a:spcPts val="600"/>
              </a:spcBef>
              <a:spcAft>
                <a:spcPts val="0"/>
              </a:spcAft>
              <a:buSzPts val="1600"/>
              <a:buNone/>
              <a:defRPr sz="1600" b="1"/>
            </a:lvl4pPr>
            <a:lvl5pPr marL="2286000" lvl="4" indent="-228600" algn="l">
              <a:lnSpc>
                <a:spcPct val="95000"/>
              </a:lnSpc>
              <a:spcBef>
                <a:spcPts val="60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p:txBody>
      </p:sp>
      <p:sp>
        <p:nvSpPr>
          <p:cNvPr id="61" name="Google Shape;61;p51"/>
          <p:cNvSpPr txBox="1">
            <a:spLocks noGrp="1"/>
          </p:cNvSpPr>
          <p:nvPr>
            <p:ph type="body" idx="4"/>
          </p:nvPr>
        </p:nvSpPr>
        <p:spPr>
          <a:xfrm>
            <a:off x="6197600" y="2216400"/>
            <a:ext cx="4876800" cy="3955800"/>
          </a:xfrm>
          <a:prstGeom prst="rect">
            <a:avLst/>
          </a:prstGeom>
          <a:noFill/>
          <a:ln>
            <a:noFill/>
          </a:ln>
        </p:spPr>
        <p:txBody>
          <a:bodyPr spcFirstLastPara="1" wrap="square" lIns="91425" tIns="45700" rIns="91425" bIns="45700" anchor="t" anchorCtr="0">
            <a:normAutofit/>
          </a:bodyPr>
          <a:lstStyle>
            <a:lvl1pPr marL="457200" lvl="0" indent="-355600" algn="l">
              <a:lnSpc>
                <a:spcPct val="95000"/>
              </a:lnSpc>
              <a:spcBef>
                <a:spcPts val="1200"/>
              </a:spcBef>
              <a:spcAft>
                <a:spcPts val="0"/>
              </a:spcAft>
              <a:buSzPts val="2000"/>
              <a:buChar char="•"/>
              <a:defRPr sz="2000"/>
            </a:lvl1pPr>
            <a:lvl2pPr marL="914400" lvl="1" indent="-342900" algn="l">
              <a:lnSpc>
                <a:spcPct val="95000"/>
              </a:lnSpc>
              <a:spcBef>
                <a:spcPts val="600"/>
              </a:spcBef>
              <a:spcAft>
                <a:spcPts val="0"/>
              </a:spcAft>
              <a:buSzPts val="1800"/>
              <a:buChar char="─"/>
              <a:defRPr sz="1800"/>
            </a:lvl2pPr>
            <a:lvl3pPr marL="1371600" lvl="2" indent="-330200" algn="l">
              <a:lnSpc>
                <a:spcPct val="95000"/>
              </a:lnSpc>
              <a:spcBef>
                <a:spcPts val="600"/>
              </a:spcBef>
              <a:spcAft>
                <a:spcPts val="0"/>
              </a:spcAft>
              <a:buSzPts val="1600"/>
              <a:buChar char="▪"/>
              <a:defRPr sz="1600"/>
            </a:lvl3pPr>
            <a:lvl4pPr marL="1828800" lvl="3" indent="-317500" algn="l">
              <a:lnSpc>
                <a:spcPct val="95000"/>
              </a:lnSpc>
              <a:spcBef>
                <a:spcPts val="600"/>
              </a:spcBef>
              <a:spcAft>
                <a:spcPts val="0"/>
              </a:spcAft>
              <a:buSzPts val="1400"/>
              <a:buChar char="o"/>
              <a:defRPr sz="1400"/>
            </a:lvl4pPr>
            <a:lvl5pPr marL="2286000" lvl="4" indent="-317500" algn="l">
              <a:lnSpc>
                <a:spcPct val="95000"/>
              </a:lnSpc>
              <a:spcBef>
                <a:spcPts val="600"/>
              </a:spcBef>
              <a:spcAft>
                <a:spcPts val="0"/>
              </a:spcAft>
              <a:buSzPts val="1400"/>
              <a:buChar char="•"/>
              <a:defRPr sz="14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p:txBody>
      </p:sp>
      <p:sp>
        <p:nvSpPr>
          <p:cNvPr id="62" name="Google Shape;62;p51"/>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sp>
        <p:nvSpPr>
          <p:cNvPr id="63" name="Google Shape;63;p51"/>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4"/>
        <p:cNvGrpSpPr/>
        <p:nvPr/>
      </p:nvGrpSpPr>
      <p:grpSpPr>
        <a:xfrm>
          <a:off x="0" y="0"/>
          <a:ext cx="0" cy="0"/>
          <a:chOff x="0" y="0"/>
          <a:chExt cx="0" cy="0"/>
        </a:xfrm>
      </p:grpSpPr>
      <p:sp>
        <p:nvSpPr>
          <p:cNvPr id="65" name="Google Shape;65;p52"/>
          <p:cNvSpPr txBox="1">
            <a:spLocks noGrp="1"/>
          </p:cNvSpPr>
          <p:nvPr>
            <p:ph type="sldNum" idx="12"/>
          </p:nvPr>
        </p:nvSpPr>
        <p:spPr>
          <a:xfrm>
            <a:off x="1" y="6391657"/>
            <a:ext cx="612396"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sp>
        <p:nvSpPr>
          <p:cNvPr id="66" name="Google Shape;66;p52"/>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7"/>
        <p:cNvGrpSpPr/>
        <p:nvPr/>
      </p:nvGrpSpPr>
      <p:grpSpPr>
        <a:xfrm>
          <a:off x="0" y="0"/>
          <a:ext cx="0" cy="0"/>
          <a:chOff x="0" y="0"/>
          <a:chExt cx="0" cy="0"/>
        </a:xfrm>
      </p:grpSpPr>
      <p:sp>
        <p:nvSpPr>
          <p:cNvPr id="68" name="Google Shape;68;p53"/>
          <p:cNvSpPr txBox="1">
            <a:spLocks noGrp="1"/>
          </p:cNvSpPr>
          <p:nvPr>
            <p:ph type="title"/>
          </p:nvPr>
        </p:nvSpPr>
        <p:spPr>
          <a:xfrm>
            <a:off x="609600" y="76200"/>
            <a:ext cx="11074400" cy="1066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Verdana" panose="020B0804030504040204"/>
              <a:buNone/>
              <a:defRPr sz="32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3"/>
          <p:cNvSpPr txBox="1">
            <a:spLocks noGrp="1"/>
          </p:cNvSpPr>
          <p:nvPr>
            <p:ph type="body" idx="1"/>
          </p:nvPr>
        </p:nvSpPr>
        <p:spPr>
          <a:xfrm>
            <a:off x="4523709" y="1524001"/>
            <a:ext cx="7058691" cy="4648199"/>
          </a:xfrm>
          <a:prstGeom prst="rect">
            <a:avLst/>
          </a:prstGeom>
          <a:noFill/>
          <a:ln>
            <a:noFill/>
          </a:ln>
        </p:spPr>
        <p:txBody>
          <a:bodyPr spcFirstLastPara="1" wrap="square" lIns="91425" tIns="45700" rIns="91425" bIns="45700" anchor="t" anchorCtr="0">
            <a:normAutofit/>
          </a:bodyPr>
          <a:lstStyle>
            <a:lvl1pPr marL="457200" lvl="0" indent="-381000" algn="l">
              <a:lnSpc>
                <a:spcPct val="95000"/>
              </a:lnSpc>
              <a:spcBef>
                <a:spcPts val="1200"/>
              </a:spcBef>
              <a:spcAft>
                <a:spcPts val="0"/>
              </a:spcAft>
              <a:buSzPts val="2400"/>
              <a:buChar char="•"/>
              <a:defRPr sz="2400"/>
            </a:lvl1pPr>
            <a:lvl2pPr marL="914400" lvl="1" indent="-368300" algn="l">
              <a:lnSpc>
                <a:spcPct val="95000"/>
              </a:lnSpc>
              <a:spcBef>
                <a:spcPts val="600"/>
              </a:spcBef>
              <a:spcAft>
                <a:spcPts val="0"/>
              </a:spcAft>
              <a:buSzPts val="2200"/>
              <a:buChar char="─"/>
              <a:defRPr sz="2200"/>
            </a:lvl2pPr>
            <a:lvl3pPr marL="1371600" lvl="2" indent="-355600" algn="l">
              <a:lnSpc>
                <a:spcPct val="95000"/>
              </a:lnSpc>
              <a:spcBef>
                <a:spcPts val="600"/>
              </a:spcBef>
              <a:spcAft>
                <a:spcPts val="0"/>
              </a:spcAft>
              <a:buSzPts val="2000"/>
              <a:buChar char="▪"/>
              <a:defRPr sz="2000"/>
            </a:lvl3pPr>
            <a:lvl4pPr marL="1828800" lvl="3" indent="-342900" algn="l">
              <a:lnSpc>
                <a:spcPct val="95000"/>
              </a:lnSpc>
              <a:spcBef>
                <a:spcPts val="600"/>
              </a:spcBef>
              <a:spcAft>
                <a:spcPts val="0"/>
              </a:spcAft>
              <a:buSzPts val="1800"/>
              <a:buChar char="o"/>
              <a:defRPr sz="1800"/>
            </a:lvl4pPr>
            <a:lvl5pPr marL="2286000" lvl="4" indent="-342900" algn="l">
              <a:lnSpc>
                <a:spcPct val="95000"/>
              </a:lnSpc>
              <a:spcBef>
                <a:spcPts val="600"/>
              </a:spcBef>
              <a:spcAft>
                <a:spcPts val="0"/>
              </a:spcAft>
              <a:buSzPts val="1800"/>
              <a:buChar char="•"/>
              <a:defRPr sz="18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p:txBody>
      </p:sp>
      <p:sp>
        <p:nvSpPr>
          <p:cNvPr id="70" name="Google Shape;70;p53"/>
          <p:cNvSpPr txBox="1">
            <a:spLocks noGrp="1"/>
          </p:cNvSpPr>
          <p:nvPr>
            <p:ph type="body" idx="2"/>
          </p:nvPr>
        </p:nvSpPr>
        <p:spPr>
          <a:xfrm>
            <a:off x="591890" y="1524000"/>
            <a:ext cx="3564876" cy="4648200"/>
          </a:xfrm>
          <a:prstGeom prst="rect">
            <a:avLst/>
          </a:prstGeom>
          <a:noFill/>
          <a:ln>
            <a:noFill/>
          </a:ln>
        </p:spPr>
        <p:txBody>
          <a:bodyPr spcFirstLastPara="1" wrap="square" lIns="91425" tIns="45700" rIns="91425" bIns="45700" anchor="t" anchorCtr="0">
            <a:normAutofit/>
          </a:bodyPr>
          <a:lstStyle>
            <a:lvl1pPr marL="457200" lvl="0" indent="-228600" algn="l">
              <a:lnSpc>
                <a:spcPct val="95000"/>
              </a:lnSpc>
              <a:spcBef>
                <a:spcPts val="1200"/>
              </a:spcBef>
              <a:spcAft>
                <a:spcPts val="0"/>
              </a:spcAft>
              <a:buSzPts val="2000"/>
              <a:buNone/>
              <a:defRPr sz="2000">
                <a:solidFill>
                  <a:schemeClr val="dk2"/>
                </a:solidFill>
              </a:defRPr>
            </a:lvl1pPr>
            <a:lvl2pPr marL="914400" lvl="1" indent="-228600" algn="l">
              <a:lnSpc>
                <a:spcPct val="95000"/>
              </a:lnSpc>
              <a:spcBef>
                <a:spcPts val="600"/>
              </a:spcBef>
              <a:spcAft>
                <a:spcPts val="0"/>
              </a:spcAft>
              <a:buSzPts val="1200"/>
              <a:buNone/>
              <a:defRPr sz="1200"/>
            </a:lvl2pPr>
            <a:lvl3pPr marL="1371600" lvl="2" indent="-228600" algn="l">
              <a:lnSpc>
                <a:spcPct val="95000"/>
              </a:lnSpc>
              <a:spcBef>
                <a:spcPts val="600"/>
              </a:spcBef>
              <a:spcAft>
                <a:spcPts val="0"/>
              </a:spcAft>
              <a:buSzPts val="1000"/>
              <a:buNone/>
              <a:defRPr sz="1000"/>
            </a:lvl3pPr>
            <a:lvl4pPr marL="1828800" lvl="3" indent="-228600" algn="l">
              <a:lnSpc>
                <a:spcPct val="95000"/>
              </a:lnSpc>
              <a:spcBef>
                <a:spcPts val="600"/>
              </a:spcBef>
              <a:spcAft>
                <a:spcPts val="0"/>
              </a:spcAft>
              <a:buSzPts val="900"/>
              <a:buNone/>
              <a:defRPr sz="900"/>
            </a:lvl4pPr>
            <a:lvl5pPr marL="2286000" lvl="4" indent="-228600" algn="l">
              <a:lnSpc>
                <a:spcPct val="95000"/>
              </a:lnSpc>
              <a:spcBef>
                <a:spcPts val="60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p:txBody>
      </p:sp>
      <p:sp>
        <p:nvSpPr>
          <p:cNvPr id="71" name="Google Shape;71;p53"/>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fld>
            <a:endParaRPr lang="en-US"/>
          </a:p>
        </p:txBody>
      </p:sp>
      <p:cxnSp>
        <p:nvCxnSpPr>
          <p:cNvPr id="72" name="Google Shape;72;p53"/>
          <p:cNvCxnSpPr/>
          <p:nvPr/>
        </p:nvCxnSpPr>
        <p:spPr>
          <a:xfrm rot="5400000">
            <a:off x="2447147" y="3581135"/>
            <a:ext cx="3810000" cy="2117"/>
          </a:xfrm>
          <a:prstGeom prst="straightConnector1">
            <a:avLst/>
          </a:prstGeom>
          <a:noFill/>
          <a:ln w="15875" cap="flat" cmpd="sng">
            <a:solidFill>
              <a:srgbClr val="B5B5B5"/>
            </a:solidFill>
            <a:prstDash val="solid"/>
            <a:round/>
            <a:headEnd type="none" w="sm" len="sm"/>
            <a:tailEnd type="none" w="sm" len="sm"/>
          </a:ln>
        </p:spPr>
      </p:cxnSp>
      <p:sp>
        <p:nvSpPr>
          <p:cNvPr id="73" name="Google Shape;73;p53"/>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609600" y="351367"/>
            <a:ext cx="10972800" cy="8001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262626"/>
              </a:buClr>
              <a:buSzPts val="3200"/>
              <a:buFont typeface="Verdana" panose="020B0804030504040204"/>
              <a:buNone/>
              <a:defRPr sz="3200" b="1"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p:txBody>
      </p:sp>
      <p:sp>
        <p:nvSpPr>
          <p:cNvPr id="11" name="Google Shape;11;p33"/>
          <p:cNvSpPr txBox="1">
            <a:spLocks noGrp="1"/>
          </p:cNvSpPr>
          <p:nvPr>
            <p:ph type="body" idx="1"/>
          </p:nvPr>
        </p:nvSpPr>
        <p:spPr>
          <a:xfrm>
            <a:off x="609600" y="1524000"/>
            <a:ext cx="10972800" cy="46482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5000"/>
              </a:lnSpc>
              <a:spcBef>
                <a:spcPts val="1200"/>
              </a:spcBef>
              <a:spcAft>
                <a:spcPts val="0"/>
              </a:spcAft>
              <a:buClr>
                <a:schemeClr val="lt2"/>
              </a:buClr>
              <a:buSzPts val="2400"/>
              <a:buFont typeface="Arial" panose="020B0604020202090204"/>
              <a:buChar char="•"/>
              <a:defRPr sz="2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55600" algn="l" rtl="0">
              <a:lnSpc>
                <a:spcPct val="95000"/>
              </a:lnSpc>
              <a:spcBef>
                <a:spcPts val="600"/>
              </a:spcBef>
              <a:spcAft>
                <a:spcPts val="0"/>
              </a:spcAft>
              <a:buClr>
                <a:schemeClr val="lt2"/>
              </a:buClr>
              <a:buSzPts val="2000"/>
              <a:buFont typeface="Verdana" panose="020B0804030504040204"/>
              <a:buChar char="─"/>
              <a:defRPr sz="20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42900" algn="l" rtl="0">
              <a:lnSpc>
                <a:spcPct val="95000"/>
              </a:lnSpc>
              <a:spcBef>
                <a:spcPts val="600"/>
              </a:spcBef>
              <a:spcAft>
                <a:spcPts val="0"/>
              </a:spcAft>
              <a:buClr>
                <a:schemeClr val="lt2"/>
              </a:buClr>
              <a:buSzPts val="1800"/>
              <a:buFont typeface="Noto Sans Symbols"/>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30200" algn="l" rtl="0">
              <a:lnSpc>
                <a:spcPct val="95000"/>
              </a:lnSpc>
              <a:spcBef>
                <a:spcPts val="600"/>
              </a:spcBef>
              <a:spcAft>
                <a:spcPts val="0"/>
              </a:spcAft>
              <a:buClr>
                <a:schemeClr val="lt2"/>
              </a:buClr>
              <a:buSzPts val="1600"/>
              <a:buFont typeface="Courier New" panose="02070409020205090404"/>
              <a:buChar char="o"/>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30200" algn="l" rtl="0">
              <a:lnSpc>
                <a:spcPct val="95000"/>
              </a:lnSpc>
              <a:spcBef>
                <a:spcPts val="600"/>
              </a:spcBef>
              <a:spcAft>
                <a:spcPts val="0"/>
              </a:spcAft>
              <a:buClr>
                <a:schemeClr val="lt2"/>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30200" algn="l" rtl="0">
              <a:spcBef>
                <a:spcPts val="320"/>
              </a:spcBef>
              <a:spcAft>
                <a:spcPts val="0"/>
              </a:spcAft>
              <a:buClr>
                <a:schemeClr val="accent1"/>
              </a:buClr>
              <a:buSzPts val="1600"/>
              <a:buFont typeface="Arial" panose="020B0604020202090204"/>
              <a:buChar char="•"/>
              <a:defRPr sz="16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6pPr>
            <a:lvl7pPr marL="3200400" marR="0" lvl="6" indent="-330200" algn="l" rtl="0">
              <a:spcBef>
                <a:spcPts val="320"/>
              </a:spcBef>
              <a:spcAft>
                <a:spcPts val="0"/>
              </a:spcAft>
              <a:buClr>
                <a:schemeClr val="accent1"/>
              </a:buClr>
              <a:buSzPts val="1600"/>
              <a:buFont typeface="Arial" panose="020B0604020202090204"/>
              <a:buChar char="•"/>
              <a:defRPr sz="16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7pPr>
            <a:lvl8pPr marL="3657600" marR="0" lvl="7" indent="-330200" algn="l" rtl="0">
              <a:spcBef>
                <a:spcPts val="320"/>
              </a:spcBef>
              <a:spcAft>
                <a:spcPts val="0"/>
              </a:spcAft>
              <a:buClr>
                <a:schemeClr val="accent1"/>
              </a:buClr>
              <a:buSzPts val="1600"/>
              <a:buFont typeface="Arial" panose="020B0604020202090204"/>
              <a:buChar char="•"/>
              <a:defRPr sz="16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8pPr>
            <a:lvl9pPr marL="4114800" marR="0" lvl="8" indent="-330200" algn="l" rtl="0">
              <a:spcBef>
                <a:spcPts val="320"/>
              </a:spcBef>
              <a:spcAft>
                <a:spcPts val="0"/>
              </a:spcAft>
              <a:buClr>
                <a:schemeClr val="accent1"/>
              </a:buClr>
              <a:buSzPts val="1600"/>
              <a:buFont typeface="Arial" panose="020B0604020202090204"/>
              <a:buChar char="•"/>
              <a:defRPr sz="16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9pPr>
          </a:lstStyle>
          <a:p/>
        </p:txBody>
      </p:sp>
      <p:sp>
        <p:nvSpPr>
          <p:cNvPr id="12" name="Google Shape;12;p33"/>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spcBef>
                <a:spcPts val="0"/>
              </a:spcBef>
              <a:buNone/>
              <a:defRPr sz="12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en-US"/>
            </a:fld>
            <a:endParaRPr lang="en-US"/>
          </a:p>
        </p:txBody>
      </p:sp>
      <p:sp>
        <p:nvSpPr>
          <p:cNvPr id="13" name="Google Shape;13;p33"/>
          <p:cNvSpPr/>
          <p:nvPr/>
        </p:nvSpPr>
        <p:spPr>
          <a:xfrm>
            <a:off x="609600" y="1234967"/>
            <a:ext cx="11582400" cy="45719"/>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14" name="Google Shape;14;p33"/>
          <p:cNvSpPr txBox="1"/>
          <p:nvPr/>
        </p:nvSpPr>
        <p:spPr>
          <a:xfrm>
            <a:off x="7315200" y="6400800"/>
            <a:ext cx="4470400"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0" i="0" u="none" strike="noStrike" cap="none">
                <a:solidFill>
                  <a:schemeClr val="lt2"/>
                </a:solidFill>
                <a:latin typeface="Times New Roman" panose="02020503050405090304"/>
                <a:ea typeface="Times New Roman" panose="02020503050405090304"/>
                <a:cs typeface="Times New Roman" panose="02020503050405090304"/>
                <a:sym typeface="Times New Roman" panose="02020503050405090304"/>
              </a:rPr>
              <a:t>Worcester Polytechnic Institute</a:t>
            </a:r>
            <a:endParaRPr lang="en-US" sz="1800" b="0" i="0" u="none" strike="noStrike" cap="none">
              <a:solidFill>
                <a:schemeClr val="lt2"/>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 name="Google Shape;15;p33"/>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R="0" lvl="2"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R="0" lvl="3"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R="0" lvl="4"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R="0" lvl="5"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6pPr>
            <a:lvl7pPr marR="0" lvl="6"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7pPr>
            <a:lvl8pPr marR="0" lvl="7"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8pPr>
            <a:lvl9pPr marR="0" lvl="8" algn="l" rtl="0">
              <a:spcBef>
                <a:spcPts val="0"/>
              </a:spcBef>
              <a:spcAft>
                <a:spcPts val="0"/>
              </a:spcAft>
              <a:buSzPts val="1400"/>
              <a:buNone/>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5.xml"/><Relationship Id="rId2" Type="http://schemas.openxmlformats.org/officeDocument/2006/relationships/image" Target="../media/image17.png"/><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5.xml"/><Relationship Id="rId2" Type="http://schemas.openxmlformats.org/officeDocument/2006/relationships/image" Target="../media/image19.jpeg"/><Relationship Id="rId1"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20.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5.xml"/><Relationship Id="rId2" Type="http://schemas.openxmlformats.org/officeDocument/2006/relationships/image" Target="../media/image22.png"/><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2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
          <p:cNvSpPr txBox="1">
            <a:spLocks noGrp="1"/>
          </p:cNvSpPr>
          <p:nvPr>
            <p:ph type="ctrTitle"/>
          </p:nvPr>
        </p:nvSpPr>
        <p:spPr>
          <a:xfrm>
            <a:off x="609600" y="2630380"/>
            <a:ext cx="9972600" cy="2779917"/>
          </a:xfrm>
          <a:prstGeom prst="rect">
            <a:avLst/>
          </a:prstGeom>
          <a:noFill/>
          <a:ln>
            <a:noFill/>
          </a:ln>
        </p:spPr>
        <p:txBody>
          <a:bodyPr spcFirstLastPara="1" wrap="square" lIns="91425" tIns="45700" rIns="91425" bIns="45700" anchor="b" anchorCtr="0">
            <a:noAutofit/>
          </a:bodyPr>
          <a:lstStyle/>
          <a:p>
            <a:br>
              <a:rPr lang="en-US" dirty="0"/>
            </a:br>
            <a:br>
              <a:rPr lang="en-US" dirty="0"/>
            </a:br>
            <a:br>
              <a:rPr lang="en-US" dirty="0"/>
            </a:br>
            <a:br>
              <a:rPr lang="en-US" dirty="0"/>
            </a:br>
            <a:br>
              <a:rPr lang="en-US" dirty="0"/>
            </a:br>
            <a:r>
              <a:rPr lang="en-US" dirty="0">
                <a:solidFill>
                  <a:srgbClr val="000000"/>
                </a:solidFill>
                <a:effectLst/>
                <a:latin typeface="Helvetica" pitchFamily="2" charset="0"/>
              </a:rPr>
              <a:t>AI-assisted Intrusion Detection</a:t>
            </a:r>
            <a:br>
              <a:rPr lang="en-US" dirty="0">
                <a:solidFill>
                  <a:srgbClr val="000000"/>
                </a:solidFill>
                <a:effectLst/>
                <a:latin typeface="Helvetica" pitchFamily="2" charset="0"/>
              </a:rPr>
            </a:b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What system logs look like</a:t>
            </a:r>
            <a:endParaRPr lang="en-US"/>
          </a:p>
          <a:p>
            <a:r>
              <a:rPr lang="en-US"/>
              <a:t>Limitaion of traditional method</a:t>
            </a:r>
            <a:endParaRPr lang="en-US"/>
          </a:p>
          <a:p>
            <a:r>
              <a:rPr lang="en-US"/>
              <a:t>How machine learning method helps intrusion detection</a:t>
            </a:r>
            <a:endParaRPr lang="en-US"/>
          </a:p>
          <a:p>
            <a:r>
              <a:rPr lang="en-US"/>
              <a:t>Hands on experiments</a:t>
            </a:r>
            <a:endParaRPr lang="en-US"/>
          </a:p>
        </p:txBody>
      </p:sp>
      <p:sp>
        <p:nvSpPr>
          <p:cNvPr id="5" name="Title 4"/>
          <p:cNvSpPr>
            <a:spLocks noGrp="1"/>
          </p:cNvSpPr>
          <p:nvPr>
            <p:ph type="title"/>
          </p:nvPr>
        </p:nvSpPr>
        <p:spPr/>
        <p:txBody>
          <a:bodyPr/>
          <a:lstStyle/>
          <a:p>
            <a:r>
              <a:rPr lang="en-US"/>
              <a:t>Content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It can be raw system-level logs</a:t>
            </a:r>
            <a:endParaRPr lang="en-US"/>
          </a:p>
        </p:txBody>
      </p:sp>
      <p:sp>
        <p:nvSpPr>
          <p:cNvPr id="5" name="Title 4"/>
          <p:cNvSpPr>
            <a:spLocks noGrp="1"/>
          </p:cNvSpPr>
          <p:nvPr>
            <p:ph type="title"/>
          </p:nvPr>
        </p:nvSpPr>
        <p:spPr/>
        <p:txBody>
          <a:bodyPr/>
          <a:lstStyle/>
          <a:p>
            <a:r>
              <a:rPr lang="en-US">
                <a:sym typeface="+mn-ea"/>
              </a:rPr>
              <a:t>What system logs look like</a:t>
            </a:r>
            <a:endParaRPr lang="en-US"/>
          </a:p>
        </p:txBody>
      </p:sp>
      <p:pic>
        <p:nvPicPr>
          <p:cNvPr id="6" name="图片 5"/>
          <p:cNvPicPr>
            <a:picLocks noChangeAspect="1"/>
          </p:cNvPicPr>
          <p:nvPr/>
        </p:nvPicPr>
        <p:blipFill>
          <a:blip r:embed="rId1"/>
          <a:stretch>
            <a:fillRect/>
          </a:stretch>
        </p:blipFill>
        <p:spPr>
          <a:xfrm>
            <a:off x="895985" y="2122805"/>
            <a:ext cx="10106025" cy="36239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https://ieeexplore.ieee.org/stamp/stamp.jsp?arnumber=10646725</a:t>
            </a:r>
            <a:endParaRPr sz="1000"/>
          </a:p>
        </p:txBody>
      </p:sp>
      <p:sp>
        <p:nvSpPr>
          <p:cNvPr id="3" name="Text Placeholder 2"/>
          <p:cNvSpPr>
            <a:spLocks noGrp="1"/>
          </p:cNvSpPr>
          <p:nvPr>
            <p:ph type="body" idx="1"/>
          </p:nvPr>
        </p:nvSpPr>
        <p:spPr/>
        <p:txBody>
          <a:bodyPr/>
          <a:lstStyle/>
          <a:p>
            <a:r>
              <a:rPr lang="en-US"/>
              <a:t>It can be provenanced-based logs</a:t>
            </a:r>
            <a:endParaRPr lang="en-US"/>
          </a:p>
        </p:txBody>
      </p:sp>
      <p:sp>
        <p:nvSpPr>
          <p:cNvPr id="5" name="Title 4"/>
          <p:cNvSpPr>
            <a:spLocks noGrp="1"/>
          </p:cNvSpPr>
          <p:nvPr>
            <p:ph type="title"/>
          </p:nvPr>
        </p:nvSpPr>
        <p:spPr/>
        <p:txBody>
          <a:bodyPr/>
          <a:lstStyle/>
          <a:p>
            <a:r>
              <a:rPr lang="en-US">
                <a:sym typeface="+mn-ea"/>
              </a:rPr>
              <a:t>What system logs look like</a:t>
            </a:r>
            <a:endParaRPr lang="en-US"/>
          </a:p>
        </p:txBody>
      </p:sp>
      <p:pic>
        <p:nvPicPr>
          <p:cNvPr id="4" name="图片 3"/>
          <p:cNvPicPr>
            <a:picLocks noChangeAspect="1"/>
          </p:cNvPicPr>
          <p:nvPr/>
        </p:nvPicPr>
        <p:blipFill>
          <a:blip r:embed="rId1"/>
          <a:stretch>
            <a:fillRect/>
          </a:stretch>
        </p:blipFill>
        <p:spPr>
          <a:xfrm>
            <a:off x="609600" y="2550160"/>
            <a:ext cx="11250295" cy="22879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https://blog.csdn.net/airenKKK/article/details/124619217</a:t>
            </a:r>
            <a:endParaRPr sz="1000"/>
          </a:p>
        </p:txBody>
      </p:sp>
      <p:sp>
        <p:nvSpPr>
          <p:cNvPr id="3" name="Text Placeholder 2"/>
          <p:cNvSpPr>
            <a:spLocks noGrp="1"/>
          </p:cNvSpPr>
          <p:nvPr>
            <p:ph type="body" idx="1"/>
          </p:nvPr>
        </p:nvSpPr>
        <p:spPr/>
        <p:txBody>
          <a:bodyPr/>
          <a:lstStyle/>
          <a:p>
            <a:r>
              <a:rPr lang="en-US"/>
              <a:t>It can also be manually labeled</a:t>
            </a:r>
            <a:endParaRPr lang="en-US"/>
          </a:p>
        </p:txBody>
      </p:sp>
      <p:sp>
        <p:nvSpPr>
          <p:cNvPr id="5" name="Title 4"/>
          <p:cNvSpPr>
            <a:spLocks noGrp="1"/>
          </p:cNvSpPr>
          <p:nvPr>
            <p:ph type="title"/>
          </p:nvPr>
        </p:nvSpPr>
        <p:spPr/>
        <p:txBody>
          <a:bodyPr/>
          <a:lstStyle/>
          <a:p>
            <a:r>
              <a:rPr lang="en-US">
                <a:sym typeface="+mn-ea"/>
              </a:rPr>
              <a:t>What system logs look like</a:t>
            </a:r>
            <a:endParaRPr lang="en-US"/>
          </a:p>
        </p:txBody>
      </p:sp>
      <p:pic>
        <p:nvPicPr>
          <p:cNvPr id="6" name="图片 5"/>
          <p:cNvPicPr>
            <a:picLocks noChangeAspect="1"/>
          </p:cNvPicPr>
          <p:nvPr/>
        </p:nvPicPr>
        <p:blipFill>
          <a:blip r:embed="rId1"/>
          <a:stretch>
            <a:fillRect/>
          </a:stretch>
        </p:blipFill>
        <p:spPr>
          <a:xfrm>
            <a:off x="1530350" y="1980565"/>
            <a:ext cx="7209155" cy="43662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https://www.elprocus.com/basic-intrusion-detection-system/</a:t>
            </a:r>
            <a:endParaRPr sz="1000"/>
          </a:p>
        </p:txBody>
      </p:sp>
      <p:sp>
        <p:nvSpPr>
          <p:cNvPr id="3" name="Text Placeholder 2"/>
          <p:cNvSpPr>
            <a:spLocks noGrp="1"/>
          </p:cNvSpPr>
          <p:nvPr>
            <p:ph type="body" idx="1"/>
          </p:nvPr>
        </p:nvSpPr>
        <p:spPr/>
        <p:txBody>
          <a:bodyPr/>
          <a:lstStyle/>
          <a:p>
            <a:r>
              <a:rPr lang="en-US"/>
              <a:t>Pattern based, signature based</a:t>
            </a:r>
            <a:endParaRPr lang="en-US"/>
          </a:p>
        </p:txBody>
      </p:sp>
      <p:sp>
        <p:nvSpPr>
          <p:cNvPr id="5" name="Title 4"/>
          <p:cNvSpPr>
            <a:spLocks noGrp="1"/>
          </p:cNvSpPr>
          <p:nvPr>
            <p:ph type="title"/>
          </p:nvPr>
        </p:nvSpPr>
        <p:spPr/>
        <p:txBody>
          <a:bodyPr/>
          <a:lstStyle/>
          <a:p>
            <a:r>
              <a:rPr lang="en-US">
                <a:sym typeface="+mn-ea"/>
              </a:rPr>
              <a:t>Limitaion of traditional method</a:t>
            </a:r>
            <a:endParaRPr lang="en-US"/>
          </a:p>
        </p:txBody>
      </p:sp>
      <p:pic>
        <p:nvPicPr>
          <p:cNvPr id="2" name="图片 1"/>
          <p:cNvPicPr>
            <a:picLocks noChangeAspect="1"/>
          </p:cNvPicPr>
          <p:nvPr/>
        </p:nvPicPr>
        <p:blipFill>
          <a:blip r:embed="rId1"/>
          <a:stretch>
            <a:fillRect/>
          </a:stretch>
        </p:blipFill>
        <p:spPr>
          <a:xfrm>
            <a:off x="688340" y="2357120"/>
            <a:ext cx="5986145" cy="3488690"/>
          </a:xfrm>
          <a:prstGeom prst="rect">
            <a:avLst/>
          </a:prstGeom>
        </p:spPr>
      </p:pic>
      <p:sp>
        <p:nvSpPr>
          <p:cNvPr id="4" name="文本框 3"/>
          <p:cNvSpPr txBox="1"/>
          <p:nvPr/>
        </p:nvSpPr>
        <p:spPr>
          <a:xfrm>
            <a:off x="6981190" y="1983105"/>
            <a:ext cx="4393565" cy="3753485"/>
          </a:xfrm>
          <a:prstGeom prst="rect">
            <a:avLst/>
          </a:prstGeom>
          <a:noFill/>
        </p:spPr>
        <p:txBody>
          <a:bodyPr wrap="square" rtlCol="0">
            <a:spAutoFit/>
          </a:bodyPr>
          <a:p>
            <a:r>
              <a:rPr lang="zh-CN" altLang="en-US"/>
              <a:t>Rely on manually defined attack signatures</a:t>
            </a:r>
            <a:endParaRPr lang="zh-CN" altLang="en-US"/>
          </a:p>
          <a:p>
            <a:r>
              <a:rPr lang="zh-CN" altLang="en-US"/>
              <a:t>→ Only effective for known attacks</a:t>
            </a:r>
            <a:endParaRPr lang="zh-CN" altLang="en-US"/>
          </a:p>
          <a:p>
            <a:endParaRPr lang="zh-CN" altLang="en-US"/>
          </a:p>
          <a:p>
            <a:endParaRPr lang="zh-CN" altLang="en-US"/>
          </a:p>
          <a:p>
            <a:endParaRPr lang="zh-CN" altLang="en-US"/>
          </a:p>
          <a:p>
            <a:r>
              <a:rPr lang="zh-CN" altLang="en-US"/>
              <a:t>Easily evaded by attack variants or obfuscation</a:t>
            </a:r>
            <a:endParaRPr lang="zh-CN" altLang="en-US"/>
          </a:p>
          <a:p>
            <a:r>
              <a:rPr lang="zh-CN" altLang="en-US"/>
              <a:t>→ Small changes in payload can bypass detection</a:t>
            </a:r>
            <a:endParaRPr lang="zh-CN" altLang="en-US"/>
          </a:p>
          <a:p>
            <a:endParaRPr lang="zh-CN" altLang="en-US"/>
          </a:p>
          <a:p>
            <a:endParaRPr lang="zh-CN" altLang="en-US"/>
          </a:p>
          <a:p>
            <a:endParaRPr lang="zh-CN" altLang="en-US"/>
          </a:p>
          <a:p>
            <a:r>
              <a:rPr lang="zh-CN" altLang="en-US"/>
              <a:t>High maintenance cost for rule updates</a:t>
            </a:r>
            <a:endParaRPr lang="zh-CN" altLang="en-US"/>
          </a:p>
          <a:p>
            <a:r>
              <a:rPr lang="zh-CN" altLang="en-US"/>
              <a:t>→ Requires continuous expert intervention</a:t>
            </a:r>
            <a:endParaRPr lang="zh-CN" altLang="en-US"/>
          </a:p>
          <a:p>
            <a:endParaRPr lang="zh-CN" altLang="en-US"/>
          </a:p>
          <a:p>
            <a:endParaRPr lang="zh-CN" altLang="en-US"/>
          </a:p>
          <a:p>
            <a:endParaRPr lang="zh-CN" altLang="en-US"/>
          </a:p>
          <a:p>
            <a:r>
              <a:rPr lang="zh-CN" altLang="en-US"/>
              <a:t>Poor generalization to new systems or environments</a:t>
            </a:r>
            <a:endParaRPr lang="zh-CN" altLang="en-US"/>
          </a:p>
          <a:p>
            <a:r>
              <a:rPr lang="zh-CN" altLang="en-US"/>
              <a:t>→ Rules do not transfer well across deployments</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sym typeface="+mn-ea"/>
              </a:rPr>
              <a:t>https://www.elprocus.com/basic-intrusion-detection-system/</a:t>
            </a:r>
            <a:endParaRPr sz="1000"/>
          </a:p>
          <a:p>
            <a:pPr marL="0" lvl="0" indent="0" algn="l" rtl="0">
              <a:spcBef>
                <a:spcPts val="0"/>
              </a:spcBef>
              <a:spcAft>
                <a:spcPts val="0"/>
              </a:spcAft>
              <a:buNone/>
            </a:pPr>
            <a:endParaRPr sz="1000"/>
          </a:p>
        </p:txBody>
      </p:sp>
      <p:sp>
        <p:nvSpPr>
          <p:cNvPr id="3" name="Text Placeholder 2"/>
          <p:cNvSpPr>
            <a:spLocks noGrp="1"/>
          </p:cNvSpPr>
          <p:nvPr>
            <p:ph type="body" idx="1"/>
          </p:nvPr>
        </p:nvSpPr>
        <p:spPr/>
        <p:txBody>
          <a:bodyPr/>
          <a:lstStyle/>
          <a:p>
            <a:r>
              <a:rPr lang="en-US"/>
              <a:t>Anomaly based</a:t>
            </a:r>
            <a:endParaRPr lang="en-US"/>
          </a:p>
        </p:txBody>
      </p:sp>
      <p:sp>
        <p:nvSpPr>
          <p:cNvPr id="5" name="Title 4"/>
          <p:cNvSpPr>
            <a:spLocks noGrp="1"/>
          </p:cNvSpPr>
          <p:nvPr>
            <p:ph type="title"/>
          </p:nvPr>
        </p:nvSpPr>
        <p:spPr/>
        <p:txBody>
          <a:bodyPr/>
          <a:lstStyle/>
          <a:p>
            <a:r>
              <a:rPr lang="en-US">
                <a:sym typeface="+mn-ea"/>
              </a:rPr>
              <a:t>Limitaion of traditional method</a:t>
            </a:r>
            <a:endParaRPr lang="en-US"/>
          </a:p>
        </p:txBody>
      </p:sp>
      <p:pic>
        <p:nvPicPr>
          <p:cNvPr id="4" name="图片 3"/>
          <p:cNvPicPr>
            <a:picLocks noChangeAspect="1"/>
          </p:cNvPicPr>
          <p:nvPr/>
        </p:nvPicPr>
        <p:blipFill>
          <a:blip r:embed="rId1"/>
          <a:stretch>
            <a:fillRect/>
          </a:stretch>
        </p:blipFill>
        <p:spPr>
          <a:xfrm>
            <a:off x="609600" y="2382520"/>
            <a:ext cx="5637530" cy="3228340"/>
          </a:xfrm>
          <a:prstGeom prst="rect">
            <a:avLst/>
          </a:prstGeom>
        </p:spPr>
      </p:pic>
      <p:sp>
        <p:nvSpPr>
          <p:cNvPr id="2" name="文本框 1"/>
          <p:cNvSpPr txBox="1"/>
          <p:nvPr/>
        </p:nvSpPr>
        <p:spPr>
          <a:xfrm>
            <a:off x="6409055" y="1971675"/>
            <a:ext cx="4916170" cy="3753485"/>
          </a:xfrm>
          <a:prstGeom prst="rect">
            <a:avLst/>
          </a:prstGeom>
          <a:noFill/>
        </p:spPr>
        <p:txBody>
          <a:bodyPr wrap="square" rtlCol="0">
            <a:spAutoFit/>
          </a:bodyPr>
          <a:p>
            <a:r>
              <a:rPr lang="zh-CN" altLang="en-US"/>
              <a:t>Depend on an accurate model of “normal behavior”</a:t>
            </a:r>
            <a:endParaRPr lang="zh-CN" altLang="en-US"/>
          </a:p>
          <a:p>
            <a:r>
              <a:rPr lang="zh-CN" altLang="en-US"/>
              <a:t>→ Hard to define in real-world systems</a:t>
            </a:r>
            <a:endParaRPr lang="zh-CN" altLang="en-US"/>
          </a:p>
          <a:p>
            <a:endParaRPr lang="zh-CN" altLang="en-US"/>
          </a:p>
          <a:p>
            <a:endParaRPr lang="zh-CN" altLang="en-US"/>
          </a:p>
          <a:p>
            <a:endParaRPr lang="zh-CN" altLang="en-US"/>
          </a:p>
          <a:p>
            <a:r>
              <a:rPr lang="zh-CN" altLang="en-US"/>
              <a:t>High false positive rate</a:t>
            </a:r>
            <a:endParaRPr lang="zh-CN" altLang="en-US"/>
          </a:p>
          <a:p>
            <a:r>
              <a:rPr lang="zh-CN" altLang="en-US"/>
              <a:t>→ Rare but benign behaviors are flagged as attacks</a:t>
            </a:r>
            <a:endParaRPr lang="zh-CN" altLang="en-US"/>
          </a:p>
          <a:p>
            <a:endParaRPr lang="zh-CN" altLang="en-US"/>
          </a:p>
          <a:p>
            <a:endParaRPr lang="zh-CN" altLang="en-US"/>
          </a:p>
          <a:p>
            <a:endParaRPr lang="zh-CN" altLang="en-US"/>
          </a:p>
          <a:p>
            <a:r>
              <a:rPr lang="zh-CN" altLang="en-US"/>
              <a:t>Sensitive to system and workload changes</a:t>
            </a:r>
            <a:endParaRPr lang="zh-CN" altLang="en-US"/>
          </a:p>
          <a:p>
            <a:r>
              <a:rPr lang="zh-CN" altLang="en-US"/>
              <a:t>→ Updates and configuration changes break assumptions</a:t>
            </a:r>
            <a:endParaRPr lang="zh-CN" altLang="en-US"/>
          </a:p>
          <a:p>
            <a:endParaRPr lang="zh-CN" altLang="en-US"/>
          </a:p>
          <a:p>
            <a:endParaRPr lang="zh-CN" altLang="en-US"/>
          </a:p>
          <a:p>
            <a:endParaRPr lang="zh-CN" altLang="en-US"/>
          </a:p>
          <a:p>
            <a:r>
              <a:rPr lang="zh-CN" altLang="en-US"/>
              <a:t>Thresholds are often manually tuned</a:t>
            </a:r>
            <a:endParaRPr lang="zh-CN" altLang="en-US"/>
          </a:p>
          <a:p>
            <a:r>
              <a:rPr lang="zh-CN" altLang="en-US"/>
              <a:t>→ Unstable and environment-specific</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How machine learning method helps IDS</a:t>
            </a:r>
            <a:endParaRPr lang="zh-CN" altLang="en-US"/>
          </a:p>
        </p:txBody>
      </p:sp>
      <p:sp>
        <p:nvSpPr>
          <p:cNvPr id="4" name="灯片编号占位符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a:fld>
            <a:endParaRPr lang="en-US"/>
          </a:p>
        </p:txBody>
      </p:sp>
      <p:pic>
        <p:nvPicPr>
          <p:cNvPr id="5" name="图片 4"/>
          <p:cNvPicPr>
            <a:picLocks noChangeAspect="1"/>
          </p:cNvPicPr>
          <p:nvPr/>
        </p:nvPicPr>
        <p:blipFill>
          <a:blip r:embed="rId1"/>
          <a:stretch>
            <a:fillRect/>
          </a:stretch>
        </p:blipFill>
        <p:spPr>
          <a:xfrm>
            <a:off x="926465" y="1993265"/>
            <a:ext cx="5840730" cy="3604260"/>
          </a:xfrm>
          <a:prstGeom prst="rect">
            <a:avLst/>
          </a:prstGeom>
        </p:spPr>
      </p:pic>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p>
            <a:pPr marL="0" lvl="0" indent="0" algn="l" rtl="0">
              <a:spcBef>
                <a:spcPts val="0"/>
              </a:spcBef>
              <a:spcAft>
                <a:spcPts val="0"/>
              </a:spcAft>
              <a:buNone/>
            </a:pPr>
            <a:r>
              <a:rPr sz="1000"/>
              <a:t>https://ieeexplore.ieee.org/stamp/stamp.jsp?arnumber=10646725</a:t>
            </a:r>
            <a:endParaRPr sz="1000"/>
          </a:p>
        </p:txBody>
      </p:sp>
      <p:sp>
        <p:nvSpPr>
          <p:cNvPr id="6" name="文本框 5"/>
          <p:cNvSpPr txBox="1"/>
          <p:nvPr/>
        </p:nvSpPr>
        <p:spPr>
          <a:xfrm>
            <a:off x="6674485" y="1910715"/>
            <a:ext cx="5217160" cy="3753485"/>
          </a:xfrm>
          <a:prstGeom prst="rect">
            <a:avLst/>
          </a:prstGeom>
          <a:noFill/>
        </p:spPr>
        <p:txBody>
          <a:bodyPr wrap="square" rtlCol="0">
            <a:spAutoFit/>
          </a:bodyPr>
          <a:p>
            <a:r>
              <a:rPr lang="zh-CN" altLang="en-US"/>
              <a:t>Automatically learn patterns from data</a:t>
            </a:r>
            <a:endParaRPr lang="zh-CN" altLang="en-US"/>
          </a:p>
          <a:p>
            <a:r>
              <a:rPr lang="zh-CN" altLang="en-US"/>
              <a:t>→ Reduce reliance on hand-crafted rules</a:t>
            </a:r>
            <a:endParaRPr lang="zh-CN" altLang="en-US"/>
          </a:p>
          <a:p>
            <a:endParaRPr lang="zh-CN" altLang="en-US"/>
          </a:p>
          <a:p>
            <a:endParaRPr lang="zh-CN" altLang="en-US"/>
          </a:p>
          <a:p>
            <a:endParaRPr lang="zh-CN" altLang="en-US"/>
          </a:p>
          <a:p>
            <a:r>
              <a:rPr lang="zh-CN" altLang="en-US"/>
              <a:t>Handle high-dimensional and multi-source logs</a:t>
            </a:r>
            <a:endParaRPr lang="zh-CN" altLang="en-US"/>
          </a:p>
          <a:p>
            <a:r>
              <a:rPr lang="zh-CN" altLang="en-US"/>
              <a:t>→ System calls, processes, networks, provenance, etc.</a:t>
            </a:r>
            <a:endParaRPr lang="zh-CN" altLang="en-US"/>
          </a:p>
          <a:p>
            <a:endParaRPr lang="zh-CN" altLang="en-US"/>
          </a:p>
          <a:p>
            <a:endParaRPr lang="zh-CN" altLang="en-US"/>
          </a:p>
          <a:p>
            <a:endParaRPr lang="zh-CN" altLang="en-US"/>
          </a:p>
          <a:p>
            <a:r>
              <a:rPr lang="zh-CN" altLang="en-US"/>
              <a:t>Better generalization to unseen attacks</a:t>
            </a:r>
            <a:endParaRPr lang="zh-CN" altLang="en-US"/>
          </a:p>
          <a:p>
            <a:r>
              <a:rPr lang="zh-CN" altLang="en-US"/>
              <a:t>→ Detect behavior patterns rather than exact signatures</a:t>
            </a:r>
            <a:endParaRPr lang="zh-CN" altLang="en-US"/>
          </a:p>
          <a:p>
            <a:endParaRPr lang="zh-CN" altLang="en-US"/>
          </a:p>
          <a:p>
            <a:endParaRPr lang="zh-CN" altLang="en-US"/>
          </a:p>
          <a:p>
            <a:endParaRPr lang="zh-CN" altLang="en-US"/>
          </a:p>
          <a:p>
            <a:r>
              <a:rPr lang="zh-CN" altLang="en-US"/>
              <a:t>Support diverse models and representations</a:t>
            </a:r>
            <a:endParaRPr lang="zh-CN" altLang="en-US"/>
          </a:p>
          <a:p>
            <a:r>
              <a:rPr lang="zh-CN" altLang="en-US"/>
              <a:t>→ ML (LR, RF) and DL (CNN, GNN for sequences and graphs)</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Hands on experiments</a:t>
            </a:r>
            <a:endParaRPr lang="zh-CN" altLang="en-US"/>
          </a:p>
        </p:txBody>
      </p:sp>
      <p:sp>
        <p:nvSpPr>
          <p:cNvPr id="3" name="文本占位符 2"/>
          <p:cNvSpPr>
            <a:spLocks noGrp="1"/>
          </p:cNvSpPr>
          <p:nvPr>
            <p:ph type="body" idx="1"/>
          </p:nvPr>
        </p:nvSpPr>
        <p:spPr/>
        <p:txBody>
          <a:bodyPr/>
          <a:lstStyle/>
          <a:p>
            <a:r>
              <a:rPr lang="en-US" altLang="zh-CN"/>
              <a:t>tesk1: explore nsl-kdd datasets and </a:t>
            </a:r>
            <a:r>
              <a:rPr lang="en-US" altLang="zh-CN"/>
              <a:t>raw system logs</a:t>
            </a:r>
            <a:endParaRPr lang="en-US" altLang="zh-CN"/>
          </a:p>
          <a:p>
            <a:r>
              <a:rPr lang="en-US" altLang="zh-CN" sz="2400">
                <a:sym typeface="+mn-ea"/>
              </a:rPr>
              <a:t>task2: feature extraction</a:t>
            </a:r>
            <a:endParaRPr lang="en-US" altLang="zh-CN" sz="2400"/>
          </a:p>
          <a:p>
            <a:pPr marL="571500" lvl="1" indent="457200">
              <a:buNone/>
            </a:pPr>
            <a:r>
              <a:rPr lang="en-US" altLang="zh-CN" sz="2400">
                <a:sym typeface="+mn-ea"/>
              </a:rPr>
              <a:t>--  how to handle multiple features labeled</a:t>
            </a:r>
            <a:endParaRPr lang="en-US" altLang="zh-CN" sz="2400"/>
          </a:p>
          <a:p>
            <a:pPr marL="571500" lvl="1" indent="457200">
              <a:buNone/>
            </a:pPr>
            <a:r>
              <a:rPr lang="en-US" altLang="zh-CN" sz="2400">
                <a:sym typeface="+mn-ea"/>
              </a:rPr>
              <a:t>--  how to parse raw system logs into graphs</a:t>
            </a:r>
            <a:endParaRPr lang="en-US" altLang="zh-CN"/>
          </a:p>
          <a:p>
            <a:r>
              <a:rPr lang="en-US" altLang="zh-CN"/>
              <a:t>task3:  model choosing</a:t>
            </a:r>
            <a:endParaRPr lang="en-US" altLang="zh-CN"/>
          </a:p>
          <a:p>
            <a:pPr marL="571500" lvl="1" indent="457200">
              <a:buNone/>
            </a:pPr>
            <a:r>
              <a:rPr lang="en-US" altLang="zh-CN"/>
              <a:t>--  machine learning: Logistic Regression, Decision Tree, Random Forest, ...</a:t>
            </a:r>
            <a:endParaRPr lang="en-US" altLang="zh-CN"/>
          </a:p>
          <a:p>
            <a:pPr marL="571500" lvl="1" indent="457200">
              <a:buNone/>
            </a:pPr>
            <a:r>
              <a:rPr lang="en-US" altLang="zh-CN">
                <a:ea typeface="宋体" charset="0"/>
              </a:rPr>
              <a:t>--  deep learning: CNN, GNN, ...</a:t>
            </a:r>
            <a:endParaRPr lang="en-US" altLang="zh-CN">
              <a:ea typeface="宋体" charset="0"/>
            </a:endParaRPr>
          </a:p>
        </p:txBody>
      </p:sp>
      <p:sp>
        <p:nvSpPr>
          <p:cNvPr id="4" name="灯片编号占位符 3"/>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
          <p:cNvSpPr txBox="1">
            <a:spLocks noGrp="1"/>
          </p:cNvSpPr>
          <p:nvPr>
            <p:ph type="ctrTitle"/>
          </p:nvPr>
        </p:nvSpPr>
        <p:spPr>
          <a:xfrm>
            <a:off x="609600" y="2630380"/>
            <a:ext cx="9972600" cy="2779917"/>
          </a:xfrm>
          <a:prstGeom prst="rect">
            <a:avLst/>
          </a:prstGeom>
          <a:noFill/>
          <a:ln>
            <a:noFill/>
          </a:ln>
        </p:spPr>
        <p:txBody>
          <a:bodyPr spcFirstLastPara="1" wrap="square" lIns="91425" tIns="45700" rIns="91425" bIns="45700" anchor="b" anchorCtr="0">
            <a:noAutofit/>
          </a:bodyPr>
          <a:lstStyle/>
          <a:p>
            <a:br>
              <a:rPr lang="en-US" dirty="0"/>
            </a:br>
            <a:br>
              <a:rPr lang="en-US" dirty="0"/>
            </a:br>
            <a:br>
              <a:rPr lang="en-US" dirty="0"/>
            </a:br>
            <a:br>
              <a:rPr lang="en-US" dirty="0"/>
            </a:br>
            <a:br>
              <a:rPr lang="en-US" dirty="0"/>
            </a:br>
            <a:r>
              <a:rPr lang="en-US" dirty="0">
                <a:solidFill>
                  <a:srgbClr val="000000"/>
                </a:solidFill>
                <a:effectLst/>
                <a:latin typeface="Helvetica" pitchFamily="2" charset="0"/>
              </a:rPr>
              <a:t>AI-assisted Binary &amp; </a:t>
            </a:r>
            <a:r>
              <a:rPr lang="en-US" dirty="0">
                <a:solidFill>
                  <a:srgbClr val="000000"/>
                </a:solidFill>
                <a:effectLst/>
                <a:latin typeface="Helvetica" pitchFamily="2" charset="0"/>
              </a:rPr>
              <a:t>Library Fuzzing</a:t>
            </a:r>
            <a:br>
              <a:rPr lang="en-US" dirty="0">
                <a:solidFill>
                  <a:srgbClr val="000000"/>
                </a:solidFill>
                <a:effectLst/>
                <a:latin typeface="Helvetica" pitchFamily="2" charset="0"/>
              </a:rPr>
            </a:br>
            <a:br>
              <a:rPr lang="en-US" dirty="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How C &amp; C++ code works during execution</a:t>
            </a:r>
            <a:endParaRPr lang="en-US"/>
          </a:p>
          <a:p>
            <a:r>
              <a:rPr lang="en-US"/>
              <a:t>Why dynamic detection method as fuzzing matters</a:t>
            </a:r>
            <a:endParaRPr lang="en-US"/>
          </a:p>
          <a:p>
            <a:r>
              <a:rPr lang="en-US"/>
              <a:t>How LLMs helps fuzzing</a:t>
            </a:r>
            <a:endParaRPr lang="en-US"/>
          </a:p>
          <a:p>
            <a:r>
              <a:rPr lang="en-US"/>
              <a:t>Hands on experiments</a:t>
            </a:r>
            <a:endParaRPr lang="en-US"/>
          </a:p>
        </p:txBody>
      </p:sp>
      <p:sp>
        <p:nvSpPr>
          <p:cNvPr id="5" name="Title 4"/>
          <p:cNvSpPr>
            <a:spLocks noGrp="1"/>
          </p:cNvSpPr>
          <p:nvPr>
            <p:ph type="title"/>
          </p:nvPr>
        </p:nvSpPr>
        <p:spPr/>
        <p:txBody>
          <a:bodyPr/>
          <a:lstStyle/>
          <a:p>
            <a:r>
              <a:rPr lang="en-US"/>
              <a:t>Content</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Fuzzing Workflow Overview</a:t>
            </a:r>
            <a:endParaRPr lang="en-US"/>
          </a:p>
        </p:txBody>
      </p:sp>
      <p:sp>
        <p:nvSpPr>
          <p:cNvPr id="5" name="Title 4"/>
          <p:cNvSpPr>
            <a:spLocks noGrp="1"/>
          </p:cNvSpPr>
          <p:nvPr>
            <p:ph type="title"/>
          </p:nvPr>
        </p:nvSpPr>
        <p:spPr/>
        <p:txBody>
          <a:bodyPr/>
          <a:lstStyle/>
          <a:p>
            <a:r>
              <a:rPr lang="en-US">
                <a:sym typeface="+mn-ea"/>
              </a:rPr>
              <a:t>How code works during execution</a:t>
            </a:r>
            <a:endParaRPr lang="en-US"/>
          </a:p>
        </p:txBody>
      </p:sp>
      <p:pic>
        <p:nvPicPr>
          <p:cNvPr id="4" name="图片 3" descr="9251766353035_.pic"/>
          <p:cNvPicPr>
            <a:picLocks noChangeAspect="1"/>
          </p:cNvPicPr>
          <p:nvPr/>
        </p:nvPicPr>
        <p:blipFill>
          <a:blip r:embed="rId1"/>
          <a:stretch>
            <a:fillRect/>
          </a:stretch>
        </p:blipFill>
        <p:spPr>
          <a:xfrm>
            <a:off x="290195" y="2326005"/>
            <a:ext cx="6709410" cy="3044825"/>
          </a:xfrm>
          <a:prstGeom prst="rect">
            <a:avLst/>
          </a:prstGeom>
        </p:spPr>
      </p:pic>
      <p:sp>
        <p:nvSpPr>
          <p:cNvPr id="2" name="文本框 1"/>
          <p:cNvSpPr txBox="1"/>
          <p:nvPr/>
        </p:nvSpPr>
        <p:spPr>
          <a:xfrm>
            <a:off x="7065010" y="1863725"/>
            <a:ext cx="4989830" cy="3969385"/>
          </a:xfrm>
          <a:prstGeom prst="rect">
            <a:avLst/>
          </a:prstGeom>
          <a:noFill/>
        </p:spPr>
        <p:txBody>
          <a:bodyPr wrap="square" rtlCol="0">
            <a:spAutoFit/>
          </a:bodyPr>
          <a:p>
            <a:r>
              <a:rPr lang="zh-CN" altLang="en-US" b="1">
                <a:latin typeface="Arial Bold" panose="020B0604020202090204" charset="0"/>
                <a:cs typeface="Arial Bold" panose="020B0604020202090204" charset="0"/>
              </a:rPr>
              <a:t>Seeds</a:t>
            </a:r>
            <a:r>
              <a:rPr lang="zh-CN" altLang="en-US"/>
              <a:t> provide initial valid or semi-valid inputs</a:t>
            </a:r>
            <a:endParaRPr lang="zh-CN" altLang="en-US"/>
          </a:p>
          <a:p>
            <a:r>
              <a:rPr lang="zh-CN" altLang="en-US"/>
              <a:t>→ Serve as starting points for fuzzing</a:t>
            </a:r>
            <a:endParaRPr lang="zh-CN" altLang="en-US"/>
          </a:p>
          <a:p>
            <a:endParaRPr lang="zh-CN" altLang="en-US"/>
          </a:p>
          <a:p>
            <a:endParaRPr lang="zh-CN" altLang="en-US"/>
          </a:p>
          <a:p>
            <a:r>
              <a:rPr lang="zh-CN" altLang="en-US" b="1">
                <a:latin typeface="Arial Bold" panose="020B0604020202090204" charset="0"/>
                <a:cs typeface="Arial Bold" panose="020B0604020202090204" charset="0"/>
              </a:rPr>
              <a:t>Corpus</a:t>
            </a:r>
            <a:r>
              <a:rPr lang="zh-CN" altLang="en-US"/>
              <a:t> stores inputs that trigger new behaviors</a:t>
            </a:r>
            <a:endParaRPr lang="zh-CN" altLang="en-US"/>
          </a:p>
          <a:p>
            <a:r>
              <a:rPr lang="zh-CN" altLang="en-US"/>
              <a:t>→ Continuously updated based on coverage feedback</a:t>
            </a:r>
            <a:endParaRPr lang="zh-CN" altLang="en-US"/>
          </a:p>
          <a:p>
            <a:endParaRPr lang="zh-CN" altLang="en-US"/>
          </a:p>
          <a:p>
            <a:endParaRPr lang="zh-CN" altLang="en-US"/>
          </a:p>
          <a:p>
            <a:r>
              <a:rPr lang="zh-CN" altLang="en-US" b="1">
                <a:latin typeface="Arial Bold" panose="020B0604020202090204" charset="0"/>
                <a:cs typeface="Arial Bold" panose="020B0604020202090204" charset="0"/>
              </a:rPr>
              <a:t>Fuzzer</a:t>
            </a:r>
            <a:r>
              <a:rPr lang="zh-CN" altLang="en-US"/>
              <a:t> mutates inputs and schedules executions</a:t>
            </a:r>
            <a:endParaRPr lang="zh-CN" altLang="en-US"/>
          </a:p>
          <a:p>
            <a:r>
              <a:rPr lang="zh-CN" altLang="en-US"/>
              <a:t>→ Guided by coverage and runtime feedback</a:t>
            </a:r>
            <a:endParaRPr lang="zh-CN" altLang="en-US"/>
          </a:p>
          <a:p>
            <a:endParaRPr lang="zh-CN" altLang="en-US"/>
          </a:p>
          <a:p>
            <a:endParaRPr lang="zh-CN" altLang="en-US"/>
          </a:p>
          <a:p>
            <a:r>
              <a:rPr lang="zh-CN" altLang="en-US" b="1">
                <a:latin typeface="Arial Bold" panose="020B0604020202090204" charset="0"/>
                <a:cs typeface="Arial Bold" panose="020B0604020202090204" charset="0"/>
              </a:rPr>
              <a:t>Fuzz Harness</a:t>
            </a:r>
            <a:r>
              <a:rPr lang="zh-CN" altLang="en-US"/>
              <a:t> connects the fuzzer to the software under test</a:t>
            </a:r>
            <a:endParaRPr lang="zh-CN" altLang="en-US"/>
          </a:p>
          <a:p>
            <a:r>
              <a:rPr lang="zh-CN" altLang="en-US"/>
              <a:t>→ Feeds inputs and observes execution behavior</a:t>
            </a:r>
            <a:endParaRPr lang="zh-CN" altLang="en-US"/>
          </a:p>
          <a:p>
            <a:endParaRPr lang="zh-CN" altLang="en-US"/>
          </a:p>
          <a:p>
            <a:endParaRPr lang="zh-CN" altLang="en-US"/>
          </a:p>
          <a:p>
            <a:r>
              <a:rPr lang="zh-CN" altLang="en-US" b="1">
                <a:latin typeface="Arial Bold" panose="020B0604020202090204" charset="0"/>
                <a:cs typeface="Arial Bold" panose="020B0604020202090204" charset="0"/>
              </a:rPr>
              <a:t>Findings</a:t>
            </a:r>
            <a:r>
              <a:rPr lang="zh-CN" altLang="en-US"/>
              <a:t> include crashes, hangs, and abnormal behaviors</a:t>
            </a:r>
            <a:endParaRPr lang="zh-CN" altLang="en-US"/>
          </a:p>
          <a:p>
            <a:r>
              <a:rPr lang="zh-CN" altLang="en-US"/>
              <a:t>→ Indicate potential bugs or vulnerabilities</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Given an input (from stdin or harness files)</a:t>
            </a:r>
            <a:endParaRPr lang="en-US"/>
          </a:p>
        </p:txBody>
      </p:sp>
      <p:sp>
        <p:nvSpPr>
          <p:cNvPr id="5" name="Title 4"/>
          <p:cNvSpPr>
            <a:spLocks noGrp="1"/>
          </p:cNvSpPr>
          <p:nvPr>
            <p:ph type="title"/>
          </p:nvPr>
        </p:nvSpPr>
        <p:spPr/>
        <p:txBody>
          <a:bodyPr/>
          <a:lstStyle/>
          <a:p>
            <a:r>
              <a:rPr lang="en-US">
                <a:sym typeface="+mn-ea"/>
              </a:rPr>
              <a:t>How code works during execution</a:t>
            </a:r>
            <a:endParaRPr lang="en-US"/>
          </a:p>
        </p:txBody>
      </p:sp>
      <p:pic>
        <p:nvPicPr>
          <p:cNvPr id="2" name="图片 1"/>
          <p:cNvPicPr>
            <a:picLocks noChangeAspect="1"/>
          </p:cNvPicPr>
          <p:nvPr/>
        </p:nvPicPr>
        <p:blipFill>
          <a:blip r:embed="rId1"/>
          <a:stretch>
            <a:fillRect/>
          </a:stretch>
        </p:blipFill>
        <p:spPr>
          <a:xfrm>
            <a:off x="382905" y="2474595"/>
            <a:ext cx="6842125" cy="2613025"/>
          </a:xfrm>
          <a:prstGeom prst="rect">
            <a:avLst/>
          </a:prstGeom>
        </p:spPr>
      </p:pic>
      <p:sp>
        <p:nvSpPr>
          <p:cNvPr id="7" name="文本框 6"/>
          <p:cNvSpPr txBox="1"/>
          <p:nvPr/>
        </p:nvSpPr>
        <p:spPr>
          <a:xfrm>
            <a:off x="7416165" y="2161540"/>
            <a:ext cx="4683760" cy="4382135"/>
          </a:xfrm>
          <a:prstGeom prst="rect">
            <a:avLst/>
          </a:prstGeom>
        </p:spPr>
        <p:txBody>
          <a:bodyPr wrap="square">
            <a:noAutofit/>
          </a:bodyPr>
          <a:p>
            <a:r>
              <a:rPr lang="en-US" altLang="zh-CN"/>
              <a:t>A harness defines the entry point for the fuzzer</a:t>
            </a:r>
            <a:endParaRPr lang="en-US" altLang="zh-CN"/>
          </a:p>
          <a:p>
            <a:endParaRPr lang="en-US" altLang="zh-CN"/>
          </a:p>
          <a:p>
            <a:endParaRPr lang="en-US" altLang="zh-CN"/>
          </a:p>
          <a:p>
            <a:r>
              <a:rPr lang="en-US" altLang="zh-CN"/>
              <a:t>It maps raw fuzzer input to meaningful program inputs</a:t>
            </a:r>
            <a:endParaRPr lang="en-US" altLang="zh-CN"/>
          </a:p>
          <a:p>
            <a:r>
              <a:rPr lang="en-US" altLang="zh-CN"/>
              <a:t> → data and size are interpreted as file contents</a:t>
            </a:r>
            <a:endParaRPr lang="en-US" altLang="zh-CN"/>
          </a:p>
          <a:p>
            <a:endParaRPr lang="en-US" altLang="zh-CN"/>
          </a:p>
          <a:p>
            <a:endParaRPr lang="en-US" altLang="zh-CN"/>
          </a:p>
          <a:p>
            <a:r>
              <a:rPr lang="en-US" altLang="zh-CN"/>
              <a:t>It invokes a specific target API or function</a:t>
            </a:r>
            <a:endParaRPr lang="en-US" altLang="zh-CN"/>
          </a:p>
          <a:p>
            <a:r>
              <a:rPr lang="en-US" altLang="zh-CN"/>
              <a:t> → mz_zip_add_mem_to_archive_file_in_place(...)</a:t>
            </a:r>
            <a:endParaRPr lang="en-US" altLang="zh-CN"/>
          </a:p>
          <a:p>
            <a:endParaRPr lang="en-US" altLang="zh-CN"/>
          </a:p>
          <a:p>
            <a:endParaRPr lang="en-US" altLang="zh-CN"/>
          </a:p>
          <a:p>
            <a:r>
              <a:rPr lang="en-US" altLang="zh-CN"/>
              <a:t>It isolates the test logic from the rest of the application</a:t>
            </a:r>
            <a:endParaRPr lang="en-US" altLang="zh-CN"/>
          </a:p>
          <a:p>
            <a:r>
              <a:rPr lang="en-US" altLang="zh-CN"/>
              <a:t> → No CLI parsing, no full program execution</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584315"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https://stackoverflow.com/questions/517589/tools-to-get-a-pictorial-function-call-graph-of-code</a:t>
            </a:r>
            <a:endParaRPr sz="1000"/>
          </a:p>
        </p:txBody>
      </p:sp>
      <p:sp>
        <p:nvSpPr>
          <p:cNvPr id="3" name="Text Placeholder 2"/>
          <p:cNvSpPr>
            <a:spLocks noGrp="1"/>
          </p:cNvSpPr>
          <p:nvPr>
            <p:ph type="body" idx="1"/>
          </p:nvPr>
        </p:nvSpPr>
        <p:spPr/>
        <p:txBody>
          <a:bodyPr>
            <a:normAutofit fontScale="40000"/>
          </a:bodyPr>
          <a:lstStyle/>
          <a:p>
            <a:r>
              <a:rPr lang="en-US" sz="4000"/>
              <a:t>Given an input (from stdin or harness files)</a:t>
            </a:r>
            <a:endParaRPr lang="en-US" sz="4000"/>
          </a:p>
          <a:p>
            <a:r>
              <a:rPr lang="en-US" sz="4000"/>
              <a:t>Run </a:t>
            </a:r>
            <a:r>
              <a:rPr lang="en-US" sz="4000">
                <a:solidFill>
                  <a:srgbClr val="FF0000"/>
                </a:solidFill>
              </a:rPr>
              <a:t>ONE </a:t>
            </a:r>
            <a:r>
              <a:rPr lang="en-US" sz="4000">
                <a:solidFill>
                  <a:schemeClr val="tx1"/>
                </a:solidFill>
              </a:rPr>
              <a:t>path from main() to somewhere</a:t>
            </a:r>
            <a:endParaRPr lang="en-US" sz="4000">
              <a:solidFill>
                <a:schemeClr val="tx1"/>
              </a:solidFill>
            </a:endParaRPr>
          </a:p>
          <a:p>
            <a:pPr marL="114300" indent="457200">
              <a:buNone/>
            </a:pPr>
            <a:r>
              <a:rPr lang="en-US" sz="4000">
                <a:solidFill>
                  <a:schemeClr val="tx1"/>
                </a:solidFill>
                <a:latin typeface="Verdana" panose="020B0804030504040204" charset="0"/>
                <a:cs typeface="Verdana" panose="020B0804030504040204" charset="0"/>
              </a:rPr>
              <a:t>-- call graph</a:t>
            </a:r>
            <a:endParaRPr lang="en-US" sz="4000">
              <a:solidFill>
                <a:schemeClr val="tx1"/>
              </a:solidFill>
              <a:latin typeface="Verdana" panose="020B0804030504040204" charset="0"/>
              <a:cs typeface="Verdana" panose="020B0804030504040204" charset="0"/>
            </a:endParaRPr>
          </a:p>
          <a:p>
            <a:pPr marL="114300" indent="457200">
              <a:buNone/>
            </a:pPr>
            <a:r>
              <a:rPr lang="en-US">
                <a:solidFill>
                  <a:schemeClr val="tx1"/>
                </a:solidFill>
              </a:rPr>
              <a:t>Nodes represent functions</a:t>
            </a:r>
            <a:endParaRPr lang="en-US">
              <a:solidFill>
                <a:schemeClr val="tx1"/>
              </a:solidFill>
            </a:endParaRPr>
          </a:p>
          <a:p>
            <a:pPr marL="114300" indent="457200">
              <a:buNone/>
            </a:pPr>
            <a:r>
              <a:rPr lang="en-US">
                <a:solidFill>
                  <a:schemeClr val="tx1"/>
                </a:solidFill>
              </a:rPr>
              <a:t>→ _start, main, f0, f1, f2</a:t>
            </a:r>
            <a:endParaRPr lang="en-US">
              <a:solidFill>
                <a:schemeClr val="tx1"/>
              </a:solidFill>
            </a:endParaRPr>
          </a:p>
          <a:p>
            <a:pPr marL="114300" indent="457200">
              <a:buNone/>
            </a:pPr>
            <a:endParaRPr lang="en-US">
              <a:solidFill>
                <a:schemeClr val="tx1"/>
              </a:solidFill>
            </a:endParaRPr>
          </a:p>
          <a:p>
            <a:pPr marL="114300" indent="457200">
              <a:buNone/>
            </a:pPr>
            <a:r>
              <a:rPr lang="en-US">
                <a:solidFill>
                  <a:schemeClr val="tx1"/>
                </a:solidFill>
              </a:rPr>
              <a:t>Edges represent function calls</a:t>
            </a:r>
            <a:endParaRPr lang="en-US">
              <a:solidFill>
                <a:schemeClr val="tx1"/>
              </a:solidFill>
            </a:endParaRPr>
          </a:p>
          <a:p>
            <a:pPr marL="114300" indent="457200">
              <a:buNone/>
            </a:pPr>
            <a:r>
              <a:rPr lang="en-US">
                <a:solidFill>
                  <a:schemeClr val="tx1"/>
                </a:solidFill>
              </a:rPr>
              <a:t>→ An edge means “this function may call that function”</a:t>
            </a:r>
            <a:endParaRPr lang="en-US">
              <a:solidFill>
                <a:schemeClr val="tx1"/>
              </a:solidFill>
            </a:endParaRPr>
          </a:p>
          <a:p>
            <a:pPr marL="114300" indent="457200">
              <a:buNone/>
            </a:pPr>
            <a:endParaRPr lang="en-US">
              <a:solidFill>
                <a:schemeClr val="tx1"/>
              </a:solidFill>
            </a:endParaRPr>
          </a:p>
          <a:p>
            <a:pPr marL="114300" indent="457200">
              <a:buNone/>
            </a:pPr>
            <a:r>
              <a:rPr lang="en-US">
                <a:solidFill>
                  <a:schemeClr val="tx1"/>
                </a:solidFill>
              </a:rPr>
              <a:t>Edge labels show call frequency</a:t>
            </a:r>
            <a:endParaRPr lang="en-US">
              <a:solidFill>
                <a:schemeClr val="tx1"/>
              </a:solidFill>
            </a:endParaRPr>
          </a:p>
          <a:p>
            <a:pPr marL="114300" indent="457200">
              <a:buNone/>
            </a:pPr>
            <a:r>
              <a:rPr lang="en-US">
                <a:solidFill>
                  <a:schemeClr val="tx1"/>
                </a:solidFill>
              </a:rPr>
              <a:t>→ 1×, 2× indicate how many times the call happened</a:t>
            </a:r>
            <a:endParaRPr lang="en-US">
              <a:solidFill>
                <a:schemeClr val="tx1"/>
              </a:solidFill>
            </a:endParaRPr>
          </a:p>
          <a:p>
            <a:pPr marL="114300" indent="457200">
              <a:buNone/>
            </a:pPr>
            <a:endParaRPr lang="en-US">
              <a:solidFill>
                <a:schemeClr val="tx1"/>
              </a:solidFill>
            </a:endParaRPr>
          </a:p>
          <a:p>
            <a:pPr marL="114300" indent="457200">
              <a:buNone/>
            </a:pPr>
            <a:r>
              <a:rPr lang="en-US">
                <a:solidFill>
                  <a:schemeClr val="tx1"/>
                </a:solidFill>
              </a:rPr>
              <a:t>Coverage/color reflects execution frequency or time</a:t>
            </a:r>
            <a:endParaRPr lang="en-US">
              <a:solidFill>
                <a:schemeClr val="tx1"/>
              </a:solidFill>
            </a:endParaRPr>
          </a:p>
          <a:p>
            <a:pPr marL="114300" indent="457200">
              <a:buNone/>
            </a:pPr>
            <a:r>
              <a:rPr lang="en-US">
                <a:solidFill>
                  <a:schemeClr val="tx1"/>
                </a:solidFill>
              </a:rPr>
              <a:t>→ Helps identify hot and cold functions</a:t>
            </a:r>
            <a:endParaRPr lang="en-US">
              <a:solidFill>
                <a:schemeClr val="tx1"/>
              </a:solidFill>
            </a:endParaRPr>
          </a:p>
        </p:txBody>
      </p:sp>
      <p:sp>
        <p:nvSpPr>
          <p:cNvPr id="5" name="Title 4"/>
          <p:cNvSpPr>
            <a:spLocks noGrp="1"/>
          </p:cNvSpPr>
          <p:nvPr>
            <p:ph type="title"/>
          </p:nvPr>
        </p:nvSpPr>
        <p:spPr/>
        <p:txBody>
          <a:bodyPr/>
          <a:lstStyle/>
          <a:p>
            <a:r>
              <a:rPr lang="en-US">
                <a:sym typeface="+mn-ea"/>
              </a:rPr>
              <a:t>How code works during execution</a:t>
            </a:r>
            <a:endParaRPr lang="en-US"/>
          </a:p>
        </p:txBody>
      </p:sp>
      <p:pic>
        <p:nvPicPr>
          <p:cNvPr id="7" name="图片 6" descr="9261766353571_.pic"/>
          <p:cNvPicPr>
            <a:picLocks noChangeAspect="1"/>
          </p:cNvPicPr>
          <p:nvPr/>
        </p:nvPicPr>
        <p:blipFill>
          <a:blip r:embed="rId1"/>
          <a:stretch>
            <a:fillRect/>
          </a:stretch>
        </p:blipFill>
        <p:spPr>
          <a:xfrm>
            <a:off x="7493000" y="1459230"/>
            <a:ext cx="2203450" cy="47764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584315"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https://en.wikipedia.org/wiki/Control-flow_graph#/media/File:Rust_MIR_CFG.svg</a:t>
            </a:r>
            <a:endParaRPr sz="1000"/>
          </a:p>
        </p:txBody>
      </p:sp>
      <p:sp>
        <p:nvSpPr>
          <p:cNvPr id="3" name="Text Placeholder 2"/>
          <p:cNvSpPr>
            <a:spLocks noGrp="1"/>
          </p:cNvSpPr>
          <p:nvPr>
            <p:ph type="body" idx="1"/>
          </p:nvPr>
        </p:nvSpPr>
        <p:spPr/>
        <p:txBody>
          <a:bodyPr>
            <a:normAutofit fontScale="50000"/>
          </a:bodyPr>
          <a:lstStyle/>
          <a:p>
            <a:r>
              <a:rPr lang="en-US" sz="4000"/>
              <a:t>Given an input (from stdin or harness files)</a:t>
            </a:r>
            <a:endParaRPr lang="en-US" sz="4000"/>
          </a:p>
          <a:p>
            <a:r>
              <a:rPr lang="en-US" sz="4000"/>
              <a:t>Run ONE path from main() to somewhere</a:t>
            </a:r>
            <a:endParaRPr lang="en-US" sz="4000"/>
          </a:p>
          <a:p>
            <a:pPr marL="114300" indent="457200">
              <a:buNone/>
            </a:pPr>
            <a:r>
              <a:rPr lang="en-US" sz="4000"/>
              <a:t>-- control flow graph</a:t>
            </a:r>
            <a:endParaRPr lang="en-US">
              <a:solidFill>
                <a:schemeClr val="tx1"/>
              </a:solidFill>
            </a:endParaRPr>
          </a:p>
          <a:p>
            <a:pPr marL="114300" indent="457200">
              <a:buNone/>
            </a:pPr>
            <a:r>
              <a:rPr lang="en-US">
                <a:solidFill>
                  <a:schemeClr val="tx1"/>
                </a:solidFill>
              </a:rPr>
              <a:t>A CFG models execution flow inside a single function</a:t>
            </a:r>
            <a:endParaRPr lang="en-US">
              <a:solidFill>
                <a:schemeClr val="tx1"/>
              </a:solidFill>
            </a:endParaRPr>
          </a:p>
          <a:p>
            <a:pPr marL="114300" indent="457200">
              <a:buNone/>
            </a:pPr>
            <a:endParaRPr lang="en-US">
              <a:solidFill>
                <a:schemeClr val="tx1"/>
              </a:solidFill>
            </a:endParaRPr>
          </a:p>
          <a:p>
            <a:pPr marL="114300" indent="457200">
              <a:buNone/>
            </a:pPr>
            <a:r>
              <a:rPr lang="en-US">
                <a:solidFill>
                  <a:schemeClr val="tx1"/>
                </a:solidFill>
              </a:rPr>
              <a:t>Nodes are Basic Blocks (BBs)</a:t>
            </a:r>
            <a:endParaRPr lang="en-US">
              <a:solidFill>
                <a:schemeClr val="tx1"/>
              </a:solidFill>
            </a:endParaRPr>
          </a:p>
          <a:p>
            <a:pPr marL="114300" indent="457200">
              <a:buNone/>
            </a:pPr>
            <a:r>
              <a:rPr lang="en-US">
                <a:solidFill>
                  <a:schemeClr val="tx1"/>
                </a:solidFill>
              </a:rPr>
              <a:t>→ Straight-line code with one entry and one exit</a:t>
            </a:r>
            <a:endParaRPr lang="en-US">
              <a:solidFill>
                <a:schemeClr val="tx1"/>
              </a:solidFill>
            </a:endParaRPr>
          </a:p>
          <a:p>
            <a:pPr marL="114300" indent="457200">
              <a:buNone/>
            </a:pPr>
            <a:endParaRPr lang="en-US">
              <a:solidFill>
                <a:schemeClr val="tx1"/>
              </a:solidFill>
            </a:endParaRPr>
          </a:p>
          <a:p>
            <a:pPr marL="114300" indent="457200">
              <a:buNone/>
            </a:pPr>
            <a:r>
              <a:rPr lang="en-US">
                <a:solidFill>
                  <a:schemeClr val="tx1"/>
                </a:solidFill>
              </a:rPr>
              <a:t>Edges represent possible control transfers</a:t>
            </a:r>
            <a:endParaRPr lang="en-US">
              <a:solidFill>
                <a:schemeClr val="tx1"/>
              </a:solidFill>
            </a:endParaRPr>
          </a:p>
          <a:p>
            <a:pPr marL="114300" indent="457200">
              <a:buNone/>
            </a:pPr>
            <a:r>
              <a:rPr lang="en-US">
                <a:solidFill>
                  <a:schemeClr val="tx1"/>
                </a:solidFill>
              </a:rPr>
              <a:t>→ if, else, switch, goto, return</a:t>
            </a:r>
            <a:endParaRPr lang="en-US">
              <a:solidFill>
                <a:schemeClr val="tx1"/>
              </a:solidFill>
            </a:endParaRPr>
          </a:p>
          <a:p>
            <a:pPr marL="114300" indent="457200">
              <a:buNone/>
            </a:pPr>
            <a:endParaRPr lang="en-US">
              <a:solidFill>
                <a:schemeClr val="tx1"/>
              </a:solidFill>
            </a:endParaRPr>
          </a:p>
          <a:p>
            <a:pPr marL="114300" indent="457200">
              <a:buNone/>
            </a:pPr>
            <a:r>
              <a:rPr lang="en-US">
                <a:solidFill>
                  <a:schemeClr val="tx1"/>
                </a:solidFill>
              </a:rPr>
              <a:t>Branching splits execution into multiple paths</a:t>
            </a:r>
            <a:endParaRPr lang="en-US">
              <a:solidFill>
                <a:schemeClr val="tx1"/>
              </a:solidFill>
            </a:endParaRPr>
          </a:p>
          <a:p>
            <a:pPr marL="114300" indent="457200">
              <a:buNone/>
            </a:pPr>
            <a:r>
              <a:rPr lang="en-US">
                <a:solidFill>
                  <a:schemeClr val="tx1"/>
                </a:solidFill>
              </a:rPr>
              <a:t>→ Only one path is taken per execution</a:t>
            </a:r>
            <a:endParaRPr lang="en-US">
              <a:solidFill>
                <a:schemeClr val="tx1"/>
              </a:solidFill>
            </a:endParaRPr>
          </a:p>
        </p:txBody>
      </p:sp>
      <p:sp>
        <p:nvSpPr>
          <p:cNvPr id="5" name="Title 4"/>
          <p:cNvSpPr>
            <a:spLocks noGrp="1"/>
          </p:cNvSpPr>
          <p:nvPr>
            <p:ph type="title"/>
          </p:nvPr>
        </p:nvSpPr>
        <p:spPr/>
        <p:txBody>
          <a:bodyPr/>
          <a:lstStyle/>
          <a:p>
            <a:r>
              <a:rPr lang="en-US">
                <a:sym typeface="+mn-ea"/>
              </a:rPr>
              <a:t>How code works during execution</a:t>
            </a:r>
            <a:endParaRPr lang="en-US"/>
          </a:p>
        </p:txBody>
      </p:sp>
      <p:pic>
        <p:nvPicPr>
          <p:cNvPr id="2" name="图片 1" descr="9281766354108_.pic"/>
          <p:cNvPicPr>
            <a:picLocks noChangeAspect="1"/>
          </p:cNvPicPr>
          <p:nvPr/>
        </p:nvPicPr>
        <p:blipFill>
          <a:blip r:embed="rId1"/>
          <a:stretch>
            <a:fillRect/>
          </a:stretch>
        </p:blipFill>
        <p:spPr>
          <a:xfrm>
            <a:off x="7193915" y="1322705"/>
            <a:ext cx="3239135" cy="48494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388100"/>
            <a:ext cx="8247380" cy="3175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https://medium.com/@xianpeng.shen/use-gcov-and-lcov-to-perform-code-coverage-testing-for-c-c-projects-c85708b91c78</a:t>
            </a:r>
            <a:endParaRPr sz="1000"/>
          </a:p>
        </p:txBody>
      </p:sp>
      <p:sp>
        <p:nvSpPr>
          <p:cNvPr id="3" name="Text Placeholder 2"/>
          <p:cNvSpPr>
            <a:spLocks noGrp="1"/>
          </p:cNvSpPr>
          <p:nvPr>
            <p:ph type="body" idx="1"/>
          </p:nvPr>
        </p:nvSpPr>
        <p:spPr/>
        <p:txBody>
          <a:bodyPr/>
          <a:lstStyle/>
          <a:p>
            <a:r>
              <a:rPr lang="en-US"/>
              <a:t>Code coverage</a:t>
            </a:r>
            <a:endParaRPr lang="en-US"/>
          </a:p>
        </p:txBody>
      </p:sp>
      <p:sp>
        <p:nvSpPr>
          <p:cNvPr id="5" name="Title 4"/>
          <p:cNvSpPr>
            <a:spLocks noGrp="1"/>
          </p:cNvSpPr>
          <p:nvPr>
            <p:ph type="title"/>
          </p:nvPr>
        </p:nvSpPr>
        <p:spPr/>
        <p:txBody>
          <a:bodyPr/>
          <a:lstStyle/>
          <a:p>
            <a:r>
              <a:rPr lang="en-US">
                <a:sym typeface="+mn-ea"/>
              </a:rPr>
              <a:t>Why dynamic detection method as fuzzing matters</a:t>
            </a:r>
            <a:endParaRPr lang="en-US"/>
          </a:p>
        </p:txBody>
      </p:sp>
      <p:pic>
        <p:nvPicPr>
          <p:cNvPr id="2" name="图片 1"/>
          <p:cNvPicPr/>
          <p:nvPr/>
        </p:nvPicPr>
        <p:blipFill>
          <a:blip r:embed="rId1"/>
        </p:blipFill>
        <p:spPr>
          <a:xfrm>
            <a:off x="3531235" y="1373505"/>
            <a:ext cx="3262630" cy="1502410"/>
          </a:xfrm>
          <a:prstGeom prst="rect">
            <a:avLst/>
          </a:prstGeom>
        </p:spPr>
      </p:pic>
      <p:pic>
        <p:nvPicPr>
          <p:cNvPr id="4" name="图片 3"/>
          <p:cNvPicPr/>
          <p:nvPr/>
        </p:nvPicPr>
        <p:blipFill>
          <a:blip r:embed="rId2"/>
        </p:blipFill>
        <p:spPr>
          <a:xfrm>
            <a:off x="609600" y="3098165"/>
            <a:ext cx="6184265" cy="2121535"/>
          </a:xfrm>
          <a:prstGeom prst="rect">
            <a:avLst/>
          </a:prstGeom>
        </p:spPr>
      </p:pic>
      <p:sp>
        <p:nvSpPr>
          <p:cNvPr id="6" name="文本框 5"/>
          <p:cNvSpPr txBox="1"/>
          <p:nvPr/>
        </p:nvSpPr>
        <p:spPr>
          <a:xfrm>
            <a:off x="7009765" y="1783715"/>
            <a:ext cx="5182235" cy="4749800"/>
          </a:xfrm>
          <a:prstGeom prst="rect">
            <a:avLst/>
          </a:prstGeom>
        </p:spPr>
        <p:txBody>
          <a:bodyPr>
            <a:noAutofit/>
          </a:bodyPr>
          <a:p>
            <a:r>
              <a:rPr lang="en-US" altLang="zh-CN" sz="1600"/>
              <a:t>Source code is compiled with coverage instrumentation</a:t>
            </a:r>
            <a:endParaRPr lang="en-US" altLang="zh-CN" sz="1600"/>
          </a:p>
          <a:p>
            <a:r>
              <a:rPr lang="en-US" altLang="zh-CN" sz="1600"/>
              <a:t> → GCC inserts counters into the program</a:t>
            </a:r>
            <a:endParaRPr lang="en-US" altLang="zh-CN" sz="1600"/>
          </a:p>
          <a:p>
            <a:endParaRPr lang="en-US" altLang="zh-CN" sz="1600"/>
          </a:p>
          <a:p>
            <a:endParaRPr lang="en-US" altLang="zh-CN" sz="1600"/>
          </a:p>
          <a:p>
            <a:r>
              <a:rPr lang="en-US" altLang="zh-CN" sz="1600"/>
              <a:t>Compilation produces a static structure file (.gcno)</a:t>
            </a:r>
            <a:endParaRPr lang="en-US" altLang="zh-CN" sz="1600"/>
          </a:p>
          <a:p>
            <a:r>
              <a:rPr lang="en-US" altLang="zh-CN" sz="1600"/>
              <a:t> → Describes the program’s control-flow structure</a:t>
            </a:r>
            <a:endParaRPr lang="en-US" altLang="zh-CN" sz="1600"/>
          </a:p>
          <a:p>
            <a:endParaRPr lang="en-US" altLang="zh-CN" sz="1600"/>
          </a:p>
          <a:p>
            <a:endParaRPr lang="en-US" altLang="zh-CN" sz="1600"/>
          </a:p>
          <a:p>
            <a:r>
              <a:rPr lang="en-US" altLang="zh-CN" sz="1600"/>
              <a:t>Program execution produces runtime data (.gcda)</a:t>
            </a:r>
            <a:endParaRPr lang="en-US" altLang="zh-CN" sz="1600"/>
          </a:p>
          <a:p>
            <a:r>
              <a:rPr lang="en-US" altLang="zh-CN" sz="1600"/>
              <a:t> → Records which parts of the code actually ran</a:t>
            </a:r>
            <a:endParaRPr lang="en-US" altLang="zh-CN" sz="1600"/>
          </a:p>
          <a:p>
            <a:endParaRPr lang="en-US" altLang="zh-CN" sz="1600"/>
          </a:p>
          <a:p>
            <a:endParaRPr lang="en-US" altLang="zh-CN" sz="1600"/>
          </a:p>
          <a:p>
            <a:r>
              <a:rPr lang="en-US" altLang="zh-CN" sz="1600"/>
              <a:t>gcov processes both files to generate coverage data</a:t>
            </a:r>
            <a:endParaRPr lang="en-US" altLang="zh-CN" sz="1600"/>
          </a:p>
          <a:p>
            <a:r>
              <a:rPr lang="en-US" altLang="zh-CN" sz="1600"/>
              <a:t> → Used to build human-readable reports</a:t>
            </a:r>
            <a:endParaRPr lang="en-US" altLang="zh-CN"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Code coverage</a:t>
            </a:r>
            <a:endParaRPr lang="en-US"/>
          </a:p>
          <a:p>
            <a:r>
              <a:rPr lang="en-US"/>
              <a:t>Seed</a:t>
            </a:r>
            <a:endParaRPr lang="en-US"/>
          </a:p>
          <a:p>
            <a:pPr marL="114300" indent="457200">
              <a:buNone/>
            </a:pPr>
            <a:r>
              <a:rPr lang="en-US"/>
              <a:t>-- a file (json, xml, ...)</a:t>
            </a:r>
            <a:endParaRPr lang="en-US"/>
          </a:p>
          <a:p>
            <a:pPr marL="114300" indent="457200">
              <a:buNone/>
            </a:pPr>
            <a:r>
              <a:rPr lang="en-US" altLang="zh-CN"/>
              <a:t>-- a string </a:t>
            </a:r>
            <a:endParaRPr lang="en-US" altLang="zh-CN"/>
          </a:p>
          <a:p>
            <a:pPr marL="114300" indent="457200">
              <a:buNone/>
            </a:pPr>
            <a:r>
              <a:rPr lang="en-US" altLang="zh-CN"/>
              <a:t>-- a number</a:t>
            </a:r>
            <a:endParaRPr lang="en-US" altLang="zh-CN"/>
          </a:p>
          <a:p>
            <a:pPr marL="114300" indent="457200">
              <a:buNone/>
            </a:pPr>
            <a:r>
              <a:rPr lang="en-US" altLang="zh-CN"/>
              <a:t>-- sometimes non-readable</a:t>
            </a:r>
            <a:endParaRPr lang="en-US" altLang="zh-CN"/>
          </a:p>
        </p:txBody>
      </p:sp>
      <p:sp>
        <p:nvSpPr>
          <p:cNvPr id="5" name="Title 4"/>
          <p:cNvSpPr>
            <a:spLocks noGrp="1"/>
          </p:cNvSpPr>
          <p:nvPr>
            <p:ph type="title"/>
          </p:nvPr>
        </p:nvSpPr>
        <p:spPr/>
        <p:txBody>
          <a:bodyPr/>
          <a:lstStyle/>
          <a:p>
            <a:r>
              <a:rPr lang="en-US">
                <a:sym typeface="+mn-ea"/>
              </a:rPr>
              <a:t>Why dynamic detection method as fuzzing matters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https://www.fuzzingbook.org/html/MutationFuzzer.html</a:t>
            </a:r>
            <a:endParaRPr sz="1000"/>
          </a:p>
        </p:txBody>
      </p:sp>
      <p:sp>
        <p:nvSpPr>
          <p:cNvPr id="3" name="Text Placeholder 2"/>
          <p:cNvSpPr>
            <a:spLocks noGrp="1"/>
          </p:cNvSpPr>
          <p:nvPr>
            <p:ph type="body" idx="1"/>
          </p:nvPr>
        </p:nvSpPr>
        <p:spPr/>
        <p:txBody>
          <a:bodyPr/>
          <a:lstStyle/>
          <a:p>
            <a:r>
              <a:rPr lang="en-US"/>
              <a:t>Code coverage</a:t>
            </a:r>
            <a:endParaRPr lang="en-US"/>
          </a:p>
          <a:p>
            <a:r>
              <a:rPr lang="en-US"/>
              <a:t>Seed</a:t>
            </a:r>
            <a:endParaRPr lang="en-US"/>
          </a:p>
          <a:p>
            <a:r>
              <a:rPr lang="en-US"/>
              <a:t>Scheduling(</a:t>
            </a:r>
            <a:r>
              <a:rPr lang="en-US" altLang="zh-CN">
                <a:ea typeface="宋体" charset="0"/>
              </a:rPr>
              <a:t>mutation)</a:t>
            </a:r>
            <a:endParaRPr lang="en-US" altLang="zh-CN">
              <a:ea typeface="宋体" charset="0"/>
            </a:endParaRPr>
          </a:p>
          <a:p>
            <a:pPr marL="114300" indent="457200">
              <a:buNone/>
            </a:pPr>
            <a:r>
              <a:rPr lang="en-US" altLang="zh-CN">
                <a:ea typeface="宋体" charset="0"/>
              </a:rPr>
              <a:t>-- byte level</a:t>
            </a:r>
            <a:endParaRPr lang="en-US" altLang="zh-CN">
              <a:ea typeface="宋体" charset="0"/>
            </a:endParaRPr>
          </a:p>
          <a:p>
            <a:pPr marL="114300" indent="457200">
              <a:buNone/>
            </a:pPr>
            <a:r>
              <a:rPr lang="en-US" altLang="zh-CN">
                <a:ea typeface="宋体" charset="0"/>
              </a:rPr>
              <a:t>-- token level</a:t>
            </a:r>
            <a:endParaRPr lang="en-US" altLang="zh-CN">
              <a:ea typeface="宋体" charset="0"/>
            </a:endParaRPr>
          </a:p>
          <a:p>
            <a:pPr marL="114300" indent="457200">
              <a:buNone/>
            </a:pPr>
            <a:r>
              <a:rPr lang="en-US" altLang="zh-CN">
                <a:ea typeface="宋体" charset="0"/>
              </a:rPr>
              <a:t>-- structure level</a:t>
            </a:r>
            <a:endParaRPr lang="en-US" altLang="zh-CN">
              <a:ea typeface="宋体" charset="0"/>
            </a:endParaRPr>
          </a:p>
          <a:p>
            <a:pPr marL="114300" indent="457200">
              <a:buNone/>
            </a:pPr>
            <a:r>
              <a:rPr lang="en-US" altLang="zh-CN">
                <a:ea typeface="宋体" charset="0"/>
              </a:rPr>
              <a:t>-- gramar based</a:t>
            </a:r>
            <a:endParaRPr lang="en-US" altLang="zh-CN">
              <a:ea typeface="宋体" charset="0"/>
            </a:endParaRPr>
          </a:p>
          <a:p>
            <a:pPr marL="114300" indent="457200">
              <a:buNone/>
            </a:pPr>
            <a:r>
              <a:rPr lang="en-US" altLang="zh-CN">
                <a:ea typeface="宋体" charset="0"/>
              </a:rPr>
              <a:t>-- semantic mutation</a:t>
            </a:r>
            <a:endParaRPr lang="en-US" altLang="zh-CN">
              <a:ea typeface="宋体" charset="0"/>
            </a:endParaRPr>
          </a:p>
        </p:txBody>
      </p:sp>
      <p:sp>
        <p:nvSpPr>
          <p:cNvPr id="5" name="Title 4"/>
          <p:cNvSpPr>
            <a:spLocks noGrp="1"/>
          </p:cNvSpPr>
          <p:nvPr>
            <p:ph type="title"/>
          </p:nvPr>
        </p:nvSpPr>
        <p:spPr/>
        <p:txBody>
          <a:bodyPr/>
          <a:lstStyle/>
          <a:p>
            <a:r>
              <a:rPr lang="en-US">
                <a:sym typeface="+mn-ea"/>
              </a:rPr>
              <a:t>Why dynamic detection method as fuzzing matters</a:t>
            </a:r>
            <a:endParaRPr lang="en-US"/>
          </a:p>
        </p:txBody>
      </p:sp>
      <p:pic>
        <p:nvPicPr>
          <p:cNvPr id="2" name="图片 1"/>
          <p:cNvPicPr>
            <a:picLocks noChangeAspect="1"/>
          </p:cNvPicPr>
          <p:nvPr/>
        </p:nvPicPr>
        <p:blipFill>
          <a:blip r:embed="rId1"/>
          <a:stretch>
            <a:fillRect/>
          </a:stretch>
        </p:blipFill>
        <p:spPr>
          <a:xfrm>
            <a:off x="5440045" y="1524000"/>
            <a:ext cx="2738120" cy="2302510"/>
          </a:xfrm>
          <a:prstGeom prst="rect">
            <a:avLst/>
          </a:prstGeom>
        </p:spPr>
      </p:pic>
      <p:pic>
        <p:nvPicPr>
          <p:cNvPr id="4" name="图片 3"/>
          <p:cNvPicPr>
            <a:picLocks noChangeAspect="1"/>
          </p:cNvPicPr>
          <p:nvPr/>
        </p:nvPicPr>
        <p:blipFill>
          <a:blip r:embed="rId2"/>
          <a:stretch>
            <a:fillRect/>
          </a:stretch>
        </p:blipFill>
        <p:spPr>
          <a:xfrm>
            <a:off x="5365115" y="4097655"/>
            <a:ext cx="4800600" cy="1809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sz="1000"/>
              <a:t>https://arxiv.org/pdf/2308.04748</a:t>
            </a:r>
            <a:endParaRPr sz="1000"/>
          </a:p>
        </p:txBody>
      </p:sp>
      <p:sp>
        <p:nvSpPr>
          <p:cNvPr id="5" name="Title 4"/>
          <p:cNvSpPr>
            <a:spLocks noGrp="1"/>
          </p:cNvSpPr>
          <p:nvPr>
            <p:ph type="title"/>
          </p:nvPr>
        </p:nvSpPr>
        <p:spPr/>
        <p:txBody>
          <a:bodyPr/>
          <a:lstStyle/>
          <a:p>
            <a:r>
              <a:rPr lang="en-US">
                <a:sym typeface="+mn-ea"/>
              </a:rPr>
              <a:t>How LLMs helps fuzzing</a:t>
            </a:r>
            <a:endParaRPr lang="en-US"/>
          </a:p>
        </p:txBody>
      </p:sp>
      <p:pic>
        <p:nvPicPr>
          <p:cNvPr id="4" name="图片 3"/>
          <p:cNvPicPr>
            <a:picLocks noChangeAspect="1"/>
          </p:cNvPicPr>
          <p:nvPr/>
        </p:nvPicPr>
        <p:blipFill>
          <a:blip r:embed="rId1"/>
          <a:stretch>
            <a:fillRect/>
          </a:stretch>
        </p:blipFill>
        <p:spPr>
          <a:xfrm>
            <a:off x="749300" y="1356360"/>
            <a:ext cx="10915650" cy="48387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4" name="Google Shape;94;p5"/>
          <p:cNvSpPr txBox="1">
            <a:spLocks noGrp="1"/>
          </p:cNvSpPr>
          <p:nvPr>
            <p:ph type="ftr" idx="11"/>
          </p:nvPr>
        </p:nvSpPr>
        <p:spPr>
          <a:xfrm>
            <a:off x="609600" y="6400800"/>
            <a:ext cx="6807200" cy="30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 name="Text Placeholder 2"/>
          <p:cNvSpPr>
            <a:spLocks noGrp="1"/>
          </p:cNvSpPr>
          <p:nvPr>
            <p:ph type="body" idx="1"/>
          </p:nvPr>
        </p:nvSpPr>
        <p:spPr/>
        <p:txBody>
          <a:bodyPr/>
          <a:lstStyle/>
          <a:p>
            <a:r>
              <a:rPr lang="en-US"/>
              <a:t>OSS-Fuzz-gen</a:t>
            </a:r>
            <a:endParaRPr lang="en-US"/>
          </a:p>
          <a:p>
            <a:endParaRPr lang="zh-CN" altLang="en-US">
              <a:ea typeface="宋体" charset="0"/>
            </a:endParaRPr>
          </a:p>
        </p:txBody>
      </p:sp>
      <p:sp>
        <p:nvSpPr>
          <p:cNvPr id="5" name="Title 4"/>
          <p:cNvSpPr>
            <a:spLocks noGrp="1"/>
          </p:cNvSpPr>
          <p:nvPr>
            <p:ph type="title"/>
          </p:nvPr>
        </p:nvSpPr>
        <p:spPr/>
        <p:txBody>
          <a:bodyPr/>
          <a:lstStyle/>
          <a:p>
            <a:r>
              <a:rPr lang="en-US">
                <a:sym typeface="+mn-ea"/>
              </a:rPr>
              <a:t>Hands on experiments</a:t>
            </a:r>
            <a:endParaRPr lang="en-US"/>
          </a:p>
        </p:txBody>
      </p:sp>
      <p:pic>
        <p:nvPicPr>
          <p:cNvPr id="6" name="图片 5"/>
          <p:cNvPicPr>
            <a:picLocks noChangeAspect="1"/>
          </p:cNvPicPr>
          <p:nvPr/>
        </p:nvPicPr>
        <p:blipFill>
          <a:blip r:embed="rId1"/>
          <a:stretch>
            <a:fillRect/>
          </a:stretch>
        </p:blipFill>
        <p:spPr>
          <a:xfrm>
            <a:off x="609600" y="2177415"/>
            <a:ext cx="3631565" cy="3342005"/>
          </a:xfrm>
          <a:prstGeom prst="rect">
            <a:avLst/>
          </a:prstGeom>
        </p:spPr>
      </p:pic>
      <p:pic>
        <p:nvPicPr>
          <p:cNvPr id="7" name="图片 6"/>
          <p:cNvPicPr>
            <a:picLocks noChangeAspect="1"/>
          </p:cNvPicPr>
          <p:nvPr/>
        </p:nvPicPr>
        <p:blipFill>
          <a:blip r:embed="rId2"/>
          <a:stretch>
            <a:fillRect/>
          </a:stretch>
        </p:blipFill>
        <p:spPr>
          <a:xfrm>
            <a:off x="4342130" y="2324100"/>
            <a:ext cx="7769225" cy="29038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
          <p:cNvSpPr txBox="1">
            <a:spLocks noGrp="1"/>
          </p:cNvSpPr>
          <p:nvPr>
            <p:ph type="ctrTitle"/>
          </p:nvPr>
        </p:nvSpPr>
        <p:spPr>
          <a:xfrm>
            <a:off x="424405" y="3243838"/>
            <a:ext cx="13372618" cy="2779917"/>
          </a:xfrm>
          <a:prstGeom prst="rect">
            <a:avLst/>
          </a:prstGeom>
          <a:noFill/>
          <a:ln>
            <a:noFill/>
          </a:ln>
        </p:spPr>
        <p:txBody>
          <a:bodyPr spcFirstLastPara="1" wrap="square" lIns="91425" tIns="45700" rIns="91425" bIns="45700" anchor="b" anchorCtr="0">
            <a:noAutofit/>
          </a:bodyPr>
          <a:lstStyle/>
          <a:p>
            <a:br>
              <a:rPr lang="en-US" dirty="0"/>
            </a:br>
            <a:br>
              <a:rPr lang="en-US" dirty="0"/>
            </a:br>
            <a:br>
              <a:rPr lang="en-US" dirty="0"/>
            </a:br>
            <a:br>
              <a:rPr lang="en-US" dirty="0"/>
            </a:br>
            <a:br>
              <a:rPr lang="en-US" dirty="0"/>
            </a:br>
            <a:r>
              <a:rPr lang="en-US" dirty="0">
                <a:solidFill>
                  <a:srgbClr val="000000"/>
                </a:solidFill>
                <a:effectLst/>
                <a:latin typeface="Helvetica" pitchFamily="2" charset="0"/>
              </a:rPr>
              <a:t>AI-assisted </a:t>
            </a:r>
            <a:r>
              <a:rPr lang="en-US" altLang="zh-CN" dirty="0"/>
              <a:t>Code Vulnerability</a:t>
            </a:r>
            <a:r>
              <a:rPr lang="zh-CN" altLang="en-US" dirty="0"/>
              <a:t> </a:t>
            </a:r>
            <a:r>
              <a:rPr lang="en-US" altLang="zh-CN" dirty="0"/>
              <a:t>Detection</a:t>
            </a:r>
            <a:br>
              <a:rPr lang="en-US" altLang="zh-CN" dirty="0"/>
            </a:br>
            <a:br>
              <a:rPr lang="en-US" dirty="0">
                <a:solidFill>
                  <a:srgbClr val="000000"/>
                </a:solidFill>
                <a:effectLst/>
                <a:latin typeface="Helvetica" pitchFamily="2" charset="0"/>
              </a:rPr>
            </a:br>
            <a:br>
              <a:rPr lang="en-US" dirty="0"/>
            </a:b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5" name="Title 4"/>
          <p:cNvSpPr>
            <a:spLocks noGrp="1"/>
          </p:cNvSpPr>
          <p:nvPr>
            <p:ph type="title"/>
          </p:nvPr>
        </p:nvSpPr>
        <p:spPr/>
        <p:txBody>
          <a:bodyPr/>
          <a:lstStyle/>
          <a:p>
            <a:r>
              <a:rPr lang="en-US" dirty="0">
                <a:sym typeface="+mn-ea"/>
              </a:rPr>
              <a:t>W</a:t>
            </a:r>
            <a:r>
              <a:rPr lang="en-US" altLang="zh-CN" dirty="0">
                <a:sym typeface="+mn-ea"/>
              </a:rPr>
              <a:t>hy</a:t>
            </a:r>
            <a:r>
              <a:rPr lang="zh-CN" altLang="en-US" dirty="0">
                <a:sym typeface="+mn-ea"/>
              </a:rPr>
              <a:t> </a:t>
            </a:r>
            <a:r>
              <a:rPr lang="en-US" altLang="zh-CN" dirty="0">
                <a:sym typeface="+mn-ea"/>
              </a:rPr>
              <a:t>do</a:t>
            </a:r>
            <a:r>
              <a:rPr lang="zh-CN" altLang="en-US" dirty="0">
                <a:sym typeface="+mn-ea"/>
              </a:rPr>
              <a:t> </a:t>
            </a:r>
            <a:r>
              <a:rPr lang="en-US" altLang="zh-CN" dirty="0">
                <a:sym typeface="+mn-ea"/>
              </a:rPr>
              <a:t>we</a:t>
            </a:r>
            <a:r>
              <a:rPr lang="zh-CN" altLang="en-US" dirty="0">
                <a:sym typeface="+mn-ea"/>
              </a:rPr>
              <a:t> </a:t>
            </a:r>
            <a:r>
              <a:rPr lang="en-US" altLang="zh-CN" dirty="0">
                <a:sym typeface="+mn-ea"/>
              </a:rPr>
              <a:t>need</a:t>
            </a:r>
            <a:r>
              <a:rPr lang="zh-CN" altLang="en-US" dirty="0">
                <a:sym typeface="+mn-ea"/>
              </a:rPr>
              <a:t> </a:t>
            </a:r>
            <a:r>
              <a:rPr lang="en-US" altLang="zh-CN" dirty="0">
                <a:sym typeface="+mn-ea"/>
              </a:rPr>
              <a:t>Vulnerability</a:t>
            </a:r>
            <a:r>
              <a:rPr lang="zh-CN" altLang="en-US" dirty="0">
                <a:sym typeface="+mn-ea"/>
              </a:rPr>
              <a:t> </a:t>
            </a:r>
            <a:r>
              <a:rPr lang="en-US" altLang="zh-CN" dirty="0">
                <a:sym typeface="+mn-ea"/>
              </a:rPr>
              <a:t>Detection</a:t>
            </a:r>
            <a:endParaRPr lang="en-US" dirty="0"/>
          </a:p>
        </p:txBody>
      </p:sp>
      <p:sp>
        <p:nvSpPr>
          <p:cNvPr id="7" name="文本框 6"/>
          <p:cNvSpPr txBox="1"/>
          <p:nvPr/>
        </p:nvSpPr>
        <p:spPr>
          <a:xfrm>
            <a:off x="5386137" y="1820701"/>
            <a:ext cx="7221689" cy="1702967"/>
          </a:xfrm>
          <a:prstGeom prst="rect">
            <a:avLst/>
          </a:prstGeom>
          <a:noFill/>
        </p:spPr>
        <p:txBody>
          <a:bodyPr wrap="square">
            <a:spAutoFit/>
          </a:bodyPr>
          <a:lstStyle/>
          <a:p>
            <a:pPr marL="285750" indent="-285750">
              <a:lnSpc>
                <a:spcPct val="150000"/>
              </a:lnSpc>
              <a:buFont typeface="Arial" panose="020B0604020202090204" pitchFamily="34" charset="0"/>
              <a:buChar char="•"/>
            </a:pPr>
            <a:r>
              <a:rPr lang="en-US" altLang="zh-CN" sz="1800" dirty="0"/>
              <a:t>Software vulnerabilities are a major cause of security breaches</a:t>
            </a:r>
            <a:endParaRPr lang="en-US" altLang="zh-CN" sz="1800" dirty="0"/>
          </a:p>
          <a:p>
            <a:pPr marL="285750" indent="-285750">
              <a:lnSpc>
                <a:spcPct val="150000"/>
              </a:lnSpc>
              <a:buFont typeface="Arial" panose="020B0604020202090204" pitchFamily="34" charset="0"/>
              <a:buChar char="•"/>
            </a:pPr>
            <a:r>
              <a:rPr lang="en-US" altLang="zh-CN" sz="1800" dirty="0"/>
              <a:t>Manual code review is time-consuming and error-prone</a:t>
            </a:r>
            <a:endParaRPr lang="en-US" altLang="zh-CN" sz="1800" dirty="0"/>
          </a:p>
          <a:p>
            <a:pPr marL="285750" indent="-285750">
              <a:lnSpc>
                <a:spcPct val="150000"/>
              </a:lnSpc>
              <a:buFont typeface="Arial" panose="020B0604020202090204" pitchFamily="34" charset="0"/>
              <a:buChar char="•"/>
            </a:pPr>
            <a:r>
              <a:rPr lang="en-US" altLang="zh-CN" sz="1800" dirty="0"/>
              <a:t>Rule-based static analysis tools have limited coverage</a:t>
            </a:r>
            <a:endParaRPr lang="en-US" altLang="zh-CN" sz="1800" dirty="0"/>
          </a:p>
          <a:p>
            <a:pPr marL="285750" indent="-285750">
              <a:lnSpc>
                <a:spcPct val="150000"/>
              </a:lnSpc>
              <a:buFont typeface="Arial" panose="020B0604020202090204" pitchFamily="34" charset="0"/>
              <a:buChar char="•"/>
            </a:pPr>
            <a:r>
              <a:rPr lang="en-US" altLang="zh-CN" sz="1800" dirty="0"/>
              <a:t>New vulnerabilities appear faster than rules can be written</a:t>
            </a:r>
            <a:endParaRPr lang="en-US" altLang="zh-CN" sz="1800" dirty="0"/>
          </a:p>
        </p:txBody>
      </p:sp>
      <p:pic>
        <p:nvPicPr>
          <p:cNvPr id="1028" name="Picture 4" descr="code vulnerabilities assessment illustra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820701"/>
            <a:ext cx="4558631" cy="256423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609600" y="4713773"/>
            <a:ext cx="6304546" cy="1345048"/>
          </a:xfrm>
          <a:prstGeom prst="rect">
            <a:avLst/>
          </a:prstGeom>
          <a:noFill/>
        </p:spPr>
        <p:txBody>
          <a:bodyPr wrap="square">
            <a:spAutoFit/>
          </a:bodyPr>
          <a:lstStyle/>
          <a:p>
            <a:pPr marL="342900" indent="-342900">
              <a:lnSpc>
                <a:spcPct val="150000"/>
              </a:lnSpc>
              <a:buFont typeface="+mj-lt"/>
              <a:buAutoNum type="arabicPeriod"/>
            </a:pPr>
            <a:r>
              <a:rPr lang="en-US" altLang="zh-CN" b="1" dirty="0"/>
              <a:t>Understand how AI detects code vulnerabilities</a:t>
            </a:r>
            <a:endParaRPr lang="en-US" altLang="zh-CN" b="1" dirty="0"/>
          </a:p>
          <a:p>
            <a:pPr marL="342900" indent="-342900">
              <a:lnSpc>
                <a:spcPct val="150000"/>
              </a:lnSpc>
              <a:buFont typeface="+mj-lt"/>
              <a:buAutoNum type="arabicPeriod"/>
            </a:pPr>
            <a:r>
              <a:rPr lang="en-US" altLang="zh-CN" b="1" dirty="0"/>
              <a:t>Run a vulnerability detection model</a:t>
            </a:r>
            <a:endParaRPr lang="en-US" altLang="zh-CN" b="1" dirty="0"/>
          </a:p>
          <a:p>
            <a:pPr marL="342900" indent="-342900">
              <a:lnSpc>
                <a:spcPct val="150000"/>
              </a:lnSpc>
              <a:buFont typeface="+mj-lt"/>
              <a:buAutoNum type="arabicPeriod"/>
            </a:pPr>
            <a:r>
              <a:rPr lang="en-US" altLang="zh-CN" b="1" dirty="0"/>
              <a:t>Analyze model predictions</a:t>
            </a:r>
            <a:endParaRPr lang="en-US" altLang="zh-CN" b="1" dirty="0"/>
          </a:p>
          <a:p>
            <a:pPr marL="342900" indent="-342900">
              <a:lnSpc>
                <a:spcPct val="150000"/>
              </a:lnSpc>
              <a:buFont typeface="+mj-lt"/>
              <a:buAutoNum type="arabicPeriod"/>
            </a:pPr>
            <a:r>
              <a:rPr lang="en-US" altLang="zh-CN" b="1" dirty="0"/>
              <a:t>Reflect on limitations of AI in security</a:t>
            </a:r>
            <a:endParaRPr lang="en-US" altLang="zh-CN"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5" name="Title 4"/>
          <p:cNvSpPr>
            <a:spLocks noGrp="1"/>
          </p:cNvSpPr>
          <p:nvPr>
            <p:ph type="title"/>
          </p:nvPr>
        </p:nvSpPr>
        <p:spPr/>
        <p:txBody>
          <a:bodyPr/>
          <a:lstStyle/>
          <a:p>
            <a:r>
              <a:rPr lang="en-US" altLang="zh-CN" dirty="0"/>
              <a:t>Task</a:t>
            </a:r>
            <a:r>
              <a:rPr lang="zh-CN" altLang="en-US" dirty="0"/>
              <a:t> </a:t>
            </a:r>
            <a:r>
              <a:rPr lang="en-US" altLang="zh-CN" dirty="0"/>
              <a:t>Definition</a:t>
            </a:r>
            <a:endParaRPr lang="en-US" dirty="0"/>
          </a:p>
        </p:txBody>
      </p:sp>
      <p:sp>
        <p:nvSpPr>
          <p:cNvPr id="7" name="文本框 6"/>
          <p:cNvSpPr txBox="1"/>
          <p:nvPr/>
        </p:nvSpPr>
        <p:spPr>
          <a:xfrm>
            <a:off x="605590" y="1335910"/>
            <a:ext cx="7221689" cy="2118465"/>
          </a:xfrm>
          <a:prstGeom prst="rect">
            <a:avLst/>
          </a:prstGeom>
          <a:noFill/>
        </p:spPr>
        <p:txBody>
          <a:bodyPr wrap="square">
            <a:spAutoFit/>
          </a:bodyPr>
          <a:lstStyle/>
          <a:p>
            <a:pPr>
              <a:lnSpc>
                <a:spcPct val="150000"/>
              </a:lnSpc>
            </a:pPr>
            <a:r>
              <a:rPr lang="en-US" altLang="zh-CN" sz="1800" b="1" dirty="0"/>
              <a:t>Input</a:t>
            </a:r>
            <a:r>
              <a:rPr lang="en-US" altLang="zh-CN" sz="1800" dirty="0"/>
              <a:t>:</a:t>
            </a:r>
            <a:r>
              <a:rPr lang="zh-CN" altLang="en-US" sz="1800" dirty="0"/>
              <a:t>    </a:t>
            </a:r>
            <a:r>
              <a:rPr lang="en-US" altLang="zh-CN" sz="1800" dirty="0"/>
              <a:t> </a:t>
            </a:r>
            <a:r>
              <a:rPr lang="zh-CN" altLang="en-US" sz="1800" dirty="0"/>
              <a:t>        </a:t>
            </a:r>
            <a:r>
              <a:rPr lang="en-US" altLang="zh-CN" sz="1800" dirty="0"/>
              <a:t>A function-level code representation</a:t>
            </a:r>
            <a:endParaRPr lang="en-US" altLang="zh-CN" sz="1800" dirty="0"/>
          </a:p>
          <a:p>
            <a:pPr>
              <a:lnSpc>
                <a:spcPct val="150000"/>
              </a:lnSpc>
            </a:pPr>
            <a:r>
              <a:rPr lang="en-US" altLang="zh-CN" sz="1800" b="1" dirty="0"/>
              <a:t>Output</a:t>
            </a:r>
            <a:r>
              <a:rPr lang="en-US" altLang="zh-CN" sz="1800" dirty="0"/>
              <a:t>: </a:t>
            </a:r>
            <a:r>
              <a:rPr lang="zh-CN" altLang="en-US" sz="1800" dirty="0"/>
              <a:t>         </a:t>
            </a:r>
            <a:r>
              <a:rPr lang="en-US" altLang="zh-CN" sz="1800" dirty="0"/>
              <a:t>Vulnerable (1) or Non-vulnerable (0)</a:t>
            </a:r>
            <a:endParaRPr lang="en-US" altLang="zh-CN" sz="1800" dirty="0"/>
          </a:p>
          <a:p>
            <a:pPr>
              <a:lnSpc>
                <a:spcPct val="150000"/>
              </a:lnSpc>
            </a:pPr>
            <a:r>
              <a:rPr lang="en-US" altLang="zh-CN" sz="1800" b="1" dirty="0"/>
              <a:t>Task Type</a:t>
            </a:r>
            <a:r>
              <a:rPr lang="en-US" altLang="zh-CN" sz="1800" dirty="0"/>
              <a:t>: </a:t>
            </a:r>
            <a:r>
              <a:rPr lang="zh-CN" altLang="en-US" sz="1800" dirty="0"/>
              <a:t>   </a:t>
            </a:r>
            <a:r>
              <a:rPr lang="en-US" altLang="zh-CN" sz="1800" dirty="0"/>
              <a:t>Binary classification</a:t>
            </a:r>
            <a:endParaRPr lang="en-US" altLang="zh-CN" sz="1800" dirty="0"/>
          </a:p>
          <a:p>
            <a:pPr>
              <a:lnSpc>
                <a:spcPct val="150000"/>
              </a:lnSpc>
            </a:pPr>
            <a:r>
              <a:rPr lang="en-US" altLang="zh-CN" sz="1800" b="1" dirty="0"/>
              <a:t>Granularity</a:t>
            </a:r>
            <a:r>
              <a:rPr lang="en-US" altLang="zh-CN" sz="1800" dirty="0"/>
              <a:t>: </a:t>
            </a:r>
            <a:r>
              <a:rPr lang="zh-CN" altLang="en-US" sz="1800" dirty="0"/>
              <a:t>  </a:t>
            </a:r>
            <a:r>
              <a:rPr lang="en-US" altLang="zh-CN" sz="1800" dirty="0"/>
              <a:t>Function-level vulnerability detection</a:t>
            </a:r>
            <a:endParaRPr lang="en-US" altLang="zh-CN" sz="1800" dirty="0"/>
          </a:p>
          <a:p>
            <a:pPr>
              <a:lnSpc>
                <a:spcPct val="150000"/>
              </a:lnSpc>
            </a:pPr>
            <a:r>
              <a:rPr lang="en-US" altLang="zh-CN" sz="1800" b="1" dirty="0"/>
              <a:t>Dataset</a:t>
            </a:r>
            <a:r>
              <a:rPr lang="en-US" altLang="zh-CN" sz="1800" dirty="0"/>
              <a:t>: </a:t>
            </a:r>
            <a:r>
              <a:rPr lang="zh-CN" altLang="en-US" sz="1800" dirty="0"/>
              <a:t>        </a:t>
            </a:r>
            <a:r>
              <a:rPr lang="en-US" altLang="zh-CN" sz="1800" dirty="0"/>
              <a:t>Real-World Vulnerability Data</a:t>
            </a:r>
            <a:endParaRPr lang="en-US" altLang="zh-CN" sz="1800" dirty="0"/>
          </a:p>
        </p:txBody>
      </p:sp>
      <p:sp>
        <p:nvSpPr>
          <p:cNvPr id="6" name="文本框 5"/>
          <p:cNvSpPr txBox="1"/>
          <p:nvPr/>
        </p:nvSpPr>
        <p:spPr>
          <a:xfrm>
            <a:off x="6856488" y="2730283"/>
            <a:ext cx="6100010" cy="698717"/>
          </a:xfrm>
          <a:prstGeom prst="rect">
            <a:avLst/>
          </a:prstGeom>
          <a:noFill/>
        </p:spPr>
        <p:txBody>
          <a:bodyPr wrap="square">
            <a:spAutoFit/>
          </a:bodyPr>
          <a:lstStyle/>
          <a:p>
            <a:pPr marL="285750" indent="-285750">
              <a:lnSpc>
                <a:spcPct val="150000"/>
              </a:lnSpc>
              <a:buFontTx/>
              <a:buChar char="-"/>
            </a:pPr>
            <a:r>
              <a:rPr lang="en-US" altLang="zh-CN" dirty="0"/>
              <a:t>Source</a:t>
            </a:r>
            <a:r>
              <a:rPr lang="en-US" altLang="zh-CN" dirty="0">
                <a:solidFill>
                  <a:srgbClr val="383A42"/>
                </a:solidFill>
                <a:effectLst/>
              </a:rPr>
              <a:t>:</a:t>
            </a:r>
            <a:r>
              <a:rPr lang="en-US" altLang="zh-CN" dirty="0"/>
              <a:t> CVE</a:t>
            </a:r>
            <a:r>
              <a:rPr lang="en-US" altLang="zh-CN" dirty="0">
                <a:solidFill>
                  <a:srgbClr val="4078F2"/>
                </a:solidFill>
                <a:effectLst/>
              </a:rPr>
              <a:t>-</a:t>
            </a:r>
            <a:r>
              <a:rPr lang="en-US" altLang="zh-CN" dirty="0"/>
              <a:t>based</a:t>
            </a:r>
            <a:r>
              <a:rPr lang="en-US" altLang="zh-CN" dirty="0">
                <a:solidFill>
                  <a:srgbClr val="383A42"/>
                </a:solidFill>
                <a:effectLst/>
              </a:rPr>
              <a:t>,</a:t>
            </a:r>
            <a:r>
              <a:rPr lang="en-US" altLang="zh-CN" dirty="0"/>
              <a:t> 150K</a:t>
            </a:r>
            <a:r>
              <a:rPr lang="en-US" altLang="zh-CN" dirty="0">
                <a:solidFill>
                  <a:srgbClr val="4078F2"/>
                </a:solidFill>
                <a:effectLst/>
              </a:rPr>
              <a:t>+</a:t>
            </a:r>
            <a:r>
              <a:rPr lang="en-US" altLang="zh-CN" dirty="0"/>
              <a:t> C functions </a:t>
            </a:r>
            <a:endParaRPr lang="en-US" altLang="zh-CN" dirty="0"/>
          </a:p>
          <a:p>
            <a:pPr marL="285750" indent="-285750">
              <a:lnSpc>
                <a:spcPct val="150000"/>
              </a:lnSpc>
              <a:buFontTx/>
              <a:buChar char="-"/>
            </a:pPr>
            <a:r>
              <a:rPr lang="en-US" altLang="zh-CN" dirty="0"/>
              <a:t>Split</a:t>
            </a:r>
            <a:r>
              <a:rPr lang="en-US" altLang="zh-CN" dirty="0">
                <a:solidFill>
                  <a:srgbClr val="383A42"/>
                </a:solidFill>
                <a:effectLst/>
              </a:rPr>
              <a:t>:</a:t>
            </a:r>
            <a:r>
              <a:rPr lang="en-US" altLang="zh-CN" dirty="0"/>
              <a:t> </a:t>
            </a:r>
            <a:r>
              <a:rPr lang="en-US" altLang="zh-CN" dirty="0">
                <a:solidFill>
                  <a:srgbClr val="B76B01"/>
                </a:solidFill>
                <a:effectLst/>
              </a:rPr>
              <a:t>5.8</a:t>
            </a:r>
            <a:r>
              <a:rPr lang="en-US" altLang="zh-CN" dirty="0">
                <a:solidFill>
                  <a:srgbClr val="4078F2"/>
                </a:solidFill>
                <a:effectLst/>
              </a:rPr>
              <a:t>%</a:t>
            </a:r>
            <a:r>
              <a:rPr lang="en-US" altLang="zh-CN" dirty="0"/>
              <a:t> vulnerable</a:t>
            </a:r>
            <a:r>
              <a:rPr lang="en-US" altLang="zh-CN" dirty="0">
                <a:solidFill>
                  <a:srgbClr val="383A42"/>
                </a:solidFill>
                <a:effectLst/>
              </a:rPr>
              <a:t>,</a:t>
            </a:r>
            <a:r>
              <a:rPr lang="en-US" altLang="zh-CN" dirty="0"/>
              <a:t> </a:t>
            </a:r>
            <a:r>
              <a:rPr lang="en-US" altLang="zh-CN" dirty="0">
                <a:solidFill>
                  <a:srgbClr val="B76B01"/>
                </a:solidFill>
                <a:effectLst/>
              </a:rPr>
              <a:t>94.2</a:t>
            </a:r>
            <a:r>
              <a:rPr lang="en-US" altLang="zh-CN" dirty="0">
                <a:solidFill>
                  <a:srgbClr val="4078F2"/>
                </a:solidFill>
                <a:effectLst/>
              </a:rPr>
              <a:t>%</a:t>
            </a:r>
            <a:r>
              <a:rPr lang="en-US" altLang="zh-CN" dirty="0"/>
              <a:t> safe</a:t>
            </a:r>
            <a:endParaRPr lang="zh-CN" altLang="en-US" dirty="0"/>
          </a:p>
        </p:txBody>
      </p:sp>
      <p:graphicFrame>
        <p:nvGraphicFramePr>
          <p:cNvPr id="10" name="表格 9"/>
          <p:cNvGraphicFramePr>
            <a:graphicFrameLocks noGrp="1"/>
          </p:cNvGraphicFramePr>
          <p:nvPr/>
        </p:nvGraphicFramePr>
        <p:xfrm>
          <a:off x="107924" y="3560016"/>
          <a:ext cx="12084076" cy="2895600"/>
        </p:xfrm>
        <a:graphic>
          <a:graphicData uri="http://schemas.openxmlformats.org/drawingml/2006/table">
            <a:tbl>
              <a:tblPr/>
              <a:tblGrid>
                <a:gridCol w="1358203"/>
                <a:gridCol w="2221335"/>
                <a:gridCol w="4109470"/>
                <a:gridCol w="2110269"/>
                <a:gridCol w="2284799"/>
              </a:tblGrid>
              <a:tr h="0">
                <a:tc>
                  <a:txBody>
                    <a:bodyPr/>
                    <a:lstStyle/>
                    <a:p>
                      <a:pPr>
                        <a:buNone/>
                      </a:pPr>
                      <a:r>
                        <a:rPr lang="en-US" b="1"/>
                        <a:t>Term</a:t>
                      </a:r>
                      <a:endParaRPr lang="en-US"/>
                    </a:p>
                  </a:txBody>
                  <a:tcPr anchor="ctr">
                    <a:lnL>
                      <a:noFill/>
                    </a:lnL>
                    <a:lnR>
                      <a:noFill/>
                    </a:lnR>
                    <a:lnT>
                      <a:noFill/>
                    </a:lnT>
                    <a:lnB>
                      <a:noFill/>
                    </a:lnB>
                    <a:noFill/>
                  </a:tcPr>
                </a:tc>
                <a:tc>
                  <a:txBody>
                    <a:bodyPr/>
                    <a:lstStyle/>
                    <a:p>
                      <a:pPr>
                        <a:buNone/>
                      </a:pPr>
                      <a:r>
                        <a:rPr lang="en-US" b="1"/>
                        <a:t>Meaning (Chinese)</a:t>
                      </a:r>
                      <a:endParaRPr lang="en-US"/>
                    </a:p>
                  </a:txBody>
                  <a:tcPr anchor="ctr">
                    <a:lnL>
                      <a:noFill/>
                    </a:lnL>
                    <a:lnR>
                      <a:noFill/>
                    </a:lnR>
                    <a:lnT>
                      <a:noFill/>
                    </a:lnT>
                    <a:lnB>
                      <a:noFill/>
                    </a:lnB>
                    <a:noFill/>
                  </a:tcPr>
                </a:tc>
                <a:tc>
                  <a:txBody>
                    <a:bodyPr/>
                    <a:lstStyle/>
                    <a:p>
                      <a:pPr>
                        <a:buNone/>
                      </a:pPr>
                      <a:r>
                        <a:rPr lang="en-US" b="1" dirty="0"/>
                        <a:t>What It Is</a:t>
                      </a:r>
                      <a:endParaRPr lang="en-US" dirty="0"/>
                    </a:p>
                  </a:txBody>
                  <a:tcPr anchor="ctr">
                    <a:lnL>
                      <a:noFill/>
                    </a:lnL>
                    <a:lnR>
                      <a:noFill/>
                    </a:lnR>
                    <a:lnT>
                      <a:noFill/>
                    </a:lnT>
                    <a:lnB>
                      <a:noFill/>
                    </a:lnB>
                    <a:noFill/>
                  </a:tcPr>
                </a:tc>
                <a:tc>
                  <a:txBody>
                    <a:bodyPr/>
                    <a:lstStyle/>
                    <a:p>
                      <a:pPr>
                        <a:buNone/>
                      </a:pPr>
                      <a:r>
                        <a:rPr lang="en-US" b="1"/>
                        <a:t>Example</a:t>
                      </a:r>
                      <a:endParaRPr lang="en-US"/>
                    </a:p>
                  </a:txBody>
                  <a:tcPr anchor="ctr">
                    <a:lnL>
                      <a:noFill/>
                    </a:lnL>
                    <a:lnR>
                      <a:noFill/>
                    </a:lnR>
                    <a:lnT>
                      <a:noFill/>
                    </a:lnT>
                    <a:lnB>
                      <a:noFill/>
                    </a:lnB>
                    <a:noFill/>
                  </a:tcPr>
                </a:tc>
                <a:tc>
                  <a:txBody>
                    <a:bodyPr/>
                    <a:lstStyle/>
                    <a:p>
                      <a:pPr>
                        <a:buNone/>
                      </a:pPr>
                      <a:r>
                        <a:rPr lang="en-US" b="1" dirty="0"/>
                        <a:t>Purpose</a:t>
                      </a:r>
                      <a:endParaRPr lang="en-US" dirty="0"/>
                    </a:p>
                  </a:txBody>
                  <a:tcPr anchor="ctr">
                    <a:lnL>
                      <a:noFill/>
                    </a:lnL>
                    <a:lnR>
                      <a:noFill/>
                    </a:lnR>
                    <a:lnT>
                      <a:noFill/>
                    </a:lnT>
                    <a:lnB>
                      <a:noFill/>
                    </a:lnB>
                    <a:noFill/>
                  </a:tcPr>
                </a:tc>
              </a:tr>
              <a:tr h="0">
                <a:tc>
                  <a:txBody>
                    <a:bodyPr/>
                    <a:lstStyle/>
                    <a:p>
                      <a:pPr>
                        <a:buNone/>
                      </a:pPr>
                      <a:r>
                        <a:rPr lang="en-US" b="1"/>
                        <a:t>CVE ID</a:t>
                      </a:r>
                      <a:endParaRPr lang="en-US"/>
                    </a:p>
                  </a:txBody>
                  <a:tcPr anchor="ctr">
                    <a:lnL>
                      <a:noFill/>
                    </a:lnL>
                    <a:lnR>
                      <a:noFill/>
                    </a:lnR>
                    <a:lnT>
                      <a:noFill/>
                    </a:lnT>
                    <a:lnB>
                      <a:noFill/>
                    </a:lnB>
                    <a:noFill/>
                  </a:tcPr>
                </a:tc>
                <a:tc>
                  <a:txBody>
                    <a:bodyPr/>
                    <a:lstStyle/>
                    <a:p>
                      <a:pPr>
                        <a:buNone/>
                      </a:pPr>
                      <a:r>
                        <a:rPr lang="en-US" dirty="0"/>
                        <a:t>Vulnerability Identifier</a:t>
                      </a:r>
                      <a:endParaRPr lang="en-US" dirty="0"/>
                    </a:p>
                  </a:txBody>
                  <a:tcPr anchor="ctr">
                    <a:lnL>
                      <a:noFill/>
                    </a:lnL>
                    <a:lnR>
                      <a:noFill/>
                    </a:lnR>
                    <a:lnT>
                      <a:noFill/>
                    </a:lnT>
                    <a:lnB>
                      <a:noFill/>
                    </a:lnB>
                    <a:noFill/>
                  </a:tcPr>
                </a:tc>
                <a:tc>
                  <a:txBody>
                    <a:bodyPr/>
                    <a:lstStyle/>
                    <a:p>
                      <a:pPr>
                        <a:buNone/>
                      </a:pPr>
                      <a:r>
                        <a:rPr lang="en-US"/>
                        <a:t>A unique identifier for a specific vulnerability</a:t>
                      </a:r>
                      <a:endParaRPr lang="en-US"/>
                    </a:p>
                  </a:txBody>
                  <a:tcPr anchor="ctr">
                    <a:lnL>
                      <a:noFill/>
                    </a:lnL>
                    <a:lnR>
                      <a:noFill/>
                    </a:lnR>
                    <a:lnT>
                      <a:noFill/>
                    </a:lnT>
                    <a:lnB>
                      <a:noFill/>
                    </a:lnB>
                    <a:noFill/>
                  </a:tcPr>
                </a:tc>
                <a:tc>
                  <a:txBody>
                    <a:bodyPr/>
                    <a:lstStyle/>
                    <a:p>
                      <a:pPr>
                        <a:buNone/>
                      </a:pPr>
                      <a:r>
                        <a:rPr lang="en-US"/>
                        <a:t>CVE-2014-0160</a:t>
                      </a:r>
                      <a:endParaRPr lang="en-US"/>
                    </a:p>
                  </a:txBody>
                  <a:tcPr anchor="ctr">
                    <a:lnL>
                      <a:noFill/>
                    </a:lnL>
                    <a:lnR>
                      <a:noFill/>
                    </a:lnR>
                    <a:lnT>
                      <a:noFill/>
                    </a:lnT>
                    <a:lnB>
                      <a:noFill/>
                    </a:lnB>
                    <a:noFill/>
                  </a:tcPr>
                </a:tc>
                <a:tc>
                  <a:txBody>
                    <a:bodyPr/>
                    <a:lstStyle/>
                    <a:p>
                      <a:pPr>
                        <a:buNone/>
                      </a:pPr>
                      <a:r>
                        <a:rPr lang="en-US" dirty="0"/>
                        <a:t>Track and reference a specific vulnerability</a:t>
                      </a:r>
                      <a:endParaRPr lang="en-US" dirty="0"/>
                    </a:p>
                  </a:txBody>
                  <a:tcPr anchor="ctr">
                    <a:lnL>
                      <a:noFill/>
                    </a:lnL>
                    <a:lnR>
                      <a:noFill/>
                    </a:lnR>
                    <a:lnT>
                      <a:noFill/>
                    </a:lnT>
                    <a:lnB>
                      <a:noFill/>
                    </a:lnB>
                    <a:noFill/>
                  </a:tcPr>
                </a:tc>
              </a:tr>
              <a:tr h="0">
                <a:tc>
                  <a:txBody>
                    <a:bodyPr/>
                    <a:lstStyle/>
                    <a:p>
                      <a:pPr>
                        <a:buNone/>
                      </a:pPr>
                      <a:r>
                        <a:rPr lang="en-US" b="1"/>
                        <a:t>CWE ID</a:t>
                      </a:r>
                      <a:endParaRPr lang="en-US"/>
                    </a:p>
                  </a:txBody>
                  <a:tcPr anchor="ctr">
                    <a:lnL>
                      <a:noFill/>
                    </a:lnL>
                    <a:lnR>
                      <a:noFill/>
                    </a:lnR>
                    <a:lnT>
                      <a:noFill/>
                    </a:lnT>
                    <a:lnB>
                      <a:noFill/>
                    </a:lnB>
                    <a:noFill/>
                  </a:tcPr>
                </a:tc>
                <a:tc>
                  <a:txBody>
                    <a:bodyPr/>
                    <a:lstStyle/>
                    <a:p>
                      <a:pPr>
                        <a:buNone/>
                      </a:pPr>
                      <a:r>
                        <a:rPr lang="en-US"/>
                        <a:t>Vulnerability Type</a:t>
                      </a:r>
                      <a:endParaRPr lang="en-US"/>
                    </a:p>
                  </a:txBody>
                  <a:tcPr anchor="ctr">
                    <a:lnL>
                      <a:noFill/>
                    </a:lnL>
                    <a:lnR>
                      <a:noFill/>
                    </a:lnR>
                    <a:lnT>
                      <a:noFill/>
                    </a:lnT>
                    <a:lnB>
                      <a:noFill/>
                    </a:lnB>
                    <a:noFill/>
                  </a:tcPr>
                </a:tc>
                <a:tc>
                  <a:txBody>
                    <a:bodyPr/>
                    <a:lstStyle/>
                    <a:p>
                      <a:pPr>
                        <a:buNone/>
                      </a:pPr>
                      <a:r>
                        <a:rPr lang="en-US" dirty="0"/>
                        <a:t>A classification of vulnerability types</a:t>
                      </a:r>
                      <a:endParaRPr lang="en-US" dirty="0"/>
                    </a:p>
                  </a:txBody>
                  <a:tcPr anchor="ctr">
                    <a:lnL>
                      <a:noFill/>
                    </a:lnL>
                    <a:lnR>
                      <a:noFill/>
                    </a:lnR>
                    <a:lnT>
                      <a:noFill/>
                    </a:lnT>
                    <a:lnB>
                      <a:noFill/>
                    </a:lnB>
                    <a:noFill/>
                  </a:tcPr>
                </a:tc>
                <a:tc>
                  <a:txBody>
                    <a:bodyPr/>
                    <a:lstStyle/>
                    <a:p>
                      <a:pPr>
                        <a:buNone/>
                      </a:pPr>
                      <a:r>
                        <a:rPr lang="en-US"/>
                        <a:t>CWE-119 (Buffer Overflow)</a:t>
                      </a:r>
                      <a:endParaRPr lang="en-US"/>
                    </a:p>
                  </a:txBody>
                  <a:tcPr anchor="ctr">
                    <a:lnL>
                      <a:noFill/>
                    </a:lnL>
                    <a:lnR>
                      <a:noFill/>
                    </a:lnR>
                    <a:lnT>
                      <a:noFill/>
                    </a:lnT>
                    <a:lnB>
                      <a:noFill/>
                    </a:lnB>
                    <a:noFill/>
                  </a:tcPr>
                </a:tc>
                <a:tc>
                  <a:txBody>
                    <a:bodyPr/>
                    <a:lstStyle/>
                    <a:p>
                      <a:pPr>
                        <a:buNone/>
                      </a:pPr>
                      <a:r>
                        <a:rPr lang="en-US"/>
                        <a:t>Identify the category of a vulnerability</a:t>
                      </a:r>
                      <a:endParaRPr lang="en-US"/>
                    </a:p>
                  </a:txBody>
                  <a:tcPr anchor="ctr">
                    <a:lnL>
                      <a:noFill/>
                    </a:lnL>
                    <a:lnR>
                      <a:noFill/>
                    </a:lnR>
                    <a:lnT>
                      <a:noFill/>
                    </a:lnT>
                    <a:lnB>
                      <a:noFill/>
                    </a:lnB>
                    <a:noFill/>
                  </a:tcPr>
                </a:tc>
              </a:tr>
              <a:tr h="0">
                <a:tc>
                  <a:txBody>
                    <a:bodyPr/>
                    <a:lstStyle/>
                    <a:p>
                      <a:pPr>
                        <a:buNone/>
                      </a:pPr>
                      <a:r>
                        <a:rPr lang="en-US" b="1"/>
                        <a:t>CVSS Score</a:t>
                      </a:r>
                      <a:endParaRPr lang="en-US"/>
                    </a:p>
                  </a:txBody>
                  <a:tcPr anchor="ctr">
                    <a:lnL>
                      <a:noFill/>
                    </a:lnL>
                    <a:lnR>
                      <a:noFill/>
                    </a:lnR>
                    <a:lnT>
                      <a:noFill/>
                    </a:lnT>
                    <a:lnB>
                      <a:noFill/>
                    </a:lnB>
                    <a:noFill/>
                  </a:tcPr>
                </a:tc>
                <a:tc>
                  <a:txBody>
                    <a:bodyPr/>
                    <a:lstStyle/>
                    <a:p>
                      <a:pPr>
                        <a:buNone/>
                      </a:pPr>
                      <a:r>
                        <a:rPr lang="en-US"/>
                        <a:t>Severity Score</a:t>
                      </a:r>
                      <a:endParaRPr lang="en-US"/>
                    </a:p>
                  </a:txBody>
                  <a:tcPr anchor="ctr">
                    <a:lnL>
                      <a:noFill/>
                    </a:lnL>
                    <a:lnR>
                      <a:noFill/>
                    </a:lnR>
                    <a:lnT>
                      <a:noFill/>
                    </a:lnT>
                    <a:lnB>
                      <a:noFill/>
                    </a:lnB>
                    <a:noFill/>
                  </a:tcPr>
                </a:tc>
                <a:tc>
                  <a:txBody>
                    <a:bodyPr/>
                    <a:lstStyle/>
                    <a:p>
                      <a:pPr>
                        <a:buNone/>
                      </a:pPr>
                      <a:r>
                        <a:rPr lang="en-US"/>
                        <a:t>A numerical score (0–10) indicating severity</a:t>
                      </a:r>
                      <a:endParaRPr lang="en-US"/>
                    </a:p>
                  </a:txBody>
                  <a:tcPr anchor="ctr">
                    <a:lnL>
                      <a:noFill/>
                    </a:lnL>
                    <a:lnR>
                      <a:noFill/>
                    </a:lnR>
                    <a:lnT>
                      <a:noFill/>
                    </a:lnT>
                    <a:lnB>
                      <a:noFill/>
                    </a:lnB>
                    <a:noFill/>
                  </a:tcPr>
                </a:tc>
                <a:tc>
                  <a:txBody>
                    <a:bodyPr/>
                    <a:lstStyle/>
                    <a:p>
                      <a:pPr>
                        <a:buNone/>
                      </a:pPr>
                      <a:r>
                        <a:rPr lang="en-US"/>
                        <a:t>9.8 (Critical)</a:t>
                      </a:r>
                      <a:endParaRPr lang="en-US"/>
                    </a:p>
                  </a:txBody>
                  <a:tcPr anchor="ctr">
                    <a:lnL>
                      <a:noFill/>
                    </a:lnL>
                    <a:lnR>
                      <a:noFill/>
                    </a:lnR>
                    <a:lnT>
                      <a:noFill/>
                    </a:lnT>
                    <a:lnB>
                      <a:noFill/>
                    </a:lnB>
                    <a:noFill/>
                  </a:tcPr>
                </a:tc>
                <a:tc>
                  <a:txBody>
                    <a:bodyPr/>
                    <a:lstStyle/>
                    <a:p>
                      <a:pPr>
                        <a:buNone/>
                      </a:pPr>
                      <a:r>
                        <a:rPr lang="en-US" dirty="0"/>
                        <a:t>Prioritize vulnerability remediation</a:t>
                      </a:r>
                      <a:endParaRPr lang="en-US" dirty="0"/>
                    </a:p>
                  </a:txBody>
                  <a:tcPr anchor="ctr">
                    <a:lnL>
                      <a:noFill/>
                    </a:lnL>
                    <a:lnR>
                      <a:noFill/>
                    </a:lnR>
                    <a:lnT>
                      <a:noFill/>
                    </a:lnT>
                    <a:lnB>
                      <a:noFill/>
                    </a:lnB>
                    <a:noFill/>
                  </a:tcPr>
                </a:tc>
              </a:tr>
              <a:tr h="0">
                <a:tc>
                  <a:txBody>
                    <a:bodyPr/>
                    <a:lstStyle/>
                    <a:p>
                      <a:pPr>
                        <a:buNone/>
                      </a:pPr>
                      <a:r>
                        <a:rPr lang="en-US" b="1"/>
                        <a:t>Commit Info</a:t>
                      </a:r>
                      <a:endParaRPr lang="en-US"/>
                    </a:p>
                  </a:txBody>
                  <a:tcPr anchor="ctr">
                    <a:lnL>
                      <a:noFill/>
                    </a:lnL>
                    <a:lnR>
                      <a:noFill/>
                    </a:lnR>
                    <a:lnT>
                      <a:noFill/>
                    </a:lnT>
                    <a:lnB>
                      <a:noFill/>
                    </a:lnB>
                    <a:noFill/>
                  </a:tcPr>
                </a:tc>
                <a:tc>
                  <a:txBody>
                    <a:bodyPr/>
                    <a:lstStyle/>
                    <a:p>
                      <a:pPr>
                        <a:buNone/>
                      </a:pPr>
                      <a:r>
                        <a:rPr lang="en-US"/>
                        <a:t>Commit Information</a:t>
                      </a:r>
                      <a:endParaRPr lang="en-US"/>
                    </a:p>
                  </a:txBody>
                  <a:tcPr anchor="ctr">
                    <a:lnL>
                      <a:noFill/>
                    </a:lnL>
                    <a:lnR>
                      <a:noFill/>
                    </a:lnR>
                    <a:lnT>
                      <a:noFill/>
                    </a:lnT>
                    <a:lnB>
                      <a:noFill/>
                    </a:lnB>
                    <a:noFill/>
                  </a:tcPr>
                </a:tc>
                <a:tc>
                  <a:txBody>
                    <a:bodyPr/>
                    <a:lstStyle/>
                    <a:p>
                      <a:pPr>
                        <a:buNone/>
                      </a:pPr>
                      <a:r>
                        <a:rPr lang="en-US"/>
                        <a:t>Git commit record that fixes the vulnerability</a:t>
                      </a:r>
                      <a:endParaRPr lang="en-US"/>
                    </a:p>
                  </a:txBody>
                  <a:tcPr anchor="ctr">
                    <a:lnL>
                      <a:noFill/>
                    </a:lnL>
                    <a:lnR>
                      <a:noFill/>
                    </a:lnR>
                    <a:lnT>
                      <a:noFill/>
                    </a:lnT>
                    <a:lnB>
                      <a:noFill/>
                    </a:lnB>
                    <a:noFill/>
                  </a:tcPr>
                </a:tc>
                <a:tc>
                  <a:txBody>
                    <a:bodyPr/>
                    <a:lstStyle/>
                    <a:p>
                      <a:pPr>
                        <a:buNone/>
                      </a:pPr>
                      <a:r>
                        <a:rPr lang="en-US" dirty="0"/>
                        <a:t>a3f5c8d…</a:t>
                      </a:r>
                      <a:endParaRPr lang="en-US" dirty="0"/>
                    </a:p>
                  </a:txBody>
                  <a:tcPr anchor="ctr">
                    <a:lnL>
                      <a:noFill/>
                    </a:lnL>
                    <a:lnR>
                      <a:noFill/>
                    </a:lnR>
                    <a:lnT>
                      <a:noFill/>
                    </a:lnT>
                    <a:lnB>
                      <a:noFill/>
                    </a:lnB>
                    <a:noFill/>
                  </a:tcPr>
                </a:tc>
                <a:tc>
                  <a:txBody>
                    <a:bodyPr/>
                    <a:lstStyle/>
                    <a:p>
                      <a:pPr>
                        <a:buNone/>
                      </a:pPr>
                      <a:r>
                        <a:rPr lang="en-US"/>
                        <a:t>Trace code changes across versions</a:t>
                      </a:r>
                      <a:endParaRPr lang="en-US"/>
                    </a:p>
                  </a:txBody>
                  <a:tcPr anchor="ctr">
                    <a:lnL>
                      <a:noFill/>
                    </a:lnL>
                    <a:lnR>
                      <a:noFill/>
                    </a:lnR>
                    <a:lnT>
                      <a:noFill/>
                    </a:lnT>
                    <a:lnB>
                      <a:noFill/>
                    </a:lnB>
                    <a:noFill/>
                  </a:tcPr>
                </a:tc>
              </a:tr>
              <a:tr h="518160">
                <a:tc>
                  <a:txBody>
                    <a:bodyPr/>
                    <a:lstStyle/>
                    <a:p>
                      <a:pPr>
                        <a:buNone/>
                      </a:pPr>
                      <a:r>
                        <a:rPr lang="en-US" b="1"/>
                        <a:t>Patch Details</a:t>
                      </a:r>
                      <a:endParaRPr lang="en-US"/>
                    </a:p>
                  </a:txBody>
                  <a:tcPr anchor="ctr">
                    <a:lnL>
                      <a:noFill/>
                    </a:lnL>
                    <a:lnR>
                      <a:noFill/>
                    </a:lnR>
                    <a:lnT>
                      <a:noFill/>
                    </a:lnT>
                    <a:lnB>
                      <a:noFill/>
                    </a:lnB>
                    <a:noFill/>
                  </a:tcPr>
                </a:tc>
                <a:tc>
                  <a:txBody>
                    <a:bodyPr/>
                    <a:lstStyle/>
                    <a:p>
                      <a:pPr>
                        <a:buNone/>
                      </a:pPr>
                      <a:r>
                        <a:rPr lang="en-US"/>
                        <a:t>Patch Details</a:t>
                      </a:r>
                      <a:endParaRPr lang="en-US"/>
                    </a:p>
                  </a:txBody>
                  <a:tcPr anchor="ctr">
                    <a:lnL>
                      <a:noFill/>
                    </a:lnL>
                    <a:lnR>
                      <a:noFill/>
                    </a:lnR>
                    <a:lnT>
                      <a:noFill/>
                    </a:lnT>
                    <a:lnB>
                      <a:noFill/>
                    </a:lnB>
                    <a:noFill/>
                  </a:tcPr>
                </a:tc>
                <a:tc>
                  <a:txBody>
                    <a:bodyPr/>
                    <a:lstStyle/>
                    <a:p>
                      <a:pPr>
                        <a:buNone/>
                      </a:pPr>
                      <a:r>
                        <a:rPr lang="en-US"/>
                        <a:t>Specific code modifications in the fix</a:t>
                      </a:r>
                      <a:endParaRPr lang="en-US"/>
                    </a:p>
                  </a:txBody>
                  <a:tcPr anchor="ctr">
                    <a:lnL>
                      <a:noFill/>
                    </a:lnL>
                    <a:lnR>
                      <a:noFill/>
                    </a:lnR>
                    <a:lnT>
                      <a:noFill/>
                    </a:lnT>
                    <a:lnB>
                      <a:noFill/>
                    </a:lnB>
                    <a:noFill/>
                  </a:tcPr>
                </a:tc>
                <a:tc>
                  <a:txBody>
                    <a:bodyPr/>
                    <a:lstStyle/>
                    <a:p>
                      <a:pPr>
                        <a:buNone/>
                      </a:pPr>
                      <a:r>
                        <a:rPr lang="en-US" dirty="0" err="1"/>
                        <a:t>strcpy</a:t>
                      </a:r>
                      <a:r>
                        <a:rPr lang="en-US" dirty="0"/>
                        <a:t> → </a:t>
                      </a:r>
                      <a:r>
                        <a:rPr lang="en-US" dirty="0" err="1"/>
                        <a:t>strncpy</a:t>
                      </a:r>
                      <a:endParaRPr lang="en-US" dirty="0"/>
                    </a:p>
                  </a:txBody>
                  <a:tcPr anchor="ctr">
                    <a:lnL>
                      <a:noFill/>
                    </a:lnL>
                    <a:lnR>
                      <a:noFill/>
                    </a:lnR>
                    <a:lnT>
                      <a:noFill/>
                    </a:lnT>
                    <a:lnB>
                      <a:noFill/>
                    </a:lnB>
                    <a:noFill/>
                  </a:tcPr>
                </a:tc>
                <a:tc>
                  <a:txBody>
                    <a:bodyPr/>
                    <a:lstStyle/>
                    <a:p>
                      <a:pPr>
                        <a:buNone/>
                      </a:pPr>
                      <a:r>
                        <a:rPr lang="en-US" dirty="0"/>
                        <a:t>Understand how the vulnerability was fixed</a:t>
                      </a:r>
                      <a:endParaRPr lang="en-US" dirty="0"/>
                    </a:p>
                  </a:txBody>
                  <a:tcPr anchor="ctr">
                    <a:lnL>
                      <a:noFill/>
                    </a:lnL>
                    <a:lnR>
                      <a:noFill/>
                    </a:lnR>
                    <a:lnT>
                      <a:noFill/>
                    </a:lnT>
                    <a:lnB>
                      <a:noFill/>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5" name="Title 4"/>
          <p:cNvSpPr>
            <a:spLocks noGrp="1"/>
          </p:cNvSpPr>
          <p:nvPr>
            <p:ph type="title"/>
          </p:nvPr>
        </p:nvSpPr>
        <p:spPr/>
        <p:txBody>
          <a:bodyPr/>
          <a:lstStyle/>
          <a:p>
            <a:r>
              <a:rPr lang="en-US" altLang="zh-CN" dirty="0"/>
              <a:t>Code</a:t>
            </a:r>
            <a:r>
              <a:rPr lang="zh-CN" altLang="en-US" dirty="0"/>
              <a:t> </a:t>
            </a:r>
            <a:r>
              <a:rPr lang="en-US" altLang="zh-CN" dirty="0"/>
              <a:t>Representation</a:t>
            </a:r>
            <a:endParaRPr lang="en-US" dirty="0"/>
          </a:p>
        </p:txBody>
      </p:sp>
      <p:sp>
        <p:nvSpPr>
          <p:cNvPr id="7" name="文本框 6"/>
          <p:cNvSpPr txBox="1"/>
          <p:nvPr/>
        </p:nvSpPr>
        <p:spPr>
          <a:xfrm>
            <a:off x="609600" y="1460937"/>
            <a:ext cx="7221689" cy="496996"/>
          </a:xfrm>
          <a:prstGeom prst="rect">
            <a:avLst/>
          </a:prstGeom>
          <a:noFill/>
        </p:spPr>
        <p:txBody>
          <a:bodyPr wrap="square">
            <a:spAutoFit/>
          </a:bodyPr>
          <a:lstStyle/>
          <a:p>
            <a:pPr>
              <a:lnSpc>
                <a:spcPct val="150000"/>
              </a:lnSpc>
            </a:pPr>
            <a:r>
              <a:rPr lang="en-US" altLang="zh-CN" sz="2000" b="1" dirty="0"/>
              <a:t>How</a:t>
            </a:r>
            <a:r>
              <a:rPr lang="zh-CN" altLang="en-US" sz="2000" b="1" dirty="0"/>
              <a:t> </a:t>
            </a:r>
            <a:r>
              <a:rPr lang="en-US" altLang="zh-CN" sz="2000" b="1" dirty="0"/>
              <a:t>Is</a:t>
            </a:r>
            <a:r>
              <a:rPr lang="zh-CN" altLang="en-US" sz="2000" b="1" dirty="0"/>
              <a:t> </a:t>
            </a:r>
            <a:r>
              <a:rPr lang="en-US" altLang="zh-CN" sz="2000" b="1" dirty="0"/>
              <a:t>Code</a:t>
            </a:r>
            <a:r>
              <a:rPr lang="zh-CN" altLang="en-US" sz="2000" b="1" dirty="0"/>
              <a:t> </a:t>
            </a:r>
            <a:r>
              <a:rPr lang="en-US" altLang="zh-CN" sz="2000" b="1" dirty="0"/>
              <a:t>Converted</a:t>
            </a:r>
            <a:r>
              <a:rPr lang="zh-CN" altLang="en-US" sz="2000" b="1" dirty="0"/>
              <a:t> </a:t>
            </a:r>
            <a:r>
              <a:rPr lang="en-US" altLang="zh-CN" sz="2000" b="1" dirty="0"/>
              <a:t>into</a:t>
            </a:r>
            <a:r>
              <a:rPr lang="zh-CN" altLang="en-US" sz="2000" b="1" dirty="0"/>
              <a:t> </a:t>
            </a:r>
            <a:r>
              <a:rPr lang="en-US" altLang="zh-CN" sz="2000" b="1" dirty="0"/>
              <a:t>AI</a:t>
            </a:r>
            <a:r>
              <a:rPr lang="zh-CN" altLang="en-US" sz="2000" b="1" dirty="0"/>
              <a:t> </a:t>
            </a:r>
            <a:r>
              <a:rPr lang="en-US" altLang="zh-CN" sz="2000" b="1" dirty="0"/>
              <a:t>Input?</a:t>
            </a:r>
            <a:endParaRPr lang="en-US" altLang="zh-CN" sz="2000" b="1" dirty="0"/>
          </a:p>
        </p:txBody>
      </p:sp>
      <p:sp>
        <p:nvSpPr>
          <p:cNvPr id="6" name="文本框 5"/>
          <p:cNvSpPr txBox="1"/>
          <p:nvPr/>
        </p:nvSpPr>
        <p:spPr>
          <a:xfrm>
            <a:off x="725951" y="1982318"/>
            <a:ext cx="8507989" cy="2308324"/>
          </a:xfrm>
          <a:prstGeom prst="rect">
            <a:avLst/>
          </a:prstGeom>
          <a:noFill/>
        </p:spPr>
        <p:txBody>
          <a:bodyPr wrap="square">
            <a:spAutoFit/>
          </a:bodyPr>
          <a:lstStyle/>
          <a:p>
            <a:r>
              <a:rPr lang="zh-CN" altLang="en-US" sz="1800" dirty="0"/>
              <a:t>1. Tokenization </a:t>
            </a:r>
            <a:endParaRPr lang="zh-CN" altLang="en-US" sz="1800" dirty="0"/>
          </a:p>
          <a:p>
            <a:r>
              <a:rPr lang="zh-CN" altLang="en-US" sz="1800" dirty="0"/>
              <a:t>   • Use CLexer to parse C code into tokens</a:t>
            </a:r>
            <a:endParaRPr lang="zh-CN" altLang="en-US" sz="1800" dirty="0"/>
          </a:p>
          <a:p>
            <a:r>
              <a:rPr lang="zh-CN" altLang="en-US" sz="1800" dirty="0"/>
              <a:t>   • Remove comments &amp; string literals</a:t>
            </a:r>
            <a:endParaRPr lang="zh-CN" altLang="en-US" sz="1800" dirty="0"/>
          </a:p>
          <a:p>
            <a:r>
              <a:rPr lang="zh-CN" altLang="en-US" sz="1800" dirty="0"/>
              <a:t>   </a:t>
            </a:r>
            <a:endParaRPr lang="zh-CN" altLang="en-US" sz="1800" dirty="0"/>
          </a:p>
          <a:p>
            <a:r>
              <a:rPr lang="zh-CN" altLang="en-US" sz="1800" dirty="0"/>
              <a:t>2. Vocabulary Building </a:t>
            </a:r>
            <a:endParaRPr lang="zh-CN" altLang="en-US" sz="1800" dirty="0"/>
          </a:p>
          <a:p>
            <a:r>
              <a:rPr lang="zh-CN" altLang="en-US" sz="1800" dirty="0"/>
              <a:t>   • 161,622 unique tokens</a:t>
            </a:r>
            <a:endParaRPr lang="zh-CN" altLang="en-US" sz="1800" dirty="0"/>
          </a:p>
          <a:p>
            <a:r>
              <a:rPr lang="zh-CN" altLang="en-US" sz="1800" dirty="0"/>
              <a:t>   • Filter low-frequency tokens (min_freq=5)</a:t>
            </a:r>
            <a:endParaRPr lang="zh-CN" altLang="en-US" sz="1800" dirty="0"/>
          </a:p>
          <a:p>
            <a:r>
              <a:rPr lang="zh-CN" altLang="en-US" sz="1800" dirty="0"/>
              <a:t>   </a:t>
            </a:r>
            <a:endParaRPr lang="zh-CN" altLang="en-US" sz="1800" dirty="0"/>
          </a:p>
        </p:txBody>
      </p:sp>
      <p:sp>
        <p:nvSpPr>
          <p:cNvPr id="10" name="文本框 9"/>
          <p:cNvSpPr txBox="1"/>
          <p:nvPr/>
        </p:nvSpPr>
        <p:spPr>
          <a:xfrm>
            <a:off x="6663128" y="1982318"/>
            <a:ext cx="6100996" cy="2308324"/>
          </a:xfrm>
          <a:prstGeom prst="rect">
            <a:avLst/>
          </a:prstGeom>
          <a:noFill/>
        </p:spPr>
        <p:txBody>
          <a:bodyPr wrap="square">
            <a:spAutoFit/>
          </a:bodyPr>
          <a:lstStyle/>
          <a:p>
            <a:r>
              <a:rPr lang="zh-CN" altLang="en-US" sz="1800" dirty="0"/>
              <a:t>3. Sequence Encoding </a:t>
            </a:r>
            <a:endParaRPr lang="zh-CN" altLang="en-US" sz="1800" dirty="0"/>
          </a:p>
          <a:p>
            <a:r>
              <a:rPr lang="zh-CN" altLang="en-US" sz="1800" dirty="0"/>
              <a:t>   • Token → Integer IDs</a:t>
            </a:r>
            <a:endParaRPr lang="zh-CN" altLang="en-US" sz="1800" dirty="0"/>
          </a:p>
          <a:p>
            <a:r>
              <a:rPr lang="zh-CN" altLang="en-US" sz="1800" dirty="0"/>
              <a:t>   • Fixed length: 300 (padding/truncating)</a:t>
            </a:r>
            <a:endParaRPr lang="zh-CN" altLang="en-US" sz="1800" dirty="0"/>
          </a:p>
          <a:p>
            <a:r>
              <a:rPr lang="zh-CN" altLang="en-US" sz="1800" dirty="0"/>
              <a:t>   • Embedding: ID → 128-dim dense vectors</a:t>
            </a:r>
            <a:endParaRPr lang="zh-CN" altLang="en-US" sz="1800" dirty="0"/>
          </a:p>
          <a:p>
            <a:endParaRPr lang="zh-CN" altLang="en-US" sz="1800" dirty="0"/>
          </a:p>
          <a:p>
            <a:r>
              <a:rPr lang="zh-CN" altLang="en-US" sz="1800" dirty="0"/>
              <a:t>4. Representation Level</a:t>
            </a:r>
            <a:endParaRPr lang="zh-CN" altLang="en-US" sz="1800" dirty="0"/>
          </a:p>
          <a:p>
            <a:r>
              <a:rPr lang="zh-CN" altLang="en-US" sz="1800" dirty="0"/>
              <a:t>   • Function-level granularity</a:t>
            </a:r>
            <a:endParaRPr lang="zh-CN" altLang="en-US" sz="1800" dirty="0"/>
          </a:p>
          <a:p>
            <a:r>
              <a:rPr lang="zh-CN" altLang="en-US" sz="1800" dirty="0"/>
              <a:t>   • Sequential structure preserved</a:t>
            </a:r>
            <a:endParaRPr lang="zh-CN" alt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5" name="Title 4"/>
          <p:cNvSpPr>
            <a:spLocks noGrp="1"/>
          </p:cNvSpPr>
          <p:nvPr>
            <p:ph type="title"/>
          </p:nvPr>
        </p:nvSpPr>
        <p:spPr/>
        <p:txBody>
          <a:bodyPr/>
          <a:lstStyle/>
          <a:p>
            <a:r>
              <a:rPr lang="en-US" altLang="zh-CN" dirty="0"/>
              <a:t>Model</a:t>
            </a:r>
            <a:r>
              <a:rPr lang="zh-CN" altLang="en-US" dirty="0"/>
              <a:t> </a:t>
            </a:r>
            <a:r>
              <a:rPr lang="en-US" altLang="zh-CN" dirty="0"/>
              <a:t>Architecture</a:t>
            </a:r>
            <a:endParaRPr lang="en-US" dirty="0"/>
          </a:p>
        </p:txBody>
      </p:sp>
      <p:sp>
        <p:nvSpPr>
          <p:cNvPr id="7" name="文本框 6"/>
          <p:cNvSpPr txBox="1"/>
          <p:nvPr/>
        </p:nvSpPr>
        <p:spPr>
          <a:xfrm>
            <a:off x="609600" y="1460937"/>
            <a:ext cx="7221689" cy="496996"/>
          </a:xfrm>
          <a:prstGeom prst="rect">
            <a:avLst/>
          </a:prstGeom>
          <a:noFill/>
        </p:spPr>
        <p:txBody>
          <a:bodyPr wrap="square">
            <a:spAutoFit/>
          </a:bodyPr>
          <a:lstStyle/>
          <a:p>
            <a:pPr>
              <a:lnSpc>
                <a:spcPct val="150000"/>
              </a:lnSpc>
            </a:pPr>
            <a:r>
              <a:rPr lang="en-US" altLang="zh-CN" sz="2000" b="1" dirty="0"/>
              <a:t>Why Bi-LSTM + Attention?</a:t>
            </a:r>
            <a:endParaRPr lang="en-US" altLang="zh-CN" sz="2000" b="1" dirty="0"/>
          </a:p>
        </p:txBody>
      </p:sp>
      <p:sp>
        <p:nvSpPr>
          <p:cNvPr id="3" name="文本框 2"/>
          <p:cNvSpPr txBox="1"/>
          <p:nvPr/>
        </p:nvSpPr>
        <p:spPr>
          <a:xfrm>
            <a:off x="609600" y="1796672"/>
            <a:ext cx="8789233" cy="3139321"/>
          </a:xfrm>
          <a:prstGeom prst="rect">
            <a:avLst/>
          </a:prstGeom>
          <a:noFill/>
        </p:spPr>
        <p:txBody>
          <a:bodyPr wrap="square">
            <a:spAutoFit/>
          </a:bodyPr>
          <a:lstStyle/>
          <a:p>
            <a:endParaRPr lang="zh-CN" altLang="en-US" sz="1800" dirty="0"/>
          </a:p>
          <a:p>
            <a:r>
              <a:rPr lang="zh-CN" altLang="en-US" sz="1800" dirty="0"/>
              <a:t>1. Why Sequence Models?</a:t>
            </a:r>
            <a:endParaRPr lang="zh-CN" altLang="en-US" sz="1800" dirty="0"/>
          </a:p>
          <a:p>
            <a:r>
              <a:rPr lang="zh-CN" altLang="en-US" sz="1800" dirty="0"/>
              <a:t>   • Code has syntactic order (like natural language)</a:t>
            </a:r>
            <a:endParaRPr lang="zh-CN" altLang="en-US" sz="1800" dirty="0"/>
          </a:p>
          <a:p>
            <a:r>
              <a:rPr lang="zh-CN" altLang="en-US" sz="1800" dirty="0"/>
              <a:t>   • Dependencies between statements</a:t>
            </a:r>
            <a:endParaRPr lang="zh-CN" altLang="en-US" sz="1800" dirty="0"/>
          </a:p>
          <a:p>
            <a:r>
              <a:rPr lang="zh-CN" altLang="en-US" sz="1800" dirty="0"/>
              <a:t>   • Vulnerability patterns span multiple lines</a:t>
            </a:r>
            <a:endParaRPr lang="zh-CN" altLang="en-US" sz="1800" dirty="0"/>
          </a:p>
          <a:p>
            <a:endParaRPr lang="zh-CN" altLang="en-US" sz="1800" dirty="0"/>
          </a:p>
          <a:p>
            <a:r>
              <a:rPr lang="zh-CN" altLang="en-US" sz="1800" dirty="0"/>
              <a:t>2. Why Bi-LSTM?</a:t>
            </a:r>
            <a:endParaRPr lang="zh-CN" altLang="en-US" sz="1800" dirty="0"/>
          </a:p>
          <a:p>
            <a:r>
              <a:rPr lang="zh-CN" altLang="en-US" sz="1800" dirty="0"/>
              <a:t>   • Forward pass: understand what comes before</a:t>
            </a:r>
            <a:endParaRPr lang="zh-CN" altLang="en-US" sz="1800" dirty="0"/>
          </a:p>
          <a:p>
            <a:r>
              <a:rPr lang="zh-CN" altLang="en-US" sz="1800" dirty="0"/>
              <a:t>   • Backward pass: understand what comes after</a:t>
            </a:r>
            <a:endParaRPr lang="zh-CN" altLang="en-US" sz="1800" dirty="0"/>
          </a:p>
          <a:p>
            <a:r>
              <a:rPr lang="zh-CN" altLang="en-US" sz="1800" dirty="0"/>
              <a:t>   • Example: Variable usage requires both definition &amp; usage context</a:t>
            </a:r>
            <a:endParaRPr lang="zh-CN" altLang="en-US" sz="1800" dirty="0"/>
          </a:p>
          <a:p>
            <a:endParaRPr lang="zh-CN" altLang="en-US" sz="1800" dirty="0"/>
          </a:p>
        </p:txBody>
      </p:sp>
      <p:sp>
        <p:nvSpPr>
          <p:cNvPr id="8" name="文本框 7"/>
          <p:cNvSpPr txBox="1"/>
          <p:nvPr/>
        </p:nvSpPr>
        <p:spPr>
          <a:xfrm>
            <a:off x="7562537" y="2073670"/>
            <a:ext cx="6100996" cy="2585323"/>
          </a:xfrm>
          <a:prstGeom prst="rect">
            <a:avLst/>
          </a:prstGeom>
          <a:noFill/>
        </p:spPr>
        <p:txBody>
          <a:bodyPr wrap="square">
            <a:spAutoFit/>
          </a:bodyPr>
          <a:lstStyle/>
          <a:p>
            <a:r>
              <a:rPr lang="zh-CN" altLang="en-US" sz="1800" dirty="0"/>
              <a:t>3. Why Attention? ⭐ </a:t>
            </a:r>
            <a:endParaRPr lang="zh-CN" altLang="en-US" sz="1800" dirty="0"/>
          </a:p>
          <a:p>
            <a:r>
              <a:rPr lang="zh-CN" altLang="en-US" sz="1800" dirty="0"/>
              <a:t>   • Not all code tokens are equally important</a:t>
            </a:r>
            <a:endParaRPr lang="zh-CN" altLang="en-US" sz="1800" dirty="0"/>
          </a:p>
          <a:p>
            <a:r>
              <a:rPr lang="zh-CN" altLang="en-US" sz="1800" dirty="0"/>
              <a:t>   • Focus on vulnerability-critical patterns</a:t>
            </a:r>
            <a:endParaRPr lang="zh-CN" altLang="en-US" sz="1800" dirty="0"/>
          </a:p>
          <a:p>
            <a:r>
              <a:rPr lang="zh-CN" altLang="en-US" sz="1800" dirty="0"/>
              <a:t>   • Automatically weight relevant tokens</a:t>
            </a:r>
            <a:endParaRPr lang="zh-CN" altLang="en-US" sz="1800" dirty="0"/>
          </a:p>
          <a:p>
            <a:endParaRPr lang="zh-CN" altLang="en-US" sz="1800" dirty="0"/>
          </a:p>
          <a:p>
            <a:r>
              <a:rPr lang="zh-CN" altLang="en-US" sz="1800" dirty="0"/>
              <a:t>4. NLP Analogy</a:t>
            </a:r>
            <a:endParaRPr lang="zh-CN" altLang="en-US" sz="1800" dirty="0"/>
          </a:p>
          <a:p>
            <a:r>
              <a:rPr lang="zh-CN" altLang="en-US" sz="1800" dirty="0"/>
              <a:t>   • Code = Structured language</a:t>
            </a:r>
            <a:endParaRPr lang="zh-CN" altLang="en-US" sz="1800" dirty="0"/>
          </a:p>
          <a:p>
            <a:r>
              <a:rPr lang="zh-CN" altLang="en-US" sz="1800" dirty="0"/>
              <a:t>   • Tokens = Words</a:t>
            </a:r>
            <a:endParaRPr lang="zh-CN" altLang="en-US" sz="1800" dirty="0"/>
          </a:p>
          <a:p>
            <a:r>
              <a:rPr lang="zh-CN" altLang="en-US" sz="1800" dirty="0"/>
              <a:t>   • Functions = Sentences/Paragraphs</a:t>
            </a:r>
            <a:endParaRPr lang="zh-CN" alt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3" name="Google Shape;93;p5"/>
          <p:cNvSpPr txBox="1">
            <a:spLocks noGrp="1"/>
          </p:cNvSpPr>
          <p:nvPr>
            <p:ph type="sldNum" idx="12"/>
          </p:nvPr>
        </p:nvSpPr>
        <p:spPr>
          <a:xfrm>
            <a:off x="1" y="6387664"/>
            <a:ext cx="609600" cy="3941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fld>
            <a:endParaRPr lang="en-US"/>
          </a:p>
        </p:txBody>
      </p:sp>
      <p:sp>
        <p:nvSpPr>
          <p:cNvPr id="5" name="Title 4"/>
          <p:cNvSpPr>
            <a:spLocks noGrp="1"/>
          </p:cNvSpPr>
          <p:nvPr>
            <p:ph type="title"/>
          </p:nvPr>
        </p:nvSpPr>
        <p:spPr/>
        <p:txBody>
          <a:bodyPr/>
          <a:lstStyle/>
          <a:p>
            <a:r>
              <a:rPr lang="en-US" altLang="zh-CN" dirty="0"/>
              <a:t>Hands-on</a:t>
            </a:r>
            <a:r>
              <a:rPr lang="zh-CN" altLang="en-US" dirty="0"/>
              <a:t> </a:t>
            </a:r>
            <a:r>
              <a:rPr lang="en-US" altLang="zh-CN" dirty="0"/>
              <a:t>Task</a:t>
            </a:r>
            <a:endParaRPr lang="en-US" dirty="0"/>
          </a:p>
        </p:txBody>
      </p:sp>
      <p:sp>
        <p:nvSpPr>
          <p:cNvPr id="4" name="文本框 3"/>
          <p:cNvSpPr txBox="1"/>
          <p:nvPr/>
        </p:nvSpPr>
        <p:spPr>
          <a:xfrm>
            <a:off x="609600" y="1337633"/>
            <a:ext cx="6100996" cy="1703030"/>
          </a:xfrm>
          <a:prstGeom prst="rect">
            <a:avLst/>
          </a:prstGeom>
          <a:noFill/>
        </p:spPr>
        <p:txBody>
          <a:bodyPr wrap="square">
            <a:spAutoFit/>
          </a:bodyPr>
          <a:lstStyle/>
          <a:p>
            <a:pPr>
              <a:lnSpc>
                <a:spcPct val="150000"/>
              </a:lnSpc>
              <a:buNone/>
            </a:pPr>
            <a:r>
              <a:rPr lang="en-US" altLang="zh-CN" sz="1800" b="1" dirty="0"/>
              <a:t>Task 1: Explore the Dataset</a:t>
            </a:r>
            <a:endParaRPr lang="en-US" altLang="zh-CN" sz="1800" b="1" dirty="0"/>
          </a:p>
          <a:p>
            <a:pPr>
              <a:lnSpc>
                <a:spcPct val="150000"/>
              </a:lnSpc>
            </a:pPr>
            <a:r>
              <a:rPr lang="en-US" altLang="zh-CN" sz="1800" b="1" dirty="0"/>
              <a:t>Task 2: Train the Model</a:t>
            </a:r>
            <a:endParaRPr lang="en-US" altLang="zh-CN" sz="1800" b="1" dirty="0"/>
          </a:p>
          <a:p>
            <a:pPr>
              <a:lnSpc>
                <a:spcPct val="150000"/>
              </a:lnSpc>
            </a:pPr>
            <a:r>
              <a:rPr lang="en-US" altLang="zh-CN" sz="1800" b="1" dirty="0"/>
              <a:t>Task 3: Make Predictions</a:t>
            </a:r>
            <a:endParaRPr lang="en-US" altLang="zh-CN" sz="1800" b="1" dirty="0"/>
          </a:p>
          <a:p>
            <a:pPr>
              <a:lnSpc>
                <a:spcPct val="150000"/>
              </a:lnSpc>
              <a:buNone/>
            </a:pPr>
            <a:endParaRPr lang="en-US" altLang="zh-CN" sz="1800" b="1" dirty="0"/>
          </a:p>
        </p:txBody>
      </p:sp>
      <p:sp>
        <p:nvSpPr>
          <p:cNvPr id="9" name="文本框 8"/>
          <p:cNvSpPr txBox="1"/>
          <p:nvPr/>
        </p:nvSpPr>
        <p:spPr>
          <a:xfrm>
            <a:off x="609600" y="3023333"/>
            <a:ext cx="6100996" cy="1702967"/>
          </a:xfrm>
          <a:prstGeom prst="rect">
            <a:avLst/>
          </a:prstGeom>
          <a:noFill/>
        </p:spPr>
        <p:txBody>
          <a:bodyPr wrap="square">
            <a:spAutoFit/>
          </a:bodyPr>
          <a:lstStyle/>
          <a:p>
            <a:pPr>
              <a:lnSpc>
                <a:spcPct val="150000"/>
              </a:lnSpc>
              <a:buNone/>
            </a:pPr>
            <a:r>
              <a:rPr lang="en-US" altLang="zh-CN" sz="1800" b="1" dirty="0"/>
              <a:t>Task 1: Explore the Dataset</a:t>
            </a:r>
            <a:endParaRPr lang="en-US" altLang="zh-CN" sz="1800" b="1" dirty="0"/>
          </a:p>
          <a:p>
            <a:pPr marL="285750" indent="-285750">
              <a:lnSpc>
                <a:spcPct val="150000"/>
              </a:lnSpc>
              <a:buFont typeface="Arial" panose="020B0604020202090204" pitchFamily="34" charset="0"/>
              <a:buChar char="•"/>
            </a:pPr>
            <a:r>
              <a:rPr lang="en-US" altLang="zh-CN" sz="1800" dirty="0"/>
              <a:t>Inspect input features</a:t>
            </a:r>
            <a:endParaRPr lang="en-US" altLang="zh-CN" sz="1800" dirty="0"/>
          </a:p>
          <a:p>
            <a:pPr marL="285750" indent="-285750">
              <a:lnSpc>
                <a:spcPct val="150000"/>
              </a:lnSpc>
              <a:buFont typeface="Arial" panose="020B0604020202090204" pitchFamily="34" charset="0"/>
              <a:buChar char="•"/>
            </a:pPr>
            <a:r>
              <a:rPr lang="en-US" altLang="zh-CN" sz="1800" dirty="0"/>
              <a:t>Understand labels</a:t>
            </a:r>
            <a:endParaRPr lang="en-US" altLang="zh-CN" sz="1800" dirty="0"/>
          </a:p>
          <a:p>
            <a:pPr marL="285750" indent="-285750">
              <a:lnSpc>
                <a:spcPct val="150000"/>
              </a:lnSpc>
              <a:buFont typeface="Arial" panose="020B0604020202090204" pitchFamily="34" charset="0"/>
              <a:buChar char="•"/>
            </a:pPr>
            <a:r>
              <a:rPr lang="en-US" altLang="zh-CN" sz="1800" dirty="0"/>
              <a:t>Observe data imbalance</a:t>
            </a:r>
            <a:endParaRPr lang="en-US" altLang="zh-CN" sz="1800" dirty="0"/>
          </a:p>
        </p:txBody>
      </p:sp>
      <p:sp>
        <p:nvSpPr>
          <p:cNvPr id="11" name="文本框 10"/>
          <p:cNvSpPr txBox="1"/>
          <p:nvPr/>
        </p:nvSpPr>
        <p:spPr>
          <a:xfrm>
            <a:off x="4444584" y="3023333"/>
            <a:ext cx="4129790" cy="1702967"/>
          </a:xfrm>
          <a:prstGeom prst="rect">
            <a:avLst/>
          </a:prstGeom>
          <a:noFill/>
        </p:spPr>
        <p:txBody>
          <a:bodyPr wrap="square">
            <a:spAutoFit/>
          </a:bodyPr>
          <a:lstStyle/>
          <a:p>
            <a:pPr>
              <a:lnSpc>
                <a:spcPct val="150000"/>
              </a:lnSpc>
              <a:buNone/>
            </a:pPr>
            <a:r>
              <a:rPr lang="en-US" altLang="zh-CN" sz="1800" b="1" dirty="0"/>
              <a:t>Task 2: Train the Model</a:t>
            </a:r>
            <a:endParaRPr lang="en-US" altLang="zh-CN" sz="1800" b="1" dirty="0"/>
          </a:p>
          <a:p>
            <a:pPr marL="285750" indent="-285750">
              <a:lnSpc>
                <a:spcPct val="150000"/>
              </a:lnSpc>
              <a:buFont typeface="Arial" panose="020B0604020202090204" pitchFamily="34" charset="0"/>
              <a:buChar char="•"/>
            </a:pPr>
            <a:r>
              <a:rPr lang="en-US" altLang="zh-CN" sz="1800" dirty="0"/>
              <a:t>Run training cells</a:t>
            </a:r>
            <a:endParaRPr lang="en-US" altLang="zh-CN" sz="1800" dirty="0"/>
          </a:p>
          <a:p>
            <a:pPr marL="285750" indent="-285750">
              <a:lnSpc>
                <a:spcPct val="150000"/>
              </a:lnSpc>
              <a:buFont typeface="Arial" panose="020B0604020202090204" pitchFamily="34" charset="0"/>
              <a:buChar char="•"/>
            </a:pPr>
            <a:r>
              <a:rPr lang="en-US" altLang="zh-CN" sz="1800" dirty="0"/>
              <a:t>Observe loss and accuracy</a:t>
            </a:r>
            <a:endParaRPr lang="en-US" altLang="zh-CN" sz="1800" dirty="0"/>
          </a:p>
          <a:p>
            <a:pPr marL="285750" indent="-285750">
              <a:lnSpc>
                <a:spcPct val="150000"/>
              </a:lnSpc>
              <a:buFont typeface="Arial" panose="020B0604020202090204" pitchFamily="34" charset="0"/>
              <a:buChar char="•"/>
            </a:pPr>
            <a:r>
              <a:rPr lang="en-US" altLang="zh-CN" sz="1800" dirty="0"/>
              <a:t>Compare train vs validation</a:t>
            </a:r>
            <a:endParaRPr lang="en-US" altLang="zh-CN" sz="1800" dirty="0"/>
          </a:p>
        </p:txBody>
      </p:sp>
      <p:sp>
        <p:nvSpPr>
          <p:cNvPr id="13" name="文本框 12"/>
          <p:cNvSpPr txBox="1"/>
          <p:nvPr/>
        </p:nvSpPr>
        <p:spPr>
          <a:xfrm>
            <a:off x="8147152" y="3040663"/>
            <a:ext cx="6100996" cy="871970"/>
          </a:xfrm>
          <a:prstGeom prst="rect">
            <a:avLst/>
          </a:prstGeom>
          <a:noFill/>
        </p:spPr>
        <p:txBody>
          <a:bodyPr wrap="square">
            <a:spAutoFit/>
          </a:bodyPr>
          <a:lstStyle/>
          <a:p>
            <a:pPr>
              <a:lnSpc>
                <a:spcPct val="150000"/>
              </a:lnSpc>
              <a:buNone/>
            </a:pPr>
            <a:r>
              <a:rPr lang="en-US" altLang="zh-CN" sz="1800" b="1" dirty="0"/>
              <a:t>Task 3: Make Predictions</a:t>
            </a:r>
            <a:endParaRPr lang="en-US" altLang="zh-CN" sz="1800" b="1" dirty="0"/>
          </a:p>
          <a:p>
            <a:pPr marL="285750" indent="-285750">
              <a:lnSpc>
                <a:spcPct val="150000"/>
              </a:lnSpc>
              <a:buFont typeface="Arial" panose="020B0604020202090204" pitchFamily="34" charset="0"/>
              <a:buChar char="•"/>
            </a:pPr>
            <a:r>
              <a:rPr lang="en-US" altLang="zh-CN" sz="1800" dirty="0"/>
              <a:t>Test on unseen samples</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b23d1e9efb_0_31"/>
          <p:cNvSpPr txBox="1"/>
          <p:nvPr/>
        </p:nvSpPr>
        <p:spPr>
          <a:xfrm>
            <a:off x="609600" y="2523250"/>
            <a:ext cx="5616000" cy="9906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chemeClr val="lt1"/>
              </a:buClr>
              <a:buSzPts val="4000"/>
              <a:buFont typeface="Verdana" panose="020B0804030504040204"/>
              <a:buNone/>
            </a:pPr>
            <a:r>
              <a:rPr lang="en-US" sz="4000" b="1">
                <a:solidFill>
                  <a:schemeClr val="lt1"/>
                </a:solidFill>
                <a:latin typeface="Verdana" panose="020B0804030504040204"/>
                <a:ea typeface="Verdana" panose="020B0804030504040204"/>
                <a:cs typeface="Verdana" panose="020B0804030504040204"/>
                <a:sym typeface="Verdana" panose="020B0804030504040204"/>
              </a:rPr>
              <a:t>End</a:t>
            </a:r>
            <a:endParaRPr sz="4000" b="1">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206" name="Google Shape;206;g1b23d1e9efb_0_31"/>
          <p:cNvSpPr txBox="1">
            <a:spLocks noGrp="1"/>
          </p:cNvSpPr>
          <p:nvPr>
            <p:ph type="subTitle" idx="1"/>
          </p:nvPr>
        </p:nvSpPr>
        <p:spPr>
          <a:xfrm>
            <a:off x="723900" y="3766825"/>
            <a:ext cx="9144000" cy="2121600"/>
          </a:xfrm>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SzPts val="2800"/>
              <a:buNone/>
            </a:pPr>
            <a:endParaRPr dirty="0"/>
          </a:p>
        </p:txBody>
      </p:sp>
    </p:spTree>
  </p:cSld>
  <p:clrMapOvr>
    <a:masterClrMapping/>
  </p:clrMapOvr>
</p:sld>
</file>

<file path=ppt/theme/theme1.xml><?xml version="1.0" encoding="utf-8"?>
<a:theme xmlns:a="http://schemas.openxmlformats.org/drawingml/2006/main" name="WPI-White">
  <a:themeElements>
    <a:clrScheme name="Custom 56">
      <a:dk1>
        <a:srgbClr val="000000"/>
      </a:dk1>
      <a:lt1>
        <a:srgbClr val="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8169</Words>
  <Application>WPS 演示</Application>
  <PresentationFormat>宽屏</PresentationFormat>
  <Paragraphs>445</Paragraphs>
  <Slides>27</Slides>
  <Notes>25</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27</vt:i4>
      </vt:variant>
    </vt:vector>
  </HeadingPairs>
  <TitlesOfParts>
    <vt:vector size="49" baseType="lpstr">
      <vt:lpstr>Arial</vt:lpstr>
      <vt:lpstr>宋体</vt:lpstr>
      <vt:lpstr>Wingdings</vt:lpstr>
      <vt:lpstr>Arial</vt:lpstr>
      <vt:lpstr>Verdana</vt:lpstr>
      <vt:lpstr>Noto Sans Symbols</vt:lpstr>
      <vt:lpstr>Thonburi</vt:lpstr>
      <vt:lpstr>Courier New</vt:lpstr>
      <vt:lpstr>Times New Roman</vt:lpstr>
      <vt:lpstr>Calibri</vt:lpstr>
      <vt:lpstr>Helvetica Neue</vt:lpstr>
      <vt:lpstr>Helvetica</vt:lpstr>
      <vt:lpstr>微软雅黑</vt:lpstr>
      <vt:lpstr>汉仪旗黑</vt:lpstr>
      <vt:lpstr>宋体</vt:lpstr>
      <vt:lpstr>Arial Unicode MS</vt:lpstr>
      <vt:lpstr>宋体-简</vt:lpstr>
      <vt:lpstr>Apple Color Emoji</vt:lpstr>
      <vt:lpstr>Arial Bold</vt:lpstr>
      <vt:lpstr>Verdana Bold</vt:lpstr>
      <vt:lpstr>Verdana</vt:lpstr>
      <vt:lpstr>WPI-White</vt:lpstr>
      <vt:lpstr>     AI-assisted Intrusion Detection  </vt:lpstr>
      <vt:lpstr>Content</vt:lpstr>
      <vt:lpstr>What system logs look like</vt:lpstr>
      <vt:lpstr>What system logs look like</vt:lpstr>
      <vt:lpstr>What system logs look like</vt:lpstr>
      <vt:lpstr>Limitaion of traditional method</vt:lpstr>
      <vt:lpstr>Limitaion of traditional method</vt:lpstr>
      <vt:lpstr>How machine learning method helps IDS</vt:lpstr>
      <vt:lpstr>Hands on experiments</vt:lpstr>
      <vt:lpstr>     AI-assisted Binary Fuzzing  </vt:lpstr>
      <vt:lpstr>Content</vt:lpstr>
      <vt:lpstr>How code works during execution</vt:lpstr>
      <vt:lpstr>How code works during execution</vt:lpstr>
      <vt:lpstr>How code works during execution</vt:lpstr>
      <vt:lpstr>How code works during execution</vt:lpstr>
      <vt:lpstr>Why dynamic detection method as fuzzing matters</vt:lpstr>
      <vt:lpstr>Why dynamic detection method as fuzzing matters</vt:lpstr>
      <vt:lpstr>Why dynamic detection method as fuzzing matters</vt:lpstr>
      <vt:lpstr>How LLMs helps fuzzing</vt:lpstr>
      <vt:lpstr>Hands on experiments</vt:lpstr>
      <vt:lpstr>     AI-assisted Code Vulnerability Detection   </vt:lpstr>
      <vt:lpstr>Why do we need Vulnerability Detection</vt:lpstr>
      <vt:lpstr>Task Definition</vt:lpstr>
      <vt:lpstr>Code Representation</vt:lpstr>
      <vt:lpstr>Model Architecture</vt:lpstr>
      <vt:lpstr>Hands-on Task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dc:title>
  <dc:creator>Melissa</dc:creator>
  <cp:lastModifiedBy>mcfly</cp:lastModifiedBy>
  <cp:revision>82</cp:revision>
  <dcterms:created xsi:type="dcterms:W3CDTF">2026-01-19T21:49:08Z</dcterms:created>
  <dcterms:modified xsi:type="dcterms:W3CDTF">2026-01-19T21:49:08Z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A14C5E5559674A13B70A6169CAA914C6_43</vt:lpwstr>
  </property>
  <property fmtid="{D5CDD505-2E9C-101B-9397-08002B2CF9AE}" pid="3" name="KSOProductBuildVer">
    <vt:lpwstr>2052-6.10.0.8196</vt:lpwstr>
  </property>
</Properties>
</file>