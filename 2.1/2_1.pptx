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84" r:id="rId3"/>
    <p:sldId id="285" r:id="rId5"/>
    <p:sldId id="287" r:id="rId6"/>
    <p:sldId id="289" r:id="rId7"/>
    <p:sldId id="290" r:id="rId8"/>
    <p:sldId id="286" r:id="rId9"/>
    <p:sldId id="293" r:id="rId10"/>
    <p:sldId id="294" r:id="rId11"/>
    <p:sldId id="295" r:id="rId12"/>
    <p:sldId id="256" r:id="rId13"/>
    <p:sldId id="258" r:id="rId14"/>
    <p:sldId id="270" r:id="rId15"/>
    <p:sldId id="278" r:id="rId16"/>
    <p:sldId id="279" r:id="rId17"/>
    <p:sldId id="271" r:id="rId18"/>
    <p:sldId id="281" r:id="rId19"/>
    <p:sldId id="282" r:id="rId20"/>
    <p:sldId id="272" r:id="rId21"/>
    <p:sldId id="274" r:id="rId22"/>
    <p:sldId id="273" r:id="rId23"/>
    <p:sldId id="296" r:id="rId24"/>
    <p:sldId id="297" r:id="rId25"/>
    <p:sldId id="298" r:id="rId26"/>
    <p:sldId id="299" r:id="rId27"/>
    <p:sldId id="300" r:id="rId28"/>
    <p:sldId id="301" r:id="rId29"/>
    <p:sldId id="269" r:id="rId3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725" userDrawn="1">
          <p15:clr>
            <a:srgbClr val="A4A3A4"/>
          </p15:clr>
        </p15:guide>
        <p15:guide id="2" orient="horz" pos="960" userDrawn="1">
          <p15:clr>
            <a:srgbClr val="A4A3A4"/>
          </p15:clr>
        </p15:guide>
        <p15:guide id="3" orient="horz" pos="3888" userDrawn="1">
          <p15:clr>
            <a:srgbClr val="A4A3A4"/>
          </p15:clr>
        </p15:guide>
        <p15:guide id="4" pos="384" userDrawn="1">
          <p15:clr>
            <a:srgbClr val="A4A3A4"/>
          </p15:clr>
        </p15:guide>
        <p15:guide id="5" pos="729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304"/>
    <p:restoredTop sz="68503"/>
  </p:normalViewPr>
  <p:slideViewPr>
    <p:cSldViewPr snapToGrid="0" showGuides="1">
      <p:cViewPr varScale="1">
        <p:scale>
          <a:sx n="85" d="100"/>
          <a:sy n="85" d="100"/>
        </p:scale>
        <p:origin x="1016" y="176"/>
      </p:cViewPr>
      <p:guideLst>
        <p:guide orient="horz" pos="725"/>
        <p:guide orient="horz" pos="960"/>
        <p:guide orient="horz" pos="3888"/>
        <p:guide pos="384"/>
        <p:guide pos="7296"/>
      </p:guideLst>
    </p:cSldViewPr>
  </p:slideViewPr>
  <p:outlineViewPr>
    <p:cViewPr>
      <p:scale>
        <a:sx n="33" d="100"/>
        <a:sy n="33" d="100"/>
      </p:scale>
      <p:origin x="0" y="-152"/>
    </p:cViewPr>
  </p:outlineViewPr>
  <p:notesTextViewPr>
    <p:cViewPr>
      <p:scale>
        <a:sx n="1" d="1"/>
        <a:sy n="1" d="1"/>
      </p:scale>
      <p:origin x="0" y="0"/>
    </p:cViewPr>
  </p:notesTextViewPr>
  <p:notesViewPr>
    <p:cSldViewPr snapToGrid="0">
      <p:cViewPr varScale="1">
        <p:scale>
          <a:sx n="100" d="100"/>
          <a:sy n="100"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3" Type="http://schemas.openxmlformats.org/officeDocument/2006/relationships/tableStyles" Target="tableStyles.xml"/><Relationship Id="rId32" Type="http://schemas.openxmlformats.org/officeDocument/2006/relationships/viewProps" Target="viewProps.xml"/><Relationship Id="rId31" Type="http://schemas.openxmlformats.org/officeDocument/2006/relationships/presProps" Target="presProps.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5" name="Google Shape;5;n"/>
          <p:cNvSpPr>
            <a:spLocks noGrp="1" noRot="1" noChangeAspect="1"/>
          </p:cNvSpPr>
          <p:nvPr>
            <p:ph type="sldImg" idx="3"/>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74"/>
        <p:cNvGrpSpPr/>
        <p:nvPr/>
      </p:nvGrpSpPr>
      <p:grpSpPr>
        <a:xfrm>
          <a:off x="0" y="0"/>
          <a:ext cx="0" cy="0"/>
          <a:chOff x="0" y="0"/>
          <a:chExt cx="0" cy="0"/>
        </a:xfrm>
      </p:grpSpPr>
      <p:sp>
        <p:nvSpPr>
          <p:cNvPr id="75" name="Google Shape;75;p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76" name="Google Shape;7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dirty="0"/>
              <a:t>Signature-based Intrusion Detection System: This system works on the principle of matching. The data is analyzed and compared with the signature of known attacks. In case of any matching, an alert is issued. An advantage of this system is it has more accuracy and standard alarms understood by the user.</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dirty="0"/>
              <a:t>Anomaly-based Intrusion Detection System: It consists of a statistical model of normal network traffic which consists of the bandwidth used, the protocols defined for the traffic, the ports, and devices that are part of the network. It regularly monitors the network traffic and compares it with the statistical model. In case of any anomaly or discrepancy, the administrator is alerted. An advantage of this system is it can detect new and unique attacks.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74"/>
        <p:cNvGrpSpPr/>
        <p:nvPr/>
      </p:nvGrpSpPr>
      <p:grpSpPr>
        <a:xfrm>
          <a:off x="0" y="0"/>
          <a:ext cx="0" cy="0"/>
          <a:chOff x="0" y="0"/>
          <a:chExt cx="0" cy="0"/>
        </a:xfrm>
      </p:grpSpPr>
      <p:sp>
        <p:nvSpPr>
          <p:cNvPr id="75" name="Google Shape;75;p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76" name="Google Shape;7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Here is the outline of today’s talk.</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First, I’ll briefly explain how C and C++ programs execute, because this directly affects how fuzzing works.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Then I’ll explain why dynamic detection methods, especially fuzzing, are necessary compared to static analysis.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After that, I’ll introduce how large language models can help fuzzing, especially in generating and mutating inputs.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Finally, I’ll show some hands-on experimental results, including coverage improvements on real-world OSS-Fuzz projects.</a:t>
            </a: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Let’s start with how C and C++ programs work during execution.</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After compilation, the program is executed with some input. This input can come from standard input, a file, or in the fuzzing setting, from a fuzzing harness.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The key point here is that the input directly influences how the program executes, which functions are called, and which branches are taken.</a:t>
            </a:r>
            <a:br>
              <a:rPr dirty="0"/>
            </a:br>
            <a:br>
              <a:rPr dirty="0"/>
            </a:br>
            <a:br>
              <a:rPr dirty="0"/>
            </a:br>
            <a:br>
              <a:rPr dirty="0"/>
            </a:br>
            <a:r>
              <a:rPr dirty="0"/>
              <a:t>To explain what a fuzzing harness is, let’s look at this concrete example.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In fuzzing, a harness is a small piece of glue code that connects the fuzzer with the real program logic we want to test.</a:t>
            </a:r>
            <a:endParaRPr dirty="0"/>
          </a:p>
          <a:p>
            <a:pPr marL="0" lvl="0" indent="0" algn="l" rtl="0">
              <a:spcBef>
                <a:spcPts val="0"/>
              </a:spcBef>
              <a:spcAft>
                <a:spcPts val="0"/>
              </a:spcAft>
              <a:buNone/>
            </a:pP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Every libFuzzer-based fuzzing harness starts with this function,</a:t>
            </a:r>
            <a:endParaRPr dirty="0"/>
          </a:p>
          <a:p>
            <a:pPr marL="0" lvl="0" indent="0" algn="l" rtl="0">
              <a:spcBef>
                <a:spcPts val="0"/>
              </a:spcBef>
              <a:spcAft>
                <a:spcPts val="0"/>
              </a:spcAft>
              <a:buNone/>
            </a:pPr>
            <a:r>
              <a:rPr dirty="0"/>
              <a:t>LLVMFuzzerTestOneInput.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The fuzzer repeatedly calls this function and provides: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data: a pointer to raw input bytes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size: the length of the input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From the program’s perspective, this input is untrusted and arbitrary, exactly like attacker-controlled input.</a:t>
            </a:r>
            <a:br>
              <a:rPr dirty="0"/>
            </a:br>
            <a:br>
              <a:rPr dirty="0"/>
            </a:br>
            <a:br>
              <a:rPr dirty="0"/>
            </a:br>
            <a:r>
              <a:rPr dirty="0"/>
              <a:t>Here, the harness maps raw fuzzer input into a real API call.</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In this example, the input bytes are interpreted as an XML document and passed into xmlReaderForMemory, which is a libxml2 parsing function.</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line is critical:</a:t>
            </a:r>
            <a:endParaRPr dirty="0"/>
          </a:p>
          <a:p>
            <a:pPr marL="0" lvl="0" indent="0" algn="l" rtl="0">
              <a:spcBef>
                <a:spcPts val="0"/>
              </a:spcBef>
              <a:spcAft>
                <a:spcPts val="0"/>
              </a:spcAft>
              <a:buNone/>
            </a:pPr>
            <a:r>
              <a:rPr dirty="0"/>
              <a:t>it decides how the fuzzed data interacts with the target library</a:t>
            </a:r>
            <a:br>
              <a:rPr dirty="0"/>
            </a:br>
            <a:br>
              <a:rPr dirty="0"/>
            </a:br>
            <a:br>
              <a:rPr dirty="0"/>
            </a:br>
            <a:br>
              <a:rPr dirty="0"/>
            </a:br>
            <a:br>
              <a:rPr dirty="0"/>
            </a:br>
            <a:r>
              <a:rPr dirty="0"/>
              <a:t>Once the XML reader is created, the harness forces the library to fully parse the document.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ensures that: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internal parsing logic is exercised</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deep control-flow paths inside libxml2 are triggered</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Without this loop, many bugs would never be reached.</a:t>
            </a:r>
            <a:br>
              <a:rPr dirty="0"/>
            </a:br>
            <a:br>
              <a:rPr dirty="0"/>
            </a:br>
            <a:br>
              <a:rPr dirty="0"/>
            </a:br>
            <a:br>
              <a:rPr dirty="0"/>
            </a:br>
            <a:br>
              <a:rPr dirty="0"/>
            </a:br>
            <a:endParaRPr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A very important observation is that each execution only follows one path.</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Given a specific input, the program starts from main() and follows one specific call path through the call graph.</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Many other functions and branches are simply not executed at all.</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is why testing with only a few inputs is insufficient — large parts of the program remain unexplored.</a:t>
            </a:r>
            <a:endParaRPr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If we zoom in further, inside each function there is also a control-flow graph.</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Even within a single function, different inputs can trigger different branches, loops, and conditions.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So overall, program execution is constrained by both the call graph and the control-flow graph, and a single run explores only one path in this huge space.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is exactly the challenge that fuzzing tries to address.</a:t>
            </a:r>
            <a:endParaRPr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This brings us to code coverage.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Code coverage measures which parts of the program have actually been executed.</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Dynamic techniques like fuzzing aim to maximize coverage, because higher coverage usually means we are exploring more program behaviors and increasing the chance of finding bugs.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Static analysis can reason about code structure, but only dynamic execution can confirm which paths are actually reachable.</a:t>
            </a:r>
            <a:endParaRPr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Fuzzing starts from seeds.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A seed is simply an input to the program. It can be a file like JSON or XML, a string, a number, or sometimes even a binary blob that is not human-readable.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The quality of these seeds matters a lot, because they determine which execution paths we can reach initially.</a:t>
            </a:r>
            <a:endParaRPr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After we have seeds, fuzzing relies on mutation strategies.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Traditional fuzzers mutate inputs at the byte level, such as flipping bits or bytes.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More advanced fuzzers use token-level or structure-level mutations, and grammar-based fuzzers ensure syntactic validity.</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Recently, there is increasing interest in semantic mutation, where we try to change the meaning of the input rather than just its bytes.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is where LLMs become particularly useful.</a:t>
            </a:r>
            <a:endParaRPr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Figure Description: LLM-Driven Autoprompting and Fuzzing Pipeline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figure presents an end-to-end framework that combines LLM-based autoprompting with a semantic fuzzing loop to test complex software systems, such as compilers, interpreters, and formal verification tools.</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At the top of the pipeline, the framework takes heterogeneous user-provided knowledge as input, including documentation (for example, API descriptions of std::expected), example code snippets, and formal specifications. Together, these sources define the semantic scope of the target functionality and serve as the foundation for constructing effective prompts.</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left side of the figure illustrates the autoprompting via distillation process. In this stage, the system samples multiple candidate prompts derived from the available documentation, examples, and specifications. A generation LLM then uses these prompts to produce multiple candidate code snippets, such as small C++ programs exercising the target feature. These generated snippets are evaluated according to criteria such as correctness, diversity, or downstream performance. Based on this evaluation, the system selects the best-performing prompt, effectively distilling a refined input prompt that captures the intended semantics of the target functionality.</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The right side of the figure shows a semantic fuzzing loop guided by an LLM and feedback from the system under test (SUT). The refined prompt is fed into a generation LLM, which produces fuzzing inputs in the form of code snippets. A subset of these generated snippets is selected and executed against the SUT, which may include SMT solvers (e.g., Z3 or CVC5), compilers (e.g., GCC), or language runtimes and analysis tools. During execution, results such as failures, crashes, or coverage information are collected and used as feedback. This feedback is then used to update the input prompt, and the process iterates.</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Within the fuzzing loop, the framework supports multiple generation strategies. These include generating entirely new programs, mutating existing generated code, and applying semantic-equivalent transformations that produce syntactically different but semantically equivalent inputs. By operating at the semantic level rather than relying solely on low-level syntax mutations, these strategies enable more effective exploration of the input space.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Overall, the figure highlights a closed-loop, LLM-assisted testing framework that automatically distills high-quality prompts from raw knowledge sources, leverages semantic code generation to drive fuzzing, and continuously improves input quality through execution feedback. This design enables semantics-aware fuzzing that goes beyond random mutations and is particularly well suited for testing complex, specification-heavy systems.</a:t>
            </a:r>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To evaluate these ideas, we conducted experiments on OSS-Fuzz, which is Google’s large-scale continuous fuzzing infrastructure for open-source software.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We compare the traditional OSS-Fuzz setup with OSS-Fuzz-Gen, which uses LLM-generated fuzzing harnesses and inputs.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allows us to measure whether LLM assistance can actually improve coverage on real-world projects.</a:t>
            </a:r>
            <a:endParaRPr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a:t>
            </a:r>
            <a:endParaRPr lang="en-US" dirty="0"/>
          </a:p>
          <a:p>
            <a:pPr marL="0" lvl="0" indent="0" algn="l" rtl="0">
              <a:spcBef>
                <a:spcPts val="0"/>
              </a:spcBef>
              <a:spcAft>
                <a:spcPts val="0"/>
              </a:spcAft>
              <a:buNone/>
            </a:pPr>
            <a:r>
              <a:rPr dirty="0"/>
              <a:t>Here are the key experimental results.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In our experiment, we achieved 255 newly covered lines in a real-world C project.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This corresponds to an absolute coverage increase of 4.58 percentage points, and a relative gain of almost 10% over the baseline.</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Importantly, this was achieved with a very limited number of generated samples, which suggests that the generated inputs are semantically effective rather than purely random.</a:t>
            </a: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74"/>
        <p:cNvGrpSpPr/>
        <p:nvPr/>
      </p:nvGrpSpPr>
      <p:grpSpPr>
        <a:xfrm>
          <a:off x="0" y="0"/>
          <a:ext cx="0" cy="0"/>
          <a:chOff x="0" y="0"/>
          <a:chExt cx="0" cy="0"/>
        </a:xfrm>
      </p:grpSpPr>
      <p:sp>
        <p:nvSpPr>
          <p:cNvPr id="75" name="Google Shape;75;p1: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76" name="Google Shape;7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rPr lang="en-US" altLang="zh-CN" sz="1200" b="0" i="0" u="none" strike="noStrike" cap="none" dirty="0">
                <a:solidFill>
                  <a:schemeClr val="dk1"/>
                </a:solidFill>
                <a:effectLst/>
                <a:latin typeface="Calibri"/>
                <a:ea typeface="Calibri"/>
                <a:cs typeface="Calibri"/>
                <a:sym typeface="Calibri"/>
              </a:rPr>
              <a:t>Modern software systems are complex and large-scale.</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Even experienced developers can introduce vulnerabilities unintentionally.</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Traditional tools rely on manually crafted rules, which are hard to maintain and often miss unknown patterns.</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This motivates using </a:t>
            </a:r>
            <a:r>
              <a:rPr lang="en-US" altLang="zh-CN" sz="1200" b="1" i="0" u="none" strike="noStrike" cap="none" dirty="0">
                <a:solidFill>
                  <a:schemeClr val="dk1"/>
                </a:solidFill>
                <a:effectLst/>
                <a:latin typeface="Calibri"/>
                <a:ea typeface="Calibri"/>
                <a:cs typeface="Calibri"/>
                <a:sym typeface="Calibri"/>
              </a:rPr>
              <a:t>AI to automatically learn vulnerability patterns from data</a:t>
            </a:r>
            <a:r>
              <a:rPr lang="en-US" altLang="zh-CN" sz="1200" b="0" i="0" u="none" strike="noStrike" cap="none" dirty="0">
                <a:solidFill>
                  <a:schemeClr val="dk1"/>
                </a:solidFill>
                <a:effectLst/>
                <a:latin typeface="Calibri"/>
                <a:ea typeface="Calibri"/>
                <a:cs typeface="Calibri"/>
                <a:sym typeface="Calibri"/>
              </a:rPr>
              <a:t>.</a:t>
            </a:r>
            <a:endParaRPr lang="en-US" altLang="zh-CN"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rPr lang="en-US" altLang="zh-CN" sz="1200" b="0" i="0" u="none" strike="noStrike" cap="none" dirty="0">
                <a:solidFill>
                  <a:schemeClr val="dk1"/>
                </a:solidFill>
                <a:effectLst/>
                <a:latin typeface="Calibri"/>
                <a:ea typeface="Calibri"/>
                <a:cs typeface="Calibri"/>
                <a:sym typeface="Calibri"/>
              </a:rPr>
              <a:t>We frame vulnerability detection as a supervised learning problem.</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Each code function is treated as one data sample.</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The model predicts whether this function contains a vulnerability or not.</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So fundamentally, this is a </a:t>
            </a:r>
            <a:r>
              <a:rPr lang="en-US" altLang="zh-CN" sz="1200" b="1" i="0" u="none" strike="noStrike" cap="none" dirty="0">
                <a:solidFill>
                  <a:schemeClr val="dk1"/>
                </a:solidFill>
                <a:effectLst/>
                <a:latin typeface="Calibri"/>
                <a:ea typeface="Calibri"/>
                <a:cs typeface="Calibri"/>
                <a:sym typeface="Calibri"/>
              </a:rPr>
              <a:t>binary classification task</a:t>
            </a:r>
            <a:r>
              <a:rPr lang="en-US" altLang="zh-CN" sz="1200" b="0" i="0" u="none" strike="noStrike" cap="none" dirty="0">
                <a:solidFill>
                  <a:schemeClr val="dk1"/>
                </a:solidFill>
                <a:effectLst/>
                <a:latin typeface="Calibri"/>
                <a:ea typeface="Calibri"/>
                <a:cs typeface="Calibri"/>
                <a:sym typeface="Calibri"/>
              </a:rPr>
              <a:t>.</a:t>
            </a:r>
            <a:endParaRPr lang="en-US" altLang="zh-CN" sz="1200" b="0" i="0" u="none" strike="noStrike" cap="none" dirty="0">
              <a:solidFill>
                <a:schemeClr val="dk1"/>
              </a:solidFill>
              <a:effectLst/>
              <a:latin typeface="Calibri"/>
              <a:ea typeface="Calibri"/>
              <a:cs typeface="Calibri"/>
              <a:sym typeface="Calibri"/>
            </a:endParaRPr>
          </a:p>
          <a:p>
            <a:endParaRPr lang="en-US" altLang="zh-CN" sz="1200" b="0" i="0" u="none" strike="noStrike" cap="none" dirty="0">
              <a:solidFill>
                <a:schemeClr val="dk1"/>
              </a:solidFill>
              <a:effectLst/>
              <a:latin typeface="Calibri"/>
              <a:ea typeface="Calibri"/>
              <a:cs typeface="Calibri"/>
              <a:sym typeface="Calibri"/>
            </a:endParaRPr>
          </a:p>
          <a:p>
            <a:r>
              <a:rPr lang="en-US" altLang="zh-CN" dirty="0"/>
              <a:t>Our data comes from the </a:t>
            </a:r>
            <a:r>
              <a:rPr lang="en-US" altLang="zh-CN" dirty="0" err="1"/>
              <a:t>MSR_data_cleaned</a:t>
            </a:r>
            <a:r>
              <a:rPr lang="en-US" altLang="zh-CN" dirty="0"/>
              <a:t> dataset on </a:t>
            </a:r>
            <a:r>
              <a:rPr lang="en-US" altLang="zh-CN" dirty="0" err="1"/>
              <a:t>HuggingFace</a:t>
            </a:r>
            <a:r>
              <a:rPr lang="en-US" altLang="zh-CN" dirty="0"/>
              <a:t>, which is built from real-world CVE vulnerability records. It contains actual production code from well-known open-source projects like the Linux kernel, </a:t>
            </a:r>
            <a:r>
              <a:rPr lang="en-US" altLang="zh-CN" dirty="0" err="1"/>
              <a:t>FFmpeg</a:t>
            </a:r>
            <a:r>
              <a:rPr lang="en-US" altLang="zh-CN" dirty="0"/>
              <a:t>, and Apache.</a:t>
            </a:r>
            <a:endParaRPr lang="en-US" altLang="zh-CN" dirty="0"/>
          </a:p>
          <a:p>
            <a:r>
              <a:rPr lang="en-US" altLang="zh-CN" dirty="0"/>
              <a:t>In terms of scale, we have over </a:t>
            </a:r>
            <a:r>
              <a:rPr lang="en-US" altLang="zh-CN" b="1" dirty="0"/>
              <a:t>150,000 C language functions</a:t>
            </a:r>
            <a:r>
              <a:rPr lang="en-US" altLang="zh-CN" dirty="0"/>
              <a:t> in total. Among these, 8,720 functions are vulnerable, accounting for 5.8%, while over 142,000 functions are non-vulnerable, making up 94.2%.</a:t>
            </a:r>
            <a:endParaRPr lang="en-US" altLang="zh-CN" dirty="0"/>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panose="020B0604020202090204"/>
              <a:buNone/>
              <a:defRPr/>
            </a:pPr>
            <a:r>
              <a:rPr lang="en-US" altLang="zh-CN" sz="1200" b="1" i="0" u="none" strike="noStrike" cap="none" dirty="0">
                <a:solidFill>
                  <a:schemeClr val="dk1"/>
                </a:solidFill>
                <a:effectLst/>
                <a:latin typeface="Calibri"/>
                <a:ea typeface="Calibri"/>
                <a:cs typeface="Calibri"/>
                <a:sym typeface="Calibri"/>
              </a:rPr>
              <a:t>To better understand and label these vulnerable functions, real-world vulnerability records provide essential contextual information.</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In vulnerability analysis, each vulnerability is described using standardized identifiers and metadata.</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CVE IDs uniquely identify individual vulnerabilities, while CWE IDs categorize them based on underlying weakness types.</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The CVSS score quantifies the severity of a vulnerability and helps prioritize remediation efforts.</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In addition, commit information and patch details provide insight into how vulnerabilities are fixed at the code level.</a:t>
            </a:r>
            <a:endParaRPr lang="en-US" altLang="zh-CN" sz="1200" b="0" i="0" u="none" strike="noStrike" cap="none" dirty="0">
              <a:solidFill>
                <a:schemeClr val="dk1"/>
              </a:solidFill>
              <a:effectLst/>
              <a:latin typeface="Calibri"/>
              <a:ea typeface="Calibri"/>
              <a:cs typeface="Calibri"/>
              <a:sym typeface="Calibri"/>
            </a:endParaRPr>
          </a:p>
          <a:p>
            <a:r>
              <a:rPr lang="en-US" altLang="zh-CN" sz="1200" b="0" i="0" u="none" strike="noStrike" cap="none" dirty="0">
                <a:solidFill>
                  <a:schemeClr val="dk1"/>
                </a:solidFill>
                <a:effectLst/>
                <a:latin typeface="Calibri"/>
                <a:ea typeface="Calibri"/>
                <a:cs typeface="Calibri"/>
                <a:sym typeface="Calibri"/>
              </a:rPr>
              <a:t>Together, these elements form the foundation for understanding, analyzing, and automatically detecting software vulnerabilities using AI-based approaches.</a:t>
            </a:r>
            <a:endParaRPr lang="en-US" altLang="zh-CN"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rPr lang="en-US" altLang="zh-CN" dirty="0"/>
              <a:t>So how do we convert code into something AI can understand?</a:t>
            </a:r>
            <a:endParaRPr lang="en-US" altLang="zh-CN" dirty="0"/>
          </a:p>
          <a:p>
            <a:r>
              <a:rPr lang="en-US" altLang="zh-CN" b="1" dirty="0"/>
              <a:t>First, tokenization.</a:t>
            </a:r>
            <a:r>
              <a:rPr lang="en-US" altLang="zh-CN" dirty="0"/>
              <a:t> We use a C </a:t>
            </a:r>
            <a:r>
              <a:rPr lang="en-US" altLang="zh-CN" dirty="0" err="1"/>
              <a:t>lexer</a:t>
            </a:r>
            <a:r>
              <a:rPr lang="en-US" altLang="zh-CN" dirty="0"/>
              <a:t> to break down the source code into tokens—things like keywords, operators, and variable names. We also preprocess the code by removing comments and string literals, since they don't affect functionality. For example, a function like '</a:t>
            </a:r>
            <a:r>
              <a:rPr lang="en-US" altLang="zh-CN" dirty="0" err="1"/>
              <a:t>strcpy</a:t>
            </a:r>
            <a:r>
              <a:rPr lang="en-US" altLang="zh-CN" dirty="0"/>
              <a:t>(buffer, input)' becomes a sequence of tokens: '</a:t>
            </a:r>
            <a:r>
              <a:rPr lang="en-US" altLang="zh-CN" dirty="0" err="1"/>
              <a:t>strcpy</a:t>
            </a:r>
            <a:r>
              <a:rPr lang="en-US" altLang="zh-CN" dirty="0"/>
              <a:t>', opening parenthesis, 'buffer', comma, 'input', closing parenthesis.</a:t>
            </a:r>
            <a:endParaRPr lang="en-US" altLang="zh-CN" dirty="0"/>
          </a:p>
          <a:p>
            <a:r>
              <a:rPr lang="en-US" altLang="zh-CN" b="1" dirty="0"/>
              <a:t>Second, vocabulary building.</a:t>
            </a:r>
            <a:r>
              <a:rPr lang="en-US" altLang="zh-CN" dirty="0"/>
              <a:t> Across all 150,000 functions, we identified over 161,000 unique tokens. To reduce noise, we filtered out tokens that appear fewer than 5 times.</a:t>
            </a:r>
            <a:endParaRPr lang="en-US" altLang="zh-CN" dirty="0"/>
          </a:p>
          <a:p>
            <a:r>
              <a:rPr lang="en-US" altLang="zh-CN" b="1" dirty="0"/>
              <a:t>Third, encoding.</a:t>
            </a:r>
            <a:r>
              <a:rPr lang="en-US" altLang="zh-CN" dirty="0"/>
              <a:t> Each token is converted to an integer ID. Then we standardize the sequence length to 300 tokens—longer functions are truncated, shorter ones are padded with zeros.</a:t>
            </a:r>
            <a:endParaRPr lang="en-US" altLang="zh-CN" dirty="0"/>
          </a:p>
          <a:p>
            <a:r>
              <a:rPr lang="en-US" altLang="zh-CN" b="1" dirty="0"/>
              <a:t>Finally, embedding.</a:t>
            </a:r>
            <a:r>
              <a:rPr lang="en-US" altLang="zh-CN" dirty="0"/>
              <a:t> These integer IDs are transformed into 128-dimensional dense vectors through an embedding layer. This captures semantic relationships between tokens—similar code patterns get similar vector representations.</a:t>
            </a:r>
            <a:endParaRPr lang="en-US" altLang="zh-CN" dirty="0"/>
          </a:p>
          <a:p>
            <a:r>
              <a:rPr lang="en-US" altLang="zh-CN" dirty="0"/>
              <a:t>The key point is: we preserve the sequential structure of the code while converting it into a numerical format the neural network can process."</a:t>
            </a:r>
            <a:endParaRPr lang="en-US" altLang="zh-CN" dirty="0"/>
          </a:p>
          <a:p>
            <a:pPr marL="0" lvl="0" indent="0" algn="l" rtl="0">
              <a:spcBef>
                <a:spcPts val="0"/>
              </a:spcBef>
              <a:spcAft>
                <a:spcPts val="0"/>
              </a:spcAft>
              <a:buNone/>
            </a:pPr>
            <a:endParaRPr dirty="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r>
              <a:rPr lang="en-US" altLang="zh-CN" dirty="0"/>
              <a:t>"Our model is a Bi-LSTM with attention. Let me explain why.</a:t>
            </a:r>
            <a:endParaRPr lang="en-US" altLang="zh-CN" dirty="0"/>
          </a:p>
          <a:p>
            <a:r>
              <a:rPr lang="en-US" altLang="zh-CN" b="1" dirty="0"/>
              <a:t>Bi-LSTM:</a:t>
            </a:r>
            <a:r>
              <a:rPr lang="en-US" altLang="zh-CN" dirty="0"/>
              <a:t> We read code in both directions—forward and backward—because vulnerabilities depend on context from both sides. For example, understanding a pointer requires knowing where it's allocated AND where it's freed.</a:t>
            </a:r>
            <a:endParaRPr lang="en-US" altLang="zh-CN" dirty="0"/>
          </a:p>
          <a:p>
            <a:r>
              <a:rPr lang="en-US" altLang="zh-CN" b="1" dirty="0"/>
              <a:t>Attention mechanism:</a:t>
            </a:r>
            <a:r>
              <a:rPr lang="en-US" altLang="zh-CN" dirty="0"/>
              <a:t> Not all code is equally important. Some keywords like '</a:t>
            </a:r>
            <a:r>
              <a:rPr lang="en-US" altLang="zh-CN" dirty="0" err="1"/>
              <a:t>strcpy</a:t>
            </a:r>
            <a:r>
              <a:rPr lang="en-US" altLang="zh-CN" dirty="0"/>
              <a:t>' are high-risk, while others like semicolons don't matter much. Attention automatically learns to focus on the critical parts—the vulnerability hotspots.</a:t>
            </a:r>
            <a:endParaRPr lang="en-US" altLang="zh-CN" dirty="0"/>
          </a:p>
          <a:p>
            <a:r>
              <a:rPr lang="en-US" altLang="zh-CN" dirty="0"/>
              <a:t>The architecture is: embedding layer, bidirectional LSTM, attention, dense layer with dropout, and sigmoid output for binary classification.</a:t>
            </a:r>
            <a:endParaRPr lang="en-US" altLang="zh-CN" dirty="0"/>
          </a:p>
          <a:p>
            <a:r>
              <a:rPr lang="en-US" altLang="zh-CN" dirty="0"/>
              <a:t>It's like teaching the model to review code the way a security expert would—scanning both ways and focusing on the dangerous patterns."</a:t>
            </a:r>
            <a:endParaRPr lang="en-US" altLang="zh-CN" dirty="0"/>
          </a:p>
          <a:p>
            <a:pPr marL="0" lvl="0" indent="0" algn="l" rtl="0">
              <a:spcBef>
                <a:spcPts val="0"/>
              </a:spcBef>
              <a:spcAft>
                <a:spcPts val="0"/>
              </a:spcAft>
              <a:buNone/>
            </a:pPr>
            <a:endParaRPr dirty="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6"/>
        <p:cNvGrpSpPr/>
        <p:nvPr/>
      </p:nvGrpSpPr>
      <p:grpSpPr>
        <a:xfrm>
          <a:off x="0" y="0"/>
          <a:ext cx="0" cy="0"/>
          <a:chOff x="0" y="0"/>
          <a:chExt cx="0" cy="0"/>
        </a:xfrm>
      </p:grpSpPr>
      <p:sp>
        <p:nvSpPr>
          <p:cNvPr id="87" name="Google Shape;87;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
        <p:nvSpPr>
          <p:cNvPr id="88" name="Google Shape;88;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9" name="Google Shape;89;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00"/>
        <p:cNvGrpSpPr/>
        <p:nvPr/>
      </p:nvGrpSpPr>
      <p:grpSpPr>
        <a:xfrm>
          <a:off x="0" y="0"/>
          <a:ext cx="0" cy="0"/>
          <a:chOff x="0" y="0"/>
          <a:chExt cx="0" cy="0"/>
        </a:xfrm>
      </p:grpSpPr>
      <p:sp>
        <p:nvSpPr>
          <p:cNvPr id="201" name="Google Shape;201;g1b23d1e9efb_0_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2" name="Google Shape;202;g1b23d1e9efb_0_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dirty="0"/>
              <a:t>To conclude, fuzzing is fundamentally about exploring program behaviors, and dynamic execution is essential for that.</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Large language models provide a new way to guide this exploration by generating and mutating inputs at the semantic level.</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Our experiments show that this approach can lead to meaningful coverage improvements on real-world codebases.</a:t>
            </a:r>
            <a:endParaRPr dirty="0"/>
          </a:p>
          <a:p>
            <a:pPr marL="0" lvl="0" indent="0" algn="l" rtl="0">
              <a:spcBef>
                <a:spcPts val="0"/>
              </a:spcBef>
              <a:spcAft>
                <a:spcPts val="0"/>
              </a:spcAft>
              <a:buNone/>
            </a:pPr>
            <a:endParaRPr dirty="0"/>
          </a:p>
          <a:p>
            <a:pPr marL="0" lvl="0" indent="0" algn="l" rtl="0">
              <a:spcBef>
                <a:spcPts val="0"/>
              </a:spcBef>
              <a:spcAft>
                <a:spcPts val="0"/>
              </a:spcAft>
              <a:buNone/>
            </a:pPr>
            <a:r>
              <a:rPr dirty="0"/>
              <a:t>Thank you for your attention. I’m happy to take any questions.</a:t>
            </a:r>
            <a:endParaRPr dirty="0"/>
          </a:p>
        </p:txBody>
      </p:sp>
      <p:sp>
        <p:nvSpPr>
          <p:cNvPr id="203" name="Google Shape;203;g1b23d1e9efb_0_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showMasterSp="0" matchingName="Title Slide">
  <p:cSld name="TITLE">
    <p:spTree>
      <p:nvGrpSpPr>
        <p:cNvPr id="1" name="Shape 16"/>
        <p:cNvGrpSpPr/>
        <p:nvPr/>
      </p:nvGrpSpPr>
      <p:grpSpPr>
        <a:xfrm>
          <a:off x="0" y="0"/>
          <a:ext cx="0" cy="0"/>
          <a:chOff x="0" y="0"/>
          <a:chExt cx="0" cy="0"/>
        </a:xfrm>
      </p:grpSpPr>
      <p:pic>
        <p:nvPicPr>
          <p:cNvPr id="17" name="Google Shape;17;p34" descr="greyWatermark-20.png"/>
          <p:cNvPicPr preferRelativeResize="0"/>
          <p:nvPr/>
        </p:nvPicPr>
        <p:blipFill rotWithShape="1">
          <a:blip r:embed="rId2"/>
          <a:srcRect/>
          <a:stretch>
            <a:fillRect/>
          </a:stretch>
        </p:blipFill>
        <p:spPr>
          <a:xfrm>
            <a:off x="7949092" y="2703302"/>
            <a:ext cx="4242908" cy="4154698"/>
          </a:xfrm>
          <a:prstGeom prst="rect">
            <a:avLst/>
          </a:prstGeom>
          <a:noFill/>
          <a:ln>
            <a:noFill/>
          </a:ln>
        </p:spPr>
      </p:pic>
      <p:sp>
        <p:nvSpPr>
          <p:cNvPr id="18" name="Google Shape;18;p34"/>
          <p:cNvSpPr txBox="1">
            <a:spLocks noGrp="1"/>
          </p:cNvSpPr>
          <p:nvPr>
            <p:ph type="ctrTitle"/>
          </p:nvPr>
        </p:nvSpPr>
        <p:spPr>
          <a:xfrm>
            <a:off x="609600" y="2537925"/>
            <a:ext cx="9144000" cy="1524001"/>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4000"/>
              <a:buFont typeface="Verdana" panose="020B0804030504040204"/>
              <a:buNone/>
              <a:defRPr sz="40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4"/>
          <p:cNvSpPr txBox="1">
            <a:spLocks noGrp="1"/>
          </p:cNvSpPr>
          <p:nvPr>
            <p:ph type="subTitle" idx="1"/>
          </p:nvPr>
        </p:nvSpPr>
        <p:spPr>
          <a:xfrm>
            <a:off x="609600" y="4293573"/>
            <a:ext cx="9144000" cy="990600"/>
          </a:xfrm>
          <a:prstGeom prst="rect">
            <a:avLst/>
          </a:prstGeom>
          <a:noFill/>
          <a:ln>
            <a:noFill/>
          </a:ln>
        </p:spPr>
        <p:txBody>
          <a:bodyPr spcFirstLastPara="1" wrap="square" lIns="91425" tIns="45700" rIns="91425" bIns="45700" anchor="t" anchorCtr="0">
            <a:normAutofit/>
          </a:bodyPr>
          <a:lstStyle>
            <a:lvl1pPr lvl="0" algn="l">
              <a:lnSpc>
                <a:spcPct val="95000"/>
              </a:lnSpc>
              <a:spcBef>
                <a:spcPts val="1200"/>
              </a:spcBef>
              <a:spcAft>
                <a:spcPts val="0"/>
              </a:spcAft>
              <a:buSzPts val="2800"/>
              <a:buNone/>
              <a:defRPr sz="2800">
                <a:solidFill>
                  <a:schemeClr val="dk2"/>
                </a:solidFill>
              </a:defRPr>
            </a:lvl1pPr>
            <a:lvl2pPr lvl="1" algn="ctr">
              <a:lnSpc>
                <a:spcPct val="95000"/>
              </a:lnSpc>
              <a:spcBef>
                <a:spcPts val="600"/>
              </a:spcBef>
              <a:spcAft>
                <a:spcPts val="0"/>
              </a:spcAft>
              <a:buSzPts val="2000"/>
              <a:buNone/>
              <a:defRPr>
                <a:solidFill>
                  <a:srgbClr val="888888"/>
                </a:solidFill>
              </a:defRPr>
            </a:lvl2pPr>
            <a:lvl3pPr lvl="2" algn="ctr">
              <a:lnSpc>
                <a:spcPct val="95000"/>
              </a:lnSpc>
              <a:spcBef>
                <a:spcPts val="600"/>
              </a:spcBef>
              <a:spcAft>
                <a:spcPts val="0"/>
              </a:spcAft>
              <a:buSzPts val="1800"/>
              <a:buNone/>
              <a:defRPr>
                <a:solidFill>
                  <a:srgbClr val="888888"/>
                </a:solidFill>
              </a:defRPr>
            </a:lvl3pPr>
            <a:lvl4pPr lvl="3" algn="ctr">
              <a:lnSpc>
                <a:spcPct val="95000"/>
              </a:lnSpc>
              <a:spcBef>
                <a:spcPts val="600"/>
              </a:spcBef>
              <a:spcAft>
                <a:spcPts val="0"/>
              </a:spcAft>
              <a:buSzPts val="1600"/>
              <a:buNone/>
              <a:defRPr>
                <a:solidFill>
                  <a:srgbClr val="888888"/>
                </a:solidFill>
              </a:defRPr>
            </a:lvl4pPr>
            <a:lvl5pPr lvl="4" algn="ctr">
              <a:lnSpc>
                <a:spcPct val="95000"/>
              </a:lnSpc>
              <a:spcBef>
                <a:spcPts val="600"/>
              </a:spcBef>
              <a:spcAft>
                <a:spcPts val="0"/>
              </a:spcAft>
              <a:buSzPts val="1600"/>
              <a:buNone/>
              <a:defRPr>
                <a:solidFill>
                  <a:srgbClr val="888888"/>
                </a:solidFill>
              </a:defRPr>
            </a:lvl5pPr>
            <a:lvl6pPr lvl="5" algn="ctr">
              <a:spcBef>
                <a:spcPts val="320"/>
              </a:spcBef>
              <a:spcAft>
                <a:spcPts val="0"/>
              </a:spcAft>
              <a:buSzPts val="1600"/>
              <a:buNone/>
              <a:defRPr>
                <a:solidFill>
                  <a:srgbClr val="888888"/>
                </a:solidFill>
              </a:defRPr>
            </a:lvl6pPr>
            <a:lvl7pPr lvl="6" algn="ctr">
              <a:spcBef>
                <a:spcPts val="320"/>
              </a:spcBef>
              <a:spcAft>
                <a:spcPts val="0"/>
              </a:spcAft>
              <a:buSzPts val="1600"/>
              <a:buNone/>
              <a:defRPr>
                <a:solidFill>
                  <a:srgbClr val="888888"/>
                </a:solidFill>
              </a:defRPr>
            </a:lvl7pPr>
            <a:lvl8pPr lvl="7" algn="ctr">
              <a:spcBef>
                <a:spcPts val="320"/>
              </a:spcBef>
              <a:spcAft>
                <a:spcPts val="0"/>
              </a:spcAft>
              <a:buSzPts val="1600"/>
              <a:buNone/>
              <a:defRPr>
                <a:solidFill>
                  <a:srgbClr val="888888"/>
                </a:solidFill>
              </a:defRPr>
            </a:lvl8pPr>
            <a:lvl9pPr lvl="8" algn="ctr">
              <a:spcBef>
                <a:spcPts val="320"/>
              </a:spcBef>
              <a:spcAft>
                <a:spcPts val="0"/>
              </a:spcAft>
              <a:buSzPts val="1600"/>
              <a:buNone/>
              <a:defRPr>
                <a:solidFill>
                  <a:srgbClr val="888888"/>
                </a:solidFill>
              </a:defRPr>
            </a:lvl9pPr>
          </a:lstStyle>
          <a:p/>
        </p:txBody>
      </p:sp>
      <p:pic>
        <p:nvPicPr>
          <p:cNvPr id="20" name="Google Shape;20;p34"/>
          <p:cNvPicPr preferRelativeResize="0"/>
          <p:nvPr/>
        </p:nvPicPr>
        <p:blipFill rotWithShape="1">
          <a:blip r:embed="rId3"/>
          <a:srcRect/>
          <a:stretch>
            <a:fillRect/>
          </a:stretch>
        </p:blipFill>
        <p:spPr>
          <a:xfrm>
            <a:off x="711200" y="990601"/>
            <a:ext cx="3383438" cy="1096875"/>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matchingName="Title2">
  <p:cSld name="Title2">
    <p:bg>
      <p:bgPr>
        <a:solidFill>
          <a:srgbClr val="AB192D"/>
        </a:solidFill>
        <a:effectLst/>
      </p:bgPr>
    </p:bg>
    <p:spTree>
      <p:nvGrpSpPr>
        <p:cNvPr id="1" name="Shape 21"/>
        <p:cNvGrpSpPr/>
        <p:nvPr/>
      </p:nvGrpSpPr>
      <p:grpSpPr>
        <a:xfrm>
          <a:off x="0" y="0"/>
          <a:ext cx="0" cy="0"/>
          <a:chOff x="0" y="0"/>
          <a:chExt cx="0" cy="0"/>
        </a:xfrm>
      </p:grpSpPr>
      <p:pic>
        <p:nvPicPr>
          <p:cNvPr id="22" name="Google Shape;22;p35"/>
          <p:cNvPicPr preferRelativeResize="0"/>
          <p:nvPr/>
        </p:nvPicPr>
        <p:blipFill rotWithShape="1">
          <a:blip r:embed="rId2"/>
          <a:srcRect/>
          <a:stretch>
            <a:fillRect/>
          </a:stretch>
        </p:blipFill>
        <p:spPr>
          <a:xfrm>
            <a:off x="711200" y="990601"/>
            <a:ext cx="3383438" cy="1105313"/>
          </a:xfrm>
          <a:prstGeom prst="rect">
            <a:avLst/>
          </a:prstGeom>
          <a:noFill/>
          <a:ln>
            <a:noFill/>
          </a:ln>
        </p:spPr>
      </p:pic>
      <p:pic>
        <p:nvPicPr>
          <p:cNvPr id="23" name="Google Shape;23;p35"/>
          <p:cNvPicPr preferRelativeResize="0"/>
          <p:nvPr/>
        </p:nvPicPr>
        <p:blipFill rotWithShape="1">
          <a:blip r:embed="rId3"/>
          <a:srcRect/>
          <a:stretch>
            <a:fillRect/>
          </a:stretch>
        </p:blipFill>
        <p:spPr>
          <a:xfrm>
            <a:off x="7931182" y="2693986"/>
            <a:ext cx="4260818" cy="4172236"/>
          </a:xfrm>
          <a:prstGeom prst="rect">
            <a:avLst/>
          </a:prstGeom>
          <a:noFill/>
          <a:ln>
            <a:noFill/>
          </a:ln>
        </p:spPr>
      </p:pic>
      <p:sp>
        <p:nvSpPr>
          <p:cNvPr id="24" name="Google Shape;24;p35"/>
          <p:cNvSpPr txBox="1">
            <a:spLocks noGrp="1"/>
          </p:cNvSpPr>
          <p:nvPr>
            <p:ph type="ctrTitle"/>
          </p:nvPr>
        </p:nvSpPr>
        <p:spPr>
          <a:xfrm>
            <a:off x="609600" y="2537925"/>
            <a:ext cx="9144000" cy="1524001"/>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chemeClr val="lt1"/>
              </a:buClr>
              <a:buSzPts val="4000"/>
              <a:buFont typeface="Verdana" panose="020B0804030504040204"/>
              <a:buNone/>
              <a:defRPr sz="4000" b="1">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5"/>
          <p:cNvSpPr txBox="1">
            <a:spLocks noGrp="1"/>
          </p:cNvSpPr>
          <p:nvPr>
            <p:ph type="subTitle" idx="1"/>
          </p:nvPr>
        </p:nvSpPr>
        <p:spPr>
          <a:xfrm>
            <a:off x="609600" y="4293573"/>
            <a:ext cx="9144000" cy="990600"/>
          </a:xfrm>
          <a:prstGeom prst="rect">
            <a:avLst/>
          </a:prstGeom>
          <a:noFill/>
          <a:ln>
            <a:noFill/>
          </a:ln>
        </p:spPr>
        <p:txBody>
          <a:bodyPr spcFirstLastPara="1" wrap="square" lIns="91425" tIns="45700" rIns="91425" bIns="45700" anchor="t" anchorCtr="0">
            <a:normAutofit/>
          </a:bodyPr>
          <a:lstStyle>
            <a:lvl1pPr lvl="0" algn="l">
              <a:lnSpc>
                <a:spcPct val="95000"/>
              </a:lnSpc>
              <a:spcBef>
                <a:spcPts val="1200"/>
              </a:spcBef>
              <a:spcAft>
                <a:spcPts val="0"/>
              </a:spcAft>
              <a:buSzPts val="2800"/>
              <a:buNone/>
              <a:defRPr sz="2800">
                <a:solidFill>
                  <a:schemeClr val="lt1"/>
                </a:solidFill>
              </a:defRPr>
            </a:lvl1pPr>
            <a:lvl2pPr lvl="1" algn="ctr">
              <a:lnSpc>
                <a:spcPct val="95000"/>
              </a:lnSpc>
              <a:spcBef>
                <a:spcPts val="600"/>
              </a:spcBef>
              <a:spcAft>
                <a:spcPts val="0"/>
              </a:spcAft>
              <a:buSzPts val="2000"/>
              <a:buNone/>
              <a:defRPr>
                <a:solidFill>
                  <a:srgbClr val="888888"/>
                </a:solidFill>
              </a:defRPr>
            </a:lvl2pPr>
            <a:lvl3pPr lvl="2" algn="ctr">
              <a:lnSpc>
                <a:spcPct val="95000"/>
              </a:lnSpc>
              <a:spcBef>
                <a:spcPts val="600"/>
              </a:spcBef>
              <a:spcAft>
                <a:spcPts val="0"/>
              </a:spcAft>
              <a:buSzPts val="1800"/>
              <a:buNone/>
              <a:defRPr>
                <a:solidFill>
                  <a:srgbClr val="888888"/>
                </a:solidFill>
              </a:defRPr>
            </a:lvl3pPr>
            <a:lvl4pPr lvl="3" algn="ctr">
              <a:lnSpc>
                <a:spcPct val="95000"/>
              </a:lnSpc>
              <a:spcBef>
                <a:spcPts val="600"/>
              </a:spcBef>
              <a:spcAft>
                <a:spcPts val="0"/>
              </a:spcAft>
              <a:buSzPts val="1600"/>
              <a:buNone/>
              <a:defRPr>
                <a:solidFill>
                  <a:srgbClr val="888888"/>
                </a:solidFill>
              </a:defRPr>
            </a:lvl4pPr>
            <a:lvl5pPr lvl="4" algn="ctr">
              <a:lnSpc>
                <a:spcPct val="95000"/>
              </a:lnSpc>
              <a:spcBef>
                <a:spcPts val="600"/>
              </a:spcBef>
              <a:spcAft>
                <a:spcPts val="0"/>
              </a:spcAft>
              <a:buSzPts val="1600"/>
              <a:buNone/>
              <a:defRPr>
                <a:solidFill>
                  <a:srgbClr val="888888"/>
                </a:solidFill>
              </a:defRPr>
            </a:lvl5pPr>
            <a:lvl6pPr lvl="5" algn="ctr">
              <a:spcBef>
                <a:spcPts val="320"/>
              </a:spcBef>
              <a:spcAft>
                <a:spcPts val="0"/>
              </a:spcAft>
              <a:buSzPts val="1600"/>
              <a:buNone/>
              <a:defRPr>
                <a:solidFill>
                  <a:srgbClr val="888888"/>
                </a:solidFill>
              </a:defRPr>
            </a:lvl6pPr>
            <a:lvl7pPr lvl="6" algn="ctr">
              <a:spcBef>
                <a:spcPts val="320"/>
              </a:spcBef>
              <a:spcAft>
                <a:spcPts val="0"/>
              </a:spcAft>
              <a:buSzPts val="1600"/>
              <a:buNone/>
              <a:defRPr>
                <a:solidFill>
                  <a:srgbClr val="888888"/>
                </a:solidFill>
              </a:defRPr>
            </a:lvl7pPr>
            <a:lvl8pPr lvl="7" algn="ctr">
              <a:spcBef>
                <a:spcPts val="320"/>
              </a:spcBef>
              <a:spcAft>
                <a:spcPts val="0"/>
              </a:spcAft>
              <a:buSzPts val="1600"/>
              <a:buNone/>
              <a:defRPr>
                <a:solidFill>
                  <a:srgbClr val="888888"/>
                </a:solidFill>
              </a:defRPr>
            </a:lvl8pPr>
            <a:lvl9pPr lvl="8" algn="ctr">
              <a:spcBef>
                <a:spcPts val="320"/>
              </a:spcBef>
              <a:spcAft>
                <a:spcPts val="0"/>
              </a:spcAft>
              <a:buSzPts val="1600"/>
              <a:buNone/>
              <a:defRPr>
                <a:solidFill>
                  <a:srgbClr val="888888"/>
                </a:solidFil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BlankRed">
  <p:cSld name="BlankRed">
    <p:bg>
      <p:bgPr>
        <a:solidFill>
          <a:schemeClr val="lt2"/>
        </a:solidFill>
        <a:effectLst/>
      </p:bgPr>
    </p:bg>
    <p:spTree>
      <p:nvGrpSpPr>
        <p:cNvPr id="1" name="Shape 26"/>
        <p:cNvGrpSpPr/>
        <p:nvPr/>
      </p:nvGrpSpPr>
      <p:grpSpPr>
        <a:xfrm>
          <a:off x="0" y="0"/>
          <a:ext cx="0" cy="0"/>
          <a:chOff x="0" y="0"/>
          <a:chExt cx="0" cy="0"/>
        </a:xfrm>
      </p:grpSpPr>
      <p:pic>
        <p:nvPicPr>
          <p:cNvPr id="27" name="Google Shape;27;p36"/>
          <p:cNvPicPr preferRelativeResize="0"/>
          <p:nvPr/>
        </p:nvPicPr>
        <p:blipFill rotWithShape="1">
          <a:blip r:embed="rId2"/>
          <a:srcRect/>
          <a:stretch>
            <a:fillRect/>
          </a:stretch>
        </p:blipFill>
        <p:spPr>
          <a:xfrm>
            <a:off x="3866131" y="1066834"/>
            <a:ext cx="4459738" cy="4428034"/>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showMasterSp="0" matchingName="Section Header">
  <p:cSld name="SECTION_HEADER">
    <p:spTree>
      <p:nvGrpSpPr>
        <p:cNvPr id="1" name="Shape 28"/>
        <p:cNvGrpSpPr/>
        <p:nvPr/>
      </p:nvGrpSpPr>
      <p:grpSpPr>
        <a:xfrm>
          <a:off x="0" y="0"/>
          <a:ext cx="0" cy="0"/>
          <a:chOff x="0" y="0"/>
          <a:chExt cx="0" cy="0"/>
        </a:xfrm>
      </p:grpSpPr>
      <p:sp>
        <p:nvSpPr>
          <p:cNvPr id="29" name="Google Shape;29;p37"/>
          <p:cNvSpPr/>
          <p:nvPr/>
        </p:nvSpPr>
        <p:spPr>
          <a:xfrm>
            <a:off x="0" y="0"/>
            <a:ext cx="12192000" cy="1143000"/>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Verdana" panose="020B0804030504040204"/>
              <a:ea typeface="Verdana" panose="020B0804030504040204"/>
              <a:cs typeface="Verdana" panose="020B0804030504040204"/>
              <a:sym typeface="Verdana" panose="020B0804030504040204"/>
            </a:endParaRPr>
          </a:p>
        </p:txBody>
      </p:sp>
      <p:sp>
        <p:nvSpPr>
          <p:cNvPr id="30" name="Google Shape;30;p37"/>
          <p:cNvSpPr txBox="1">
            <a:spLocks noGrp="1"/>
          </p:cNvSpPr>
          <p:nvPr>
            <p:ph type="title"/>
          </p:nvPr>
        </p:nvSpPr>
        <p:spPr>
          <a:xfrm>
            <a:off x="625475" y="1447800"/>
            <a:ext cx="9144000" cy="16764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4000"/>
              <a:buFont typeface="Verdana" panose="020B0804030504040204"/>
              <a:buNone/>
              <a:defRPr sz="4000" b="1">
                <a:solidFill>
                  <a:srgbClr val="262626"/>
                </a:solidFill>
                <a:latin typeface="Verdana" panose="020B0804030504040204"/>
                <a:ea typeface="Verdana" panose="020B0804030504040204"/>
                <a:cs typeface="Verdana" panose="020B0804030504040204"/>
                <a:sym typeface="Verdana" panose="020B0804030504040204"/>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37"/>
          <p:cNvSpPr txBox="1">
            <a:spLocks noGrp="1"/>
          </p:cNvSpPr>
          <p:nvPr>
            <p:ph type="body" idx="1"/>
          </p:nvPr>
        </p:nvSpPr>
        <p:spPr>
          <a:xfrm>
            <a:off x="625475" y="3124200"/>
            <a:ext cx="9144000" cy="914400"/>
          </a:xfrm>
          <a:prstGeom prst="rect">
            <a:avLst/>
          </a:prstGeom>
          <a:noFill/>
          <a:ln>
            <a:noFill/>
          </a:ln>
        </p:spPr>
        <p:txBody>
          <a:bodyPr spcFirstLastPara="1" wrap="square" lIns="91425" tIns="45700" rIns="91425" bIns="45700" anchor="t" anchorCtr="0">
            <a:normAutofit/>
          </a:bodyPr>
          <a:lstStyle>
            <a:lvl1pPr marL="457200" lvl="0" indent="-228600" algn="l">
              <a:lnSpc>
                <a:spcPct val="95000"/>
              </a:lnSpc>
              <a:spcBef>
                <a:spcPts val="1200"/>
              </a:spcBef>
              <a:spcAft>
                <a:spcPts val="0"/>
              </a:spcAft>
              <a:buSzPts val="2800"/>
              <a:buNone/>
              <a:defRPr sz="2800">
                <a:solidFill>
                  <a:schemeClr val="dk2"/>
                </a:solidFill>
              </a:defRPr>
            </a:lvl1pPr>
            <a:lvl2pPr marL="914400" lvl="1" indent="-228600" algn="l">
              <a:lnSpc>
                <a:spcPct val="95000"/>
              </a:lnSpc>
              <a:spcBef>
                <a:spcPts val="600"/>
              </a:spcBef>
              <a:spcAft>
                <a:spcPts val="0"/>
              </a:spcAft>
              <a:buSzPts val="1800"/>
              <a:buNone/>
              <a:defRPr sz="1800">
                <a:solidFill>
                  <a:srgbClr val="888888"/>
                </a:solidFill>
              </a:defRPr>
            </a:lvl2pPr>
            <a:lvl3pPr marL="1371600" lvl="2" indent="-228600" algn="l">
              <a:lnSpc>
                <a:spcPct val="95000"/>
              </a:lnSpc>
              <a:spcBef>
                <a:spcPts val="600"/>
              </a:spcBef>
              <a:spcAft>
                <a:spcPts val="0"/>
              </a:spcAft>
              <a:buSzPts val="1600"/>
              <a:buNone/>
              <a:defRPr sz="1600">
                <a:solidFill>
                  <a:srgbClr val="888888"/>
                </a:solidFill>
              </a:defRPr>
            </a:lvl3pPr>
            <a:lvl4pPr marL="1828800" lvl="3" indent="-228600" algn="l">
              <a:lnSpc>
                <a:spcPct val="95000"/>
              </a:lnSpc>
              <a:spcBef>
                <a:spcPts val="600"/>
              </a:spcBef>
              <a:spcAft>
                <a:spcPts val="0"/>
              </a:spcAft>
              <a:buSzPts val="1400"/>
              <a:buNone/>
              <a:defRPr sz="1400">
                <a:solidFill>
                  <a:srgbClr val="888888"/>
                </a:solidFill>
              </a:defRPr>
            </a:lvl4pPr>
            <a:lvl5pPr marL="2286000" lvl="4" indent="-228600" algn="l">
              <a:lnSpc>
                <a:spcPct val="95000"/>
              </a:lnSpc>
              <a:spcBef>
                <a:spcPts val="600"/>
              </a:spcBef>
              <a:spcAft>
                <a:spcPts val="0"/>
              </a:spcAft>
              <a:buSzPts val="1400"/>
              <a:buNone/>
              <a:defRPr sz="1400">
                <a:solidFill>
                  <a:srgbClr val="888888"/>
                </a:solidFill>
              </a:defRPr>
            </a:lvl5pPr>
            <a:lvl6pPr marL="2743200" lvl="5" indent="-228600" algn="l">
              <a:spcBef>
                <a:spcPts val="280"/>
              </a:spcBef>
              <a:spcAft>
                <a:spcPts val="0"/>
              </a:spcAft>
              <a:buSzPts val="1400"/>
              <a:buNone/>
              <a:defRPr sz="1400">
                <a:solidFill>
                  <a:srgbClr val="888888"/>
                </a:solidFill>
              </a:defRPr>
            </a:lvl6pPr>
            <a:lvl7pPr marL="3200400" lvl="6" indent="-228600" algn="l">
              <a:spcBef>
                <a:spcPts val="280"/>
              </a:spcBef>
              <a:spcAft>
                <a:spcPts val="0"/>
              </a:spcAft>
              <a:buSzPts val="1400"/>
              <a:buNone/>
              <a:defRPr sz="1400">
                <a:solidFill>
                  <a:srgbClr val="888888"/>
                </a:solidFill>
              </a:defRPr>
            </a:lvl7pPr>
            <a:lvl8pPr marL="3657600" lvl="7" indent="-228600" algn="l">
              <a:spcBef>
                <a:spcPts val="280"/>
              </a:spcBef>
              <a:spcAft>
                <a:spcPts val="0"/>
              </a:spcAft>
              <a:buSzPts val="1400"/>
              <a:buNone/>
              <a:defRPr sz="1400">
                <a:solidFill>
                  <a:srgbClr val="888888"/>
                </a:solidFill>
              </a:defRPr>
            </a:lvl8pPr>
            <a:lvl9pPr marL="4114800" lvl="8" indent="-228600" algn="l">
              <a:spcBef>
                <a:spcPts val="280"/>
              </a:spcBef>
              <a:spcAft>
                <a:spcPts val="0"/>
              </a:spcAft>
              <a:buSzPts val="1400"/>
              <a:buNone/>
              <a:defRPr sz="1400">
                <a:solidFill>
                  <a:srgbClr val="888888"/>
                </a:solidFill>
              </a:defRPr>
            </a:lvl9pPr>
          </a:lstStyle>
          <a:p/>
        </p:txBody>
      </p:sp>
      <p:sp>
        <p:nvSpPr>
          <p:cNvPr id="32" name="Google Shape;32;p37"/>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
        <p:nvSpPr>
          <p:cNvPr id="33" name="Google Shape;33;p37"/>
          <p:cNvSpPr txBox="1">
            <a:spLocks noGrp="1"/>
          </p:cNvSpPr>
          <p:nvPr>
            <p:ph type="ftr" idx="11"/>
          </p:nvPr>
        </p:nvSpPr>
        <p:spPr>
          <a:xfrm>
            <a:off x="625475"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sz="1600" b="0">
                <a:solidFill>
                  <a:schemeClr val="dk2"/>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pic>
        <p:nvPicPr>
          <p:cNvPr id="34" name="Google Shape;34;p37" descr="greyWatermark-20.png"/>
          <p:cNvPicPr preferRelativeResize="0"/>
          <p:nvPr/>
        </p:nvPicPr>
        <p:blipFill rotWithShape="1">
          <a:blip r:embed="rId2"/>
          <a:srcRect/>
          <a:stretch>
            <a:fillRect/>
          </a:stretch>
        </p:blipFill>
        <p:spPr>
          <a:xfrm>
            <a:off x="7949092" y="2703302"/>
            <a:ext cx="4242908" cy="4154698"/>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matchingName="1_Title and Content">
  <p:cSld name="OBJECT">
    <p:spTree>
      <p:nvGrpSpPr>
        <p:cNvPr id="1" name="Shape 35"/>
        <p:cNvGrpSpPr/>
        <p:nvPr/>
      </p:nvGrpSpPr>
      <p:grpSpPr>
        <a:xfrm>
          <a:off x="0" y="0"/>
          <a:ext cx="0" cy="0"/>
          <a:chOff x="0" y="0"/>
          <a:chExt cx="0" cy="0"/>
        </a:xfrm>
      </p:grpSpPr>
      <p:sp>
        <p:nvSpPr>
          <p:cNvPr id="36" name="Google Shape;36;p38"/>
          <p:cNvSpPr txBox="1">
            <a:spLocks noGrp="1"/>
          </p:cNvSpPr>
          <p:nvPr>
            <p:ph type="title"/>
          </p:nvPr>
        </p:nvSpPr>
        <p:spPr>
          <a:xfrm>
            <a:off x="609600" y="351367"/>
            <a:ext cx="10972800" cy="8001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7" name="Google Shape;37;p38"/>
          <p:cNvSpPr txBox="1">
            <a:spLocks noGrp="1"/>
          </p:cNvSpPr>
          <p:nvPr>
            <p:ph type="body" idx="1"/>
          </p:nvPr>
        </p:nvSpPr>
        <p:spPr>
          <a:xfrm>
            <a:off x="609600" y="1524000"/>
            <a:ext cx="10972800" cy="4648200"/>
          </a:xfrm>
          <a:prstGeom prst="rect">
            <a:avLst/>
          </a:prstGeom>
          <a:noFill/>
          <a:ln>
            <a:noFill/>
          </a:ln>
        </p:spPr>
        <p:txBody>
          <a:bodyPr spcFirstLastPara="1" wrap="square" lIns="91425" tIns="45700" rIns="91425" bIns="45700" anchor="t" anchorCtr="0">
            <a:normAutofit/>
          </a:bodyPr>
          <a:lstStyle>
            <a:lvl1pPr marL="457200" lvl="0" indent="-342900" algn="l">
              <a:lnSpc>
                <a:spcPct val="95000"/>
              </a:lnSpc>
              <a:spcBef>
                <a:spcPts val="1200"/>
              </a:spcBef>
              <a:spcAft>
                <a:spcPts val="0"/>
              </a:spcAft>
              <a:buSzPts val="1800"/>
              <a:buChar char="•"/>
              <a:defRPr/>
            </a:lvl1pPr>
            <a:lvl2pPr marL="914400" lvl="1" indent="-342900" algn="l">
              <a:lnSpc>
                <a:spcPct val="95000"/>
              </a:lnSpc>
              <a:spcBef>
                <a:spcPts val="600"/>
              </a:spcBef>
              <a:spcAft>
                <a:spcPts val="0"/>
              </a:spcAft>
              <a:buSzPts val="1800"/>
              <a:buChar char="─"/>
              <a:defRPr/>
            </a:lvl2pPr>
            <a:lvl3pPr marL="1371600" lvl="2" indent="-342900" algn="l">
              <a:lnSpc>
                <a:spcPct val="95000"/>
              </a:lnSpc>
              <a:spcBef>
                <a:spcPts val="600"/>
              </a:spcBef>
              <a:spcAft>
                <a:spcPts val="0"/>
              </a:spcAft>
              <a:buSzPts val="1800"/>
              <a:buChar char="▪"/>
              <a:defRPr/>
            </a:lvl3pPr>
            <a:lvl4pPr marL="1828800" lvl="3" indent="-342900" algn="l">
              <a:lnSpc>
                <a:spcPct val="95000"/>
              </a:lnSpc>
              <a:spcBef>
                <a:spcPts val="600"/>
              </a:spcBef>
              <a:spcAft>
                <a:spcPts val="0"/>
              </a:spcAft>
              <a:buSzPts val="1800"/>
              <a:buChar char="o"/>
              <a:defRPr/>
            </a:lvl4pPr>
            <a:lvl5pPr marL="2286000" lvl="4" indent="-342900" algn="l">
              <a:lnSpc>
                <a:spcPct val="95000"/>
              </a:lnSpc>
              <a:spcBef>
                <a:spcPts val="600"/>
              </a:spcBef>
              <a:spcAft>
                <a:spcPts val="0"/>
              </a:spcAft>
              <a:buSzPts val="1800"/>
              <a:buChar char="•"/>
              <a:defRPr/>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p:txBody>
      </p:sp>
      <p:sp>
        <p:nvSpPr>
          <p:cNvPr id="38" name="Google Shape;38;p38"/>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38"/>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6"/>
        <p:cNvGrpSpPr/>
        <p:nvPr/>
      </p:nvGrpSpPr>
      <p:grpSpPr>
        <a:xfrm>
          <a:off x="0" y="0"/>
          <a:ext cx="0" cy="0"/>
          <a:chOff x="0" y="0"/>
          <a:chExt cx="0" cy="0"/>
        </a:xfrm>
      </p:grpSpPr>
      <p:sp>
        <p:nvSpPr>
          <p:cNvPr id="47" name="Google Shape;47;p40"/>
          <p:cNvSpPr txBox="1">
            <a:spLocks noGrp="1"/>
          </p:cNvSpPr>
          <p:nvPr>
            <p:ph type="title"/>
          </p:nvPr>
        </p:nvSpPr>
        <p:spPr>
          <a:xfrm>
            <a:off x="609600" y="351367"/>
            <a:ext cx="10972800" cy="8001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40"/>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
        <p:nvSpPr>
          <p:cNvPr id="49" name="Google Shape;49;p40"/>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hotoCaption">
  <p:cSld name="PhotoCaption">
    <p:spTree>
      <p:nvGrpSpPr>
        <p:cNvPr id="1" name="Shape 50"/>
        <p:cNvGrpSpPr/>
        <p:nvPr/>
      </p:nvGrpSpPr>
      <p:grpSpPr>
        <a:xfrm>
          <a:off x="0" y="0"/>
          <a:ext cx="0" cy="0"/>
          <a:chOff x="0" y="0"/>
          <a:chExt cx="0" cy="0"/>
        </a:xfrm>
      </p:grpSpPr>
      <p:sp>
        <p:nvSpPr>
          <p:cNvPr id="51" name="Google Shape;51;p41"/>
          <p:cNvSpPr txBox="1">
            <a:spLocks noGrp="1"/>
          </p:cNvSpPr>
          <p:nvPr>
            <p:ph type="title"/>
          </p:nvPr>
        </p:nvSpPr>
        <p:spPr>
          <a:xfrm>
            <a:off x="609600" y="351367"/>
            <a:ext cx="10972800" cy="8001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18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41"/>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
        <p:nvSpPr>
          <p:cNvPr id="53" name="Google Shape;53;p41"/>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41"/>
          <p:cNvSpPr>
            <a:spLocks noGrp="1"/>
          </p:cNvSpPr>
          <p:nvPr>
            <p:ph type="pic" idx="2"/>
          </p:nvPr>
        </p:nvSpPr>
        <p:spPr>
          <a:xfrm>
            <a:off x="609600" y="1524000"/>
            <a:ext cx="7823200" cy="4648200"/>
          </a:xfrm>
          <a:prstGeom prst="rect">
            <a:avLst/>
          </a:prstGeom>
          <a:noFill/>
          <a:ln>
            <a:noFill/>
          </a:ln>
        </p:spPr>
      </p:sp>
      <p:sp>
        <p:nvSpPr>
          <p:cNvPr id="55" name="Google Shape;55;p41"/>
          <p:cNvSpPr txBox="1">
            <a:spLocks noGrp="1"/>
          </p:cNvSpPr>
          <p:nvPr>
            <p:ph type="body" idx="1"/>
          </p:nvPr>
        </p:nvSpPr>
        <p:spPr>
          <a:xfrm>
            <a:off x="8737600" y="1524000"/>
            <a:ext cx="2844800" cy="4648200"/>
          </a:xfrm>
          <a:prstGeom prst="rect">
            <a:avLst/>
          </a:prstGeom>
          <a:noFill/>
          <a:ln>
            <a:noFill/>
          </a:ln>
        </p:spPr>
        <p:txBody>
          <a:bodyPr spcFirstLastPara="1" wrap="square" lIns="91425" tIns="45700" rIns="91425" bIns="45700" anchor="t" anchorCtr="0">
            <a:normAutofit/>
          </a:bodyPr>
          <a:lstStyle>
            <a:lvl1pPr marL="457200" lvl="0" indent="-228600" algn="l">
              <a:lnSpc>
                <a:spcPct val="95000"/>
              </a:lnSpc>
              <a:spcBef>
                <a:spcPts val="1200"/>
              </a:spcBef>
              <a:spcAft>
                <a:spcPts val="0"/>
              </a:spcAft>
              <a:buSzPts val="2000"/>
              <a:buFont typeface="Verdana" panose="020B0804030504040204"/>
              <a:buNone/>
              <a:defRPr sz="2000"/>
            </a:lvl1pPr>
            <a:lvl2pPr marL="914400" lvl="1" indent="-342900" algn="l">
              <a:lnSpc>
                <a:spcPct val="95000"/>
              </a:lnSpc>
              <a:spcBef>
                <a:spcPts val="600"/>
              </a:spcBef>
              <a:spcAft>
                <a:spcPts val="0"/>
              </a:spcAft>
              <a:buSzPts val="1800"/>
              <a:buChar char="─"/>
              <a:defRPr sz="1800"/>
            </a:lvl2pPr>
            <a:lvl3pPr marL="1371600" lvl="2" indent="-330200" algn="l">
              <a:lnSpc>
                <a:spcPct val="95000"/>
              </a:lnSpc>
              <a:spcBef>
                <a:spcPts val="600"/>
              </a:spcBef>
              <a:spcAft>
                <a:spcPts val="0"/>
              </a:spcAft>
              <a:buSzPts val="1600"/>
              <a:buChar char="▪"/>
              <a:defRPr sz="1600"/>
            </a:lvl3pPr>
            <a:lvl4pPr marL="1828800" lvl="3" indent="-317500" algn="l">
              <a:lnSpc>
                <a:spcPct val="95000"/>
              </a:lnSpc>
              <a:spcBef>
                <a:spcPts val="600"/>
              </a:spcBef>
              <a:spcAft>
                <a:spcPts val="0"/>
              </a:spcAft>
              <a:buSzPts val="1400"/>
              <a:buChar char="o"/>
              <a:defRPr sz="1400"/>
            </a:lvl4pPr>
            <a:lvl5pPr marL="2286000" lvl="4" indent="-317500" algn="l">
              <a:lnSpc>
                <a:spcPct val="95000"/>
              </a:lnSpc>
              <a:spcBef>
                <a:spcPts val="600"/>
              </a:spcBef>
              <a:spcAft>
                <a:spcPts val="0"/>
              </a:spcAft>
              <a:buSzPts val="1400"/>
              <a:buChar char="•"/>
              <a:defRPr sz="1400"/>
            </a:lvl5pPr>
            <a:lvl6pPr marL="2743200" lvl="5" indent="-342900" algn="l">
              <a:spcBef>
                <a:spcPts val="360"/>
              </a:spcBef>
              <a:spcAft>
                <a:spcPts val="0"/>
              </a:spcAft>
              <a:buSzPts val="1800"/>
              <a:buChar char="•"/>
              <a:defRPr/>
            </a:lvl6pPr>
            <a:lvl7pPr marL="3200400" lvl="6" indent="-342900" algn="l">
              <a:spcBef>
                <a:spcPts val="360"/>
              </a:spcBef>
              <a:spcAft>
                <a:spcPts val="0"/>
              </a:spcAft>
              <a:buSzPts val="1800"/>
              <a:buChar char="•"/>
              <a:defRPr/>
            </a:lvl7pPr>
            <a:lvl8pPr marL="3657600" lvl="7" indent="-342900" algn="l">
              <a:spcBef>
                <a:spcPts val="360"/>
              </a:spcBef>
              <a:spcAft>
                <a:spcPts val="0"/>
              </a:spcAft>
              <a:buSzPts val="1800"/>
              <a:buChar char="•"/>
              <a:defRPr/>
            </a:lvl8pPr>
            <a:lvl9pPr marL="4114800" lvl="8" indent="-342900" algn="l">
              <a:spcBef>
                <a:spcPts val="360"/>
              </a:spcBef>
              <a:spcAft>
                <a:spcPts val="0"/>
              </a:spcAft>
              <a:buSzPts val="1800"/>
              <a:buChar char="•"/>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56"/>
        <p:cNvGrpSpPr/>
        <p:nvPr/>
      </p:nvGrpSpPr>
      <p:grpSpPr>
        <a:xfrm>
          <a:off x="0" y="0"/>
          <a:ext cx="0" cy="0"/>
          <a:chOff x="0" y="0"/>
          <a:chExt cx="0" cy="0"/>
        </a:xfrm>
      </p:grpSpPr>
      <p:sp>
        <p:nvSpPr>
          <p:cNvPr id="57" name="Google Shape;57;p51"/>
          <p:cNvSpPr txBox="1">
            <a:spLocks noGrp="1"/>
          </p:cNvSpPr>
          <p:nvPr>
            <p:ph type="title"/>
          </p:nvPr>
        </p:nvSpPr>
        <p:spPr>
          <a:xfrm>
            <a:off x="609600" y="351367"/>
            <a:ext cx="10972800" cy="800100"/>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Clr>
                <a:srgbClr val="262626"/>
              </a:buClr>
              <a:buSzPts val="3200"/>
              <a:buFont typeface="Verdana" panose="020B0804030504040204"/>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51"/>
          <p:cNvSpPr txBox="1">
            <a:spLocks noGrp="1"/>
          </p:cNvSpPr>
          <p:nvPr>
            <p:ph type="body" idx="1"/>
          </p:nvPr>
        </p:nvSpPr>
        <p:spPr>
          <a:xfrm>
            <a:off x="1016000" y="1496736"/>
            <a:ext cx="4876800" cy="639762"/>
          </a:xfrm>
          <a:prstGeom prst="rect">
            <a:avLst/>
          </a:prstGeom>
          <a:noFill/>
          <a:ln>
            <a:noFill/>
          </a:ln>
        </p:spPr>
        <p:txBody>
          <a:bodyPr spcFirstLastPara="1" wrap="square" lIns="91425" tIns="45700" rIns="91425" bIns="45700" anchor="b" anchorCtr="0">
            <a:noAutofit/>
          </a:bodyPr>
          <a:lstStyle>
            <a:lvl1pPr marL="457200" lvl="0" indent="-228600" algn="l">
              <a:lnSpc>
                <a:spcPct val="95000"/>
              </a:lnSpc>
              <a:spcBef>
                <a:spcPts val="1200"/>
              </a:spcBef>
              <a:spcAft>
                <a:spcPts val="0"/>
              </a:spcAft>
              <a:buSzPts val="2000"/>
              <a:buNone/>
              <a:defRPr sz="2000" b="1">
                <a:solidFill>
                  <a:schemeClr val="dk2"/>
                </a:solidFill>
                <a:latin typeface="Verdana" panose="020B0804030504040204"/>
                <a:ea typeface="Verdana" panose="020B0804030504040204"/>
                <a:cs typeface="Verdana" panose="020B0804030504040204"/>
                <a:sym typeface="Verdana" panose="020B0804030504040204"/>
              </a:defRPr>
            </a:lvl1pPr>
            <a:lvl2pPr marL="914400" lvl="1" indent="-228600" algn="l">
              <a:lnSpc>
                <a:spcPct val="95000"/>
              </a:lnSpc>
              <a:spcBef>
                <a:spcPts val="600"/>
              </a:spcBef>
              <a:spcAft>
                <a:spcPts val="0"/>
              </a:spcAft>
              <a:buSzPts val="2000"/>
              <a:buNone/>
              <a:defRPr sz="2000" b="1"/>
            </a:lvl2pPr>
            <a:lvl3pPr marL="1371600" lvl="2" indent="-228600" algn="l">
              <a:lnSpc>
                <a:spcPct val="95000"/>
              </a:lnSpc>
              <a:spcBef>
                <a:spcPts val="600"/>
              </a:spcBef>
              <a:spcAft>
                <a:spcPts val="0"/>
              </a:spcAft>
              <a:buSzPts val="1800"/>
              <a:buNone/>
              <a:defRPr sz="1800" b="1"/>
            </a:lvl3pPr>
            <a:lvl4pPr marL="1828800" lvl="3" indent="-228600" algn="l">
              <a:lnSpc>
                <a:spcPct val="95000"/>
              </a:lnSpc>
              <a:spcBef>
                <a:spcPts val="600"/>
              </a:spcBef>
              <a:spcAft>
                <a:spcPts val="0"/>
              </a:spcAft>
              <a:buSzPts val="1600"/>
              <a:buNone/>
              <a:defRPr sz="1600" b="1"/>
            </a:lvl4pPr>
            <a:lvl5pPr marL="2286000" lvl="4" indent="-228600" algn="l">
              <a:lnSpc>
                <a:spcPct val="95000"/>
              </a:lnSpc>
              <a:spcBef>
                <a:spcPts val="600"/>
              </a:spcBef>
              <a:spcAft>
                <a:spcPts val="0"/>
              </a:spcAft>
              <a:buSzPts val="1600"/>
              <a:buNone/>
              <a:defRPr sz="1600" b="1"/>
            </a:lvl5pPr>
            <a:lvl6pPr marL="2743200" lvl="5" indent="-228600" algn="l">
              <a:spcBef>
                <a:spcPts val="320"/>
              </a:spcBef>
              <a:spcAft>
                <a:spcPts val="0"/>
              </a:spcAft>
              <a:buSzPts val="1600"/>
              <a:buNone/>
              <a:defRPr sz="1600" b="1"/>
            </a:lvl6pPr>
            <a:lvl7pPr marL="3200400" lvl="6" indent="-228600" algn="l">
              <a:spcBef>
                <a:spcPts val="320"/>
              </a:spcBef>
              <a:spcAft>
                <a:spcPts val="0"/>
              </a:spcAft>
              <a:buSzPts val="1600"/>
              <a:buNone/>
              <a:defRPr sz="1600" b="1"/>
            </a:lvl7pPr>
            <a:lvl8pPr marL="3657600" lvl="7" indent="-228600" algn="l">
              <a:spcBef>
                <a:spcPts val="320"/>
              </a:spcBef>
              <a:spcAft>
                <a:spcPts val="0"/>
              </a:spcAft>
              <a:buSzPts val="1600"/>
              <a:buNone/>
              <a:defRPr sz="1600" b="1"/>
            </a:lvl8pPr>
            <a:lvl9pPr marL="4114800" lvl="8" indent="-228600" algn="l">
              <a:spcBef>
                <a:spcPts val="320"/>
              </a:spcBef>
              <a:spcAft>
                <a:spcPts val="0"/>
              </a:spcAft>
              <a:buSzPts val="1600"/>
              <a:buNone/>
              <a:defRPr sz="1600" b="1"/>
            </a:lvl9pPr>
          </a:lstStyle>
          <a:p/>
        </p:txBody>
      </p:sp>
      <p:sp>
        <p:nvSpPr>
          <p:cNvPr id="59" name="Google Shape;59;p51"/>
          <p:cNvSpPr txBox="1">
            <a:spLocks noGrp="1"/>
          </p:cNvSpPr>
          <p:nvPr>
            <p:ph type="body" idx="2"/>
          </p:nvPr>
        </p:nvSpPr>
        <p:spPr>
          <a:xfrm>
            <a:off x="1016000" y="2216400"/>
            <a:ext cx="4876800" cy="3955800"/>
          </a:xfrm>
          <a:prstGeom prst="rect">
            <a:avLst/>
          </a:prstGeom>
          <a:noFill/>
          <a:ln>
            <a:noFill/>
          </a:ln>
        </p:spPr>
        <p:txBody>
          <a:bodyPr spcFirstLastPara="1" wrap="square" lIns="91425" tIns="45700" rIns="91425" bIns="45700" anchor="t" anchorCtr="0">
            <a:normAutofit/>
          </a:bodyPr>
          <a:lstStyle>
            <a:lvl1pPr marL="457200" lvl="0" indent="-355600" algn="l">
              <a:lnSpc>
                <a:spcPct val="95000"/>
              </a:lnSpc>
              <a:spcBef>
                <a:spcPts val="1200"/>
              </a:spcBef>
              <a:spcAft>
                <a:spcPts val="0"/>
              </a:spcAft>
              <a:buSzPts val="2000"/>
              <a:buChar char="•"/>
              <a:defRPr sz="2000"/>
            </a:lvl1pPr>
            <a:lvl2pPr marL="914400" lvl="1" indent="-342900" algn="l">
              <a:lnSpc>
                <a:spcPct val="95000"/>
              </a:lnSpc>
              <a:spcBef>
                <a:spcPts val="600"/>
              </a:spcBef>
              <a:spcAft>
                <a:spcPts val="0"/>
              </a:spcAft>
              <a:buSzPts val="1800"/>
              <a:buChar char="─"/>
              <a:defRPr sz="1800"/>
            </a:lvl2pPr>
            <a:lvl3pPr marL="1371600" lvl="2" indent="-330200" algn="l">
              <a:lnSpc>
                <a:spcPct val="95000"/>
              </a:lnSpc>
              <a:spcBef>
                <a:spcPts val="600"/>
              </a:spcBef>
              <a:spcAft>
                <a:spcPts val="0"/>
              </a:spcAft>
              <a:buSzPts val="1600"/>
              <a:buChar char="▪"/>
              <a:defRPr sz="1600"/>
            </a:lvl3pPr>
            <a:lvl4pPr marL="1828800" lvl="3" indent="-317500" algn="l">
              <a:lnSpc>
                <a:spcPct val="95000"/>
              </a:lnSpc>
              <a:spcBef>
                <a:spcPts val="600"/>
              </a:spcBef>
              <a:spcAft>
                <a:spcPts val="0"/>
              </a:spcAft>
              <a:buSzPts val="1400"/>
              <a:buChar char="o"/>
              <a:defRPr sz="1400"/>
            </a:lvl4pPr>
            <a:lvl5pPr marL="2286000" lvl="4" indent="-317500" algn="l">
              <a:lnSpc>
                <a:spcPct val="95000"/>
              </a:lnSpc>
              <a:spcBef>
                <a:spcPts val="600"/>
              </a:spcBef>
              <a:spcAft>
                <a:spcPts val="0"/>
              </a:spcAft>
              <a:buSzPts val="1400"/>
              <a:buChar char="•"/>
              <a:defRPr sz="1400"/>
            </a:lvl5pPr>
            <a:lvl6pPr marL="2743200" lvl="5" indent="-330200" algn="l">
              <a:spcBef>
                <a:spcPts val="320"/>
              </a:spcBef>
              <a:spcAft>
                <a:spcPts val="0"/>
              </a:spcAft>
              <a:buSzPts val="1600"/>
              <a:buChar char="•"/>
              <a:defRPr sz="1600"/>
            </a:lvl6pPr>
            <a:lvl7pPr marL="3200400" lvl="6" indent="-330200" algn="l">
              <a:spcBef>
                <a:spcPts val="320"/>
              </a:spcBef>
              <a:spcAft>
                <a:spcPts val="0"/>
              </a:spcAft>
              <a:buSzPts val="1600"/>
              <a:buChar char="•"/>
              <a:defRPr sz="1600"/>
            </a:lvl7pPr>
            <a:lvl8pPr marL="3657600" lvl="7" indent="-330200" algn="l">
              <a:spcBef>
                <a:spcPts val="320"/>
              </a:spcBef>
              <a:spcAft>
                <a:spcPts val="0"/>
              </a:spcAft>
              <a:buSzPts val="1600"/>
              <a:buChar char="•"/>
              <a:defRPr sz="1600"/>
            </a:lvl8pPr>
            <a:lvl9pPr marL="4114800" lvl="8" indent="-330200" algn="l">
              <a:spcBef>
                <a:spcPts val="320"/>
              </a:spcBef>
              <a:spcAft>
                <a:spcPts val="0"/>
              </a:spcAft>
              <a:buSzPts val="1600"/>
              <a:buChar char="•"/>
              <a:defRPr sz="1600"/>
            </a:lvl9pPr>
          </a:lstStyle>
          <a:p/>
        </p:txBody>
      </p:sp>
      <p:sp>
        <p:nvSpPr>
          <p:cNvPr id="60" name="Google Shape;60;p51"/>
          <p:cNvSpPr txBox="1">
            <a:spLocks noGrp="1"/>
          </p:cNvSpPr>
          <p:nvPr>
            <p:ph type="body" idx="3"/>
          </p:nvPr>
        </p:nvSpPr>
        <p:spPr>
          <a:xfrm>
            <a:off x="6197600" y="1496736"/>
            <a:ext cx="4876800" cy="639762"/>
          </a:xfrm>
          <a:prstGeom prst="rect">
            <a:avLst/>
          </a:prstGeom>
          <a:noFill/>
          <a:ln>
            <a:noFill/>
          </a:ln>
        </p:spPr>
        <p:txBody>
          <a:bodyPr spcFirstLastPara="1" wrap="square" lIns="91425" tIns="45700" rIns="91425" bIns="45700" anchor="b" anchorCtr="0">
            <a:noAutofit/>
          </a:bodyPr>
          <a:lstStyle>
            <a:lvl1pPr marL="457200" lvl="0" indent="-228600" algn="l">
              <a:lnSpc>
                <a:spcPct val="95000"/>
              </a:lnSpc>
              <a:spcBef>
                <a:spcPts val="1200"/>
              </a:spcBef>
              <a:spcAft>
                <a:spcPts val="0"/>
              </a:spcAft>
              <a:buSzPts val="2000"/>
              <a:buNone/>
              <a:defRPr sz="2000" b="1">
                <a:solidFill>
                  <a:schemeClr val="dk2"/>
                </a:solidFill>
                <a:latin typeface="Verdana" panose="020B0804030504040204"/>
                <a:ea typeface="Verdana" panose="020B0804030504040204"/>
                <a:cs typeface="Verdana" panose="020B0804030504040204"/>
                <a:sym typeface="Verdana" panose="020B0804030504040204"/>
              </a:defRPr>
            </a:lvl1pPr>
            <a:lvl2pPr marL="914400" lvl="1" indent="-228600" algn="l">
              <a:lnSpc>
                <a:spcPct val="95000"/>
              </a:lnSpc>
              <a:spcBef>
                <a:spcPts val="600"/>
              </a:spcBef>
              <a:spcAft>
                <a:spcPts val="0"/>
              </a:spcAft>
              <a:buSzPts val="2000"/>
              <a:buNone/>
              <a:defRPr sz="2000" b="1"/>
            </a:lvl2pPr>
            <a:lvl3pPr marL="1371600" lvl="2" indent="-228600" algn="l">
              <a:lnSpc>
                <a:spcPct val="95000"/>
              </a:lnSpc>
              <a:spcBef>
                <a:spcPts val="600"/>
              </a:spcBef>
              <a:spcAft>
                <a:spcPts val="0"/>
              </a:spcAft>
              <a:buSzPts val="1800"/>
              <a:buNone/>
              <a:defRPr sz="1800" b="1"/>
            </a:lvl3pPr>
            <a:lvl4pPr marL="1828800" lvl="3" indent="-228600" algn="l">
              <a:lnSpc>
                <a:spcPct val="95000"/>
              </a:lnSpc>
              <a:spcBef>
                <a:spcPts val="600"/>
              </a:spcBef>
              <a:spcAft>
                <a:spcPts val="0"/>
              </a:spcAft>
              <a:buSzPts val="1600"/>
              <a:buNone/>
              <a:defRPr sz="1600" b="1"/>
            </a:lvl4pPr>
            <a:lvl5pPr marL="2286000" lvl="4" indent="-228600" algn="l">
              <a:lnSpc>
                <a:spcPct val="95000"/>
              </a:lnSpc>
              <a:spcBef>
                <a:spcPts val="600"/>
              </a:spcBef>
              <a:spcAft>
                <a:spcPts val="0"/>
              </a:spcAft>
              <a:buSzPts val="1600"/>
              <a:buNone/>
              <a:defRPr sz="1600" b="1"/>
            </a:lvl5pPr>
            <a:lvl6pPr marL="2743200" lvl="5" indent="-228600" algn="l">
              <a:spcBef>
                <a:spcPts val="320"/>
              </a:spcBef>
              <a:spcAft>
                <a:spcPts val="0"/>
              </a:spcAft>
              <a:buSzPts val="1600"/>
              <a:buNone/>
              <a:defRPr sz="1600" b="1"/>
            </a:lvl6pPr>
            <a:lvl7pPr marL="3200400" lvl="6" indent="-228600" algn="l">
              <a:spcBef>
                <a:spcPts val="320"/>
              </a:spcBef>
              <a:spcAft>
                <a:spcPts val="0"/>
              </a:spcAft>
              <a:buSzPts val="1600"/>
              <a:buNone/>
              <a:defRPr sz="1600" b="1"/>
            </a:lvl7pPr>
            <a:lvl8pPr marL="3657600" lvl="7" indent="-228600" algn="l">
              <a:spcBef>
                <a:spcPts val="320"/>
              </a:spcBef>
              <a:spcAft>
                <a:spcPts val="0"/>
              </a:spcAft>
              <a:buSzPts val="1600"/>
              <a:buNone/>
              <a:defRPr sz="1600" b="1"/>
            </a:lvl8pPr>
            <a:lvl9pPr marL="4114800" lvl="8" indent="-228600" algn="l">
              <a:spcBef>
                <a:spcPts val="320"/>
              </a:spcBef>
              <a:spcAft>
                <a:spcPts val="0"/>
              </a:spcAft>
              <a:buSzPts val="1600"/>
              <a:buNone/>
              <a:defRPr sz="1600" b="1"/>
            </a:lvl9pPr>
          </a:lstStyle>
          <a:p/>
        </p:txBody>
      </p:sp>
      <p:sp>
        <p:nvSpPr>
          <p:cNvPr id="61" name="Google Shape;61;p51"/>
          <p:cNvSpPr txBox="1">
            <a:spLocks noGrp="1"/>
          </p:cNvSpPr>
          <p:nvPr>
            <p:ph type="body" idx="4"/>
          </p:nvPr>
        </p:nvSpPr>
        <p:spPr>
          <a:xfrm>
            <a:off x="6197600" y="2216400"/>
            <a:ext cx="4876800" cy="3955800"/>
          </a:xfrm>
          <a:prstGeom prst="rect">
            <a:avLst/>
          </a:prstGeom>
          <a:noFill/>
          <a:ln>
            <a:noFill/>
          </a:ln>
        </p:spPr>
        <p:txBody>
          <a:bodyPr spcFirstLastPara="1" wrap="square" lIns="91425" tIns="45700" rIns="91425" bIns="45700" anchor="t" anchorCtr="0">
            <a:normAutofit/>
          </a:bodyPr>
          <a:lstStyle>
            <a:lvl1pPr marL="457200" lvl="0" indent="-355600" algn="l">
              <a:lnSpc>
                <a:spcPct val="95000"/>
              </a:lnSpc>
              <a:spcBef>
                <a:spcPts val="1200"/>
              </a:spcBef>
              <a:spcAft>
                <a:spcPts val="0"/>
              </a:spcAft>
              <a:buSzPts val="2000"/>
              <a:buChar char="•"/>
              <a:defRPr sz="2000"/>
            </a:lvl1pPr>
            <a:lvl2pPr marL="914400" lvl="1" indent="-342900" algn="l">
              <a:lnSpc>
                <a:spcPct val="95000"/>
              </a:lnSpc>
              <a:spcBef>
                <a:spcPts val="600"/>
              </a:spcBef>
              <a:spcAft>
                <a:spcPts val="0"/>
              </a:spcAft>
              <a:buSzPts val="1800"/>
              <a:buChar char="─"/>
              <a:defRPr sz="1800"/>
            </a:lvl2pPr>
            <a:lvl3pPr marL="1371600" lvl="2" indent="-330200" algn="l">
              <a:lnSpc>
                <a:spcPct val="95000"/>
              </a:lnSpc>
              <a:spcBef>
                <a:spcPts val="600"/>
              </a:spcBef>
              <a:spcAft>
                <a:spcPts val="0"/>
              </a:spcAft>
              <a:buSzPts val="1600"/>
              <a:buChar char="▪"/>
              <a:defRPr sz="1600"/>
            </a:lvl3pPr>
            <a:lvl4pPr marL="1828800" lvl="3" indent="-317500" algn="l">
              <a:lnSpc>
                <a:spcPct val="95000"/>
              </a:lnSpc>
              <a:spcBef>
                <a:spcPts val="600"/>
              </a:spcBef>
              <a:spcAft>
                <a:spcPts val="0"/>
              </a:spcAft>
              <a:buSzPts val="1400"/>
              <a:buChar char="o"/>
              <a:defRPr sz="1400"/>
            </a:lvl4pPr>
            <a:lvl5pPr marL="2286000" lvl="4" indent="-317500" algn="l">
              <a:lnSpc>
                <a:spcPct val="95000"/>
              </a:lnSpc>
              <a:spcBef>
                <a:spcPts val="600"/>
              </a:spcBef>
              <a:spcAft>
                <a:spcPts val="0"/>
              </a:spcAft>
              <a:buSzPts val="1400"/>
              <a:buChar char="•"/>
              <a:defRPr sz="1400"/>
            </a:lvl5pPr>
            <a:lvl6pPr marL="2743200" lvl="5" indent="-330200" algn="l">
              <a:spcBef>
                <a:spcPts val="320"/>
              </a:spcBef>
              <a:spcAft>
                <a:spcPts val="0"/>
              </a:spcAft>
              <a:buSzPts val="1600"/>
              <a:buChar char="•"/>
              <a:defRPr sz="1600"/>
            </a:lvl6pPr>
            <a:lvl7pPr marL="3200400" lvl="6" indent="-330200" algn="l">
              <a:spcBef>
                <a:spcPts val="320"/>
              </a:spcBef>
              <a:spcAft>
                <a:spcPts val="0"/>
              </a:spcAft>
              <a:buSzPts val="1600"/>
              <a:buChar char="•"/>
              <a:defRPr sz="1600"/>
            </a:lvl7pPr>
            <a:lvl8pPr marL="3657600" lvl="7" indent="-330200" algn="l">
              <a:spcBef>
                <a:spcPts val="320"/>
              </a:spcBef>
              <a:spcAft>
                <a:spcPts val="0"/>
              </a:spcAft>
              <a:buSzPts val="1600"/>
              <a:buChar char="•"/>
              <a:defRPr sz="1600"/>
            </a:lvl8pPr>
            <a:lvl9pPr marL="4114800" lvl="8" indent="-330200" algn="l">
              <a:spcBef>
                <a:spcPts val="320"/>
              </a:spcBef>
              <a:spcAft>
                <a:spcPts val="0"/>
              </a:spcAft>
              <a:buSzPts val="1600"/>
              <a:buChar char="•"/>
              <a:defRPr sz="1600"/>
            </a:lvl9pPr>
          </a:lstStyle>
          <a:p/>
        </p:txBody>
      </p:sp>
      <p:sp>
        <p:nvSpPr>
          <p:cNvPr id="62" name="Google Shape;62;p51"/>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
        <p:nvSpPr>
          <p:cNvPr id="63" name="Google Shape;63;p51"/>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64"/>
        <p:cNvGrpSpPr/>
        <p:nvPr/>
      </p:nvGrpSpPr>
      <p:grpSpPr>
        <a:xfrm>
          <a:off x="0" y="0"/>
          <a:ext cx="0" cy="0"/>
          <a:chOff x="0" y="0"/>
          <a:chExt cx="0" cy="0"/>
        </a:xfrm>
      </p:grpSpPr>
      <p:sp>
        <p:nvSpPr>
          <p:cNvPr id="65" name="Google Shape;65;p52"/>
          <p:cNvSpPr txBox="1">
            <a:spLocks noGrp="1"/>
          </p:cNvSpPr>
          <p:nvPr>
            <p:ph type="sldNum" idx="12"/>
          </p:nvPr>
        </p:nvSpPr>
        <p:spPr>
          <a:xfrm>
            <a:off x="1" y="6391657"/>
            <a:ext cx="612396" cy="36512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sp>
        <p:nvSpPr>
          <p:cNvPr id="66" name="Google Shape;66;p52"/>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67"/>
        <p:cNvGrpSpPr/>
        <p:nvPr/>
      </p:nvGrpSpPr>
      <p:grpSpPr>
        <a:xfrm>
          <a:off x="0" y="0"/>
          <a:ext cx="0" cy="0"/>
          <a:chOff x="0" y="0"/>
          <a:chExt cx="0" cy="0"/>
        </a:xfrm>
      </p:grpSpPr>
      <p:sp>
        <p:nvSpPr>
          <p:cNvPr id="68" name="Google Shape;68;p53"/>
          <p:cNvSpPr txBox="1">
            <a:spLocks noGrp="1"/>
          </p:cNvSpPr>
          <p:nvPr>
            <p:ph type="title"/>
          </p:nvPr>
        </p:nvSpPr>
        <p:spPr>
          <a:xfrm>
            <a:off x="609600" y="76200"/>
            <a:ext cx="11074400" cy="106680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rgbClr val="262626"/>
              </a:buClr>
              <a:buSzPts val="3200"/>
              <a:buFont typeface="Verdana" panose="020B0804030504040204"/>
              <a:buNone/>
              <a:defRPr sz="3200" b="1"/>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53"/>
          <p:cNvSpPr txBox="1">
            <a:spLocks noGrp="1"/>
          </p:cNvSpPr>
          <p:nvPr>
            <p:ph type="body" idx="1"/>
          </p:nvPr>
        </p:nvSpPr>
        <p:spPr>
          <a:xfrm>
            <a:off x="4523709" y="1524001"/>
            <a:ext cx="7058691" cy="4648199"/>
          </a:xfrm>
          <a:prstGeom prst="rect">
            <a:avLst/>
          </a:prstGeom>
          <a:noFill/>
          <a:ln>
            <a:noFill/>
          </a:ln>
        </p:spPr>
        <p:txBody>
          <a:bodyPr spcFirstLastPara="1" wrap="square" lIns="91425" tIns="45700" rIns="91425" bIns="45700" anchor="t" anchorCtr="0">
            <a:normAutofit/>
          </a:bodyPr>
          <a:lstStyle>
            <a:lvl1pPr marL="457200" lvl="0" indent="-381000" algn="l">
              <a:lnSpc>
                <a:spcPct val="95000"/>
              </a:lnSpc>
              <a:spcBef>
                <a:spcPts val="1200"/>
              </a:spcBef>
              <a:spcAft>
                <a:spcPts val="0"/>
              </a:spcAft>
              <a:buSzPts val="2400"/>
              <a:buChar char="•"/>
              <a:defRPr sz="2400"/>
            </a:lvl1pPr>
            <a:lvl2pPr marL="914400" lvl="1" indent="-368300" algn="l">
              <a:lnSpc>
                <a:spcPct val="95000"/>
              </a:lnSpc>
              <a:spcBef>
                <a:spcPts val="600"/>
              </a:spcBef>
              <a:spcAft>
                <a:spcPts val="0"/>
              </a:spcAft>
              <a:buSzPts val="2200"/>
              <a:buChar char="─"/>
              <a:defRPr sz="2200"/>
            </a:lvl2pPr>
            <a:lvl3pPr marL="1371600" lvl="2" indent="-355600" algn="l">
              <a:lnSpc>
                <a:spcPct val="95000"/>
              </a:lnSpc>
              <a:spcBef>
                <a:spcPts val="600"/>
              </a:spcBef>
              <a:spcAft>
                <a:spcPts val="0"/>
              </a:spcAft>
              <a:buSzPts val="2000"/>
              <a:buChar char="▪"/>
              <a:defRPr sz="2000"/>
            </a:lvl3pPr>
            <a:lvl4pPr marL="1828800" lvl="3" indent="-342900" algn="l">
              <a:lnSpc>
                <a:spcPct val="95000"/>
              </a:lnSpc>
              <a:spcBef>
                <a:spcPts val="600"/>
              </a:spcBef>
              <a:spcAft>
                <a:spcPts val="0"/>
              </a:spcAft>
              <a:buSzPts val="1800"/>
              <a:buChar char="o"/>
              <a:defRPr sz="1800"/>
            </a:lvl4pPr>
            <a:lvl5pPr marL="2286000" lvl="4" indent="-342900" algn="l">
              <a:lnSpc>
                <a:spcPct val="95000"/>
              </a:lnSpc>
              <a:spcBef>
                <a:spcPts val="600"/>
              </a:spcBef>
              <a:spcAft>
                <a:spcPts val="0"/>
              </a:spcAft>
              <a:buSzPts val="1800"/>
              <a:buChar char="•"/>
              <a:defRPr sz="1800"/>
            </a:lvl5pPr>
            <a:lvl6pPr marL="2743200" lvl="5" indent="-355600" algn="l">
              <a:spcBef>
                <a:spcPts val="400"/>
              </a:spcBef>
              <a:spcAft>
                <a:spcPts val="0"/>
              </a:spcAft>
              <a:buSzPts val="2000"/>
              <a:buChar char="•"/>
              <a:defRPr sz="2000"/>
            </a:lvl6pPr>
            <a:lvl7pPr marL="3200400" lvl="6" indent="-355600" algn="l">
              <a:spcBef>
                <a:spcPts val="400"/>
              </a:spcBef>
              <a:spcAft>
                <a:spcPts val="0"/>
              </a:spcAft>
              <a:buSzPts val="2000"/>
              <a:buChar char="•"/>
              <a:defRPr sz="2000"/>
            </a:lvl7pPr>
            <a:lvl8pPr marL="3657600" lvl="7" indent="-355600" algn="l">
              <a:spcBef>
                <a:spcPts val="400"/>
              </a:spcBef>
              <a:spcAft>
                <a:spcPts val="0"/>
              </a:spcAft>
              <a:buSzPts val="2000"/>
              <a:buChar char="•"/>
              <a:defRPr sz="2000"/>
            </a:lvl8pPr>
            <a:lvl9pPr marL="4114800" lvl="8" indent="-355600" algn="l">
              <a:spcBef>
                <a:spcPts val="400"/>
              </a:spcBef>
              <a:spcAft>
                <a:spcPts val="0"/>
              </a:spcAft>
              <a:buSzPts val="2000"/>
              <a:buChar char="•"/>
              <a:defRPr sz="2000"/>
            </a:lvl9pPr>
          </a:lstStyle>
          <a:p/>
        </p:txBody>
      </p:sp>
      <p:sp>
        <p:nvSpPr>
          <p:cNvPr id="70" name="Google Shape;70;p53"/>
          <p:cNvSpPr txBox="1">
            <a:spLocks noGrp="1"/>
          </p:cNvSpPr>
          <p:nvPr>
            <p:ph type="body" idx="2"/>
          </p:nvPr>
        </p:nvSpPr>
        <p:spPr>
          <a:xfrm>
            <a:off x="591890" y="1524000"/>
            <a:ext cx="3564876" cy="4648200"/>
          </a:xfrm>
          <a:prstGeom prst="rect">
            <a:avLst/>
          </a:prstGeom>
          <a:noFill/>
          <a:ln>
            <a:noFill/>
          </a:ln>
        </p:spPr>
        <p:txBody>
          <a:bodyPr spcFirstLastPara="1" wrap="square" lIns="91425" tIns="45700" rIns="91425" bIns="45700" anchor="t" anchorCtr="0">
            <a:normAutofit/>
          </a:bodyPr>
          <a:lstStyle>
            <a:lvl1pPr marL="457200" lvl="0" indent="-228600" algn="l">
              <a:lnSpc>
                <a:spcPct val="95000"/>
              </a:lnSpc>
              <a:spcBef>
                <a:spcPts val="1200"/>
              </a:spcBef>
              <a:spcAft>
                <a:spcPts val="0"/>
              </a:spcAft>
              <a:buSzPts val="2000"/>
              <a:buNone/>
              <a:defRPr sz="2000">
                <a:solidFill>
                  <a:schemeClr val="dk2"/>
                </a:solidFill>
              </a:defRPr>
            </a:lvl1pPr>
            <a:lvl2pPr marL="914400" lvl="1" indent="-228600" algn="l">
              <a:lnSpc>
                <a:spcPct val="95000"/>
              </a:lnSpc>
              <a:spcBef>
                <a:spcPts val="600"/>
              </a:spcBef>
              <a:spcAft>
                <a:spcPts val="0"/>
              </a:spcAft>
              <a:buSzPts val="1200"/>
              <a:buNone/>
              <a:defRPr sz="1200"/>
            </a:lvl2pPr>
            <a:lvl3pPr marL="1371600" lvl="2" indent="-228600" algn="l">
              <a:lnSpc>
                <a:spcPct val="95000"/>
              </a:lnSpc>
              <a:spcBef>
                <a:spcPts val="600"/>
              </a:spcBef>
              <a:spcAft>
                <a:spcPts val="0"/>
              </a:spcAft>
              <a:buSzPts val="1000"/>
              <a:buNone/>
              <a:defRPr sz="1000"/>
            </a:lvl3pPr>
            <a:lvl4pPr marL="1828800" lvl="3" indent="-228600" algn="l">
              <a:lnSpc>
                <a:spcPct val="95000"/>
              </a:lnSpc>
              <a:spcBef>
                <a:spcPts val="600"/>
              </a:spcBef>
              <a:spcAft>
                <a:spcPts val="0"/>
              </a:spcAft>
              <a:buSzPts val="900"/>
              <a:buNone/>
              <a:defRPr sz="900"/>
            </a:lvl4pPr>
            <a:lvl5pPr marL="2286000" lvl="4" indent="-228600" algn="l">
              <a:lnSpc>
                <a:spcPct val="95000"/>
              </a:lnSpc>
              <a:spcBef>
                <a:spcPts val="600"/>
              </a:spcBef>
              <a:spcAft>
                <a:spcPts val="0"/>
              </a:spcAft>
              <a:buSzPts val="900"/>
              <a:buNone/>
              <a:defRPr sz="900"/>
            </a:lvl5pPr>
            <a:lvl6pPr marL="2743200" lvl="5" indent="-228600" algn="l">
              <a:spcBef>
                <a:spcPts val="180"/>
              </a:spcBef>
              <a:spcAft>
                <a:spcPts val="0"/>
              </a:spcAft>
              <a:buSzPts val="900"/>
              <a:buNone/>
              <a:defRPr sz="900"/>
            </a:lvl6pPr>
            <a:lvl7pPr marL="3200400" lvl="6" indent="-228600" algn="l">
              <a:spcBef>
                <a:spcPts val="180"/>
              </a:spcBef>
              <a:spcAft>
                <a:spcPts val="0"/>
              </a:spcAft>
              <a:buSzPts val="900"/>
              <a:buNone/>
              <a:defRPr sz="900"/>
            </a:lvl7pPr>
            <a:lvl8pPr marL="3657600" lvl="7" indent="-228600" algn="l">
              <a:spcBef>
                <a:spcPts val="180"/>
              </a:spcBef>
              <a:spcAft>
                <a:spcPts val="0"/>
              </a:spcAft>
              <a:buSzPts val="900"/>
              <a:buNone/>
              <a:defRPr sz="900"/>
            </a:lvl8pPr>
            <a:lvl9pPr marL="4114800" lvl="8" indent="-228600" algn="l">
              <a:spcBef>
                <a:spcPts val="180"/>
              </a:spcBef>
              <a:spcAft>
                <a:spcPts val="0"/>
              </a:spcAft>
              <a:buSzPts val="900"/>
              <a:buNone/>
              <a:defRPr sz="900"/>
            </a:lvl9pPr>
          </a:lstStyle>
          <a:p/>
        </p:txBody>
      </p:sp>
      <p:sp>
        <p:nvSpPr>
          <p:cNvPr id="71" name="Google Shape;71;p53"/>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US"/>
            </a:fld>
            <a:endParaRPr lang="en-US"/>
          </a:p>
        </p:txBody>
      </p:sp>
      <p:cxnSp>
        <p:nvCxnSpPr>
          <p:cNvPr id="72" name="Google Shape;72;p53"/>
          <p:cNvCxnSpPr/>
          <p:nvPr/>
        </p:nvCxnSpPr>
        <p:spPr>
          <a:xfrm rot="5400000">
            <a:off x="2447147" y="3581135"/>
            <a:ext cx="3810000" cy="2117"/>
          </a:xfrm>
          <a:prstGeom prst="straightConnector1">
            <a:avLst/>
          </a:prstGeom>
          <a:noFill/>
          <a:ln w="15875" cap="flat" cmpd="sng">
            <a:solidFill>
              <a:srgbClr val="B5B5B5"/>
            </a:solidFill>
            <a:prstDash val="solid"/>
            <a:round/>
            <a:headEnd type="none" w="sm" len="sm"/>
            <a:tailEnd type="none" w="sm" len="sm"/>
          </a:ln>
        </p:spPr>
      </p:cxnSp>
      <p:sp>
        <p:nvSpPr>
          <p:cNvPr id="73" name="Google Shape;73;p53"/>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33"/>
          <p:cNvSpPr txBox="1">
            <a:spLocks noGrp="1"/>
          </p:cNvSpPr>
          <p:nvPr>
            <p:ph type="title"/>
          </p:nvPr>
        </p:nvSpPr>
        <p:spPr>
          <a:xfrm>
            <a:off x="609600" y="351367"/>
            <a:ext cx="10972800" cy="8001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Clr>
                <a:srgbClr val="262626"/>
              </a:buClr>
              <a:buSzPts val="3200"/>
              <a:buFont typeface="Verdana" panose="020B0804030504040204"/>
              <a:buNone/>
              <a:defRPr sz="3200" b="1"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R="0" lvl="1" algn="l" rtl="0">
              <a:spcBef>
                <a:spcPts val="0"/>
              </a:spcBef>
              <a:spcAft>
                <a:spcPts val="0"/>
              </a:spcAft>
              <a:buSzPts val="1400"/>
              <a:buNone/>
              <a:defRPr sz="1800" b="0" i="0" u="none" strike="noStrike" cap="none">
                <a:solidFill>
                  <a:schemeClr val="dk2"/>
                </a:solidFill>
              </a:defRPr>
            </a:lvl2pPr>
            <a:lvl3pPr marR="0" lvl="2" algn="l" rtl="0">
              <a:spcBef>
                <a:spcPts val="0"/>
              </a:spcBef>
              <a:spcAft>
                <a:spcPts val="0"/>
              </a:spcAft>
              <a:buSzPts val="1400"/>
              <a:buNone/>
              <a:defRPr sz="1800" b="0" i="0" u="none" strike="noStrike" cap="none">
                <a:solidFill>
                  <a:schemeClr val="dk2"/>
                </a:solidFill>
              </a:defRPr>
            </a:lvl3pPr>
            <a:lvl4pPr marR="0" lvl="3" algn="l" rtl="0">
              <a:spcBef>
                <a:spcPts val="0"/>
              </a:spcBef>
              <a:spcAft>
                <a:spcPts val="0"/>
              </a:spcAft>
              <a:buSzPts val="1400"/>
              <a:buNone/>
              <a:defRPr sz="1800" b="0" i="0" u="none" strike="noStrike" cap="none">
                <a:solidFill>
                  <a:schemeClr val="dk2"/>
                </a:solidFill>
              </a:defRPr>
            </a:lvl4pPr>
            <a:lvl5pPr marR="0" lvl="4" algn="l" rtl="0">
              <a:spcBef>
                <a:spcPts val="0"/>
              </a:spcBef>
              <a:spcAft>
                <a:spcPts val="0"/>
              </a:spcAft>
              <a:buSzPts val="1400"/>
              <a:buNone/>
              <a:defRPr sz="1800" b="0" i="0" u="none" strike="noStrike" cap="none">
                <a:solidFill>
                  <a:schemeClr val="dk2"/>
                </a:solidFill>
              </a:defRPr>
            </a:lvl5pPr>
            <a:lvl6pPr marR="0" lvl="5" algn="l" rtl="0">
              <a:spcBef>
                <a:spcPts val="0"/>
              </a:spcBef>
              <a:spcAft>
                <a:spcPts val="0"/>
              </a:spcAft>
              <a:buSzPts val="1400"/>
              <a:buNone/>
              <a:defRPr sz="1800" b="0" i="0" u="none" strike="noStrike" cap="none">
                <a:solidFill>
                  <a:schemeClr val="dk2"/>
                </a:solidFill>
              </a:defRPr>
            </a:lvl6pPr>
            <a:lvl7pPr marR="0" lvl="6" algn="l" rtl="0">
              <a:spcBef>
                <a:spcPts val="0"/>
              </a:spcBef>
              <a:spcAft>
                <a:spcPts val="0"/>
              </a:spcAft>
              <a:buSzPts val="1400"/>
              <a:buNone/>
              <a:defRPr sz="1800" b="0" i="0" u="none" strike="noStrike" cap="none">
                <a:solidFill>
                  <a:schemeClr val="dk2"/>
                </a:solidFill>
              </a:defRPr>
            </a:lvl7pPr>
            <a:lvl8pPr marR="0" lvl="7" algn="l" rtl="0">
              <a:spcBef>
                <a:spcPts val="0"/>
              </a:spcBef>
              <a:spcAft>
                <a:spcPts val="0"/>
              </a:spcAft>
              <a:buSzPts val="1400"/>
              <a:buNone/>
              <a:defRPr sz="1800" b="0" i="0" u="none" strike="noStrike" cap="none">
                <a:solidFill>
                  <a:schemeClr val="dk2"/>
                </a:solidFill>
              </a:defRPr>
            </a:lvl8pPr>
            <a:lvl9pPr marR="0" lvl="8" algn="l" rtl="0">
              <a:spcBef>
                <a:spcPts val="0"/>
              </a:spcBef>
              <a:spcAft>
                <a:spcPts val="0"/>
              </a:spcAft>
              <a:buSzPts val="1400"/>
              <a:buNone/>
              <a:defRPr sz="1800" b="0" i="0" u="none" strike="noStrike" cap="none">
                <a:solidFill>
                  <a:schemeClr val="dk2"/>
                </a:solidFill>
              </a:defRPr>
            </a:lvl9pPr>
          </a:lstStyle>
          <a:p/>
        </p:txBody>
      </p:sp>
      <p:sp>
        <p:nvSpPr>
          <p:cNvPr id="11" name="Google Shape;11;p33"/>
          <p:cNvSpPr txBox="1">
            <a:spLocks noGrp="1"/>
          </p:cNvSpPr>
          <p:nvPr>
            <p:ph type="body" idx="1"/>
          </p:nvPr>
        </p:nvSpPr>
        <p:spPr>
          <a:xfrm>
            <a:off x="609600" y="1524000"/>
            <a:ext cx="10972800" cy="4648200"/>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95000"/>
              </a:lnSpc>
              <a:spcBef>
                <a:spcPts val="1200"/>
              </a:spcBef>
              <a:spcAft>
                <a:spcPts val="0"/>
              </a:spcAft>
              <a:buClr>
                <a:schemeClr val="lt2"/>
              </a:buClr>
              <a:buSzPts val="2400"/>
              <a:buFont typeface="Arial" panose="020B0604020202090204"/>
              <a:buChar char="•"/>
              <a:defRPr sz="24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1pPr>
            <a:lvl2pPr marL="914400" marR="0" lvl="1" indent="-355600" algn="l" rtl="0">
              <a:lnSpc>
                <a:spcPct val="95000"/>
              </a:lnSpc>
              <a:spcBef>
                <a:spcPts val="600"/>
              </a:spcBef>
              <a:spcAft>
                <a:spcPts val="0"/>
              </a:spcAft>
              <a:buClr>
                <a:schemeClr val="lt2"/>
              </a:buClr>
              <a:buSzPts val="2000"/>
              <a:buFont typeface="Verdana" panose="020B0804030504040204"/>
              <a:buChar char="─"/>
              <a:defRPr sz="20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2pPr>
            <a:lvl3pPr marL="1371600" marR="0" lvl="2" indent="-342900" algn="l" rtl="0">
              <a:lnSpc>
                <a:spcPct val="95000"/>
              </a:lnSpc>
              <a:spcBef>
                <a:spcPts val="600"/>
              </a:spcBef>
              <a:spcAft>
                <a:spcPts val="0"/>
              </a:spcAft>
              <a:buClr>
                <a:schemeClr val="lt2"/>
              </a:buClr>
              <a:buSzPts val="1800"/>
              <a:buFont typeface="Noto Sans Symbols"/>
              <a:buChar char="▪"/>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3pPr>
            <a:lvl4pPr marL="1828800" marR="0" lvl="3" indent="-330200" algn="l" rtl="0">
              <a:lnSpc>
                <a:spcPct val="95000"/>
              </a:lnSpc>
              <a:spcBef>
                <a:spcPts val="600"/>
              </a:spcBef>
              <a:spcAft>
                <a:spcPts val="0"/>
              </a:spcAft>
              <a:buClr>
                <a:schemeClr val="lt2"/>
              </a:buClr>
              <a:buSzPts val="1600"/>
              <a:buFont typeface="Courier New" panose="02070409020205090404"/>
              <a:buChar char="o"/>
              <a:defRPr sz="16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4pPr>
            <a:lvl5pPr marL="2286000" marR="0" lvl="4" indent="-330200" algn="l" rtl="0">
              <a:lnSpc>
                <a:spcPct val="95000"/>
              </a:lnSpc>
              <a:spcBef>
                <a:spcPts val="600"/>
              </a:spcBef>
              <a:spcAft>
                <a:spcPts val="0"/>
              </a:spcAft>
              <a:buClr>
                <a:schemeClr val="lt2"/>
              </a:buClr>
              <a:buSzPts val="1600"/>
              <a:buFont typeface="Arial" panose="020B0604020202090204"/>
              <a:buChar char="•"/>
              <a:defRPr sz="16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5pPr>
            <a:lvl6pPr marL="2743200" marR="0" lvl="5" indent="-330200" algn="l" rtl="0">
              <a:spcBef>
                <a:spcPts val="320"/>
              </a:spcBef>
              <a:spcAft>
                <a:spcPts val="0"/>
              </a:spcAft>
              <a:buClr>
                <a:schemeClr val="accent1"/>
              </a:buClr>
              <a:buSzPts val="1600"/>
              <a:buFont typeface="Arial" panose="020B0604020202090204"/>
              <a:buChar char="•"/>
              <a:defRPr sz="1600" b="0" i="0" u="none" strike="noStrike" cap="none">
                <a:solidFill>
                  <a:schemeClr val="dk2"/>
                </a:solidFill>
                <a:latin typeface="Verdana" panose="020B0804030504040204"/>
                <a:ea typeface="Verdana" panose="020B0804030504040204"/>
                <a:cs typeface="Verdana" panose="020B0804030504040204"/>
                <a:sym typeface="Verdana" panose="020B0804030504040204"/>
              </a:defRPr>
            </a:lvl6pPr>
            <a:lvl7pPr marL="3200400" marR="0" lvl="6" indent="-330200" algn="l" rtl="0">
              <a:spcBef>
                <a:spcPts val="320"/>
              </a:spcBef>
              <a:spcAft>
                <a:spcPts val="0"/>
              </a:spcAft>
              <a:buClr>
                <a:schemeClr val="accent1"/>
              </a:buClr>
              <a:buSzPts val="1600"/>
              <a:buFont typeface="Arial" panose="020B0604020202090204"/>
              <a:buChar char="•"/>
              <a:defRPr sz="1600" b="0" i="0" u="none" strike="noStrike" cap="none">
                <a:solidFill>
                  <a:schemeClr val="dk2"/>
                </a:solidFill>
                <a:latin typeface="Verdana" panose="020B0804030504040204"/>
                <a:ea typeface="Verdana" panose="020B0804030504040204"/>
                <a:cs typeface="Verdana" panose="020B0804030504040204"/>
                <a:sym typeface="Verdana" panose="020B0804030504040204"/>
              </a:defRPr>
            </a:lvl7pPr>
            <a:lvl8pPr marL="3657600" marR="0" lvl="7" indent="-330200" algn="l" rtl="0">
              <a:spcBef>
                <a:spcPts val="320"/>
              </a:spcBef>
              <a:spcAft>
                <a:spcPts val="0"/>
              </a:spcAft>
              <a:buClr>
                <a:schemeClr val="accent1"/>
              </a:buClr>
              <a:buSzPts val="1600"/>
              <a:buFont typeface="Arial" panose="020B0604020202090204"/>
              <a:buChar char="•"/>
              <a:defRPr sz="1600" b="0" i="0" u="none" strike="noStrike" cap="none">
                <a:solidFill>
                  <a:schemeClr val="dk2"/>
                </a:solidFill>
                <a:latin typeface="Verdana" panose="020B0804030504040204"/>
                <a:ea typeface="Verdana" panose="020B0804030504040204"/>
                <a:cs typeface="Verdana" panose="020B0804030504040204"/>
                <a:sym typeface="Verdana" panose="020B0804030504040204"/>
              </a:defRPr>
            </a:lvl8pPr>
            <a:lvl9pPr marL="4114800" marR="0" lvl="8" indent="-330200" algn="l" rtl="0">
              <a:spcBef>
                <a:spcPts val="320"/>
              </a:spcBef>
              <a:spcAft>
                <a:spcPts val="0"/>
              </a:spcAft>
              <a:buClr>
                <a:schemeClr val="accent1"/>
              </a:buClr>
              <a:buSzPts val="1600"/>
              <a:buFont typeface="Arial" panose="020B0604020202090204"/>
              <a:buChar char="•"/>
              <a:defRPr sz="1600" b="0" i="0" u="none" strike="noStrike" cap="none">
                <a:solidFill>
                  <a:schemeClr val="dk2"/>
                </a:solidFill>
                <a:latin typeface="Verdana" panose="020B0804030504040204"/>
                <a:ea typeface="Verdana" panose="020B0804030504040204"/>
                <a:cs typeface="Verdana" panose="020B0804030504040204"/>
                <a:sym typeface="Verdana" panose="020B0804030504040204"/>
              </a:defRPr>
            </a:lvl9pPr>
          </a:lstStyle>
          <a:p/>
        </p:txBody>
      </p:sp>
      <p:sp>
        <p:nvSpPr>
          <p:cNvPr id="12" name="Google Shape;12;p33"/>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1pPr>
            <a:lvl2pPr marL="0" marR="0" lvl="1"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2pPr>
            <a:lvl3pPr marL="0" marR="0" lvl="2"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3pPr>
            <a:lvl4pPr marL="0" marR="0" lvl="3"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4pPr>
            <a:lvl5pPr marL="0" marR="0" lvl="4"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5pPr>
            <a:lvl6pPr marL="0" marR="0" lvl="5"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6pPr>
            <a:lvl7pPr marL="0" marR="0" lvl="6"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7pPr>
            <a:lvl8pPr marL="0" marR="0" lvl="7"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8pPr>
            <a:lvl9pPr marL="0" marR="0" lvl="8" indent="0" algn="l" rtl="0">
              <a:spcBef>
                <a:spcPts val="0"/>
              </a:spcBef>
              <a:buNone/>
              <a:defRPr sz="1200" b="0" i="0" u="none" strike="noStrike" cap="none">
                <a:solidFill>
                  <a:srgbClr val="262626"/>
                </a:solidFill>
                <a:latin typeface="Verdana" panose="020B0804030504040204"/>
                <a:ea typeface="Verdana" panose="020B0804030504040204"/>
                <a:cs typeface="Verdana" panose="020B0804030504040204"/>
                <a:sym typeface="Verdana" panose="020B0804030504040204"/>
              </a:defRPr>
            </a:lvl9pPr>
          </a:lstStyle>
          <a:p>
            <a:pPr marL="0" lvl="0" indent="0" algn="l" rtl="0">
              <a:spcBef>
                <a:spcPts val="0"/>
              </a:spcBef>
              <a:spcAft>
                <a:spcPts val="0"/>
              </a:spcAft>
              <a:buNone/>
            </a:pPr>
            <a:fld id="{00000000-1234-1234-1234-123412341234}" type="slidenum">
              <a:rPr lang="en-US"/>
            </a:fld>
            <a:endParaRPr lang="en-US"/>
          </a:p>
        </p:txBody>
      </p:sp>
      <p:sp>
        <p:nvSpPr>
          <p:cNvPr id="13" name="Google Shape;13;p33"/>
          <p:cNvSpPr/>
          <p:nvPr/>
        </p:nvSpPr>
        <p:spPr>
          <a:xfrm>
            <a:off x="609600" y="1234967"/>
            <a:ext cx="11582400" cy="45719"/>
          </a:xfrm>
          <a:prstGeom prst="rect">
            <a:avLst/>
          </a:prstGeom>
          <a:solidFill>
            <a:schemeClr val="lt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Verdana" panose="020B0804030504040204"/>
              <a:ea typeface="Verdana" panose="020B0804030504040204"/>
              <a:cs typeface="Verdana" panose="020B0804030504040204"/>
              <a:sym typeface="Verdana" panose="020B0804030504040204"/>
            </a:endParaRPr>
          </a:p>
        </p:txBody>
      </p:sp>
      <p:sp>
        <p:nvSpPr>
          <p:cNvPr id="14" name="Google Shape;14;p33"/>
          <p:cNvSpPr txBox="1"/>
          <p:nvPr/>
        </p:nvSpPr>
        <p:spPr>
          <a:xfrm>
            <a:off x="7315200" y="6400800"/>
            <a:ext cx="4470400" cy="3693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US" sz="1800" b="0" i="0" u="none" strike="noStrike" cap="none">
                <a:solidFill>
                  <a:schemeClr val="lt2"/>
                </a:solidFill>
                <a:latin typeface="Times New Roman" panose="02020503050405090304"/>
                <a:ea typeface="Times New Roman" panose="02020503050405090304"/>
                <a:cs typeface="Times New Roman" panose="02020503050405090304"/>
                <a:sym typeface="Times New Roman" panose="02020503050405090304"/>
              </a:rPr>
              <a:t>Worcester Polytechnic Institute</a:t>
            </a:r>
            <a:endParaRPr lang="en-US" sz="1800" b="0" i="0" u="none" strike="noStrike" cap="none">
              <a:solidFill>
                <a:schemeClr val="lt2"/>
              </a:solidFill>
              <a:latin typeface="Times New Roman" panose="02020503050405090304"/>
              <a:ea typeface="Times New Roman" panose="02020503050405090304"/>
              <a:cs typeface="Times New Roman" panose="02020503050405090304"/>
              <a:sym typeface="Times New Roman" panose="02020503050405090304"/>
            </a:endParaRPr>
          </a:p>
        </p:txBody>
      </p:sp>
      <p:sp>
        <p:nvSpPr>
          <p:cNvPr id="15" name="Google Shape;15;p33"/>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600" b="0" i="0" u="none" strike="noStrike" cap="none">
                <a:solidFill>
                  <a:schemeClr val="dk2"/>
                </a:solidFill>
                <a:latin typeface="Verdana" panose="020B0804030504040204"/>
                <a:ea typeface="Verdana" panose="020B0804030504040204"/>
                <a:cs typeface="Verdana" panose="020B0804030504040204"/>
                <a:sym typeface="Verdana" panose="020B0804030504040204"/>
              </a:defRPr>
            </a:lvl1pPr>
            <a:lvl2pPr marR="0" lvl="1"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2pPr>
            <a:lvl3pPr marR="0" lvl="2"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3pPr>
            <a:lvl4pPr marR="0" lvl="3"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4pPr>
            <a:lvl5pPr marR="0" lvl="4"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5pPr>
            <a:lvl6pPr marR="0" lvl="5"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6pPr>
            <a:lvl7pPr marR="0" lvl="6"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7pPr>
            <a:lvl8pPr marR="0" lvl="7"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8pPr>
            <a:lvl9pPr marR="0" lvl="8" algn="l" rtl="0">
              <a:spcBef>
                <a:spcPts val="0"/>
              </a:spcBef>
              <a:spcAft>
                <a:spcPts val="0"/>
              </a:spcAft>
              <a:buSzPts val="1400"/>
              <a:buNone/>
              <a:defRPr sz="1800" b="0" i="0" u="none" strike="noStrike" cap="none">
                <a:solidFill>
                  <a:schemeClr val="dk1"/>
                </a:solidFill>
                <a:latin typeface="Verdana" panose="020B0804030504040204"/>
                <a:ea typeface="Verdana" panose="020B0804030504040204"/>
                <a:cs typeface="Verdana" panose="020B0804030504040204"/>
                <a:sym typeface="Verdana" panose="020B0804030504040204"/>
              </a:defRPr>
            </a:lvl9pPr>
          </a:lstStyle>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5.xml"/><Relationship Id="rId1" Type="http://schemas.openxmlformats.org/officeDocument/2006/relationships/image" Target="../media/image6.jpe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image" Target="../media/image7.jpe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image" Target="../media/image8.jpe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image" Target="../media/image9.jpe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image" Target="../media/image10.jpeg"/></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image" Target="../media/image11.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5.xml"/><Relationship Id="rId2" Type="http://schemas.openxmlformats.org/officeDocument/2006/relationships/image" Target="../media/image13.jpeg"/><Relationship Id="rId1"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image" Target="../media/image15.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5.xml"/><Relationship Id="rId2" Type="http://schemas.openxmlformats.org/officeDocument/2006/relationships/image" Target="../media/image17.png"/><Relationship Id="rId1" Type="http://schemas.openxmlformats.org/officeDocument/2006/relationships/image" Target="../media/image16.jpe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5.xml"/><Relationship Id="rId2" Type="http://schemas.openxmlformats.org/officeDocument/2006/relationships/image" Target="../media/image19.jpeg"/><Relationship Id="rId1" Type="http://schemas.openxmlformats.org/officeDocument/2006/relationships/image" Target="../media/image18.jpe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5.xml"/><Relationship Id="rId1" Type="http://schemas.openxmlformats.org/officeDocument/2006/relationships/image" Target="../media/image20.jpe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5.xml"/><Relationship Id="rId2" Type="http://schemas.openxmlformats.org/officeDocument/2006/relationships/image" Target="../media/image22.jpeg"/><Relationship Id="rId1" Type="http://schemas.openxmlformats.org/officeDocument/2006/relationships/image" Target="../media/image21.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5.xml"/><Relationship Id="rId1" Type="http://schemas.openxmlformats.org/officeDocument/2006/relationships/image" Target="../media/image23.jpe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
          <p:cNvSpPr txBox="1">
            <a:spLocks noGrp="1"/>
          </p:cNvSpPr>
          <p:nvPr>
            <p:ph type="ctrTitle"/>
          </p:nvPr>
        </p:nvSpPr>
        <p:spPr>
          <a:xfrm>
            <a:off x="609600" y="2630380"/>
            <a:ext cx="9972600" cy="2779917"/>
          </a:xfrm>
          <a:prstGeom prst="rect">
            <a:avLst/>
          </a:prstGeom>
          <a:noFill/>
          <a:ln>
            <a:noFill/>
          </a:ln>
        </p:spPr>
        <p:txBody>
          <a:bodyPr spcFirstLastPara="1" wrap="square" lIns="91425" tIns="45700" rIns="91425" bIns="45700" anchor="b" anchorCtr="0">
            <a:noAutofit/>
          </a:bodyPr>
          <a:lstStyle/>
          <a:p>
            <a:br>
              <a:rPr lang="en-US" dirty="0"/>
            </a:br>
            <a:br>
              <a:rPr lang="en-US" dirty="0"/>
            </a:br>
            <a:br>
              <a:rPr lang="en-US" dirty="0"/>
            </a:br>
            <a:br>
              <a:rPr lang="en-US" dirty="0"/>
            </a:br>
            <a:br>
              <a:rPr lang="en-US" dirty="0"/>
            </a:br>
            <a:r>
              <a:rPr lang="en-US" dirty="0">
                <a:solidFill>
                  <a:srgbClr val="000000"/>
                </a:solidFill>
                <a:effectLst/>
                <a:latin typeface="Helvetica" pitchFamily="2" charset="0"/>
              </a:rPr>
              <a:t>AI-assisted Intrusion Detection</a:t>
            </a:r>
            <a:br>
              <a:rPr lang="en-US" dirty="0">
                <a:solidFill>
                  <a:srgbClr val="000000"/>
                </a:solidFill>
                <a:effectLst/>
                <a:latin typeface="Helvetica" pitchFamily="2" charset="0"/>
              </a:rPr>
            </a:br>
            <a:br>
              <a:rPr lang="en-US" dirty="0"/>
            </a:b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What system logs look like</a:t>
            </a:r>
            <a:endParaRPr lang="en-US"/>
          </a:p>
          <a:p>
            <a:r>
              <a:rPr lang="en-US"/>
              <a:t>Limitaion of traditional method</a:t>
            </a:r>
            <a:endParaRPr lang="en-US"/>
          </a:p>
          <a:p>
            <a:r>
              <a:rPr lang="en-US"/>
              <a:t>How machine learning method helps intrusion detection</a:t>
            </a:r>
            <a:endParaRPr lang="en-US"/>
          </a:p>
          <a:p>
            <a:r>
              <a:rPr lang="en-US"/>
              <a:t>Hands on experiments</a:t>
            </a:r>
            <a:endParaRPr lang="en-US"/>
          </a:p>
        </p:txBody>
      </p:sp>
      <p:sp>
        <p:nvSpPr>
          <p:cNvPr id="5" name="Title 4"/>
          <p:cNvSpPr>
            <a:spLocks noGrp="1"/>
          </p:cNvSpPr>
          <p:nvPr>
            <p:ph type="title"/>
          </p:nvPr>
        </p:nvSpPr>
        <p:spPr/>
        <p:txBody>
          <a:bodyPr/>
          <a:lstStyle/>
          <a:p>
            <a:r>
              <a:rPr lang="en-US"/>
              <a:t>Content</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It can be raw system-level logs</a:t>
            </a:r>
            <a:endParaRPr lang="en-US"/>
          </a:p>
        </p:txBody>
      </p:sp>
      <p:sp>
        <p:nvSpPr>
          <p:cNvPr id="5" name="Title 4"/>
          <p:cNvSpPr>
            <a:spLocks noGrp="1"/>
          </p:cNvSpPr>
          <p:nvPr>
            <p:ph type="title"/>
          </p:nvPr>
        </p:nvSpPr>
        <p:spPr/>
        <p:txBody>
          <a:bodyPr/>
          <a:lstStyle/>
          <a:p>
            <a:r>
              <a:rPr lang="en-US">
                <a:sym typeface="+mn-ea"/>
              </a:rPr>
              <a:t>What system logs look like</a:t>
            </a:r>
            <a:endParaRPr lang="en-US"/>
          </a:p>
        </p:txBody>
      </p:sp>
      <p:pic>
        <p:nvPicPr>
          <p:cNvPr id="6" name="图片 5"/>
          <p:cNvPicPr>
            <a:picLocks noChangeAspect="1"/>
          </p:cNvPicPr>
          <p:nvPr/>
        </p:nvPicPr>
        <p:blipFill>
          <a:blip r:embed="rId1"/>
          <a:stretch>
            <a:fillRect/>
          </a:stretch>
        </p:blipFill>
        <p:spPr>
          <a:xfrm>
            <a:off x="133350" y="2063115"/>
            <a:ext cx="12058650" cy="43243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It can be provenanced-based logs</a:t>
            </a:r>
            <a:endParaRPr lang="en-US"/>
          </a:p>
        </p:txBody>
      </p:sp>
      <p:sp>
        <p:nvSpPr>
          <p:cNvPr id="5" name="Title 4"/>
          <p:cNvSpPr>
            <a:spLocks noGrp="1"/>
          </p:cNvSpPr>
          <p:nvPr>
            <p:ph type="title"/>
          </p:nvPr>
        </p:nvSpPr>
        <p:spPr/>
        <p:txBody>
          <a:bodyPr/>
          <a:lstStyle/>
          <a:p>
            <a:r>
              <a:rPr lang="en-US">
                <a:sym typeface="+mn-ea"/>
              </a:rPr>
              <a:t>What system logs look like</a:t>
            </a:r>
            <a:endParaRPr lang="en-US"/>
          </a:p>
        </p:txBody>
      </p:sp>
      <p:pic>
        <p:nvPicPr>
          <p:cNvPr id="2" name="图片 1"/>
          <p:cNvPicPr>
            <a:picLocks noChangeAspect="1"/>
          </p:cNvPicPr>
          <p:nvPr/>
        </p:nvPicPr>
        <p:blipFill>
          <a:blip r:embed="rId1"/>
          <a:stretch>
            <a:fillRect/>
          </a:stretch>
        </p:blipFill>
        <p:spPr>
          <a:xfrm>
            <a:off x="1658620" y="2002155"/>
            <a:ext cx="8875395" cy="40862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It can also be manually labeled</a:t>
            </a:r>
            <a:endParaRPr lang="en-US"/>
          </a:p>
        </p:txBody>
      </p:sp>
      <p:sp>
        <p:nvSpPr>
          <p:cNvPr id="5" name="Title 4"/>
          <p:cNvSpPr>
            <a:spLocks noGrp="1"/>
          </p:cNvSpPr>
          <p:nvPr>
            <p:ph type="title"/>
          </p:nvPr>
        </p:nvSpPr>
        <p:spPr/>
        <p:txBody>
          <a:bodyPr/>
          <a:lstStyle/>
          <a:p>
            <a:r>
              <a:rPr lang="en-US">
                <a:sym typeface="+mn-ea"/>
              </a:rPr>
              <a:t>What system logs look like</a:t>
            </a:r>
            <a:endParaRPr lang="en-US"/>
          </a:p>
        </p:txBody>
      </p:sp>
      <p:pic>
        <p:nvPicPr>
          <p:cNvPr id="6" name="图片 5"/>
          <p:cNvPicPr>
            <a:picLocks noChangeAspect="1"/>
          </p:cNvPicPr>
          <p:nvPr/>
        </p:nvPicPr>
        <p:blipFill>
          <a:blip r:embed="rId1"/>
          <a:stretch>
            <a:fillRect/>
          </a:stretch>
        </p:blipFill>
        <p:spPr>
          <a:xfrm>
            <a:off x="1530350" y="1980565"/>
            <a:ext cx="7209155" cy="43662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Pattern based, signature based</a:t>
            </a:r>
            <a:endParaRPr lang="en-US"/>
          </a:p>
        </p:txBody>
      </p:sp>
      <p:sp>
        <p:nvSpPr>
          <p:cNvPr id="5" name="Title 4"/>
          <p:cNvSpPr>
            <a:spLocks noGrp="1"/>
          </p:cNvSpPr>
          <p:nvPr>
            <p:ph type="title"/>
          </p:nvPr>
        </p:nvSpPr>
        <p:spPr/>
        <p:txBody>
          <a:bodyPr/>
          <a:lstStyle/>
          <a:p>
            <a:r>
              <a:rPr lang="en-US">
                <a:sym typeface="+mn-ea"/>
              </a:rPr>
              <a:t>Limitaion of traditional method</a:t>
            </a:r>
            <a:endParaRPr lang="en-US"/>
          </a:p>
        </p:txBody>
      </p:sp>
      <p:pic>
        <p:nvPicPr>
          <p:cNvPr id="2" name="图片 1"/>
          <p:cNvPicPr>
            <a:picLocks noChangeAspect="1"/>
          </p:cNvPicPr>
          <p:nvPr/>
        </p:nvPicPr>
        <p:blipFill>
          <a:blip r:embed="rId1"/>
          <a:stretch>
            <a:fillRect/>
          </a:stretch>
        </p:blipFill>
        <p:spPr>
          <a:xfrm>
            <a:off x="1970405" y="2166620"/>
            <a:ext cx="7115810" cy="414718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Anomaly based</a:t>
            </a:r>
            <a:endParaRPr lang="en-US"/>
          </a:p>
        </p:txBody>
      </p:sp>
      <p:sp>
        <p:nvSpPr>
          <p:cNvPr id="5" name="Title 4"/>
          <p:cNvSpPr>
            <a:spLocks noGrp="1"/>
          </p:cNvSpPr>
          <p:nvPr>
            <p:ph type="title"/>
          </p:nvPr>
        </p:nvSpPr>
        <p:spPr/>
        <p:txBody>
          <a:bodyPr/>
          <a:lstStyle/>
          <a:p>
            <a:r>
              <a:rPr lang="en-US">
                <a:sym typeface="+mn-ea"/>
              </a:rPr>
              <a:t>Limitaion of traditional method</a:t>
            </a:r>
            <a:endParaRPr lang="en-US"/>
          </a:p>
        </p:txBody>
      </p:sp>
      <p:pic>
        <p:nvPicPr>
          <p:cNvPr id="4" name="图片 3"/>
          <p:cNvPicPr>
            <a:picLocks noChangeAspect="1"/>
          </p:cNvPicPr>
          <p:nvPr/>
        </p:nvPicPr>
        <p:blipFill>
          <a:blip r:embed="rId1"/>
          <a:stretch>
            <a:fillRect/>
          </a:stretch>
        </p:blipFill>
        <p:spPr>
          <a:xfrm>
            <a:off x="2167890" y="2190750"/>
            <a:ext cx="6807200" cy="38982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How machine learning method helps IDS</a:t>
            </a:r>
            <a:endParaRPr lang="zh-CN" altLang="en-US"/>
          </a:p>
        </p:txBody>
      </p:sp>
      <p:sp>
        <p:nvSpPr>
          <p:cNvPr id="4" name="灯片编号占位符 3"/>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a:fld>
            <a:endParaRPr lang="en-US"/>
          </a:p>
        </p:txBody>
      </p:sp>
      <p:pic>
        <p:nvPicPr>
          <p:cNvPr id="5" name="图片 4"/>
          <p:cNvPicPr>
            <a:picLocks noChangeAspect="1"/>
          </p:cNvPicPr>
          <p:nvPr/>
        </p:nvPicPr>
        <p:blipFill>
          <a:blip r:embed="rId1"/>
          <a:stretch>
            <a:fillRect/>
          </a:stretch>
        </p:blipFill>
        <p:spPr>
          <a:xfrm>
            <a:off x="1954530" y="1471295"/>
            <a:ext cx="7477760" cy="461454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sym typeface="+mn-ea"/>
              </a:rPr>
              <a:t>Hands on experiments</a:t>
            </a:r>
            <a:endParaRPr lang="zh-CN" altLang="en-US"/>
          </a:p>
        </p:txBody>
      </p:sp>
      <p:sp>
        <p:nvSpPr>
          <p:cNvPr id="3" name="文本占位符 2"/>
          <p:cNvSpPr>
            <a:spLocks noGrp="1"/>
          </p:cNvSpPr>
          <p:nvPr>
            <p:ph type="body" idx="1"/>
          </p:nvPr>
        </p:nvSpPr>
        <p:spPr/>
        <p:txBody>
          <a:bodyPr/>
          <a:lstStyle/>
          <a:p>
            <a:r>
              <a:rPr lang="en-US" altLang="zh-CN"/>
              <a:t>nsl-kdd datasets</a:t>
            </a:r>
            <a:endParaRPr lang="en-US" altLang="zh-CN"/>
          </a:p>
          <a:p>
            <a:r>
              <a:rPr lang="en-US" altLang="zh-CN"/>
              <a:t>What can we do with multiple features?</a:t>
            </a:r>
            <a:endParaRPr lang="en-US" altLang="zh-CN"/>
          </a:p>
        </p:txBody>
      </p:sp>
      <p:sp>
        <p:nvSpPr>
          <p:cNvPr id="4" name="灯片编号占位符 3"/>
          <p:cNvSpPr>
            <a:spLocks noGrp="1"/>
          </p:cNvSpPr>
          <p:nvPr>
            <p:ph type="sldNum" idx="12"/>
          </p:nvPr>
        </p:nvSpPr>
        <p:spPr/>
        <p:txBody>
          <a:bodyPr/>
          <a:lstStyle/>
          <a:p>
            <a:pPr marL="0" lvl="0" indent="0" algn="l" rtl="0">
              <a:spcBef>
                <a:spcPts val="0"/>
              </a:spcBef>
              <a:spcAft>
                <a:spcPts val="0"/>
              </a:spcAft>
              <a:buNone/>
            </a:pPr>
            <a:fld id="{00000000-1234-1234-1234-123412341234}" type="slidenum">
              <a:rPr lang="en-US"/>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
          <p:cNvSpPr txBox="1">
            <a:spLocks noGrp="1"/>
          </p:cNvSpPr>
          <p:nvPr>
            <p:ph type="ctrTitle"/>
          </p:nvPr>
        </p:nvSpPr>
        <p:spPr>
          <a:xfrm>
            <a:off x="609600" y="2630380"/>
            <a:ext cx="9972600" cy="2779917"/>
          </a:xfrm>
          <a:prstGeom prst="rect">
            <a:avLst/>
          </a:prstGeom>
          <a:noFill/>
          <a:ln>
            <a:noFill/>
          </a:ln>
        </p:spPr>
        <p:txBody>
          <a:bodyPr spcFirstLastPara="1" wrap="square" lIns="91425" tIns="45700" rIns="91425" bIns="45700" anchor="b" anchorCtr="0">
            <a:noAutofit/>
          </a:bodyPr>
          <a:lstStyle/>
          <a:p>
            <a:br>
              <a:rPr lang="en-US" dirty="0"/>
            </a:br>
            <a:br>
              <a:rPr lang="en-US" dirty="0"/>
            </a:br>
            <a:br>
              <a:rPr lang="en-US" dirty="0"/>
            </a:br>
            <a:br>
              <a:rPr lang="en-US" dirty="0"/>
            </a:br>
            <a:br>
              <a:rPr lang="en-US" dirty="0"/>
            </a:br>
            <a:r>
              <a:rPr lang="en-US" dirty="0">
                <a:solidFill>
                  <a:srgbClr val="000000"/>
                </a:solidFill>
                <a:effectLst/>
                <a:latin typeface="Helvetica" pitchFamily="2" charset="0"/>
              </a:rPr>
              <a:t>AI-assisted Binary Fuzzing</a:t>
            </a:r>
            <a:br>
              <a:rPr lang="en-US" dirty="0">
                <a:solidFill>
                  <a:srgbClr val="000000"/>
                </a:solidFill>
                <a:effectLst/>
                <a:latin typeface="Helvetica" pitchFamily="2" charset="0"/>
              </a:rPr>
            </a:br>
            <a:br>
              <a:rPr lang="en-US" dirty="0"/>
            </a:b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How C &amp; C++ code works during execution</a:t>
            </a:r>
            <a:endParaRPr lang="en-US"/>
          </a:p>
          <a:p>
            <a:r>
              <a:rPr lang="en-US"/>
              <a:t>Why dynamic detection method as fuzzing matters</a:t>
            </a:r>
            <a:endParaRPr lang="en-US"/>
          </a:p>
          <a:p>
            <a:r>
              <a:rPr lang="en-US"/>
              <a:t>How LLMs helps fuzzing</a:t>
            </a:r>
            <a:endParaRPr lang="en-US"/>
          </a:p>
          <a:p>
            <a:r>
              <a:rPr lang="en-US"/>
              <a:t>Hands on experiments</a:t>
            </a:r>
            <a:endParaRPr lang="en-US"/>
          </a:p>
        </p:txBody>
      </p:sp>
      <p:sp>
        <p:nvSpPr>
          <p:cNvPr id="5" name="Title 4"/>
          <p:cNvSpPr>
            <a:spLocks noGrp="1"/>
          </p:cNvSpPr>
          <p:nvPr>
            <p:ph type="title"/>
          </p:nvPr>
        </p:nvSpPr>
        <p:spPr/>
        <p:txBody>
          <a:bodyPr/>
          <a:lstStyle/>
          <a:p>
            <a:r>
              <a:rPr lang="en-US"/>
              <a:t>Content</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Compilation  --&gt;  Execution</a:t>
            </a:r>
            <a:endParaRPr lang="en-US"/>
          </a:p>
          <a:p>
            <a:r>
              <a:rPr lang="en-US"/>
              <a:t>Given an input (from stdin or harness files)</a:t>
            </a:r>
            <a:endParaRPr lang="en-US"/>
          </a:p>
        </p:txBody>
      </p:sp>
      <p:sp>
        <p:nvSpPr>
          <p:cNvPr id="5" name="Title 4"/>
          <p:cNvSpPr>
            <a:spLocks noGrp="1"/>
          </p:cNvSpPr>
          <p:nvPr>
            <p:ph type="title"/>
          </p:nvPr>
        </p:nvSpPr>
        <p:spPr/>
        <p:txBody>
          <a:bodyPr/>
          <a:lstStyle/>
          <a:p>
            <a:r>
              <a:rPr lang="en-US">
                <a:sym typeface="+mn-ea"/>
              </a:rPr>
              <a:t>How code works during execution</a:t>
            </a:r>
            <a:endParaRPr lang="en-US"/>
          </a:p>
        </p:txBody>
      </p:sp>
      <p:pic>
        <p:nvPicPr>
          <p:cNvPr id="4" name="图片 3" descr="9251766353035_.pic"/>
          <p:cNvPicPr>
            <a:picLocks noChangeAspect="1"/>
          </p:cNvPicPr>
          <p:nvPr/>
        </p:nvPicPr>
        <p:blipFill>
          <a:blip r:embed="rId1"/>
          <a:stretch>
            <a:fillRect/>
          </a:stretch>
        </p:blipFill>
        <p:spPr>
          <a:xfrm>
            <a:off x="527050" y="3124835"/>
            <a:ext cx="4766945" cy="2162810"/>
          </a:xfrm>
          <a:prstGeom prst="rect">
            <a:avLst/>
          </a:prstGeom>
        </p:spPr>
      </p:pic>
      <p:pic>
        <p:nvPicPr>
          <p:cNvPr id="6" name="图片 5"/>
          <p:cNvPicPr>
            <a:picLocks noChangeAspect="1"/>
          </p:cNvPicPr>
          <p:nvPr/>
        </p:nvPicPr>
        <p:blipFill>
          <a:blip r:embed="rId2"/>
          <a:stretch>
            <a:fillRect/>
          </a:stretch>
        </p:blipFill>
        <p:spPr>
          <a:xfrm>
            <a:off x="5355590" y="2600325"/>
            <a:ext cx="6226810" cy="380047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584315"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Compilation  --&gt;  Execution</a:t>
            </a:r>
            <a:endParaRPr lang="en-US"/>
          </a:p>
          <a:p>
            <a:r>
              <a:rPr lang="en-US"/>
              <a:t>Given an input (from stdin or harness files)</a:t>
            </a:r>
            <a:endParaRPr lang="en-US"/>
          </a:p>
          <a:p>
            <a:r>
              <a:rPr lang="en-US"/>
              <a:t>Run </a:t>
            </a:r>
            <a:r>
              <a:rPr lang="en-US">
                <a:solidFill>
                  <a:srgbClr val="FF0000"/>
                </a:solidFill>
              </a:rPr>
              <a:t>ONE </a:t>
            </a:r>
            <a:r>
              <a:rPr lang="en-US">
                <a:solidFill>
                  <a:schemeClr val="tx1"/>
                </a:solidFill>
              </a:rPr>
              <a:t>path from main() to somewhere</a:t>
            </a:r>
            <a:endParaRPr lang="en-US">
              <a:solidFill>
                <a:schemeClr val="tx1"/>
              </a:solidFill>
            </a:endParaRPr>
          </a:p>
          <a:p>
            <a:pPr marL="114300" indent="457200">
              <a:buNone/>
            </a:pPr>
            <a:r>
              <a:rPr lang="en-US">
                <a:solidFill>
                  <a:schemeClr val="tx1"/>
                </a:solidFill>
              </a:rPr>
              <a:t>-- call graph</a:t>
            </a:r>
            <a:endParaRPr lang="en-US">
              <a:solidFill>
                <a:schemeClr val="tx1"/>
              </a:solidFill>
            </a:endParaRPr>
          </a:p>
        </p:txBody>
      </p:sp>
      <p:sp>
        <p:nvSpPr>
          <p:cNvPr id="5" name="Title 4"/>
          <p:cNvSpPr>
            <a:spLocks noGrp="1"/>
          </p:cNvSpPr>
          <p:nvPr>
            <p:ph type="title"/>
          </p:nvPr>
        </p:nvSpPr>
        <p:spPr/>
        <p:txBody>
          <a:bodyPr/>
          <a:lstStyle/>
          <a:p>
            <a:r>
              <a:rPr lang="en-US">
                <a:sym typeface="+mn-ea"/>
              </a:rPr>
              <a:t>How code works during execution</a:t>
            </a:r>
            <a:endParaRPr lang="en-US"/>
          </a:p>
        </p:txBody>
      </p:sp>
      <p:pic>
        <p:nvPicPr>
          <p:cNvPr id="7" name="图片 6" descr="9261766353571_.pic"/>
          <p:cNvPicPr>
            <a:picLocks noChangeAspect="1"/>
          </p:cNvPicPr>
          <p:nvPr/>
        </p:nvPicPr>
        <p:blipFill>
          <a:blip r:embed="rId1"/>
          <a:stretch>
            <a:fillRect/>
          </a:stretch>
        </p:blipFill>
        <p:spPr>
          <a:xfrm>
            <a:off x="8646160" y="1459230"/>
            <a:ext cx="2203450" cy="477647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584315"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Compilation  --&gt;  Execution</a:t>
            </a:r>
            <a:endParaRPr lang="en-US"/>
          </a:p>
          <a:p>
            <a:r>
              <a:rPr lang="en-US"/>
              <a:t>Given an input (from stdin or harness files)</a:t>
            </a:r>
            <a:endParaRPr lang="en-US"/>
          </a:p>
          <a:p>
            <a:r>
              <a:rPr lang="en-US"/>
              <a:t>Run </a:t>
            </a:r>
            <a:r>
              <a:rPr lang="en-US">
                <a:solidFill>
                  <a:srgbClr val="FF0000"/>
                </a:solidFill>
              </a:rPr>
              <a:t>ONE </a:t>
            </a:r>
            <a:r>
              <a:rPr lang="en-US">
                <a:solidFill>
                  <a:schemeClr val="tx1"/>
                </a:solidFill>
              </a:rPr>
              <a:t>path from main() to somewhere</a:t>
            </a:r>
            <a:endParaRPr lang="en-US">
              <a:solidFill>
                <a:schemeClr val="tx1"/>
              </a:solidFill>
            </a:endParaRPr>
          </a:p>
          <a:p>
            <a:pPr marL="114300" indent="457200">
              <a:buNone/>
            </a:pPr>
            <a:r>
              <a:rPr lang="en-US">
                <a:solidFill>
                  <a:schemeClr val="tx1"/>
                </a:solidFill>
              </a:rPr>
              <a:t>-- call graph</a:t>
            </a:r>
            <a:endParaRPr lang="en-US">
              <a:solidFill>
                <a:schemeClr val="tx1"/>
              </a:solidFill>
            </a:endParaRPr>
          </a:p>
          <a:p>
            <a:pPr marL="114300" indent="457200">
              <a:buNone/>
            </a:pPr>
            <a:r>
              <a:rPr lang="en-US">
                <a:solidFill>
                  <a:schemeClr val="tx1"/>
                </a:solidFill>
              </a:rPr>
              <a:t>-- control flow graph</a:t>
            </a:r>
            <a:endParaRPr lang="en-US">
              <a:solidFill>
                <a:schemeClr val="tx1"/>
              </a:solidFill>
            </a:endParaRPr>
          </a:p>
        </p:txBody>
      </p:sp>
      <p:sp>
        <p:nvSpPr>
          <p:cNvPr id="5" name="Title 4"/>
          <p:cNvSpPr>
            <a:spLocks noGrp="1"/>
          </p:cNvSpPr>
          <p:nvPr>
            <p:ph type="title"/>
          </p:nvPr>
        </p:nvSpPr>
        <p:spPr/>
        <p:txBody>
          <a:bodyPr/>
          <a:lstStyle/>
          <a:p>
            <a:r>
              <a:rPr lang="en-US">
                <a:sym typeface="+mn-ea"/>
              </a:rPr>
              <a:t>How code works during execution</a:t>
            </a:r>
            <a:endParaRPr lang="en-US"/>
          </a:p>
        </p:txBody>
      </p:sp>
      <p:pic>
        <p:nvPicPr>
          <p:cNvPr id="2" name="图片 1" descr="9281766354108_.pic"/>
          <p:cNvPicPr>
            <a:picLocks noChangeAspect="1"/>
          </p:cNvPicPr>
          <p:nvPr/>
        </p:nvPicPr>
        <p:blipFill>
          <a:blip r:embed="rId1"/>
          <a:stretch>
            <a:fillRect/>
          </a:stretch>
        </p:blipFill>
        <p:spPr>
          <a:xfrm>
            <a:off x="8343265" y="1322705"/>
            <a:ext cx="3239135" cy="484949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Code coverage</a:t>
            </a:r>
            <a:endParaRPr lang="en-US"/>
          </a:p>
        </p:txBody>
      </p:sp>
      <p:sp>
        <p:nvSpPr>
          <p:cNvPr id="5" name="Title 4"/>
          <p:cNvSpPr>
            <a:spLocks noGrp="1"/>
          </p:cNvSpPr>
          <p:nvPr>
            <p:ph type="title"/>
          </p:nvPr>
        </p:nvSpPr>
        <p:spPr/>
        <p:txBody>
          <a:bodyPr/>
          <a:lstStyle/>
          <a:p>
            <a:r>
              <a:rPr lang="en-US">
                <a:sym typeface="+mn-ea"/>
              </a:rPr>
              <a:t>Why dynamic detection method as fuzzing matters</a:t>
            </a:r>
            <a:endParaRPr lang="en-US"/>
          </a:p>
        </p:txBody>
      </p:sp>
      <p:pic>
        <p:nvPicPr>
          <p:cNvPr id="2" name="图片 1"/>
          <p:cNvPicPr/>
          <p:nvPr/>
        </p:nvPicPr>
        <p:blipFill>
          <a:blip r:embed="rId1"/>
        </p:blipFill>
        <p:spPr>
          <a:xfrm>
            <a:off x="4540885" y="1367155"/>
            <a:ext cx="3898900" cy="1834515"/>
          </a:xfrm>
          <a:prstGeom prst="rect">
            <a:avLst/>
          </a:prstGeom>
        </p:spPr>
      </p:pic>
      <p:pic>
        <p:nvPicPr>
          <p:cNvPr id="4" name="图片 3"/>
          <p:cNvPicPr/>
          <p:nvPr/>
        </p:nvPicPr>
        <p:blipFill>
          <a:blip r:embed="rId2"/>
        </p:blipFill>
        <p:spPr>
          <a:xfrm>
            <a:off x="1627505" y="3275330"/>
            <a:ext cx="8434070" cy="289687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Code coverage</a:t>
            </a:r>
            <a:endParaRPr lang="en-US"/>
          </a:p>
          <a:p>
            <a:r>
              <a:rPr lang="en-US"/>
              <a:t>Seed</a:t>
            </a:r>
            <a:endParaRPr lang="en-US"/>
          </a:p>
          <a:p>
            <a:pPr marL="114300" indent="457200">
              <a:buNone/>
            </a:pPr>
            <a:r>
              <a:rPr lang="en-US"/>
              <a:t>-- a file (json, xml, ...)</a:t>
            </a:r>
            <a:endParaRPr lang="en-US"/>
          </a:p>
          <a:p>
            <a:pPr marL="114300" indent="457200">
              <a:buNone/>
            </a:pPr>
            <a:r>
              <a:rPr lang="en-US" altLang="zh-CN"/>
              <a:t>-- a string </a:t>
            </a:r>
            <a:endParaRPr lang="en-US" altLang="zh-CN"/>
          </a:p>
          <a:p>
            <a:pPr marL="114300" indent="457200">
              <a:buNone/>
            </a:pPr>
            <a:r>
              <a:rPr lang="en-US" altLang="zh-CN"/>
              <a:t>-- a number</a:t>
            </a:r>
            <a:endParaRPr lang="en-US" altLang="zh-CN"/>
          </a:p>
          <a:p>
            <a:pPr marL="114300" indent="457200">
              <a:buNone/>
            </a:pPr>
            <a:r>
              <a:rPr lang="en-US" altLang="zh-CN"/>
              <a:t>-- sometimes non-readable</a:t>
            </a:r>
            <a:endParaRPr lang="en-US" altLang="zh-CN"/>
          </a:p>
        </p:txBody>
      </p:sp>
      <p:sp>
        <p:nvSpPr>
          <p:cNvPr id="5" name="Title 4"/>
          <p:cNvSpPr>
            <a:spLocks noGrp="1"/>
          </p:cNvSpPr>
          <p:nvPr>
            <p:ph type="title"/>
          </p:nvPr>
        </p:nvSpPr>
        <p:spPr/>
        <p:txBody>
          <a:bodyPr/>
          <a:lstStyle/>
          <a:p>
            <a:r>
              <a:rPr lang="en-US">
                <a:sym typeface="+mn-ea"/>
              </a:rPr>
              <a:t>Why dynamic detection method as fuzzing matters</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Code coverage</a:t>
            </a:r>
            <a:endParaRPr lang="en-US"/>
          </a:p>
          <a:p>
            <a:r>
              <a:rPr lang="en-US"/>
              <a:t>Seed</a:t>
            </a:r>
            <a:endParaRPr lang="en-US"/>
          </a:p>
          <a:p>
            <a:r>
              <a:rPr lang="en-US"/>
              <a:t>Scheduling(</a:t>
            </a:r>
            <a:r>
              <a:rPr lang="en-US" altLang="zh-CN">
                <a:ea typeface="宋体" charset="0"/>
              </a:rPr>
              <a:t>mutation)</a:t>
            </a:r>
            <a:endParaRPr lang="en-US" altLang="zh-CN">
              <a:ea typeface="宋体" charset="0"/>
            </a:endParaRPr>
          </a:p>
          <a:p>
            <a:pPr marL="114300" indent="457200">
              <a:buNone/>
            </a:pPr>
            <a:r>
              <a:rPr lang="en-US" altLang="zh-CN">
                <a:ea typeface="宋体" charset="0"/>
              </a:rPr>
              <a:t>-- byte level</a:t>
            </a:r>
            <a:endParaRPr lang="en-US" altLang="zh-CN">
              <a:ea typeface="宋体" charset="0"/>
            </a:endParaRPr>
          </a:p>
          <a:p>
            <a:pPr marL="114300" indent="457200">
              <a:buNone/>
            </a:pPr>
            <a:r>
              <a:rPr lang="en-US" altLang="zh-CN">
                <a:ea typeface="宋体" charset="0"/>
              </a:rPr>
              <a:t>-- token level</a:t>
            </a:r>
            <a:endParaRPr lang="en-US" altLang="zh-CN">
              <a:ea typeface="宋体" charset="0"/>
            </a:endParaRPr>
          </a:p>
          <a:p>
            <a:pPr marL="114300" indent="457200">
              <a:buNone/>
            </a:pPr>
            <a:r>
              <a:rPr lang="en-US" altLang="zh-CN">
                <a:ea typeface="宋体" charset="0"/>
              </a:rPr>
              <a:t>-- structure level</a:t>
            </a:r>
            <a:endParaRPr lang="en-US" altLang="zh-CN">
              <a:ea typeface="宋体" charset="0"/>
            </a:endParaRPr>
          </a:p>
          <a:p>
            <a:pPr marL="114300" indent="457200">
              <a:buNone/>
            </a:pPr>
            <a:r>
              <a:rPr lang="en-US" altLang="zh-CN">
                <a:ea typeface="宋体" charset="0"/>
              </a:rPr>
              <a:t>-- gramar based</a:t>
            </a:r>
            <a:endParaRPr lang="en-US" altLang="zh-CN">
              <a:ea typeface="宋体" charset="0"/>
            </a:endParaRPr>
          </a:p>
          <a:p>
            <a:pPr marL="114300" indent="457200">
              <a:buNone/>
            </a:pPr>
            <a:r>
              <a:rPr lang="en-US" altLang="zh-CN">
                <a:ea typeface="宋体" charset="0"/>
              </a:rPr>
              <a:t>-- semantic mutation</a:t>
            </a:r>
            <a:endParaRPr lang="en-US" altLang="zh-CN">
              <a:ea typeface="宋体" charset="0"/>
            </a:endParaRPr>
          </a:p>
        </p:txBody>
      </p:sp>
      <p:sp>
        <p:nvSpPr>
          <p:cNvPr id="5" name="Title 4"/>
          <p:cNvSpPr>
            <a:spLocks noGrp="1"/>
          </p:cNvSpPr>
          <p:nvPr>
            <p:ph type="title"/>
          </p:nvPr>
        </p:nvSpPr>
        <p:spPr/>
        <p:txBody>
          <a:bodyPr/>
          <a:lstStyle/>
          <a:p>
            <a:r>
              <a:rPr lang="en-US">
                <a:sym typeface="+mn-ea"/>
              </a:rPr>
              <a:t>Why dynamic detection method as fuzzing matters</a:t>
            </a:r>
            <a:endParaRPr lang="en-US"/>
          </a:p>
        </p:txBody>
      </p:sp>
      <p:pic>
        <p:nvPicPr>
          <p:cNvPr id="2" name="图片 1"/>
          <p:cNvPicPr>
            <a:picLocks noChangeAspect="1"/>
          </p:cNvPicPr>
          <p:nvPr/>
        </p:nvPicPr>
        <p:blipFill>
          <a:blip r:embed="rId1"/>
          <a:stretch>
            <a:fillRect/>
          </a:stretch>
        </p:blipFill>
        <p:spPr>
          <a:xfrm>
            <a:off x="5440045" y="1524000"/>
            <a:ext cx="2738120" cy="2302510"/>
          </a:xfrm>
          <a:prstGeom prst="rect">
            <a:avLst/>
          </a:prstGeom>
        </p:spPr>
      </p:pic>
      <p:pic>
        <p:nvPicPr>
          <p:cNvPr id="4" name="图片 3"/>
          <p:cNvPicPr>
            <a:picLocks noChangeAspect="1"/>
          </p:cNvPicPr>
          <p:nvPr/>
        </p:nvPicPr>
        <p:blipFill>
          <a:blip r:embed="rId2"/>
          <a:stretch>
            <a:fillRect/>
          </a:stretch>
        </p:blipFill>
        <p:spPr>
          <a:xfrm>
            <a:off x="5365115" y="4097655"/>
            <a:ext cx="4800600" cy="180975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5" name="Title 4"/>
          <p:cNvSpPr>
            <a:spLocks noGrp="1"/>
          </p:cNvSpPr>
          <p:nvPr>
            <p:ph type="title"/>
          </p:nvPr>
        </p:nvSpPr>
        <p:spPr/>
        <p:txBody>
          <a:bodyPr/>
          <a:lstStyle/>
          <a:p>
            <a:r>
              <a:rPr lang="en-US">
                <a:sym typeface="+mn-ea"/>
              </a:rPr>
              <a:t>How LLMs helps fuzzing</a:t>
            </a:r>
            <a:endParaRPr lang="en-US"/>
          </a:p>
        </p:txBody>
      </p:sp>
      <p:pic>
        <p:nvPicPr>
          <p:cNvPr id="4" name="图片 3"/>
          <p:cNvPicPr>
            <a:picLocks noChangeAspect="1"/>
          </p:cNvPicPr>
          <p:nvPr/>
        </p:nvPicPr>
        <p:blipFill>
          <a:blip r:embed="rId1"/>
          <a:stretch>
            <a:fillRect/>
          </a:stretch>
        </p:blipFill>
        <p:spPr>
          <a:xfrm>
            <a:off x="749300" y="1356360"/>
            <a:ext cx="10915650" cy="48387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OSS-Fuzz(Google) vs OSS-Fuzz-gen</a:t>
            </a:r>
            <a:endParaRPr lang="en-US"/>
          </a:p>
          <a:p>
            <a:endParaRPr lang="zh-CN" altLang="en-US">
              <a:ea typeface="宋体" charset="0"/>
            </a:endParaRPr>
          </a:p>
        </p:txBody>
      </p:sp>
      <p:sp>
        <p:nvSpPr>
          <p:cNvPr id="5" name="Title 4"/>
          <p:cNvSpPr>
            <a:spLocks noGrp="1"/>
          </p:cNvSpPr>
          <p:nvPr>
            <p:ph type="title"/>
          </p:nvPr>
        </p:nvSpPr>
        <p:spPr/>
        <p:txBody>
          <a:bodyPr/>
          <a:lstStyle/>
          <a:p>
            <a:r>
              <a:rPr lang="en-US">
                <a:sym typeface="+mn-ea"/>
              </a:rPr>
              <a:t>Hands on experiments</a:t>
            </a:r>
            <a:endParaRPr lang="en-US"/>
          </a:p>
        </p:txBody>
      </p:sp>
      <p:pic>
        <p:nvPicPr>
          <p:cNvPr id="2" name="图片 1"/>
          <p:cNvPicPr>
            <a:picLocks noChangeAspect="1"/>
          </p:cNvPicPr>
          <p:nvPr/>
        </p:nvPicPr>
        <p:blipFill>
          <a:blip r:embed="rId1"/>
          <a:stretch>
            <a:fillRect/>
          </a:stretch>
        </p:blipFill>
        <p:spPr>
          <a:xfrm>
            <a:off x="672465" y="2414905"/>
            <a:ext cx="4119880" cy="2744470"/>
          </a:xfrm>
          <a:prstGeom prst="rect">
            <a:avLst/>
          </a:prstGeom>
        </p:spPr>
      </p:pic>
      <p:pic>
        <p:nvPicPr>
          <p:cNvPr id="4" name="图片 3"/>
          <p:cNvPicPr>
            <a:picLocks noChangeAspect="1"/>
          </p:cNvPicPr>
          <p:nvPr/>
        </p:nvPicPr>
        <p:blipFill>
          <a:blip r:embed="rId2"/>
          <a:stretch>
            <a:fillRect/>
          </a:stretch>
        </p:blipFill>
        <p:spPr>
          <a:xfrm>
            <a:off x="4892675" y="2486025"/>
            <a:ext cx="7155815" cy="2614295"/>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94" name="Google Shape;94;p5"/>
          <p:cNvSpPr txBox="1">
            <a:spLocks noGrp="1"/>
          </p:cNvSpPr>
          <p:nvPr>
            <p:ph type="ftr" idx="11"/>
          </p:nvPr>
        </p:nvSpPr>
        <p:spPr>
          <a:xfrm>
            <a:off x="609600" y="6400800"/>
            <a:ext cx="6807200" cy="30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3" name="Text Placeholder 2"/>
          <p:cNvSpPr>
            <a:spLocks noGrp="1"/>
          </p:cNvSpPr>
          <p:nvPr>
            <p:ph type="body" idx="1"/>
          </p:nvPr>
        </p:nvSpPr>
        <p:spPr/>
        <p:txBody>
          <a:bodyPr/>
          <a:lstStyle/>
          <a:p>
            <a:r>
              <a:rPr lang="en-US"/>
              <a:t>Newly covered lines: 255</a:t>
            </a:r>
            <a:endParaRPr lang="en-US"/>
          </a:p>
          <a:p>
            <a:r>
              <a:rPr lang="en-US"/>
              <a:t>Total covered lines after our run: 1,365</a:t>
            </a:r>
            <a:endParaRPr lang="en-US"/>
          </a:p>
          <a:p>
            <a:r>
              <a:rPr lang="en-US"/>
              <a:t>Previously covered lines (baseline): 2,559</a:t>
            </a:r>
            <a:endParaRPr lang="en-US"/>
          </a:p>
          <a:p>
            <a:r>
              <a:rPr lang="en-US"/>
              <a:t>Total lines in project: 5,564</a:t>
            </a:r>
            <a:endParaRPr lang="en-US"/>
          </a:p>
          <a:p>
            <a:endParaRPr lang="en-US"/>
          </a:p>
          <a:p>
            <a:r>
              <a:rPr lang="en-US"/>
              <a:t>Absolute coverage increase: 4.58 percentage points</a:t>
            </a:r>
            <a:endParaRPr lang="en-US"/>
          </a:p>
          <a:p>
            <a:r>
              <a:rPr lang="en-US"/>
              <a:t>Relative coverage gain over baseline: 9.96%</a:t>
            </a:r>
            <a:endParaRPr lang="en-US"/>
          </a:p>
        </p:txBody>
      </p:sp>
      <p:sp>
        <p:nvSpPr>
          <p:cNvPr id="5" name="Title 4"/>
          <p:cNvSpPr>
            <a:spLocks noGrp="1"/>
          </p:cNvSpPr>
          <p:nvPr>
            <p:ph type="title"/>
          </p:nvPr>
        </p:nvSpPr>
        <p:spPr/>
        <p:txBody>
          <a:bodyPr/>
          <a:lstStyle/>
          <a:p>
            <a:r>
              <a:rPr lang="en-US">
                <a:sym typeface="+mn-ea"/>
              </a:rPr>
              <a:t>Hands on experiments</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
          <p:cNvSpPr txBox="1">
            <a:spLocks noGrp="1"/>
          </p:cNvSpPr>
          <p:nvPr>
            <p:ph type="ctrTitle"/>
          </p:nvPr>
        </p:nvSpPr>
        <p:spPr>
          <a:xfrm>
            <a:off x="424405" y="3243838"/>
            <a:ext cx="13372618" cy="2779917"/>
          </a:xfrm>
          <a:prstGeom prst="rect">
            <a:avLst/>
          </a:prstGeom>
          <a:noFill/>
          <a:ln>
            <a:noFill/>
          </a:ln>
        </p:spPr>
        <p:txBody>
          <a:bodyPr spcFirstLastPara="1" wrap="square" lIns="91425" tIns="45700" rIns="91425" bIns="45700" anchor="b" anchorCtr="0">
            <a:noAutofit/>
          </a:bodyPr>
          <a:lstStyle/>
          <a:p>
            <a:br>
              <a:rPr lang="en-US" dirty="0"/>
            </a:br>
            <a:br>
              <a:rPr lang="en-US" dirty="0"/>
            </a:br>
            <a:br>
              <a:rPr lang="en-US" dirty="0"/>
            </a:br>
            <a:br>
              <a:rPr lang="en-US" dirty="0"/>
            </a:br>
            <a:br>
              <a:rPr lang="en-US" dirty="0"/>
            </a:br>
            <a:r>
              <a:rPr lang="en-US" dirty="0">
                <a:solidFill>
                  <a:srgbClr val="000000"/>
                </a:solidFill>
                <a:effectLst/>
                <a:latin typeface="Helvetica" pitchFamily="2" charset="0"/>
              </a:rPr>
              <a:t>AI-assisted </a:t>
            </a:r>
            <a:r>
              <a:rPr lang="en-US" altLang="zh-CN" dirty="0"/>
              <a:t>Code Vulnerability</a:t>
            </a:r>
            <a:r>
              <a:rPr lang="zh-CN" altLang="en-US" dirty="0"/>
              <a:t> </a:t>
            </a:r>
            <a:r>
              <a:rPr lang="en-US" altLang="zh-CN" dirty="0"/>
              <a:t>Detection</a:t>
            </a:r>
            <a:br>
              <a:rPr lang="en-US" altLang="zh-CN" dirty="0"/>
            </a:br>
            <a:br>
              <a:rPr lang="en-US" dirty="0">
                <a:solidFill>
                  <a:srgbClr val="000000"/>
                </a:solidFill>
                <a:effectLst/>
                <a:latin typeface="Helvetica" pitchFamily="2" charset="0"/>
              </a:rPr>
            </a:br>
            <a:br>
              <a:rPr lang="en-US" dirty="0"/>
            </a:b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5" name="Title 4"/>
          <p:cNvSpPr>
            <a:spLocks noGrp="1"/>
          </p:cNvSpPr>
          <p:nvPr>
            <p:ph type="title"/>
          </p:nvPr>
        </p:nvSpPr>
        <p:spPr/>
        <p:txBody>
          <a:bodyPr/>
          <a:lstStyle/>
          <a:p>
            <a:r>
              <a:rPr lang="en-US" dirty="0">
                <a:sym typeface="+mn-ea"/>
              </a:rPr>
              <a:t>W</a:t>
            </a:r>
            <a:r>
              <a:rPr lang="en-US" altLang="zh-CN" dirty="0">
                <a:sym typeface="+mn-ea"/>
              </a:rPr>
              <a:t>hy</a:t>
            </a:r>
            <a:r>
              <a:rPr lang="zh-CN" altLang="en-US" dirty="0">
                <a:sym typeface="+mn-ea"/>
              </a:rPr>
              <a:t> </a:t>
            </a:r>
            <a:r>
              <a:rPr lang="en-US" altLang="zh-CN" dirty="0">
                <a:sym typeface="+mn-ea"/>
              </a:rPr>
              <a:t>do</a:t>
            </a:r>
            <a:r>
              <a:rPr lang="zh-CN" altLang="en-US" dirty="0">
                <a:sym typeface="+mn-ea"/>
              </a:rPr>
              <a:t> </a:t>
            </a:r>
            <a:r>
              <a:rPr lang="en-US" altLang="zh-CN" dirty="0">
                <a:sym typeface="+mn-ea"/>
              </a:rPr>
              <a:t>we</a:t>
            </a:r>
            <a:r>
              <a:rPr lang="zh-CN" altLang="en-US" dirty="0">
                <a:sym typeface="+mn-ea"/>
              </a:rPr>
              <a:t> </a:t>
            </a:r>
            <a:r>
              <a:rPr lang="en-US" altLang="zh-CN" dirty="0">
                <a:sym typeface="+mn-ea"/>
              </a:rPr>
              <a:t>need</a:t>
            </a:r>
            <a:r>
              <a:rPr lang="zh-CN" altLang="en-US" dirty="0">
                <a:sym typeface="+mn-ea"/>
              </a:rPr>
              <a:t> </a:t>
            </a:r>
            <a:r>
              <a:rPr lang="en-US" altLang="zh-CN" dirty="0">
                <a:sym typeface="+mn-ea"/>
              </a:rPr>
              <a:t>Vulnerability</a:t>
            </a:r>
            <a:r>
              <a:rPr lang="zh-CN" altLang="en-US" dirty="0">
                <a:sym typeface="+mn-ea"/>
              </a:rPr>
              <a:t> </a:t>
            </a:r>
            <a:r>
              <a:rPr lang="en-US" altLang="zh-CN" dirty="0">
                <a:sym typeface="+mn-ea"/>
              </a:rPr>
              <a:t>Detection</a:t>
            </a:r>
            <a:endParaRPr lang="en-US" dirty="0"/>
          </a:p>
        </p:txBody>
      </p:sp>
      <p:sp>
        <p:nvSpPr>
          <p:cNvPr id="7" name="文本框 6"/>
          <p:cNvSpPr txBox="1"/>
          <p:nvPr/>
        </p:nvSpPr>
        <p:spPr>
          <a:xfrm>
            <a:off x="5386137" y="1820701"/>
            <a:ext cx="7221689" cy="1702967"/>
          </a:xfrm>
          <a:prstGeom prst="rect">
            <a:avLst/>
          </a:prstGeom>
          <a:noFill/>
        </p:spPr>
        <p:txBody>
          <a:bodyPr wrap="square">
            <a:spAutoFit/>
          </a:bodyPr>
          <a:lstStyle/>
          <a:p>
            <a:pPr marL="285750" indent="-285750">
              <a:lnSpc>
                <a:spcPct val="150000"/>
              </a:lnSpc>
              <a:buFont typeface="Arial" panose="020B0604020202090204" pitchFamily="34" charset="0"/>
              <a:buChar char="•"/>
            </a:pPr>
            <a:r>
              <a:rPr lang="en-US" altLang="zh-CN" sz="1800" dirty="0"/>
              <a:t>Software vulnerabilities are a major cause of security breaches</a:t>
            </a:r>
            <a:endParaRPr lang="en-US" altLang="zh-CN" sz="1800" dirty="0"/>
          </a:p>
          <a:p>
            <a:pPr marL="285750" indent="-285750">
              <a:lnSpc>
                <a:spcPct val="150000"/>
              </a:lnSpc>
              <a:buFont typeface="Arial" panose="020B0604020202090204" pitchFamily="34" charset="0"/>
              <a:buChar char="•"/>
            </a:pPr>
            <a:r>
              <a:rPr lang="en-US" altLang="zh-CN" sz="1800" dirty="0"/>
              <a:t>Manual code review is time-consuming and error-prone</a:t>
            </a:r>
            <a:endParaRPr lang="en-US" altLang="zh-CN" sz="1800" dirty="0"/>
          </a:p>
          <a:p>
            <a:pPr marL="285750" indent="-285750">
              <a:lnSpc>
                <a:spcPct val="150000"/>
              </a:lnSpc>
              <a:buFont typeface="Arial" panose="020B0604020202090204" pitchFamily="34" charset="0"/>
              <a:buChar char="•"/>
            </a:pPr>
            <a:r>
              <a:rPr lang="en-US" altLang="zh-CN" sz="1800" dirty="0"/>
              <a:t>Rule-based static analysis tools have limited coverage</a:t>
            </a:r>
            <a:endParaRPr lang="en-US" altLang="zh-CN" sz="1800" dirty="0"/>
          </a:p>
          <a:p>
            <a:pPr marL="285750" indent="-285750">
              <a:lnSpc>
                <a:spcPct val="150000"/>
              </a:lnSpc>
              <a:buFont typeface="Arial" panose="020B0604020202090204" pitchFamily="34" charset="0"/>
              <a:buChar char="•"/>
            </a:pPr>
            <a:r>
              <a:rPr lang="en-US" altLang="zh-CN" sz="1800" dirty="0"/>
              <a:t>New vulnerabilities appear faster than rules can be written</a:t>
            </a:r>
            <a:endParaRPr lang="en-US" altLang="zh-CN" sz="1800" dirty="0"/>
          </a:p>
        </p:txBody>
      </p:sp>
      <p:pic>
        <p:nvPicPr>
          <p:cNvPr id="1028" name="Picture 4" descr="code vulnerabilities assessment illustration"/>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609600" y="1820701"/>
            <a:ext cx="4558631" cy="2564230"/>
          </a:xfrm>
          <a:prstGeom prst="rect">
            <a:avLst/>
          </a:prstGeom>
          <a:noFill/>
          <a:extLst>
            <a:ext uri="{909E8E84-426E-40DD-AFC4-6F175D3DCCD1}">
              <a14:hiddenFill xmlns:a14="http://schemas.microsoft.com/office/drawing/2010/main">
                <a:solidFill>
                  <a:srgbClr val="FFFFFF"/>
                </a:solidFill>
              </a14:hiddenFill>
            </a:ext>
          </a:extLst>
        </p:spPr>
      </p:pic>
      <p:sp>
        <p:nvSpPr>
          <p:cNvPr id="9" name="文本框 8"/>
          <p:cNvSpPr txBox="1"/>
          <p:nvPr/>
        </p:nvSpPr>
        <p:spPr>
          <a:xfrm>
            <a:off x="609600" y="4713773"/>
            <a:ext cx="6304546" cy="1345048"/>
          </a:xfrm>
          <a:prstGeom prst="rect">
            <a:avLst/>
          </a:prstGeom>
          <a:noFill/>
        </p:spPr>
        <p:txBody>
          <a:bodyPr wrap="square">
            <a:spAutoFit/>
          </a:bodyPr>
          <a:lstStyle/>
          <a:p>
            <a:pPr marL="342900" indent="-342900">
              <a:lnSpc>
                <a:spcPct val="150000"/>
              </a:lnSpc>
              <a:buFont typeface="+mj-lt"/>
              <a:buAutoNum type="arabicPeriod"/>
            </a:pPr>
            <a:r>
              <a:rPr lang="en-US" altLang="zh-CN" b="1" dirty="0"/>
              <a:t>Understand how AI detects code vulnerabilities</a:t>
            </a:r>
            <a:endParaRPr lang="en-US" altLang="zh-CN" b="1" dirty="0"/>
          </a:p>
          <a:p>
            <a:pPr marL="342900" indent="-342900">
              <a:lnSpc>
                <a:spcPct val="150000"/>
              </a:lnSpc>
              <a:buFont typeface="+mj-lt"/>
              <a:buAutoNum type="arabicPeriod"/>
            </a:pPr>
            <a:r>
              <a:rPr lang="en-US" altLang="zh-CN" b="1" dirty="0"/>
              <a:t>Run a vulnerability detection model</a:t>
            </a:r>
            <a:endParaRPr lang="en-US" altLang="zh-CN" b="1" dirty="0"/>
          </a:p>
          <a:p>
            <a:pPr marL="342900" indent="-342900">
              <a:lnSpc>
                <a:spcPct val="150000"/>
              </a:lnSpc>
              <a:buFont typeface="+mj-lt"/>
              <a:buAutoNum type="arabicPeriod"/>
            </a:pPr>
            <a:r>
              <a:rPr lang="en-US" altLang="zh-CN" b="1" dirty="0"/>
              <a:t>Analyze model predictions</a:t>
            </a:r>
            <a:endParaRPr lang="en-US" altLang="zh-CN" b="1" dirty="0"/>
          </a:p>
          <a:p>
            <a:pPr marL="342900" indent="-342900">
              <a:lnSpc>
                <a:spcPct val="150000"/>
              </a:lnSpc>
              <a:buFont typeface="+mj-lt"/>
              <a:buAutoNum type="arabicPeriod"/>
            </a:pPr>
            <a:r>
              <a:rPr lang="en-US" altLang="zh-CN" b="1" dirty="0"/>
              <a:t>Reflect on limitations of AI in security</a:t>
            </a:r>
            <a:endParaRPr lang="en-US" altLang="zh-CN"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5" name="Title 4"/>
          <p:cNvSpPr>
            <a:spLocks noGrp="1"/>
          </p:cNvSpPr>
          <p:nvPr>
            <p:ph type="title"/>
          </p:nvPr>
        </p:nvSpPr>
        <p:spPr/>
        <p:txBody>
          <a:bodyPr/>
          <a:lstStyle/>
          <a:p>
            <a:r>
              <a:rPr lang="en-US" altLang="zh-CN" dirty="0"/>
              <a:t>Task</a:t>
            </a:r>
            <a:r>
              <a:rPr lang="zh-CN" altLang="en-US" dirty="0"/>
              <a:t> </a:t>
            </a:r>
            <a:r>
              <a:rPr lang="en-US" altLang="zh-CN" dirty="0"/>
              <a:t>Definition</a:t>
            </a:r>
            <a:endParaRPr lang="en-US" dirty="0"/>
          </a:p>
        </p:txBody>
      </p:sp>
      <p:sp>
        <p:nvSpPr>
          <p:cNvPr id="7" name="文本框 6"/>
          <p:cNvSpPr txBox="1"/>
          <p:nvPr/>
        </p:nvSpPr>
        <p:spPr>
          <a:xfrm>
            <a:off x="605590" y="1335910"/>
            <a:ext cx="7221689" cy="2118465"/>
          </a:xfrm>
          <a:prstGeom prst="rect">
            <a:avLst/>
          </a:prstGeom>
          <a:noFill/>
        </p:spPr>
        <p:txBody>
          <a:bodyPr wrap="square">
            <a:spAutoFit/>
          </a:bodyPr>
          <a:lstStyle/>
          <a:p>
            <a:pPr>
              <a:lnSpc>
                <a:spcPct val="150000"/>
              </a:lnSpc>
            </a:pPr>
            <a:r>
              <a:rPr lang="en-US" altLang="zh-CN" sz="1800" b="1" dirty="0"/>
              <a:t>Input</a:t>
            </a:r>
            <a:r>
              <a:rPr lang="en-US" altLang="zh-CN" sz="1800" dirty="0"/>
              <a:t>:</a:t>
            </a:r>
            <a:r>
              <a:rPr lang="zh-CN" altLang="en-US" sz="1800" dirty="0"/>
              <a:t>    </a:t>
            </a:r>
            <a:r>
              <a:rPr lang="en-US" altLang="zh-CN" sz="1800" dirty="0"/>
              <a:t> </a:t>
            </a:r>
            <a:r>
              <a:rPr lang="zh-CN" altLang="en-US" sz="1800" dirty="0"/>
              <a:t>        </a:t>
            </a:r>
            <a:r>
              <a:rPr lang="en-US" altLang="zh-CN" sz="1800" dirty="0"/>
              <a:t>A function-level code representation</a:t>
            </a:r>
            <a:endParaRPr lang="en-US" altLang="zh-CN" sz="1800" dirty="0"/>
          </a:p>
          <a:p>
            <a:pPr>
              <a:lnSpc>
                <a:spcPct val="150000"/>
              </a:lnSpc>
            </a:pPr>
            <a:r>
              <a:rPr lang="en-US" altLang="zh-CN" sz="1800" b="1" dirty="0"/>
              <a:t>Output</a:t>
            </a:r>
            <a:r>
              <a:rPr lang="en-US" altLang="zh-CN" sz="1800" dirty="0"/>
              <a:t>: </a:t>
            </a:r>
            <a:r>
              <a:rPr lang="zh-CN" altLang="en-US" sz="1800" dirty="0"/>
              <a:t>         </a:t>
            </a:r>
            <a:r>
              <a:rPr lang="en-US" altLang="zh-CN" sz="1800" dirty="0"/>
              <a:t>Vulnerable (1) or Non-vulnerable (0)</a:t>
            </a:r>
            <a:endParaRPr lang="en-US" altLang="zh-CN" sz="1800" dirty="0"/>
          </a:p>
          <a:p>
            <a:pPr>
              <a:lnSpc>
                <a:spcPct val="150000"/>
              </a:lnSpc>
            </a:pPr>
            <a:r>
              <a:rPr lang="en-US" altLang="zh-CN" sz="1800" b="1" dirty="0"/>
              <a:t>Task Type</a:t>
            </a:r>
            <a:r>
              <a:rPr lang="en-US" altLang="zh-CN" sz="1800" dirty="0"/>
              <a:t>: </a:t>
            </a:r>
            <a:r>
              <a:rPr lang="zh-CN" altLang="en-US" sz="1800" dirty="0"/>
              <a:t>   </a:t>
            </a:r>
            <a:r>
              <a:rPr lang="en-US" altLang="zh-CN" sz="1800" dirty="0"/>
              <a:t>Binary classification</a:t>
            </a:r>
            <a:endParaRPr lang="en-US" altLang="zh-CN" sz="1800" dirty="0"/>
          </a:p>
          <a:p>
            <a:pPr>
              <a:lnSpc>
                <a:spcPct val="150000"/>
              </a:lnSpc>
            </a:pPr>
            <a:r>
              <a:rPr lang="en-US" altLang="zh-CN" sz="1800" b="1" dirty="0"/>
              <a:t>Granularity</a:t>
            </a:r>
            <a:r>
              <a:rPr lang="en-US" altLang="zh-CN" sz="1800" dirty="0"/>
              <a:t>: </a:t>
            </a:r>
            <a:r>
              <a:rPr lang="zh-CN" altLang="en-US" sz="1800" dirty="0"/>
              <a:t>  </a:t>
            </a:r>
            <a:r>
              <a:rPr lang="en-US" altLang="zh-CN" sz="1800" dirty="0"/>
              <a:t>Function-level vulnerability detection</a:t>
            </a:r>
            <a:endParaRPr lang="en-US" altLang="zh-CN" sz="1800" dirty="0"/>
          </a:p>
          <a:p>
            <a:pPr>
              <a:lnSpc>
                <a:spcPct val="150000"/>
              </a:lnSpc>
            </a:pPr>
            <a:r>
              <a:rPr lang="en-US" altLang="zh-CN" sz="1800" b="1" dirty="0"/>
              <a:t>Dataset</a:t>
            </a:r>
            <a:r>
              <a:rPr lang="en-US" altLang="zh-CN" sz="1800" dirty="0"/>
              <a:t>: </a:t>
            </a:r>
            <a:r>
              <a:rPr lang="zh-CN" altLang="en-US" sz="1800" dirty="0"/>
              <a:t>        </a:t>
            </a:r>
            <a:r>
              <a:rPr lang="en-US" altLang="zh-CN" sz="1800" dirty="0"/>
              <a:t>Real-World Vulnerability Data</a:t>
            </a:r>
            <a:endParaRPr lang="en-US" altLang="zh-CN" sz="1800" dirty="0"/>
          </a:p>
        </p:txBody>
      </p:sp>
      <p:sp>
        <p:nvSpPr>
          <p:cNvPr id="6" name="文本框 5"/>
          <p:cNvSpPr txBox="1"/>
          <p:nvPr/>
        </p:nvSpPr>
        <p:spPr>
          <a:xfrm>
            <a:off x="6856488" y="2730283"/>
            <a:ext cx="6100010" cy="698717"/>
          </a:xfrm>
          <a:prstGeom prst="rect">
            <a:avLst/>
          </a:prstGeom>
          <a:noFill/>
        </p:spPr>
        <p:txBody>
          <a:bodyPr wrap="square">
            <a:spAutoFit/>
          </a:bodyPr>
          <a:lstStyle/>
          <a:p>
            <a:pPr marL="285750" indent="-285750">
              <a:lnSpc>
                <a:spcPct val="150000"/>
              </a:lnSpc>
              <a:buFontTx/>
              <a:buChar char="-"/>
            </a:pPr>
            <a:r>
              <a:rPr lang="en-US" altLang="zh-CN" dirty="0"/>
              <a:t>Source</a:t>
            </a:r>
            <a:r>
              <a:rPr lang="en-US" altLang="zh-CN" dirty="0">
                <a:solidFill>
                  <a:srgbClr val="383A42"/>
                </a:solidFill>
                <a:effectLst/>
              </a:rPr>
              <a:t>:</a:t>
            </a:r>
            <a:r>
              <a:rPr lang="en-US" altLang="zh-CN" dirty="0"/>
              <a:t> CVE</a:t>
            </a:r>
            <a:r>
              <a:rPr lang="en-US" altLang="zh-CN" dirty="0">
                <a:solidFill>
                  <a:srgbClr val="4078F2"/>
                </a:solidFill>
                <a:effectLst/>
              </a:rPr>
              <a:t>-</a:t>
            </a:r>
            <a:r>
              <a:rPr lang="en-US" altLang="zh-CN" dirty="0"/>
              <a:t>based</a:t>
            </a:r>
            <a:r>
              <a:rPr lang="en-US" altLang="zh-CN" dirty="0">
                <a:solidFill>
                  <a:srgbClr val="383A42"/>
                </a:solidFill>
                <a:effectLst/>
              </a:rPr>
              <a:t>,</a:t>
            </a:r>
            <a:r>
              <a:rPr lang="en-US" altLang="zh-CN" dirty="0"/>
              <a:t> 150K</a:t>
            </a:r>
            <a:r>
              <a:rPr lang="en-US" altLang="zh-CN" dirty="0">
                <a:solidFill>
                  <a:srgbClr val="4078F2"/>
                </a:solidFill>
                <a:effectLst/>
              </a:rPr>
              <a:t>+</a:t>
            </a:r>
            <a:r>
              <a:rPr lang="en-US" altLang="zh-CN" dirty="0"/>
              <a:t> C functions </a:t>
            </a:r>
            <a:endParaRPr lang="en-US" altLang="zh-CN" dirty="0"/>
          </a:p>
          <a:p>
            <a:pPr marL="285750" indent="-285750">
              <a:lnSpc>
                <a:spcPct val="150000"/>
              </a:lnSpc>
              <a:buFontTx/>
              <a:buChar char="-"/>
            </a:pPr>
            <a:r>
              <a:rPr lang="en-US" altLang="zh-CN" dirty="0"/>
              <a:t>Split</a:t>
            </a:r>
            <a:r>
              <a:rPr lang="en-US" altLang="zh-CN" dirty="0">
                <a:solidFill>
                  <a:srgbClr val="383A42"/>
                </a:solidFill>
                <a:effectLst/>
              </a:rPr>
              <a:t>:</a:t>
            </a:r>
            <a:r>
              <a:rPr lang="en-US" altLang="zh-CN" dirty="0"/>
              <a:t> </a:t>
            </a:r>
            <a:r>
              <a:rPr lang="en-US" altLang="zh-CN" dirty="0">
                <a:solidFill>
                  <a:srgbClr val="B76B01"/>
                </a:solidFill>
                <a:effectLst/>
              </a:rPr>
              <a:t>5.8</a:t>
            </a:r>
            <a:r>
              <a:rPr lang="en-US" altLang="zh-CN" dirty="0">
                <a:solidFill>
                  <a:srgbClr val="4078F2"/>
                </a:solidFill>
                <a:effectLst/>
              </a:rPr>
              <a:t>%</a:t>
            </a:r>
            <a:r>
              <a:rPr lang="en-US" altLang="zh-CN" dirty="0"/>
              <a:t> vulnerable</a:t>
            </a:r>
            <a:r>
              <a:rPr lang="en-US" altLang="zh-CN" dirty="0">
                <a:solidFill>
                  <a:srgbClr val="383A42"/>
                </a:solidFill>
                <a:effectLst/>
              </a:rPr>
              <a:t>,</a:t>
            </a:r>
            <a:r>
              <a:rPr lang="en-US" altLang="zh-CN" dirty="0"/>
              <a:t> </a:t>
            </a:r>
            <a:r>
              <a:rPr lang="en-US" altLang="zh-CN" dirty="0">
                <a:solidFill>
                  <a:srgbClr val="B76B01"/>
                </a:solidFill>
                <a:effectLst/>
              </a:rPr>
              <a:t>94.2</a:t>
            </a:r>
            <a:r>
              <a:rPr lang="en-US" altLang="zh-CN" dirty="0">
                <a:solidFill>
                  <a:srgbClr val="4078F2"/>
                </a:solidFill>
                <a:effectLst/>
              </a:rPr>
              <a:t>%</a:t>
            </a:r>
            <a:r>
              <a:rPr lang="en-US" altLang="zh-CN" dirty="0"/>
              <a:t> safe</a:t>
            </a:r>
            <a:endParaRPr lang="zh-CN" altLang="en-US" dirty="0"/>
          </a:p>
        </p:txBody>
      </p:sp>
      <p:graphicFrame>
        <p:nvGraphicFramePr>
          <p:cNvPr id="10" name="表格 9"/>
          <p:cNvGraphicFramePr>
            <a:graphicFrameLocks noGrp="1"/>
          </p:cNvGraphicFramePr>
          <p:nvPr/>
        </p:nvGraphicFramePr>
        <p:xfrm>
          <a:off x="107924" y="3560016"/>
          <a:ext cx="12084076" cy="2895600"/>
        </p:xfrm>
        <a:graphic>
          <a:graphicData uri="http://schemas.openxmlformats.org/drawingml/2006/table">
            <a:tbl>
              <a:tblPr/>
              <a:tblGrid>
                <a:gridCol w="1358203"/>
                <a:gridCol w="2221335"/>
                <a:gridCol w="4109470"/>
                <a:gridCol w="2110269"/>
                <a:gridCol w="2284799"/>
              </a:tblGrid>
              <a:tr h="0">
                <a:tc>
                  <a:txBody>
                    <a:bodyPr/>
                    <a:lstStyle/>
                    <a:p>
                      <a:pPr>
                        <a:buNone/>
                      </a:pPr>
                      <a:r>
                        <a:rPr lang="en-US" b="1"/>
                        <a:t>Term</a:t>
                      </a:r>
                      <a:endParaRPr lang="en-US"/>
                    </a:p>
                  </a:txBody>
                  <a:tcPr anchor="ctr">
                    <a:lnL>
                      <a:noFill/>
                    </a:lnL>
                    <a:lnR>
                      <a:noFill/>
                    </a:lnR>
                    <a:lnT>
                      <a:noFill/>
                    </a:lnT>
                    <a:lnB>
                      <a:noFill/>
                    </a:lnB>
                    <a:noFill/>
                  </a:tcPr>
                </a:tc>
                <a:tc>
                  <a:txBody>
                    <a:bodyPr/>
                    <a:lstStyle/>
                    <a:p>
                      <a:pPr>
                        <a:buNone/>
                      </a:pPr>
                      <a:r>
                        <a:rPr lang="en-US" b="1"/>
                        <a:t>Meaning (Chinese)</a:t>
                      </a:r>
                      <a:endParaRPr lang="en-US"/>
                    </a:p>
                  </a:txBody>
                  <a:tcPr anchor="ctr">
                    <a:lnL>
                      <a:noFill/>
                    </a:lnL>
                    <a:lnR>
                      <a:noFill/>
                    </a:lnR>
                    <a:lnT>
                      <a:noFill/>
                    </a:lnT>
                    <a:lnB>
                      <a:noFill/>
                    </a:lnB>
                    <a:noFill/>
                  </a:tcPr>
                </a:tc>
                <a:tc>
                  <a:txBody>
                    <a:bodyPr/>
                    <a:lstStyle/>
                    <a:p>
                      <a:pPr>
                        <a:buNone/>
                      </a:pPr>
                      <a:r>
                        <a:rPr lang="en-US" b="1" dirty="0"/>
                        <a:t>What It Is</a:t>
                      </a:r>
                      <a:endParaRPr lang="en-US" dirty="0"/>
                    </a:p>
                  </a:txBody>
                  <a:tcPr anchor="ctr">
                    <a:lnL>
                      <a:noFill/>
                    </a:lnL>
                    <a:lnR>
                      <a:noFill/>
                    </a:lnR>
                    <a:lnT>
                      <a:noFill/>
                    </a:lnT>
                    <a:lnB>
                      <a:noFill/>
                    </a:lnB>
                    <a:noFill/>
                  </a:tcPr>
                </a:tc>
                <a:tc>
                  <a:txBody>
                    <a:bodyPr/>
                    <a:lstStyle/>
                    <a:p>
                      <a:pPr>
                        <a:buNone/>
                      </a:pPr>
                      <a:r>
                        <a:rPr lang="en-US" b="1"/>
                        <a:t>Example</a:t>
                      </a:r>
                      <a:endParaRPr lang="en-US"/>
                    </a:p>
                  </a:txBody>
                  <a:tcPr anchor="ctr">
                    <a:lnL>
                      <a:noFill/>
                    </a:lnL>
                    <a:lnR>
                      <a:noFill/>
                    </a:lnR>
                    <a:lnT>
                      <a:noFill/>
                    </a:lnT>
                    <a:lnB>
                      <a:noFill/>
                    </a:lnB>
                    <a:noFill/>
                  </a:tcPr>
                </a:tc>
                <a:tc>
                  <a:txBody>
                    <a:bodyPr/>
                    <a:lstStyle/>
                    <a:p>
                      <a:pPr>
                        <a:buNone/>
                      </a:pPr>
                      <a:r>
                        <a:rPr lang="en-US" b="1" dirty="0"/>
                        <a:t>Purpose</a:t>
                      </a:r>
                      <a:endParaRPr lang="en-US" dirty="0"/>
                    </a:p>
                  </a:txBody>
                  <a:tcPr anchor="ctr">
                    <a:lnL>
                      <a:noFill/>
                    </a:lnL>
                    <a:lnR>
                      <a:noFill/>
                    </a:lnR>
                    <a:lnT>
                      <a:noFill/>
                    </a:lnT>
                    <a:lnB>
                      <a:noFill/>
                    </a:lnB>
                    <a:noFill/>
                  </a:tcPr>
                </a:tc>
              </a:tr>
              <a:tr h="0">
                <a:tc>
                  <a:txBody>
                    <a:bodyPr/>
                    <a:lstStyle/>
                    <a:p>
                      <a:pPr>
                        <a:buNone/>
                      </a:pPr>
                      <a:r>
                        <a:rPr lang="en-US" b="1"/>
                        <a:t>CVE ID</a:t>
                      </a:r>
                      <a:endParaRPr lang="en-US"/>
                    </a:p>
                  </a:txBody>
                  <a:tcPr anchor="ctr">
                    <a:lnL>
                      <a:noFill/>
                    </a:lnL>
                    <a:lnR>
                      <a:noFill/>
                    </a:lnR>
                    <a:lnT>
                      <a:noFill/>
                    </a:lnT>
                    <a:lnB>
                      <a:noFill/>
                    </a:lnB>
                    <a:noFill/>
                  </a:tcPr>
                </a:tc>
                <a:tc>
                  <a:txBody>
                    <a:bodyPr/>
                    <a:lstStyle/>
                    <a:p>
                      <a:pPr>
                        <a:buNone/>
                      </a:pPr>
                      <a:r>
                        <a:rPr lang="en-US" dirty="0"/>
                        <a:t>Vulnerability Identifier</a:t>
                      </a:r>
                      <a:endParaRPr lang="en-US" dirty="0"/>
                    </a:p>
                  </a:txBody>
                  <a:tcPr anchor="ctr">
                    <a:lnL>
                      <a:noFill/>
                    </a:lnL>
                    <a:lnR>
                      <a:noFill/>
                    </a:lnR>
                    <a:lnT>
                      <a:noFill/>
                    </a:lnT>
                    <a:lnB>
                      <a:noFill/>
                    </a:lnB>
                    <a:noFill/>
                  </a:tcPr>
                </a:tc>
                <a:tc>
                  <a:txBody>
                    <a:bodyPr/>
                    <a:lstStyle/>
                    <a:p>
                      <a:pPr>
                        <a:buNone/>
                      </a:pPr>
                      <a:r>
                        <a:rPr lang="en-US"/>
                        <a:t>A unique identifier for a specific vulnerability</a:t>
                      </a:r>
                      <a:endParaRPr lang="en-US"/>
                    </a:p>
                  </a:txBody>
                  <a:tcPr anchor="ctr">
                    <a:lnL>
                      <a:noFill/>
                    </a:lnL>
                    <a:lnR>
                      <a:noFill/>
                    </a:lnR>
                    <a:lnT>
                      <a:noFill/>
                    </a:lnT>
                    <a:lnB>
                      <a:noFill/>
                    </a:lnB>
                    <a:noFill/>
                  </a:tcPr>
                </a:tc>
                <a:tc>
                  <a:txBody>
                    <a:bodyPr/>
                    <a:lstStyle/>
                    <a:p>
                      <a:pPr>
                        <a:buNone/>
                      </a:pPr>
                      <a:r>
                        <a:rPr lang="en-US"/>
                        <a:t>CVE-2014-0160</a:t>
                      </a:r>
                      <a:endParaRPr lang="en-US"/>
                    </a:p>
                  </a:txBody>
                  <a:tcPr anchor="ctr">
                    <a:lnL>
                      <a:noFill/>
                    </a:lnL>
                    <a:lnR>
                      <a:noFill/>
                    </a:lnR>
                    <a:lnT>
                      <a:noFill/>
                    </a:lnT>
                    <a:lnB>
                      <a:noFill/>
                    </a:lnB>
                    <a:noFill/>
                  </a:tcPr>
                </a:tc>
                <a:tc>
                  <a:txBody>
                    <a:bodyPr/>
                    <a:lstStyle/>
                    <a:p>
                      <a:pPr>
                        <a:buNone/>
                      </a:pPr>
                      <a:r>
                        <a:rPr lang="en-US" dirty="0"/>
                        <a:t>Track and reference a specific vulnerability</a:t>
                      </a:r>
                      <a:endParaRPr lang="en-US" dirty="0"/>
                    </a:p>
                  </a:txBody>
                  <a:tcPr anchor="ctr">
                    <a:lnL>
                      <a:noFill/>
                    </a:lnL>
                    <a:lnR>
                      <a:noFill/>
                    </a:lnR>
                    <a:lnT>
                      <a:noFill/>
                    </a:lnT>
                    <a:lnB>
                      <a:noFill/>
                    </a:lnB>
                    <a:noFill/>
                  </a:tcPr>
                </a:tc>
              </a:tr>
              <a:tr h="0">
                <a:tc>
                  <a:txBody>
                    <a:bodyPr/>
                    <a:lstStyle/>
                    <a:p>
                      <a:pPr>
                        <a:buNone/>
                      </a:pPr>
                      <a:r>
                        <a:rPr lang="en-US" b="1"/>
                        <a:t>CWE ID</a:t>
                      </a:r>
                      <a:endParaRPr lang="en-US"/>
                    </a:p>
                  </a:txBody>
                  <a:tcPr anchor="ctr">
                    <a:lnL>
                      <a:noFill/>
                    </a:lnL>
                    <a:lnR>
                      <a:noFill/>
                    </a:lnR>
                    <a:lnT>
                      <a:noFill/>
                    </a:lnT>
                    <a:lnB>
                      <a:noFill/>
                    </a:lnB>
                    <a:noFill/>
                  </a:tcPr>
                </a:tc>
                <a:tc>
                  <a:txBody>
                    <a:bodyPr/>
                    <a:lstStyle/>
                    <a:p>
                      <a:pPr>
                        <a:buNone/>
                      </a:pPr>
                      <a:r>
                        <a:rPr lang="en-US"/>
                        <a:t>Vulnerability Type</a:t>
                      </a:r>
                      <a:endParaRPr lang="en-US"/>
                    </a:p>
                  </a:txBody>
                  <a:tcPr anchor="ctr">
                    <a:lnL>
                      <a:noFill/>
                    </a:lnL>
                    <a:lnR>
                      <a:noFill/>
                    </a:lnR>
                    <a:lnT>
                      <a:noFill/>
                    </a:lnT>
                    <a:lnB>
                      <a:noFill/>
                    </a:lnB>
                    <a:noFill/>
                  </a:tcPr>
                </a:tc>
                <a:tc>
                  <a:txBody>
                    <a:bodyPr/>
                    <a:lstStyle/>
                    <a:p>
                      <a:pPr>
                        <a:buNone/>
                      </a:pPr>
                      <a:r>
                        <a:rPr lang="en-US" dirty="0"/>
                        <a:t>A classification of vulnerability types</a:t>
                      </a:r>
                      <a:endParaRPr lang="en-US" dirty="0"/>
                    </a:p>
                  </a:txBody>
                  <a:tcPr anchor="ctr">
                    <a:lnL>
                      <a:noFill/>
                    </a:lnL>
                    <a:lnR>
                      <a:noFill/>
                    </a:lnR>
                    <a:lnT>
                      <a:noFill/>
                    </a:lnT>
                    <a:lnB>
                      <a:noFill/>
                    </a:lnB>
                    <a:noFill/>
                  </a:tcPr>
                </a:tc>
                <a:tc>
                  <a:txBody>
                    <a:bodyPr/>
                    <a:lstStyle/>
                    <a:p>
                      <a:pPr>
                        <a:buNone/>
                      </a:pPr>
                      <a:r>
                        <a:rPr lang="en-US"/>
                        <a:t>CWE-119 (Buffer Overflow)</a:t>
                      </a:r>
                      <a:endParaRPr lang="en-US"/>
                    </a:p>
                  </a:txBody>
                  <a:tcPr anchor="ctr">
                    <a:lnL>
                      <a:noFill/>
                    </a:lnL>
                    <a:lnR>
                      <a:noFill/>
                    </a:lnR>
                    <a:lnT>
                      <a:noFill/>
                    </a:lnT>
                    <a:lnB>
                      <a:noFill/>
                    </a:lnB>
                    <a:noFill/>
                  </a:tcPr>
                </a:tc>
                <a:tc>
                  <a:txBody>
                    <a:bodyPr/>
                    <a:lstStyle/>
                    <a:p>
                      <a:pPr>
                        <a:buNone/>
                      </a:pPr>
                      <a:r>
                        <a:rPr lang="en-US"/>
                        <a:t>Identify the category of a vulnerability</a:t>
                      </a:r>
                      <a:endParaRPr lang="en-US"/>
                    </a:p>
                  </a:txBody>
                  <a:tcPr anchor="ctr">
                    <a:lnL>
                      <a:noFill/>
                    </a:lnL>
                    <a:lnR>
                      <a:noFill/>
                    </a:lnR>
                    <a:lnT>
                      <a:noFill/>
                    </a:lnT>
                    <a:lnB>
                      <a:noFill/>
                    </a:lnB>
                    <a:noFill/>
                  </a:tcPr>
                </a:tc>
              </a:tr>
              <a:tr h="0">
                <a:tc>
                  <a:txBody>
                    <a:bodyPr/>
                    <a:lstStyle/>
                    <a:p>
                      <a:pPr>
                        <a:buNone/>
                      </a:pPr>
                      <a:r>
                        <a:rPr lang="en-US" b="1"/>
                        <a:t>CVSS Score</a:t>
                      </a:r>
                      <a:endParaRPr lang="en-US"/>
                    </a:p>
                  </a:txBody>
                  <a:tcPr anchor="ctr">
                    <a:lnL>
                      <a:noFill/>
                    </a:lnL>
                    <a:lnR>
                      <a:noFill/>
                    </a:lnR>
                    <a:lnT>
                      <a:noFill/>
                    </a:lnT>
                    <a:lnB>
                      <a:noFill/>
                    </a:lnB>
                    <a:noFill/>
                  </a:tcPr>
                </a:tc>
                <a:tc>
                  <a:txBody>
                    <a:bodyPr/>
                    <a:lstStyle/>
                    <a:p>
                      <a:pPr>
                        <a:buNone/>
                      </a:pPr>
                      <a:r>
                        <a:rPr lang="en-US"/>
                        <a:t>Severity Score</a:t>
                      </a:r>
                      <a:endParaRPr lang="en-US"/>
                    </a:p>
                  </a:txBody>
                  <a:tcPr anchor="ctr">
                    <a:lnL>
                      <a:noFill/>
                    </a:lnL>
                    <a:lnR>
                      <a:noFill/>
                    </a:lnR>
                    <a:lnT>
                      <a:noFill/>
                    </a:lnT>
                    <a:lnB>
                      <a:noFill/>
                    </a:lnB>
                    <a:noFill/>
                  </a:tcPr>
                </a:tc>
                <a:tc>
                  <a:txBody>
                    <a:bodyPr/>
                    <a:lstStyle/>
                    <a:p>
                      <a:pPr>
                        <a:buNone/>
                      </a:pPr>
                      <a:r>
                        <a:rPr lang="en-US"/>
                        <a:t>A numerical score (0–10) indicating severity</a:t>
                      </a:r>
                      <a:endParaRPr lang="en-US"/>
                    </a:p>
                  </a:txBody>
                  <a:tcPr anchor="ctr">
                    <a:lnL>
                      <a:noFill/>
                    </a:lnL>
                    <a:lnR>
                      <a:noFill/>
                    </a:lnR>
                    <a:lnT>
                      <a:noFill/>
                    </a:lnT>
                    <a:lnB>
                      <a:noFill/>
                    </a:lnB>
                    <a:noFill/>
                  </a:tcPr>
                </a:tc>
                <a:tc>
                  <a:txBody>
                    <a:bodyPr/>
                    <a:lstStyle/>
                    <a:p>
                      <a:pPr>
                        <a:buNone/>
                      </a:pPr>
                      <a:r>
                        <a:rPr lang="en-US"/>
                        <a:t>9.8 (Critical)</a:t>
                      </a:r>
                      <a:endParaRPr lang="en-US"/>
                    </a:p>
                  </a:txBody>
                  <a:tcPr anchor="ctr">
                    <a:lnL>
                      <a:noFill/>
                    </a:lnL>
                    <a:lnR>
                      <a:noFill/>
                    </a:lnR>
                    <a:lnT>
                      <a:noFill/>
                    </a:lnT>
                    <a:lnB>
                      <a:noFill/>
                    </a:lnB>
                    <a:noFill/>
                  </a:tcPr>
                </a:tc>
                <a:tc>
                  <a:txBody>
                    <a:bodyPr/>
                    <a:lstStyle/>
                    <a:p>
                      <a:pPr>
                        <a:buNone/>
                      </a:pPr>
                      <a:r>
                        <a:rPr lang="en-US" dirty="0"/>
                        <a:t>Prioritize vulnerability remediation</a:t>
                      </a:r>
                      <a:endParaRPr lang="en-US" dirty="0"/>
                    </a:p>
                  </a:txBody>
                  <a:tcPr anchor="ctr">
                    <a:lnL>
                      <a:noFill/>
                    </a:lnL>
                    <a:lnR>
                      <a:noFill/>
                    </a:lnR>
                    <a:lnT>
                      <a:noFill/>
                    </a:lnT>
                    <a:lnB>
                      <a:noFill/>
                    </a:lnB>
                    <a:noFill/>
                  </a:tcPr>
                </a:tc>
              </a:tr>
              <a:tr h="0">
                <a:tc>
                  <a:txBody>
                    <a:bodyPr/>
                    <a:lstStyle/>
                    <a:p>
                      <a:pPr>
                        <a:buNone/>
                      </a:pPr>
                      <a:r>
                        <a:rPr lang="en-US" b="1"/>
                        <a:t>Commit Info</a:t>
                      </a:r>
                      <a:endParaRPr lang="en-US"/>
                    </a:p>
                  </a:txBody>
                  <a:tcPr anchor="ctr">
                    <a:lnL>
                      <a:noFill/>
                    </a:lnL>
                    <a:lnR>
                      <a:noFill/>
                    </a:lnR>
                    <a:lnT>
                      <a:noFill/>
                    </a:lnT>
                    <a:lnB>
                      <a:noFill/>
                    </a:lnB>
                    <a:noFill/>
                  </a:tcPr>
                </a:tc>
                <a:tc>
                  <a:txBody>
                    <a:bodyPr/>
                    <a:lstStyle/>
                    <a:p>
                      <a:pPr>
                        <a:buNone/>
                      </a:pPr>
                      <a:r>
                        <a:rPr lang="en-US"/>
                        <a:t>Commit Information</a:t>
                      </a:r>
                      <a:endParaRPr lang="en-US"/>
                    </a:p>
                  </a:txBody>
                  <a:tcPr anchor="ctr">
                    <a:lnL>
                      <a:noFill/>
                    </a:lnL>
                    <a:lnR>
                      <a:noFill/>
                    </a:lnR>
                    <a:lnT>
                      <a:noFill/>
                    </a:lnT>
                    <a:lnB>
                      <a:noFill/>
                    </a:lnB>
                    <a:noFill/>
                  </a:tcPr>
                </a:tc>
                <a:tc>
                  <a:txBody>
                    <a:bodyPr/>
                    <a:lstStyle/>
                    <a:p>
                      <a:pPr>
                        <a:buNone/>
                      </a:pPr>
                      <a:r>
                        <a:rPr lang="en-US"/>
                        <a:t>Git commit record that fixes the vulnerability</a:t>
                      </a:r>
                      <a:endParaRPr lang="en-US"/>
                    </a:p>
                  </a:txBody>
                  <a:tcPr anchor="ctr">
                    <a:lnL>
                      <a:noFill/>
                    </a:lnL>
                    <a:lnR>
                      <a:noFill/>
                    </a:lnR>
                    <a:lnT>
                      <a:noFill/>
                    </a:lnT>
                    <a:lnB>
                      <a:noFill/>
                    </a:lnB>
                    <a:noFill/>
                  </a:tcPr>
                </a:tc>
                <a:tc>
                  <a:txBody>
                    <a:bodyPr/>
                    <a:lstStyle/>
                    <a:p>
                      <a:pPr>
                        <a:buNone/>
                      </a:pPr>
                      <a:r>
                        <a:rPr lang="en-US" dirty="0"/>
                        <a:t>a3f5c8d…</a:t>
                      </a:r>
                      <a:endParaRPr lang="en-US" dirty="0"/>
                    </a:p>
                  </a:txBody>
                  <a:tcPr anchor="ctr">
                    <a:lnL>
                      <a:noFill/>
                    </a:lnL>
                    <a:lnR>
                      <a:noFill/>
                    </a:lnR>
                    <a:lnT>
                      <a:noFill/>
                    </a:lnT>
                    <a:lnB>
                      <a:noFill/>
                    </a:lnB>
                    <a:noFill/>
                  </a:tcPr>
                </a:tc>
                <a:tc>
                  <a:txBody>
                    <a:bodyPr/>
                    <a:lstStyle/>
                    <a:p>
                      <a:pPr>
                        <a:buNone/>
                      </a:pPr>
                      <a:r>
                        <a:rPr lang="en-US"/>
                        <a:t>Trace code changes across versions</a:t>
                      </a:r>
                      <a:endParaRPr lang="en-US"/>
                    </a:p>
                  </a:txBody>
                  <a:tcPr anchor="ctr">
                    <a:lnL>
                      <a:noFill/>
                    </a:lnL>
                    <a:lnR>
                      <a:noFill/>
                    </a:lnR>
                    <a:lnT>
                      <a:noFill/>
                    </a:lnT>
                    <a:lnB>
                      <a:noFill/>
                    </a:lnB>
                    <a:noFill/>
                  </a:tcPr>
                </a:tc>
              </a:tr>
              <a:tr h="0">
                <a:tc>
                  <a:txBody>
                    <a:bodyPr/>
                    <a:lstStyle/>
                    <a:p>
                      <a:pPr>
                        <a:buNone/>
                      </a:pPr>
                      <a:r>
                        <a:rPr lang="en-US" b="1"/>
                        <a:t>Patch Details</a:t>
                      </a:r>
                      <a:endParaRPr lang="en-US"/>
                    </a:p>
                  </a:txBody>
                  <a:tcPr anchor="ctr">
                    <a:lnL>
                      <a:noFill/>
                    </a:lnL>
                    <a:lnR>
                      <a:noFill/>
                    </a:lnR>
                    <a:lnT>
                      <a:noFill/>
                    </a:lnT>
                    <a:lnB>
                      <a:noFill/>
                    </a:lnB>
                    <a:noFill/>
                  </a:tcPr>
                </a:tc>
                <a:tc>
                  <a:txBody>
                    <a:bodyPr/>
                    <a:lstStyle/>
                    <a:p>
                      <a:pPr>
                        <a:buNone/>
                      </a:pPr>
                      <a:r>
                        <a:rPr lang="en-US"/>
                        <a:t>Patch Details</a:t>
                      </a:r>
                      <a:endParaRPr lang="en-US"/>
                    </a:p>
                  </a:txBody>
                  <a:tcPr anchor="ctr">
                    <a:lnL>
                      <a:noFill/>
                    </a:lnL>
                    <a:lnR>
                      <a:noFill/>
                    </a:lnR>
                    <a:lnT>
                      <a:noFill/>
                    </a:lnT>
                    <a:lnB>
                      <a:noFill/>
                    </a:lnB>
                    <a:noFill/>
                  </a:tcPr>
                </a:tc>
                <a:tc>
                  <a:txBody>
                    <a:bodyPr/>
                    <a:lstStyle/>
                    <a:p>
                      <a:pPr>
                        <a:buNone/>
                      </a:pPr>
                      <a:r>
                        <a:rPr lang="en-US"/>
                        <a:t>Specific code modifications in the fix</a:t>
                      </a:r>
                      <a:endParaRPr lang="en-US"/>
                    </a:p>
                  </a:txBody>
                  <a:tcPr anchor="ctr">
                    <a:lnL>
                      <a:noFill/>
                    </a:lnL>
                    <a:lnR>
                      <a:noFill/>
                    </a:lnR>
                    <a:lnT>
                      <a:noFill/>
                    </a:lnT>
                    <a:lnB>
                      <a:noFill/>
                    </a:lnB>
                    <a:noFill/>
                  </a:tcPr>
                </a:tc>
                <a:tc>
                  <a:txBody>
                    <a:bodyPr/>
                    <a:lstStyle/>
                    <a:p>
                      <a:pPr>
                        <a:buNone/>
                      </a:pPr>
                      <a:r>
                        <a:rPr lang="en-US" dirty="0" err="1"/>
                        <a:t>strcpy</a:t>
                      </a:r>
                      <a:r>
                        <a:rPr lang="en-US" dirty="0"/>
                        <a:t> → </a:t>
                      </a:r>
                      <a:r>
                        <a:rPr lang="en-US" dirty="0" err="1"/>
                        <a:t>strncpy</a:t>
                      </a:r>
                      <a:endParaRPr lang="en-US" dirty="0"/>
                    </a:p>
                  </a:txBody>
                  <a:tcPr anchor="ctr">
                    <a:lnL>
                      <a:noFill/>
                    </a:lnL>
                    <a:lnR>
                      <a:noFill/>
                    </a:lnR>
                    <a:lnT>
                      <a:noFill/>
                    </a:lnT>
                    <a:lnB>
                      <a:noFill/>
                    </a:lnB>
                    <a:noFill/>
                  </a:tcPr>
                </a:tc>
                <a:tc>
                  <a:txBody>
                    <a:bodyPr/>
                    <a:lstStyle/>
                    <a:p>
                      <a:pPr>
                        <a:buNone/>
                      </a:pPr>
                      <a:r>
                        <a:rPr lang="en-US" dirty="0"/>
                        <a:t>Understand how the vulnerability was fixed</a:t>
                      </a:r>
                      <a:endParaRPr lang="en-US" dirty="0"/>
                    </a:p>
                  </a:txBody>
                  <a:tcPr anchor="ctr">
                    <a:lnL>
                      <a:noFill/>
                    </a:lnL>
                    <a:lnR>
                      <a:noFill/>
                    </a:lnR>
                    <a:lnT>
                      <a:noFill/>
                    </a:lnT>
                    <a:lnB>
                      <a:noFill/>
                    </a:lnB>
                    <a:noFill/>
                  </a:tcPr>
                </a:tc>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5" name="Title 4"/>
          <p:cNvSpPr>
            <a:spLocks noGrp="1"/>
          </p:cNvSpPr>
          <p:nvPr>
            <p:ph type="title"/>
          </p:nvPr>
        </p:nvSpPr>
        <p:spPr/>
        <p:txBody>
          <a:bodyPr/>
          <a:lstStyle/>
          <a:p>
            <a:r>
              <a:rPr lang="en-US" altLang="zh-CN" dirty="0"/>
              <a:t>Code</a:t>
            </a:r>
            <a:r>
              <a:rPr lang="zh-CN" altLang="en-US" dirty="0"/>
              <a:t> </a:t>
            </a:r>
            <a:r>
              <a:rPr lang="en-US" altLang="zh-CN" dirty="0"/>
              <a:t>Representation</a:t>
            </a:r>
            <a:endParaRPr lang="en-US" dirty="0"/>
          </a:p>
        </p:txBody>
      </p:sp>
      <p:sp>
        <p:nvSpPr>
          <p:cNvPr id="7" name="文本框 6"/>
          <p:cNvSpPr txBox="1"/>
          <p:nvPr/>
        </p:nvSpPr>
        <p:spPr>
          <a:xfrm>
            <a:off x="609600" y="1460937"/>
            <a:ext cx="7221689" cy="496996"/>
          </a:xfrm>
          <a:prstGeom prst="rect">
            <a:avLst/>
          </a:prstGeom>
          <a:noFill/>
        </p:spPr>
        <p:txBody>
          <a:bodyPr wrap="square">
            <a:spAutoFit/>
          </a:bodyPr>
          <a:lstStyle/>
          <a:p>
            <a:pPr>
              <a:lnSpc>
                <a:spcPct val="150000"/>
              </a:lnSpc>
            </a:pPr>
            <a:r>
              <a:rPr lang="en-US" altLang="zh-CN" sz="2000" b="1" dirty="0"/>
              <a:t>How</a:t>
            </a:r>
            <a:r>
              <a:rPr lang="zh-CN" altLang="en-US" sz="2000" b="1" dirty="0"/>
              <a:t> </a:t>
            </a:r>
            <a:r>
              <a:rPr lang="en-US" altLang="zh-CN" sz="2000" b="1" dirty="0"/>
              <a:t>Is</a:t>
            </a:r>
            <a:r>
              <a:rPr lang="zh-CN" altLang="en-US" sz="2000" b="1" dirty="0"/>
              <a:t> </a:t>
            </a:r>
            <a:r>
              <a:rPr lang="en-US" altLang="zh-CN" sz="2000" b="1" dirty="0"/>
              <a:t>Code</a:t>
            </a:r>
            <a:r>
              <a:rPr lang="zh-CN" altLang="en-US" sz="2000" b="1" dirty="0"/>
              <a:t> </a:t>
            </a:r>
            <a:r>
              <a:rPr lang="en-US" altLang="zh-CN" sz="2000" b="1" dirty="0"/>
              <a:t>Converted</a:t>
            </a:r>
            <a:r>
              <a:rPr lang="zh-CN" altLang="en-US" sz="2000" b="1" dirty="0"/>
              <a:t> </a:t>
            </a:r>
            <a:r>
              <a:rPr lang="en-US" altLang="zh-CN" sz="2000" b="1" dirty="0"/>
              <a:t>into</a:t>
            </a:r>
            <a:r>
              <a:rPr lang="zh-CN" altLang="en-US" sz="2000" b="1" dirty="0"/>
              <a:t> </a:t>
            </a:r>
            <a:r>
              <a:rPr lang="en-US" altLang="zh-CN" sz="2000" b="1" dirty="0"/>
              <a:t>AI</a:t>
            </a:r>
            <a:r>
              <a:rPr lang="zh-CN" altLang="en-US" sz="2000" b="1" dirty="0"/>
              <a:t> </a:t>
            </a:r>
            <a:r>
              <a:rPr lang="en-US" altLang="zh-CN" sz="2000" b="1" dirty="0"/>
              <a:t>Input?</a:t>
            </a:r>
            <a:endParaRPr lang="en-US" altLang="zh-CN" sz="2000" b="1" dirty="0"/>
          </a:p>
        </p:txBody>
      </p:sp>
      <p:sp>
        <p:nvSpPr>
          <p:cNvPr id="6" name="文本框 5"/>
          <p:cNvSpPr txBox="1"/>
          <p:nvPr/>
        </p:nvSpPr>
        <p:spPr>
          <a:xfrm>
            <a:off x="725951" y="1982318"/>
            <a:ext cx="8507989" cy="2308324"/>
          </a:xfrm>
          <a:prstGeom prst="rect">
            <a:avLst/>
          </a:prstGeom>
          <a:noFill/>
        </p:spPr>
        <p:txBody>
          <a:bodyPr wrap="square">
            <a:spAutoFit/>
          </a:bodyPr>
          <a:lstStyle/>
          <a:p>
            <a:r>
              <a:rPr lang="zh-CN" altLang="en-US" sz="1800" dirty="0"/>
              <a:t>1. Tokenization </a:t>
            </a:r>
            <a:endParaRPr lang="zh-CN" altLang="en-US" sz="1800" dirty="0"/>
          </a:p>
          <a:p>
            <a:r>
              <a:rPr lang="zh-CN" altLang="en-US" sz="1800" dirty="0"/>
              <a:t>   • Use CLexer to parse C code into tokens</a:t>
            </a:r>
            <a:endParaRPr lang="zh-CN" altLang="en-US" sz="1800" dirty="0"/>
          </a:p>
          <a:p>
            <a:r>
              <a:rPr lang="zh-CN" altLang="en-US" sz="1800" dirty="0"/>
              <a:t>   • Remove comments &amp; string literals</a:t>
            </a:r>
            <a:endParaRPr lang="zh-CN" altLang="en-US" sz="1800" dirty="0"/>
          </a:p>
          <a:p>
            <a:r>
              <a:rPr lang="zh-CN" altLang="en-US" sz="1800" dirty="0"/>
              <a:t>   </a:t>
            </a:r>
            <a:endParaRPr lang="zh-CN" altLang="en-US" sz="1800" dirty="0"/>
          </a:p>
          <a:p>
            <a:r>
              <a:rPr lang="zh-CN" altLang="en-US" sz="1800" dirty="0"/>
              <a:t>2. Vocabulary Building </a:t>
            </a:r>
            <a:endParaRPr lang="zh-CN" altLang="en-US" sz="1800" dirty="0"/>
          </a:p>
          <a:p>
            <a:r>
              <a:rPr lang="zh-CN" altLang="en-US" sz="1800" dirty="0"/>
              <a:t>   • 161,622 unique tokens</a:t>
            </a:r>
            <a:endParaRPr lang="zh-CN" altLang="en-US" sz="1800" dirty="0"/>
          </a:p>
          <a:p>
            <a:r>
              <a:rPr lang="zh-CN" altLang="en-US" sz="1800" dirty="0"/>
              <a:t>   • Filter low-frequency tokens (min_freq=5)</a:t>
            </a:r>
            <a:endParaRPr lang="zh-CN" altLang="en-US" sz="1800" dirty="0"/>
          </a:p>
          <a:p>
            <a:r>
              <a:rPr lang="zh-CN" altLang="en-US" sz="1800" dirty="0"/>
              <a:t>   </a:t>
            </a:r>
            <a:endParaRPr lang="zh-CN" altLang="en-US" sz="1800" dirty="0"/>
          </a:p>
        </p:txBody>
      </p:sp>
      <p:sp>
        <p:nvSpPr>
          <p:cNvPr id="10" name="文本框 9"/>
          <p:cNvSpPr txBox="1"/>
          <p:nvPr/>
        </p:nvSpPr>
        <p:spPr>
          <a:xfrm>
            <a:off x="6663128" y="1982318"/>
            <a:ext cx="6100996" cy="2308324"/>
          </a:xfrm>
          <a:prstGeom prst="rect">
            <a:avLst/>
          </a:prstGeom>
          <a:noFill/>
        </p:spPr>
        <p:txBody>
          <a:bodyPr wrap="square">
            <a:spAutoFit/>
          </a:bodyPr>
          <a:lstStyle/>
          <a:p>
            <a:r>
              <a:rPr lang="zh-CN" altLang="en-US" sz="1800" dirty="0"/>
              <a:t>3. Sequence Encoding </a:t>
            </a:r>
            <a:endParaRPr lang="zh-CN" altLang="en-US" sz="1800" dirty="0"/>
          </a:p>
          <a:p>
            <a:r>
              <a:rPr lang="zh-CN" altLang="en-US" sz="1800" dirty="0"/>
              <a:t>   • Token → Integer IDs</a:t>
            </a:r>
            <a:endParaRPr lang="zh-CN" altLang="en-US" sz="1800" dirty="0"/>
          </a:p>
          <a:p>
            <a:r>
              <a:rPr lang="zh-CN" altLang="en-US" sz="1800" dirty="0"/>
              <a:t>   • Fixed length: 300 (padding/truncating)</a:t>
            </a:r>
            <a:endParaRPr lang="zh-CN" altLang="en-US" sz="1800" dirty="0"/>
          </a:p>
          <a:p>
            <a:r>
              <a:rPr lang="zh-CN" altLang="en-US" sz="1800" dirty="0"/>
              <a:t>   • Embedding: ID → 128-dim dense vectors</a:t>
            </a:r>
            <a:endParaRPr lang="zh-CN" altLang="en-US" sz="1800" dirty="0"/>
          </a:p>
          <a:p>
            <a:endParaRPr lang="zh-CN" altLang="en-US" sz="1800" dirty="0"/>
          </a:p>
          <a:p>
            <a:r>
              <a:rPr lang="zh-CN" altLang="en-US" sz="1800" dirty="0"/>
              <a:t>4. Representation Level</a:t>
            </a:r>
            <a:endParaRPr lang="zh-CN" altLang="en-US" sz="1800" dirty="0"/>
          </a:p>
          <a:p>
            <a:r>
              <a:rPr lang="zh-CN" altLang="en-US" sz="1800" dirty="0"/>
              <a:t>   • Function-level granularity</a:t>
            </a:r>
            <a:endParaRPr lang="zh-CN" altLang="en-US" sz="1800" dirty="0"/>
          </a:p>
          <a:p>
            <a:r>
              <a:rPr lang="zh-CN" altLang="en-US" sz="1800" dirty="0"/>
              <a:t>   • Sequential structure preserved</a:t>
            </a:r>
            <a:endParaRPr lang="zh-CN" alt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5" name="Title 4"/>
          <p:cNvSpPr>
            <a:spLocks noGrp="1"/>
          </p:cNvSpPr>
          <p:nvPr>
            <p:ph type="title"/>
          </p:nvPr>
        </p:nvSpPr>
        <p:spPr/>
        <p:txBody>
          <a:bodyPr/>
          <a:lstStyle/>
          <a:p>
            <a:r>
              <a:rPr lang="en-US" altLang="zh-CN" dirty="0"/>
              <a:t>Model</a:t>
            </a:r>
            <a:r>
              <a:rPr lang="zh-CN" altLang="en-US" dirty="0"/>
              <a:t> </a:t>
            </a:r>
            <a:r>
              <a:rPr lang="en-US" altLang="zh-CN" dirty="0"/>
              <a:t>Architecture</a:t>
            </a:r>
            <a:endParaRPr lang="en-US" dirty="0"/>
          </a:p>
        </p:txBody>
      </p:sp>
      <p:sp>
        <p:nvSpPr>
          <p:cNvPr id="7" name="文本框 6"/>
          <p:cNvSpPr txBox="1"/>
          <p:nvPr/>
        </p:nvSpPr>
        <p:spPr>
          <a:xfrm>
            <a:off x="609600" y="1460937"/>
            <a:ext cx="7221689" cy="496996"/>
          </a:xfrm>
          <a:prstGeom prst="rect">
            <a:avLst/>
          </a:prstGeom>
          <a:noFill/>
        </p:spPr>
        <p:txBody>
          <a:bodyPr wrap="square">
            <a:spAutoFit/>
          </a:bodyPr>
          <a:lstStyle/>
          <a:p>
            <a:pPr>
              <a:lnSpc>
                <a:spcPct val="150000"/>
              </a:lnSpc>
            </a:pPr>
            <a:r>
              <a:rPr lang="en-US" altLang="zh-CN" sz="2000" b="1" dirty="0"/>
              <a:t>Why Bi-LSTM + Attention?</a:t>
            </a:r>
            <a:endParaRPr lang="en-US" altLang="zh-CN" sz="2000" b="1" dirty="0"/>
          </a:p>
        </p:txBody>
      </p:sp>
      <p:sp>
        <p:nvSpPr>
          <p:cNvPr id="3" name="文本框 2"/>
          <p:cNvSpPr txBox="1"/>
          <p:nvPr/>
        </p:nvSpPr>
        <p:spPr>
          <a:xfrm>
            <a:off x="609600" y="1796672"/>
            <a:ext cx="8789233" cy="3139321"/>
          </a:xfrm>
          <a:prstGeom prst="rect">
            <a:avLst/>
          </a:prstGeom>
          <a:noFill/>
        </p:spPr>
        <p:txBody>
          <a:bodyPr wrap="square">
            <a:spAutoFit/>
          </a:bodyPr>
          <a:lstStyle/>
          <a:p>
            <a:endParaRPr lang="zh-CN" altLang="en-US" sz="1800" dirty="0"/>
          </a:p>
          <a:p>
            <a:r>
              <a:rPr lang="zh-CN" altLang="en-US" sz="1800" dirty="0"/>
              <a:t>1. Why Sequence Models?</a:t>
            </a:r>
            <a:endParaRPr lang="zh-CN" altLang="en-US" sz="1800" dirty="0"/>
          </a:p>
          <a:p>
            <a:r>
              <a:rPr lang="zh-CN" altLang="en-US" sz="1800" dirty="0"/>
              <a:t>   • Code has syntactic order (like natural language)</a:t>
            </a:r>
            <a:endParaRPr lang="zh-CN" altLang="en-US" sz="1800" dirty="0"/>
          </a:p>
          <a:p>
            <a:r>
              <a:rPr lang="zh-CN" altLang="en-US" sz="1800" dirty="0"/>
              <a:t>   • Dependencies between statements</a:t>
            </a:r>
            <a:endParaRPr lang="zh-CN" altLang="en-US" sz="1800" dirty="0"/>
          </a:p>
          <a:p>
            <a:r>
              <a:rPr lang="zh-CN" altLang="en-US" sz="1800" dirty="0"/>
              <a:t>   • Vulnerability patterns span multiple lines</a:t>
            </a:r>
            <a:endParaRPr lang="zh-CN" altLang="en-US" sz="1800" dirty="0"/>
          </a:p>
          <a:p>
            <a:endParaRPr lang="zh-CN" altLang="en-US" sz="1800" dirty="0"/>
          </a:p>
          <a:p>
            <a:r>
              <a:rPr lang="zh-CN" altLang="en-US" sz="1800" dirty="0"/>
              <a:t>2. Why Bi-LSTM?</a:t>
            </a:r>
            <a:endParaRPr lang="zh-CN" altLang="en-US" sz="1800" dirty="0"/>
          </a:p>
          <a:p>
            <a:r>
              <a:rPr lang="zh-CN" altLang="en-US" sz="1800" dirty="0"/>
              <a:t>   • Forward pass: understand what comes before</a:t>
            </a:r>
            <a:endParaRPr lang="zh-CN" altLang="en-US" sz="1800" dirty="0"/>
          </a:p>
          <a:p>
            <a:r>
              <a:rPr lang="zh-CN" altLang="en-US" sz="1800" dirty="0"/>
              <a:t>   • Backward pass: understand what comes after</a:t>
            </a:r>
            <a:endParaRPr lang="zh-CN" altLang="en-US" sz="1800" dirty="0"/>
          </a:p>
          <a:p>
            <a:r>
              <a:rPr lang="zh-CN" altLang="en-US" sz="1800" dirty="0"/>
              <a:t>   • Example: Variable usage requires both definition &amp; usage context</a:t>
            </a:r>
            <a:endParaRPr lang="zh-CN" altLang="en-US" sz="1800" dirty="0"/>
          </a:p>
          <a:p>
            <a:endParaRPr lang="zh-CN" altLang="en-US" sz="1800" dirty="0"/>
          </a:p>
        </p:txBody>
      </p:sp>
      <p:sp>
        <p:nvSpPr>
          <p:cNvPr id="8" name="文本框 7"/>
          <p:cNvSpPr txBox="1"/>
          <p:nvPr/>
        </p:nvSpPr>
        <p:spPr>
          <a:xfrm>
            <a:off x="7562537" y="2073670"/>
            <a:ext cx="6100996" cy="2585323"/>
          </a:xfrm>
          <a:prstGeom prst="rect">
            <a:avLst/>
          </a:prstGeom>
          <a:noFill/>
        </p:spPr>
        <p:txBody>
          <a:bodyPr wrap="square">
            <a:spAutoFit/>
          </a:bodyPr>
          <a:lstStyle/>
          <a:p>
            <a:r>
              <a:rPr lang="zh-CN" altLang="en-US" sz="1800" dirty="0"/>
              <a:t>3. Why Attention? ⭐ </a:t>
            </a:r>
            <a:endParaRPr lang="zh-CN" altLang="en-US" sz="1800" dirty="0"/>
          </a:p>
          <a:p>
            <a:r>
              <a:rPr lang="zh-CN" altLang="en-US" sz="1800" dirty="0"/>
              <a:t>   • Not all code tokens are equally important</a:t>
            </a:r>
            <a:endParaRPr lang="zh-CN" altLang="en-US" sz="1800" dirty="0"/>
          </a:p>
          <a:p>
            <a:r>
              <a:rPr lang="zh-CN" altLang="en-US" sz="1800" dirty="0"/>
              <a:t>   • Focus on vulnerability-critical patterns</a:t>
            </a:r>
            <a:endParaRPr lang="zh-CN" altLang="en-US" sz="1800" dirty="0"/>
          </a:p>
          <a:p>
            <a:r>
              <a:rPr lang="zh-CN" altLang="en-US" sz="1800" dirty="0"/>
              <a:t>   • Automatically weight relevant tokens</a:t>
            </a:r>
            <a:endParaRPr lang="zh-CN" altLang="en-US" sz="1800" dirty="0"/>
          </a:p>
          <a:p>
            <a:endParaRPr lang="zh-CN" altLang="en-US" sz="1800" dirty="0"/>
          </a:p>
          <a:p>
            <a:r>
              <a:rPr lang="zh-CN" altLang="en-US" sz="1800" dirty="0"/>
              <a:t>4. NLP Analogy</a:t>
            </a:r>
            <a:endParaRPr lang="zh-CN" altLang="en-US" sz="1800" dirty="0"/>
          </a:p>
          <a:p>
            <a:r>
              <a:rPr lang="zh-CN" altLang="en-US" sz="1800" dirty="0"/>
              <a:t>   • Code = Structured language</a:t>
            </a:r>
            <a:endParaRPr lang="zh-CN" altLang="en-US" sz="1800" dirty="0"/>
          </a:p>
          <a:p>
            <a:r>
              <a:rPr lang="zh-CN" altLang="en-US" sz="1800" dirty="0"/>
              <a:t>   • Tokens = Words</a:t>
            </a:r>
            <a:endParaRPr lang="zh-CN" altLang="en-US" sz="1800" dirty="0"/>
          </a:p>
          <a:p>
            <a:r>
              <a:rPr lang="zh-CN" altLang="en-US" sz="1800" dirty="0"/>
              <a:t>   • Functions = Sentences/Paragraphs</a:t>
            </a:r>
            <a:endParaRPr lang="zh-CN" alt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3" name="Google Shape;93;p5"/>
          <p:cNvSpPr txBox="1">
            <a:spLocks noGrp="1"/>
          </p:cNvSpPr>
          <p:nvPr>
            <p:ph type="sldNum" idx="12"/>
          </p:nvPr>
        </p:nvSpPr>
        <p:spPr>
          <a:xfrm>
            <a:off x="1" y="6387664"/>
            <a:ext cx="609600" cy="394136"/>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None/>
            </a:pPr>
            <a:fld id="{00000000-1234-1234-1234-123412341234}" type="slidenum">
              <a:rPr lang="en-US"/>
            </a:fld>
            <a:endParaRPr lang="en-US"/>
          </a:p>
        </p:txBody>
      </p:sp>
      <p:sp>
        <p:nvSpPr>
          <p:cNvPr id="5" name="Title 4"/>
          <p:cNvSpPr>
            <a:spLocks noGrp="1"/>
          </p:cNvSpPr>
          <p:nvPr>
            <p:ph type="title"/>
          </p:nvPr>
        </p:nvSpPr>
        <p:spPr/>
        <p:txBody>
          <a:bodyPr/>
          <a:lstStyle/>
          <a:p>
            <a:r>
              <a:rPr lang="en-US" altLang="zh-CN" dirty="0"/>
              <a:t>Hands-on</a:t>
            </a:r>
            <a:r>
              <a:rPr lang="zh-CN" altLang="en-US" dirty="0"/>
              <a:t> </a:t>
            </a:r>
            <a:r>
              <a:rPr lang="en-US" altLang="zh-CN" dirty="0"/>
              <a:t>Task</a:t>
            </a:r>
            <a:endParaRPr lang="en-US" dirty="0"/>
          </a:p>
        </p:txBody>
      </p:sp>
      <p:sp>
        <p:nvSpPr>
          <p:cNvPr id="4" name="文本框 3"/>
          <p:cNvSpPr txBox="1"/>
          <p:nvPr/>
        </p:nvSpPr>
        <p:spPr>
          <a:xfrm>
            <a:off x="609600" y="1337633"/>
            <a:ext cx="6100996" cy="1703030"/>
          </a:xfrm>
          <a:prstGeom prst="rect">
            <a:avLst/>
          </a:prstGeom>
          <a:noFill/>
        </p:spPr>
        <p:txBody>
          <a:bodyPr wrap="square">
            <a:spAutoFit/>
          </a:bodyPr>
          <a:lstStyle/>
          <a:p>
            <a:pPr>
              <a:lnSpc>
                <a:spcPct val="150000"/>
              </a:lnSpc>
              <a:buNone/>
            </a:pPr>
            <a:r>
              <a:rPr lang="en-US" altLang="zh-CN" sz="1800" b="1" dirty="0"/>
              <a:t>Task 1: Explore the Dataset</a:t>
            </a:r>
            <a:endParaRPr lang="en-US" altLang="zh-CN" sz="1800" b="1" dirty="0"/>
          </a:p>
          <a:p>
            <a:pPr>
              <a:lnSpc>
                <a:spcPct val="150000"/>
              </a:lnSpc>
            </a:pPr>
            <a:r>
              <a:rPr lang="en-US" altLang="zh-CN" sz="1800" b="1" dirty="0"/>
              <a:t>Task 2: Train the Model</a:t>
            </a:r>
            <a:endParaRPr lang="en-US" altLang="zh-CN" sz="1800" b="1" dirty="0"/>
          </a:p>
          <a:p>
            <a:pPr>
              <a:lnSpc>
                <a:spcPct val="150000"/>
              </a:lnSpc>
            </a:pPr>
            <a:r>
              <a:rPr lang="en-US" altLang="zh-CN" sz="1800" b="1" dirty="0"/>
              <a:t>Task 3: Make Predictions</a:t>
            </a:r>
            <a:endParaRPr lang="en-US" altLang="zh-CN" sz="1800" b="1" dirty="0"/>
          </a:p>
          <a:p>
            <a:pPr>
              <a:lnSpc>
                <a:spcPct val="150000"/>
              </a:lnSpc>
              <a:buNone/>
            </a:pPr>
            <a:endParaRPr lang="en-US" altLang="zh-CN" sz="1800" b="1" dirty="0"/>
          </a:p>
        </p:txBody>
      </p:sp>
      <p:sp>
        <p:nvSpPr>
          <p:cNvPr id="9" name="文本框 8"/>
          <p:cNvSpPr txBox="1"/>
          <p:nvPr/>
        </p:nvSpPr>
        <p:spPr>
          <a:xfrm>
            <a:off x="609600" y="3023333"/>
            <a:ext cx="6100996" cy="1702967"/>
          </a:xfrm>
          <a:prstGeom prst="rect">
            <a:avLst/>
          </a:prstGeom>
          <a:noFill/>
        </p:spPr>
        <p:txBody>
          <a:bodyPr wrap="square">
            <a:spAutoFit/>
          </a:bodyPr>
          <a:lstStyle/>
          <a:p>
            <a:pPr>
              <a:lnSpc>
                <a:spcPct val="150000"/>
              </a:lnSpc>
              <a:buNone/>
            </a:pPr>
            <a:r>
              <a:rPr lang="en-US" altLang="zh-CN" sz="1800" b="1" dirty="0"/>
              <a:t>Task 1: Explore the Dataset</a:t>
            </a:r>
            <a:endParaRPr lang="en-US" altLang="zh-CN" sz="1800" b="1" dirty="0"/>
          </a:p>
          <a:p>
            <a:pPr marL="285750" indent="-285750">
              <a:lnSpc>
                <a:spcPct val="150000"/>
              </a:lnSpc>
              <a:buFont typeface="Arial" panose="020B0604020202090204" pitchFamily="34" charset="0"/>
              <a:buChar char="•"/>
            </a:pPr>
            <a:r>
              <a:rPr lang="en-US" altLang="zh-CN" sz="1800" dirty="0"/>
              <a:t>Inspect input features</a:t>
            </a:r>
            <a:endParaRPr lang="en-US" altLang="zh-CN" sz="1800" dirty="0"/>
          </a:p>
          <a:p>
            <a:pPr marL="285750" indent="-285750">
              <a:lnSpc>
                <a:spcPct val="150000"/>
              </a:lnSpc>
              <a:buFont typeface="Arial" panose="020B0604020202090204" pitchFamily="34" charset="0"/>
              <a:buChar char="•"/>
            </a:pPr>
            <a:r>
              <a:rPr lang="en-US" altLang="zh-CN" sz="1800" dirty="0"/>
              <a:t>Understand labels</a:t>
            </a:r>
            <a:endParaRPr lang="en-US" altLang="zh-CN" sz="1800" dirty="0"/>
          </a:p>
          <a:p>
            <a:pPr marL="285750" indent="-285750">
              <a:lnSpc>
                <a:spcPct val="150000"/>
              </a:lnSpc>
              <a:buFont typeface="Arial" panose="020B0604020202090204" pitchFamily="34" charset="0"/>
              <a:buChar char="•"/>
            </a:pPr>
            <a:r>
              <a:rPr lang="en-US" altLang="zh-CN" sz="1800" dirty="0"/>
              <a:t>Observe data imbalance</a:t>
            </a:r>
            <a:endParaRPr lang="en-US" altLang="zh-CN" sz="1800" dirty="0"/>
          </a:p>
        </p:txBody>
      </p:sp>
      <p:sp>
        <p:nvSpPr>
          <p:cNvPr id="11" name="文本框 10"/>
          <p:cNvSpPr txBox="1"/>
          <p:nvPr/>
        </p:nvSpPr>
        <p:spPr>
          <a:xfrm>
            <a:off x="4444584" y="3023333"/>
            <a:ext cx="4129790" cy="1702967"/>
          </a:xfrm>
          <a:prstGeom prst="rect">
            <a:avLst/>
          </a:prstGeom>
          <a:noFill/>
        </p:spPr>
        <p:txBody>
          <a:bodyPr wrap="square">
            <a:spAutoFit/>
          </a:bodyPr>
          <a:lstStyle/>
          <a:p>
            <a:pPr>
              <a:lnSpc>
                <a:spcPct val="150000"/>
              </a:lnSpc>
              <a:buNone/>
            </a:pPr>
            <a:r>
              <a:rPr lang="en-US" altLang="zh-CN" sz="1800" b="1" dirty="0"/>
              <a:t>Task 2: Train the Model</a:t>
            </a:r>
            <a:endParaRPr lang="en-US" altLang="zh-CN" sz="1800" b="1" dirty="0"/>
          </a:p>
          <a:p>
            <a:pPr marL="285750" indent="-285750">
              <a:lnSpc>
                <a:spcPct val="150000"/>
              </a:lnSpc>
              <a:buFont typeface="Arial" panose="020B0604020202090204" pitchFamily="34" charset="0"/>
              <a:buChar char="•"/>
            </a:pPr>
            <a:r>
              <a:rPr lang="en-US" altLang="zh-CN" sz="1800" dirty="0"/>
              <a:t>Run training cells</a:t>
            </a:r>
            <a:endParaRPr lang="en-US" altLang="zh-CN" sz="1800" dirty="0"/>
          </a:p>
          <a:p>
            <a:pPr marL="285750" indent="-285750">
              <a:lnSpc>
                <a:spcPct val="150000"/>
              </a:lnSpc>
              <a:buFont typeface="Arial" panose="020B0604020202090204" pitchFamily="34" charset="0"/>
              <a:buChar char="•"/>
            </a:pPr>
            <a:r>
              <a:rPr lang="en-US" altLang="zh-CN" sz="1800" dirty="0"/>
              <a:t>Observe loss and accuracy</a:t>
            </a:r>
            <a:endParaRPr lang="en-US" altLang="zh-CN" sz="1800" dirty="0"/>
          </a:p>
          <a:p>
            <a:pPr marL="285750" indent="-285750">
              <a:lnSpc>
                <a:spcPct val="150000"/>
              </a:lnSpc>
              <a:buFont typeface="Arial" panose="020B0604020202090204" pitchFamily="34" charset="0"/>
              <a:buChar char="•"/>
            </a:pPr>
            <a:r>
              <a:rPr lang="en-US" altLang="zh-CN" sz="1800" dirty="0"/>
              <a:t>Compare train vs validation</a:t>
            </a:r>
            <a:endParaRPr lang="en-US" altLang="zh-CN" sz="1800" dirty="0"/>
          </a:p>
        </p:txBody>
      </p:sp>
      <p:sp>
        <p:nvSpPr>
          <p:cNvPr id="13" name="文本框 12"/>
          <p:cNvSpPr txBox="1"/>
          <p:nvPr/>
        </p:nvSpPr>
        <p:spPr>
          <a:xfrm>
            <a:off x="8147152" y="3040663"/>
            <a:ext cx="6100996" cy="871970"/>
          </a:xfrm>
          <a:prstGeom prst="rect">
            <a:avLst/>
          </a:prstGeom>
          <a:noFill/>
        </p:spPr>
        <p:txBody>
          <a:bodyPr wrap="square">
            <a:spAutoFit/>
          </a:bodyPr>
          <a:lstStyle/>
          <a:p>
            <a:pPr>
              <a:lnSpc>
                <a:spcPct val="150000"/>
              </a:lnSpc>
              <a:buNone/>
            </a:pPr>
            <a:r>
              <a:rPr lang="en-US" altLang="zh-CN" sz="1800" b="1" dirty="0"/>
              <a:t>Task 3: Make Predictions</a:t>
            </a:r>
            <a:endParaRPr lang="en-US" altLang="zh-CN" sz="1800" b="1" dirty="0"/>
          </a:p>
          <a:p>
            <a:pPr marL="285750" indent="-285750">
              <a:lnSpc>
                <a:spcPct val="150000"/>
              </a:lnSpc>
              <a:buFont typeface="Arial" panose="020B0604020202090204" pitchFamily="34" charset="0"/>
              <a:buChar char="•"/>
            </a:pPr>
            <a:r>
              <a:rPr lang="en-US" altLang="zh-CN" sz="1800" dirty="0"/>
              <a:t>Test on unseen samples</a:t>
            </a:r>
            <a:endParaRPr lang="en-US" altLang="zh-CN" sz="18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g1b23d1e9efb_0_31"/>
          <p:cNvSpPr txBox="1"/>
          <p:nvPr/>
        </p:nvSpPr>
        <p:spPr>
          <a:xfrm>
            <a:off x="609600" y="2523250"/>
            <a:ext cx="5616000" cy="990600"/>
          </a:xfrm>
          <a:prstGeom prst="rect">
            <a:avLst/>
          </a:prstGeom>
          <a:noFill/>
          <a:ln>
            <a:noFill/>
          </a:ln>
        </p:spPr>
        <p:txBody>
          <a:bodyPr spcFirstLastPara="1" wrap="square" lIns="91425" tIns="45700" rIns="91425" bIns="45700" anchor="b" anchorCtr="0">
            <a:noAutofit/>
          </a:bodyPr>
          <a:lstStyle/>
          <a:p>
            <a:pPr marL="0" marR="0" lvl="0" indent="0" algn="l" rtl="0">
              <a:spcBef>
                <a:spcPts val="0"/>
              </a:spcBef>
              <a:spcAft>
                <a:spcPts val="0"/>
              </a:spcAft>
              <a:buClr>
                <a:schemeClr val="lt1"/>
              </a:buClr>
              <a:buSzPts val="4000"/>
              <a:buFont typeface="Verdana" panose="020B0804030504040204"/>
              <a:buNone/>
            </a:pPr>
            <a:r>
              <a:rPr lang="en-US" sz="4000" b="1">
                <a:solidFill>
                  <a:schemeClr val="lt1"/>
                </a:solidFill>
                <a:latin typeface="Verdana" panose="020B0804030504040204"/>
                <a:ea typeface="Verdana" panose="020B0804030504040204"/>
                <a:cs typeface="Verdana" panose="020B0804030504040204"/>
                <a:sym typeface="Verdana" panose="020B0804030504040204"/>
              </a:rPr>
              <a:t>End</a:t>
            </a:r>
            <a:endParaRPr sz="4000" b="1">
              <a:solidFill>
                <a:schemeClr val="lt1"/>
              </a:solidFill>
              <a:latin typeface="Verdana" panose="020B0804030504040204"/>
              <a:ea typeface="Verdana" panose="020B0804030504040204"/>
              <a:cs typeface="Verdana" panose="020B0804030504040204"/>
              <a:sym typeface="Verdana" panose="020B0804030504040204"/>
            </a:endParaRPr>
          </a:p>
        </p:txBody>
      </p:sp>
      <p:sp>
        <p:nvSpPr>
          <p:cNvPr id="206" name="Google Shape;206;g1b23d1e9efb_0_31"/>
          <p:cNvSpPr txBox="1">
            <a:spLocks noGrp="1"/>
          </p:cNvSpPr>
          <p:nvPr>
            <p:ph type="subTitle" idx="1"/>
          </p:nvPr>
        </p:nvSpPr>
        <p:spPr>
          <a:xfrm>
            <a:off x="723900" y="3766825"/>
            <a:ext cx="9144000" cy="2121600"/>
          </a:xfrm>
          <a:prstGeom prst="rect">
            <a:avLst/>
          </a:prstGeom>
          <a:noFill/>
          <a:ln>
            <a:noFill/>
          </a:ln>
        </p:spPr>
        <p:txBody>
          <a:bodyPr spcFirstLastPara="1" wrap="square" lIns="91425" tIns="45700" rIns="91425" bIns="45700" anchor="t" anchorCtr="0">
            <a:normAutofit/>
          </a:bodyPr>
          <a:lstStyle/>
          <a:p>
            <a:pPr marL="0" lvl="0" indent="0" algn="l" rtl="0">
              <a:lnSpc>
                <a:spcPct val="95000"/>
              </a:lnSpc>
              <a:spcBef>
                <a:spcPts val="0"/>
              </a:spcBef>
              <a:spcAft>
                <a:spcPts val="0"/>
              </a:spcAft>
              <a:buSzPts val="2800"/>
              <a:buNone/>
            </a:pPr>
            <a:endParaRPr dirty="0"/>
          </a:p>
        </p:txBody>
      </p:sp>
    </p:spTree>
  </p:cSld>
  <p:clrMapOvr>
    <a:masterClrMapping/>
  </p:clrMapOvr>
</p:sld>
</file>

<file path=ppt/theme/theme1.xml><?xml version="1.0" encoding="utf-8"?>
<a:theme xmlns:a="http://schemas.openxmlformats.org/drawingml/2006/main" name="WPI-White">
  <a:themeElements>
    <a:clrScheme name="Custom 56">
      <a:dk1>
        <a:srgbClr val="000000"/>
      </a:dk1>
      <a:lt1>
        <a:srgbClr val="FFFFFF"/>
      </a:lt1>
      <a:dk2>
        <a:srgbClr val="6D6D6D"/>
      </a:dk2>
      <a:lt2>
        <a:srgbClr val="AB192D"/>
      </a:lt2>
      <a:accent1>
        <a:srgbClr val="AB192D"/>
      </a:accent1>
      <a:accent2>
        <a:srgbClr val="B2B7BB"/>
      </a:accent2>
      <a:accent3>
        <a:srgbClr val="2C6A8C"/>
      </a:accent3>
      <a:accent4>
        <a:srgbClr val="B7A079"/>
      </a:accent4>
      <a:accent5>
        <a:srgbClr val="46A0DC"/>
      </a:accent5>
      <a:accent6>
        <a:srgbClr val="6D6D6D"/>
      </a:accent6>
      <a:hlink>
        <a:srgbClr val="46A0DC"/>
      </a:hlink>
      <a:folHlink>
        <a:srgbClr val="808D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4739</Words>
  <Application>WPS 演示</Application>
  <PresentationFormat>宽屏</PresentationFormat>
  <Paragraphs>306</Paragraphs>
  <Slides>27</Slides>
  <Notes>25</Notes>
  <HiddenSlides>0</HiddenSlides>
  <MMClips>0</MMClips>
  <ScaleCrop>false</ScaleCrop>
  <HeadingPairs>
    <vt:vector size="6" baseType="variant">
      <vt:variant>
        <vt:lpstr>已用的字体</vt:lpstr>
      </vt:variant>
      <vt:variant>
        <vt:i4>18</vt:i4>
      </vt:variant>
      <vt:variant>
        <vt:lpstr>主题</vt:lpstr>
      </vt:variant>
      <vt:variant>
        <vt:i4>1</vt:i4>
      </vt:variant>
      <vt:variant>
        <vt:lpstr>幻灯片标题</vt:lpstr>
      </vt:variant>
      <vt:variant>
        <vt:i4>27</vt:i4>
      </vt:variant>
    </vt:vector>
  </HeadingPairs>
  <TitlesOfParts>
    <vt:vector size="46" baseType="lpstr">
      <vt:lpstr>Arial</vt:lpstr>
      <vt:lpstr>宋体</vt:lpstr>
      <vt:lpstr>Wingdings</vt:lpstr>
      <vt:lpstr>Arial</vt:lpstr>
      <vt:lpstr>Verdana</vt:lpstr>
      <vt:lpstr>Noto Sans Symbols</vt:lpstr>
      <vt:lpstr>Thonburi</vt:lpstr>
      <vt:lpstr>Courier New</vt:lpstr>
      <vt:lpstr>Times New Roman</vt:lpstr>
      <vt:lpstr>Calibri</vt:lpstr>
      <vt:lpstr>Helvetica Neue</vt:lpstr>
      <vt:lpstr>Helvetica</vt:lpstr>
      <vt:lpstr>微软雅黑</vt:lpstr>
      <vt:lpstr>汉仪旗黑</vt:lpstr>
      <vt:lpstr>宋体</vt:lpstr>
      <vt:lpstr>Arial Unicode MS</vt:lpstr>
      <vt:lpstr>宋体-简</vt:lpstr>
      <vt:lpstr>Apple Color Emoji</vt:lpstr>
      <vt:lpstr>WPI-White</vt:lpstr>
      <vt:lpstr>     AI-assisted Intrusion Detection  </vt:lpstr>
      <vt:lpstr>Content</vt:lpstr>
      <vt:lpstr>What system logs look like</vt:lpstr>
      <vt:lpstr>What system logs look like</vt:lpstr>
      <vt:lpstr>What system logs look like</vt:lpstr>
      <vt:lpstr>Limitaion of traditional method</vt:lpstr>
      <vt:lpstr>Limitaion of traditional method</vt:lpstr>
      <vt:lpstr>How machine learning method helps IDS</vt:lpstr>
      <vt:lpstr>Hands on experiments</vt:lpstr>
      <vt:lpstr>     AI-assisted Binary Fuzzing  </vt:lpstr>
      <vt:lpstr>Content</vt:lpstr>
      <vt:lpstr>How code works during execution</vt:lpstr>
      <vt:lpstr>How code works during execution</vt:lpstr>
      <vt:lpstr>How code works during execution</vt:lpstr>
      <vt:lpstr>Why dynamic detection method as fuzzing matters</vt:lpstr>
      <vt:lpstr>Why dynamic detection method as fuzzing matters</vt:lpstr>
      <vt:lpstr>Why dynamic detection method as fuzzing matters</vt:lpstr>
      <vt:lpstr>How LLMs helps fuzzing</vt:lpstr>
      <vt:lpstr>Hands on experiments</vt:lpstr>
      <vt:lpstr>Hands on experiments</vt:lpstr>
      <vt:lpstr>     AI-assisted Code Vulnerability Detection   </vt:lpstr>
      <vt:lpstr>Why do we need Vulnerability Detection</vt:lpstr>
      <vt:lpstr>Task Definition</vt:lpstr>
      <vt:lpstr>Code Representation</vt:lpstr>
      <vt:lpstr>Model Architecture</vt:lpstr>
      <vt:lpstr>Hands-on Task</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LR</dc:title>
  <dc:creator>Melissa</dc:creator>
  <cp:lastModifiedBy>mcfly</cp:lastModifiedBy>
  <cp:revision>67</cp:revision>
  <dcterms:created xsi:type="dcterms:W3CDTF">2026-01-09T14:03:35Z</dcterms:created>
  <dcterms:modified xsi:type="dcterms:W3CDTF">2026-01-09T14:03:35Z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A14C5E5559674A13B70A6169CAA914C6_43</vt:lpwstr>
  </property>
  <property fmtid="{D5CDD505-2E9C-101B-9397-08002B2CF9AE}" pid="3" name="KSOProductBuildVer">
    <vt:lpwstr>2052-6.10.0.8196</vt:lpwstr>
  </property>
</Properties>
</file>