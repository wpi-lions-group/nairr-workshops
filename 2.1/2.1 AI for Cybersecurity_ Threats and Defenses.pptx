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embeddedFontLst>
    <p:embeddedFont>
      <p:font typeface="Helvetica Neue"/>
      <p:regular r:id="rId56"/>
      <p:bold r:id="rId57"/>
      <p:italic r:id="rId58"/>
      <p:boldItalic r:id="rId59"/>
    </p:embeddedFont>
    <p:embeddedFont>
      <p:font typeface="Roboto Mono"/>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4" roundtripDataSignature="AMtx7mjPa8q6onU0aDysb4BPZmMdIJOW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68FC2B-AFB1-4F07-8A4D-405918A23FD0}">
  <a:tblStyle styleId="{F368FC2B-AFB1-4F07-8A4D-405918A23FD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ono-italic.fntdata"/><Relationship Id="rId61" Type="http://schemas.openxmlformats.org/officeDocument/2006/relationships/font" Target="fonts/RobotoMono-bold.fntdata"/><Relationship Id="rId20" Type="http://schemas.openxmlformats.org/officeDocument/2006/relationships/slide" Target="slides/slide14.xml"/><Relationship Id="rId64" Type="http://customschemas.google.com/relationships/presentationmetadata" Target="metadata"/><Relationship Id="rId63" Type="http://schemas.openxmlformats.org/officeDocument/2006/relationships/font" Target="fonts/RobotoMon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Mono-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HelveticaNeue-bold.fntdata"/><Relationship Id="rId12" Type="http://schemas.openxmlformats.org/officeDocument/2006/relationships/slide" Target="slides/slide6.xml"/><Relationship Id="rId56" Type="http://schemas.openxmlformats.org/officeDocument/2006/relationships/font" Target="fonts/HelveticaNeue-regular.fntdata"/><Relationship Id="rId15" Type="http://schemas.openxmlformats.org/officeDocument/2006/relationships/slide" Target="slides/slide9.xml"/><Relationship Id="rId59" Type="http://schemas.openxmlformats.org/officeDocument/2006/relationships/font" Target="fonts/HelveticaNeue-boldItalic.fntdata"/><Relationship Id="rId14" Type="http://schemas.openxmlformats.org/officeDocument/2006/relationships/slide" Target="slides/slide8.xml"/><Relationship Id="rId58" Type="http://schemas.openxmlformats.org/officeDocument/2006/relationships/font" Target="fonts/HelveticaNeue-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139700" rtl="0" algn="l">
              <a:lnSpc>
                <a:spcPct val="115000"/>
              </a:lnSpc>
              <a:spcBef>
                <a:spcPts val="0"/>
              </a:spcBef>
              <a:spcAft>
                <a:spcPts val="0"/>
              </a:spcAft>
              <a:buClr>
                <a:schemeClr val="dk1"/>
              </a:buClr>
              <a:buSzPts val="1100"/>
              <a:buFont typeface="Arial"/>
              <a:buNone/>
            </a:pPr>
            <a:r>
              <a:rPr lang="zh-CN" sz="1050">
                <a:solidFill>
                  <a:srgbClr val="0E0E0E"/>
                </a:solidFill>
              </a:rPr>
              <a:t>Good morning everyone,</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zh-CN" sz="1050">
                <a:solidFill>
                  <a:srgbClr val="0E0E0E"/>
                </a:solidFill>
              </a:rPr>
              <a:t>welcome to the NAIRR Workshop Series on Cybersecurity, Edge AI, and Autonomous Driving.</a:t>
            </a:r>
            <a:endParaRPr sz="1050">
              <a:solidFill>
                <a:srgbClr val="0E0E0E"/>
              </a:solidFill>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66" name="Google Shape;6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6d4a5dad6_3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g396d4a5dad6_3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zh-CN" sz="1050">
                <a:solidFill>
                  <a:srgbClr val="0E0E0E"/>
                </a:solidFill>
              </a:rPr>
              <a:t>Before we begin, let me briefly introduce our group.</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zh-CN" sz="1050">
                <a:solidFill>
                  <a:srgbClr val="0E0E0E"/>
                </a:solidFill>
              </a:rPr>
              <a:t>We are part of the Lions Group at Worcester Polytechnic Institute, led by Prof. Jun Dai and Prof. Xiaoyan Sun.</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zh-CN" sz="1050">
                <a:solidFill>
                  <a:srgbClr val="0E0E0E"/>
                </a:solidFill>
              </a:rPr>
              <a:t>Our group focuses on research in cybersecurity and AI.</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sz="1050">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zh-CN" sz="1050">
                <a:solidFill>
                  <a:srgbClr val="0E0E0E"/>
                </a:solidFill>
              </a:rPr>
              <a:t>This work is a collaborative effort among members of the group.</a:t>
            </a:r>
            <a:endParaRPr sz="1050">
              <a:solidFill>
                <a:srgbClr val="0E0E0E"/>
              </a:solidFill>
            </a:endParaRPr>
          </a:p>
          <a:p>
            <a:pPr indent="0" lvl="0" marL="0" rtl="0" algn="l">
              <a:lnSpc>
                <a:spcPct val="100000"/>
              </a:lnSpc>
              <a:spcBef>
                <a:spcPts val="0"/>
              </a:spcBef>
              <a:spcAft>
                <a:spcPts val="0"/>
              </a:spcAft>
              <a:buSzPts val="1100"/>
              <a:buNone/>
            </a:pPr>
            <a:r>
              <a:t/>
            </a:r>
            <a:endParaRPr/>
          </a:p>
        </p:txBody>
      </p:sp>
      <p:sp>
        <p:nvSpPr>
          <p:cNvPr id="80" name="Google Shape;8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02" name="Google Shape;1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solidFill>
                  <a:schemeClr val="dk1"/>
                </a:solidFill>
              </a:rPr>
              <a:t>An </a:t>
            </a:r>
            <a:r>
              <a:rPr b="1" lang="zh-CN">
                <a:solidFill>
                  <a:schemeClr val="dk1"/>
                </a:solidFill>
              </a:rPr>
              <a:t>Intrusion Detection System (IDS)</a:t>
            </a:r>
            <a:r>
              <a:rPr lang="zh-CN">
                <a:solidFill>
                  <a:schemeClr val="dk1"/>
                </a:solidFill>
              </a:rPr>
              <a:t> is a security technology designed to monitor network traffic or system activities for malicious activities or policy violations. Unlike a firewall, which acts as a gatekeeper to prevent unauthorized access, an IDS functions like a security camera and alarm system, analyzing internal and external patterns to identify threats that may have already bypassed initial defenses.</a:t>
            </a:r>
            <a:endParaRPr b="0" i="0" sz="1200" u="none" cap="none" strike="noStrike">
              <a:solidFill>
                <a:schemeClr val="dk1"/>
              </a:solidFill>
              <a:latin typeface="Calibri"/>
              <a:ea typeface="Calibri"/>
              <a:cs typeface="Calibri"/>
              <a:sym typeface="Calibri"/>
            </a:endParaRPr>
          </a:p>
        </p:txBody>
      </p:sp>
      <p:sp>
        <p:nvSpPr>
          <p:cNvPr id="115" name="Google Shape;11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0" name="Google Shape;12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9" name="Google Shape;12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solidFill>
                  <a:schemeClr val="dk1"/>
                </a:solidFill>
              </a:rPr>
              <a:t>"When we talk about monitoring a system, we often see clean dashboards or high-level summaries. But this is what the 'truth' looks like at the ground level. These are </a:t>
            </a:r>
            <a:r>
              <a:rPr b="1" lang="zh-CN">
                <a:solidFill>
                  <a:schemeClr val="dk1"/>
                </a:solidFill>
              </a:rPr>
              <a:t>raw system-level logs</a:t>
            </a:r>
            <a:r>
              <a:rPr lang="zh-CN">
                <a:solidFill>
                  <a:schemeClr val="dk1"/>
                </a:solidFill>
              </a:rPr>
              <a:t>—unstructured, dense, and captured directly from the kernel using tools like Falco or modern BPF probes."</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rPr lang="zh-CN">
                <a:solidFill>
                  <a:schemeClr val="dk1"/>
                </a:solidFill>
              </a:rPr>
              <a:t>"The first few lines show the environment setup: initializing buffers, loading event sources, and detecting CPUs. But the real action starts in the bottom half. These are records of </a:t>
            </a:r>
            <a:r>
              <a:rPr b="1" lang="zh-CN">
                <a:solidFill>
                  <a:schemeClr val="dk1"/>
                </a:solidFill>
              </a:rPr>
              <a:t>System Calls (syscalls)</a:t>
            </a:r>
            <a:r>
              <a:rPr lang="zh-CN">
                <a:solidFill>
                  <a:schemeClr val="dk1"/>
                </a:solidFill>
              </a:rPr>
              <a:t>. Every time a program wants to talk to the network, open a file, or create a new process, it must ask the kernel. That request is what we see captured here."</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3. Deep Dive: Anatomy of a Log Entry (The </a:t>
            </a:r>
            <a:r>
              <a:rPr b="1" lang="zh-CN" sz="1300">
                <a:solidFill>
                  <a:srgbClr val="188038"/>
                </a:solidFill>
                <a:latin typeface="Roboto Mono"/>
                <a:ea typeface="Roboto Mono"/>
                <a:cs typeface="Roboto Mono"/>
                <a:sym typeface="Roboto Mono"/>
              </a:rPr>
              <a:t>accept</a:t>
            </a:r>
            <a:r>
              <a:rPr b="1" lang="zh-CN" sz="1300">
                <a:solidFill>
                  <a:schemeClr val="dk1"/>
                </a:solidFill>
              </a:rPr>
              <a:t> Example)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"Let’s look at the line starting with </a:t>
            </a:r>
            <a:r>
              <a:rPr lang="zh-CN">
                <a:solidFill>
                  <a:srgbClr val="188038"/>
                </a:solidFill>
                <a:latin typeface="Roboto Mono"/>
                <a:ea typeface="Roboto Mono"/>
                <a:cs typeface="Roboto Mono"/>
                <a:sym typeface="Roboto Mono"/>
              </a:rPr>
              <a:t>20:23:15... Syscall:accept</a:t>
            </a:r>
            <a:r>
              <a:rPr lang="zh-CN">
                <a:solidFill>
                  <a:schemeClr val="dk1"/>
                </a:solidFill>
              </a:rPr>
              <a:t>. To a human, it looks like alphabet soup. To a security or DevOps engineer, it’s a detailed story. Let’s break down what one single log entry tells us:"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a:solidFill>
                  <a:schemeClr val="dk1"/>
                </a:solidFill>
              </a:rPr>
              <a:t>A. The 'When' and 'Who' (Context)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Timestamp:</a:t>
            </a:r>
            <a:r>
              <a:rPr lang="zh-CN">
                <a:solidFill>
                  <a:schemeClr val="dk1"/>
                </a:solidFill>
              </a:rPr>
              <a:t> </a:t>
            </a:r>
            <a:r>
              <a:rPr lang="zh-CN">
                <a:solidFill>
                  <a:srgbClr val="188038"/>
                </a:solidFill>
                <a:latin typeface="Roboto Mono"/>
                <a:ea typeface="Roboto Mono"/>
                <a:cs typeface="Roboto Mono"/>
                <a:sym typeface="Roboto Mono"/>
              </a:rPr>
              <a:t>20:23:15.597...</a:t>
            </a:r>
            <a:r>
              <a:rPr lang="zh-CN">
                <a:solidFill>
                  <a:schemeClr val="dk1"/>
                </a:solidFill>
              </a:rPr>
              <a:t> – Precise down to the microsecond. In high-speed systems, this precision is vital for correlating events.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Process Name:</a:t>
            </a:r>
            <a:r>
              <a:rPr lang="zh-CN">
                <a:solidFill>
                  <a:schemeClr val="dk1"/>
                </a:solidFill>
              </a:rPr>
              <a:t> </a:t>
            </a:r>
            <a:r>
              <a:rPr lang="zh-CN">
                <a:solidFill>
                  <a:srgbClr val="188038"/>
                </a:solidFill>
                <a:latin typeface="Roboto Mono"/>
                <a:ea typeface="Roboto Mono"/>
                <a:cs typeface="Roboto Mono"/>
                <a:sym typeface="Roboto Mono"/>
              </a:rPr>
              <a:t>Name:smbd</a:t>
            </a:r>
            <a:r>
              <a:rPr lang="zh-CN">
                <a:solidFill>
                  <a:schemeClr val="dk1"/>
                </a:solidFill>
              </a:rPr>
              <a:t> – This tells us the </a:t>
            </a:r>
            <a:r>
              <a:rPr b="1" lang="zh-CN">
                <a:solidFill>
                  <a:schemeClr val="dk1"/>
                </a:solidFill>
              </a:rPr>
              <a:t>Samba daemon</a:t>
            </a:r>
            <a:r>
              <a:rPr lang="zh-CN">
                <a:solidFill>
                  <a:schemeClr val="dk1"/>
                </a:solidFill>
              </a:rPr>
              <a:t> (used for file sharing) is the one performing the action.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Process ID (PID):</a:t>
            </a:r>
            <a:r>
              <a:rPr lang="zh-CN">
                <a:solidFill>
                  <a:schemeClr val="dk1"/>
                </a:solidFill>
              </a:rPr>
              <a:t> </a:t>
            </a:r>
            <a:r>
              <a:rPr lang="zh-CN">
                <a:solidFill>
                  <a:srgbClr val="188038"/>
                </a:solidFill>
                <a:latin typeface="Roboto Mono"/>
                <a:ea typeface="Roboto Mono"/>
                <a:cs typeface="Roboto Mono"/>
                <a:sym typeface="Roboto Mono"/>
              </a:rPr>
              <a:t>PID:1407875</a:t>
            </a:r>
            <a:r>
              <a:rPr lang="zh-CN">
                <a:solidFill>
                  <a:schemeClr val="dk1"/>
                </a:solidFill>
              </a:rPr>
              <a:t> – This allows us to track this exact instance of the program across the entire system.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a:solidFill>
                  <a:schemeClr val="dk1"/>
                </a:solidFill>
              </a:rPr>
              <a:t>B. The 'What' (The Action)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Syscall Type:</a:t>
            </a:r>
            <a:r>
              <a:rPr lang="zh-CN">
                <a:solidFill>
                  <a:schemeClr val="dk1"/>
                </a:solidFill>
              </a:rPr>
              <a:t> </a:t>
            </a:r>
            <a:r>
              <a:rPr lang="zh-CN">
                <a:solidFill>
                  <a:srgbClr val="188038"/>
                </a:solidFill>
                <a:latin typeface="Roboto Mono"/>
                <a:ea typeface="Roboto Mono"/>
                <a:cs typeface="Roboto Mono"/>
                <a:sym typeface="Roboto Mono"/>
              </a:rPr>
              <a:t>Syscall:accept</a:t>
            </a:r>
            <a:r>
              <a:rPr lang="zh-CN">
                <a:solidFill>
                  <a:schemeClr val="dk1"/>
                </a:solidFill>
              </a:rPr>
              <a:t> – This is the 'verb' of the sentence. The program is 'accepting' an incoming network connection request.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File Descriptor (FD):</a:t>
            </a:r>
            <a:r>
              <a:rPr lang="zh-CN">
                <a:solidFill>
                  <a:schemeClr val="dk1"/>
                </a:solidFill>
              </a:rPr>
              <a:t> </a:t>
            </a:r>
            <a:r>
              <a:rPr lang="zh-CN">
                <a:solidFill>
                  <a:srgbClr val="188038"/>
                </a:solidFill>
                <a:latin typeface="Roboto Mono"/>
                <a:ea typeface="Roboto Mono"/>
                <a:cs typeface="Roboto Mono"/>
                <a:sym typeface="Roboto Mono"/>
              </a:rPr>
              <a:t>fd=5</a:t>
            </a:r>
            <a:r>
              <a:rPr lang="zh-CN">
                <a:solidFill>
                  <a:schemeClr val="dk1"/>
                </a:solidFill>
              </a:rPr>
              <a:t> – The kernel has assigned index 5 to this specific connection for the process to use.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a:solidFill>
                  <a:schemeClr val="dk1"/>
                </a:solidFill>
              </a:rPr>
              <a:t>C. The 'Where' (Network Detail)</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Connection Tuple:</a:t>
            </a:r>
            <a:r>
              <a:rPr lang="zh-CN">
                <a:solidFill>
                  <a:schemeClr val="dk1"/>
                </a:solidFill>
              </a:rPr>
              <a:t> </a:t>
            </a:r>
            <a:r>
              <a:rPr lang="zh-CN">
                <a:solidFill>
                  <a:srgbClr val="188038"/>
                </a:solidFill>
                <a:latin typeface="Roboto Mono"/>
                <a:ea typeface="Roboto Mono"/>
                <a:cs typeface="Roboto Mono"/>
                <a:sym typeface="Roboto Mono"/>
              </a:rPr>
              <a:t>172.17.0.2:37254 -&gt; 172.17.0.3:445</a:t>
            </a:r>
            <a:endParaRPr>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Clr>
                <a:schemeClr val="dk1"/>
              </a:buClr>
              <a:buSzPts val="1100"/>
              <a:buChar char="○"/>
            </a:pPr>
            <a:r>
              <a:rPr lang="zh-CN">
                <a:solidFill>
                  <a:schemeClr val="dk1"/>
                </a:solidFill>
              </a:rPr>
              <a:t>Here, we see the source IP and port connecting to the destination. Since it's port </a:t>
            </a:r>
            <a:r>
              <a:rPr b="1" lang="zh-CN">
                <a:solidFill>
                  <a:schemeClr val="dk1"/>
                </a:solidFill>
              </a:rPr>
              <a:t>445</a:t>
            </a:r>
            <a:r>
              <a:rPr lang="zh-CN">
                <a:solidFill>
                  <a:schemeClr val="dk1"/>
                </a:solidFill>
              </a:rPr>
              <a:t>, we know someone is trying to access a Windows-style file share (SMB).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a:solidFill>
                  <a:schemeClr val="dk1"/>
                </a:solidFill>
              </a:rPr>
              <a:t>D. The 'Environment' (Cloud-Native Metadata)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Container Identity:</a:t>
            </a:r>
            <a:r>
              <a:rPr lang="zh-CN">
                <a:solidFill>
                  <a:schemeClr val="dk1"/>
                </a:solidFill>
              </a:rPr>
              <a:t> </a:t>
            </a:r>
            <a:r>
              <a:rPr lang="zh-CN">
                <a:solidFill>
                  <a:srgbClr val="188038"/>
                </a:solidFill>
                <a:latin typeface="Roboto Mono"/>
                <a:ea typeface="Roboto Mono"/>
                <a:cs typeface="Roboto Mono"/>
                <a:sym typeface="Roboto Mono"/>
              </a:rPr>
              <a:t>container_name=my-metasploitable</a:t>
            </a:r>
            <a:endParaRPr>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Container ID:</a:t>
            </a:r>
            <a:r>
              <a:rPr lang="zh-CN">
                <a:solidFill>
                  <a:schemeClr val="dk1"/>
                </a:solidFill>
              </a:rPr>
              <a:t> </a:t>
            </a:r>
            <a:r>
              <a:rPr lang="zh-CN">
                <a:solidFill>
                  <a:srgbClr val="188038"/>
                </a:solidFill>
                <a:latin typeface="Roboto Mono"/>
                <a:ea typeface="Roboto Mono"/>
                <a:cs typeface="Roboto Mono"/>
                <a:sym typeface="Roboto Mono"/>
              </a:rPr>
              <a:t>36ed6cbeb804...</a:t>
            </a:r>
            <a:endParaRPr>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Clr>
                <a:schemeClr val="dk1"/>
              </a:buClr>
              <a:buSzPts val="1100"/>
              <a:buChar char="○"/>
            </a:pPr>
            <a:r>
              <a:rPr lang="zh-CN">
                <a:solidFill>
                  <a:schemeClr val="dk1"/>
                </a:solidFill>
              </a:rPr>
              <a:t>This is the most critical part for modern infrastructure. The log doesn't just say 'a process did this'; it tells us exactly </a:t>
            </a:r>
            <a:r>
              <a:rPr b="1" lang="zh-CN">
                <a:solidFill>
                  <a:schemeClr val="dk1"/>
                </a:solidFill>
              </a:rPr>
              <a:t>which container</a:t>
            </a:r>
            <a:r>
              <a:rPr lang="zh-CN">
                <a:solidFill>
                  <a:schemeClr val="dk1"/>
                </a:solidFill>
              </a:rPr>
              <a:t> it happened in. Given the name 'metasploitable', we can infer this log is likely from a security lab or a penetration testing exercise.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9" name="Google Shape;13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"While raw text logs tell us </a:t>
            </a:r>
            <a:r>
              <a:rPr i="1" lang="zh-CN">
                <a:solidFill>
                  <a:schemeClr val="dk1"/>
                </a:solidFill>
              </a:rPr>
              <a:t>what</a:t>
            </a:r>
            <a:r>
              <a:rPr lang="zh-CN">
                <a:solidFill>
                  <a:schemeClr val="dk1"/>
                </a:solidFill>
              </a:rPr>
              <a:t> happened, </a:t>
            </a:r>
            <a:r>
              <a:rPr b="1" lang="zh-CN">
                <a:solidFill>
                  <a:schemeClr val="dk1"/>
                </a:solidFill>
              </a:rPr>
              <a:t>provenance-based logs</a:t>
            </a:r>
            <a:r>
              <a:rPr lang="zh-CN">
                <a:solidFill>
                  <a:schemeClr val="dk1"/>
                </a:solidFill>
              </a:rPr>
              <a:t> show us </a:t>
            </a:r>
            <a:r>
              <a:rPr i="1" lang="zh-CN">
                <a:solidFill>
                  <a:schemeClr val="dk1"/>
                </a:solidFill>
              </a:rPr>
              <a:t>why</a:t>
            </a:r>
            <a:r>
              <a:rPr lang="zh-CN">
                <a:solidFill>
                  <a:schemeClr val="dk1"/>
                </a:solidFill>
              </a:rPr>
              <a:t> it happened. Instead of reading thousands of lines of text, we represent system activity as a </a:t>
            </a:r>
            <a:r>
              <a:rPr b="1" lang="zh-CN">
                <a:solidFill>
                  <a:schemeClr val="dk1"/>
                </a:solidFill>
              </a:rPr>
              <a:t>causality graph</a:t>
            </a:r>
            <a:r>
              <a:rPr lang="zh-CN">
                <a:solidFill>
                  <a:schemeClr val="dk1"/>
                </a:solidFill>
              </a:rPr>
              <a:t>. This allows us to see the 'family tree' of every action in the system."</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2. Decoding the Graph</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"As you can see in the </a:t>
            </a:r>
            <a:r>
              <a:rPr b="1" lang="zh-CN">
                <a:solidFill>
                  <a:schemeClr val="dk1"/>
                </a:solidFill>
              </a:rPr>
              <a:t>Legend</a:t>
            </a:r>
            <a:r>
              <a:rPr lang="zh-CN">
                <a:solidFill>
                  <a:schemeClr val="dk1"/>
                </a:solidFill>
              </a:rPr>
              <a:t>, we use different shapes and colors to categorize the data:</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Diamonds</a:t>
            </a:r>
            <a:r>
              <a:rPr lang="zh-CN">
                <a:solidFill>
                  <a:schemeClr val="dk1"/>
                </a:solidFill>
              </a:rPr>
              <a:t> are Processes, </a:t>
            </a:r>
            <a:r>
              <a:rPr b="1" lang="zh-CN">
                <a:solidFill>
                  <a:schemeClr val="dk1"/>
                </a:solidFill>
              </a:rPr>
              <a:t>Rectangles</a:t>
            </a:r>
            <a:r>
              <a:rPr lang="zh-CN">
                <a:solidFill>
                  <a:schemeClr val="dk1"/>
                </a:solidFill>
              </a:rPr>
              <a:t> are Files, and </a:t>
            </a:r>
            <a:r>
              <a:rPr b="1" lang="zh-CN">
                <a:solidFill>
                  <a:schemeClr val="dk1"/>
                </a:solidFill>
              </a:rPr>
              <a:t>Ovals</a:t>
            </a:r>
            <a:r>
              <a:rPr lang="zh-CN">
                <a:solidFill>
                  <a:schemeClr val="dk1"/>
                </a:solidFill>
              </a:rPr>
              <a:t> are Network Flow.</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Solid lines</a:t>
            </a:r>
            <a:r>
              <a:rPr lang="zh-CN">
                <a:solidFill>
                  <a:schemeClr val="dk1"/>
                </a:solidFill>
              </a:rPr>
              <a:t> represent benign, everyday activity (shown in blue), like Outlook writing a Word document.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Dashed lines</a:t>
            </a:r>
            <a:r>
              <a:rPr lang="zh-CN">
                <a:solidFill>
                  <a:schemeClr val="dk1"/>
                </a:solidFill>
              </a:rPr>
              <a:t> (highlighted in red) represent an attack path."</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3. Identifying the Attack Chain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"The power of this visualization is how easily it exposes a threat. If we follow the red path, we see a clear story:</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zh-CN">
                <a:solidFill>
                  <a:schemeClr val="dk1"/>
                </a:solidFill>
              </a:rPr>
              <a:t>An infected </a:t>
            </a:r>
            <a:r>
              <a:rPr b="1" lang="zh-CN">
                <a:solidFill>
                  <a:schemeClr val="dk1"/>
                </a:solidFill>
              </a:rPr>
              <a:t>Chrome.exe</a:t>
            </a:r>
            <a:r>
              <a:rPr lang="zh-CN">
                <a:solidFill>
                  <a:schemeClr val="dk1"/>
                </a:solidFill>
              </a:rPr>
              <a:t> executes a malicious </a:t>
            </a:r>
            <a:r>
              <a:rPr b="1" lang="zh-CN">
                <a:solidFill>
                  <a:schemeClr val="dk1"/>
                </a:solidFill>
              </a:rPr>
              <a:t>Agent</a:t>
            </a:r>
            <a:r>
              <a:rPr lang="zh-C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zh-CN">
                <a:solidFill>
                  <a:schemeClr val="dk1"/>
                </a:solidFill>
              </a:rPr>
              <a:t>This Agent </a:t>
            </a:r>
            <a:r>
              <a:rPr b="1" lang="zh-CN">
                <a:solidFill>
                  <a:schemeClr val="dk1"/>
                </a:solidFill>
              </a:rPr>
              <a:t>Forks</a:t>
            </a:r>
            <a:r>
              <a:rPr lang="zh-CN">
                <a:solidFill>
                  <a:schemeClr val="dk1"/>
                </a:solidFill>
              </a:rPr>
              <a:t> a tool called </a:t>
            </a:r>
            <a:r>
              <a:rPr lang="zh-CN">
                <a:solidFill>
                  <a:srgbClr val="188038"/>
                </a:solidFill>
                <a:latin typeface="Roboto Mono"/>
                <a:ea typeface="Roboto Mono"/>
                <a:cs typeface="Roboto Mono"/>
                <a:sym typeface="Roboto Mono"/>
              </a:rPr>
              <a:t>find.exe</a:t>
            </a:r>
            <a:r>
              <a:rPr lang="zh-CN">
                <a:solidFill>
                  <a:schemeClr val="dk1"/>
                </a:solidFill>
              </a:rPr>
              <a:t> to scout the system.</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zh-CN">
                <a:solidFill>
                  <a:schemeClr val="dk1"/>
                </a:solidFill>
              </a:rPr>
              <a:t>Finally, it bundles data into a ZIP file and uses </a:t>
            </a:r>
            <a:r>
              <a:rPr b="1" lang="zh-CN">
                <a:solidFill>
                  <a:schemeClr val="dk1"/>
                </a:solidFill>
              </a:rPr>
              <a:t>Sendto</a:t>
            </a:r>
            <a:r>
              <a:rPr lang="zh-CN">
                <a:solidFill>
                  <a:schemeClr val="dk1"/>
                </a:solidFill>
              </a:rPr>
              <a:t> to exfiltrate that data to an external server: </a:t>
            </a:r>
            <a:r>
              <a:rPr lang="zh-CN">
                <a:solidFill>
                  <a:srgbClr val="188038"/>
                </a:solidFill>
                <a:latin typeface="Roboto Mono"/>
                <a:ea typeface="Roboto Mono"/>
                <a:cs typeface="Roboto Mono"/>
                <a:sym typeface="Roboto Mono"/>
              </a:rPr>
              <a:t>News.com</a:t>
            </a:r>
            <a:r>
              <a:rPr lang="zh-CN">
                <a:solidFill>
                  <a:schemeClr val="dk1"/>
                </a:solidFill>
              </a:rPr>
              <a:t> on port </a:t>
            </a:r>
            <a:r>
              <a:rPr lang="zh-CN">
                <a:solidFill>
                  <a:srgbClr val="188038"/>
                </a:solidFill>
                <a:latin typeface="Roboto Mono"/>
                <a:ea typeface="Roboto Mono"/>
                <a:cs typeface="Roboto Mono"/>
                <a:sym typeface="Roboto Mono"/>
              </a:rPr>
              <a:t>9999</a:t>
            </a:r>
            <a:r>
              <a:rPr lang="zh-CN">
                <a:solidFill>
                  <a:schemeClr val="dk1"/>
                </a:solidFill>
              </a:rPr>
              <a:t>."</a:t>
            </a:r>
            <a:endParaRPr>
              <a:solidFill>
                <a:schemeClr val="dk1"/>
              </a:solidFill>
            </a:endParaRPr>
          </a:p>
          <a:p>
            <a:pPr indent="0" lvl="0" marL="0" rtl="0" algn="l">
              <a:lnSpc>
                <a:spcPct val="100000"/>
              </a:lnSpc>
              <a:spcBef>
                <a:spcPts val="1200"/>
              </a:spcBef>
              <a:spcAft>
                <a:spcPts val="0"/>
              </a:spcAft>
              <a:buSzPts val="14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9" name="Google Shape;14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"We’ve looked at raw text and visual graphs, but if we want to build a </a:t>
            </a:r>
            <a:r>
              <a:rPr b="1" lang="zh-CN">
                <a:solidFill>
                  <a:schemeClr val="dk1"/>
                </a:solidFill>
              </a:rPr>
              <a:t>Machine Learning model</a:t>
            </a:r>
            <a:r>
              <a:rPr lang="zh-CN">
                <a:solidFill>
                  <a:schemeClr val="dk1"/>
                </a:solidFill>
              </a:rPr>
              <a:t> to detect threats, we need to transform that data into a structured format. This is where </a:t>
            </a:r>
            <a:r>
              <a:rPr b="1" lang="zh-CN">
                <a:solidFill>
                  <a:schemeClr val="dk1"/>
                </a:solidFill>
              </a:rPr>
              <a:t>manually labeled feature engineering</a:t>
            </a:r>
            <a:r>
              <a:rPr lang="zh-CN">
                <a:solidFill>
                  <a:schemeClr val="dk1"/>
                </a:solidFill>
              </a:rPr>
              <a:t> comes in."</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2. Structuring the Data</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"As shown in this table, we take specific attributes of a connection and turn them into quantifiable variables. This process is the bridge between raw system activity and an AI’s ability to 'learn' what a 'normal' versus an 'attack' state looks like."</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3. Key Feature Examples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"Let’s look at a few specific rows: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Duration &amp; Bytes (Rows 1, 5, 6):</a:t>
            </a:r>
            <a:r>
              <a:rPr lang="zh-CN">
                <a:solidFill>
                  <a:schemeClr val="dk1"/>
                </a:solidFill>
              </a:rPr>
              <a:t> These are </a:t>
            </a:r>
            <a:r>
              <a:rPr b="1" lang="zh-CN">
                <a:solidFill>
                  <a:schemeClr val="dk1"/>
                </a:solidFill>
              </a:rPr>
              <a:t>Continuous</a:t>
            </a:r>
            <a:r>
              <a:rPr lang="zh-CN">
                <a:solidFill>
                  <a:schemeClr val="dk1"/>
                </a:solidFill>
              </a:rPr>
              <a:t> features. They track the length of time and the volume of data transferred. A sudden spike in 'Src Bytes' could indicate data exfiltration.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Protocol &amp; Service (Rows 2, 3):</a:t>
            </a:r>
            <a:r>
              <a:rPr lang="zh-CN">
                <a:solidFill>
                  <a:schemeClr val="dk1"/>
                </a:solidFill>
              </a:rPr>
              <a:t> These are </a:t>
            </a:r>
            <a:r>
              <a:rPr b="1" lang="zh-CN">
                <a:solidFill>
                  <a:schemeClr val="dk1"/>
                </a:solidFill>
              </a:rPr>
              <a:t>Categorical</a:t>
            </a:r>
            <a:r>
              <a:rPr lang="zh-CN">
                <a:solidFill>
                  <a:schemeClr val="dk1"/>
                </a:solidFill>
              </a:rPr>
              <a:t> strings, like 'TCP' or 'HTTP', which help the model understand the context of the communication.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The 'Land' Feature (Row 7):</a:t>
            </a:r>
            <a:r>
              <a:rPr lang="zh-CN">
                <a:solidFill>
                  <a:schemeClr val="dk1"/>
                </a:solidFill>
              </a:rPr>
              <a:t> This is a </a:t>
            </a:r>
            <a:r>
              <a:rPr b="1" lang="zh-CN">
                <a:solidFill>
                  <a:schemeClr val="dk1"/>
                </a:solidFill>
              </a:rPr>
              <a:t>Binary</a:t>
            </a:r>
            <a:r>
              <a:rPr lang="zh-CN">
                <a:solidFill>
                  <a:schemeClr val="dk1"/>
                </a:solidFill>
              </a:rPr>
              <a:t> indicator. It checks if the source and destination IP/Ports are the same—a classic sign of a 'Land Attack' designed to crash a system.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The 'Hot' Indicator (Row 10):</a:t>
            </a:r>
            <a:r>
              <a:rPr lang="zh-CN">
                <a:solidFill>
                  <a:schemeClr val="dk1"/>
                </a:solidFill>
              </a:rPr>
              <a:t> This tracks system events like entering a sensitive directory or executing programs, giving the model a behavioral score."</a:t>
            </a:r>
            <a:endParaRPr>
              <a:solidFill>
                <a:schemeClr val="dk1"/>
              </a:solidFill>
            </a:endParaRPr>
          </a:p>
          <a:p>
            <a:pPr indent="0" lvl="0" marL="0" rtl="0" algn="l">
              <a:lnSpc>
                <a:spcPct val="100000"/>
              </a:lnSpc>
              <a:spcBef>
                <a:spcPts val="1200"/>
              </a:spcBef>
              <a:spcAft>
                <a:spcPts val="0"/>
              </a:spcAft>
              <a:buSzPts val="14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9" name="Google Shape;15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Signature-based Intrusion Detection System: This system works on the principle of matching. The data is analyzed and compared with the signature of known attacks. In case of any matching, an alert is issued. An advantage of this system is it has more accuracy and standard alarms understood by the user.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0" name="Google Shape;17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Anomaly-based Intrusion Detection System: It consists of a statistical model of normal network traffic which consists of the bandwidth used, the protocols defined for the traffic, the ports, and devices that are part of the network. It regularly monitors the network traffic and compares it with the statistical model. In case of any anomaly or discrepancy, the administrator is alerted. An advantage of this system is it can detect new and unique attacks.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1. Introduction: The Need for Automation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"We’ve seen how rich system logs can be, but analyzing them manually is impossible at scale. This is where Machine Learning changes the game. Instead of relying on humans to write thousands of hard-coded rules, we let the system </a:t>
            </a:r>
            <a:r>
              <a:rPr b="1" lang="zh-CN">
                <a:solidFill>
                  <a:schemeClr val="dk1"/>
                </a:solidFill>
              </a:rPr>
              <a:t>automatically learn patterns</a:t>
            </a:r>
            <a:r>
              <a:rPr lang="zh-CN">
                <a:solidFill>
                  <a:schemeClr val="dk1"/>
                </a:solidFill>
              </a:rPr>
              <a:t> from the data itself."</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2. Case Study: The UNICORN Framework</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"Look at the diagram on the left, which illustrates a framework called </a:t>
            </a:r>
            <a:r>
              <a:rPr b="1" lang="zh-CN">
                <a:solidFill>
                  <a:schemeClr val="dk1"/>
                </a:solidFill>
              </a:rPr>
              <a:t>UNICORN</a:t>
            </a:r>
            <a:r>
              <a:rPr lang="zh-CN">
                <a:solidFill>
                  <a:schemeClr val="dk1"/>
                </a:solidFill>
              </a:rPr>
              <a:t>. It follows a four-step pipeline to turn behavior into intelligence:</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zh-CN">
                <a:solidFill>
                  <a:schemeClr val="dk1"/>
                </a:solidFill>
              </a:rPr>
              <a:t>Graph Construction:</a:t>
            </a:r>
            <a:r>
              <a:rPr lang="zh-CN">
                <a:solidFill>
                  <a:schemeClr val="dk1"/>
                </a:solidFill>
              </a:rPr>
              <a:t> It starts with a streaming provenance graph, capturing system execution in real-time.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CN">
                <a:solidFill>
                  <a:schemeClr val="dk1"/>
                </a:solidFill>
              </a:rPr>
              <a:t>Feature Summarization:</a:t>
            </a:r>
            <a:r>
              <a:rPr lang="zh-CN">
                <a:solidFill>
                  <a:schemeClr val="dk1"/>
                </a:solidFill>
              </a:rPr>
              <a:t> It periodically breaks the graph into histograms to capture local behaviors.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CN">
                <a:solidFill>
                  <a:schemeClr val="dk1"/>
                </a:solidFill>
              </a:rPr>
              <a:t>Graph Sketching:</a:t>
            </a:r>
            <a:r>
              <a:rPr lang="zh-CN">
                <a:solidFill>
                  <a:schemeClr val="dk1"/>
                </a:solidFill>
              </a:rPr>
              <a:t> These histograms are compressed into fixed-size 'sketches'—think of this as a digital fingerprint of the system's current state.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CN">
                <a:solidFill>
                  <a:schemeClr val="dk1"/>
                </a:solidFill>
              </a:rPr>
              <a:t>Clustering:</a:t>
            </a:r>
            <a:r>
              <a:rPr lang="zh-CN">
                <a:solidFill>
                  <a:schemeClr val="dk1"/>
                </a:solidFill>
              </a:rPr>
              <a:t> Finally, these fingerprints are clustered. 'Normal' behavior stays in one group, while 'Attacks' appear as outliers that don't fit the pattern."</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3. Key Advantages of the ML Approach</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"Why is this approach superior to traditional methods?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Handling Complexity:</a:t>
            </a:r>
            <a:r>
              <a:rPr lang="zh-CN">
                <a:solidFill>
                  <a:schemeClr val="dk1"/>
                </a:solidFill>
              </a:rPr>
              <a:t> It can process high-dimensional data—syscalls, network flows, and provenance—all at once.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Generalization:</a:t>
            </a:r>
            <a:r>
              <a:rPr lang="zh-CN">
                <a:solidFill>
                  <a:schemeClr val="dk1"/>
                </a:solidFill>
              </a:rPr>
              <a:t> Traditional IDS looks for 'signatures' (exact matches of known viruses). ML looks for </a:t>
            </a:r>
            <a:r>
              <a:rPr b="1" lang="zh-CN">
                <a:solidFill>
                  <a:schemeClr val="dk1"/>
                </a:solidFill>
              </a:rPr>
              <a:t>behavioral patterns</a:t>
            </a:r>
            <a:r>
              <a:rPr lang="zh-CN">
                <a:solidFill>
                  <a:schemeClr val="dk1"/>
                </a:solidFill>
              </a:rPr>
              <a:t>. This means it can detect 'Zero-day' attacks—threats it has never seen before—simply because they </a:t>
            </a:r>
            <a:r>
              <a:rPr i="1" lang="zh-CN">
                <a:solidFill>
                  <a:schemeClr val="dk1"/>
                </a:solidFill>
              </a:rPr>
              <a:t>behave</a:t>
            </a:r>
            <a:r>
              <a:rPr lang="zh-CN">
                <a:solidFill>
                  <a:schemeClr val="dk1"/>
                </a:solidFill>
              </a:rPr>
              <a:t> differently than normal operations.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Model Diversity:</a:t>
            </a:r>
            <a:r>
              <a:rPr lang="zh-CN">
                <a:solidFill>
                  <a:schemeClr val="dk1"/>
                </a:solidFill>
              </a:rPr>
              <a:t> We can use everything from classic models like Random Forest (RF) to cutting-edge Deep Learning like Graph Neural Networks (GNN) to analyze these complex relationships."</a:t>
            </a:r>
            <a:endParaRPr>
              <a:solidFill>
                <a:schemeClr val="dk1"/>
              </a:solidFill>
            </a:endParaRPr>
          </a:p>
          <a:p>
            <a:pPr indent="0" lvl="0" marL="0" rtl="0" algn="l">
              <a:lnSpc>
                <a:spcPct val="100000"/>
              </a:lnSpc>
              <a:spcBef>
                <a:spcPts val="1200"/>
              </a:spcBef>
              <a:spcAft>
                <a:spcPts val="0"/>
              </a:spcAft>
              <a:buSzPts val="1400"/>
              <a:buNone/>
            </a:pPr>
            <a:r>
              <a:t/>
            </a:r>
            <a:endParaRPr sz="1200">
              <a:solidFill>
                <a:schemeClr val="dk1"/>
              </a:solidFill>
              <a:latin typeface="Calibri"/>
              <a:ea typeface="Calibri"/>
              <a:cs typeface="Calibri"/>
              <a:sym typeface="Calibri"/>
            </a:endParaRPr>
          </a:p>
        </p:txBody>
      </p:sp>
      <p:sp>
        <p:nvSpPr>
          <p:cNvPr id="181" name="Google Shape;18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0" name="Google Shape;19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6d4a5dad6_5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96d4a5dad6_5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"Think of Logistic Regression as a security guard with a simple scorecard. For every person entering, he checks a few things: 'Are they running?' (+10 points) 'Are they wearing a mask?' (+40 points). He adds it all up into a final score from 0 to 100. If your score is over 50, you’re flagged as a threat. It’s </a:t>
            </a:r>
            <a:r>
              <a:rPr b="1" lang="zh-CN">
                <a:solidFill>
                  <a:schemeClr val="dk1"/>
                </a:solidFill>
              </a:rPr>
              <a:t>fast, simple, and direct</a:t>
            </a:r>
            <a:r>
              <a:rPr lang="zh-CN">
                <a:solidFill>
                  <a:schemeClr val="dk1"/>
                </a:solidFill>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zh-CN" sz="1300">
                <a:solidFill>
                  <a:schemeClr val="dk1"/>
                </a:solidFill>
              </a:rPr>
              <a:t>1. The Input Matrix ($X$)</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"To understand these results, we must look at the data structure. The matrix </a:t>
            </a:r>
            <a:r>
              <a:rPr b="1" lang="zh-CN">
                <a:solidFill>
                  <a:schemeClr val="dk1"/>
                </a:solidFill>
              </a:rPr>
              <a:t>$X$</a:t>
            </a:r>
            <a:r>
              <a:rPr lang="zh-CN">
                <a:solidFill>
                  <a:schemeClr val="dk1"/>
                </a:solidFill>
              </a:rPr>
              <a:t> represents our input features—the 'raw system data' we discussed earlier. In this specific model run, $X$ contains thousands of observations. Each row is a system event, and each column is a feature that the model uses to calculate the value of </a:t>
            </a:r>
            <a:r>
              <a:rPr b="1" lang="zh-CN">
                <a:solidFill>
                  <a:schemeClr val="dk1"/>
                </a:solidFill>
              </a:rPr>
              <a:t>$z$</a:t>
            </a:r>
            <a:r>
              <a:rPr lang="zh-C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2. Predicting the Outcome ($Y$)</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"Our target matrix </a:t>
            </a:r>
            <a:r>
              <a:rPr b="1" lang="zh-CN">
                <a:solidFill>
                  <a:schemeClr val="dk1"/>
                </a:solidFill>
              </a:rPr>
              <a:t>$Y$</a:t>
            </a:r>
            <a:r>
              <a:rPr lang="zh-CN">
                <a:solidFill>
                  <a:schemeClr val="dk1"/>
                </a:solidFill>
              </a:rPr>
              <a:t> is binary. As shown in the confusion matrix:</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Class 0</a:t>
            </a:r>
            <a:r>
              <a:rPr lang="zh-CN">
                <a:solidFill>
                  <a:schemeClr val="dk1"/>
                </a:solidFill>
              </a:rPr>
              <a:t> represents benign activity.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Class 1</a:t>
            </a:r>
            <a:r>
              <a:rPr lang="zh-CN">
                <a:solidFill>
                  <a:schemeClr val="dk1"/>
                </a:solidFill>
              </a:rPr>
              <a:t> represents an attack.</a:t>
            </a:r>
            <a:br>
              <a:rPr lang="zh-CN">
                <a:solidFill>
                  <a:schemeClr val="dk1"/>
                </a:solidFill>
              </a:rPr>
            </a:br>
            <a:endParaRPr>
              <a:solidFill>
                <a:schemeClr val="dk1"/>
              </a:solidFill>
            </a:endParaRPr>
          </a:p>
          <a:p>
            <a:pPr indent="0" lvl="0" marL="0" rtl="0" algn="l">
              <a:lnSpc>
                <a:spcPct val="115000"/>
              </a:lnSpc>
              <a:spcBef>
                <a:spcPts val="0"/>
              </a:spcBef>
              <a:spcAft>
                <a:spcPts val="0"/>
              </a:spcAft>
              <a:buNone/>
            </a:pPr>
            <a:r>
              <a:rPr lang="zh-CN">
                <a:solidFill>
                  <a:schemeClr val="dk1"/>
                </a:solidFill>
              </a:rPr>
              <a:t>The Sigmoid function 'squashes' our linear calculations into a probability. If that probability is closer to 1, the model predicts Class 1."</a:t>
            </a:r>
            <a:r>
              <a:rPr b="1" lang="zh-CN">
                <a:solidFill>
                  <a:schemeClr val="dk1"/>
                </a:solidFill>
              </a:rPr>
              <a:t>"Don't let the math scare you. This formula is just a 'Probability Converter'."</a:t>
            </a:r>
            <a:endParaRPr b="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CN">
                <a:solidFill>
                  <a:schemeClr val="dk1"/>
                </a:solidFill>
              </a:rPr>
              <a:t>The Input ($z$):</a:t>
            </a:r>
            <a:r>
              <a:rPr lang="zh-CN">
                <a:solidFill>
                  <a:schemeClr val="dk1"/>
                </a:solidFill>
              </a:rPr>
              <a:t> "The $z$ is the total 'Suspicion Score' we calculated from the network traffic. Maybe it's 10 points, maybe it's 100."</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CN">
                <a:solidFill>
                  <a:schemeClr val="dk1"/>
                </a:solidFill>
              </a:rPr>
              <a:t>The Magic Box (The Formula):</a:t>
            </a:r>
            <a:r>
              <a:rPr lang="zh-CN">
                <a:solidFill>
                  <a:schemeClr val="dk1"/>
                </a:solidFill>
              </a:rPr>
              <a:t> "This formula acts like a funnel. No matter how high or low the score is, it crushes it into a range between </a:t>
            </a:r>
            <a:r>
              <a:rPr b="1" lang="zh-CN">
                <a:solidFill>
                  <a:schemeClr val="dk1"/>
                </a:solidFill>
              </a:rPr>
              <a:t>0 and 1</a:t>
            </a:r>
            <a:r>
              <a:rPr lang="zh-C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CN">
                <a:solidFill>
                  <a:schemeClr val="dk1"/>
                </a:solidFill>
              </a:rPr>
              <a:t>The Result ($P$):</a:t>
            </a:r>
            <a:r>
              <a:rPr lang="zh-CN">
                <a:solidFill>
                  <a:schemeClr val="dk1"/>
                </a:solidFill>
              </a:rPr>
              <a:t> "If the result is 0.9, it means there's a 90% chance this is an attack. If it's 0.1, it's probably just a regular user."</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3. Evaluating the Confusion Matrix</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"Now, let’s look at the </a:t>
            </a:r>
            <a:r>
              <a:rPr b="1" lang="zh-CN">
                <a:solidFill>
                  <a:schemeClr val="dk1"/>
                </a:solidFill>
              </a:rPr>
              <a:t>Testing Confusion Matrix</a:t>
            </a:r>
            <a:r>
              <a:rPr lang="zh-CN">
                <a:solidFill>
                  <a:schemeClr val="dk1"/>
                </a:solidFill>
              </a:rPr>
              <a:t> to see the actual counts: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True Negatives (Top-Left, 12,015):</a:t>
            </a:r>
            <a:r>
              <a:rPr lang="zh-CN">
                <a:solidFill>
                  <a:schemeClr val="dk1"/>
                </a:solidFill>
              </a:rPr>
              <a:t> The model correctly identified these as safe.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True Positives (Bottom-Right, 10,424):</a:t>
            </a:r>
            <a:r>
              <a:rPr lang="zh-CN">
                <a:solidFill>
                  <a:schemeClr val="dk1"/>
                </a:solidFill>
              </a:rPr>
              <a:t> The model successfully caught these attacks.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The Errors:</a:t>
            </a:r>
            <a:r>
              <a:rPr lang="zh-CN">
                <a:solidFill>
                  <a:schemeClr val="dk1"/>
                </a:solidFill>
              </a:rPr>
              <a:t> The matrix also reveals </a:t>
            </a:r>
            <a:r>
              <a:rPr b="1" lang="zh-CN">
                <a:solidFill>
                  <a:schemeClr val="dk1"/>
                </a:solidFill>
              </a:rPr>
              <a:t>1,354 False Positives</a:t>
            </a:r>
            <a:r>
              <a:rPr lang="zh-CN">
                <a:solidFill>
                  <a:schemeClr val="dk1"/>
                </a:solidFill>
              </a:rPr>
              <a:t> (crying wolf) and </a:t>
            </a:r>
            <a:r>
              <a:rPr b="1" lang="zh-CN">
                <a:solidFill>
                  <a:schemeClr val="dk1"/>
                </a:solidFill>
              </a:rPr>
              <a:t>1,400 False Negatives</a:t>
            </a:r>
            <a:r>
              <a:rPr lang="zh-CN">
                <a:solidFill>
                  <a:schemeClr val="dk1"/>
                </a:solidFill>
              </a:rPr>
              <a:t> (missing the attack). These specific numbers are what drive our Precision and Recall metrics."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4. Analyzing the Performance Metrics</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"Looking at the text output at the top, the model achieves an </a:t>
            </a:r>
            <a:r>
              <a:rPr b="1" lang="zh-CN">
                <a:solidFill>
                  <a:schemeClr val="dk1"/>
                </a:solidFill>
              </a:rPr>
              <a:t>Accuracy of 89.07%</a:t>
            </a:r>
            <a:r>
              <a:rPr lang="zh-CN">
                <a:solidFill>
                  <a:schemeClr val="dk1"/>
                </a:solidFill>
              </a:rPr>
              <a:t> on the test set.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Precision (88.50%)</a:t>
            </a:r>
            <a:r>
              <a:rPr lang="zh-CN">
                <a:solidFill>
                  <a:schemeClr val="dk1"/>
                </a:solidFill>
              </a:rPr>
              <a:t>: When the model flags an attack, it's right nearly 89% of the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Recall (88.16%)</a:t>
            </a:r>
            <a:r>
              <a:rPr lang="zh-CN">
                <a:solidFill>
                  <a:schemeClr val="dk1"/>
                </a:solidFill>
              </a:rPr>
              <a:t>: The model identifies 88% of all actual attacks present in the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Consistency</a:t>
            </a:r>
            <a:r>
              <a:rPr lang="zh-CN">
                <a:solidFill>
                  <a:schemeClr val="dk1"/>
                </a:solidFill>
              </a:rPr>
              <a:t>: Notice how the training and testing metrics are almost identical (89.11% vs 89.07%). This is a great sign—it means our matrix $X$ was well-structured, and the model has </a:t>
            </a:r>
            <a:r>
              <a:rPr b="1" lang="zh-CN">
                <a:solidFill>
                  <a:schemeClr val="dk1"/>
                </a:solidFill>
              </a:rPr>
              <a:t>generalized</a:t>
            </a:r>
            <a:r>
              <a:rPr lang="zh-CN">
                <a:solidFill>
                  <a:schemeClr val="dk1"/>
                </a:solidFill>
              </a:rPr>
              <a:t> well to new data rather than just memorizing the training set."</a:t>
            </a:r>
            <a:endParaRPr>
              <a:solidFill>
                <a:schemeClr val="dk1"/>
              </a:solidFill>
            </a:endParaRPr>
          </a:p>
          <a:p>
            <a:pPr indent="0" lvl="0" marL="0" rtl="0" algn="l">
              <a:lnSpc>
                <a:spcPct val="100000"/>
              </a:lnSpc>
              <a:spcBef>
                <a:spcPts val="1200"/>
              </a:spcBef>
              <a:spcAft>
                <a:spcPts val="0"/>
              </a:spcAft>
              <a:buSzPts val="1400"/>
              <a:buNone/>
            </a:pPr>
            <a:r>
              <a:t/>
            </a:r>
            <a:endParaRPr/>
          </a:p>
        </p:txBody>
      </p:sp>
      <p:sp>
        <p:nvSpPr>
          <p:cNvPr id="213" name="Google Shape;213;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6d4a5dad6_5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6d4a5dad6_5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zh-CN">
                <a:solidFill>
                  <a:schemeClr val="dk1"/>
                </a:solidFill>
              </a:rPr>
              <a:t>"While Logistic Regression uses a sigmoid curve to separate classes, </a:t>
            </a:r>
            <a:r>
              <a:rPr b="1" lang="zh-CN">
                <a:solidFill>
                  <a:schemeClr val="dk1"/>
                </a:solidFill>
              </a:rPr>
              <a:t>Gaussian Naive Bayes</a:t>
            </a:r>
            <a:r>
              <a:rPr lang="zh-CN">
                <a:solidFill>
                  <a:schemeClr val="dk1"/>
                </a:solidFill>
              </a:rPr>
              <a:t> takes a different approach. It assumes that the data for each class—whether it's benign system traffic or a malicious attack—follows a </a:t>
            </a:r>
            <a:r>
              <a:rPr b="1" lang="zh-CN">
                <a:solidFill>
                  <a:schemeClr val="dk1"/>
                </a:solidFill>
              </a:rPr>
              <a:t>Normal Distribution</a:t>
            </a:r>
            <a:r>
              <a:rPr lang="zh-CN">
                <a:solidFill>
                  <a:schemeClr val="dk1"/>
                </a:solidFill>
              </a:rPr>
              <a:t>, commonly known as the Bell Curve."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2. Visualizing the Decision Process</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"Look at the graph in the center. We have two distributions representing two classes: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Class A (Red Curve):</a:t>
            </a:r>
            <a:r>
              <a:rPr lang="zh-CN">
                <a:solidFill>
                  <a:schemeClr val="dk1"/>
                </a:solidFill>
              </a:rPr>
              <a:t> Let's say this represents 'Normal' behavior.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Class B (Green Curve):</a:t>
            </a:r>
            <a:r>
              <a:rPr lang="zh-CN">
                <a:solidFill>
                  <a:schemeClr val="dk1"/>
                </a:solidFill>
              </a:rPr>
              <a:t> This represents 'Attack' behavior.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The Data Point ($x$):</a:t>
            </a:r>
            <a:r>
              <a:rPr lang="zh-CN">
                <a:solidFill>
                  <a:schemeClr val="dk1"/>
                </a:solidFill>
              </a:rPr>
              <a:t> The black dot on the x-axis represents a new system event we just observed."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3. Probability Density and Z-Scores</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"To decide which class $x$ belongs to, the model calculates the likelihood of observing that value in both distributions: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Red Dot ($p(x|A)$):</a:t>
            </a:r>
            <a:r>
              <a:rPr lang="zh-CN">
                <a:solidFill>
                  <a:schemeClr val="dk1"/>
                </a:solidFill>
              </a:rPr>
              <a:t> This is the probability that $x$ came from the 'Normal' distribution.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Green Dot ($p(x|B)$):</a:t>
            </a:r>
            <a:r>
              <a:rPr lang="zh-CN">
                <a:solidFill>
                  <a:schemeClr val="dk1"/>
                </a:solidFill>
              </a:rPr>
              <a:t> This is the probability that $x$ came from the 'Attack' distribution.</a:t>
            </a:r>
            <a:br>
              <a:rPr lang="zh-CN">
                <a:solidFill>
                  <a:schemeClr val="dk1"/>
                </a:solidFill>
              </a:rPr>
            </a:br>
            <a:r>
              <a:rPr lang="zh-CN">
                <a:solidFill>
                  <a:schemeClr val="dk1"/>
                </a:solidFill>
              </a:rPr>
              <a:t>In this specific example, the red dot is higher than the green dot, so the model would classify this event as </a:t>
            </a:r>
            <a:r>
              <a:rPr b="1" lang="zh-CN">
                <a:solidFill>
                  <a:schemeClr val="dk1"/>
                </a:solidFill>
              </a:rPr>
              <a:t>Class A (Normal)</a:t>
            </a:r>
            <a:r>
              <a:rPr lang="zh-C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4. The Math: Probability Density Function</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"On the right, we see the formula that powers this logic: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$$P(x_i | y) = \frac{1}{\sigma \sqrt{2\pi}} e^{ -\frac{(x-\mu)^2}{2\sigma^2}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CN">
                <a:solidFill>
                  <a:schemeClr val="dk1"/>
                </a:solidFill>
              </a:rPr>
              <a:t>This is the </a:t>
            </a:r>
            <a:r>
              <a:rPr b="1" lang="zh-CN">
                <a:solidFill>
                  <a:schemeClr val="dk1"/>
                </a:solidFill>
              </a:rPr>
              <a:t>Gaussian Probability Density Function</a:t>
            </a:r>
            <a:r>
              <a:rPr lang="zh-CN">
                <a:solidFill>
                  <a:schemeClr val="dk1"/>
                </a:solidFill>
              </a:rPr>
              <a:t>. It uses two key parameters: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$\mu$ (Mean):</a:t>
            </a:r>
            <a:r>
              <a:rPr lang="zh-CN">
                <a:solidFill>
                  <a:schemeClr val="dk1"/>
                </a:solidFill>
              </a:rPr>
              <a:t> The center of the curve.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$\sigma$ (Standard Deviation):</a:t>
            </a:r>
            <a:r>
              <a:rPr lang="zh-CN">
                <a:solidFill>
                  <a:schemeClr val="dk1"/>
                </a:solidFill>
              </a:rPr>
              <a:t> The spread or width of the curve.</a:t>
            </a:r>
            <a:br>
              <a:rPr lang="zh-CN">
                <a:solidFill>
                  <a:schemeClr val="dk1"/>
                </a:solidFill>
              </a:rPr>
            </a:br>
            <a:r>
              <a:rPr lang="zh-CN">
                <a:solidFill>
                  <a:schemeClr val="dk1"/>
                </a:solidFill>
              </a:rPr>
              <a:t>By calculating the 'Z-score distance'—how many standard deviations $x$ is from the mean—the model determines which 'neighborhood' the data point most likely belongs to."</a:t>
            </a:r>
            <a:endParaRPr>
              <a:solidFill>
                <a:schemeClr val="dk1"/>
              </a:solidFill>
            </a:endParaRPr>
          </a:p>
          <a:p>
            <a:pPr indent="0" lvl="0" marL="0" rtl="0" algn="l">
              <a:lnSpc>
                <a:spcPct val="100000"/>
              </a:lnSpc>
              <a:spcBef>
                <a:spcPts val="1200"/>
              </a:spcBef>
              <a:spcAft>
                <a:spcPts val="0"/>
              </a:spcAft>
              <a:buSzPts val="1400"/>
              <a:buNone/>
            </a:pPr>
            <a:r>
              <a:t/>
            </a:r>
            <a:endParaRPr/>
          </a:p>
        </p:txBody>
      </p:sp>
      <p:sp>
        <p:nvSpPr>
          <p:cNvPr id="243" name="Google Shape;24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96d4a5dad6_5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96d4a5dad6_5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"SVM is a perfectionist. It doesn't just want to separate the 'Good Guys' from the 'Bad Guys'; it wants to build the </a:t>
            </a:r>
            <a:r>
              <a:rPr b="1" lang="zh-CN">
                <a:solidFill>
                  <a:schemeClr val="dk1"/>
                </a:solidFill>
              </a:rPr>
              <a:t>widest possible empty space</a:t>
            </a:r>
            <a:r>
              <a:rPr lang="zh-CN">
                <a:solidFill>
                  <a:schemeClr val="dk1"/>
                </a:solidFill>
              </a:rPr>
              <a:t> between them. By creating this 'safety buffer,' SVM ensures that even if a hacker changes their behavior slightly, they still won't be able to sneak across that wide gap unnoticed."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zh-CN">
                <a:solidFill>
                  <a:schemeClr val="dk1"/>
                </a:solidFill>
              </a:rPr>
              <a:t>"We’ve discussed probabilistic models like Naive Bayes, but </a:t>
            </a:r>
            <a:r>
              <a:rPr b="1" lang="zh-CN">
                <a:solidFill>
                  <a:schemeClr val="dk1"/>
                </a:solidFill>
              </a:rPr>
              <a:t>Support Vector Machines (SVM)</a:t>
            </a:r>
            <a:r>
              <a:rPr lang="zh-CN">
                <a:solidFill>
                  <a:schemeClr val="dk1"/>
                </a:solidFill>
              </a:rPr>
              <a:t> take a more geometric approach. Imagine our system logs plotted on a map. SVM’s goal is to find the perfect 'border'—a </a:t>
            </a:r>
            <a:r>
              <a:rPr b="1" lang="zh-CN">
                <a:solidFill>
                  <a:schemeClr val="dk1"/>
                </a:solidFill>
              </a:rPr>
              <a:t>Hyperplane</a:t>
            </a:r>
            <a:r>
              <a:rPr lang="zh-CN">
                <a:solidFill>
                  <a:schemeClr val="dk1"/>
                </a:solidFill>
              </a:rPr>
              <a:t>—that separates normal behavior from malicious attacks with as much breathing room as possible."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2. The Geometry of Classification</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"Looking at the graph on the left, we have two classes of data points. The green line is our decision boundary. To make this boundary as robust as possible, we calculate the distance from each data point $x_i$ to that 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As shown in the first formula: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$$d_i = \frac{w^T x_i + b}{\|w\|}$$</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CN">
                <a:solidFill>
                  <a:schemeClr val="dk1"/>
                </a:solidFill>
              </a:rPr>
              <a:t>Here, $w$ represents the weight vector (the orientation of the line), $b$ is the bias (its position), and the denominator is the Euclidean norm used to normalize the distance. SVM tries to maximize the 'margin'—the space between the closest points of each class and the boundary."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3. The Linear SVM Classifier</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"Once the model is trained and the hyperplane is set, classifying new data becomes a simple mathematical check. Look at the </a:t>
            </a:r>
            <a:r>
              <a:rPr b="1" lang="zh-CN">
                <a:solidFill>
                  <a:schemeClr val="dk1"/>
                </a:solidFill>
              </a:rPr>
              <a:t>Linear SVM Classifier</a:t>
            </a:r>
            <a:r>
              <a:rPr lang="zh-CN">
                <a:solidFill>
                  <a:schemeClr val="dk1"/>
                </a:solidFill>
              </a:rPr>
              <a:t> logic at the bottom: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zh-CN">
                <a:solidFill>
                  <a:schemeClr val="dk1"/>
                </a:solidFill>
              </a:rPr>
              <a:t>If the result of $w^T x + b$ is greater than or equal to </a:t>
            </a:r>
            <a:r>
              <a:rPr b="1" lang="zh-CN">
                <a:solidFill>
                  <a:schemeClr val="dk1"/>
                </a:solidFill>
              </a:rPr>
              <a:t>0</a:t>
            </a:r>
            <a:r>
              <a:rPr lang="zh-CN">
                <a:solidFill>
                  <a:schemeClr val="dk1"/>
                </a:solidFill>
              </a:rPr>
              <a:t>, the model predicts a label of </a:t>
            </a:r>
            <a:r>
              <a:rPr b="1" lang="zh-CN">
                <a:solidFill>
                  <a:schemeClr val="dk1"/>
                </a:solidFill>
              </a:rPr>
              <a:t>1</a:t>
            </a:r>
            <a:r>
              <a:rPr lang="zh-CN">
                <a:solidFill>
                  <a:schemeClr val="dk1"/>
                </a:solidFill>
              </a:rPr>
              <a:t> (e.g., an Attack).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CN">
                <a:solidFill>
                  <a:schemeClr val="dk1"/>
                </a:solidFill>
              </a:rPr>
              <a:t>If the result is less than </a:t>
            </a:r>
            <a:r>
              <a:rPr b="1" lang="zh-CN">
                <a:solidFill>
                  <a:schemeClr val="dk1"/>
                </a:solidFill>
              </a:rPr>
              <a:t>0</a:t>
            </a:r>
            <a:r>
              <a:rPr lang="zh-CN">
                <a:solidFill>
                  <a:schemeClr val="dk1"/>
                </a:solidFill>
              </a:rPr>
              <a:t>, it predicts </a:t>
            </a:r>
            <a:r>
              <a:rPr b="1" lang="zh-CN">
                <a:solidFill>
                  <a:schemeClr val="dk1"/>
                </a:solidFill>
              </a:rPr>
              <a:t>-1</a:t>
            </a:r>
            <a:r>
              <a:rPr lang="zh-CN">
                <a:solidFill>
                  <a:schemeClr val="dk1"/>
                </a:solidFill>
              </a:rPr>
              <a:t> (e.g., Benign).</a:t>
            </a:r>
            <a:br>
              <a:rPr lang="zh-CN">
                <a:solidFill>
                  <a:schemeClr val="dk1"/>
                </a:solidFill>
              </a:rPr>
            </a:br>
            <a:r>
              <a:rPr lang="zh-CN">
                <a:solidFill>
                  <a:schemeClr val="dk1"/>
                </a:solidFill>
              </a:rPr>
              <a:t>This predicted label, $\hat{y}$, tells us instantly whether a new log entry should trigger an alert."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4. Why SVM for Intrusion Detection?</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"The real strength of SVM lies in its 'Support Vectors'—the specific data points closest to the boundary. Because the model only cares about these critical points, it is highly effective in high-dimensional spaces (where logs have many features) and is less likely to be distracted by outliers or noise in the data."</a:t>
            </a:r>
            <a:endParaRPr>
              <a:solidFill>
                <a:schemeClr val="dk1"/>
              </a:solidFill>
            </a:endParaRPr>
          </a:p>
          <a:p>
            <a:pPr indent="0" lvl="0" marL="0" rtl="0" algn="l">
              <a:lnSpc>
                <a:spcPct val="100000"/>
              </a:lnSpc>
              <a:spcBef>
                <a:spcPts val="1200"/>
              </a:spcBef>
              <a:spcAft>
                <a:spcPts val="0"/>
              </a:spcAft>
              <a:buSzPts val="1400"/>
              <a:buNone/>
            </a:pPr>
            <a:r>
              <a:t/>
            </a:r>
            <a:endParaRPr sz="1200">
              <a:solidFill>
                <a:schemeClr val="dk1"/>
              </a:solidFill>
              <a:latin typeface="Calibri"/>
              <a:ea typeface="Calibri"/>
              <a:cs typeface="Calibri"/>
              <a:sym typeface="Calibri"/>
            </a:endParaRPr>
          </a:p>
        </p:txBody>
      </p:sp>
      <p:sp>
        <p:nvSpPr>
          <p:cNvPr id="268" name="Google Shape;268;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96d4a5dad6_5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96d4a5dad6_5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"A Decision Tree works like a simple flowchart. It asks one question at a time: 'Is the file size big?' If Yes, 'Is it from an unknown IP?' If Yes, then 'Alert!'. Security teams love this because it’s </a:t>
            </a:r>
            <a:r>
              <a:rPr b="1" lang="zh-CN">
                <a:solidFill>
                  <a:schemeClr val="dk1"/>
                </a:solidFill>
              </a:rPr>
              <a:t>transparent</a:t>
            </a:r>
            <a:r>
              <a:rPr lang="zh-CN">
                <a:solidFill>
                  <a:schemeClr val="dk1"/>
                </a:solidFill>
              </a:rPr>
              <a:t>. If it catches a virus, you can look back at the 'map' and see exactly which questions led to that conclusion."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1. The Logic of the Tree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"We previously discussed the </a:t>
            </a:r>
            <a:r>
              <a:rPr b="1" lang="zh-CN">
                <a:solidFill>
                  <a:schemeClr val="dk1"/>
                </a:solidFill>
              </a:rPr>
              <a:t>Decision Tree</a:t>
            </a:r>
            <a:r>
              <a:rPr lang="zh-CN">
                <a:solidFill>
                  <a:schemeClr val="dk1"/>
                </a:solidFill>
              </a:rPr>
              <a:t>. As you can see in the diagram, it works by asking a series of hierarchical questions. For an Intrusion Detection System (IDS), these questions might be: 'Is the user logged in?' or 'Is this a guest login?' By following these branches, we eventually reach a 'leaf' that classifies the event as either Benign or an Attack."</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2. Measuring Importance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"But which questions are the most important? Not all system features are created equal. Look at the </a:t>
            </a:r>
            <a:r>
              <a:rPr b="1" lang="zh-CN">
                <a:solidFill>
                  <a:schemeClr val="dk1"/>
                </a:solidFill>
              </a:rPr>
              <a:t>Feature Importances</a:t>
            </a:r>
            <a:r>
              <a:rPr lang="zh-CN">
                <a:solidFill>
                  <a:schemeClr val="dk1"/>
                </a:solidFill>
              </a:rPr>
              <a:t> bar chart for the Decision Tree.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zh-CN">
                <a:solidFill>
                  <a:schemeClr val="dk1"/>
                </a:solidFill>
              </a:rPr>
              <a:t>We calculate this by looking at which features reduce the most 'Entropy' or 'Gini Impurity' across the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CN">
                <a:solidFill>
                  <a:schemeClr val="dk1"/>
                </a:solidFill>
              </a:rPr>
              <a:t>In this specific model, </a:t>
            </a:r>
            <a:r>
              <a:rPr b="1" lang="zh-CN">
                <a:solidFill>
                  <a:srgbClr val="188038"/>
                </a:solidFill>
                <a:latin typeface="Roboto Mono"/>
                <a:ea typeface="Roboto Mono"/>
                <a:cs typeface="Roboto Mono"/>
                <a:sym typeface="Roboto Mono"/>
              </a:rPr>
              <a:t>is_host_login</a:t>
            </a:r>
            <a:r>
              <a:rPr lang="zh-CN">
                <a:solidFill>
                  <a:schemeClr val="dk1"/>
                </a:solidFill>
              </a:rPr>
              <a:t> and </a:t>
            </a:r>
            <a:r>
              <a:rPr b="1" lang="zh-CN">
                <a:solidFill>
                  <a:srgbClr val="188038"/>
                </a:solidFill>
                <a:latin typeface="Roboto Mono"/>
                <a:ea typeface="Roboto Mono"/>
                <a:cs typeface="Roboto Mono"/>
                <a:sym typeface="Roboto Mono"/>
              </a:rPr>
              <a:t>is_guest_login</a:t>
            </a:r>
            <a:r>
              <a:rPr lang="zh-CN">
                <a:solidFill>
                  <a:schemeClr val="dk1"/>
                </a:solidFill>
              </a:rPr>
              <a:t> are the dominant features. This tells us that in our dataset, the login status is the most critical indicator of whether an activity is malicious."</a:t>
            </a:r>
            <a:endParaRPr>
              <a:solidFill>
                <a:schemeClr val="dk1"/>
              </a:solidFill>
            </a:endParaRPr>
          </a:p>
          <a:p>
            <a:pPr indent="0" lvl="0" marL="0" rtl="0" algn="l">
              <a:lnSpc>
                <a:spcPct val="100000"/>
              </a:lnSpc>
              <a:spcBef>
                <a:spcPts val="1200"/>
              </a:spcBef>
              <a:spcAft>
                <a:spcPts val="0"/>
              </a:spcAft>
              <a:buSzPts val="1400"/>
              <a:buNone/>
            </a:pPr>
            <a:r>
              <a:t/>
            </a:r>
            <a:endParaRPr sz="1200">
              <a:solidFill>
                <a:schemeClr val="dk1"/>
              </a:solidFill>
              <a:latin typeface="Calibri"/>
              <a:ea typeface="Calibri"/>
              <a:cs typeface="Calibri"/>
              <a:sym typeface="Calibri"/>
            </a:endParaRPr>
          </a:p>
        </p:txBody>
      </p:sp>
      <p:sp>
        <p:nvSpPr>
          <p:cNvPr id="294" name="Google Shape;294;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6d4a5dad6_5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96d4a5dad6_5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"One person can be wrong, but a crowd is usually right. Random Forest is just a group of 100 Decision Trees. Each tree looks at a different part of the data. At the end, they all </a:t>
            </a:r>
            <a:r>
              <a:rPr b="1" lang="zh-CN">
                <a:solidFill>
                  <a:schemeClr val="dk1"/>
                </a:solidFill>
              </a:rPr>
              <a:t>vote</a:t>
            </a:r>
            <a:r>
              <a:rPr lang="zh-CN">
                <a:solidFill>
                  <a:schemeClr val="dk1"/>
                </a:solidFill>
              </a:rPr>
              <a:t>. If 80 trees say 'Attack' and 20 say 'Normal,' the system sounds the alarm. This makes it incredibly </a:t>
            </a:r>
            <a:r>
              <a:rPr b="1" lang="zh-CN">
                <a:solidFill>
                  <a:schemeClr val="dk1"/>
                </a:solidFill>
              </a:rPr>
              <a:t>reliable</a:t>
            </a:r>
            <a:r>
              <a:rPr lang="zh-CN">
                <a:solidFill>
                  <a:schemeClr val="dk1"/>
                </a:solidFill>
              </a:rPr>
              <a:t> because one 'confused' tree can't ruin the whole result."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zh-CN" sz="1700">
                <a:solidFill>
                  <a:schemeClr val="dk1"/>
                </a:solidFill>
              </a:rPr>
              <a:t>Part 2: Random Forest – Strength in Numbers</a:t>
            </a:r>
            <a:endParaRPr b="1" sz="17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1. From a Tree to a Forest</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"A single Decision Tree is easy to understand, but it can be 'brittle'—it might overfit to noise in the data. To fix this, we use a </a:t>
            </a:r>
            <a:r>
              <a:rPr b="1" lang="zh-CN">
                <a:solidFill>
                  <a:schemeClr val="dk1"/>
                </a:solidFill>
              </a:rPr>
              <a:t>Random Forest</a:t>
            </a:r>
            <a:r>
              <a:rPr lang="zh-CN">
                <a:solidFill>
                  <a:schemeClr val="dk1"/>
                </a:solidFill>
              </a:rPr>
              <a:t>. Think of this as a </a:t>
            </a:r>
            <a:r>
              <a:rPr b="1" lang="zh-CN">
                <a:solidFill>
                  <a:schemeClr val="dk1"/>
                </a:solidFill>
              </a:rPr>
              <a:t>Democratic Committee of Trees</a:t>
            </a:r>
            <a:r>
              <a:rPr lang="zh-CN">
                <a:solidFill>
                  <a:schemeClr val="dk1"/>
                </a:solidFill>
              </a:rPr>
              <a:t>. Instead of one tree making the call, the algorithm creates hundreds of different trees."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2. The Secret Sauce: Randomness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"As shown in the 'Working of Random Forest' diagram, this model uses two layers of randomness: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Bagging (Bootstrap Aggregating):</a:t>
            </a:r>
            <a:r>
              <a:rPr lang="zh-CN">
                <a:solidFill>
                  <a:schemeClr val="dk1"/>
                </a:solidFill>
              </a:rPr>
              <a:t> Each tree is trained on a random subset of the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Random Features:</a:t>
            </a:r>
            <a:r>
              <a:rPr lang="zh-CN">
                <a:solidFill>
                  <a:schemeClr val="dk1"/>
                </a:solidFill>
              </a:rPr>
              <a:t> When splitting a node, the tree only looks at a random selection of features (e.g., it might only consider 'bytes' and 'duration' for one split, ignoring 'protocol'). This ensures the trees are different from one another."</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3. The Final Verdict: Voting</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"When a new system log comes in, every tree in the forest makes its own prediction (Class A or Class B). We then use </a:t>
            </a:r>
            <a:r>
              <a:rPr b="1" lang="zh-CN">
                <a:solidFill>
                  <a:schemeClr val="dk1"/>
                </a:solidFill>
              </a:rPr>
              <a:t>Majority Voting</a:t>
            </a:r>
            <a:r>
              <a:rPr lang="zh-CN">
                <a:solidFill>
                  <a:schemeClr val="dk1"/>
                </a:solidFill>
              </a:rPr>
              <a:t>. If 90 trees say 'Attack' and 10 say 'Normal,' the final output is 'Attack.' This 'wisdom of the crowd' makes the model much more accurate and trustworthy."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zh-CN" sz="1700">
                <a:solidFill>
                  <a:schemeClr val="dk1"/>
                </a:solidFill>
              </a:rPr>
              <a:t>Part 3: Comparing Feature Importance</a:t>
            </a:r>
            <a:endParaRPr b="1" sz="17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CN" sz="1300">
                <a:solidFill>
                  <a:schemeClr val="dk1"/>
                </a:solidFill>
              </a:rPr>
              <a:t>1. Stability in Importance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"Finally, let’s look at the </a:t>
            </a:r>
            <a:r>
              <a:rPr b="1" lang="zh-CN">
                <a:solidFill>
                  <a:schemeClr val="dk1"/>
                </a:solidFill>
              </a:rPr>
              <a:t>Feature Importance for the Random Forest</a:t>
            </a:r>
            <a:r>
              <a:rPr lang="zh-CN">
                <a:solidFill>
                  <a:schemeClr val="dk1"/>
                </a:solidFill>
              </a:rPr>
              <a:t>. You’ll notice it looks slightly different from the single Decision Tree chart.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zh-CN">
                <a:solidFill>
                  <a:schemeClr val="dk1"/>
                </a:solidFill>
              </a:rPr>
              <a:t>While </a:t>
            </a:r>
            <a:r>
              <a:rPr b="1" lang="zh-CN">
                <a:solidFill>
                  <a:srgbClr val="188038"/>
                </a:solidFill>
                <a:latin typeface="Roboto Mono"/>
                <a:ea typeface="Roboto Mono"/>
                <a:cs typeface="Roboto Mono"/>
                <a:sym typeface="Roboto Mono"/>
              </a:rPr>
              <a:t>is_host_login</a:t>
            </a:r>
            <a:r>
              <a:rPr lang="zh-CN">
                <a:solidFill>
                  <a:schemeClr val="dk1"/>
                </a:solidFill>
              </a:rPr>
              <a:t> remains the top feature, the importance scores for other features like </a:t>
            </a:r>
            <a:r>
              <a:rPr lang="zh-CN">
                <a:solidFill>
                  <a:srgbClr val="188038"/>
                </a:solidFill>
                <a:latin typeface="Roboto Mono"/>
                <a:ea typeface="Roboto Mono"/>
                <a:cs typeface="Roboto Mono"/>
                <a:sym typeface="Roboto Mono"/>
              </a:rPr>
              <a:t>srv_diff_host_rate</a:t>
            </a:r>
            <a:r>
              <a:rPr lang="zh-CN">
                <a:solidFill>
                  <a:schemeClr val="dk1"/>
                </a:solidFill>
              </a:rPr>
              <a:t> or </a:t>
            </a:r>
            <a:r>
              <a:rPr lang="zh-CN">
                <a:solidFill>
                  <a:srgbClr val="188038"/>
                </a:solidFill>
                <a:latin typeface="Roboto Mono"/>
                <a:ea typeface="Roboto Mono"/>
                <a:cs typeface="Roboto Mono"/>
                <a:sym typeface="Roboto Mono"/>
              </a:rPr>
              <a:t>dst_bytes</a:t>
            </a:r>
            <a:r>
              <a:rPr lang="zh-CN">
                <a:solidFill>
                  <a:schemeClr val="dk1"/>
                </a:solidFill>
              </a:rPr>
              <a:t> are more distributed.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CN">
                <a:solidFill>
                  <a:schemeClr val="dk1"/>
                </a:solidFill>
              </a:rPr>
              <a:t>This is a hallmark of Random Forest: because different trees are forced to look at different features, the model gains a more </a:t>
            </a:r>
            <a:r>
              <a:rPr b="1" lang="zh-CN">
                <a:solidFill>
                  <a:schemeClr val="dk1"/>
                </a:solidFill>
              </a:rPr>
              <a:t>holistic view</a:t>
            </a:r>
            <a:r>
              <a:rPr lang="zh-CN">
                <a:solidFill>
                  <a:schemeClr val="dk1"/>
                </a:solidFill>
              </a:rPr>
              <a:t> of the data. It doesn't put all its eggs in one basket."</a:t>
            </a:r>
            <a:endParaRPr>
              <a:solidFill>
                <a:schemeClr val="dk1"/>
              </a:solidFill>
            </a:endParaRPr>
          </a:p>
          <a:p>
            <a:pPr indent="0" lvl="0" marL="0" rtl="0" algn="l">
              <a:lnSpc>
                <a:spcPct val="100000"/>
              </a:lnSpc>
              <a:spcBef>
                <a:spcPts val="1200"/>
              </a:spcBef>
              <a:spcAft>
                <a:spcPts val="0"/>
              </a:spcAft>
              <a:buSzPts val="1400"/>
              <a:buNone/>
            </a:pPr>
            <a:r>
              <a:t/>
            </a:r>
            <a:endParaRPr sz="1200">
              <a:solidFill>
                <a:schemeClr val="dk1"/>
              </a:solidFill>
              <a:latin typeface="Calibri"/>
              <a:ea typeface="Calibri"/>
              <a:cs typeface="Calibri"/>
              <a:sym typeface="Calibri"/>
            </a:endParaRPr>
          </a:p>
        </p:txBody>
      </p:sp>
      <p:sp>
        <p:nvSpPr>
          <p:cNvPr id="320" name="Google Shape;320;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96d4a5dad6_5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96d4a5dad6_5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Imagine a detective holding a small </a:t>
            </a:r>
            <a:r>
              <a:rPr b="1" lang="zh-CN">
                <a:solidFill>
                  <a:schemeClr val="dk1"/>
                </a:solidFill>
              </a:rPr>
              <a:t>magnifying glass</a:t>
            </a:r>
            <a:r>
              <a:rPr lang="zh-CN">
                <a:solidFill>
                  <a:schemeClr val="dk1"/>
                </a:solidFill>
              </a:rPr>
              <a:t>. Instead of looking at the whole crime scene at once, he slides the glass across the floor, inch by inch, looking for specific clues like a fingerprint or a shoe mark.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zh-CN">
                <a:solidFill>
                  <a:schemeClr val="dk1"/>
                </a:solidFill>
              </a:rPr>
              <a:t>This script explains how a </a:t>
            </a:r>
            <a:r>
              <a:rPr b="1" lang="zh-CN">
                <a:solidFill>
                  <a:schemeClr val="dk1"/>
                </a:solidFill>
              </a:rPr>
              <a:t>Convolutional Neural Network (CNN)</a:t>
            </a:r>
            <a:r>
              <a:rPr lang="zh-CN">
                <a:solidFill>
                  <a:schemeClr val="dk1"/>
                </a:solidFill>
              </a:rPr>
              <a:t>—famously used for image recognition—can be adapted for an </a:t>
            </a:r>
            <a:r>
              <a:rPr b="1" lang="zh-CN">
                <a:solidFill>
                  <a:schemeClr val="dk1"/>
                </a:solidFill>
              </a:rPr>
              <a:t>Intrusion Detection System (IDS)</a:t>
            </a:r>
            <a:r>
              <a:rPr lang="zh-CN">
                <a:solidFill>
                  <a:schemeClr val="dk1"/>
                </a:solidFill>
              </a:rPr>
              <a:t> by treating network features as a structured "image" of system behavior.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CN" sz="1700">
                <a:solidFill>
                  <a:schemeClr val="dk1"/>
                </a:solidFill>
              </a:rPr>
              <a:t>Presentation Script: CNNs – From Pixels to Packets</a:t>
            </a:r>
            <a:endParaRPr b="1" sz="17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b="1" lang="zh-CN" sz="1300">
                <a:solidFill>
                  <a:schemeClr val="dk1"/>
                </a:solidFill>
              </a:rPr>
              <a:t>1. Introduction: Why Use a Vision Model for Security?</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"We’ve looked at traditional models, but now we’re entering the realm of </a:t>
            </a:r>
            <a:r>
              <a:rPr b="1" lang="zh-CN">
                <a:solidFill>
                  <a:schemeClr val="dk1"/>
                </a:solidFill>
              </a:rPr>
              <a:t>Deep Learning</a:t>
            </a:r>
            <a:r>
              <a:rPr lang="zh-CN">
                <a:solidFill>
                  <a:schemeClr val="dk1"/>
                </a:solidFill>
              </a:rPr>
              <a:t>. This slide shows a </a:t>
            </a:r>
            <a:r>
              <a:rPr b="1" lang="zh-CN">
                <a:solidFill>
                  <a:schemeClr val="dk1"/>
                </a:solidFill>
              </a:rPr>
              <a:t>Convolutional Neural Network (CNN)</a:t>
            </a:r>
            <a:r>
              <a:rPr lang="zh-CN">
                <a:solidFill>
                  <a:schemeClr val="dk1"/>
                </a:solidFill>
              </a:rPr>
              <a:t>. While CNNs are typically used for images (like identifying a '2' in the input), they are incredibly powerful for IDS because they excel at finding </a:t>
            </a:r>
            <a:r>
              <a:rPr b="1" lang="zh-CN">
                <a:solidFill>
                  <a:schemeClr val="dk1"/>
                </a:solidFill>
              </a:rPr>
              <a:t>spatial patterns</a:t>
            </a:r>
            <a:r>
              <a:rPr lang="zh-CN">
                <a:solidFill>
                  <a:schemeClr val="dk1"/>
                </a:solidFill>
              </a:rPr>
              <a:t> in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2. Translating IDS Features to a "Digital Image"</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"You might ask: </a:t>
            </a:r>
            <a:r>
              <a:rPr i="1" lang="zh-CN">
                <a:solidFill>
                  <a:schemeClr val="dk1"/>
                </a:solidFill>
              </a:rPr>
              <a:t>'My system logs aren't pictures, so how does this work?'</a:t>
            </a:r>
            <a:r>
              <a:rPr lang="zh-CN">
                <a:solidFill>
                  <a:schemeClr val="dk1"/>
                </a:solidFill>
              </a:rPr>
              <a:t> In a modern IDS, we take a sequence of network features—like bytes, duration, and protocol types—and arrange them into a </a:t>
            </a:r>
            <a:r>
              <a:rPr b="1" lang="zh-CN">
                <a:solidFill>
                  <a:schemeClr val="dk1"/>
                </a:solidFill>
              </a:rPr>
              <a:t>2D matrix</a:t>
            </a:r>
            <a:r>
              <a:rPr lang="zh-C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zh-CN">
                <a:solidFill>
                  <a:schemeClr val="dk1"/>
                </a:solidFill>
              </a:rPr>
              <a:t>Just as an image has pixels arranged in rows and columns, our IDS data becomes a 'snapshot' of network traffic over a short window of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CN">
                <a:solidFill>
                  <a:schemeClr val="dk1"/>
                </a:solidFill>
              </a:rPr>
              <a:t>The CNN then 'looks' at this snapshot to find suspicious shapes or patterns that represent an attack."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3. The Architecture: Step-by-Step</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"Let's follow the data through the layers shown in the diagram: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CN">
                <a:solidFill>
                  <a:schemeClr val="dk1"/>
                </a:solidFill>
              </a:rPr>
              <a:t>Convolution Layers (Conv_1 &amp; Conv_2):</a:t>
            </a:r>
            <a:r>
              <a:rPr lang="zh-CN">
                <a:solidFill>
                  <a:schemeClr val="dk1"/>
                </a:solidFill>
              </a:rPr>
              <a:t> These layers use 'filters' (the $5 \times 5$ kernels) to slide across our data. They don't just look at one feature at a time; they look at </a:t>
            </a:r>
            <a:r>
              <a:rPr b="1" lang="zh-CN">
                <a:solidFill>
                  <a:schemeClr val="dk1"/>
                </a:solidFill>
              </a:rPr>
              <a:t>relationships</a:t>
            </a:r>
            <a:r>
              <a:rPr lang="zh-CN">
                <a:solidFill>
                  <a:schemeClr val="dk1"/>
                </a:solidFill>
              </a:rPr>
              <a:t> between neighboring features. For example, it might detect that a specific combination of small packet sizes followed by a rapid spike in CPU usage is a sign of a DDoS attack.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Max-Pooling:</a:t>
            </a:r>
            <a:r>
              <a:rPr lang="zh-CN">
                <a:solidFill>
                  <a:schemeClr val="dk1"/>
                </a:solidFill>
              </a:rPr>
              <a:t> These layers (the $2 \times 2$ blocks) downsample the data. They keep only the most important 'signals' and discard the noise, making the model faster and more robust.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Flattening:</a:t>
            </a:r>
            <a:r>
              <a:rPr lang="zh-CN">
                <a:solidFill>
                  <a:schemeClr val="dk1"/>
                </a:solidFill>
              </a:rPr>
              <a:t> Once the features are extracted, we 'flatten' them into a single long vector to prepare for the final decision-making phase."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4. The Final Decision: Fully Connected Layers</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"The end of the pipeline consists of </a:t>
            </a:r>
            <a:r>
              <a:rPr b="1" lang="zh-CN">
                <a:solidFill>
                  <a:schemeClr val="dk1"/>
                </a:solidFill>
              </a:rPr>
              <a:t>Fully Connected Layers (fc_3 &amp; fc_4)</a:t>
            </a:r>
            <a:r>
              <a:rPr lang="zh-CN">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zh-CN">
                <a:solidFill>
                  <a:schemeClr val="dk1"/>
                </a:solidFill>
              </a:rPr>
              <a:t>This is the 'brain' of the network. It takes all the patterns found by the convolution layers and maps them to a specific output.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CN">
                <a:solidFill>
                  <a:schemeClr val="dk1"/>
                </a:solidFill>
              </a:rPr>
              <a:t>In the image example, it outputs a digit from 0 to 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CN">
                <a:solidFill>
                  <a:schemeClr val="dk1"/>
                </a:solidFill>
              </a:rPr>
              <a:t>In our </a:t>
            </a:r>
            <a:r>
              <a:rPr b="1" lang="zh-CN">
                <a:solidFill>
                  <a:schemeClr val="dk1"/>
                </a:solidFill>
              </a:rPr>
              <a:t>IDS</a:t>
            </a:r>
            <a:r>
              <a:rPr lang="zh-CN">
                <a:solidFill>
                  <a:schemeClr val="dk1"/>
                </a:solidFill>
              </a:rPr>
              <a:t>, these output nodes would represent different classes: </a:t>
            </a:r>
            <a:r>
              <a:rPr b="1" lang="zh-CN">
                <a:solidFill>
                  <a:schemeClr val="dk1"/>
                </a:solidFill>
              </a:rPr>
              <a:t>'Normal,' 'Buffer Overflow,' 'Port Scan,' or 'Malware Communication.'</a:t>
            </a:r>
            <a:r>
              <a:rPr lang="zh-C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CN" sz="1300">
                <a:solidFill>
                  <a:schemeClr val="dk1"/>
                </a:solidFill>
              </a:rPr>
              <a:t>5. Why This Matters for Security</a:t>
            </a:r>
            <a:endParaRPr b="1"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zh-CN">
                <a:solidFill>
                  <a:schemeClr val="dk1"/>
                </a:solidFill>
              </a:rPr>
              <a:t>"The beauty of using a CNN for IDS is its ability to handle </a:t>
            </a:r>
            <a:r>
              <a:rPr b="1" lang="zh-CN">
                <a:solidFill>
                  <a:schemeClr val="dk1"/>
                </a:solidFill>
              </a:rPr>
              <a:t>high-dimensional data</a:t>
            </a:r>
            <a:r>
              <a:rPr lang="zh-CN">
                <a:solidFill>
                  <a:schemeClr val="dk1"/>
                </a:solidFill>
              </a:rPr>
              <a:t> automatically. We don't have to manually tell the model which features are important; the convolution layers learn to 'see' the attack patterns themselves, even if they are buried in a complex sequence of normal traffic."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p:txBody>
      </p:sp>
      <p:sp>
        <p:nvSpPr>
          <p:cNvPr id="345" name="Google Shape;34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96d4a5dad6_5_1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52" name="Google Shape;352;g396d4a5dad6_5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6d4a5dad6_5_1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8" name="Google Shape;358;g396d4a5dad6_5_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g396d4a5dad6_5_1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sz="2000"/>
              <a:t>To make this more concrete, let me show simple examples of vulnerable codes. </a:t>
            </a:r>
            <a:br>
              <a:rPr lang="zh-CN" sz="2000"/>
            </a:br>
            <a:r>
              <a:rPr lang="zh-CN" sz="2000"/>
              <a:t>In this function, we define a fixed-size buffer called username, which can only hold 8 characters. </a:t>
            </a:r>
            <a:br>
              <a:rPr lang="zh-CN" sz="2000"/>
            </a:br>
            <a:r>
              <a:rPr lang="zh-CN" sz="2000"/>
              <a:t>However, the program uses gets() to read user input. The problem is that gets() does not check the input length. </a:t>
            </a:r>
            <a:br>
              <a:rPr lang="zh-CN" sz="2000"/>
            </a:br>
            <a:r>
              <a:rPr lang="zh-CN" sz="2000"/>
              <a:t>If the input is longer than the buffer, it will overflow and overwrite adjacent memory. </a:t>
            </a:r>
            <a:br>
              <a:rPr lang="zh-CN" sz="2000"/>
            </a:br>
            <a:r>
              <a:rPr lang="zh-CN" sz="2000"/>
              <a:t>This can lead to serious security issues, such as arbitrary code execution. </a:t>
            </a:r>
            <a:br>
              <a:rPr lang="zh-CN" sz="2000"/>
            </a:br>
            <a:r>
              <a:rPr lang="zh-CN" sz="2000"/>
              <a:t>This is a classic example of unsafe memory handling in C.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96d4a5dad6_5_1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67" name="Google Shape;367;g396d4a5dad6_5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g396d4a5dad6_5_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sz="2000"/>
              <a:t>In this case, the program constructs an SQL query by directly concatenating user input. </a:t>
            </a:r>
            <a:br>
              <a:rPr lang="zh-CN" sz="2000"/>
            </a:br>
            <a:r>
              <a:rPr lang="zh-CN" sz="2000"/>
              <a:t>The problem is that the user input is not sanitized or validated. </a:t>
            </a:r>
            <a:br>
              <a:rPr lang="zh-CN" sz="2000"/>
            </a:br>
            <a:r>
              <a:rPr lang="zh-CN" sz="2000"/>
              <a:t>This means an attacker can inject malicious SQL code to change the behavior of the query. </a:t>
            </a:r>
            <a:br>
              <a:rPr lang="zh-CN" sz="2000"/>
            </a:br>
            <a:r>
              <a:rPr lang="zh-CN" sz="2000"/>
              <a:t>For example, instead of a normal username, the attacker could input something like a crafted string that bypasses authentication. </a:t>
            </a:r>
            <a:br>
              <a:rPr lang="zh-CN" sz="2000"/>
            </a:br>
            <a:r>
              <a:rPr lang="zh-CN" sz="2000"/>
              <a:t>As a result, the database may return unintended data or grant unauthorized access. </a:t>
            </a:r>
            <a:br>
              <a:rPr lang="zh-CN" sz="2000"/>
            </a:br>
            <a:r>
              <a:rPr lang="zh-CN" sz="2000"/>
              <a:t>The safer approach is to use parameterized queries, which separate code from data and prevent injection attacks.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96d4a5dad6_5_1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76" name="Google Shape;376;g396d4a5dad6_5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g396d4a5dad6_5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sz="2000"/>
              <a:t>In this case, the program takes user input and directly inserts it into a shell command. </a:t>
            </a:r>
            <a:br>
              <a:rPr lang="zh-CN" sz="2000"/>
            </a:br>
            <a:r>
              <a:rPr lang="zh-CN" sz="2000"/>
              <a:t>Specifically, it constructs a command like cat &lt;filename&gt; and executes it using os.system(). </a:t>
            </a:r>
            <a:br>
              <a:rPr lang="zh-CN" sz="2000"/>
            </a:br>
            <a:r>
              <a:rPr lang="zh-CN" sz="2000"/>
              <a:t>The problem is that the input is not validated or sanitized. </a:t>
            </a:r>
            <a:br>
              <a:rPr lang="zh-CN" sz="2000"/>
            </a:br>
            <a:r>
              <a:rPr lang="zh-CN" sz="2000"/>
              <a:t>If an attacker provides input containing shell control characters, such as command separators, they can execute unintended commands. </a:t>
            </a:r>
            <a:br>
              <a:rPr lang="zh-CN" sz="2000"/>
            </a:br>
            <a:r>
              <a:rPr lang="zh-CN" sz="2000"/>
              <a:t>For example, instead of a filename, the attacker could inject additional commands that the system will execute. </a:t>
            </a:r>
            <a:br>
              <a:rPr lang="zh-CN" sz="2000"/>
            </a:br>
            <a:r>
              <a:rPr lang="zh-CN" sz="2000"/>
              <a:t>This is known as command injection, and it can lead to serious security issues such as unauthorized command execution.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96d4a5dad6_5_1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85" name="Google Shape;385;g396d4a5dad6_5_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g396d4a5dad6_5_1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sz="3600"/>
              <a:t>Let me start by explaining why vulnerability detection is important. </a:t>
            </a:r>
            <a:br>
              <a:rPr lang="zh-CN" sz="3600"/>
            </a:br>
            <a:r>
              <a:rPr lang="zh-CN" sz="3600"/>
              <a:t>Modern software systems are becoming increasingly complex and large-scale, and even experienced developers can unintentionally introduce vulnerabilities. </a:t>
            </a:r>
            <a:br>
              <a:rPr lang="zh-CN" sz="3600"/>
            </a:br>
            <a:r>
              <a:rPr lang="zh-CN" sz="3600"/>
              <a:t>As a result, software vulnerabilities remain a major cause of security breaches, such as data leaks, system compromise, and service disruption. </a:t>
            </a:r>
            <a:br>
              <a:rPr lang="zh-CN" sz="3600"/>
            </a:br>
            <a:r>
              <a:rPr lang="zh-CN" sz="3600"/>
              <a:t>Traditionally, detecting these vulnerabilities relies heavily on manual code review, which is both time-consuming and error-prone. </a:t>
            </a:r>
            <a:br>
              <a:rPr lang="zh-CN" sz="3600"/>
            </a:br>
            <a:r>
              <a:rPr lang="zh-CN" sz="3600"/>
              <a:t>Static analysis tools try to automate this process, but they mainly depend on manually crafted rules. These rules are hard to maintain and often fail to capture new or evolving vulnerability patterns. </a:t>
            </a:r>
            <a:br>
              <a:rPr lang="zh-CN" sz="3600"/>
            </a:br>
            <a:r>
              <a:rPr lang="zh-CN" sz="3600"/>
              <a:t>More importantly, new vulnerabilities appear much faster than these rules can keep up. </a:t>
            </a:r>
            <a:br>
              <a:rPr lang="zh-CN" sz="3600"/>
            </a:br>
            <a:r>
              <a:rPr lang="zh-CN" sz="3600"/>
              <a:t>This is where AI comes in. AI can automatically learn vulnerability patterns from large-scale code data. </a:t>
            </a:r>
            <a:br>
              <a:rPr lang="zh-CN" sz="3600"/>
            </a:br>
            <a:r>
              <a:rPr lang="zh-CN" sz="3600"/>
              <a:t>Instead of replacing human experts, it helps prioritize risky code regions and makes the review process more efficient.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6d4a5dad6_5_2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95" name="Google Shape;395;g396d4a5dad6_5_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g396d4a5dad6_5_2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zh-CN" sz="1200" u="none" cap="none" strike="noStrike">
                <a:solidFill>
                  <a:schemeClr val="dk1"/>
                </a:solidFill>
                <a:latin typeface="Calibri"/>
                <a:ea typeface="Calibri"/>
                <a:cs typeface="Calibri"/>
                <a:sym typeface="Calibri"/>
              </a:rPr>
              <a:t>We frame vulnerability detection as a supervised learning problem.</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zh-CN" sz="1200" u="none" cap="none" strike="noStrike">
                <a:solidFill>
                  <a:schemeClr val="dk1"/>
                </a:solidFill>
                <a:latin typeface="Calibri"/>
                <a:ea typeface="Calibri"/>
                <a:cs typeface="Calibri"/>
                <a:sym typeface="Calibri"/>
              </a:rPr>
              <a:t>Each code function is treated as one data sample.</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zh-CN" sz="1200" u="none" cap="none" strike="noStrike">
                <a:solidFill>
                  <a:schemeClr val="dk1"/>
                </a:solidFill>
                <a:latin typeface="Calibri"/>
                <a:ea typeface="Calibri"/>
                <a:cs typeface="Calibri"/>
                <a:sym typeface="Calibri"/>
              </a:rPr>
              <a:t>The model predicts whether this function contains a vulnerability or not.</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zh-CN" sz="1200" u="none" cap="none" strike="noStrike">
                <a:solidFill>
                  <a:schemeClr val="dk1"/>
                </a:solidFill>
                <a:latin typeface="Calibri"/>
                <a:ea typeface="Calibri"/>
                <a:cs typeface="Calibri"/>
                <a:sym typeface="Calibri"/>
              </a:rPr>
              <a:t>So fundamentally, this is a </a:t>
            </a:r>
            <a:r>
              <a:rPr b="1" i="0" lang="zh-CN" sz="1200" u="none" cap="none" strike="noStrike">
                <a:solidFill>
                  <a:schemeClr val="dk1"/>
                </a:solidFill>
                <a:latin typeface="Calibri"/>
                <a:ea typeface="Calibri"/>
                <a:cs typeface="Calibri"/>
                <a:sym typeface="Calibri"/>
              </a:rPr>
              <a:t>binary classification task</a:t>
            </a:r>
            <a:r>
              <a:rPr b="0" i="0" lang="zh-CN" sz="1200" u="none" cap="none" strike="noStrike">
                <a:solidFill>
                  <a:schemeClr val="dk1"/>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lang="zh-CN"/>
              <a:t>Our data comes from the MSR_data_cleaned dataset on HuggingFace, which is built from real-world CVE vulnerability records. It contains actual production code from well-known open-source projects like the Linux kernel, FFmpeg, and Apache.</a:t>
            </a:r>
            <a:endParaRPr/>
          </a:p>
          <a:p>
            <a:pPr indent="-228600" lvl="0" marL="457200" marR="0" rtl="0" algn="l">
              <a:lnSpc>
                <a:spcPct val="100000"/>
              </a:lnSpc>
              <a:spcBef>
                <a:spcPts val="0"/>
              </a:spcBef>
              <a:spcAft>
                <a:spcPts val="0"/>
              </a:spcAft>
              <a:buSzPts val="1400"/>
              <a:buNone/>
            </a:pPr>
            <a:r>
              <a:rPr lang="zh-CN"/>
              <a:t>In terms of scale, we have over </a:t>
            </a:r>
            <a:r>
              <a:rPr b="1" lang="zh-CN"/>
              <a:t>150,000 C language functions</a:t>
            </a:r>
            <a:r>
              <a:rPr lang="zh-CN"/>
              <a:t> in total. Among these, 8,720 functions are vulnerable, accounting for 5.8%, while over 142,000 functions are non-vulnerable, making up 94.2%.</a:t>
            </a:r>
            <a:endParaRPr/>
          </a:p>
          <a:p>
            <a:pPr indent="-228600" lvl="0" marL="457200" marR="0" rtl="0" algn="l">
              <a:lnSpc>
                <a:spcPct val="100000"/>
              </a:lnSpc>
              <a:spcBef>
                <a:spcPts val="0"/>
              </a:spcBef>
              <a:spcAft>
                <a:spcPts val="0"/>
              </a:spcAft>
              <a:buClr>
                <a:srgbClr val="000000"/>
              </a:buClr>
              <a:buSzPts val="1400"/>
              <a:buFont typeface="Arial"/>
              <a:buNone/>
            </a:pPr>
            <a:r>
              <a:rPr b="1" i="0" lang="zh-CN" sz="1200" u="none" cap="none" strike="noStrike">
                <a:solidFill>
                  <a:schemeClr val="dk1"/>
                </a:solidFill>
                <a:latin typeface="Calibri"/>
                <a:ea typeface="Calibri"/>
                <a:cs typeface="Calibri"/>
                <a:sym typeface="Calibri"/>
              </a:rPr>
              <a:t>To better understand and label these vulnerable functions, real-world vulnerability records provide essential contextual information.</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zh-CN" sz="1200" u="none" cap="none" strike="noStrike">
                <a:solidFill>
                  <a:schemeClr val="dk1"/>
                </a:solidFill>
                <a:latin typeface="Calibri"/>
                <a:ea typeface="Calibri"/>
                <a:cs typeface="Calibri"/>
                <a:sym typeface="Calibri"/>
              </a:rPr>
              <a:t>In vulnerability analysis, each vulnerability is described using standardized identifiers and metadata.</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zh-CN" sz="1200" u="none" cap="none" strike="noStrike">
                <a:solidFill>
                  <a:schemeClr val="dk1"/>
                </a:solidFill>
                <a:latin typeface="Calibri"/>
                <a:ea typeface="Calibri"/>
                <a:cs typeface="Calibri"/>
                <a:sym typeface="Calibri"/>
              </a:rPr>
              <a:t>CVE IDs uniquely identify individual vulnerabilities, while CWE IDs categorize them based on underlying weakness types.</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zh-CN" sz="1200" u="none" cap="none" strike="noStrike">
                <a:solidFill>
                  <a:schemeClr val="dk1"/>
                </a:solidFill>
                <a:latin typeface="Calibri"/>
                <a:ea typeface="Calibri"/>
                <a:cs typeface="Calibri"/>
                <a:sym typeface="Calibri"/>
              </a:rPr>
              <a:t>The CVSS score quantifies the severity of a vulnerability and helps prioritize remediation efforts.</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zh-CN" sz="1200" u="none" cap="none" strike="noStrike">
                <a:solidFill>
                  <a:schemeClr val="dk1"/>
                </a:solidFill>
                <a:latin typeface="Calibri"/>
                <a:ea typeface="Calibri"/>
                <a:cs typeface="Calibri"/>
                <a:sym typeface="Calibri"/>
              </a:rPr>
              <a:t>In addition, commit information and patch details provide insight into how vulnerabilities are fixed at the code level.</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SzPts val="1400"/>
              <a:buNone/>
            </a:pPr>
            <a:r>
              <a:rPr b="0" i="0" lang="zh-CN" sz="1200" u="none" cap="none" strike="noStrike">
                <a:solidFill>
                  <a:schemeClr val="dk1"/>
                </a:solidFill>
                <a:latin typeface="Calibri"/>
                <a:ea typeface="Calibri"/>
                <a:cs typeface="Calibri"/>
                <a:sym typeface="Calibri"/>
              </a:rPr>
              <a:t>Together, these elements form the foundation for understanding, analyzing, and automatically detecting software vulnerabilities using AI-based approaches.</a:t>
            </a:r>
            <a:endParaRPr b="0" i="0" sz="1200" u="none" cap="none" strike="noStrike">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96d4a5dad6_5_2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05" name="Google Shape;405;g396d4a5dad6_5_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g396d4a5dad6_5_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zh-CN"/>
              <a:t>So how do we convert code into something AI can understand?</a:t>
            </a:r>
            <a:endParaRPr/>
          </a:p>
          <a:p>
            <a:pPr indent="-228600" lvl="0" marL="457200" marR="0" rtl="0" algn="l">
              <a:lnSpc>
                <a:spcPct val="100000"/>
              </a:lnSpc>
              <a:spcBef>
                <a:spcPts val="0"/>
              </a:spcBef>
              <a:spcAft>
                <a:spcPts val="0"/>
              </a:spcAft>
              <a:buSzPts val="1400"/>
              <a:buNone/>
            </a:pPr>
            <a:r>
              <a:rPr b="1" lang="zh-CN"/>
              <a:t>First, tokenization.</a:t>
            </a:r>
            <a:r>
              <a:rPr lang="zh-CN"/>
              <a:t> We use a C lexer to break down the source code into tokens—things like keywords, operators, and variable names. We also preprocess the code by removing comments and string literals, since they don't affect functionality. For example, a function like 'strcpy(buffer, input)' becomes a sequence of tokens: 'strcpy', opening parenthesis, 'buffer', comma, 'input', closing parenthesis.</a:t>
            </a:r>
            <a:endParaRPr/>
          </a:p>
          <a:p>
            <a:pPr indent="-228600" lvl="0" marL="457200" marR="0" rtl="0" algn="l">
              <a:lnSpc>
                <a:spcPct val="100000"/>
              </a:lnSpc>
              <a:spcBef>
                <a:spcPts val="0"/>
              </a:spcBef>
              <a:spcAft>
                <a:spcPts val="0"/>
              </a:spcAft>
              <a:buSzPts val="1400"/>
              <a:buNone/>
            </a:pPr>
            <a:r>
              <a:rPr b="1" lang="zh-CN"/>
              <a:t>Second, vocabulary building.</a:t>
            </a:r>
            <a:r>
              <a:rPr lang="zh-CN"/>
              <a:t> Across all 150,000 functions, we identified over 161,000 unique tokens. To reduce noise, we filtered out tokens that appear fewer than 5 times.</a:t>
            </a:r>
            <a:endParaRPr/>
          </a:p>
          <a:p>
            <a:pPr indent="-228600" lvl="0" marL="457200" marR="0" rtl="0" algn="l">
              <a:lnSpc>
                <a:spcPct val="100000"/>
              </a:lnSpc>
              <a:spcBef>
                <a:spcPts val="0"/>
              </a:spcBef>
              <a:spcAft>
                <a:spcPts val="0"/>
              </a:spcAft>
              <a:buSzPts val="1400"/>
              <a:buNone/>
            </a:pPr>
            <a:r>
              <a:rPr b="1" lang="zh-CN"/>
              <a:t>Third, encoding.</a:t>
            </a:r>
            <a:r>
              <a:rPr lang="zh-CN"/>
              <a:t> Each token is converted to an integer ID. Then we standardize the sequence length to 300 tokens—longer functions are truncated, shorter ones are padded with zeros.</a:t>
            </a:r>
            <a:endParaRPr/>
          </a:p>
          <a:p>
            <a:pPr indent="-228600" lvl="0" marL="457200" marR="0" rtl="0" algn="l">
              <a:lnSpc>
                <a:spcPct val="100000"/>
              </a:lnSpc>
              <a:spcBef>
                <a:spcPts val="0"/>
              </a:spcBef>
              <a:spcAft>
                <a:spcPts val="0"/>
              </a:spcAft>
              <a:buSzPts val="1400"/>
              <a:buNone/>
            </a:pPr>
            <a:r>
              <a:rPr b="1" lang="zh-CN"/>
              <a:t>Finally, embedding.</a:t>
            </a:r>
            <a:r>
              <a:rPr lang="zh-CN"/>
              <a:t> These integer IDs are transformed into 128-dimensional dense vectors through an embedding layer. This captures semantic relationships between tokens—similar code patterns get similar vector representations.</a:t>
            </a:r>
            <a:endParaRPr/>
          </a:p>
          <a:p>
            <a:pPr indent="-228600" lvl="0" marL="457200" marR="0" rtl="0" algn="l">
              <a:lnSpc>
                <a:spcPct val="100000"/>
              </a:lnSpc>
              <a:spcBef>
                <a:spcPts val="0"/>
              </a:spcBef>
              <a:spcAft>
                <a:spcPts val="0"/>
              </a:spcAft>
              <a:buSzPts val="1400"/>
              <a:buNone/>
            </a:pPr>
            <a:r>
              <a:rPr lang="zh-CN"/>
              <a:t>The key point is: we preserve the sequential structure of the code while converting it into a numerical format the neural network can process."</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96d4a5dad6_5_2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17" name="Google Shape;417;g396d4a5dad6_5_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g396d4a5dad6_5_2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zh-CN"/>
              <a:t>"Our model is a Bi-LSTM with attention. Let me explain why.</a:t>
            </a:r>
            <a:endParaRPr/>
          </a:p>
          <a:p>
            <a:pPr indent="-228600" lvl="0" marL="457200" marR="0" rtl="0" algn="l">
              <a:lnSpc>
                <a:spcPct val="100000"/>
              </a:lnSpc>
              <a:spcBef>
                <a:spcPts val="0"/>
              </a:spcBef>
              <a:spcAft>
                <a:spcPts val="0"/>
              </a:spcAft>
              <a:buSzPts val="1400"/>
              <a:buNone/>
            </a:pPr>
            <a:r>
              <a:rPr b="1" lang="zh-CN"/>
              <a:t>Bi-LSTM:</a:t>
            </a:r>
            <a:r>
              <a:rPr lang="zh-CN"/>
              <a:t> We read code in both directions—forward and backward—because vulnerabilities depend on context from both sides. For example, understanding a pointer requires knowing where it's allocated AND where it's freed.</a:t>
            </a:r>
            <a:endParaRPr/>
          </a:p>
          <a:p>
            <a:pPr indent="-228600" lvl="0" marL="457200" marR="0" rtl="0" algn="l">
              <a:lnSpc>
                <a:spcPct val="100000"/>
              </a:lnSpc>
              <a:spcBef>
                <a:spcPts val="0"/>
              </a:spcBef>
              <a:spcAft>
                <a:spcPts val="0"/>
              </a:spcAft>
              <a:buSzPts val="1400"/>
              <a:buNone/>
            </a:pPr>
            <a:r>
              <a:rPr b="1" lang="zh-CN"/>
              <a:t>Attention mechanism:</a:t>
            </a:r>
            <a:r>
              <a:rPr lang="zh-CN"/>
              <a:t> Not all code is equally important. Some keywords like 'strcpy' are high-risk, while others like semicolons don't matter much. Attention automatically learns to focus on the critical parts—the vulnerability hotspots.</a:t>
            </a:r>
            <a:endParaRPr/>
          </a:p>
          <a:p>
            <a:pPr indent="-228600" lvl="0" marL="457200" marR="0" rtl="0" algn="l">
              <a:lnSpc>
                <a:spcPct val="100000"/>
              </a:lnSpc>
              <a:spcBef>
                <a:spcPts val="0"/>
              </a:spcBef>
              <a:spcAft>
                <a:spcPts val="0"/>
              </a:spcAft>
              <a:buSzPts val="1400"/>
              <a:buNone/>
            </a:pPr>
            <a:r>
              <a:rPr lang="zh-CN"/>
              <a:t>The architecture is: embedding layer, bidirectional LSTM, attention, dense layer with dropout, and sigmoid output for binary classification.</a:t>
            </a:r>
            <a:endParaRPr/>
          </a:p>
          <a:p>
            <a:pPr indent="-228600" lvl="0" marL="457200" marR="0" rtl="0" algn="l">
              <a:lnSpc>
                <a:spcPct val="100000"/>
              </a:lnSpc>
              <a:spcBef>
                <a:spcPts val="0"/>
              </a:spcBef>
              <a:spcAft>
                <a:spcPts val="0"/>
              </a:spcAft>
              <a:buSzPts val="1400"/>
              <a:buNone/>
            </a:pPr>
            <a:r>
              <a:rPr lang="zh-CN"/>
              <a:t>It's like teaching the model to review code the way a security expert would—scanning both ways and focusing on the dangerous patterns."</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96d4a5dad6_5_2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28" name="Google Shape;428;g396d4a5dad6_5_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g396d4a5dad6_5_2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39" name="Google Shape;43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44" name="Google Shape;44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a:t>
            </a:r>
            <a:endParaRPr/>
          </a:p>
          <a:p>
            <a:pPr indent="0" lvl="0" marL="0" rtl="0" algn="l">
              <a:lnSpc>
                <a:spcPct val="100000"/>
              </a:lnSpc>
              <a:spcBef>
                <a:spcPts val="0"/>
              </a:spcBef>
              <a:spcAft>
                <a:spcPts val="0"/>
              </a:spcAft>
              <a:buSzPts val="1400"/>
              <a:buNone/>
            </a:pPr>
            <a:r>
              <a:rPr lang="zh-CN"/>
              <a:t>Here is the outline of today’s talk.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First, I’ll briefly explain how C and C++ programs execute, because this directly affects how fuzzing works.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Then I’ll explain why dynamic detection methods, especially fuzzing, are necessary compared to static analysis.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After that, I’ll introduce how large language models can help fuzzing, especially in generating and mutating inputs.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Finally, I’ll show some hands-on experimental results, including coverage improvements on real-world OSS-Fuzz projects.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53" name="Google Shape;45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This diagram illustrates the core feedback-driven loop of modern fuzzing.</a:t>
            </a:r>
            <a:endParaRPr/>
          </a:p>
          <a:p>
            <a:pPr indent="0" lvl="0" marL="0" rtl="0" algn="l">
              <a:lnSpc>
                <a:spcPct val="100000"/>
              </a:lnSpc>
              <a:spcBef>
                <a:spcPts val="0"/>
              </a:spcBef>
              <a:spcAft>
                <a:spcPts val="0"/>
              </a:spcAft>
              <a:buSzPts val="1400"/>
              <a:buNone/>
            </a:pPr>
            <a:r>
              <a:rPr lang="zh-CN"/>
              <a:t>The process starts with a set of seed inputs, which are typically valid or representative examples of the program’s expected input format. These seeds are placed into a corpus, which acts as the evolving knowledge base of the fuzzer.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fuzzer repeatedly selects inputs from the corpus and applies various mutation strategies to generate new test cases. Each mutated input is then passed through the fuzz harness, which serves as a wrapper that feeds the input into the software under test and executes the target code in a controlled manner.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During execution, the fuzzer monitors runtime feedback, most importantly code coverage information. If a new input triggers previously unseen execution paths, it is considered valuable and added back into the corpus, enabling the fuzzer to progressively explore deeper and more complex program behaviors.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At the same time, the fuzzer records findings such as crashes, hangs, or memory violations. These findings often correspond to real bugs or security vulnerabilities, making fuzzing an effective dynamic analysis technique for discovering flaws that are difficult to detect with static methods.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64" name="Google Shape;46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This code snippet is a typical example of a fuzz harness file used by modern fuzzers such as LibFuzzer or OSS-Fuzz.</a:t>
            </a:r>
            <a:endParaRPr/>
          </a:p>
          <a:p>
            <a:pPr indent="0" lvl="0" marL="0" rtl="0" algn="l">
              <a:lnSpc>
                <a:spcPct val="100000"/>
              </a:lnSpc>
              <a:spcBef>
                <a:spcPts val="0"/>
              </a:spcBef>
              <a:spcAft>
                <a:spcPts val="0"/>
              </a:spcAft>
              <a:buSzPts val="1400"/>
              <a:buNone/>
            </a:pPr>
            <a:r>
              <a:rPr lang="zh-CN"/>
              <a:t>The harness defines a special function, LLVMFuzzerTestOneInput, which serves as the entry point that the fuzzer repeatedly calls with mutated inputs.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parameters data and size represent the raw bytes generated by the fuzzer. The role of the harness is to translate these arbitrary bytes into inputs that the target software can consume. In this example, the fuzzed data is treated as in-memory file content and passed directly to a ZIP-processing API in the miniz library.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Rather than fuzzing an entire application or command-line tool, the harness directly invokes a specific function of interest—mz_zip_add_mem_to_archive_file_in_place. This allows the fuzzer to focus on a well-defined execution path and efficiently explore edge cases inside the library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By isolating the target functionality and eliminating unrelated logic such as argument parsing or I/O handling, the harness improves coverage, performance, and crash reproducibility. In practice, the quality of the harness largely determines how effective fuzzing will be at uncovering deep bugs and security vulnerabilities.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75" name="Google Shape;47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This diagram is a call graph, which describes how functions call each other during program execution.</a:t>
            </a:r>
            <a:endParaRPr/>
          </a:p>
          <a:p>
            <a:pPr indent="0" lvl="0" marL="0" rtl="0" algn="l">
              <a:lnSpc>
                <a:spcPct val="100000"/>
              </a:lnSpc>
              <a:spcBef>
                <a:spcPts val="0"/>
              </a:spcBef>
              <a:spcAft>
                <a:spcPts val="0"/>
              </a:spcAft>
              <a:buSzPts val="1400"/>
              <a:buNone/>
            </a:pPr>
            <a:r>
              <a:rPr lang="zh-CN"/>
              <a:t>Each node represents a function, and each directed edge indicates a possible or observed function call relationship.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Execution starts from the program entry point (_start), flows into main, and then branches into other functions such as f0 and f1. Some functions, like f2, may be called from multiple callers, which is why multiple arrows converge on them.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numbers on the edges indicate how many times a call occurred, while the colors or percentages show relative execution cost or coverage. Call graphs are useful for understanding high-level program structure, but they do not show what happens inside a function.</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85" name="Google Shape;48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“Now we stop looking at which functions call which.</a:t>
            </a:r>
            <a:endParaRPr/>
          </a:p>
          <a:p>
            <a:pPr indent="0" lvl="0" marL="0" rtl="0" algn="l">
              <a:lnSpc>
                <a:spcPct val="100000"/>
              </a:lnSpc>
              <a:spcBef>
                <a:spcPts val="0"/>
              </a:spcBef>
              <a:spcAft>
                <a:spcPts val="0"/>
              </a:spcAft>
              <a:buSzPts val="1400"/>
              <a:buNone/>
            </a:pPr>
            <a:r>
              <a:rPr lang="zh-CN"/>
              <a:t>Instead, we focus on what happens inside a single function, step by step.”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1️⃣ What does a CFG describe?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 Control Flow Graph shows all the possible ways execution can flow inside one function.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In simple terms, it answers the question: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“If the program is at this line, where can it go next?”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CFG draws all those possible next steps.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2️⃣ What is a Basic Block?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“Each box in the CFG is called a Basic Block.”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 Basic Block is a chunk of code that: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Executes straight from top to bottom</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Has no jumps in the middle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Has one entry point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Has one exit point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Once execution enters a basic block, every instruction in it will run.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So remember this: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 Basic Block is a piece of code that always executes together.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3️⃣ Why do we split code into Basic Blocks?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Because real programs contain: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if / else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switch</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goto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return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Whenever the program needs to make a decision, the execution can split.</a:t>
            </a:r>
            <a:endParaRPr/>
          </a:p>
          <a:p>
            <a:pPr indent="0" lvl="0" marL="0" rtl="0" algn="l">
              <a:lnSpc>
                <a:spcPct val="100000"/>
              </a:lnSpc>
              <a:spcBef>
                <a:spcPts val="0"/>
              </a:spcBef>
              <a:spcAft>
                <a:spcPts val="0"/>
              </a:spcAft>
              <a:buSzPts val="1400"/>
              <a:buNone/>
            </a:pPr>
            <a:r>
              <a:rPr lang="zh-CN"/>
              <a:t>At that point, the CFG cuts the code into separate basic blocks.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Each block represents one uninterrupted execution segment.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4️⃣ What do the arrows mean?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arrows show where execution may go next after finishing a block.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Conditional statements create multiple outgoing arrows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 goto creates a single forced jump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 return ends the function and has no outgoing arrow</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Important point: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CFG shows all possible paths — not one actual run.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5️⃣ How many paths does one execution take?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Only one.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Even though the CFG looks like a network of many paths,</a:t>
            </a:r>
            <a:endParaRPr/>
          </a:p>
          <a:p>
            <a:pPr indent="0" lvl="0" marL="0" rtl="0" algn="l">
              <a:lnSpc>
                <a:spcPct val="100000"/>
              </a:lnSpc>
              <a:spcBef>
                <a:spcPts val="0"/>
              </a:spcBef>
              <a:spcAft>
                <a:spcPts val="0"/>
              </a:spcAft>
              <a:buSzPts val="1400"/>
              <a:buNone/>
            </a:pPr>
            <a:r>
              <a:rPr lang="zh-CN"/>
              <a:t>a single program run follows only one path from start to end.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 good analogy 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CFG is a map.</a:t>
            </a:r>
            <a:endParaRPr/>
          </a:p>
          <a:p>
            <a:pPr indent="0" lvl="0" marL="0" rtl="0" algn="l">
              <a:lnSpc>
                <a:spcPct val="100000"/>
              </a:lnSpc>
              <a:spcBef>
                <a:spcPts val="0"/>
              </a:spcBef>
              <a:spcAft>
                <a:spcPts val="0"/>
              </a:spcAft>
              <a:buSzPts val="1400"/>
              <a:buNone/>
            </a:pPr>
            <a:r>
              <a:rPr lang="zh-CN"/>
              <a:t>A program execution is one route on that map.”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6️⃣ Why is CFG important for fuzzing?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This explains a key idea in fuzzing: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One fuzz input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Executes one path in the CFG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Other paths require different inputs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So fuzzing works by: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Generating many inputs to explore new paths in the CFG.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Bugs often hide in paths that are rarely taken.</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95" name="Google Shape;49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When we compile a program with GCC using coverage flags, the compiler does not just produce a normal binary.</a:t>
            </a:r>
            <a:endParaRPr/>
          </a:p>
          <a:p>
            <a:pPr indent="0" lvl="0" marL="0" rtl="0" algn="l">
              <a:lnSpc>
                <a:spcPct val="100000"/>
              </a:lnSpc>
              <a:spcBef>
                <a:spcPts val="0"/>
              </a:spcBef>
              <a:spcAft>
                <a:spcPts val="0"/>
              </a:spcAft>
              <a:buSzPts val="1400"/>
              <a:buNone/>
            </a:pPr>
            <a:r>
              <a:rPr lang="zh-CN"/>
              <a:t>It instruments the code by inserting counters at important locations, such as basic blocks and branches.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During compilation, GCC generates a file called .gcno.</a:t>
            </a:r>
            <a:endParaRPr/>
          </a:p>
          <a:p>
            <a:pPr indent="0" lvl="0" marL="0" rtl="0" algn="l">
              <a:lnSpc>
                <a:spcPct val="100000"/>
              </a:lnSpc>
              <a:spcBef>
                <a:spcPts val="0"/>
              </a:spcBef>
              <a:spcAft>
                <a:spcPts val="0"/>
              </a:spcAft>
              <a:buSzPts val="1400"/>
              <a:buNone/>
            </a:pPr>
            <a:r>
              <a:rPr lang="zh-CN"/>
              <a:t>This file contains the static structure of the program — essentially, where the code could go.</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When we run the program, the instrumented binary produces a .gcda file.</a:t>
            </a:r>
            <a:endParaRPr/>
          </a:p>
          <a:p>
            <a:pPr indent="0" lvl="0" marL="0" rtl="0" algn="l">
              <a:lnSpc>
                <a:spcPct val="100000"/>
              </a:lnSpc>
              <a:spcBef>
                <a:spcPts val="0"/>
              </a:spcBef>
              <a:spcAft>
                <a:spcPts val="0"/>
              </a:spcAft>
              <a:buSzPts val="1400"/>
              <a:buNone/>
            </a:pPr>
            <a:r>
              <a:rPr lang="zh-CN"/>
              <a:t>This file records what actually happened at runtime — which lines or blocks were executed, and how many times.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Finally, the gcov tool combines the static structure (.gcno) with the runtime data (.gcda) and turns it into coverage information that other tools can visualize.</a:t>
            </a:r>
            <a:br>
              <a:rPr lang="zh-CN"/>
            </a:br>
            <a:br>
              <a:rPr lang="zh-CN"/>
            </a:br>
            <a:br>
              <a:rPr lang="zh-CN"/>
            </a:br>
            <a:r>
              <a:rPr lang="zh-CN"/>
              <a:t>This LCOV report shows which lines of code were executed during the test run.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Each line in the source code is annotated with a number: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 positive number means the line was executed that many times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 zero means the line was never executed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Colors make this very intuitive: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Blue or green lines were covered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Red lines were never reached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At the top, LCOV summarizes coverage using percentages: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Line coverage: how many lines were executed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Function coverage: how many functions were entered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In this example, one branch of the if–else statement was never taken, which means the program logic is only partially tested.</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07" name="Google Shape;50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a:t>
            </a:r>
            <a:endParaRPr/>
          </a:p>
          <a:p>
            <a:pPr indent="0" lvl="0" marL="0" rtl="0" algn="l">
              <a:lnSpc>
                <a:spcPct val="100000"/>
              </a:lnSpc>
              <a:spcBef>
                <a:spcPts val="0"/>
              </a:spcBef>
              <a:spcAft>
                <a:spcPts val="0"/>
              </a:spcAft>
              <a:buSzPts val="1400"/>
              <a:buNone/>
            </a:pPr>
            <a:r>
              <a:rPr lang="zh-CN"/>
              <a:t>Fuzzing starts from seeds.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 seed is simply an input to the program. It can be a file like JSON or XML, a string, a number, or sometimes even a binary blob that is not human-readable.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quality of these seeds matters a lot, because they determine which execution paths we can reach initially.</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16" name="Google Shape;51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7" name="Google Shape;51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a:t>
            </a:r>
            <a:endParaRPr/>
          </a:p>
          <a:p>
            <a:pPr indent="0" lvl="0" marL="0" rtl="0" algn="l">
              <a:lnSpc>
                <a:spcPct val="100000"/>
              </a:lnSpc>
              <a:spcBef>
                <a:spcPts val="0"/>
              </a:spcBef>
              <a:spcAft>
                <a:spcPts val="0"/>
              </a:spcAft>
              <a:buSzPts val="1400"/>
              <a:buNone/>
            </a:pPr>
            <a:r>
              <a:rPr lang="zh-CN"/>
              <a:t>After we have seeds, fuzzing relies on mutation strategies.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Traditional fuzzers mutate inputs at the byte level, such as flipping bits or bytes.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More advanced fuzzers use token-level or structure-level mutations, and grammar-based fuzzers ensure syntactic validity.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Recently, there is increasing interest in semantic mutation, where we try to change the meaning of the input rather than just its bytes.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This is where LLMs become particularly useful.</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27" name="Google Shape;527;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Figure Description: LLM-Driven Autoprompting and Fuzzing Pipeline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This figure presents an end-to-end framework that combines LLM-based autoprompting with a semantic fuzzing loop to test complex software systems, such as compilers, interpreters, and formal verification tools.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At the top of the pipeline, the framework takes heterogeneous user-provided knowledge as input, including documentation (for example, API descriptions of std::expected), example code snippets, and formal specifications. Together, these sources define the semantic scope of the target functionality and serve as the foundation for constructing effective prompts.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left side of the figure illustrates the autoprompting via distillation process. In this stage, the system samples multiple candidate prompts derived from the available documentation, examples, and specifications. A generation LLM then uses these prompts to produce multiple candidate code snippets, such as small C++ programs exercising the target feature. These generated snippets are evaluated according to criteria such as correctness, diversity, or downstream performance. Based on this evaluation, the system selects the best-performing prompt, effectively distilling a refined input prompt that captures the intended semantics of the target functionality.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The right side of the figure shows a semantic fuzzing loop guided by an LLM and feedback from the system under test (SUT). The refined prompt is fed into a generation LLM, which produces fuzzing inputs in the form of code snippets. A subset of these generated snippets is selected and executed against the SUT, which may include SMT solvers (e.g., Z3 or CVC5), compilers (e.g., GCC), or language runtimes and analysis tools. During execution, results such as failures, crashes, or coverage information are collected and used as feedback. This feedback is then used to update the input prompt, and the process iterates.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Within the fuzzing loop, the framework supports multiple generation strategies. These include generating entirely new programs, mutating existing generated code, and applying semantic-equivalent transformations that produce syntactically different but semantically equivalent inputs. By operating at the semantic level rather than relying solely on low-level syntax mutations, these strategies enable more effective exploration of the input space.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Overall, the figure highlights a closed-loop, LLM-assisted testing framework that automatically distills high-quality prompts from raw knowledge sources, leverages semantic code generation to drive fuzzing, and continuously improves input quality through execution feedback. This design enables semantics-aware fuzzing that goes beyond random mutations and is particularly well suited for testing complex, specification-heavy systems.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36" name="Google Shape;53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a:t>
            </a:r>
            <a:endParaRPr/>
          </a:p>
          <a:p>
            <a:pPr indent="0" lvl="0" marL="0" rtl="0" algn="l">
              <a:lnSpc>
                <a:spcPct val="100000"/>
              </a:lnSpc>
              <a:spcBef>
                <a:spcPts val="0"/>
              </a:spcBef>
              <a:spcAft>
                <a:spcPts val="0"/>
              </a:spcAft>
              <a:buSzPts val="1400"/>
              <a:buNone/>
            </a:pPr>
            <a:r>
              <a:rPr lang="zh-CN"/>
              <a:t>To evaluate these ideas, we conducted experiments on OSS-Fuzz, which is Google’s large-scale continuous fuzzing infrastructure for open-source software.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We compare the traditional OSS-Fuzz setup with OSS-Fuzz-Gen, which uses LLM-generated fuzzing harnesses and inputs.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This allows us to measure whether LLM assistance can actually improve coverage on real-world projects.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7" name="Google Shape;547;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d47a4565b8_28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5" name="Google Shape;555;g3d47a4565b8_28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zh-CN"/>
              <a:t>To conclude, fuzzing is fundamentally about exploring program behaviors, and dynamic execution is essential for that.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Large language models provide a new way to guide this exploration by generating and mutating inputs at the semantic level.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Our experiments show that this approach can lead to meaningful coverage improvements on real-world codebases.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zh-CN"/>
              <a:t>Thank you for your attention. I’m happy to take any questions.</a:t>
            </a:r>
            <a:endParaRPr/>
          </a:p>
        </p:txBody>
      </p:sp>
      <p:sp>
        <p:nvSpPr>
          <p:cNvPr id="564" name="Google Shape;564;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zh-C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2" name="Shape 12"/>
        <p:cNvGrpSpPr/>
        <p:nvPr/>
      </p:nvGrpSpPr>
      <p:grpSpPr>
        <a:xfrm>
          <a:off x="0" y="0"/>
          <a:ext cx="0" cy="0"/>
          <a:chOff x="0" y="0"/>
          <a:chExt cx="0" cy="0"/>
        </a:xfrm>
      </p:grpSpPr>
      <p:pic>
        <p:nvPicPr>
          <p:cNvPr descr="greyWatermark-20.png" id="13" name="Google Shape;13;p43"/>
          <p:cNvPicPr preferRelativeResize="0"/>
          <p:nvPr/>
        </p:nvPicPr>
        <p:blipFill rotWithShape="1">
          <a:blip r:embed="rId2">
            <a:alphaModFix/>
          </a:blip>
          <a:srcRect b="0" l="0" r="0" t="0"/>
          <a:stretch/>
        </p:blipFill>
        <p:spPr>
          <a:xfrm>
            <a:off x="5961819" y="2027477"/>
            <a:ext cx="3182181" cy="3116024"/>
          </a:xfrm>
          <a:prstGeom prst="rect">
            <a:avLst/>
          </a:prstGeom>
          <a:noFill/>
          <a:ln>
            <a:noFill/>
          </a:ln>
        </p:spPr>
      </p:pic>
      <p:sp>
        <p:nvSpPr>
          <p:cNvPr id="14" name="Google Shape;14;p43"/>
          <p:cNvSpPr txBox="1"/>
          <p:nvPr>
            <p:ph type="ctrTitle"/>
          </p:nvPr>
        </p:nvSpPr>
        <p:spPr>
          <a:xfrm>
            <a:off x="457200" y="1903444"/>
            <a:ext cx="6858000" cy="1143001"/>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Clr>
                <a:srgbClr val="262626"/>
              </a:buClr>
              <a:buSzPts val="3000"/>
              <a:buFont typeface="Verdana"/>
              <a:buNone/>
              <a:defRPr b="1" sz="3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43"/>
          <p:cNvSpPr txBox="1"/>
          <p:nvPr>
            <p:ph idx="1" type="subTitle"/>
          </p:nvPr>
        </p:nvSpPr>
        <p:spPr>
          <a:xfrm>
            <a:off x="457200" y="3220180"/>
            <a:ext cx="6858000" cy="742950"/>
          </a:xfrm>
          <a:prstGeom prst="rect">
            <a:avLst/>
          </a:prstGeom>
          <a:noFill/>
          <a:ln>
            <a:noFill/>
          </a:ln>
        </p:spPr>
        <p:txBody>
          <a:bodyPr anchorCtr="0" anchor="t" bIns="34275" lIns="68575" spcFirstLastPara="1" rIns="68575" wrap="square" tIns="34275">
            <a:normAutofit/>
          </a:bodyPr>
          <a:lstStyle>
            <a:lvl1pPr lvl="0" algn="l">
              <a:lnSpc>
                <a:spcPct val="95000"/>
              </a:lnSpc>
              <a:spcBef>
                <a:spcPts val="900"/>
              </a:spcBef>
              <a:spcAft>
                <a:spcPts val="0"/>
              </a:spcAft>
              <a:buSzPts val="2100"/>
              <a:buNone/>
              <a:defRPr sz="2100">
                <a:solidFill>
                  <a:schemeClr val="dk2"/>
                </a:solidFill>
              </a:defRPr>
            </a:lvl1pPr>
            <a:lvl2pPr lvl="1" algn="ctr">
              <a:lnSpc>
                <a:spcPct val="95000"/>
              </a:lnSpc>
              <a:spcBef>
                <a:spcPts val="500"/>
              </a:spcBef>
              <a:spcAft>
                <a:spcPts val="0"/>
              </a:spcAft>
              <a:buSzPts val="1500"/>
              <a:buNone/>
              <a:defRPr>
                <a:solidFill>
                  <a:srgbClr val="888888"/>
                </a:solidFill>
              </a:defRPr>
            </a:lvl2pPr>
            <a:lvl3pPr lvl="2" algn="ctr">
              <a:lnSpc>
                <a:spcPct val="95000"/>
              </a:lnSpc>
              <a:spcBef>
                <a:spcPts val="500"/>
              </a:spcBef>
              <a:spcAft>
                <a:spcPts val="0"/>
              </a:spcAft>
              <a:buSzPts val="1400"/>
              <a:buNone/>
              <a:defRPr>
                <a:solidFill>
                  <a:srgbClr val="888888"/>
                </a:solidFill>
              </a:defRPr>
            </a:lvl3pPr>
            <a:lvl4pPr lvl="3" algn="ctr">
              <a:lnSpc>
                <a:spcPct val="95000"/>
              </a:lnSpc>
              <a:spcBef>
                <a:spcPts val="500"/>
              </a:spcBef>
              <a:spcAft>
                <a:spcPts val="0"/>
              </a:spcAft>
              <a:buSzPts val="1200"/>
              <a:buNone/>
              <a:defRPr>
                <a:solidFill>
                  <a:srgbClr val="888888"/>
                </a:solidFill>
              </a:defRPr>
            </a:lvl4pPr>
            <a:lvl5pPr lvl="4" algn="ctr">
              <a:lnSpc>
                <a:spcPct val="95000"/>
              </a:lnSpc>
              <a:spcBef>
                <a:spcPts val="500"/>
              </a:spcBef>
              <a:spcAft>
                <a:spcPts val="0"/>
              </a:spcAft>
              <a:buSzPts val="1200"/>
              <a:buNone/>
              <a:defRPr>
                <a:solidFill>
                  <a:srgbClr val="888888"/>
                </a:solidFill>
              </a:defRPr>
            </a:lvl5pPr>
            <a:lvl6pPr lvl="5" algn="ctr">
              <a:lnSpc>
                <a:spcPct val="100000"/>
              </a:lnSpc>
              <a:spcBef>
                <a:spcPts val="200"/>
              </a:spcBef>
              <a:spcAft>
                <a:spcPts val="0"/>
              </a:spcAft>
              <a:buSzPts val="1200"/>
              <a:buNone/>
              <a:defRPr>
                <a:solidFill>
                  <a:srgbClr val="888888"/>
                </a:solidFill>
              </a:defRPr>
            </a:lvl6pPr>
            <a:lvl7pPr lvl="6" algn="ctr">
              <a:lnSpc>
                <a:spcPct val="100000"/>
              </a:lnSpc>
              <a:spcBef>
                <a:spcPts val="200"/>
              </a:spcBef>
              <a:spcAft>
                <a:spcPts val="0"/>
              </a:spcAft>
              <a:buSzPts val="1200"/>
              <a:buNone/>
              <a:defRPr>
                <a:solidFill>
                  <a:srgbClr val="888888"/>
                </a:solidFill>
              </a:defRPr>
            </a:lvl7pPr>
            <a:lvl8pPr lvl="7" algn="ctr">
              <a:lnSpc>
                <a:spcPct val="100000"/>
              </a:lnSpc>
              <a:spcBef>
                <a:spcPts val="200"/>
              </a:spcBef>
              <a:spcAft>
                <a:spcPts val="0"/>
              </a:spcAft>
              <a:buSzPts val="1200"/>
              <a:buNone/>
              <a:defRPr>
                <a:solidFill>
                  <a:srgbClr val="888888"/>
                </a:solidFill>
              </a:defRPr>
            </a:lvl8pPr>
            <a:lvl9pPr lvl="8" algn="ctr">
              <a:lnSpc>
                <a:spcPct val="100000"/>
              </a:lnSpc>
              <a:spcBef>
                <a:spcPts val="200"/>
              </a:spcBef>
              <a:spcAft>
                <a:spcPts val="0"/>
              </a:spcAft>
              <a:buSzPts val="1200"/>
              <a:buNone/>
              <a:defRPr>
                <a:solidFill>
                  <a:srgbClr val="888888"/>
                </a:solidFill>
              </a:defRPr>
            </a:lvl9pPr>
          </a:lstStyle>
          <a:p/>
        </p:txBody>
      </p:sp>
      <p:pic>
        <p:nvPicPr>
          <p:cNvPr id="16" name="Google Shape;16;p43"/>
          <p:cNvPicPr preferRelativeResize="0"/>
          <p:nvPr/>
        </p:nvPicPr>
        <p:blipFill rotWithShape="1">
          <a:blip r:embed="rId3">
            <a:alphaModFix/>
          </a:blip>
          <a:srcRect b="0" l="0" r="0" t="0"/>
          <a:stretch/>
        </p:blipFill>
        <p:spPr>
          <a:xfrm>
            <a:off x="533400" y="742951"/>
            <a:ext cx="2537579" cy="8226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7" name="Shape 17"/>
        <p:cNvGrpSpPr/>
        <p:nvPr/>
      </p:nvGrpSpPr>
      <p:grpSpPr>
        <a:xfrm>
          <a:off x="0" y="0"/>
          <a:ext cx="0" cy="0"/>
          <a:chOff x="0" y="0"/>
          <a:chExt cx="0" cy="0"/>
        </a:xfrm>
      </p:grpSpPr>
      <p:sp>
        <p:nvSpPr>
          <p:cNvPr id="18" name="Google Shape;18;p44"/>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Clr>
                <a:srgbClr val="262626"/>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44"/>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lvl1pPr indent="-317500" lvl="0" marL="457200" algn="l">
              <a:lnSpc>
                <a:spcPct val="95000"/>
              </a:lnSpc>
              <a:spcBef>
                <a:spcPts val="900"/>
              </a:spcBef>
              <a:spcAft>
                <a:spcPts val="0"/>
              </a:spcAft>
              <a:buSzPts val="1400"/>
              <a:buChar char="•"/>
              <a:defRPr/>
            </a:lvl1pPr>
            <a:lvl2pPr indent="-317500" lvl="1" marL="914400" algn="l">
              <a:lnSpc>
                <a:spcPct val="95000"/>
              </a:lnSpc>
              <a:spcBef>
                <a:spcPts val="500"/>
              </a:spcBef>
              <a:spcAft>
                <a:spcPts val="0"/>
              </a:spcAft>
              <a:buSzPts val="1400"/>
              <a:buChar char="─"/>
              <a:defRPr/>
            </a:lvl2pPr>
            <a:lvl3pPr indent="-317500" lvl="2" marL="1371600" algn="l">
              <a:lnSpc>
                <a:spcPct val="95000"/>
              </a:lnSpc>
              <a:spcBef>
                <a:spcPts val="500"/>
              </a:spcBef>
              <a:spcAft>
                <a:spcPts val="0"/>
              </a:spcAft>
              <a:buSzPts val="1400"/>
              <a:buChar char="▪"/>
              <a:defRPr/>
            </a:lvl3pPr>
            <a:lvl4pPr indent="-317500" lvl="3" marL="1828800" algn="l">
              <a:lnSpc>
                <a:spcPct val="95000"/>
              </a:lnSpc>
              <a:spcBef>
                <a:spcPts val="500"/>
              </a:spcBef>
              <a:spcAft>
                <a:spcPts val="0"/>
              </a:spcAft>
              <a:buSzPts val="1400"/>
              <a:buChar char="o"/>
              <a:defRPr/>
            </a:lvl4pPr>
            <a:lvl5pPr indent="-317500" lvl="4" marL="2286000" algn="l">
              <a:lnSpc>
                <a:spcPct val="95000"/>
              </a:lnSpc>
              <a:spcBef>
                <a:spcPts val="5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20" name="Google Shape;20;p44"/>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44"/>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2" showMasterSp="0">
  <p:cSld name="Title2">
    <p:bg>
      <p:bgPr>
        <a:solidFill>
          <a:srgbClr val="AB192D"/>
        </a:solidFill>
      </p:bgPr>
    </p:bg>
    <p:spTree>
      <p:nvGrpSpPr>
        <p:cNvPr id="22" name="Shape 22"/>
        <p:cNvGrpSpPr/>
        <p:nvPr/>
      </p:nvGrpSpPr>
      <p:grpSpPr>
        <a:xfrm>
          <a:off x="0" y="0"/>
          <a:ext cx="0" cy="0"/>
          <a:chOff x="0" y="0"/>
          <a:chExt cx="0" cy="0"/>
        </a:xfrm>
      </p:grpSpPr>
      <p:pic>
        <p:nvPicPr>
          <p:cNvPr id="23" name="Google Shape;23;p45"/>
          <p:cNvPicPr preferRelativeResize="0"/>
          <p:nvPr/>
        </p:nvPicPr>
        <p:blipFill rotWithShape="1">
          <a:blip r:embed="rId2">
            <a:alphaModFix/>
          </a:blip>
          <a:srcRect b="0" l="0" r="0" t="0"/>
          <a:stretch/>
        </p:blipFill>
        <p:spPr>
          <a:xfrm>
            <a:off x="533400" y="742951"/>
            <a:ext cx="2537578" cy="828985"/>
          </a:xfrm>
          <a:prstGeom prst="rect">
            <a:avLst/>
          </a:prstGeom>
          <a:noFill/>
          <a:ln>
            <a:noFill/>
          </a:ln>
        </p:spPr>
      </p:pic>
      <p:pic>
        <p:nvPicPr>
          <p:cNvPr id="24" name="Google Shape;24;p45"/>
          <p:cNvPicPr preferRelativeResize="0"/>
          <p:nvPr/>
        </p:nvPicPr>
        <p:blipFill rotWithShape="1">
          <a:blip r:embed="rId3">
            <a:alphaModFix/>
          </a:blip>
          <a:srcRect b="0" l="0" r="0" t="0"/>
          <a:stretch/>
        </p:blipFill>
        <p:spPr>
          <a:xfrm>
            <a:off x="5948387" y="2020490"/>
            <a:ext cx="3195613" cy="3129177"/>
          </a:xfrm>
          <a:prstGeom prst="rect">
            <a:avLst/>
          </a:prstGeom>
          <a:noFill/>
          <a:ln>
            <a:noFill/>
          </a:ln>
        </p:spPr>
      </p:pic>
      <p:sp>
        <p:nvSpPr>
          <p:cNvPr id="25" name="Google Shape;25;p45"/>
          <p:cNvSpPr txBox="1"/>
          <p:nvPr>
            <p:ph type="ctrTitle"/>
          </p:nvPr>
        </p:nvSpPr>
        <p:spPr>
          <a:xfrm>
            <a:off x="457200" y="1903444"/>
            <a:ext cx="6858000" cy="1143001"/>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Clr>
                <a:schemeClr val="lt1"/>
              </a:buClr>
              <a:buSzPts val="3000"/>
              <a:buFont typeface="Verdana"/>
              <a:buNone/>
              <a:defRPr b="1" sz="3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45"/>
          <p:cNvSpPr txBox="1"/>
          <p:nvPr>
            <p:ph idx="1" type="subTitle"/>
          </p:nvPr>
        </p:nvSpPr>
        <p:spPr>
          <a:xfrm>
            <a:off x="457200" y="3220180"/>
            <a:ext cx="6858000" cy="742950"/>
          </a:xfrm>
          <a:prstGeom prst="rect">
            <a:avLst/>
          </a:prstGeom>
          <a:noFill/>
          <a:ln>
            <a:noFill/>
          </a:ln>
        </p:spPr>
        <p:txBody>
          <a:bodyPr anchorCtr="0" anchor="t" bIns="34275" lIns="68575" spcFirstLastPara="1" rIns="68575" wrap="square" tIns="34275">
            <a:normAutofit/>
          </a:bodyPr>
          <a:lstStyle>
            <a:lvl1pPr lvl="0" algn="l">
              <a:lnSpc>
                <a:spcPct val="95000"/>
              </a:lnSpc>
              <a:spcBef>
                <a:spcPts val="900"/>
              </a:spcBef>
              <a:spcAft>
                <a:spcPts val="0"/>
              </a:spcAft>
              <a:buSzPts val="2100"/>
              <a:buNone/>
              <a:defRPr sz="2100">
                <a:solidFill>
                  <a:schemeClr val="lt1"/>
                </a:solidFill>
              </a:defRPr>
            </a:lvl1pPr>
            <a:lvl2pPr lvl="1" algn="ctr">
              <a:lnSpc>
                <a:spcPct val="95000"/>
              </a:lnSpc>
              <a:spcBef>
                <a:spcPts val="500"/>
              </a:spcBef>
              <a:spcAft>
                <a:spcPts val="0"/>
              </a:spcAft>
              <a:buSzPts val="1500"/>
              <a:buNone/>
              <a:defRPr>
                <a:solidFill>
                  <a:srgbClr val="888888"/>
                </a:solidFill>
              </a:defRPr>
            </a:lvl2pPr>
            <a:lvl3pPr lvl="2" algn="ctr">
              <a:lnSpc>
                <a:spcPct val="95000"/>
              </a:lnSpc>
              <a:spcBef>
                <a:spcPts val="500"/>
              </a:spcBef>
              <a:spcAft>
                <a:spcPts val="0"/>
              </a:spcAft>
              <a:buSzPts val="1400"/>
              <a:buNone/>
              <a:defRPr>
                <a:solidFill>
                  <a:srgbClr val="888888"/>
                </a:solidFill>
              </a:defRPr>
            </a:lvl3pPr>
            <a:lvl4pPr lvl="3" algn="ctr">
              <a:lnSpc>
                <a:spcPct val="95000"/>
              </a:lnSpc>
              <a:spcBef>
                <a:spcPts val="500"/>
              </a:spcBef>
              <a:spcAft>
                <a:spcPts val="0"/>
              </a:spcAft>
              <a:buSzPts val="1200"/>
              <a:buNone/>
              <a:defRPr>
                <a:solidFill>
                  <a:srgbClr val="888888"/>
                </a:solidFill>
              </a:defRPr>
            </a:lvl4pPr>
            <a:lvl5pPr lvl="4" algn="ctr">
              <a:lnSpc>
                <a:spcPct val="95000"/>
              </a:lnSpc>
              <a:spcBef>
                <a:spcPts val="500"/>
              </a:spcBef>
              <a:spcAft>
                <a:spcPts val="0"/>
              </a:spcAft>
              <a:buSzPts val="1200"/>
              <a:buNone/>
              <a:defRPr>
                <a:solidFill>
                  <a:srgbClr val="888888"/>
                </a:solidFill>
              </a:defRPr>
            </a:lvl5pPr>
            <a:lvl6pPr lvl="5" algn="ctr">
              <a:lnSpc>
                <a:spcPct val="100000"/>
              </a:lnSpc>
              <a:spcBef>
                <a:spcPts val="200"/>
              </a:spcBef>
              <a:spcAft>
                <a:spcPts val="0"/>
              </a:spcAft>
              <a:buSzPts val="1200"/>
              <a:buNone/>
              <a:defRPr>
                <a:solidFill>
                  <a:srgbClr val="888888"/>
                </a:solidFill>
              </a:defRPr>
            </a:lvl6pPr>
            <a:lvl7pPr lvl="6" algn="ctr">
              <a:lnSpc>
                <a:spcPct val="100000"/>
              </a:lnSpc>
              <a:spcBef>
                <a:spcPts val="200"/>
              </a:spcBef>
              <a:spcAft>
                <a:spcPts val="0"/>
              </a:spcAft>
              <a:buSzPts val="1200"/>
              <a:buNone/>
              <a:defRPr>
                <a:solidFill>
                  <a:srgbClr val="888888"/>
                </a:solidFill>
              </a:defRPr>
            </a:lvl7pPr>
            <a:lvl8pPr lvl="7" algn="ctr">
              <a:lnSpc>
                <a:spcPct val="100000"/>
              </a:lnSpc>
              <a:spcBef>
                <a:spcPts val="200"/>
              </a:spcBef>
              <a:spcAft>
                <a:spcPts val="0"/>
              </a:spcAft>
              <a:buSzPts val="1200"/>
              <a:buNone/>
              <a:defRPr>
                <a:solidFill>
                  <a:srgbClr val="888888"/>
                </a:solidFill>
              </a:defRPr>
            </a:lvl8pPr>
            <a:lvl9pPr lvl="8" algn="ctr">
              <a:lnSpc>
                <a:spcPct val="100000"/>
              </a:lnSpc>
              <a:spcBef>
                <a:spcPts val="200"/>
              </a:spcBef>
              <a:spcAft>
                <a:spcPts val="0"/>
              </a:spcAft>
              <a:buSzPts val="1200"/>
              <a:buNone/>
              <a:defRPr>
                <a:solidFill>
                  <a:srgbClr val="888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Red" showMasterSp="0">
  <p:cSld name="BlankRed">
    <p:bg>
      <p:bgPr>
        <a:solidFill>
          <a:schemeClr val="lt2"/>
        </a:solidFill>
      </p:bgPr>
    </p:bg>
    <p:spTree>
      <p:nvGrpSpPr>
        <p:cNvPr id="27" name="Shape 27"/>
        <p:cNvGrpSpPr/>
        <p:nvPr/>
      </p:nvGrpSpPr>
      <p:grpSpPr>
        <a:xfrm>
          <a:off x="0" y="0"/>
          <a:ext cx="0" cy="0"/>
          <a:chOff x="0" y="0"/>
          <a:chExt cx="0" cy="0"/>
        </a:xfrm>
      </p:grpSpPr>
      <p:pic>
        <p:nvPicPr>
          <p:cNvPr id="28" name="Google Shape;28;p46"/>
          <p:cNvPicPr preferRelativeResize="0"/>
          <p:nvPr/>
        </p:nvPicPr>
        <p:blipFill rotWithShape="1">
          <a:blip r:embed="rId2">
            <a:alphaModFix/>
          </a:blip>
          <a:srcRect b="0" l="0" r="0" t="0"/>
          <a:stretch/>
        </p:blipFill>
        <p:spPr>
          <a:xfrm>
            <a:off x="2899598" y="800126"/>
            <a:ext cx="3344803" cy="33210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9" name="Shape 29"/>
        <p:cNvGrpSpPr/>
        <p:nvPr/>
      </p:nvGrpSpPr>
      <p:grpSpPr>
        <a:xfrm>
          <a:off x="0" y="0"/>
          <a:ext cx="0" cy="0"/>
          <a:chOff x="0" y="0"/>
          <a:chExt cx="0" cy="0"/>
        </a:xfrm>
      </p:grpSpPr>
      <p:sp>
        <p:nvSpPr>
          <p:cNvPr id="30" name="Google Shape;30;p47"/>
          <p:cNvSpPr/>
          <p:nvPr/>
        </p:nvSpPr>
        <p:spPr>
          <a:xfrm>
            <a:off x="0" y="0"/>
            <a:ext cx="9144000" cy="85725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sp>
        <p:nvSpPr>
          <p:cNvPr id="31" name="Google Shape;31;p47"/>
          <p:cNvSpPr txBox="1"/>
          <p:nvPr>
            <p:ph type="title"/>
          </p:nvPr>
        </p:nvSpPr>
        <p:spPr>
          <a:xfrm>
            <a:off x="469106" y="1085850"/>
            <a:ext cx="6858000" cy="1257300"/>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Clr>
                <a:srgbClr val="262626"/>
              </a:buClr>
              <a:buSzPts val="3000"/>
              <a:buFont typeface="Verdana"/>
              <a:buNone/>
              <a:defRPr b="1" sz="3000">
                <a:solidFill>
                  <a:srgbClr val="262626"/>
                </a:solidFill>
                <a:latin typeface="Verdana"/>
                <a:ea typeface="Verdana"/>
                <a:cs typeface="Verdana"/>
                <a:sym typeface="Verdan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47"/>
          <p:cNvSpPr txBox="1"/>
          <p:nvPr>
            <p:ph idx="1" type="body"/>
          </p:nvPr>
        </p:nvSpPr>
        <p:spPr>
          <a:xfrm>
            <a:off x="469106" y="2343150"/>
            <a:ext cx="6858000" cy="685800"/>
          </a:xfrm>
          <a:prstGeom prst="rect">
            <a:avLst/>
          </a:prstGeom>
          <a:noFill/>
          <a:ln>
            <a:noFill/>
          </a:ln>
        </p:spPr>
        <p:txBody>
          <a:bodyPr anchorCtr="0" anchor="t" bIns="34275" lIns="68575" spcFirstLastPara="1" rIns="68575" wrap="square" tIns="34275">
            <a:normAutofit/>
          </a:bodyPr>
          <a:lstStyle>
            <a:lvl1pPr indent="-228600" lvl="0" marL="457200" algn="l">
              <a:lnSpc>
                <a:spcPct val="95000"/>
              </a:lnSpc>
              <a:spcBef>
                <a:spcPts val="900"/>
              </a:spcBef>
              <a:spcAft>
                <a:spcPts val="0"/>
              </a:spcAft>
              <a:buSzPts val="2100"/>
              <a:buNone/>
              <a:defRPr sz="2100">
                <a:solidFill>
                  <a:schemeClr val="dk2"/>
                </a:solidFill>
              </a:defRPr>
            </a:lvl1pPr>
            <a:lvl2pPr indent="-228600" lvl="1" marL="914400" algn="l">
              <a:lnSpc>
                <a:spcPct val="95000"/>
              </a:lnSpc>
              <a:spcBef>
                <a:spcPts val="500"/>
              </a:spcBef>
              <a:spcAft>
                <a:spcPts val="0"/>
              </a:spcAft>
              <a:buSzPts val="1400"/>
              <a:buNone/>
              <a:defRPr sz="1400">
                <a:solidFill>
                  <a:srgbClr val="888888"/>
                </a:solidFill>
              </a:defRPr>
            </a:lvl2pPr>
            <a:lvl3pPr indent="-228600" lvl="2" marL="1371600" algn="l">
              <a:lnSpc>
                <a:spcPct val="95000"/>
              </a:lnSpc>
              <a:spcBef>
                <a:spcPts val="500"/>
              </a:spcBef>
              <a:spcAft>
                <a:spcPts val="0"/>
              </a:spcAft>
              <a:buSzPts val="1200"/>
              <a:buNone/>
              <a:defRPr sz="1200">
                <a:solidFill>
                  <a:srgbClr val="888888"/>
                </a:solidFill>
              </a:defRPr>
            </a:lvl3pPr>
            <a:lvl4pPr indent="-228600" lvl="3" marL="1828800" algn="l">
              <a:lnSpc>
                <a:spcPct val="95000"/>
              </a:lnSpc>
              <a:spcBef>
                <a:spcPts val="500"/>
              </a:spcBef>
              <a:spcAft>
                <a:spcPts val="0"/>
              </a:spcAft>
              <a:buSzPts val="1100"/>
              <a:buNone/>
              <a:defRPr sz="1100">
                <a:solidFill>
                  <a:srgbClr val="888888"/>
                </a:solidFill>
              </a:defRPr>
            </a:lvl4pPr>
            <a:lvl5pPr indent="-228600" lvl="4" marL="2286000" algn="l">
              <a:lnSpc>
                <a:spcPct val="95000"/>
              </a:lnSpc>
              <a:spcBef>
                <a:spcPts val="500"/>
              </a:spcBef>
              <a:spcAft>
                <a:spcPts val="0"/>
              </a:spcAft>
              <a:buSzPts val="1100"/>
              <a:buNone/>
              <a:defRPr sz="1100">
                <a:solidFill>
                  <a:srgbClr val="888888"/>
                </a:solidFill>
              </a:defRPr>
            </a:lvl5pPr>
            <a:lvl6pPr indent="-228600" lvl="5" marL="2743200" algn="l">
              <a:lnSpc>
                <a:spcPct val="100000"/>
              </a:lnSpc>
              <a:spcBef>
                <a:spcPts val="200"/>
              </a:spcBef>
              <a:spcAft>
                <a:spcPts val="0"/>
              </a:spcAft>
              <a:buSzPts val="1100"/>
              <a:buNone/>
              <a:defRPr sz="1100">
                <a:solidFill>
                  <a:srgbClr val="888888"/>
                </a:solidFill>
              </a:defRPr>
            </a:lvl6pPr>
            <a:lvl7pPr indent="-228600" lvl="6" marL="3200400" algn="l">
              <a:lnSpc>
                <a:spcPct val="100000"/>
              </a:lnSpc>
              <a:spcBef>
                <a:spcPts val="200"/>
              </a:spcBef>
              <a:spcAft>
                <a:spcPts val="0"/>
              </a:spcAft>
              <a:buSzPts val="1100"/>
              <a:buNone/>
              <a:defRPr sz="1100">
                <a:solidFill>
                  <a:srgbClr val="888888"/>
                </a:solidFill>
              </a:defRPr>
            </a:lvl7pPr>
            <a:lvl8pPr indent="-228600" lvl="7" marL="3657600" algn="l">
              <a:lnSpc>
                <a:spcPct val="100000"/>
              </a:lnSpc>
              <a:spcBef>
                <a:spcPts val="200"/>
              </a:spcBef>
              <a:spcAft>
                <a:spcPts val="0"/>
              </a:spcAft>
              <a:buSzPts val="1100"/>
              <a:buNone/>
              <a:defRPr sz="1100">
                <a:solidFill>
                  <a:srgbClr val="888888"/>
                </a:solidFill>
              </a:defRPr>
            </a:lvl8pPr>
            <a:lvl9pPr indent="-228600" lvl="8" marL="4114800" algn="l">
              <a:lnSpc>
                <a:spcPct val="100000"/>
              </a:lnSpc>
              <a:spcBef>
                <a:spcPts val="200"/>
              </a:spcBef>
              <a:spcAft>
                <a:spcPts val="0"/>
              </a:spcAft>
              <a:buSzPts val="1100"/>
              <a:buNone/>
              <a:defRPr sz="1100">
                <a:solidFill>
                  <a:srgbClr val="888888"/>
                </a:solidFill>
              </a:defRPr>
            </a:lvl9pPr>
          </a:lstStyle>
          <a:p/>
        </p:txBody>
      </p:sp>
      <p:sp>
        <p:nvSpPr>
          <p:cNvPr id="33" name="Google Shape;33;p47"/>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zh-CN"/>
              <a:t>‹#›</a:t>
            </a:fld>
            <a:endParaRPr/>
          </a:p>
        </p:txBody>
      </p:sp>
      <p:sp>
        <p:nvSpPr>
          <p:cNvPr id="34" name="Google Shape;34;p47"/>
          <p:cNvSpPr txBox="1"/>
          <p:nvPr>
            <p:ph idx="11" type="ftr"/>
          </p:nvPr>
        </p:nvSpPr>
        <p:spPr>
          <a:xfrm>
            <a:off x="469106" y="4800600"/>
            <a:ext cx="5105400" cy="228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b="0" sz="12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descr="greyWatermark-20.png" id="35" name="Google Shape;35;p47"/>
          <p:cNvPicPr preferRelativeResize="0"/>
          <p:nvPr/>
        </p:nvPicPr>
        <p:blipFill rotWithShape="1">
          <a:blip r:embed="rId2">
            <a:alphaModFix/>
          </a:blip>
          <a:srcRect b="0" l="0" r="0" t="0"/>
          <a:stretch/>
        </p:blipFill>
        <p:spPr>
          <a:xfrm>
            <a:off x="5961819" y="2027477"/>
            <a:ext cx="3182181" cy="311602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48"/>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Clr>
                <a:srgbClr val="262626"/>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8" name="Google Shape;38;p48"/>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zh-CN"/>
              <a:t>‹#›</a:t>
            </a:fld>
            <a:endParaRPr/>
          </a:p>
        </p:txBody>
      </p:sp>
      <p:sp>
        <p:nvSpPr>
          <p:cNvPr id="39" name="Google Shape;39;p48"/>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Caption">
  <p:cSld name="PhotoCaption">
    <p:spTree>
      <p:nvGrpSpPr>
        <p:cNvPr id="40" name="Shape 40"/>
        <p:cNvGrpSpPr/>
        <p:nvPr/>
      </p:nvGrpSpPr>
      <p:grpSpPr>
        <a:xfrm>
          <a:off x="0" y="0"/>
          <a:ext cx="0" cy="0"/>
          <a:chOff x="0" y="0"/>
          <a:chExt cx="0" cy="0"/>
        </a:xfrm>
      </p:grpSpPr>
      <p:sp>
        <p:nvSpPr>
          <p:cNvPr id="41" name="Google Shape;41;p49"/>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Clr>
                <a:srgbClr val="262626"/>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49"/>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zh-CN"/>
              <a:t>‹#›</a:t>
            </a:fld>
            <a:endParaRPr/>
          </a:p>
        </p:txBody>
      </p:sp>
      <p:sp>
        <p:nvSpPr>
          <p:cNvPr id="43" name="Google Shape;43;p49"/>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49"/>
          <p:cNvSpPr/>
          <p:nvPr>
            <p:ph idx="2" type="pic"/>
          </p:nvPr>
        </p:nvSpPr>
        <p:spPr>
          <a:xfrm>
            <a:off x="457200" y="1143000"/>
            <a:ext cx="5867400" cy="3486150"/>
          </a:xfrm>
          <a:prstGeom prst="rect">
            <a:avLst/>
          </a:prstGeom>
          <a:noFill/>
          <a:ln>
            <a:noFill/>
          </a:ln>
        </p:spPr>
      </p:sp>
      <p:sp>
        <p:nvSpPr>
          <p:cNvPr id="45" name="Google Shape;45;p49"/>
          <p:cNvSpPr txBox="1"/>
          <p:nvPr>
            <p:ph idx="1" type="body"/>
          </p:nvPr>
        </p:nvSpPr>
        <p:spPr>
          <a:xfrm>
            <a:off x="6553200" y="1143000"/>
            <a:ext cx="2133600" cy="3486150"/>
          </a:xfrm>
          <a:prstGeom prst="rect">
            <a:avLst/>
          </a:prstGeom>
          <a:noFill/>
          <a:ln>
            <a:noFill/>
          </a:ln>
        </p:spPr>
        <p:txBody>
          <a:bodyPr anchorCtr="0" anchor="t" bIns="34275" lIns="68575" spcFirstLastPara="1" rIns="68575" wrap="square" tIns="34275">
            <a:normAutofit/>
          </a:bodyPr>
          <a:lstStyle>
            <a:lvl1pPr indent="-228600" lvl="0" marL="457200" algn="l">
              <a:lnSpc>
                <a:spcPct val="95000"/>
              </a:lnSpc>
              <a:spcBef>
                <a:spcPts val="900"/>
              </a:spcBef>
              <a:spcAft>
                <a:spcPts val="0"/>
              </a:spcAft>
              <a:buSzPts val="1500"/>
              <a:buFont typeface="Verdana"/>
              <a:buNone/>
              <a:defRPr sz="1500"/>
            </a:lvl1pPr>
            <a:lvl2pPr indent="-317500" lvl="1" marL="914400" algn="l">
              <a:lnSpc>
                <a:spcPct val="95000"/>
              </a:lnSpc>
              <a:spcBef>
                <a:spcPts val="500"/>
              </a:spcBef>
              <a:spcAft>
                <a:spcPts val="0"/>
              </a:spcAft>
              <a:buSzPts val="1400"/>
              <a:buChar char="─"/>
              <a:defRPr sz="1400"/>
            </a:lvl2pPr>
            <a:lvl3pPr indent="-304800" lvl="2" marL="1371600" algn="l">
              <a:lnSpc>
                <a:spcPct val="95000"/>
              </a:lnSpc>
              <a:spcBef>
                <a:spcPts val="500"/>
              </a:spcBef>
              <a:spcAft>
                <a:spcPts val="0"/>
              </a:spcAft>
              <a:buSzPts val="1200"/>
              <a:buChar char="▪"/>
              <a:defRPr sz="1200"/>
            </a:lvl3pPr>
            <a:lvl4pPr indent="-298450" lvl="3" marL="1828800" algn="l">
              <a:lnSpc>
                <a:spcPct val="95000"/>
              </a:lnSpc>
              <a:spcBef>
                <a:spcPts val="500"/>
              </a:spcBef>
              <a:spcAft>
                <a:spcPts val="0"/>
              </a:spcAft>
              <a:buSzPts val="1100"/>
              <a:buChar char="o"/>
              <a:defRPr sz="1100"/>
            </a:lvl4pPr>
            <a:lvl5pPr indent="-298450" lvl="4" marL="2286000" algn="l">
              <a:lnSpc>
                <a:spcPct val="95000"/>
              </a:lnSpc>
              <a:spcBef>
                <a:spcPts val="500"/>
              </a:spcBef>
              <a:spcAft>
                <a:spcPts val="0"/>
              </a:spcAft>
              <a:buSzPts val="1100"/>
              <a:buChar char="•"/>
              <a:defRPr sz="1100"/>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50"/>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Clr>
                <a:srgbClr val="262626"/>
              </a:buClr>
              <a:buSzPts val="2400"/>
              <a:buFont typeface="Verdana"/>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50"/>
          <p:cNvSpPr txBox="1"/>
          <p:nvPr>
            <p:ph idx="1" type="body"/>
          </p:nvPr>
        </p:nvSpPr>
        <p:spPr>
          <a:xfrm>
            <a:off x="762000" y="1122552"/>
            <a:ext cx="3657600" cy="479822"/>
          </a:xfrm>
          <a:prstGeom prst="rect">
            <a:avLst/>
          </a:prstGeom>
          <a:noFill/>
          <a:ln>
            <a:noFill/>
          </a:ln>
        </p:spPr>
        <p:txBody>
          <a:bodyPr anchorCtr="0" anchor="b" bIns="34275" lIns="68575" spcFirstLastPara="1" rIns="68575" wrap="square" tIns="34275">
            <a:noAutofit/>
          </a:bodyPr>
          <a:lstStyle>
            <a:lvl1pPr indent="-228600" lvl="0" marL="457200" algn="l">
              <a:lnSpc>
                <a:spcPct val="95000"/>
              </a:lnSpc>
              <a:spcBef>
                <a:spcPts val="900"/>
              </a:spcBef>
              <a:spcAft>
                <a:spcPts val="0"/>
              </a:spcAft>
              <a:buSzPts val="1500"/>
              <a:buNone/>
              <a:defRPr b="1" sz="1500">
                <a:solidFill>
                  <a:schemeClr val="dk2"/>
                </a:solidFill>
                <a:latin typeface="Verdana"/>
                <a:ea typeface="Verdana"/>
                <a:cs typeface="Verdana"/>
                <a:sym typeface="Verdana"/>
              </a:defRPr>
            </a:lvl1pPr>
            <a:lvl2pPr indent="-228600" lvl="1" marL="914400" algn="l">
              <a:lnSpc>
                <a:spcPct val="95000"/>
              </a:lnSpc>
              <a:spcBef>
                <a:spcPts val="500"/>
              </a:spcBef>
              <a:spcAft>
                <a:spcPts val="0"/>
              </a:spcAft>
              <a:buSzPts val="1500"/>
              <a:buNone/>
              <a:defRPr b="1" sz="1500"/>
            </a:lvl2pPr>
            <a:lvl3pPr indent="-228600" lvl="2" marL="1371600" algn="l">
              <a:lnSpc>
                <a:spcPct val="95000"/>
              </a:lnSpc>
              <a:spcBef>
                <a:spcPts val="500"/>
              </a:spcBef>
              <a:spcAft>
                <a:spcPts val="0"/>
              </a:spcAft>
              <a:buSzPts val="1400"/>
              <a:buNone/>
              <a:defRPr b="1" sz="1400"/>
            </a:lvl3pPr>
            <a:lvl4pPr indent="-228600" lvl="3" marL="1828800" algn="l">
              <a:lnSpc>
                <a:spcPct val="95000"/>
              </a:lnSpc>
              <a:spcBef>
                <a:spcPts val="500"/>
              </a:spcBef>
              <a:spcAft>
                <a:spcPts val="0"/>
              </a:spcAft>
              <a:buSzPts val="1200"/>
              <a:buNone/>
              <a:defRPr b="1" sz="1200"/>
            </a:lvl4pPr>
            <a:lvl5pPr indent="-228600" lvl="4" marL="2286000" algn="l">
              <a:lnSpc>
                <a:spcPct val="95000"/>
              </a:lnSpc>
              <a:spcBef>
                <a:spcPts val="500"/>
              </a:spcBef>
              <a:spcAft>
                <a:spcPts val="0"/>
              </a:spcAft>
              <a:buSzPts val="1200"/>
              <a:buNone/>
              <a:defRPr b="1" sz="1200"/>
            </a:lvl5pPr>
            <a:lvl6pPr indent="-228600" lvl="5" marL="2743200" algn="l">
              <a:lnSpc>
                <a:spcPct val="100000"/>
              </a:lnSpc>
              <a:spcBef>
                <a:spcPts val="200"/>
              </a:spcBef>
              <a:spcAft>
                <a:spcPts val="0"/>
              </a:spcAft>
              <a:buSzPts val="1200"/>
              <a:buNone/>
              <a:defRPr b="1" sz="1200"/>
            </a:lvl6pPr>
            <a:lvl7pPr indent="-228600" lvl="6" marL="3200400" algn="l">
              <a:lnSpc>
                <a:spcPct val="100000"/>
              </a:lnSpc>
              <a:spcBef>
                <a:spcPts val="200"/>
              </a:spcBef>
              <a:spcAft>
                <a:spcPts val="0"/>
              </a:spcAft>
              <a:buSzPts val="1200"/>
              <a:buNone/>
              <a:defRPr b="1" sz="1200"/>
            </a:lvl7pPr>
            <a:lvl8pPr indent="-228600" lvl="7" marL="3657600" algn="l">
              <a:lnSpc>
                <a:spcPct val="100000"/>
              </a:lnSpc>
              <a:spcBef>
                <a:spcPts val="200"/>
              </a:spcBef>
              <a:spcAft>
                <a:spcPts val="0"/>
              </a:spcAft>
              <a:buSzPts val="1200"/>
              <a:buNone/>
              <a:defRPr b="1" sz="1200"/>
            </a:lvl8pPr>
            <a:lvl9pPr indent="-228600" lvl="8" marL="4114800" algn="l">
              <a:lnSpc>
                <a:spcPct val="100000"/>
              </a:lnSpc>
              <a:spcBef>
                <a:spcPts val="200"/>
              </a:spcBef>
              <a:spcAft>
                <a:spcPts val="0"/>
              </a:spcAft>
              <a:buSzPts val="1200"/>
              <a:buNone/>
              <a:defRPr b="1" sz="1200"/>
            </a:lvl9pPr>
          </a:lstStyle>
          <a:p/>
        </p:txBody>
      </p:sp>
      <p:sp>
        <p:nvSpPr>
          <p:cNvPr id="49" name="Google Shape;49;p50"/>
          <p:cNvSpPr txBox="1"/>
          <p:nvPr>
            <p:ph idx="2" type="body"/>
          </p:nvPr>
        </p:nvSpPr>
        <p:spPr>
          <a:xfrm>
            <a:off x="762000" y="1662300"/>
            <a:ext cx="3657600" cy="2966850"/>
          </a:xfrm>
          <a:prstGeom prst="rect">
            <a:avLst/>
          </a:prstGeom>
          <a:noFill/>
          <a:ln>
            <a:noFill/>
          </a:ln>
        </p:spPr>
        <p:txBody>
          <a:bodyPr anchorCtr="0" anchor="t" bIns="34275" lIns="68575" spcFirstLastPara="1" rIns="68575" wrap="square" tIns="34275">
            <a:normAutofit/>
          </a:bodyPr>
          <a:lstStyle>
            <a:lvl1pPr indent="-323850" lvl="0" marL="457200" algn="l">
              <a:lnSpc>
                <a:spcPct val="95000"/>
              </a:lnSpc>
              <a:spcBef>
                <a:spcPts val="900"/>
              </a:spcBef>
              <a:spcAft>
                <a:spcPts val="0"/>
              </a:spcAft>
              <a:buSzPts val="1500"/>
              <a:buChar char="•"/>
              <a:defRPr sz="1500"/>
            </a:lvl1pPr>
            <a:lvl2pPr indent="-317500" lvl="1" marL="914400" algn="l">
              <a:lnSpc>
                <a:spcPct val="95000"/>
              </a:lnSpc>
              <a:spcBef>
                <a:spcPts val="500"/>
              </a:spcBef>
              <a:spcAft>
                <a:spcPts val="0"/>
              </a:spcAft>
              <a:buSzPts val="1400"/>
              <a:buChar char="─"/>
              <a:defRPr sz="1400"/>
            </a:lvl2pPr>
            <a:lvl3pPr indent="-304800" lvl="2" marL="1371600" algn="l">
              <a:lnSpc>
                <a:spcPct val="95000"/>
              </a:lnSpc>
              <a:spcBef>
                <a:spcPts val="500"/>
              </a:spcBef>
              <a:spcAft>
                <a:spcPts val="0"/>
              </a:spcAft>
              <a:buSzPts val="1200"/>
              <a:buChar char="▪"/>
              <a:defRPr sz="1200"/>
            </a:lvl3pPr>
            <a:lvl4pPr indent="-298450" lvl="3" marL="1828800" algn="l">
              <a:lnSpc>
                <a:spcPct val="95000"/>
              </a:lnSpc>
              <a:spcBef>
                <a:spcPts val="500"/>
              </a:spcBef>
              <a:spcAft>
                <a:spcPts val="0"/>
              </a:spcAft>
              <a:buSzPts val="1100"/>
              <a:buChar char="o"/>
              <a:defRPr sz="1100"/>
            </a:lvl4pPr>
            <a:lvl5pPr indent="-298450" lvl="4" marL="2286000" algn="l">
              <a:lnSpc>
                <a:spcPct val="95000"/>
              </a:lnSpc>
              <a:spcBef>
                <a:spcPts val="500"/>
              </a:spcBef>
              <a:spcAft>
                <a:spcPts val="0"/>
              </a:spcAft>
              <a:buSzPts val="1100"/>
              <a:buChar char="•"/>
              <a:defRPr sz="1100"/>
            </a:lvl5pPr>
            <a:lvl6pPr indent="-304800" lvl="5" marL="2743200" algn="l">
              <a:lnSpc>
                <a:spcPct val="100000"/>
              </a:lnSpc>
              <a:spcBef>
                <a:spcPts val="200"/>
              </a:spcBef>
              <a:spcAft>
                <a:spcPts val="0"/>
              </a:spcAft>
              <a:buSzPts val="1200"/>
              <a:buChar char="•"/>
              <a:defRPr sz="1200"/>
            </a:lvl6pPr>
            <a:lvl7pPr indent="-304800" lvl="6" marL="3200400" algn="l">
              <a:lnSpc>
                <a:spcPct val="100000"/>
              </a:lnSpc>
              <a:spcBef>
                <a:spcPts val="200"/>
              </a:spcBef>
              <a:spcAft>
                <a:spcPts val="0"/>
              </a:spcAft>
              <a:buSzPts val="1200"/>
              <a:buChar char="•"/>
              <a:defRPr sz="1200"/>
            </a:lvl7pPr>
            <a:lvl8pPr indent="-304800" lvl="7" marL="3657600" algn="l">
              <a:lnSpc>
                <a:spcPct val="100000"/>
              </a:lnSpc>
              <a:spcBef>
                <a:spcPts val="200"/>
              </a:spcBef>
              <a:spcAft>
                <a:spcPts val="0"/>
              </a:spcAft>
              <a:buSzPts val="1200"/>
              <a:buChar char="•"/>
              <a:defRPr sz="1200"/>
            </a:lvl8pPr>
            <a:lvl9pPr indent="-304800" lvl="8" marL="4114800" algn="l">
              <a:lnSpc>
                <a:spcPct val="100000"/>
              </a:lnSpc>
              <a:spcBef>
                <a:spcPts val="200"/>
              </a:spcBef>
              <a:spcAft>
                <a:spcPts val="0"/>
              </a:spcAft>
              <a:buSzPts val="1200"/>
              <a:buChar char="•"/>
              <a:defRPr sz="1200"/>
            </a:lvl9pPr>
          </a:lstStyle>
          <a:p/>
        </p:txBody>
      </p:sp>
      <p:sp>
        <p:nvSpPr>
          <p:cNvPr id="50" name="Google Shape;50;p50"/>
          <p:cNvSpPr txBox="1"/>
          <p:nvPr>
            <p:ph idx="3" type="body"/>
          </p:nvPr>
        </p:nvSpPr>
        <p:spPr>
          <a:xfrm>
            <a:off x="4648200" y="1122552"/>
            <a:ext cx="3657600" cy="479822"/>
          </a:xfrm>
          <a:prstGeom prst="rect">
            <a:avLst/>
          </a:prstGeom>
          <a:noFill/>
          <a:ln>
            <a:noFill/>
          </a:ln>
        </p:spPr>
        <p:txBody>
          <a:bodyPr anchorCtr="0" anchor="b" bIns="34275" lIns="68575" spcFirstLastPara="1" rIns="68575" wrap="square" tIns="34275">
            <a:noAutofit/>
          </a:bodyPr>
          <a:lstStyle>
            <a:lvl1pPr indent="-228600" lvl="0" marL="457200" algn="l">
              <a:lnSpc>
                <a:spcPct val="95000"/>
              </a:lnSpc>
              <a:spcBef>
                <a:spcPts val="900"/>
              </a:spcBef>
              <a:spcAft>
                <a:spcPts val="0"/>
              </a:spcAft>
              <a:buSzPts val="1500"/>
              <a:buNone/>
              <a:defRPr b="1" sz="1500">
                <a:solidFill>
                  <a:schemeClr val="dk2"/>
                </a:solidFill>
                <a:latin typeface="Verdana"/>
                <a:ea typeface="Verdana"/>
                <a:cs typeface="Verdana"/>
                <a:sym typeface="Verdana"/>
              </a:defRPr>
            </a:lvl1pPr>
            <a:lvl2pPr indent="-228600" lvl="1" marL="914400" algn="l">
              <a:lnSpc>
                <a:spcPct val="95000"/>
              </a:lnSpc>
              <a:spcBef>
                <a:spcPts val="500"/>
              </a:spcBef>
              <a:spcAft>
                <a:spcPts val="0"/>
              </a:spcAft>
              <a:buSzPts val="1500"/>
              <a:buNone/>
              <a:defRPr b="1" sz="1500"/>
            </a:lvl2pPr>
            <a:lvl3pPr indent="-228600" lvl="2" marL="1371600" algn="l">
              <a:lnSpc>
                <a:spcPct val="95000"/>
              </a:lnSpc>
              <a:spcBef>
                <a:spcPts val="500"/>
              </a:spcBef>
              <a:spcAft>
                <a:spcPts val="0"/>
              </a:spcAft>
              <a:buSzPts val="1400"/>
              <a:buNone/>
              <a:defRPr b="1" sz="1400"/>
            </a:lvl3pPr>
            <a:lvl4pPr indent="-228600" lvl="3" marL="1828800" algn="l">
              <a:lnSpc>
                <a:spcPct val="95000"/>
              </a:lnSpc>
              <a:spcBef>
                <a:spcPts val="500"/>
              </a:spcBef>
              <a:spcAft>
                <a:spcPts val="0"/>
              </a:spcAft>
              <a:buSzPts val="1200"/>
              <a:buNone/>
              <a:defRPr b="1" sz="1200"/>
            </a:lvl4pPr>
            <a:lvl5pPr indent="-228600" lvl="4" marL="2286000" algn="l">
              <a:lnSpc>
                <a:spcPct val="95000"/>
              </a:lnSpc>
              <a:spcBef>
                <a:spcPts val="500"/>
              </a:spcBef>
              <a:spcAft>
                <a:spcPts val="0"/>
              </a:spcAft>
              <a:buSzPts val="1200"/>
              <a:buNone/>
              <a:defRPr b="1" sz="1200"/>
            </a:lvl5pPr>
            <a:lvl6pPr indent="-228600" lvl="5" marL="2743200" algn="l">
              <a:lnSpc>
                <a:spcPct val="100000"/>
              </a:lnSpc>
              <a:spcBef>
                <a:spcPts val="200"/>
              </a:spcBef>
              <a:spcAft>
                <a:spcPts val="0"/>
              </a:spcAft>
              <a:buSzPts val="1200"/>
              <a:buNone/>
              <a:defRPr b="1" sz="1200"/>
            </a:lvl6pPr>
            <a:lvl7pPr indent="-228600" lvl="6" marL="3200400" algn="l">
              <a:lnSpc>
                <a:spcPct val="100000"/>
              </a:lnSpc>
              <a:spcBef>
                <a:spcPts val="200"/>
              </a:spcBef>
              <a:spcAft>
                <a:spcPts val="0"/>
              </a:spcAft>
              <a:buSzPts val="1200"/>
              <a:buNone/>
              <a:defRPr b="1" sz="1200"/>
            </a:lvl7pPr>
            <a:lvl8pPr indent="-228600" lvl="7" marL="3657600" algn="l">
              <a:lnSpc>
                <a:spcPct val="100000"/>
              </a:lnSpc>
              <a:spcBef>
                <a:spcPts val="200"/>
              </a:spcBef>
              <a:spcAft>
                <a:spcPts val="0"/>
              </a:spcAft>
              <a:buSzPts val="1200"/>
              <a:buNone/>
              <a:defRPr b="1" sz="1200"/>
            </a:lvl8pPr>
            <a:lvl9pPr indent="-228600" lvl="8" marL="4114800" algn="l">
              <a:lnSpc>
                <a:spcPct val="100000"/>
              </a:lnSpc>
              <a:spcBef>
                <a:spcPts val="200"/>
              </a:spcBef>
              <a:spcAft>
                <a:spcPts val="0"/>
              </a:spcAft>
              <a:buSzPts val="1200"/>
              <a:buNone/>
              <a:defRPr b="1" sz="1200"/>
            </a:lvl9pPr>
          </a:lstStyle>
          <a:p/>
        </p:txBody>
      </p:sp>
      <p:sp>
        <p:nvSpPr>
          <p:cNvPr id="51" name="Google Shape;51;p50"/>
          <p:cNvSpPr txBox="1"/>
          <p:nvPr>
            <p:ph idx="4" type="body"/>
          </p:nvPr>
        </p:nvSpPr>
        <p:spPr>
          <a:xfrm>
            <a:off x="4648200" y="1662300"/>
            <a:ext cx="3657600" cy="2966850"/>
          </a:xfrm>
          <a:prstGeom prst="rect">
            <a:avLst/>
          </a:prstGeom>
          <a:noFill/>
          <a:ln>
            <a:noFill/>
          </a:ln>
        </p:spPr>
        <p:txBody>
          <a:bodyPr anchorCtr="0" anchor="t" bIns="34275" lIns="68575" spcFirstLastPara="1" rIns="68575" wrap="square" tIns="34275">
            <a:normAutofit/>
          </a:bodyPr>
          <a:lstStyle>
            <a:lvl1pPr indent="-323850" lvl="0" marL="457200" algn="l">
              <a:lnSpc>
                <a:spcPct val="95000"/>
              </a:lnSpc>
              <a:spcBef>
                <a:spcPts val="900"/>
              </a:spcBef>
              <a:spcAft>
                <a:spcPts val="0"/>
              </a:spcAft>
              <a:buSzPts val="1500"/>
              <a:buChar char="•"/>
              <a:defRPr sz="1500"/>
            </a:lvl1pPr>
            <a:lvl2pPr indent="-317500" lvl="1" marL="914400" algn="l">
              <a:lnSpc>
                <a:spcPct val="95000"/>
              </a:lnSpc>
              <a:spcBef>
                <a:spcPts val="500"/>
              </a:spcBef>
              <a:spcAft>
                <a:spcPts val="0"/>
              </a:spcAft>
              <a:buSzPts val="1400"/>
              <a:buChar char="─"/>
              <a:defRPr sz="1400"/>
            </a:lvl2pPr>
            <a:lvl3pPr indent="-304800" lvl="2" marL="1371600" algn="l">
              <a:lnSpc>
                <a:spcPct val="95000"/>
              </a:lnSpc>
              <a:spcBef>
                <a:spcPts val="500"/>
              </a:spcBef>
              <a:spcAft>
                <a:spcPts val="0"/>
              </a:spcAft>
              <a:buSzPts val="1200"/>
              <a:buChar char="▪"/>
              <a:defRPr sz="1200"/>
            </a:lvl3pPr>
            <a:lvl4pPr indent="-298450" lvl="3" marL="1828800" algn="l">
              <a:lnSpc>
                <a:spcPct val="95000"/>
              </a:lnSpc>
              <a:spcBef>
                <a:spcPts val="500"/>
              </a:spcBef>
              <a:spcAft>
                <a:spcPts val="0"/>
              </a:spcAft>
              <a:buSzPts val="1100"/>
              <a:buChar char="o"/>
              <a:defRPr sz="1100"/>
            </a:lvl4pPr>
            <a:lvl5pPr indent="-298450" lvl="4" marL="2286000" algn="l">
              <a:lnSpc>
                <a:spcPct val="95000"/>
              </a:lnSpc>
              <a:spcBef>
                <a:spcPts val="500"/>
              </a:spcBef>
              <a:spcAft>
                <a:spcPts val="0"/>
              </a:spcAft>
              <a:buSzPts val="1100"/>
              <a:buChar char="•"/>
              <a:defRPr sz="1100"/>
            </a:lvl5pPr>
            <a:lvl6pPr indent="-304800" lvl="5" marL="2743200" algn="l">
              <a:lnSpc>
                <a:spcPct val="100000"/>
              </a:lnSpc>
              <a:spcBef>
                <a:spcPts val="200"/>
              </a:spcBef>
              <a:spcAft>
                <a:spcPts val="0"/>
              </a:spcAft>
              <a:buSzPts val="1200"/>
              <a:buChar char="•"/>
              <a:defRPr sz="1200"/>
            </a:lvl6pPr>
            <a:lvl7pPr indent="-304800" lvl="6" marL="3200400" algn="l">
              <a:lnSpc>
                <a:spcPct val="100000"/>
              </a:lnSpc>
              <a:spcBef>
                <a:spcPts val="200"/>
              </a:spcBef>
              <a:spcAft>
                <a:spcPts val="0"/>
              </a:spcAft>
              <a:buSzPts val="1200"/>
              <a:buChar char="•"/>
              <a:defRPr sz="1200"/>
            </a:lvl7pPr>
            <a:lvl8pPr indent="-304800" lvl="7" marL="3657600" algn="l">
              <a:lnSpc>
                <a:spcPct val="100000"/>
              </a:lnSpc>
              <a:spcBef>
                <a:spcPts val="200"/>
              </a:spcBef>
              <a:spcAft>
                <a:spcPts val="0"/>
              </a:spcAft>
              <a:buSzPts val="1200"/>
              <a:buChar char="•"/>
              <a:defRPr sz="1200"/>
            </a:lvl8pPr>
            <a:lvl9pPr indent="-304800" lvl="8" marL="4114800" algn="l">
              <a:lnSpc>
                <a:spcPct val="100000"/>
              </a:lnSpc>
              <a:spcBef>
                <a:spcPts val="200"/>
              </a:spcBef>
              <a:spcAft>
                <a:spcPts val="0"/>
              </a:spcAft>
              <a:buSzPts val="1200"/>
              <a:buChar char="•"/>
              <a:defRPr sz="1200"/>
            </a:lvl9pPr>
          </a:lstStyle>
          <a:p/>
        </p:txBody>
      </p:sp>
      <p:sp>
        <p:nvSpPr>
          <p:cNvPr id="52" name="Google Shape;52;p50"/>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zh-CN"/>
              <a:t>‹#›</a:t>
            </a:fld>
            <a:endParaRPr/>
          </a:p>
        </p:txBody>
      </p:sp>
      <p:sp>
        <p:nvSpPr>
          <p:cNvPr id="53" name="Google Shape;53;p50"/>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1"/>
          <p:cNvSpPr txBox="1"/>
          <p:nvPr>
            <p:ph idx="12" type="sldNum"/>
          </p:nvPr>
        </p:nvSpPr>
        <p:spPr>
          <a:xfrm>
            <a:off x="1" y="4793743"/>
            <a:ext cx="459297" cy="273844"/>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zh-CN"/>
              <a:t>‹#›</a:t>
            </a:fld>
            <a:endParaRPr/>
          </a:p>
        </p:txBody>
      </p:sp>
      <p:sp>
        <p:nvSpPr>
          <p:cNvPr id="56" name="Google Shape;56;p51"/>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52"/>
          <p:cNvSpPr txBox="1"/>
          <p:nvPr>
            <p:ph type="title"/>
          </p:nvPr>
        </p:nvSpPr>
        <p:spPr>
          <a:xfrm>
            <a:off x="457200" y="57150"/>
            <a:ext cx="8305800" cy="8001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rgbClr val="262626"/>
              </a:buClr>
              <a:buSzPts val="2400"/>
              <a:buFont typeface="Verdana"/>
              <a:buNone/>
              <a:defRPr b="1"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52"/>
          <p:cNvSpPr txBox="1"/>
          <p:nvPr>
            <p:ph idx="1" type="body"/>
          </p:nvPr>
        </p:nvSpPr>
        <p:spPr>
          <a:xfrm>
            <a:off x="3392782" y="1143001"/>
            <a:ext cx="5294018" cy="3486149"/>
          </a:xfrm>
          <a:prstGeom prst="rect">
            <a:avLst/>
          </a:prstGeom>
          <a:noFill/>
          <a:ln>
            <a:noFill/>
          </a:ln>
        </p:spPr>
        <p:txBody>
          <a:bodyPr anchorCtr="0" anchor="t" bIns="34275" lIns="68575" spcFirstLastPara="1" rIns="68575" wrap="square" tIns="34275">
            <a:normAutofit/>
          </a:bodyPr>
          <a:lstStyle>
            <a:lvl1pPr indent="-342900" lvl="0" marL="457200" algn="l">
              <a:lnSpc>
                <a:spcPct val="95000"/>
              </a:lnSpc>
              <a:spcBef>
                <a:spcPts val="900"/>
              </a:spcBef>
              <a:spcAft>
                <a:spcPts val="0"/>
              </a:spcAft>
              <a:buSzPts val="1800"/>
              <a:buChar char="•"/>
              <a:defRPr sz="1800"/>
            </a:lvl1pPr>
            <a:lvl2pPr indent="-336550" lvl="1" marL="914400" algn="l">
              <a:lnSpc>
                <a:spcPct val="95000"/>
              </a:lnSpc>
              <a:spcBef>
                <a:spcPts val="500"/>
              </a:spcBef>
              <a:spcAft>
                <a:spcPts val="0"/>
              </a:spcAft>
              <a:buSzPts val="1700"/>
              <a:buChar char="─"/>
              <a:defRPr sz="1700"/>
            </a:lvl2pPr>
            <a:lvl3pPr indent="-323850" lvl="2" marL="1371600" algn="l">
              <a:lnSpc>
                <a:spcPct val="95000"/>
              </a:lnSpc>
              <a:spcBef>
                <a:spcPts val="500"/>
              </a:spcBef>
              <a:spcAft>
                <a:spcPts val="0"/>
              </a:spcAft>
              <a:buSzPts val="1500"/>
              <a:buChar char="▪"/>
              <a:defRPr sz="1500"/>
            </a:lvl3pPr>
            <a:lvl4pPr indent="-317500" lvl="3" marL="1828800" algn="l">
              <a:lnSpc>
                <a:spcPct val="95000"/>
              </a:lnSpc>
              <a:spcBef>
                <a:spcPts val="500"/>
              </a:spcBef>
              <a:spcAft>
                <a:spcPts val="0"/>
              </a:spcAft>
              <a:buSzPts val="1400"/>
              <a:buChar char="o"/>
              <a:defRPr sz="1400"/>
            </a:lvl4pPr>
            <a:lvl5pPr indent="-317500" lvl="4" marL="2286000" algn="l">
              <a:lnSpc>
                <a:spcPct val="95000"/>
              </a:lnSpc>
              <a:spcBef>
                <a:spcPts val="500"/>
              </a:spcBef>
              <a:spcAft>
                <a:spcPts val="0"/>
              </a:spcAft>
              <a:buSzPts val="1400"/>
              <a:buChar char="•"/>
              <a:defRPr sz="1400"/>
            </a:lvl5pPr>
            <a:lvl6pPr indent="-323850" lvl="5" marL="2743200" algn="l">
              <a:lnSpc>
                <a:spcPct val="100000"/>
              </a:lnSpc>
              <a:spcBef>
                <a:spcPts val="300"/>
              </a:spcBef>
              <a:spcAft>
                <a:spcPts val="0"/>
              </a:spcAft>
              <a:buSzPts val="1500"/>
              <a:buChar char="•"/>
              <a:defRPr sz="1500"/>
            </a:lvl6pPr>
            <a:lvl7pPr indent="-323850" lvl="6" marL="3200400" algn="l">
              <a:lnSpc>
                <a:spcPct val="100000"/>
              </a:lnSpc>
              <a:spcBef>
                <a:spcPts val="300"/>
              </a:spcBef>
              <a:spcAft>
                <a:spcPts val="0"/>
              </a:spcAft>
              <a:buSzPts val="1500"/>
              <a:buChar char="•"/>
              <a:defRPr sz="1500"/>
            </a:lvl7pPr>
            <a:lvl8pPr indent="-323850" lvl="7" marL="3657600" algn="l">
              <a:lnSpc>
                <a:spcPct val="100000"/>
              </a:lnSpc>
              <a:spcBef>
                <a:spcPts val="300"/>
              </a:spcBef>
              <a:spcAft>
                <a:spcPts val="0"/>
              </a:spcAft>
              <a:buSzPts val="1500"/>
              <a:buChar char="•"/>
              <a:defRPr sz="1500"/>
            </a:lvl8pPr>
            <a:lvl9pPr indent="-323850" lvl="8" marL="4114800" algn="l">
              <a:lnSpc>
                <a:spcPct val="100000"/>
              </a:lnSpc>
              <a:spcBef>
                <a:spcPts val="300"/>
              </a:spcBef>
              <a:spcAft>
                <a:spcPts val="0"/>
              </a:spcAft>
              <a:buSzPts val="1500"/>
              <a:buChar char="•"/>
              <a:defRPr sz="1500"/>
            </a:lvl9pPr>
          </a:lstStyle>
          <a:p/>
        </p:txBody>
      </p:sp>
      <p:sp>
        <p:nvSpPr>
          <p:cNvPr id="60" name="Google Shape;60;p52"/>
          <p:cNvSpPr txBox="1"/>
          <p:nvPr>
            <p:ph idx="2" type="body"/>
          </p:nvPr>
        </p:nvSpPr>
        <p:spPr>
          <a:xfrm>
            <a:off x="443917" y="1143000"/>
            <a:ext cx="2673657" cy="3486150"/>
          </a:xfrm>
          <a:prstGeom prst="rect">
            <a:avLst/>
          </a:prstGeom>
          <a:noFill/>
          <a:ln>
            <a:noFill/>
          </a:ln>
        </p:spPr>
        <p:txBody>
          <a:bodyPr anchorCtr="0" anchor="t" bIns="34275" lIns="68575" spcFirstLastPara="1" rIns="68575" wrap="square" tIns="34275">
            <a:normAutofit/>
          </a:bodyPr>
          <a:lstStyle>
            <a:lvl1pPr indent="-228600" lvl="0" marL="457200" algn="l">
              <a:lnSpc>
                <a:spcPct val="95000"/>
              </a:lnSpc>
              <a:spcBef>
                <a:spcPts val="900"/>
              </a:spcBef>
              <a:spcAft>
                <a:spcPts val="0"/>
              </a:spcAft>
              <a:buSzPts val="1500"/>
              <a:buNone/>
              <a:defRPr sz="1500">
                <a:solidFill>
                  <a:schemeClr val="dk2"/>
                </a:solidFill>
              </a:defRPr>
            </a:lvl1pPr>
            <a:lvl2pPr indent="-228600" lvl="1" marL="914400" algn="l">
              <a:lnSpc>
                <a:spcPct val="95000"/>
              </a:lnSpc>
              <a:spcBef>
                <a:spcPts val="500"/>
              </a:spcBef>
              <a:spcAft>
                <a:spcPts val="0"/>
              </a:spcAft>
              <a:buSzPts val="900"/>
              <a:buNone/>
              <a:defRPr sz="900"/>
            </a:lvl2pPr>
            <a:lvl3pPr indent="-228600" lvl="2" marL="1371600" algn="l">
              <a:lnSpc>
                <a:spcPct val="95000"/>
              </a:lnSpc>
              <a:spcBef>
                <a:spcPts val="500"/>
              </a:spcBef>
              <a:spcAft>
                <a:spcPts val="0"/>
              </a:spcAft>
              <a:buSzPts val="800"/>
              <a:buNone/>
              <a:defRPr sz="800"/>
            </a:lvl3pPr>
            <a:lvl4pPr indent="-228600" lvl="3" marL="1828800" algn="l">
              <a:lnSpc>
                <a:spcPct val="95000"/>
              </a:lnSpc>
              <a:spcBef>
                <a:spcPts val="500"/>
              </a:spcBef>
              <a:spcAft>
                <a:spcPts val="0"/>
              </a:spcAft>
              <a:buSzPts val="700"/>
              <a:buNone/>
              <a:defRPr sz="700"/>
            </a:lvl4pPr>
            <a:lvl5pPr indent="-228600" lvl="4" marL="2286000" algn="l">
              <a:lnSpc>
                <a:spcPct val="95000"/>
              </a:lnSpc>
              <a:spcBef>
                <a:spcPts val="500"/>
              </a:spcBef>
              <a:spcAft>
                <a:spcPts val="0"/>
              </a:spcAft>
              <a:buSzPts val="700"/>
              <a:buNone/>
              <a:defRPr sz="700"/>
            </a:lvl5pPr>
            <a:lvl6pPr indent="-228600" lvl="5" marL="2743200" algn="l">
              <a:lnSpc>
                <a:spcPct val="100000"/>
              </a:lnSpc>
              <a:spcBef>
                <a:spcPts val="100"/>
              </a:spcBef>
              <a:spcAft>
                <a:spcPts val="0"/>
              </a:spcAft>
              <a:buSzPts val="700"/>
              <a:buNone/>
              <a:defRPr sz="700"/>
            </a:lvl6pPr>
            <a:lvl7pPr indent="-228600" lvl="6" marL="3200400" algn="l">
              <a:lnSpc>
                <a:spcPct val="100000"/>
              </a:lnSpc>
              <a:spcBef>
                <a:spcPts val="100"/>
              </a:spcBef>
              <a:spcAft>
                <a:spcPts val="0"/>
              </a:spcAft>
              <a:buSzPts val="700"/>
              <a:buNone/>
              <a:defRPr sz="700"/>
            </a:lvl7pPr>
            <a:lvl8pPr indent="-228600" lvl="7" marL="3657600" algn="l">
              <a:lnSpc>
                <a:spcPct val="100000"/>
              </a:lnSpc>
              <a:spcBef>
                <a:spcPts val="100"/>
              </a:spcBef>
              <a:spcAft>
                <a:spcPts val="0"/>
              </a:spcAft>
              <a:buSzPts val="700"/>
              <a:buNone/>
              <a:defRPr sz="700"/>
            </a:lvl8pPr>
            <a:lvl9pPr indent="-228600" lvl="8" marL="4114800" algn="l">
              <a:lnSpc>
                <a:spcPct val="100000"/>
              </a:lnSpc>
              <a:spcBef>
                <a:spcPts val="100"/>
              </a:spcBef>
              <a:spcAft>
                <a:spcPts val="0"/>
              </a:spcAft>
              <a:buSzPts val="700"/>
              <a:buNone/>
              <a:defRPr sz="700"/>
            </a:lvl9pPr>
          </a:lstStyle>
          <a:p/>
        </p:txBody>
      </p:sp>
      <p:sp>
        <p:nvSpPr>
          <p:cNvPr id="61" name="Google Shape;61;p52"/>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zh-CN"/>
              <a:t>‹#›</a:t>
            </a:fld>
            <a:endParaRPr/>
          </a:p>
        </p:txBody>
      </p:sp>
      <p:cxnSp>
        <p:nvCxnSpPr>
          <p:cNvPr id="62" name="Google Shape;62;p52"/>
          <p:cNvCxnSpPr/>
          <p:nvPr/>
        </p:nvCxnSpPr>
        <p:spPr>
          <a:xfrm rot="5400000">
            <a:off x="1835360" y="2685851"/>
            <a:ext cx="2857500" cy="1588"/>
          </a:xfrm>
          <a:prstGeom prst="straightConnector1">
            <a:avLst/>
          </a:prstGeom>
          <a:noFill/>
          <a:ln cap="flat" cmpd="sng" w="15875">
            <a:solidFill>
              <a:srgbClr val="B5B5B5"/>
            </a:solidFill>
            <a:prstDash val="solid"/>
            <a:round/>
            <a:headEnd len="sm" w="sm" type="none"/>
            <a:tailEnd len="sm" w="sm" type="none"/>
          </a:ln>
        </p:spPr>
      </p:cxnSp>
      <p:sp>
        <p:nvSpPr>
          <p:cNvPr id="63" name="Google Shape;63;p52"/>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lvl1pPr lvl="0" marR="0" rtl="0" algn="l">
              <a:lnSpc>
                <a:spcPct val="100000"/>
              </a:lnSpc>
              <a:spcBef>
                <a:spcPts val="0"/>
              </a:spcBef>
              <a:spcAft>
                <a:spcPts val="0"/>
              </a:spcAft>
              <a:buClr>
                <a:srgbClr val="262626"/>
              </a:buClr>
              <a:buSzPts val="2400"/>
              <a:buFont typeface="Verdana"/>
              <a:buNone/>
              <a:defRPr b="1" i="0" sz="2400" u="none" cap="none" strike="noStrike">
                <a:solidFill>
                  <a:srgbClr val="262626"/>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2"/>
                </a:solidFill>
                <a:latin typeface="Arial"/>
                <a:ea typeface="Arial"/>
                <a:cs typeface="Arial"/>
                <a:sym typeface="Arial"/>
              </a:defRPr>
            </a:lvl9pPr>
          </a:lstStyle>
          <a:p/>
        </p:txBody>
      </p:sp>
      <p:sp>
        <p:nvSpPr>
          <p:cNvPr id="7" name="Google Shape;7;p42"/>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lvl1pPr indent="-342900" lvl="0" marL="457200" marR="0" rtl="0" algn="l">
              <a:lnSpc>
                <a:spcPct val="95000"/>
              </a:lnSpc>
              <a:spcBef>
                <a:spcPts val="900"/>
              </a:spcBef>
              <a:spcAft>
                <a:spcPts val="0"/>
              </a:spcAft>
              <a:buClr>
                <a:schemeClr val="lt2"/>
              </a:buClr>
              <a:buSzPts val="1800"/>
              <a:buFont typeface="Arial"/>
              <a:buChar char="•"/>
              <a:defRPr b="0" i="0" sz="1800" u="none" cap="none" strike="noStrike">
                <a:solidFill>
                  <a:schemeClr val="dk1"/>
                </a:solidFill>
                <a:latin typeface="Verdana"/>
                <a:ea typeface="Verdana"/>
                <a:cs typeface="Verdana"/>
                <a:sym typeface="Verdana"/>
              </a:defRPr>
            </a:lvl1pPr>
            <a:lvl2pPr indent="-323850" lvl="1" marL="914400" marR="0" rtl="0" algn="l">
              <a:lnSpc>
                <a:spcPct val="95000"/>
              </a:lnSpc>
              <a:spcBef>
                <a:spcPts val="500"/>
              </a:spcBef>
              <a:spcAft>
                <a:spcPts val="0"/>
              </a:spcAft>
              <a:buClr>
                <a:schemeClr val="lt2"/>
              </a:buClr>
              <a:buSzPts val="1500"/>
              <a:buFont typeface="Verdana"/>
              <a:buChar char="─"/>
              <a:defRPr b="0" i="0" sz="1500" u="none" cap="none" strike="noStrike">
                <a:solidFill>
                  <a:schemeClr val="dk1"/>
                </a:solidFill>
                <a:latin typeface="Verdana"/>
                <a:ea typeface="Verdana"/>
                <a:cs typeface="Verdana"/>
                <a:sym typeface="Verdana"/>
              </a:defRPr>
            </a:lvl2pPr>
            <a:lvl3pPr indent="-317500" lvl="2" marL="1371600" marR="0" rtl="0" algn="l">
              <a:lnSpc>
                <a:spcPct val="95000"/>
              </a:lnSpc>
              <a:spcBef>
                <a:spcPts val="500"/>
              </a:spcBef>
              <a:spcAft>
                <a:spcPts val="0"/>
              </a:spcAft>
              <a:buClr>
                <a:schemeClr val="lt2"/>
              </a:buClr>
              <a:buSzPts val="1400"/>
              <a:buFont typeface="Noto Sans Symbols"/>
              <a:buChar char="▪"/>
              <a:defRPr b="0" i="0" sz="1400" u="none" cap="none" strike="noStrike">
                <a:solidFill>
                  <a:schemeClr val="dk1"/>
                </a:solidFill>
                <a:latin typeface="Verdana"/>
                <a:ea typeface="Verdana"/>
                <a:cs typeface="Verdana"/>
                <a:sym typeface="Verdana"/>
              </a:defRPr>
            </a:lvl3pPr>
            <a:lvl4pPr indent="-304800" lvl="3" marL="1828800" marR="0" rtl="0" algn="l">
              <a:lnSpc>
                <a:spcPct val="95000"/>
              </a:lnSpc>
              <a:spcBef>
                <a:spcPts val="500"/>
              </a:spcBef>
              <a:spcAft>
                <a:spcPts val="0"/>
              </a:spcAft>
              <a:buClr>
                <a:schemeClr val="lt2"/>
              </a:buClr>
              <a:buSzPts val="1200"/>
              <a:buFont typeface="Courier New"/>
              <a:buChar char="o"/>
              <a:defRPr b="0" i="0" sz="1200" u="none" cap="none" strike="noStrike">
                <a:solidFill>
                  <a:schemeClr val="dk1"/>
                </a:solidFill>
                <a:latin typeface="Verdana"/>
                <a:ea typeface="Verdana"/>
                <a:cs typeface="Verdana"/>
                <a:sym typeface="Verdana"/>
              </a:defRPr>
            </a:lvl4pPr>
            <a:lvl5pPr indent="-304800" lvl="4" marL="2286000" marR="0" rtl="0" algn="l">
              <a:lnSpc>
                <a:spcPct val="95000"/>
              </a:lnSpc>
              <a:spcBef>
                <a:spcPts val="500"/>
              </a:spcBef>
              <a:spcAft>
                <a:spcPts val="0"/>
              </a:spcAft>
              <a:buClr>
                <a:schemeClr val="lt2"/>
              </a:buClr>
              <a:buSzPts val="1200"/>
              <a:buFont typeface="Arial"/>
              <a:buChar char="•"/>
              <a:defRPr b="0" i="0" sz="1200" u="none" cap="none" strike="noStrike">
                <a:solidFill>
                  <a:schemeClr val="dk1"/>
                </a:solidFill>
                <a:latin typeface="Verdana"/>
                <a:ea typeface="Verdana"/>
                <a:cs typeface="Verdana"/>
                <a:sym typeface="Verdana"/>
              </a:defRPr>
            </a:lvl5pPr>
            <a:lvl6pPr indent="-304800" lvl="5" marL="2743200" marR="0" rtl="0" algn="l">
              <a:lnSpc>
                <a:spcPct val="100000"/>
              </a:lnSpc>
              <a:spcBef>
                <a:spcPts val="200"/>
              </a:spcBef>
              <a:spcAft>
                <a:spcPts val="0"/>
              </a:spcAft>
              <a:buClr>
                <a:schemeClr val="accent1"/>
              </a:buClr>
              <a:buSzPts val="1200"/>
              <a:buFont typeface="Arial"/>
              <a:buChar char="•"/>
              <a:defRPr b="0" i="0" sz="1200" u="none" cap="none" strike="noStrike">
                <a:solidFill>
                  <a:schemeClr val="dk2"/>
                </a:solidFill>
                <a:latin typeface="Verdana"/>
                <a:ea typeface="Verdana"/>
                <a:cs typeface="Verdana"/>
                <a:sym typeface="Verdana"/>
              </a:defRPr>
            </a:lvl6pPr>
            <a:lvl7pPr indent="-304800" lvl="6" marL="3200400" marR="0" rtl="0" algn="l">
              <a:lnSpc>
                <a:spcPct val="100000"/>
              </a:lnSpc>
              <a:spcBef>
                <a:spcPts val="200"/>
              </a:spcBef>
              <a:spcAft>
                <a:spcPts val="0"/>
              </a:spcAft>
              <a:buClr>
                <a:schemeClr val="accent1"/>
              </a:buClr>
              <a:buSzPts val="1200"/>
              <a:buFont typeface="Arial"/>
              <a:buChar char="•"/>
              <a:defRPr b="0" i="0" sz="1200" u="none" cap="none" strike="noStrike">
                <a:solidFill>
                  <a:schemeClr val="dk2"/>
                </a:solidFill>
                <a:latin typeface="Verdana"/>
                <a:ea typeface="Verdana"/>
                <a:cs typeface="Verdana"/>
                <a:sym typeface="Verdana"/>
              </a:defRPr>
            </a:lvl7pPr>
            <a:lvl8pPr indent="-304800" lvl="7" marL="3657600" marR="0" rtl="0" algn="l">
              <a:lnSpc>
                <a:spcPct val="100000"/>
              </a:lnSpc>
              <a:spcBef>
                <a:spcPts val="200"/>
              </a:spcBef>
              <a:spcAft>
                <a:spcPts val="0"/>
              </a:spcAft>
              <a:buClr>
                <a:schemeClr val="accent1"/>
              </a:buClr>
              <a:buSzPts val="1200"/>
              <a:buFont typeface="Arial"/>
              <a:buChar char="•"/>
              <a:defRPr b="0" i="0" sz="1200" u="none" cap="none" strike="noStrike">
                <a:solidFill>
                  <a:schemeClr val="dk2"/>
                </a:solidFill>
                <a:latin typeface="Verdana"/>
                <a:ea typeface="Verdana"/>
                <a:cs typeface="Verdana"/>
                <a:sym typeface="Verdana"/>
              </a:defRPr>
            </a:lvl8pPr>
            <a:lvl9pPr indent="-304800" lvl="8" marL="4114800" marR="0" rtl="0" algn="l">
              <a:lnSpc>
                <a:spcPct val="100000"/>
              </a:lnSpc>
              <a:spcBef>
                <a:spcPts val="200"/>
              </a:spcBef>
              <a:spcAft>
                <a:spcPts val="0"/>
              </a:spcAft>
              <a:buClr>
                <a:schemeClr val="accent1"/>
              </a:buClr>
              <a:buSzPts val="1200"/>
              <a:buFont typeface="Arial"/>
              <a:buChar char="•"/>
              <a:defRPr b="0" i="0" sz="1200" u="none" cap="none" strike="noStrike">
                <a:solidFill>
                  <a:schemeClr val="dk2"/>
                </a:solidFill>
                <a:latin typeface="Verdana"/>
                <a:ea typeface="Verdana"/>
                <a:cs typeface="Verdana"/>
                <a:sym typeface="Verdana"/>
              </a:defRPr>
            </a:lvl9pPr>
          </a:lstStyle>
          <a:p/>
        </p:txBody>
      </p:sp>
      <p:sp>
        <p:nvSpPr>
          <p:cNvPr id="8" name="Google Shape;8;p42"/>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lvl1pPr indent="0" lvl="0" marL="0" marR="0" rtl="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1pPr>
            <a:lvl2pPr indent="0" lvl="1" marL="0" marR="0" rtl="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2pPr>
            <a:lvl3pPr indent="0" lvl="2" marL="0" marR="0" rtl="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3pPr>
            <a:lvl4pPr indent="0" lvl="3" marL="0" marR="0" rtl="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4pPr>
            <a:lvl5pPr indent="0" lvl="4" marL="0" marR="0" rtl="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5pPr>
            <a:lvl6pPr indent="0" lvl="5" marL="0" marR="0" rtl="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6pPr>
            <a:lvl7pPr indent="0" lvl="6" marL="0" marR="0" rtl="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7pPr>
            <a:lvl8pPr indent="0" lvl="7" marL="0" marR="0" rtl="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8pPr>
            <a:lvl9pPr indent="0" lvl="8" marL="0" marR="0" rtl="0" algn="l">
              <a:lnSpc>
                <a:spcPct val="100000"/>
              </a:lnSpc>
              <a:spcBef>
                <a:spcPts val="0"/>
              </a:spcBef>
              <a:spcAft>
                <a:spcPts val="0"/>
              </a:spcAft>
              <a:buClr>
                <a:srgbClr val="000000"/>
              </a:buClr>
              <a:buSzPts val="900"/>
              <a:buFont typeface="Arial"/>
              <a:buNone/>
              <a:defRPr b="0" i="0" sz="9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zh-CN"/>
              <a:t>‹#›</a:t>
            </a:fld>
            <a:endParaRPr/>
          </a:p>
        </p:txBody>
      </p:sp>
      <p:sp>
        <p:nvSpPr>
          <p:cNvPr id="9" name="Google Shape;9;p42"/>
          <p:cNvSpPr/>
          <p:nvPr/>
        </p:nvSpPr>
        <p:spPr>
          <a:xfrm>
            <a:off x="457200" y="926225"/>
            <a:ext cx="8686800" cy="34289"/>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Verdana"/>
              <a:ea typeface="Verdana"/>
              <a:cs typeface="Verdana"/>
              <a:sym typeface="Verdana"/>
            </a:endParaRPr>
          </a:p>
        </p:txBody>
      </p:sp>
      <p:sp>
        <p:nvSpPr>
          <p:cNvPr id="10" name="Google Shape;10;p42"/>
          <p:cNvSpPr txBox="1"/>
          <p:nvPr/>
        </p:nvSpPr>
        <p:spPr>
          <a:xfrm>
            <a:off x="5486400" y="4800600"/>
            <a:ext cx="3352800" cy="276999"/>
          </a:xfrm>
          <a:prstGeom prst="rect">
            <a:avLst/>
          </a:prstGeom>
          <a:noFill/>
          <a:ln>
            <a:noFill/>
          </a:ln>
        </p:spPr>
        <p:txBody>
          <a:bodyPr anchorCtr="0" anchor="t" bIns="34275" lIns="68575" spcFirstLastPara="1" rIns="68575" wrap="square" tIns="34275">
            <a:spAutoFit/>
          </a:bodyPr>
          <a:lstStyle/>
          <a:p>
            <a:pPr indent="0" lvl="0" marL="0" marR="0" rtl="0" algn="r">
              <a:lnSpc>
                <a:spcPct val="100000"/>
              </a:lnSpc>
              <a:spcBef>
                <a:spcPts val="0"/>
              </a:spcBef>
              <a:spcAft>
                <a:spcPts val="0"/>
              </a:spcAft>
              <a:buClr>
                <a:srgbClr val="000000"/>
              </a:buClr>
              <a:buSzPts val="1400"/>
              <a:buFont typeface="Arial"/>
              <a:buNone/>
            </a:pPr>
            <a:r>
              <a:rPr b="0" i="0" lang="zh-CN" sz="1400" u="none" cap="none" strike="noStrike">
                <a:solidFill>
                  <a:schemeClr val="lt2"/>
                </a:solidFill>
                <a:latin typeface="Times New Roman"/>
                <a:ea typeface="Times New Roman"/>
                <a:cs typeface="Times New Roman"/>
                <a:sym typeface="Times New Roman"/>
              </a:rPr>
              <a:t>Worcester Polytechnic Institute</a:t>
            </a:r>
            <a:endParaRPr b="0" i="0" sz="1400" u="none" cap="none" strike="noStrike">
              <a:solidFill>
                <a:schemeClr val="lt2"/>
              </a:solidFill>
              <a:latin typeface="Times New Roman"/>
              <a:ea typeface="Times New Roman"/>
              <a:cs typeface="Times New Roman"/>
              <a:sym typeface="Times New Roman"/>
            </a:endParaRPr>
          </a:p>
        </p:txBody>
      </p:sp>
      <p:sp>
        <p:nvSpPr>
          <p:cNvPr id="11" name="Google Shape;11;p42"/>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200" u="none" cap="none" strike="noStrike">
                <a:solidFill>
                  <a:schemeClr val="dk2"/>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38.png"/><Relationship Id="rId10" Type="http://schemas.openxmlformats.org/officeDocument/2006/relationships/image" Target="../media/image4.jpg"/><Relationship Id="rId9" Type="http://schemas.openxmlformats.org/officeDocument/2006/relationships/image" Target="../media/image9.jpg"/><Relationship Id="rId5" Type="http://schemas.openxmlformats.org/officeDocument/2006/relationships/image" Target="../media/image6.jpg"/><Relationship Id="rId6" Type="http://schemas.openxmlformats.org/officeDocument/2006/relationships/image" Target="../media/image12.jpg"/><Relationship Id="rId7" Type="http://schemas.openxmlformats.org/officeDocument/2006/relationships/image" Target="../media/image11.jpg"/><Relationship Id="rId8"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ocs.google.com/forms/d/e/1FAIpQLSfYlz7IJl24VsIMbgRiqswPD1c8iaETFRp5isvF4d1HsJpmQA/viewform?usp=publish-editor" TargetMode="Externa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1.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5.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0.jp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9.jpg"/><Relationship Id="rId4" Type="http://schemas.openxmlformats.org/officeDocument/2006/relationships/image" Target="../media/image4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9.jpg"/><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docs.google.com/forms/d/e/1FAIpQLSeWm6VmdRqP1jc2hU-sAQfu6CTMRnFNIZcRbN3DBW2gzjh0ZA/viewform?usp=publish-editor" TargetMode="External"/><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hyperlink" Target="https://docs.google.com/forms/d/e/1FAIpQLSfLsSk2Im3z0i-C1vZZvoncM_lZDDe_UpqJ85Q3chkUuPl4Hg/viewform" TargetMode="Externa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
          <p:cNvSpPr txBox="1"/>
          <p:nvPr>
            <p:ph type="ctrTitle"/>
          </p:nvPr>
        </p:nvSpPr>
        <p:spPr>
          <a:xfrm>
            <a:off x="457200" y="1972628"/>
            <a:ext cx="8308800" cy="2085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3000"/>
              <a:buFont typeface="Verdana"/>
              <a:buNone/>
            </a:pPr>
            <a:br>
              <a:rPr lang="zh-CN"/>
            </a:br>
            <a:br>
              <a:rPr lang="zh-CN"/>
            </a:br>
            <a:br>
              <a:rPr lang="zh-CN"/>
            </a:br>
            <a:br>
              <a:rPr lang="zh-CN"/>
            </a:br>
            <a:br>
              <a:rPr lang="zh-CN"/>
            </a:br>
            <a:r>
              <a:rPr lang="zh-CN" sz="2300">
                <a:solidFill>
                  <a:srgbClr val="292929"/>
                </a:solidFill>
                <a:latin typeface="Helvetica Neue"/>
                <a:ea typeface="Helvetica Neue"/>
                <a:cs typeface="Helvetica Neue"/>
                <a:sym typeface="Helvetica Neue"/>
              </a:rPr>
              <a:t>NAIRR Workshop Series on Cybersecurity, Edge AI, and Autonomous Driving</a:t>
            </a:r>
            <a:br>
              <a:rPr lang="zh-CN">
                <a:solidFill>
                  <a:srgbClr val="000000"/>
                </a:solidFill>
                <a:latin typeface="Helvetica Neue"/>
                <a:ea typeface="Helvetica Neue"/>
                <a:cs typeface="Helvetica Neue"/>
                <a:sym typeface="Helvetica Neue"/>
              </a:rPr>
            </a:br>
            <a:br>
              <a:rPr lang="zh-CN"/>
            </a:br>
            <a:endParaRPr/>
          </a:p>
        </p:txBody>
      </p:sp>
      <p:sp>
        <p:nvSpPr>
          <p:cNvPr id="69" name="Google Shape;69;p1"/>
          <p:cNvSpPr txBox="1"/>
          <p:nvPr/>
        </p:nvSpPr>
        <p:spPr>
          <a:xfrm>
            <a:off x="565225" y="3958375"/>
            <a:ext cx="8139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zh-CN" sz="1800">
                <a:solidFill>
                  <a:schemeClr val="dk1"/>
                </a:solidFill>
                <a:latin typeface="Verdana"/>
                <a:ea typeface="Verdana"/>
                <a:cs typeface="Verdana"/>
                <a:sym typeface="Verdana"/>
              </a:rPr>
              <a:t>WPI &amp; Oakland University</a:t>
            </a:r>
            <a:endParaRPr b="0" i="0" sz="1800" u="none" cap="none" strike="noStrike">
              <a:solidFill>
                <a:schemeClr val="dk1"/>
              </a:solidFill>
              <a:latin typeface="Verdana"/>
              <a:ea typeface="Verdana"/>
              <a:cs typeface="Verdana"/>
              <a:sym typeface="Verdana"/>
            </a:endParaRPr>
          </a:p>
        </p:txBody>
      </p:sp>
      <p:pic>
        <p:nvPicPr>
          <p:cNvPr id="70" name="Google Shape;70;p1"/>
          <p:cNvPicPr preferRelativeResize="0"/>
          <p:nvPr/>
        </p:nvPicPr>
        <p:blipFill>
          <a:blip r:embed="rId3">
            <a:alphaModFix/>
          </a:blip>
          <a:stretch>
            <a:fillRect/>
          </a:stretch>
        </p:blipFill>
        <p:spPr>
          <a:xfrm>
            <a:off x="5664275" y="717925"/>
            <a:ext cx="1052550" cy="1005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96d4a5dad6_3_35"/>
          <p:cNvSpPr txBox="1"/>
          <p:nvPr/>
        </p:nvSpPr>
        <p:spPr>
          <a:xfrm>
            <a:off x="407200" y="428625"/>
            <a:ext cx="61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76" name="Google Shape;76;g396d4a5dad6_3_35"/>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solidFill>
                  <a:srgbClr val="000000"/>
                </a:solidFill>
                <a:latin typeface="Helvetica Neue"/>
                <a:ea typeface="Helvetica Neue"/>
                <a:cs typeface="Helvetica Neue"/>
                <a:sym typeface="Helvetica Neue"/>
              </a:rPr>
              <a:t>CARE-AI</a:t>
            </a:r>
            <a:r>
              <a:rPr lang="zh-CN">
                <a:solidFill>
                  <a:srgbClr val="000000"/>
                </a:solidFill>
                <a:latin typeface="Helvetica Neue"/>
                <a:ea typeface="Helvetica Neue"/>
                <a:cs typeface="Helvetica Neue"/>
                <a:sym typeface="Helvetica Neue"/>
              </a:rPr>
              <a:t> Team</a:t>
            </a:r>
            <a:endParaRPr/>
          </a:p>
        </p:txBody>
      </p:sp>
      <p:pic>
        <p:nvPicPr>
          <p:cNvPr id="77" name="Google Shape;77;g396d4a5dad6_3_35"/>
          <p:cNvPicPr preferRelativeResize="0"/>
          <p:nvPr/>
        </p:nvPicPr>
        <p:blipFill>
          <a:blip r:embed="rId3">
            <a:alphaModFix/>
          </a:blip>
          <a:stretch>
            <a:fillRect/>
          </a:stretch>
        </p:blipFill>
        <p:spPr>
          <a:xfrm>
            <a:off x="742350" y="999875"/>
            <a:ext cx="7906950" cy="3948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solidFill>
                  <a:srgbClr val="000000"/>
                </a:solidFill>
                <a:latin typeface="Helvetica Neue"/>
                <a:ea typeface="Helvetica Neue"/>
                <a:cs typeface="Helvetica Neue"/>
                <a:sym typeface="Helvetica Neue"/>
              </a:rPr>
              <a:t>L</a:t>
            </a:r>
            <a:r>
              <a:rPr lang="zh-CN">
                <a:solidFill>
                  <a:srgbClr val="000000"/>
                </a:solidFill>
                <a:latin typeface="Helvetica Neue"/>
                <a:ea typeface="Helvetica Neue"/>
                <a:cs typeface="Helvetica Neue"/>
                <a:sym typeface="Helvetica Neue"/>
              </a:rPr>
              <a:t>IONS</a:t>
            </a:r>
            <a:r>
              <a:rPr lang="zh-CN">
                <a:solidFill>
                  <a:srgbClr val="000000"/>
                </a:solidFill>
                <a:latin typeface="Helvetica Neue"/>
                <a:ea typeface="Helvetica Neue"/>
                <a:cs typeface="Helvetica Neue"/>
                <a:sym typeface="Helvetica Neue"/>
              </a:rPr>
              <a:t> Group</a:t>
            </a:r>
            <a:endParaRPr/>
          </a:p>
        </p:txBody>
      </p:sp>
      <p:sp>
        <p:nvSpPr>
          <p:cNvPr id="83" name="Google Shape;83;p2"/>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pic>
        <p:nvPicPr>
          <p:cNvPr id="84" name="Google Shape;84;p2"/>
          <p:cNvPicPr preferRelativeResize="0"/>
          <p:nvPr/>
        </p:nvPicPr>
        <p:blipFill rotWithShape="1">
          <a:blip r:embed="rId3">
            <a:alphaModFix/>
          </a:blip>
          <a:srcRect b="0" l="0" r="0" t="0"/>
          <a:stretch/>
        </p:blipFill>
        <p:spPr>
          <a:xfrm>
            <a:off x="1141463" y="1350594"/>
            <a:ext cx="1259999" cy="1259999"/>
          </a:xfrm>
          <a:prstGeom prst="rect">
            <a:avLst/>
          </a:prstGeom>
          <a:noFill/>
          <a:ln>
            <a:noFill/>
          </a:ln>
        </p:spPr>
      </p:pic>
      <p:pic>
        <p:nvPicPr>
          <p:cNvPr id="85" name="Google Shape;85;p2"/>
          <p:cNvPicPr preferRelativeResize="0"/>
          <p:nvPr/>
        </p:nvPicPr>
        <p:blipFill rotWithShape="1">
          <a:blip r:embed="rId4">
            <a:alphaModFix/>
          </a:blip>
          <a:srcRect b="14286" l="12663" r="13585" t="11963"/>
          <a:stretch/>
        </p:blipFill>
        <p:spPr>
          <a:xfrm>
            <a:off x="1141463" y="3270425"/>
            <a:ext cx="1259999" cy="1259999"/>
          </a:xfrm>
          <a:prstGeom prst="rect">
            <a:avLst/>
          </a:prstGeom>
          <a:noFill/>
          <a:ln>
            <a:noFill/>
          </a:ln>
        </p:spPr>
      </p:pic>
      <p:pic>
        <p:nvPicPr>
          <p:cNvPr id="86" name="Google Shape;86;p2"/>
          <p:cNvPicPr preferRelativeResize="0"/>
          <p:nvPr/>
        </p:nvPicPr>
        <p:blipFill rotWithShape="1">
          <a:blip r:embed="rId5">
            <a:alphaModFix/>
          </a:blip>
          <a:srcRect b="0" l="0" r="0" t="0"/>
          <a:stretch/>
        </p:blipFill>
        <p:spPr>
          <a:xfrm>
            <a:off x="7061062" y="1350605"/>
            <a:ext cx="1080000" cy="1080000"/>
          </a:xfrm>
          <a:prstGeom prst="rect">
            <a:avLst/>
          </a:prstGeom>
          <a:noFill/>
          <a:ln>
            <a:noFill/>
          </a:ln>
        </p:spPr>
      </p:pic>
      <p:pic>
        <p:nvPicPr>
          <p:cNvPr id="87" name="Google Shape;87;p2" title="headshot.jpg"/>
          <p:cNvPicPr preferRelativeResize="0"/>
          <p:nvPr/>
        </p:nvPicPr>
        <p:blipFill rotWithShape="1">
          <a:blip r:embed="rId6">
            <a:alphaModFix/>
          </a:blip>
          <a:srcRect b="41728" l="25164" r="17683" t="17712"/>
          <a:stretch/>
        </p:blipFill>
        <p:spPr>
          <a:xfrm>
            <a:off x="3875936" y="1354204"/>
            <a:ext cx="1080001" cy="1072799"/>
          </a:xfrm>
          <a:prstGeom prst="rect">
            <a:avLst/>
          </a:prstGeom>
          <a:noFill/>
          <a:ln>
            <a:noFill/>
          </a:ln>
        </p:spPr>
      </p:pic>
      <p:pic>
        <p:nvPicPr>
          <p:cNvPr id="88" name="Google Shape;88;p2" title="Picture_TH.jpg"/>
          <p:cNvPicPr preferRelativeResize="0"/>
          <p:nvPr/>
        </p:nvPicPr>
        <p:blipFill rotWithShape="1">
          <a:blip r:embed="rId7">
            <a:alphaModFix/>
          </a:blip>
          <a:srcRect b="20408" l="0" r="0" t="9411"/>
          <a:stretch/>
        </p:blipFill>
        <p:spPr>
          <a:xfrm>
            <a:off x="7061074" y="3270421"/>
            <a:ext cx="1080000" cy="1087201"/>
          </a:xfrm>
          <a:prstGeom prst="rect">
            <a:avLst/>
          </a:prstGeom>
          <a:noFill/>
          <a:ln>
            <a:noFill/>
          </a:ln>
        </p:spPr>
      </p:pic>
      <p:pic>
        <p:nvPicPr>
          <p:cNvPr id="89" name="Google Shape;89;p2" title="6d8912544390d707e1309dec537b68fb.jpg"/>
          <p:cNvPicPr preferRelativeResize="0"/>
          <p:nvPr/>
        </p:nvPicPr>
        <p:blipFill rotWithShape="1">
          <a:blip r:embed="rId8">
            <a:alphaModFix/>
          </a:blip>
          <a:srcRect b="0" l="0" r="0" t="0"/>
          <a:stretch/>
        </p:blipFill>
        <p:spPr>
          <a:xfrm>
            <a:off x="5468521" y="3274026"/>
            <a:ext cx="1080000" cy="1080000"/>
          </a:xfrm>
          <a:prstGeom prst="rect">
            <a:avLst/>
          </a:prstGeom>
          <a:noFill/>
          <a:ln>
            <a:noFill/>
          </a:ln>
        </p:spPr>
      </p:pic>
      <p:pic>
        <p:nvPicPr>
          <p:cNvPr id="90" name="Google Shape;90;p2" title="8f467292d39d0bf0114c377e765d7114.jpg"/>
          <p:cNvPicPr preferRelativeResize="0"/>
          <p:nvPr/>
        </p:nvPicPr>
        <p:blipFill rotWithShape="1">
          <a:blip r:embed="rId9">
            <a:alphaModFix/>
          </a:blip>
          <a:srcRect b="0" l="0" r="0" t="0"/>
          <a:stretch/>
        </p:blipFill>
        <p:spPr>
          <a:xfrm>
            <a:off x="3875938" y="3274022"/>
            <a:ext cx="1080000" cy="1080000"/>
          </a:xfrm>
          <a:prstGeom prst="rect">
            <a:avLst/>
          </a:prstGeom>
          <a:noFill/>
          <a:ln>
            <a:noFill/>
          </a:ln>
        </p:spPr>
      </p:pic>
      <p:pic>
        <p:nvPicPr>
          <p:cNvPr id="91" name="Google Shape;91;p2" title="8fa7805412d61c43b28091e23990fde5.jpg"/>
          <p:cNvPicPr preferRelativeResize="0"/>
          <p:nvPr/>
        </p:nvPicPr>
        <p:blipFill rotWithShape="1">
          <a:blip r:embed="rId10">
            <a:alphaModFix/>
          </a:blip>
          <a:srcRect b="0" l="0" r="0" t="0"/>
          <a:stretch/>
        </p:blipFill>
        <p:spPr>
          <a:xfrm>
            <a:off x="5468500" y="1350605"/>
            <a:ext cx="1080000" cy="1080000"/>
          </a:xfrm>
          <a:prstGeom prst="rect">
            <a:avLst/>
          </a:prstGeom>
          <a:noFill/>
          <a:ln>
            <a:noFill/>
          </a:ln>
        </p:spPr>
      </p:pic>
      <p:sp>
        <p:nvSpPr>
          <p:cNvPr id="92" name="Google Shape;92;p2"/>
          <p:cNvSpPr txBox="1"/>
          <p:nvPr/>
        </p:nvSpPr>
        <p:spPr>
          <a:xfrm>
            <a:off x="1141468" y="2748063"/>
            <a:ext cx="12600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zh-CN" sz="1300" u="none" cap="none" strike="noStrike">
                <a:solidFill>
                  <a:schemeClr val="dk1"/>
                </a:solidFill>
                <a:latin typeface="Georgia"/>
                <a:ea typeface="Georgia"/>
                <a:cs typeface="Georgia"/>
                <a:sym typeface="Georgia"/>
              </a:rPr>
              <a:t>Prof. Jun Dai</a:t>
            </a:r>
            <a:endParaRPr b="0" i="0" sz="1300" u="none" cap="none" strike="noStrike">
              <a:solidFill>
                <a:schemeClr val="dk1"/>
              </a:solidFill>
              <a:latin typeface="Georgia"/>
              <a:ea typeface="Georgia"/>
              <a:cs typeface="Georgia"/>
              <a:sym typeface="Georgia"/>
            </a:endParaRPr>
          </a:p>
        </p:txBody>
      </p:sp>
      <p:sp>
        <p:nvSpPr>
          <p:cNvPr id="93" name="Google Shape;93;p2"/>
          <p:cNvSpPr txBox="1"/>
          <p:nvPr/>
        </p:nvSpPr>
        <p:spPr>
          <a:xfrm>
            <a:off x="3769882" y="2504525"/>
            <a:ext cx="12921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zh-CN" sz="1200" u="none" cap="none" strike="noStrike">
                <a:solidFill>
                  <a:srgbClr val="111827"/>
                </a:solidFill>
                <a:highlight>
                  <a:srgbClr val="FFFFFF"/>
                </a:highlight>
                <a:latin typeface="Georgia"/>
                <a:ea typeface="Georgia"/>
                <a:cs typeface="Georgia"/>
                <a:sym typeface="Georgia"/>
              </a:rPr>
              <a:t>Cooper Dean</a:t>
            </a:r>
            <a:br>
              <a:rPr b="0" i="0" lang="zh-CN" sz="1300" u="none" cap="none" strike="noStrike">
                <a:solidFill>
                  <a:schemeClr val="dk1"/>
                </a:solidFill>
                <a:latin typeface="Georgia"/>
                <a:ea typeface="Georgia"/>
                <a:cs typeface="Georgia"/>
                <a:sym typeface="Georgia"/>
              </a:rPr>
            </a:br>
            <a:endParaRPr b="0" i="0" sz="1300" u="none" cap="none" strike="noStrike">
              <a:solidFill>
                <a:schemeClr val="dk1"/>
              </a:solidFill>
              <a:latin typeface="Georgia"/>
              <a:ea typeface="Georgia"/>
              <a:cs typeface="Georgia"/>
              <a:sym typeface="Georgia"/>
            </a:endParaRPr>
          </a:p>
        </p:txBody>
      </p:sp>
      <p:sp>
        <p:nvSpPr>
          <p:cNvPr id="94" name="Google Shape;94;p2"/>
          <p:cNvSpPr txBox="1"/>
          <p:nvPr/>
        </p:nvSpPr>
        <p:spPr>
          <a:xfrm>
            <a:off x="5362457" y="2504513"/>
            <a:ext cx="1292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zh-CN" sz="1200" u="none" cap="none" strike="noStrike">
                <a:solidFill>
                  <a:srgbClr val="111827"/>
                </a:solidFill>
                <a:highlight>
                  <a:srgbClr val="FFFFFF"/>
                </a:highlight>
                <a:latin typeface="Georgia"/>
                <a:ea typeface="Georgia"/>
                <a:cs typeface="Georgia"/>
                <a:sym typeface="Georgia"/>
              </a:rPr>
              <a:t>Zhihao Zhang</a:t>
            </a:r>
            <a:endParaRPr b="0" i="0" sz="1300" u="none" cap="none" strike="noStrike">
              <a:solidFill>
                <a:schemeClr val="dk1"/>
              </a:solidFill>
              <a:latin typeface="Georgia"/>
              <a:ea typeface="Georgia"/>
              <a:cs typeface="Georgia"/>
              <a:sym typeface="Georgia"/>
            </a:endParaRPr>
          </a:p>
        </p:txBody>
      </p:sp>
      <p:sp>
        <p:nvSpPr>
          <p:cNvPr id="95" name="Google Shape;95;p2"/>
          <p:cNvSpPr txBox="1"/>
          <p:nvPr/>
        </p:nvSpPr>
        <p:spPr>
          <a:xfrm>
            <a:off x="7051357" y="2504513"/>
            <a:ext cx="1292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zh-CN" sz="1200" u="none" cap="none" strike="noStrike">
                <a:solidFill>
                  <a:srgbClr val="111827"/>
                </a:solidFill>
                <a:highlight>
                  <a:srgbClr val="FFFFFF"/>
                </a:highlight>
                <a:latin typeface="Georgia"/>
                <a:ea typeface="Georgia"/>
                <a:cs typeface="Georgia"/>
                <a:sym typeface="Georgia"/>
              </a:rPr>
              <a:t>Brian Almaguer</a:t>
            </a:r>
            <a:endParaRPr b="0" i="0" sz="1300" u="none" cap="none" strike="noStrike">
              <a:solidFill>
                <a:schemeClr val="dk1"/>
              </a:solidFill>
              <a:latin typeface="Georgia"/>
              <a:ea typeface="Georgia"/>
              <a:cs typeface="Georgia"/>
              <a:sym typeface="Georgia"/>
            </a:endParaRPr>
          </a:p>
        </p:txBody>
      </p:sp>
      <p:sp>
        <p:nvSpPr>
          <p:cNvPr id="96" name="Google Shape;96;p2"/>
          <p:cNvSpPr txBox="1"/>
          <p:nvPr/>
        </p:nvSpPr>
        <p:spPr>
          <a:xfrm>
            <a:off x="586176" y="4588900"/>
            <a:ext cx="23706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zh-CN" sz="1300" u="none" cap="none" strike="noStrike">
                <a:solidFill>
                  <a:schemeClr val="dk1"/>
                </a:solidFill>
                <a:latin typeface="Georgia"/>
                <a:ea typeface="Georgia"/>
                <a:cs typeface="Georgia"/>
                <a:sym typeface="Georgia"/>
              </a:rPr>
              <a:t>Prof. Xiaoyan (Sherry) Sun</a:t>
            </a:r>
            <a:endParaRPr b="0" i="0" sz="1300" u="none" cap="none" strike="noStrike">
              <a:solidFill>
                <a:schemeClr val="dk1"/>
              </a:solidFill>
              <a:latin typeface="Georgia"/>
              <a:ea typeface="Georgia"/>
              <a:cs typeface="Georgia"/>
              <a:sym typeface="Georgia"/>
            </a:endParaRPr>
          </a:p>
        </p:txBody>
      </p:sp>
      <p:sp>
        <p:nvSpPr>
          <p:cNvPr id="97" name="Google Shape;97;p2"/>
          <p:cNvSpPr txBox="1"/>
          <p:nvPr/>
        </p:nvSpPr>
        <p:spPr>
          <a:xfrm>
            <a:off x="6779847" y="4421450"/>
            <a:ext cx="1835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zh-CN" sz="1200" u="none" cap="none" strike="noStrike">
                <a:solidFill>
                  <a:srgbClr val="111827"/>
                </a:solidFill>
                <a:highlight>
                  <a:srgbClr val="FFFFFF"/>
                </a:highlight>
                <a:latin typeface="Georgia"/>
                <a:ea typeface="Georgia"/>
                <a:cs typeface="Georgia"/>
                <a:sym typeface="Georgia"/>
              </a:rPr>
              <a:t>Tran Ngoc Bao Huynh</a:t>
            </a:r>
            <a:endParaRPr b="0" i="0" sz="1200" u="none" cap="none" strike="noStrike">
              <a:solidFill>
                <a:srgbClr val="111827"/>
              </a:solidFill>
              <a:highlight>
                <a:srgbClr val="FFFFFF"/>
              </a:highlight>
              <a:latin typeface="Georgia"/>
              <a:ea typeface="Georgia"/>
              <a:cs typeface="Georgia"/>
              <a:sym typeface="Georgia"/>
            </a:endParaRPr>
          </a:p>
        </p:txBody>
      </p:sp>
      <p:sp>
        <p:nvSpPr>
          <p:cNvPr id="98" name="Google Shape;98;p2"/>
          <p:cNvSpPr txBox="1"/>
          <p:nvPr/>
        </p:nvSpPr>
        <p:spPr>
          <a:xfrm>
            <a:off x="5362482" y="4421438"/>
            <a:ext cx="1292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zh-CN" sz="1200" u="none" cap="none" strike="noStrike">
                <a:solidFill>
                  <a:srgbClr val="111827"/>
                </a:solidFill>
                <a:highlight>
                  <a:srgbClr val="FFFFFF"/>
                </a:highlight>
                <a:latin typeface="Georgia"/>
                <a:ea typeface="Georgia"/>
                <a:cs typeface="Georgia"/>
                <a:sym typeface="Georgia"/>
              </a:rPr>
              <a:t>Chao Wang</a:t>
            </a:r>
            <a:endParaRPr b="0" i="0" sz="1300" u="none" cap="none" strike="noStrike">
              <a:solidFill>
                <a:schemeClr val="dk1"/>
              </a:solidFill>
              <a:latin typeface="Georgia"/>
              <a:ea typeface="Georgia"/>
              <a:cs typeface="Georgia"/>
              <a:sym typeface="Georgia"/>
            </a:endParaRPr>
          </a:p>
        </p:txBody>
      </p:sp>
      <p:sp>
        <p:nvSpPr>
          <p:cNvPr id="99" name="Google Shape;99;p2"/>
          <p:cNvSpPr txBox="1"/>
          <p:nvPr/>
        </p:nvSpPr>
        <p:spPr>
          <a:xfrm>
            <a:off x="3769907" y="4421450"/>
            <a:ext cx="1292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zh-CN" sz="1200" u="none" cap="none" strike="noStrike">
                <a:solidFill>
                  <a:srgbClr val="111827"/>
                </a:solidFill>
                <a:highlight>
                  <a:srgbClr val="FFFFFF"/>
                </a:highlight>
                <a:latin typeface="Georgia"/>
                <a:ea typeface="Georgia"/>
                <a:cs typeface="Georgia"/>
                <a:sym typeface="Georgia"/>
              </a:rPr>
              <a:t>Haowen Xu</a:t>
            </a:r>
            <a:endParaRPr b="0" i="0" sz="1300" u="none" cap="none" strike="noStrike">
              <a:solidFill>
                <a:schemeClr val="dk1"/>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ctrTitle"/>
          </p:nvPr>
        </p:nvSpPr>
        <p:spPr>
          <a:xfrm>
            <a:off x="457200" y="1972628"/>
            <a:ext cx="8308658" cy="2085023"/>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3000"/>
              <a:buFont typeface="Verdana"/>
              <a:buNone/>
            </a:pPr>
            <a:br>
              <a:rPr lang="zh-CN"/>
            </a:br>
            <a:br>
              <a:rPr lang="zh-CN"/>
            </a:br>
            <a:br>
              <a:rPr lang="zh-CN"/>
            </a:br>
            <a:br>
              <a:rPr lang="zh-CN"/>
            </a:br>
            <a:br>
              <a:rPr lang="zh-CN"/>
            </a:br>
            <a:r>
              <a:rPr lang="zh-CN">
                <a:solidFill>
                  <a:srgbClr val="000000"/>
                </a:solidFill>
                <a:latin typeface="Helvetica Neue"/>
                <a:ea typeface="Helvetica Neue"/>
                <a:cs typeface="Helvetica Neue"/>
                <a:sym typeface="Helvetica Neue"/>
              </a:rPr>
              <a:t>2.1 AI for Cybersecurity: Threats and Defenses</a:t>
            </a:r>
            <a:br>
              <a:rPr lang="zh-CN">
                <a:solidFill>
                  <a:srgbClr val="000000"/>
                </a:solidFill>
                <a:latin typeface="Helvetica Neue"/>
                <a:ea typeface="Helvetica Neue"/>
                <a:cs typeface="Helvetica Neue"/>
                <a:sym typeface="Helvetica Neue"/>
              </a:rPr>
            </a:br>
            <a:br>
              <a:rPr lang="zh-CN"/>
            </a:b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Pre-workshop Quiz</a:t>
            </a:r>
            <a:endParaRPr/>
          </a:p>
        </p:txBody>
      </p:sp>
      <p:sp>
        <p:nvSpPr>
          <p:cNvPr id="110" name="Google Shape;110;p4"/>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165100" lvl="0" marL="342900" rtl="0" algn="l">
              <a:lnSpc>
                <a:spcPct val="95000"/>
              </a:lnSpc>
              <a:spcBef>
                <a:spcPts val="900"/>
              </a:spcBef>
              <a:spcAft>
                <a:spcPts val="0"/>
              </a:spcAft>
              <a:buSzPts val="1400"/>
              <a:buNone/>
            </a:pPr>
            <a:r>
              <a:rPr lang="zh-CN" u="sng">
                <a:solidFill>
                  <a:schemeClr val="hlink"/>
                </a:solidFill>
                <a:hlinkClick r:id="rId3"/>
              </a:rPr>
              <a:t>https://docs.google.com/forms/d/e/1FAIpQLSfYlz7IJl24VsIMbgRiqswPD1c8iaETFRp5isvF4d1HsJpmQA/viewform?usp=publish-editor</a:t>
            </a:r>
            <a:endParaRPr/>
          </a:p>
          <a:p>
            <a:pPr indent="-165100" lvl="0" marL="342900" rtl="0" algn="l">
              <a:lnSpc>
                <a:spcPct val="95000"/>
              </a:lnSpc>
              <a:spcBef>
                <a:spcPts val="900"/>
              </a:spcBef>
              <a:spcAft>
                <a:spcPts val="0"/>
              </a:spcAft>
              <a:buSzPts val="1400"/>
              <a:buNone/>
            </a:pPr>
            <a:r>
              <a:t/>
            </a:r>
            <a:endParaRPr/>
          </a:p>
          <a:p>
            <a:pPr indent="-165100" lvl="0" marL="342900" rtl="0" algn="l">
              <a:lnSpc>
                <a:spcPct val="95000"/>
              </a:lnSpc>
              <a:spcBef>
                <a:spcPts val="900"/>
              </a:spcBef>
              <a:spcAft>
                <a:spcPts val="0"/>
              </a:spcAft>
              <a:buSzPts val="1400"/>
              <a:buNone/>
            </a:pPr>
            <a:r>
              <a:t/>
            </a:r>
            <a:endParaRPr/>
          </a:p>
        </p:txBody>
      </p:sp>
      <p:sp>
        <p:nvSpPr>
          <p:cNvPr id="111" name="Google Shape;111;p4"/>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pic>
        <p:nvPicPr>
          <p:cNvPr id="112" name="Google Shape;112;p4"/>
          <p:cNvPicPr preferRelativeResize="0"/>
          <p:nvPr/>
        </p:nvPicPr>
        <p:blipFill rotWithShape="1">
          <a:blip r:embed="rId4">
            <a:alphaModFix/>
          </a:blip>
          <a:srcRect b="0" l="0" r="0" t="0"/>
          <a:stretch/>
        </p:blipFill>
        <p:spPr>
          <a:xfrm>
            <a:off x="3275400" y="1964200"/>
            <a:ext cx="2826550" cy="2826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ctrTitle"/>
          </p:nvPr>
        </p:nvSpPr>
        <p:spPr>
          <a:xfrm>
            <a:off x="457200" y="1972785"/>
            <a:ext cx="7479450" cy="2084938"/>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3000"/>
              <a:buFont typeface="Verdana"/>
              <a:buNone/>
            </a:pPr>
            <a:br>
              <a:rPr lang="zh-CN"/>
            </a:br>
            <a:br>
              <a:rPr lang="zh-CN"/>
            </a:br>
            <a:br>
              <a:rPr lang="zh-CN"/>
            </a:br>
            <a:br>
              <a:rPr lang="zh-CN"/>
            </a:br>
            <a:br>
              <a:rPr lang="zh-CN"/>
            </a:br>
            <a:r>
              <a:rPr lang="zh-CN">
                <a:solidFill>
                  <a:srgbClr val="000000"/>
                </a:solidFill>
                <a:latin typeface="Helvetica Neue"/>
                <a:ea typeface="Helvetica Neue"/>
                <a:cs typeface="Helvetica Neue"/>
                <a:sym typeface="Helvetica Neue"/>
              </a:rPr>
              <a:t>AI-</a:t>
            </a:r>
            <a:r>
              <a:rPr lang="zh-CN">
                <a:solidFill>
                  <a:srgbClr val="000000"/>
                </a:solidFill>
                <a:latin typeface="Helvetica Neue"/>
                <a:ea typeface="Helvetica Neue"/>
                <a:cs typeface="Helvetica Neue"/>
                <a:sym typeface="Helvetica Neue"/>
              </a:rPr>
              <a:t>A</a:t>
            </a:r>
            <a:r>
              <a:rPr lang="zh-CN">
                <a:solidFill>
                  <a:srgbClr val="000000"/>
                </a:solidFill>
                <a:latin typeface="Helvetica Neue"/>
                <a:ea typeface="Helvetica Neue"/>
                <a:cs typeface="Helvetica Neue"/>
                <a:sym typeface="Helvetica Neue"/>
              </a:rPr>
              <a:t>ssisted Intrusion Detection</a:t>
            </a:r>
            <a:br>
              <a:rPr lang="zh-CN">
                <a:solidFill>
                  <a:srgbClr val="000000"/>
                </a:solidFill>
                <a:latin typeface="Helvetica Neue"/>
                <a:ea typeface="Helvetica Neue"/>
                <a:cs typeface="Helvetica Neue"/>
                <a:sym typeface="Helvetica Neue"/>
              </a:rPr>
            </a:br>
            <a:br>
              <a:rPr lang="zh-CN"/>
            </a:b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124" name="Google Shape;124;p6"/>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t/>
            </a:r>
            <a:endParaRPr/>
          </a:p>
        </p:txBody>
      </p:sp>
      <p:sp>
        <p:nvSpPr>
          <p:cNvPr id="125" name="Google Shape;125;p6"/>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What system logs look like</a:t>
            </a:r>
            <a:endParaRPr/>
          </a:p>
          <a:p>
            <a:pPr indent="-254000" lvl="0" marL="342900" rtl="0" algn="l">
              <a:lnSpc>
                <a:spcPct val="95000"/>
              </a:lnSpc>
              <a:spcBef>
                <a:spcPts val="900"/>
              </a:spcBef>
              <a:spcAft>
                <a:spcPts val="0"/>
              </a:spcAft>
              <a:buSzPts val="1400"/>
              <a:buChar char="•"/>
            </a:pPr>
            <a:r>
              <a:rPr lang="zh-CN"/>
              <a:t>Limitation of traditional method</a:t>
            </a:r>
            <a:endParaRPr/>
          </a:p>
          <a:p>
            <a:pPr indent="-254000" lvl="0" marL="342900" rtl="0" algn="l">
              <a:lnSpc>
                <a:spcPct val="95000"/>
              </a:lnSpc>
              <a:spcBef>
                <a:spcPts val="900"/>
              </a:spcBef>
              <a:spcAft>
                <a:spcPts val="0"/>
              </a:spcAft>
              <a:buSzPts val="1400"/>
              <a:buChar char="•"/>
            </a:pPr>
            <a:r>
              <a:rPr lang="zh-CN"/>
              <a:t>How machine learning method helps intrusion detection</a:t>
            </a:r>
            <a:endParaRPr/>
          </a:p>
          <a:p>
            <a:pPr indent="-254000" lvl="0" marL="342900" rtl="0" algn="l">
              <a:lnSpc>
                <a:spcPct val="95000"/>
              </a:lnSpc>
              <a:spcBef>
                <a:spcPts val="900"/>
              </a:spcBef>
              <a:spcAft>
                <a:spcPts val="0"/>
              </a:spcAft>
              <a:buSzPts val="1400"/>
              <a:buChar char="•"/>
            </a:pPr>
            <a:r>
              <a:rPr lang="zh-CN"/>
              <a:t>Hands on experiments</a:t>
            </a:r>
            <a:endParaRPr/>
          </a:p>
        </p:txBody>
      </p:sp>
      <p:sp>
        <p:nvSpPr>
          <p:cNvPr id="126" name="Google Shape;126;p6"/>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Content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133" name="Google Shape;133;p7"/>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t/>
            </a:r>
            <a:endParaRPr/>
          </a:p>
        </p:txBody>
      </p:sp>
      <p:sp>
        <p:nvSpPr>
          <p:cNvPr id="134" name="Google Shape;134;p7"/>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It can be raw system-level logs</a:t>
            </a:r>
            <a:endParaRPr/>
          </a:p>
        </p:txBody>
      </p:sp>
      <p:sp>
        <p:nvSpPr>
          <p:cNvPr id="135" name="Google Shape;135;p7"/>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What system logs look like</a:t>
            </a:r>
            <a:endParaRPr/>
          </a:p>
        </p:txBody>
      </p:sp>
      <p:pic>
        <p:nvPicPr>
          <p:cNvPr id="136" name="Google Shape;136;p7"/>
          <p:cNvPicPr preferRelativeResize="0"/>
          <p:nvPr/>
        </p:nvPicPr>
        <p:blipFill rotWithShape="1">
          <a:blip r:embed="rId3">
            <a:alphaModFix/>
          </a:blip>
          <a:srcRect b="0" l="0" r="0" t="0"/>
          <a:stretch/>
        </p:blipFill>
        <p:spPr>
          <a:xfrm>
            <a:off x="671989" y="1592104"/>
            <a:ext cx="7579519" cy="271795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143" name="Google Shape;143;p8"/>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https://ieeexplore.ieee.org/stamp/stamp.jsp?arnumber=10646725</a:t>
            </a:r>
            <a:endParaRPr sz="800"/>
          </a:p>
        </p:txBody>
      </p:sp>
      <p:sp>
        <p:nvSpPr>
          <p:cNvPr id="144" name="Google Shape;144;p8"/>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It can be provenanced-based logs</a:t>
            </a:r>
            <a:endParaRPr/>
          </a:p>
        </p:txBody>
      </p:sp>
      <p:sp>
        <p:nvSpPr>
          <p:cNvPr id="145" name="Google Shape;145;p8"/>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What system logs look like</a:t>
            </a:r>
            <a:endParaRPr/>
          </a:p>
        </p:txBody>
      </p:sp>
      <p:pic>
        <p:nvPicPr>
          <p:cNvPr id="146" name="Google Shape;146;p8"/>
          <p:cNvPicPr preferRelativeResize="0"/>
          <p:nvPr/>
        </p:nvPicPr>
        <p:blipFill rotWithShape="1">
          <a:blip r:embed="rId3">
            <a:alphaModFix/>
          </a:blip>
          <a:srcRect b="0" l="0" r="0" t="0"/>
          <a:stretch/>
        </p:blipFill>
        <p:spPr>
          <a:xfrm>
            <a:off x="457200" y="1912620"/>
            <a:ext cx="8437721" cy="171592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153" name="Google Shape;153;p9"/>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https://blog.csdn.net/airenKKK/article/details/124619217</a:t>
            </a:r>
            <a:endParaRPr sz="800"/>
          </a:p>
        </p:txBody>
      </p:sp>
      <p:sp>
        <p:nvSpPr>
          <p:cNvPr id="154" name="Google Shape;154;p9"/>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It can also be manually labeled</a:t>
            </a:r>
            <a:endParaRPr/>
          </a:p>
        </p:txBody>
      </p:sp>
      <p:sp>
        <p:nvSpPr>
          <p:cNvPr id="155" name="Google Shape;155;p9"/>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What system logs look like</a:t>
            </a:r>
            <a:endParaRPr/>
          </a:p>
        </p:txBody>
      </p:sp>
      <p:pic>
        <p:nvPicPr>
          <p:cNvPr id="156" name="Google Shape;156;p9"/>
          <p:cNvPicPr preferRelativeResize="0"/>
          <p:nvPr/>
        </p:nvPicPr>
        <p:blipFill rotWithShape="1">
          <a:blip r:embed="rId3">
            <a:alphaModFix/>
          </a:blip>
          <a:srcRect b="0" l="0" r="0" t="0"/>
          <a:stretch/>
        </p:blipFill>
        <p:spPr>
          <a:xfrm>
            <a:off x="1147763" y="1485424"/>
            <a:ext cx="5406866" cy="32746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163" name="Google Shape;163;p10"/>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https://www.elprocus.com/basic-intrusion-detection-system/</a:t>
            </a:r>
            <a:endParaRPr sz="800"/>
          </a:p>
        </p:txBody>
      </p:sp>
      <p:sp>
        <p:nvSpPr>
          <p:cNvPr id="164" name="Google Shape;164;p10"/>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Pattern based, signature based</a:t>
            </a:r>
            <a:endParaRPr/>
          </a:p>
        </p:txBody>
      </p:sp>
      <p:sp>
        <p:nvSpPr>
          <p:cNvPr id="165" name="Google Shape;165;p10"/>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Limitaion of traditional method</a:t>
            </a:r>
            <a:endParaRPr/>
          </a:p>
        </p:txBody>
      </p:sp>
      <p:sp>
        <p:nvSpPr>
          <p:cNvPr id="166" name="Google Shape;166;p10"/>
          <p:cNvSpPr txBox="1"/>
          <p:nvPr/>
        </p:nvSpPr>
        <p:spPr>
          <a:xfrm>
            <a:off x="5235892" y="1487329"/>
            <a:ext cx="3295174" cy="2815114"/>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Rely on manually defined attack signatures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Only effective for known attacks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Easily evaded by attack variants or obfuscation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Small changes in payload can bypass detection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High maintenance cost for rule updates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Requires continuous expert intervention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Poor generalization to new systems or environments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Rules do not transfer well across deployments</a:t>
            </a:r>
            <a:endParaRPr b="0" i="0" sz="1100" u="none" cap="none" strike="noStrike">
              <a:solidFill>
                <a:srgbClr val="000000"/>
              </a:solidFill>
              <a:latin typeface="Arial"/>
              <a:ea typeface="Arial"/>
              <a:cs typeface="Arial"/>
              <a:sym typeface="Arial"/>
            </a:endParaRPr>
          </a:p>
        </p:txBody>
      </p:sp>
      <p:pic>
        <p:nvPicPr>
          <p:cNvPr id="167" name="Google Shape;167;p10"/>
          <p:cNvPicPr preferRelativeResize="0"/>
          <p:nvPr/>
        </p:nvPicPr>
        <p:blipFill>
          <a:blip r:embed="rId3">
            <a:alphaModFix/>
          </a:blip>
          <a:stretch>
            <a:fillRect/>
          </a:stretch>
        </p:blipFill>
        <p:spPr>
          <a:xfrm>
            <a:off x="235875" y="1721450"/>
            <a:ext cx="4740701" cy="2445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174" name="Google Shape;174;p11"/>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https://www.elprocus.com/basic-intrusion-detection-system/</a:t>
            </a:r>
            <a:endParaRPr sz="800"/>
          </a:p>
          <a:p>
            <a:pPr indent="0" lvl="0" marL="0" rtl="0" algn="l">
              <a:lnSpc>
                <a:spcPct val="100000"/>
              </a:lnSpc>
              <a:spcBef>
                <a:spcPts val="0"/>
              </a:spcBef>
              <a:spcAft>
                <a:spcPts val="0"/>
              </a:spcAft>
              <a:buSzPts val="1100"/>
              <a:buNone/>
            </a:pPr>
            <a:r>
              <a:t/>
            </a:r>
            <a:endParaRPr sz="800"/>
          </a:p>
        </p:txBody>
      </p:sp>
      <p:sp>
        <p:nvSpPr>
          <p:cNvPr id="175" name="Google Shape;175;p11"/>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Anomaly based</a:t>
            </a:r>
            <a:endParaRPr/>
          </a:p>
        </p:txBody>
      </p:sp>
      <p:sp>
        <p:nvSpPr>
          <p:cNvPr id="176" name="Google Shape;176;p11"/>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Limitaion of traditional method</a:t>
            </a:r>
            <a:endParaRPr/>
          </a:p>
        </p:txBody>
      </p:sp>
      <p:sp>
        <p:nvSpPr>
          <p:cNvPr id="177" name="Google Shape;177;p11"/>
          <p:cNvSpPr txBox="1"/>
          <p:nvPr/>
        </p:nvSpPr>
        <p:spPr>
          <a:xfrm>
            <a:off x="4806791" y="1478756"/>
            <a:ext cx="3687127" cy="2815114"/>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Depend on an accurate model of “normal behavior”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Hard to define in real-world systems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High false positive rate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Rare but benign behaviors are flagged as attacks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Sensitive to system and workload changes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Updates and configuration changes break assumptions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Thresholds are often manually tuned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Unstable and environment-specific</a:t>
            </a:r>
            <a:endParaRPr b="0" i="0" sz="1100" u="none" cap="none" strike="noStrike">
              <a:solidFill>
                <a:srgbClr val="000000"/>
              </a:solidFill>
              <a:latin typeface="Arial"/>
              <a:ea typeface="Arial"/>
              <a:cs typeface="Arial"/>
              <a:sym typeface="Arial"/>
            </a:endParaRPr>
          </a:p>
        </p:txBody>
      </p:sp>
      <p:pic>
        <p:nvPicPr>
          <p:cNvPr id="178" name="Google Shape;178;p11"/>
          <p:cNvPicPr preferRelativeResize="0"/>
          <p:nvPr/>
        </p:nvPicPr>
        <p:blipFill>
          <a:blip r:embed="rId3">
            <a:alphaModFix/>
          </a:blip>
          <a:stretch>
            <a:fillRect/>
          </a:stretch>
        </p:blipFill>
        <p:spPr>
          <a:xfrm>
            <a:off x="272150" y="1857075"/>
            <a:ext cx="4299850" cy="2374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2"/>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How machine learning method helps IDS</a:t>
            </a:r>
            <a:endParaRPr/>
          </a:p>
        </p:txBody>
      </p:sp>
      <p:sp>
        <p:nvSpPr>
          <p:cNvPr id="184" name="Google Shape;184;p12"/>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pic>
        <p:nvPicPr>
          <p:cNvPr id="185" name="Google Shape;185;p12"/>
          <p:cNvPicPr preferRelativeResize="0"/>
          <p:nvPr/>
        </p:nvPicPr>
        <p:blipFill rotWithShape="1">
          <a:blip r:embed="rId3">
            <a:alphaModFix/>
          </a:blip>
          <a:srcRect b="0" l="0" r="0" t="0"/>
          <a:stretch/>
        </p:blipFill>
        <p:spPr>
          <a:xfrm>
            <a:off x="694849" y="1494949"/>
            <a:ext cx="4380547" cy="2703195"/>
          </a:xfrm>
          <a:prstGeom prst="rect">
            <a:avLst/>
          </a:prstGeom>
          <a:noFill/>
          <a:ln>
            <a:noFill/>
          </a:ln>
        </p:spPr>
      </p:pic>
      <p:sp>
        <p:nvSpPr>
          <p:cNvPr id="186" name="Google Shape;186;p12"/>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https://ieeexplore.ieee.org/stamp/stamp.jsp?arnumber=10646725</a:t>
            </a:r>
            <a:endParaRPr sz="800"/>
          </a:p>
        </p:txBody>
      </p:sp>
      <p:sp>
        <p:nvSpPr>
          <p:cNvPr id="187" name="Google Shape;187;p12"/>
          <p:cNvSpPr txBox="1"/>
          <p:nvPr/>
        </p:nvSpPr>
        <p:spPr>
          <a:xfrm>
            <a:off x="5005864" y="1433036"/>
            <a:ext cx="3912870" cy="2815114"/>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Automatically learn patterns from data</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Reduce reliance on hand-crafted rules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Handle high-dimensional and multi-source logs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System calls, processes, networks, provenance, etc.</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Better generalization to unseen attacks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Detect behavior patterns rather than exact signatures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Support diverse models and representations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ML (LR, RF) and DL (CNN, GNN for sequences and graphs)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Hands on experiments</a:t>
            </a:r>
            <a:endParaRPr/>
          </a:p>
        </p:txBody>
      </p:sp>
      <p:sp>
        <p:nvSpPr>
          <p:cNvPr id="193" name="Google Shape;193;p13"/>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Task1: explore nsl-kdd datasets </a:t>
            </a:r>
            <a:endParaRPr/>
          </a:p>
          <a:p>
            <a:pPr indent="-254000" lvl="0" marL="342900" rtl="0" algn="l">
              <a:lnSpc>
                <a:spcPct val="95000"/>
              </a:lnSpc>
              <a:spcBef>
                <a:spcPts val="900"/>
              </a:spcBef>
              <a:spcAft>
                <a:spcPts val="0"/>
              </a:spcAft>
              <a:buSzPts val="1400"/>
              <a:buChar char="•"/>
            </a:pPr>
            <a:r>
              <a:rPr lang="zh-CN"/>
              <a:t>T</a:t>
            </a:r>
            <a:r>
              <a:rPr lang="zh-CN" sz="1800"/>
              <a:t>ask2: feature extraction</a:t>
            </a:r>
            <a:endParaRPr sz="1800"/>
          </a:p>
          <a:p>
            <a:pPr indent="342900" lvl="1" marL="431800" rtl="0" algn="l">
              <a:lnSpc>
                <a:spcPct val="95000"/>
              </a:lnSpc>
              <a:spcBef>
                <a:spcPts val="500"/>
              </a:spcBef>
              <a:spcAft>
                <a:spcPts val="0"/>
              </a:spcAft>
              <a:buSzPts val="1400"/>
              <a:buNone/>
            </a:pPr>
            <a:r>
              <a:rPr lang="zh-CN" sz="1800"/>
              <a:t>--  how to handle multiple features labeled</a:t>
            </a:r>
            <a:endParaRPr sz="1800"/>
          </a:p>
          <a:p>
            <a:pPr indent="-254000" lvl="0" marL="342900" rtl="0" algn="l">
              <a:lnSpc>
                <a:spcPct val="95000"/>
              </a:lnSpc>
              <a:spcBef>
                <a:spcPts val="900"/>
              </a:spcBef>
              <a:spcAft>
                <a:spcPts val="0"/>
              </a:spcAft>
              <a:buSzPts val="1400"/>
              <a:buChar char="•"/>
            </a:pPr>
            <a:r>
              <a:rPr lang="zh-CN"/>
              <a:t>T</a:t>
            </a:r>
            <a:r>
              <a:rPr lang="zh-CN"/>
              <a:t>ask3: model choosing</a:t>
            </a:r>
            <a:endParaRPr/>
          </a:p>
          <a:p>
            <a:pPr indent="342900" lvl="1" marL="431800" rtl="0" algn="l">
              <a:lnSpc>
                <a:spcPct val="95000"/>
              </a:lnSpc>
              <a:spcBef>
                <a:spcPts val="500"/>
              </a:spcBef>
              <a:spcAft>
                <a:spcPts val="0"/>
              </a:spcAft>
              <a:buSzPts val="1400"/>
              <a:buNone/>
            </a:pPr>
            <a:r>
              <a:rPr lang="zh-CN"/>
              <a:t>--  machine learning: Logistic Regression, Decision Tree, Random Forest, ...</a:t>
            </a:r>
            <a:endParaRPr/>
          </a:p>
          <a:p>
            <a:pPr indent="342900" lvl="1" marL="431800" rtl="0" algn="l">
              <a:lnSpc>
                <a:spcPct val="95000"/>
              </a:lnSpc>
              <a:spcBef>
                <a:spcPts val="500"/>
              </a:spcBef>
              <a:spcAft>
                <a:spcPts val="0"/>
              </a:spcAft>
              <a:buSzPts val="1400"/>
              <a:buNone/>
            </a:pPr>
            <a:r>
              <a:rPr lang="zh-CN"/>
              <a:t>--  deep learning: CNN, GNN, ...</a:t>
            </a:r>
            <a:endParaRPr/>
          </a:p>
        </p:txBody>
      </p:sp>
      <p:sp>
        <p:nvSpPr>
          <p:cNvPr id="194" name="Google Shape;194;p13"/>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96d4a5dad6_5_266"/>
          <p:cNvSpPr txBox="1"/>
          <p:nvPr>
            <p:ph type="title"/>
          </p:nvPr>
        </p:nvSpPr>
        <p:spPr>
          <a:xfrm>
            <a:off x="457200" y="263525"/>
            <a:ext cx="8229600" cy="6000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zh-CN">
                <a:latin typeface="Verdana"/>
                <a:ea typeface="Verdana"/>
                <a:cs typeface="Verdana"/>
                <a:sym typeface="Verdana"/>
              </a:rPr>
              <a:t>Logistic Regression</a:t>
            </a:r>
            <a:r>
              <a:rPr lang="zh-CN">
                <a:latin typeface="Verdana"/>
                <a:ea typeface="Verdana"/>
                <a:cs typeface="Verdana"/>
                <a:sym typeface="Verdana"/>
              </a:rPr>
              <a:t> Fundamentals</a:t>
            </a:r>
            <a:endParaRPr/>
          </a:p>
        </p:txBody>
      </p:sp>
      <p:grpSp>
        <p:nvGrpSpPr>
          <p:cNvPr id="200" name="Google Shape;200;g396d4a5dad6_5_266"/>
          <p:cNvGrpSpPr/>
          <p:nvPr/>
        </p:nvGrpSpPr>
        <p:grpSpPr>
          <a:xfrm>
            <a:off x="457183" y="1143000"/>
            <a:ext cx="8229459" cy="1524000"/>
            <a:chOff x="457200" y="1143000"/>
            <a:chExt cx="3905400" cy="1524000"/>
          </a:xfrm>
        </p:grpSpPr>
        <p:sp>
          <p:nvSpPr>
            <p:cNvPr id="201" name="Google Shape;201;g396d4a5dad6_5_266"/>
            <p:cNvSpPr/>
            <p:nvPr/>
          </p:nvSpPr>
          <p:spPr>
            <a:xfrm>
              <a:off x="457200" y="1143000"/>
              <a:ext cx="39054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g396d4a5dad6_5_266"/>
            <p:cNvSpPr/>
            <p:nvPr/>
          </p:nvSpPr>
          <p:spPr>
            <a:xfrm>
              <a:off x="457200" y="1143000"/>
              <a:ext cx="39054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g396d4a5dad6_5_266"/>
            <p:cNvSpPr txBox="1"/>
            <p:nvPr/>
          </p:nvSpPr>
          <p:spPr>
            <a:xfrm>
              <a:off x="552450" y="1143000"/>
              <a:ext cx="3714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CN" sz="1200">
                  <a:solidFill>
                    <a:srgbClr val="FFFFFF"/>
                  </a:solidFill>
                  <a:latin typeface="Verdana"/>
                  <a:ea typeface="Verdana"/>
                  <a:cs typeface="Verdana"/>
                  <a:sym typeface="Verdana"/>
                </a:rPr>
                <a:t>Core Concept</a:t>
              </a:r>
              <a:endParaRPr b="1" sz="1200">
                <a:solidFill>
                  <a:srgbClr val="FFFFFF"/>
                </a:solidFill>
                <a:latin typeface="Verdana"/>
                <a:ea typeface="Verdana"/>
                <a:cs typeface="Verdana"/>
                <a:sym typeface="Verdana"/>
              </a:endParaRPr>
            </a:p>
          </p:txBody>
        </p:sp>
        <p:sp>
          <p:nvSpPr>
            <p:cNvPr id="204" name="Google Shape;204;g396d4a5dad6_5_266"/>
            <p:cNvSpPr txBox="1"/>
            <p:nvPr/>
          </p:nvSpPr>
          <p:spPr>
            <a:xfrm>
              <a:off x="647700" y="1619250"/>
              <a:ext cx="3524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zh-CN">
                  <a:latin typeface="Verdana"/>
                  <a:ea typeface="Verdana"/>
                  <a:cs typeface="Verdana"/>
                  <a:sym typeface="Verdana"/>
                </a:rPr>
                <a:t>A linear model used for binary classification that predicts the probability of a data point belonging to a specific class.</a:t>
              </a:r>
              <a:endParaRPr>
                <a:latin typeface="Verdana"/>
                <a:ea typeface="Verdana"/>
                <a:cs typeface="Verdana"/>
                <a:sym typeface="Verdana"/>
              </a:endParaRPr>
            </a:p>
            <a:p>
              <a:pPr indent="0" lvl="0" marL="0" rtl="0" algn="l">
                <a:spcBef>
                  <a:spcPts val="0"/>
                </a:spcBef>
                <a:spcAft>
                  <a:spcPts val="0"/>
                </a:spcAft>
                <a:buNone/>
              </a:pPr>
              <a:r>
                <a:t/>
              </a:r>
              <a:endParaRPr>
                <a:latin typeface="Verdana"/>
                <a:ea typeface="Verdana"/>
                <a:cs typeface="Verdana"/>
                <a:sym typeface="Verdana"/>
              </a:endParaRPr>
            </a:p>
          </p:txBody>
        </p:sp>
      </p:grpSp>
      <p:grpSp>
        <p:nvGrpSpPr>
          <p:cNvPr id="205" name="Google Shape;205;g396d4a5dad6_5_266"/>
          <p:cNvGrpSpPr/>
          <p:nvPr/>
        </p:nvGrpSpPr>
        <p:grpSpPr>
          <a:xfrm>
            <a:off x="457200" y="2857500"/>
            <a:ext cx="8229600" cy="1524000"/>
            <a:chOff x="457200" y="2857500"/>
            <a:chExt cx="8229600" cy="1524000"/>
          </a:xfrm>
        </p:grpSpPr>
        <p:sp>
          <p:nvSpPr>
            <p:cNvPr id="206" name="Google Shape;206;g396d4a5dad6_5_266"/>
            <p:cNvSpPr/>
            <p:nvPr/>
          </p:nvSpPr>
          <p:spPr>
            <a:xfrm>
              <a:off x="457200" y="2857500"/>
              <a:ext cx="82296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g396d4a5dad6_5_266"/>
            <p:cNvSpPr/>
            <p:nvPr/>
          </p:nvSpPr>
          <p:spPr>
            <a:xfrm>
              <a:off x="457200" y="2857500"/>
              <a:ext cx="82296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g396d4a5dad6_5_266"/>
            <p:cNvSpPr txBox="1"/>
            <p:nvPr/>
          </p:nvSpPr>
          <p:spPr>
            <a:xfrm>
              <a:off x="552450" y="2857500"/>
              <a:ext cx="8039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zh-CN" sz="1200">
                  <a:solidFill>
                    <a:schemeClr val="lt1"/>
                  </a:solidFill>
                  <a:latin typeface="Verdana"/>
                  <a:ea typeface="Verdana"/>
                  <a:cs typeface="Verdana"/>
                  <a:sym typeface="Verdana"/>
                </a:rPr>
                <a:t>Key Points</a:t>
              </a:r>
              <a:endParaRPr b="1" sz="1200">
                <a:solidFill>
                  <a:srgbClr val="FFFFFF"/>
                </a:solidFill>
                <a:latin typeface="Verdana"/>
                <a:ea typeface="Verdana"/>
                <a:cs typeface="Verdana"/>
                <a:sym typeface="Verdana"/>
              </a:endParaRPr>
            </a:p>
          </p:txBody>
        </p:sp>
        <p:sp>
          <p:nvSpPr>
            <p:cNvPr id="209" name="Google Shape;209;g396d4a5dad6_5_266"/>
            <p:cNvSpPr txBox="1"/>
            <p:nvPr/>
          </p:nvSpPr>
          <p:spPr>
            <a:xfrm>
              <a:off x="742950" y="3333750"/>
              <a:ext cx="7668000" cy="952500"/>
            </a:xfrm>
            <a:prstGeom prst="rect">
              <a:avLst/>
            </a:prstGeom>
            <a:noFill/>
            <a:ln>
              <a:noFill/>
            </a:ln>
          </p:spPr>
          <p:txBody>
            <a:bodyPr anchorCtr="0" anchor="ctr" bIns="0" lIns="0" spcFirstLastPara="1" rIns="0" wrap="square" tIns="0">
              <a:noAutofit/>
            </a:bodyPr>
            <a:lstStyle/>
            <a:p>
              <a:pPr indent="-317500" lvl="0" marL="457200" rtl="0" algn="l">
                <a:spcBef>
                  <a:spcPts val="0"/>
                </a:spcBef>
                <a:spcAft>
                  <a:spcPts val="0"/>
                </a:spcAft>
                <a:buClr>
                  <a:srgbClr val="000000"/>
                </a:buClr>
                <a:buSzPts val="1400"/>
                <a:buFont typeface="Verdana"/>
                <a:buChar char="●"/>
              </a:pPr>
              <a:r>
                <a:rPr b="1" lang="zh-CN" sz="1400">
                  <a:solidFill>
                    <a:srgbClr val="000000"/>
                  </a:solidFill>
                  <a:latin typeface="Verdana"/>
                  <a:ea typeface="Verdana"/>
                  <a:cs typeface="Verdana"/>
                  <a:sym typeface="Verdana"/>
                </a:rPr>
                <a:t>Feature Independence:</a:t>
              </a:r>
              <a:r>
                <a:rPr b="0" lang="zh-CN" sz="1400">
                  <a:solidFill>
                    <a:srgbClr val="000000"/>
                  </a:solidFill>
                  <a:latin typeface="Verdana"/>
                  <a:ea typeface="Verdana"/>
                  <a:cs typeface="Verdana"/>
                  <a:sym typeface="Verdana"/>
                </a:rPr>
                <a:t> </a:t>
              </a:r>
              <a:endParaRPr b="0" sz="1400">
                <a:solidFill>
                  <a:srgbClr val="000000"/>
                </a:solidFill>
                <a:latin typeface="Verdana"/>
                <a:ea typeface="Verdana"/>
                <a:cs typeface="Verdana"/>
                <a:sym typeface="Verdana"/>
              </a:endParaRPr>
            </a:p>
            <a:p>
              <a:pPr indent="0" lvl="0" marL="457200" rtl="0" algn="l">
                <a:spcBef>
                  <a:spcPts val="750"/>
                </a:spcBef>
                <a:spcAft>
                  <a:spcPts val="750"/>
                </a:spcAft>
                <a:buNone/>
              </a:pPr>
              <a:r>
                <a:rPr lang="zh-CN">
                  <a:latin typeface="Verdana"/>
                  <a:ea typeface="Verdana"/>
                  <a:cs typeface="Verdana"/>
                  <a:sym typeface="Verdana"/>
                </a:rPr>
                <a:t>Assumes classes can be separated by a straight line (or hyperplane).</a:t>
              </a:r>
              <a:endParaRPr b="0" sz="1400">
                <a:solidFill>
                  <a:srgbClr val="000000"/>
                </a:solidFill>
                <a:latin typeface="Verdana"/>
                <a:ea typeface="Verdana"/>
                <a:cs typeface="Verdana"/>
                <a:sym typeface="Verdana"/>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400"/>
              <a:buNone/>
            </a:pPr>
            <a:r>
              <a:rPr lang="zh-CN"/>
              <a:t>Logistic Regression</a:t>
            </a:r>
            <a:endParaRPr/>
          </a:p>
        </p:txBody>
      </p:sp>
      <p:sp>
        <p:nvSpPr>
          <p:cNvPr id="216" name="Google Shape;216;p14"/>
          <p:cNvSpPr txBox="1"/>
          <p:nvPr>
            <p:ph idx="12" type="sldNum"/>
          </p:nvPr>
        </p:nvSpPr>
        <p:spPr>
          <a:xfrm>
            <a:off x="1" y="4790748"/>
            <a:ext cx="457200" cy="29565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zh-CN"/>
              <a:t>‹#›</a:t>
            </a:fld>
            <a:endParaRPr/>
          </a:p>
        </p:txBody>
      </p:sp>
      <p:pic>
        <p:nvPicPr>
          <p:cNvPr id="217" name="Google Shape;217;p14"/>
          <p:cNvPicPr preferRelativeResize="0"/>
          <p:nvPr/>
        </p:nvPicPr>
        <p:blipFill rotWithShape="1">
          <a:blip r:embed="rId3">
            <a:alphaModFix/>
          </a:blip>
          <a:srcRect b="0" l="0" r="0" t="0"/>
          <a:stretch/>
        </p:blipFill>
        <p:spPr>
          <a:xfrm>
            <a:off x="4484279" y="1666313"/>
            <a:ext cx="4350544" cy="2321719"/>
          </a:xfrm>
          <a:prstGeom prst="rect">
            <a:avLst/>
          </a:prstGeom>
          <a:noFill/>
          <a:ln>
            <a:noFill/>
          </a:ln>
        </p:spPr>
      </p:pic>
      <p:pic>
        <p:nvPicPr>
          <p:cNvPr id="218" name="Google Shape;218;p14"/>
          <p:cNvPicPr preferRelativeResize="0"/>
          <p:nvPr/>
        </p:nvPicPr>
        <p:blipFill rotWithShape="1">
          <a:blip r:embed="rId4">
            <a:alphaModFix/>
          </a:blip>
          <a:srcRect b="0" l="0" r="0" t="0"/>
          <a:stretch/>
        </p:blipFill>
        <p:spPr>
          <a:xfrm>
            <a:off x="133744" y="1417154"/>
            <a:ext cx="4350544" cy="282005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96d4a5dad6_5_241"/>
          <p:cNvSpPr txBox="1"/>
          <p:nvPr>
            <p:ph type="title"/>
          </p:nvPr>
        </p:nvSpPr>
        <p:spPr>
          <a:xfrm>
            <a:off x="457200" y="263525"/>
            <a:ext cx="8229600" cy="6000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zh-CN">
                <a:latin typeface="Verdana"/>
                <a:ea typeface="Verdana"/>
                <a:cs typeface="Verdana"/>
                <a:sym typeface="Verdana"/>
              </a:rPr>
              <a:t>Naive Bayes Algorithm Fundamentals</a:t>
            </a:r>
            <a:endParaRPr/>
          </a:p>
        </p:txBody>
      </p:sp>
      <p:grpSp>
        <p:nvGrpSpPr>
          <p:cNvPr id="224" name="Google Shape;224;g396d4a5dad6_5_241"/>
          <p:cNvGrpSpPr/>
          <p:nvPr/>
        </p:nvGrpSpPr>
        <p:grpSpPr>
          <a:xfrm>
            <a:off x="457200" y="1143000"/>
            <a:ext cx="3905400" cy="1524000"/>
            <a:chOff x="457200" y="1143000"/>
            <a:chExt cx="3905400" cy="1524000"/>
          </a:xfrm>
        </p:grpSpPr>
        <p:sp>
          <p:nvSpPr>
            <p:cNvPr id="225" name="Google Shape;225;g396d4a5dad6_5_241"/>
            <p:cNvSpPr/>
            <p:nvPr/>
          </p:nvSpPr>
          <p:spPr>
            <a:xfrm>
              <a:off x="457200" y="1143000"/>
              <a:ext cx="39054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g396d4a5dad6_5_241"/>
            <p:cNvSpPr/>
            <p:nvPr/>
          </p:nvSpPr>
          <p:spPr>
            <a:xfrm>
              <a:off x="457200" y="1143000"/>
              <a:ext cx="39054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g396d4a5dad6_5_241"/>
            <p:cNvSpPr txBox="1"/>
            <p:nvPr/>
          </p:nvSpPr>
          <p:spPr>
            <a:xfrm>
              <a:off x="552450" y="1143000"/>
              <a:ext cx="3714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CN" sz="1200">
                  <a:solidFill>
                    <a:srgbClr val="FFFFFF"/>
                  </a:solidFill>
                  <a:latin typeface="Verdana"/>
                  <a:ea typeface="Verdana"/>
                  <a:cs typeface="Verdana"/>
                  <a:sym typeface="Verdana"/>
                </a:rPr>
                <a:t>Core Concept</a:t>
              </a:r>
              <a:endParaRPr b="1" sz="1200">
                <a:solidFill>
                  <a:srgbClr val="FFFFFF"/>
                </a:solidFill>
                <a:latin typeface="Verdana"/>
                <a:ea typeface="Verdana"/>
                <a:cs typeface="Verdana"/>
                <a:sym typeface="Verdana"/>
              </a:endParaRPr>
            </a:p>
          </p:txBody>
        </p:sp>
        <p:sp>
          <p:nvSpPr>
            <p:cNvPr id="228" name="Google Shape;228;g396d4a5dad6_5_241"/>
            <p:cNvSpPr txBox="1"/>
            <p:nvPr/>
          </p:nvSpPr>
          <p:spPr>
            <a:xfrm>
              <a:off x="647700" y="1619250"/>
              <a:ext cx="3524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CN" sz="1400">
                  <a:solidFill>
                    <a:srgbClr val="000000"/>
                  </a:solidFill>
                  <a:latin typeface="Verdana"/>
                  <a:ea typeface="Verdana"/>
                  <a:cs typeface="Verdana"/>
                  <a:sym typeface="Verdana"/>
                </a:rPr>
                <a:t>Naive Bayes is a probabilistic classifier based on Bayes' Theorem with an assumption of independence between features.</a:t>
              </a:r>
              <a:endParaRPr b="0" sz="1400">
                <a:solidFill>
                  <a:srgbClr val="000000"/>
                </a:solidFill>
                <a:latin typeface="Verdana"/>
                <a:ea typeface="Verdana"/>
                <a:cs typeface="Verdana"/>
                <a:sym typeface="Verdana"/>
              </a:endParaRPr>
            </a:p>
          </p:txBody>
        </p:sp>
      </p:grpSp>
      <p:grpSp>
        <p:nvGrpSpPr>
          <p:cNvPr id="229" name="Google Shape;229;g396d4a5dad6_5_241"/>
          <p:cNvGrpSpPr/>
          <p:nvPr/>
        </p:nvGrpSpPr>
        <p:grpSpPr>
          <a:xfrm>
            <a:off x="4781550" y="1143000"/>
            <a:ext cx="3905400" cy="1524000"/>
            <a:chOff x="4781550" y="1143000"/>
            <a:chExt cx="3905400" cy="1524000"/>
          </a:xfrm>
        </p:grpSpPr>
        <p:sp>
          <p:nvSpPr>
            <p:cNvPr id="230" name="Google Shape;230;g396d4a5dad6_5_241"/>
            <p:cNvSpPr/>
            <p:nvPr/>
          </p:nvSpPr>
          <p:spPr>
            <a:xfrm>
              <a:off x="4781550" y="1143000"/>
              <a:ext cx="39054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g396d4a5dad6_5_241"/>
            <p:cNvSpPr/>
            <p:nvPr/>
          </p:nvSpPr>
          <p:spPr>
            <a:xfrm>
              <a:off x="4781550" y="1143000"/>
              <a:ext cx="39054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g396d4a5dad6_5_241"/>
            <p:cNvSpPr txBox="1"/>
            <p:nvPr/>
          </p:nvSpPr>
          <p:spPr>
            <a:xfrm>
              <a:off x="4876800" y="1143000"/>
              <a:ext cx="3714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CN" sz="1200">
                  <a:solidFill>
                    <a:srgbClr val="FFFFFF"/>
                  </a:solidFill>
                  <a:latin typeface="Verdana"/>
                  <a:ea typeface="Verdana"/>
                  <a:cs typeface="Verdana"/>
                  <a:sym typeface="Verdana"/>
                </a:rPr>
                <a:t>Bayes' Theorem</a:t>
              </a:r>
              <a:endParaRPr b="1" sz="1200">
                <a:solidFill>
                  <a:srgbClr val="FFFFFF"/>
                </a:solidFill>
                <a:latin typeface="Verdana"/>
                <a:ea typeface="Verdana"/>
                <a:cs typeface="Verdana"/>
                <a:sym typeface="Verdana"/>
              </a:endParaRPr>
            </a:p>
          </p:txBody>
        </p:sp>
        <p:sp>
          <p:nvSpPr>
            <p:cNvPr id="233" name="Google Shape;233;g396d4a5dad6_5_241"/>
            <p:cNvSpPr txBox="1"/>
            <p:nvPr/>
          </p:nvSpPr>
          <p:spPr>
            <a:xfrm>
              <a:off x="4972050" y="1619250"/>
              <a:ext cx="35244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zh-CN" sz="1800">
                  <a:solidFill>
                    <a:srgbClr val="000000"/>
                  </a:solidFill>
                  <a:latin typeface="Verdana"/>
                  <a:ea typeface="Verdana"/>
                  <a:cs typeface="Verdana"/>
                  <a:sym typeface="Verdana"/>
                </a:rPr>
                <a:t>P(A|B) = [P(B|A)P(A)] / P(B)</a:t>
              </a:r>
              <a:endParaRPr b="0" sz="1800">
                <a:solidFill>
                  <a:srgbClr val="000000"/>
                </a:solidFill>
                <a:latin typeface="Verdana"/>
                <a:ea typeface="Verdana"/>
                <a:cs typeface="Verdana"/>
                <a:sym typeface="Verdana"/>
              </a:endParaRPr>
            </a:p>
          </p:txBody>
        </p:sp>
      </p:grpSp>
      <p:grpSp>
        <p:nvGrpSpPr>
          <p:cNvPr id="234" name="Google Shape;234;g396d4a5dad6_5_241"/>
          <p:cNvGrpSpPr/>
          <p:nvPr/>
        </p:nvGrpSpPr>
        <p:grpSpPr>
          <a:xfrm>
            <a:off x="457200" y="2857500"/>
            <a:ext cx="8229600" cy="1524000"/>
            <a:chOff x="457200" y="2857500"/>
            <a:chExt cx="8229600" cy="1524000"/>
          </a:xfrm>
        </p:grpSpPr>
        <p:sp>
          <p:nvSpPr>
            <p:cNvPr id="235" name="Google Shape;235;g396d4a5dad6_5_241"/>
            <p:cNvSpPr/>
            <p:nvPr/>
          </p:nvSpPr>
          <p:spPr>
            <a:xfrm>
              <a:off x="457200" y="2857500"/>
              <a:ext cx="82296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g396d4a5dad6_5_241"/>
            <p:cNvSpPr/>
            <p:nvPr/>
          </p:nvSpPr>
          <p:spPr>
            <a:xfrm>
              <a:off x="457200" y="2857500"/>
              <a:ext cx="82296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g396d4a5dad6_5_241"/>
            <p:cNvSpPr txBox="1"/>
            <p:nvPr/>
          </p:nvSpPr>
          <p:spPr>
            <a:xfrm>
              <a:off x="552450" y="2857500"/>
              <a:ext cx="8039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zh-CN" sz="1200">
                  <a:solidFill>
                    <a:schemeClr val="lt1"/>
                  </a:solidFill>
                  <a:latin typeface="Verdana"/>
                  <a:ea typeface="Verdana"/>
                  <a:cs typeface="Verdana"/>
                  <a:sym typeface="Verdana"/>
                </a:rPr>
                <a:t>Key Points</a:t>
              </a:r>
              <a:endParaRPr b="1" sz="1200">
                <a:solidFill>
                  <a:srgbClr val="FFFFFF"/>
                </a:solidFill>
                <a:latin typeface="Verdana"/>
                <a:ea typeface="Verdana"/>
                <a:cs typeface="Verdana"/>
                <a:sym typeface="Verdana"/>
              </a:endParaRPr>
            </a:p>
          </p:txBody>
        </p:sp>
        <p:sp>
          <p:nvSpPr>
            <p:cNvPr id="238" name="Google Shape;238;g396d4a5dad6_5_241"/>
            <p:cNvSpPr txBox="1"/>
            <p:nvPr/>
          </p:nvSpPr>
          <p:spPr>
            <a:xfrm>
              <a:off x="742950" y="3333750"/>
              <a:ext cx="3619500" cy="952500"/>
            </a:xfrm>
            <a:prstGeom prst="rect">
              <a:avLst/>
            </a:prstGeom>
            <a:noFill/>
            <a:ln>
              <a:noFill/>
            </a:ln>
          </p:spPr>
          <p:txBody>
            <a:bodyPr anchorCtr="0" anchor="ctr" bIns="0" lIns="0" spcFirstLastPara="1" rIns="0" wrap="square" tIns="0">
              <a:noAutofit/>
            </a:bodyPr>
            <a:lstStyle/>
            <a:p>
              <a:pPr indent="-317500" lvl="0" marL="457200" rtl="0" algn="l">
                <a:spcBef>
                  <a:spcPts val="0"/>
                </a:spcBef>
                <a:spcAft>
                  <a:spcPts val="750"/>
                </a:spcAft>
                <a:buClr>
                  <a:srgbClr val="000000"/>
                </a:buClr>
                <a:buSzPts val="1400"/>
                <a:buFont typeface="Verdana"/>
                <a:buChar char="●"/>
              </a:pPr>
              <a:r>
                <a:rPr b="1" lang="zh-CN" sz="1400">
                  <a:solidFill>
                    <a:srgbClr val="000000"/>
                  </a:solidFill>
                  <a:latin typeface="Verdana"/>
                  <a:ea typeface="Verdana"/>
                  <a:cs typeface="Verdana"/>
                  <a:sym typeface="Verdana"/>
                </a:rPr>
                <a:t>Feature Independence:</a:t>
              </a:r>
              <a:r>
                <a:rPr b="0" lang="zh-CN" sz="1400">
                  <a:solidFill>
                    <a:srgbClr val="000000"/>
                  </a:solidFill>
                  <a:latin typeface="Verdana"/>
                  <a:ea typeface="Verdana"/>
                  <a:cs typeface="Verdana"/>
                  <a:sym typeface="Verdana"/>
                </a:rPr>
                <a:t> Assumes every feature is independent of others.</a:t>
              </a:r>
              <a:endParaRPr b="0" sz="1400">
                <a:solidFill>
                  <a:srgbClr val="000000"/>
                </a:solidFill>
                <a:latin typeface="Verdana"/>
                <a:ea typeface="Verdana"/>
                <a:cs typeface="Verdana"/>
                <a:sym typeface="Verdana"/>
              </a:endParaRPr>
            </a:p>
          </p:txBody>
        </p:sp>
        <p:sp>
          <p:nvSpPr>
            <p:cNvPr id="239" name="Google Shape;239;g396d4a5dad6_5_241"/>
            <p:cNvSpPr txBox="1"/>
            <p:nvPr/>
          </p:nvSpPr>
          <p:spPr>
            <a:xfrm>
              <a:off x="4743450" y="3333750"/>
              <a:ext cx="3619500" cy="952500"/>
            </a:xfrm>
            <a:prstGeom prst="rect">
              <a:avLst/>
            </a:prstGeom>
            <a:noFill/>
            <a:ln>
              <a:noFill/>
            </a:ln>
          </p:spPr>
          <p:txBody>
            <a:bodyPr anchorCtr="0" anchor="ctr" bIns="0" lIns="0" spcFirstLastPara="1" rIns="0" wrap="square" tIns="0">
              <a:noAutofit/>
            </a:bodyPr>
            <a:lstStyle/>
            <a:p>
              <a:pPr indent="-317500" lvl="0" marL="457200" rtl="0" algn="l">
                <a:spcBef>
                  <a:spcPts val="0"/>
                </a:spcBef>
                <a:spcAft>
                  <a:spcPts val="750"/>
                </a:spcAft>
                <a:buClr>
                  <a:srgbClr val="000000"/>
                </a:buClr>
                <a:buSzPts val="1400"/>
                <a:buFont typeface="Verdana"/>
                <a:buChar char="●"/>
              </a:pPr>
              <a:r>
                <a:rPr b="1" lang="zh-CN" sz="1400">
                  <a:solidFill>
                    <a:srgbClr val="000000"/>
                  </a:solidFill>
                  <a:latin typeface="Verdana"/>
                  <a:ea typeface="Verdana"/>
                  <a:cs typeface="Verdana"/>
                  <a:sym typeface="Verdana"/>
                </a:rPr>
                <a:t>Gaussian Variant:</a:t>
              </a:r>
              <a:r>
                <a:rPr b="0" lang="zh-CN" sz="1400">
                  <a:solidFill>
                    <a:srgbClr val="000000"/>
                  </a:solidFill>
                  <a:latin typeface="Verdana"/>
                  <a:ea typeface="Verdana"/>
                  <a:cs typeface="Verdana"/>
                  <a:sym typeface="Verdana"/>
                </a:rPr>
                <a:t> Used when features follow a normal distribution (Bell Curve).</a:t>
              </a:r>
              <a:endParaRPr b="0" sz="1400">
                <a:solidFill>
                  <a:srgbClr val="000000"/>
                </a:solidFill>
                <a:latin typeface="Verdana"/>
                <a:ea typeface="Verdana"/>
                <a:cs typeface="Verdana"/>
                <a:sym typeface="Verdana"/>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5"/>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400"/>
              <a:buNone/>
            </a:pPr>
            <a:r>
              <a:rPr lang="zh-CN"/>
              <a:t>Gaussian Naive Bayes</a:t>
            </a:r>
            <a:endParaRPr/>
          </a:p>
        </p:txBody>
      </p:sp>
      <p:sp>
        <p:nvSpPr>
          <p:cNvPr id="246" name="Google Shape;246;p15"/>
          <p:cNvSpPr txBox="1"/>
          <p:nvPr>
            <p:ph idx="12" type="sldNum"/>
          </p:nvPr>
        </p:nvSpPr>
        <p:spPr>
          <a:xfrm>
            <a:off x="1" y="4790748"/>
            <a:ext cx="457200" cy="29565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zh-CN"/>
              <a:t>‹#›</a:t>
            </a:fld>
            <a:endParaRPr/>
          </a:p>
        </p:txBody>
      </p:sp>
      <p:pic>
        <p:nvPicPr>
          <p:cNvPr id="247" name="Google Shape;247;p15"/>
          <p:cNvPicPr preferRelativeResize="0"/>
          <p:nvPr/>
        </p:nvPicPr>
        <p:blipFill rotWithShape="1">
          <a:blip r:embed="rId3">
            <a:alphaModFix/>
          </a:blip>
          <a:srcRect b="0" l="0" r="0" t="0"/>
          <a:stretch/>
        </p:blipFill>
        <p:spPr>
          <a:xfrm>
            <a:off x="457200" y="1308300"/>
            <a:ext cx="5715000" cy="2857500"/>
          </a:xfrm>
          <a:prstGeom prst="rect">
            <a:avLst/>
          </a:prstGeom>
          <a:noFill/>
          <a:ln>
            <a:noFill/>
          </a:ln>
        </p:spPr>
      </p:pic>
      <p:pic>
        <p:nvPicPr>
          <p:cNvPr id="248" name="Google Shape;248;p15"/>
          <p:cNvPicPr preferRelativeResize="0"/>
          <p:nvPr/>
        </p:nvPicPr>
        <p:blipFill rotWithShape="1">
          <a:blip r:embed="rId4">
            <a:alphaModFix/>
          </a:blip>
          <a:srcRect b="0" l="0" r="0" t="0"/>
          <a:stretch/>
        </p:blipFill>
        <p:spPr>
          <a:xfrm>
            <a:off x="6172200" y="2282063"/>
            <a:ext cx="2926519" cy="73445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96d4a5dad6_5_286"/>
          <p:cNvSpPr txBox="1"/>
          <p:nvPr>
            <p:ph type="title"/>
          </p:nvPr>
        </p:nvSpPr>
        <p:spPr>
          <a:xfrm>
            <a:off x="457200" y="263525"/>
            <a:ext cx="8229600" cy="6000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zh-CN">
                <a:latin typeface="Verdana"/>
                <a:ea typeface="Verdana"/>
                <a:cs typeface="Verdana"/>
                <a:sym typeface="Verdana"/>
              </a:rPr>
              <a:t>Support Vector Machine</a:t>
            </a:r>
            <a:r>
              <a:rPr lang="zh-CN">
                <a:latin typeface="Verdana"/>
                <a:ea typeface="Verdana"/>
                <a:cs typeface="Verdana"/>
                <a:sym typeface="Verdana"/>
              </a:rPr>
              <a:t> Fundamentals</a:t>
            </a:r>
            <a:endParaRPr/>
          </a:p>
        </p:txBody>
      </p:sp>
      <p:grpSp>
        <p:nvGrpSpPr>
          <p:cNvPr id="254" name="Google Shape;254;g396d4a5dad6_5_286"/>
          <p:cNvGrpSpPr/>
          <p:nvPr/>
        </p:nvGrpSpPr>
        <p:grpSpPr>
          <a:xfrm>
            <a:off x="457200" y="1143000"/>
            <a:ext cx="3905400" cy="1524000"/>
            <a:chOff x="457200" y="1143000"/>
            <a:chExt cx="3905400" cy="1524000"/>
          </a:xfrm>
        </p:grpSpPr>
        <p:sp>
          <p:nvSpPr>
            <p:cNvPr id="255" name="Google Shape;255;g396d4a5dad6_5_286"/>
            <p:cNvSpPr/>
            <p:nvPr/>
          </p:nvSpPr>
          <p:spPr>
            <a:xfrm>
              <a:off x="457200" y="1143000"/>
              <a:ext cx="39054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g396d4a5dad6_5_286"/>
            <p:cNvSpPr/>
            <p:nvPr/>
          </p:nvSpPr>
          <p:spPr>
            <a:xfrm>
              <a:off x="457200" y="1143000"/>
              <a:ext cx="39054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g396d4a5dad6_5_286"/>
            <p:cNvSpPr txBox="1"/>
            <p:nvPr/>
          </p:nvSpPr>
          <p:spPr>
            <a:xfrm>
              <a:off x="552450" y="1143000"/>
              <a:ext cx="3714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CN" sz="1200">
                  <a:solidFill>
                    <a:srgbClr val="FFFFFF"/>
                  </a:solidFill>
                  <a:latin typeface="Verdana"/>
                  <a:ea typeface="Verdana"/>
                  <a:cs typeface="Verdana"/>
                  <a:sym typeface="Verdana"/>
                </a:rPr>
                <a:t>Core Concept</a:t>
              </a:r>
              <a:endParaRPr b="1" sz="1200">
                <a:solidFill>
                  <a:srgbClr val="FFFFFF"/>
                </a:solidFill>
                <a:latin typeface="Verdana"/>
                <a:ea typeface="Verdana"/>
                <a:cs typeface="Verdana"/>
                <a:sym typeface="Verdana"/>
              </a:endParaRPr>
            </a:p>
          </p:txBody>
        </p:sp>
        <p:sp>
          <p:nvSpPr>
            <p:cNvPr id="258" name="Google Shape;258;g396d4a5dad6_5_286"/>
            <p:cNvSpPr txBox="1"/>
            <p:nvPr/>
          </p:nvSpPr>
          <p:spPr>
            <a:xfrm>
              <a:off x="647700" y="1619250"/>
              <a:ext cx="3524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CN">
                  <a:latin typeface="Verdana"/>
                  <a:ea typeface="Verdana"/>
                  <a:cs typeface="Verdana"/>
                  <a:sym typeface="Verdana"/>
                </a:rPr>
                <a:t>Finds the optimal hyperplane that maximizes the margin between two classes of data.</a:t>
              </a:r>
              <a:endParaRPr b="0" sz="1400">
                <a:solidFill>
                  <a:srgbClr val="000000"/>
                </a:solidFill>
                <a:latin typeface="Verdana"/>
                <a:ea typeface="Verdana"/>
                <a:cs typeface="Verdana"/>
                <a:sym typeface="Verdana"/>
              </a:endParaRPr>
            </a:p>
          </p:txBody>
        </p:sp>
      </p:grpSp>
      <p:grpSp>
        <p:nvGrpSpPr>
          <p:cNvPr id="259" name="Google Shape;259;g396d4a5dad6_5_286"/>
          <p:cNvGrpSpPr/>
          <p:nvPr/>
        </p:nvGrpSpPr>
        <p:grpSpPr>
          <a:xfrm>
            <a:off x="457200" y="2857500"/>
            <a:ext cx="8229600" cy="1524000"/>
            <a:chOff x="457200" y="2857500"/>
            <a:chExt cx="8229600" cy="1524000"/>
          </a:xfrm>
        </p:grpSpPr>
        <p:sp>
          <p:nvSpPr>
            <p:cNvPr id="260" name="Google Shape;260;g396d4a5dad6_5_286"/>
            <p:cNvSpPr/>
            <p:nvPr/>
          </p:nvSpPr>
          <p:spPr>
            <a:xfrm>
              <a:off x="457200" y="2857500"/>
              <a:ext cx="82296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g396d4a5dad6_5_286"/>
            <p:cNvSpPr/>
            <p:nvPr/>
          </p:nvSpPr>
          <p:spPr>
            <a:xfrm>
              <a:off x="457200" y="2857500"/>
              <a:ext cx="82296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g396d4a5dad6_5_286"/>
            <p:cNvSpPr txBox="1"/>
            <p:nvPr/>
          </p:nvSpPr>
          <p:spPr>
            <a:xfrm>
              <a:off x="552450" y="2857500"/>
              <a:ext cx="8039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zh-CN" sz="1200">
                  <a:solidFill>
                    <a:schemeClr val="lt1"/>
                  </a:solidFill>
                  <a:latin typeface="Verdana"/>
                  <a:ea typeface="Verdana"/>
                  <a:cs typeface="Verdana"/>
                  <a:sym typeface="Verdana"/>
                </a:rPr>
                <a:t>Key Points</a:t>
              </a:r>
              <a:endParaRPr b="1" sz="1200">
                <a:solidFill>
                  <a:srgbClr val="FFFFFF"/>
                </a:solidFill>
                <a:latin typeface="Verdana"/>
                <a:ea typeface="Verdana"/>
                <a:cs typeface="Verdana"/>
                <a:sym typeface="Verdana"/>
              </a:endParaRPr>
            </a:p>
          </p:txBody>
        </p:sp>
        <p:sp>
          <p:nvSpPr>
            <p:cNvPr id="263" name="Google Shape;263;g396d4a5dad6_5_286"/>
            <p:cNvSpPr txBox="1"/>
            <p:nvPr/>
          </p:nvSpPr>
          <p:spPr>
            <a:xfrm>
              <a:off x="742950" y="3333750"/>
              <a:ext cx="7425300" cy="952500"/>
            </a:xfrm>
            <a:prstGeom prst="rect">
              <a:avLst/>
            </a:prstGeom>
            <a:noFill/>
            <a:ln>
              <a:noFill/>
            </a:ln>
          </p:spPr>
          <p:txBody>
            <a:bodyPr anchorCtr="0" anchor="ctr" bIns="0" lIns="0" spcFirstLastPara="1" rIns="0" wrap="square" tIns="0">
              <a:noAutofit/>
            </a:bodyPr>
            <a:lstStyle/>
            <a:p>
              <a:pPr indent="-317500" lvl="0" marL="457200" rtl="0" algn="l">
                <a:spcBef>
                  <a:spcPts val="0"/>
                </a:spcBef>
                <a:spcAft>
                  <a:spcPts val="750"/>
                </a:spcAft>
                <a:buClr>
                  <a:srgbClr val="000000"/>
                </a:buClr>
                <a:buSzPts val="1400"/>
                <a:buFont typeface="Verdana"/>
                <a:buChar char="●"/>
              </a:pPr>
              <a:r>
                <a:rPr b="1" lang="zh-CN">
                  <a:latin typeface="Verdana"/>
                  <a:ea typeface="Verdana"/>
                  <a:cs typeface="Verdana"/>
                  <a:sym typeface="Verdana"/>
                </a:rPr>
                <a:t>Support Vectors</a:t>
              </a:r>
              <a:r>
                <a:rPr b="1" lang="zh-CN" sz="1400">
                  <a:solidFill>
                    <a:srgbClr val="000000"/>
                  </a:solidFill>
                  <a:latin typeface="Verdana"/>
                  <a:ea typeface="Verdana"/>
                  <a:cs typeface="Verdana"/>
                  <a:sym typeface="Verdana"/>
                </a:rPr>
                <a:t>:</a:t>
              </a:r>
              <a:r>
                <a:rPr b="0" lang="zh-CN" sz="1400">
                  <a:solidFill>
                    <a:srgbClr val="000000"/>
                  </a:solidFill>
                  <a:latin typeface="Verdana"/>
                  <a:ea typeface="Verdana"/>
                  <a:cs typeface="Verdana"/>
                  <a:sym typeface="Verdana"/>
                </a:rPr>
                <a:t> </a:t>
              </a:r>
              <a:r>
                <a:rPr lang="zh-CN">
                  <a:latin typeface="Verdana"/>
                  <a:ea typeface="Verdana"/>
                  <a:cs typeface="Verdana"/>
                  <a:sym typeface="Verdana"/>
                </a:rPr>
                <a:t>The model only relies on the most 'difficult' data points (those closest to the boundary) rather than the whole dataset.</a:t>
              </a:r>
              <a:endParaRPr b="0" sz="1400">
                <a:solidFill>
                  <a:srgbClr val="000000"/>
                </a:solidFill>
                <a:latin typeface="Verdana"/>
                <a:ea typeface="Verdana"/>
                <a:cs typeface="Verdana"/>
                <a:sym typeface="Verdana"/>
              </a:endParaRPr>
            </a:p>
          </p:txBody>
        </p:sp>
      </p:grpSp>
      <p:pic>
        <p:nvPicPr>
          <p:cNvPr id="264" name="Google Shape;264;g396d4a5dad6_5_286"/>
          <p:cNvPicPr preferRelativeResize="0"/>
          <p:nvPr/>
        </p:nvPicPr>
        <p:blipFill>
          <a:blip r:embed="rId3">
            <a:alphaModFix/>
          </a:blip>
          <a:stretch>
            <a:fillRect/>
          </a:stretch>
        </p:blipFill>
        <p:spPr>
          <a:xfrm>
            <a:off x="5063775" y="1015925"/>
            <a:ext cx="3378350" cy="1689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6"/>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400"/>
              <a:buNone/>
            </a:pPr>
            <a:r>
              <a:rPr lang="zh-CN"/>
              <a:t>Support Vector Machine (SVM)</a:t>
            </a:r>
            <a:endParaRPr/>
          </a:p>
        </p:txBody>
      </p:sp>
      <p:sp>
        <p:nvSpPr>
          <p:cNvPr id="271" name="Google Shape;271;p16"/>
          <p:cNvSpPr txBox="1"/>
          <p:nvPr>
            <p:ph idx="12" type="sldNum"/>
          </p:nvPr>
        </p:nvSpPr>
        <p:spPr>
          <a:xfrm>
            <a:off x="1" y="4790748"/>
            <a:ext cx="457200" cy="29565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zh-CN"/>
              <a:t>‹#›</a:t>
            </a:fld>
            <a:endParaRPr/>
          </a:p>
        </p:txBody>
      </p:sp>
      <p:pic>
        <p:nvPicPr>
          <p:cNvPr id="272" name="Google Shape;272;p16"/>
          <p:cNvPicPr preferRelativeResize="0"/>
          <p:nvPr/>
        </p:nvPicPr>
        <p:blipFill rotWithShape="1">
          <a:blip r:embed="rId3">
            <a:alphaModFix/>
          </a:blip>
          <a:srcRect b="0" l="0" r="0" t="0"/>
          <a:stretch/>
        </p:blipFill>
        <p:spPr>
          <a:xfrm>
            <a:off x="246338" y="1974835"/>
            <a:ext cx="3407285" cy="1703634"/>
          </a:xfrm>
          <a:prstGeom prst="rect">
            <a:avLst/>
          </a:prstGeom>
          <a:noFill/>
          <a:ln>
            <a:noFill/>
          </a:ln>
        </p:spPr>
      </p:pic>
      <p:pic>
        <p:nvPicPr>
          <p:cNvPr id="273" name="Google Shape;273;p16"/>
          <p:cNvPicPr preferRelativeResize="0"/>
          <p:nvPr/>
        </p:nvPicPr>
        <p:blipFill rotWithShape="1">
          <a:blip r:embed="rId4">
            <a:alphaModFix/>
          </a:blip>
          <a:srcRect b="0" l="0" r="0" t="0"/>
          <a:stretch/>
        </p:blipFill>
        <p:spPr>
          <a:xfrm>
            <a:off x="3879506" y="1423275"/>
            <a:ext cx="5108924" cy="311503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96d4a5dad6_5_306"/>
          <p:cNvSpPr txBox="1"/>
          <p:nvPr>
            <p:ph type="title"/>
          </p:nvPr>
        </p:nvSpPr>
        <p:spPr>
          <a:xfrm>
            <a:off x="457200" y="263525"/>
            <a:ext cx="8229600" cy="6000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zh-CN">
                <a:latin typeface="Verdana"/>
                <a:ea typeface="Verdana"/>
                <a:cs typeface="Verdana"/>
                <a:sym typeface="Verdana"/>
              </a:rPr>
              <a:t>Decision Tree</a:t>
            </a:r>
            <a:r>
              <a:rPr lang="zh-CN">
                <a:latin typeface="Verdana"/>
                <a:ea typeface="Verdana"/>
                <a:cs typeface="Verdana"/>
                <a:sym typeface="Verdana"/>
              </a:rPr>
              <a:t> Fundamentals</a:t>
            </a:r>
            <a:endParaRPr/>
          </a:p>
        </p:txBody>
      </p:sp>
      <p:grpSp>
        <p:nvGrpSpPr>
          <p:cNvPr id="279" name="Google Shape;279;g396d4a5dad6_5_306"/>
          <p:cNvGrpSpPr/>
          <p:nvPr/>
        </p:nvGrpSpPr>
        <p:grpSpPr>
          <a:xfrm>
            <a:off x="457200" y="1143000"/>
            <a:ext cx="3905400" cy="1524000"/>
            <a:chOff x="457200" y="1143000"/>
            <a:chExt cx="3905400" cy="1524000"/>
          </a:xfrm>
        </p:grpSpPr>
        <p:sp>
          <p:nvSpPr>
            <p:cNvPr id="280" name="Google Shape;280;g396d4a5dad6_5_306"/>
            <p:cNvSpPr/>
            <p:nvPr/>
          </p:nvSpPr>
          <p:spPr>
            <a:xfrm>
              <a:off x="457200" y="1143000"/>
              <a:ext cx="39054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g396d4a5dad6_5_306"/>
            <p:cNvSpPr/>
            <p:nvPr/>
          </p:nvSpPr>
          <p:spPr>
            <a:xfrm>
              <a:off x="457200" y="1143000"/>
              <a:ext cx="39054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g396d4a5dad6_5_306"/>
            <p:cNvSpPr txBox="1"/>
            <p:nvPr/>
          </p:nvSpPr>
          <p:spPr>
            <a:xfrm>
              <a:off x="552450" y="1143000"/>
              <a:ext cx="3714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CN" sz="1200">
                  <a:solidFill>
                    <a:srgbClr val="FFFFFF"/>
                  </a:solidFill>
                  <a:latin typeface="Verdana"/>
                  <a:ea typeface="Verdana"/>
                  <a:cs typeface="Verdana"/>
                  <a:sym typeface="Verdana"/>
                </a:rPr>
                <a:t>Core Concept</a:t>
              </a:r>
              <a:endParaRPr b="1" sz="1200">
                <a:solidFill>
                  <a:srgbClr val="FFFFFF"/>
                </a:solidFill>
                <a:latin typeface="Verdana"/>
                <a:ea typeface="Verdana"/>
                <a:cs typeface="Verdana"/>
                <a:sym typeface="Verdana"/>
              </a:endParaRPr>
            </a:p>
          </p:txBody>
        </p:sp>
        <p:sp>
          <p:nvSpPr>
            <p:cNvPr id="283" name="Google Shape;283;g396d4a5dad6_5_306"/>
            <p:cNvSpPr txBox="1"/>
            <p:nvPr/>
          </p:nvSpPr>
          <p:spPr>
            <a:xfrm>
              <a:off x="647700" y="1619250"/>
              <a:ext cx="3524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CN">
                  <a:latin typeface="Verdana"/>
                  <a:ea typeface="Verdana"/>
                  <a:cs typeface="Verdana"/>
                  <a:sym typeface="Verdana"/>
                </a:rPr>
                <a:t>A flow-chart-like structure where each internal node represents a 'test' on an attribute, and each leaf node represents a class label.</a:t>
              </a:r>
              <a:endParaRPr b="0" sz="1400">
                <a:solidFill>
                  <a:srgbClr val="000000"/>
                </a:solidFill>
                <a:latin typeface="Verdana"/>
                <a:ea typeface="Verdana"/>
                <a:cs typeface="Verdana"/>
                <a:sym typeface="Verdana"/>
              </a:endParaRPr>
            </a:p>
          </p:txBody>
        </p:sp>
      </p:grpSp>
      <p:grpSp>
        <p:nvGrpSpPr>
          <p:cNvPr id="284" name="Google Shape;284;g396d4a5dad6_5_306"/>
          <p:cNvGrpSpPr/>
          <p:nvPr/>
        </p:nvGrpSpPr>
        <p:grpSpPr>
          <a:xfrm>
            <a:off x="457200" y="2857500"/>
            <a:ext cx="8229600" cy="1524000"/>
            <a:chOff x="457200" y="2857500"/>
            <a:chExt cx="8229600" cy="1524000"/>
          </a:xfrm>
        </p:grpSpPr>
        <p:sp>
          <p:nvSpPr>
            <p:cNvPr id="285" name="Google Shape;285;g396d4a5dad6_5_306"/>
            <p:cNvSpPr/>
            <p:nvPr/>
          </p:nvSpPr>
          <p:spPr>
            <a:xfrm>
              <a:off x="457200" y="2857500"/>
              <a:ext cx="82296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g396d4a5dad6_5_306"/>
            <p:cNvSpPr/>
            <p:nvPr/>
          </p:nvSpPr>
          <p:spPr>
            <a:xfrm>
              <a:off x="457200" y="2857500"/>
              <a:ext cx="82296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g396d4a5dad6_5_306"/>
            <p:cNvSpPr txBox="1"/>
            <p:nvPr/>
          </p:nvSpPr>
          <p:spPr>
            <a:xfrm>
              <a:off x="552450" y="2857500"/>
              <a:ext cx="8039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zh-CN" sz="1200">
                  <a:solidFill>
                    <a:schemeClr val="lt1"/>
                  </a:solidFill>
                  <a:latin typeface="Verdana"/>
                  <a:ea typeface="Verdana"/>
                  <a:cs typeface="Verdana"/>
                  <a:sym typeface="Verdana"/>
                </a:rPr>
                <a:t>Key Points</a:t>
              </a:r>
              <a:endParaRPr b="1" sz="1200">
                <a:solidFill>
                  <a:srgbClr val="FFFFFF"/>
                </a:solidFill>
                <a:latin typeface="Verdana"/>
                <a:ea typeface="Verdana"/>
                <a:cs typeface="Verdana"/>
                <a:sym typeface="Verdana"/>
              </a:endParaRPr>
            </a:p>
          </p:txBody>
        </p:sp>
        <p:sp>
          <p:nvSpPr>
            <p:cNvPr id="288" name="Google Shape;288;g396d4a5dad6_5_306"/>
            <p:cNvSpPr txBox="1"/>
            <p:nvPr/>
          </p:nvSpPr>
          <p:spPr>
            <a:xfrm>
              <a:off x="457200" y="3333750"/>
              <a:ext cx="4380000" cy="952500"/>
            </a:xfrm>
            <a:prstGeom prst="rect">
              <a:avLst/>
            </a:prstGeom>
            <a:noFill/>
            <a:ln>
              <a:noFill/>
            </a:ln>
          </p:spPr>
          <p:txBody>
            <a:bodyPr anchorCtr="0" anchor="ctr" bIns="0" lIns="0" spcFirstLastPara="1" rIns="0" wrap="square" tIns="0">
              <a:noAutofit/>
            </a:bodyPr>
            <a:lstStyle/>
            <a:p>
              <a:pPr indent="-342900" lvl="0" marL="457200" rtl="0" algn="l">
                <a:spcBef>
                  <a:spcPts val="0"/>
                </a:spcBef>
                <a:spcAft>
                  <a:spcPts val="750"/>
                </a:spcAft>
                <a:buClr>
                  <a:srgbClr val="000000"/>
                </a:buClr>
                <a:buSzPts val="1800"/>
                <a:buFont typeface="Verdana"/>
                <a:buChar char="●"/>
              </a:pPr>
              <a:r>
                <a:rPr b="1" lang="zh-CN" sz="1500">
                  <a:solidFill>
                    <a:schemeClr val="dk1"/>
                  </a:solidFill>
                </a:rPr>
                <a:t>Interpretability:</a:t>
              </a:r>
              <a:r>
                <a:rPr lang="zh-CN" sz="1500">
                  <a:solidFill>
                    <a:schemeClr val="dk1"/>
                  </a:solidFill>
                </a:rPr>
                <a:t> Unlike 'Black Box' models, Decision Trees are easy to visualize as a set of nested 'IF-THEN' rules.</a:t>
              </a:r>
              <a:endParaRPr b="0" sz="1700">
                <a:solidFill>
                  <a:srgbClr val="000000"/>
                </a:solidFill>
                <a:latin typeface="Verdana"/>
                <a:ea typeface="Verdana"/>
                <a:cs typeface="Verdana"/>
                <a:sym typeface="Verdana"/>
              </a:endParaRPr>
            </a:p>
          </p:txBody>
        </p:sp>
        <p:sp>
          <p:nvSpPr>
            <p:cNvPr id="289" name="Google Shape;289;g396d4a5dad6_5_306"/>
            <p:cNvSpPr txBox="1"/>
            <p:nvPr/>
          </p:nvSpPr>
          <p:spPr>
            <a:xfrm>
              <a:off x="4743450" y="3333750"/>
              <a:ext cx="3619500" cy="952500"/>
            </a:xfrm>
            <a:prstGeom prst="rect">
              <a:avLst/>
            </a:prstGeom>
            <a:noFill/>
            <a:ln>
              <a:noFill/>
            </a:ln>
          </p:spPr>
          <p:txBody>
            <a:bodyPr anchorCtr="0" anchor="ctr" bIns="0" lIns="0" spcFirstLastPara="1" rIns="0" wrap="square" tIns="0">
              <a:noAutofit/>
            </a:bodyPr>
            <a:lstStyle/>
            <a:p>
              <a:pPr indent="-336550" lvl="0" marL="457200" rtl="0" algn="l">
                <a:spcBef>
                  <a:spcPts val="0"/>
                </a:spcBef>
                <a:spcAft>
                  <a:spcPts val="750"/>
                </a:spcAft>
                <a:buClr>
                  <a:srgbClr val="000000"/>
                </a:buClr>
                <a:buSzPts val="1700"/>
                <a:buFont typeface="Verdana"/>
                <a:buChar char="●"/>
              </a:pPr>
              <a:r>
                <a:rPr b="1" lang="zh-CN">
                  <a:solidFill>
                    <a:schemeClr val="dk1"/>
                  </a:solidFill>
                </a:rPr>
                <a:t>Greedy Approach:</a:t>
              </a:r>
              <a:r>
                <a:rPr lang="zh-CN">
                  <a:solidFill>
                    <a:schemeClr val="dk1"/>
                  </a:solidFill>
                </a:rPr>
                <a:t> Makes the best local split at each step, which can lead to overfitting if the tree grows too deep.</a:t>
              </a:r>
              <a:endParaRPr b="0" sz="1600">
                <a:solidFill>
                  <a:srgbClr val="000000"/>
                </a:solidFill>
                <a:latin typeface="Verdana"/>
                <a:ea typeface="Verdana"/>
                <a:cs typeface="Verdana"/>
                <a:sym typeface="Verdana"/>
              </a:endParaRPr>
            </a:p>
          </p:txBody>
        </p:sp>
      </p:grpSp>
      <p:pic>
        <p:nvPicPr>
          <p:cNvPr id="290" name="Google Shape;290;g396d4a5dad6_5_306"/>
          <p:cNvPicPr preferRelativeResize="0"/>
          <p:nvPr/>
        </p:nvPicPr>
        <p:blipFill rotWithShape="1">
          <a:blip r:embed="rId3">
            <a:alphaModFix/>
          </a:blip>
          <a:srcRect b="15621" l="9939" r="8462" t="10904"/>
          <a:stretch/>
        </p:blipFill>
        <p:spPr>
          <a:xfrm>
            <a:off x="4696775" y="993837"/>
            <a:ext cx="3597499" cy="18223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7"/>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400"/>
              <a:buNone/>
            </a:pPr>
            <a:r>
              <a:rPr lang="zh-CN"/>
              <a:t>Decision Tree</a:t>
            </a:r>
            <a:endParaRPr/>
          </a:p>
        </p:txBody>
      </p:sp>
      <p:sp>
        <p:nvSpPr>
          <p:cNvPr id="297" name="Google Shape;297;p17"/>
          <p:cNvSpPr txBox="1"/>
          <p:nvPr>
            <p:ph idx="12" type="sldNum"/>
          </p:nvPr>
        </p:nvSpPr>
        <p:spPr>
          <a:xfrm>
            <a:off x="1" y="4790748"/>
            <a:ext cx="457200" cy="29565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zh-CN"/>
              <a:t>‹#›</a:t>
            </a:fld>
            <a:endParaRPr/>
          </a:p>
        </p:txBody>
      </p:sp>
      <p:pic>
        <p:nvPicPr>
          <p:cNvPr id="298" name="Google Shape;298;p17"/>
          <p:cNvPicPr preferRelativeResize="0"/>
          <p:nvPr/>
        </p:nvPicPr>
        <p:blipFill rotWithShape="1">
          <a:blip r:embed="rId3">
            <a:alphaModFix/>
          </a:blip>
          <a:srcRect b="0" l="0" r="0" t="0"/>
          <a:stretch/>
        </p:blipFill>
        <p:spPr>
          <a:xfrm>
            <a:off x="2460150" y="971976"/>
            <a:ext cx="3669077" cy="1965886"/>
          </a:xfrm>
          <a:prstGeom prst="rect">
            <a:avLst/>
          </a:prstGeom>
          <a:noFill/>
          <a:ln>
            <a:noFill/>
          </a:ln>
        </p:spPr>
      </p:pic>
      <p:pic>
        <p:nvPicPr>
          <p:cNvPr id="299" name="Google Shape;299;p17"/>
          <p:cNvPicPr preferRelativeResize="0"/>
          <p:nvPr/>
        </p:nvPicPr>
        <p:blipFill rotWithShape="1">
          <a:blip r:embed="rId4">
            <a:alphaModFix/>
          </a:blip>
          <a:srcRect b="0" l="0" r="0" t="0"/>
          <a:stretch/>
        </p:blipFill>
        <p:spPr>
          <a:xfrm>
            <a:off x="1698319" y="2887744"/>
            <a:ext cx="5192736" cy="190301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96d4a5dad6_5_326"/>
          <p:cNvSpPr txBox="1"/>
          <p:nvPr>
            <p:ph type="title"/>
          </p:nvPr>
        </p:nvSpPr>
        <p:spPr>
          <a:xfrm>
            <a:off x="457200" y="263525"/>
            <a:ext cx="8229600" cy="6000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zh-CN">
                <a:latin typeface="Verdana"/>
                <a:ea typeface="Verdana"/>
                <a:cs typeface="Verdana"/>
                <a:sym typeface="Verdana"/>
              </a:rPr>
              <a:t>Random Forest</a:t>
            </a:r>
            <a:r>
              <a:rPr lang="zh-CN">
                <a:latin typeface="Verdana"/>
                <a:ea typeface="Verdana"/>
                <a:cs typeface="Verdana"/>
                <a:sym typeface="Verdana"/>
              </a:rPr>
              <a:t> Fundamentals</a:t>
            </a:r>
            <a:endParaRPr/>
          </a:p>
        </p:txBody>
      </p:sp>
      <p:grpSp>
        <p:nvGrpSpPr>
          <p:cNvPr id="305" name="Google Shape;305;g396d4a5dad6_5_326"/>
          <p:cNvGrpSpPr/>
          <p:nvPr/>
        </p:nvGrpSpPr>
        <p:grpSpPr>
          <a:xfrm>
            <a:off x="457200" y="1143000"/>
            <a:ext cx="3905400" cy="1524000"/>
            <a:chOff x="457200" y="1143000"/>
            <a:chExt cx="3905400" cy="1524000"/>
          </a:xfrm>
        </p:grpSpPr>
        <p:sp>
          <p:nvSpPr>
            <p:cNvPr id="306" name="Google Shape;306;g396d4a5dad6_5_326"/>
            <p:cNvSpPr/>
            <p:nvPr/>
          </p:nvSpPr>
          <p:spPr>
            <a:xfrm>
              <a:off x="457200" y="1143000"/>
              <a:ext cx="39054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g396d4a5dad6_5_326"/>
            <p:cNvSpPr/>
            <p:nvPr/>
          </p:nvSpPr>
          <p:spPr>
            <a:xfrm>
              <a:off x="457200" y="1143000"/>
              <a:ext cx="39054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g396d4a5dad6_5_326"/>
            <p:cNvSpPr txBox="1"/>
            <p:nvPr/>
          </p:nvSpPr>
          <p:spPr>
            <a:xfrm>
              <a:off x="552450" y="1143000"/>
              <a:ext cx="3714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CN" sz="1200">
                  <a:solidFill>
                    <a:srgbClr val="FFFFFF"/>
                  </a:solidFill>
                  <a:latin typeface="Verdana"/>
                  <a:ea typeface="Verdana"/>
                  <a:cs typeface="Verdana"/>
                  <a:sym typeface="Verdana"/>
                </a:rPr>
                <a:t>Core Concept</a:t>
              </a:r>
              <a:endParaRPr b="1" sz="1200">
                <a:solidFill>
                  <a:srgbClr val="FFFFFF"/>
                </a:solidFill>
                <a:latin typeface="Verdana"/>
                <a:ea typeface="Verdana"/>
                <a:cs typeface="Verdana"/>
                <a:sym typeface="Verdana"/>
              </a:endParaRPr>
            </a:p>
          </p:txBody>
        </p:sp>
        <p:sp>
          <p:nvSpPr>
            <p:cNvPr id="309" name="Google Shape;309;g396d4a5dad6_5_326"/>
            <p:cNvSpPr txBox="1"/>
            <p:nvPr/>
          </p:nvSpPr>
          <p:spPr>
            <a:xfrm>
              <a:off x="647700" y="1619250"/>
              <a:ext cx="3524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CN">
                  <a:latin typeface="Verdana"/>
                  <a:ea typeface="Verdana"/>
                  <a:cs typeface="Verdana"/>
                  <a:sym typeface="Verdana"/>
                </a:rPr>
                <a:t>Core Concept: An Ensemble Learning method that constructs a multitude of decision trees during training and outputs the majority vote.</a:t>
              </a:r>
              <a:endParaRPr b="0" sz="1400">
                <a:solidFill>
                  <a:srgbClr val="000000"/>
                </a:solidFill>
                <a:latin typeface="Verdana"/>
                <a:ea typeface="Verdana"/>
                <a:cs typeface="Verdana"/>
                <a:sym typeface="Verdana"/>
              </a:endParaRPr>
            </a:p>
          </p:txBody>
        </p:sp>
      </p:grpSp>
      <p:grpSp>
        <p:nvGrpSpPr>
          <p:cNvPr id="310" name="Google Shape;310;g396d4a5dad6_5_326"/>
          <p:cNvGrpSpPr/>
          <p:nvPr/>
        </p:nvGrpSpPr>
        <p:grpSpPr>
          <a:xfrm>
            <a:off x="457200" y="2857500"/>
            <a:ext cx="8229600" cy="1524000"/>
            <a:chOff x="457200" y="2857500"/>
            <a:chExt cx="8229600" cy="1524000"/>
          </a:xfrm>
        </p:grpSpPr>
        <p:sp>
          <p:nvSpPr>
            <p:cNvPr id="311" name="Google Shape;311;g396d4a5dad6_5_326"/>
            <p:cNvSpPr/>
            <p:nvPr/>
          </p:nvSpPr>
          <p:spPr>
            <a:xfrm>
              <a:off x="457200" y="2857500"/>
              <a:ext cx="82296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g396d4a5dad6_5_326"/>
            <p:cNvSpPr/>
            <p:nvPr/>
          </p:nvSpPr>
          <p:spPr>
            <a:xfrm>
              <a:off x="457200" y="2857500"/>
              <a:ext cx="82296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g396d4a5dad6_5_326"/>
            <p:cNvSpPr txBox="1"/>
            <p:nvPr/>
          </p:nvSpPr>
          <p:spPr>
            <a:xfrm>
              <a:off x="552450" y="2857500"/>
              <a:ext cx="8039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CN" sz="1200">
                  <a:solidFill>
                    <a:srgbClr val="FFFFFF"/>
                  </a:solidFill>
                  <a:latin typeface="Verdana"/>
                  <a:ea typeface="Verdana"/>
                  <a:cs typeface="Verdana"/>
                  <a:sym typeface="Verdana"/>
                </a:rPr>
                <a:t>Key </a:t>
              </a:r>
              <a:r>
                <a:rPr b="1" lang="zh-CN" sz="1200">
                  <a:solidFill>
                    <a:srgbClr val="FFFFFF"/>
                  </a:solidFill>
                  <a:latin typeface="Verdana"/>
                  <a:ea typeface="Verdana"/>
                  <a:cs typeface="Verdana"/>
                  <a:sym typeface="Verdana"/>
                </a:rPr>
                <a:t>Points</a:t>
              </a:r>
              <a:endParaRPr b="1" sz="1200">
                <a:solidFill>
                  <a:srgbClr val="FFFFFF"/>
                </a:solidFill>
                <a:latin typeface="Verdana"/>
                <a:ea typeface="Verdana"/>
                <a:cs typeface="Verdana"/>
                <a:sym typeface="Verdana"/>
              </a:endParaRPr>
            </a:p>
          </p:txBody>
        </p:sp>
        <p:sp>
          <p:nvSpPr>
            <p:cNvPr id="314" name="Google Shape;314;g396d4a5dad6_5_326"/>
            <p:cNvSpPr txBox="1"/>
            <p:nvPr/>
          </p:nvSpPr>
          <p:spPr>
            <a:xfrm>
              <a:off x="742950" y="3333750"/>
              <a:ext cx="3619500" cy="952500"/>
            </a:xfrm>
            <a:prstGeom prst="rect">
              <a:avLst/>
            </a:prstGeom>
            <a:noFill/>
            <a:ln>
              <a:noFill/>
            </a:ln>
          </p:spPr>
          <p:txBody>
            <a:bodyPr anchorCtr="0" anchor="ctr" bIns="0" lIns="0" spcFirstLastPara="1" rIns="0" wrap="square" tIns="0">
              <a:noAutofit/>
            </a:bodyPr>
            <a:lstStyle/>
            <a:p>
              <a:pPr indent="-336550" lvl="0" marL="457200" rtl="0" algn="l">
                <a:spcBef>
                  <a:spcPts val="0"/>
                </a:spcBef>
                <a:spcAft>
                  <a:spcPts val="750"/>
                </a:spcAft>
                <a:buClr>
                  <a:srgbClr val="000000"/>
                </a:buClr>
                <a:buSzPts val="1700"/>
                <a:buFont typeface="Verdana"/>
                <a:buChar char="●"/>
              </a:pPr>
              <a:r>
                <a:rPr b="1" lang="zh-CN">
                  <a:solidFill>
                    <a:schemeClr val="dk1"/>
                  </a:solidFill>
                </a:rPr>
                <a:t>Diversity over Depth:</a:t>
              </a:r>
              <a:r>
                <a:rPr lang="zh-CN">
                  <a:solidFill>
                    <a:schemeClr val="dk1"/>
                  </a:solidFill>
                </a:rPr>
                <a:t> By combining many 'weak' trees, the forest becomes a 'strong' learner.</a:t>
              </a:r>
              <a:endParaRPr b="0" sz="1700">
                <a:solidFill>
                  <a:srgbClr val="000000"/>
                </a:solidFill>
                <a:latin typeface="Verdana"/>
                <a:ea typeface="Verdana"/>
                <a:cs typeface="Verdana"/>
                <a:sym typeface="Verdana"/>
              </a:endParaRPr>
            </a:p>
          </p:txBody>
        </p:sp>
        <p:sp>
          <p:nvSpPr>
            <p:cNvPr id="315" name="Google Shape;315;g396d4a5dad6_5_326"/>
            <p:cNvSpPr txBox="1"/>
            <p:nvPr/>
          </p:nvSpPr>
          <p:spPr>
            <a:xfrm>
              <a:off x="4743450" y="3333750"/>
              <a:ext cx="3619500" cy="952500"/>
            </a:xfrm>
            <a:prstGeom prst="rect">
              <a:avLst/>
            </a:prstGeom>
            <a:noFill/>
            <a:ln>
              <a:noFill/>
            </a:ln>
          </p:spPr>
          <p:txBody>
            <a:bodyPr anchorCtr="0" anchor="ctr" bIns="0" lIns="0" spcFirstLastPara="1" rIns="0" wrap="square" tIns="0">
              <a:noAutofit/>
            </a:bodyPr>
            <a:lstStyle/>
            <a:p>
              <a:pPr indent="-336550" lvl="0" marL="457200" rtl="0" algn="l">
                <a:spcBef>
                  <a:spcPts val="0"/>
                </a:spcBef>
                <a:spcAft>
                  <a:spcPts val="750"/>
                </a:spcAft>
                <a:buClr>
                  <a:srgbClr val="000000"/>
                </a:buClr>
                <a:buSzPts val="1700"/>
                <a:buFont typeface="Verdana"/>
                <a:buChar char="●"/>
              </a:pPr>
              <a:r>
                <a:rPr b="1" lang="zh-CN">
                  <a:solidFill>
                    <a:schemeClr val="dk1"/>
                  </a:solidFill>
                </a:rPr>
                <a:t>Feature Importance:</a:t>
              </a:r>
              <a:r>
                <a:rPr lang="zh-CN">
                  <a:solidFill>
                    <a:schemeClr val="dk1"/>
                  </a:solidFill>
                </a:rPr>
                <a:t> RF can automatically rank which network features (e.g., protocol type vs. duration) are most useful for detection.</a:t>
              </a:r>
              <a:endParaRPr b="0" sz="1700">
                <a:solidFill>
                  <a:srgbClr val="000000"/>
                </a:solidFill>
                <a:latin typeface="Verdana"/>
                <a:ea typeface="Verdana"/>
                <a:cs typeface="Verdana"/>
                <a:sym typeface="Verdana"/>
              </a:endParaRPr>
            </a:p>
          </p:txBody>
        </p:sp>
      </p:grpSp>
      <p:pic>
        <p:nvPicPr>
          <p:cNvPr id="316" name="Google Shape;316;g396d4a5dad6_5_326"/>
          <p:cNvPicPr preferRelativeResize="0"/>
          <p:nvPr/>
        </p:nvPicPr>
        <p:blipFill>
          <a:blip r:embed="rId3">
            <a:alphaModFix/>
          </a:blip>
          <a:stretch>
            <a:fillRect/>
          </a:stretch>
        </p:blipFill>
        <p:spPr>
          <a:xfrm>
            <a:off x="4693675" y="1015925"/>
            <a:ext cx="3378350" cy="1689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8"/>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400"/>
              <a:buNone/>
            </a:pPr>
            <a:r>
              <a:rPr lang="zh-CN"/>
              <a:t>Random Forest</a:t>
            </a:r>
            <a:endParaRPr/>
          </a:p>
        </p:txBody>
      </p:sp>
      <p:sp>
        <p:nvSpPr>
          <p:cNvPr id="323" name="Google Shape;323;p18"/>
          <p:cNvSpPr txBox="1"/>
          <p:nvPr>
            <p:ph idx="12" type="sldNum"/>
          </p:nvPr>
        </p:nvSpPr>
        <p:spPr>
          <a:xfrm>
            <a:off x="1" y="4790748"/>
            <a:ext cx="457200" cy="29565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zh-CN"/>
              <a:t>‹#›</a:t>
            </a:fld>
            <a:endParaRPr/>
          </a:p>
        </p:txBody>
      </p:sp>
      <p:pic>
        <p:nvPicPr>
          <p:cNvPr id="324" name="Google Shape;324;p18"/>
          <p:cNvPicPr preferRelativeResize="0"/>
          <p:nvPr/>
        </p:nvPicPr>
        <p:blipFill rotWithShape="1">
          <a:blip r:embed="rId3">
            <a:alphaModFix/>
          </a:blip>
          <a:srcRect b="0" l="0" r="0" t="0"/>
          <a:stretch/>
        </p:blipFill>
        <p:spPr>
          <a:xfrm>
            <a:off x="0" y="1591808"/>
            <a:ext cx="4591443" cy="2295731"/>
          </a:xfrm>
          <a:prstGeom prst="rect">
            <a:avLst/>
          </a:prstGeom>
          <a:noFill/>
          <a:ln>
            <a:noFill/>
          </a:ln>
        </p:spPr>
      </p:pic>
      <p:pic>
        <p:nvPicPr>
          <p:cNvPr id="325" name="Google Shape;325;p18"/>
          <p:cNvPicPr preferRelativeResize="0"/>
          <p:nvPr/>
        </p:nvPicPr>
        <p:blipFill rotWithShape="1">
          <a:blip r:embed="rId4">
            <a:alphaModFix/>
          </a:blip>
          <a:srcRect b="0" l="0" r="0" t="0"/>
          <a:stretch/>
        </p:blipFill>
        <p:spPr>
          <a:xfrm>
            <a:off x="4591444" y="1664766"/>
            <a:ext cx="4552556" cy="214980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96d4a5dad6_5_346"/>
          <p:cNvSpPr txBox="1"/>
          <p:nvPr>
            <p:ph type="title"/>
          </p:nvPr>
        </p:nvSpPr>
        <p:spPr>
          <a:xfrm>
            <a:off x="457200" y="263525"/>
            <a:ext cx="8229600" cy="6000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zh-CN">
                <a:latin typeface="Verdana"/>
                <a:ea typeface="Verdana"/>
                <a:cs typeface="Verdana"/>
                <a:sym typeface="Verdana"/>
              </a:rPr>
              <a:t>CNN</a:t>
            </a:r>
            <a:r>
              <a:rPr lang="zh-CN">
                <a:latin typeface="Verdana"/>
                <a:ea typeface="Verdana"/>
                <a:cs typeface="Verdana"/>
                <a:sym typeface="Verdana"/>
              </a:rPr>
              <a:t> Fundamentals</a:t>
            </a:r>
            <a:endParaRPr/>
          </a:p>
        </p:txBody>
      </p:sp>
      <p:grpSp>
        <p:nvGrpSpPr>
          <p:cNvPr id="331" name="Google Shape;331;g396d4a5dad6_5_346"/>
          <p:cNvGrpSpPr/>
          <p:nvPr/>
        </p:nvGrpSpPr>
        <p:grpSpPr>
          <a:xfrm>
            <a:off x="457200" y="1143000"/>
            <a:ext cx="3905400" cy="1524000"/>
            <a:chOff x="457200" y="1143000"/>
            <a:chExt cx="3905400" cy="1524000"/>
          </a:xfrm>
        </p:grpSpPr>
        <p:sp>
          <p:nvSpPr>
            <p:cNvPr id="332" name="Google Shape;332;g396d4a5dad6_5_346"/>
            <p:cNvSpPr/>
            <p:nvPr/>
          </p:nvSpPr>
          <p:spPr>
            <a:xfrm>
              <a:off x="457200" y="1143000"/>
              <a:ext cx="39054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g396d4a5dad6_5_346"/>
            <p:cNvSpPr/>
            <p:nvPr/>
          </p:nvSpPr>
          <p:spPr>
            <a:xfrm>
              <a:off x="457200" y="1143000"/>
              <a:ext cx="39054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g396d4a5dad6_5_346"/>
            <p:cNvSpPr txBox="1"/>
            <p:nvPr/>
          </p:nvSpPr>
          <p:spPr>
            <a:xfrm>
              <a:off x="552450" y="1143000"/>
              <a:ext cx="3714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CN" sz="1200">
                  <a:solidFill>
                    <a:srgbClr val="FFFFFF"/>
                  </a:solidFill>
                  <a:latin typeface="Verdana"/>
                  <a:ea typeface="Verdana"/>
                  <a:cs typeface="Verdana"/>
                  <a:sym typeface="Verdana"/>
                </a:rPr>
                <a:t>Core Concept</a:t>
              </a:r>
              <a:endParaRPr b="1" sz="1200">
                <a:solidFill>
                  <a:srgbClr val="FFFFFF"/>
                </a:solidFill>
                <a:latin typeface="Verdana"/>
                <a:ea typeface="Verdana"/>
                <a:cs typeface="Verdana"/>
                <a:sym typeface="Verdana"/>
              </a:endParaRPr>
            </a:p>
          </p:txBody>
        </p:sp>
        <p:sp>
          <p:nvSpPr>
            <p:cNvPr id="335" name="Google Shape;335;g396d4a5dad6_5_346"/>
            <p:cNvSpPr txBox="1"/>
            <p:nvPr/>
          </p:nvSpPr>
          <p:spPr>
            <a:xfrm>
              <a:off x="647700" y="1619250"/>
              <a:ext cx="3524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CN" sz="1500">
                  <a:solidFill>
                    <a:schemeClr val="dk1"/>
                  </a:solidFill>
                </a:rPr>
                <a:t>A Deep Learning architecture that uses </a:t>
              </a:r>
              <a:r>
                <a:rPr b="1" lang="zh-CN" sz="1500">
                  <a:solidFill>
                    <a:schemeClr val="dk1"/>
                  </a:solidFill>
                </a:rPr>
                <a:t>Filters (Kernels)</a:t>
              </a:r>
              <a:r>
                <a:rPr lang="zh-CN" sz="1500">
                  <a:solidFill>
                    <a:schemeClr val="dk1"/>
                  </a:solidFill>
                </a:rPr>
                <a:t> to automatically extract spatial or temporal patterns from data.</a:t>
              </a:r>
              <a:endParaRPr b="0" sz="1800">
                <a:solidFill>
                  <a:srgbClr val="000000"/>
                </a:solidFill>
                <a:latin typeface="Verdana"/>
                <a:ea typeface="Verdana"/>
                <a:cs typeface="Verdana"/>
                <a:sym typeface="Verdana"/>
              </a:endParaRPr>
            </a:p>
          </p:txBody>
        </p:sp>
      </p:grpSp>
      <p:grpSp>
        <p:nvGrpSpPr>
          <p:cNvPr id="336" name="Google Shape;336;g396d4a5dad6_5_346"/>
          <p:cNvGrpSpPr/>
          <p:nvPr/>
        </p:nvGrpSpPr>
        <p:grpSpPr>
          <a:xfrm>
            <a:off x="457200" y="2857500"/>
            <a:ext cx="8229600" cy="1524000"/>
            <a:chOff x="457200" y="2857500"/>
            <a:chExt cx="8229600" cy="1524000"/>
          </a:xfrm>
        </p:grpSpPr>
        <p:sp>
          <p:nvSpPr>
            <p:cNvPr id="337" name="Google Shape;337;g396d4a5dad6_5_346"/>
            <p:cNvSpPr/>
            <p:nvPr/>
          </p:nvSpPr>
          <p:spPr>
            <a:xfrm>
              <a:off x="457200" y="2857500"/>
              <a:ext cx="8229600" cy="1524000"/>
            </a:xfrm>
            <a:prstGeom prst="roundRect">
              <a:avLst>
                <a:gd fmla="val 5000" name="adj"/>
              </a:avLst>
            </a:prstGeom>
            <a:solidFill>
              <a:srgbClr val="F8F9FA"/>
            </a:solidFill>
            <a:ln cap="flat" cmpd="sng" w="9525">
              <a:solidFill>
                <a:srgbClr val="E0E0E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g396d4a5dad6_5_346"/>
            <p:cNvSpPr/>
            <p:nvPr/>
          </p:nvSpPr>
          <p:spPr>
            <a:xfrm>
              <a:off x="457200" y="2857500"/>
              <a:ext cx="8229600" cy="381000"/>
            </a:xfrm>
            <a:prstGeom prst="roundRect">
              <a:avLst>
                <a:gd fmla="val 20000" name="adj"/>
              </a:avLst>
            </a:prstGeom>
            <a:solidFill>
              <a:srgbClr val="BA0C2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g396d4a5dad6_5_346"/>
            <p:cNvSpPr txBox="1"/>
            <p:nvPr/>
          </p:nvSpPr>
          <p:spPr>
            <a:xfrm>
              <a:off x="552450" y="2857500"/>
              <a:ext cx="8039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zh-CN" sz="1200">
                  <a:solidFill>
                    <a:srgbClr val="FFFFFF"/>
                  </a:solidFill>
                  <a:latin typeface="Verdana"/>
                  <a:ea typeface="Verdana"/>
                  <a:cs typeface="Verdana"/>
                  <a:sym typeface="Verdana"/>
                </a:rPr>
                <a:t>Key </a:t>
              </a:r>
              <a:r>
                <a:rPr b="1" lang="zh-CN" sz="1200">
                  <a:solidFill>
                    <a:srgbClr val="FFFFFF"/>
                  </a:solidFill>
                  <a:latin typeface="Verdana"/>
                  <a:ea typeface="Verdana"/>
                  <a:cs typeface="Verdana"/>
                  <a:sym typeface="Verdana"/>
                </a:rPr>
                <a:t>Points</a:t>
              </a:r>
              <a:endParaRPr b="1" sz="1200">
                <a:solidFill>
                  <a:srgbClr val="FFFFFF"/>
                </a:solidFill>
                <a:latin typeface="Verdana"/>
                <a:ea typeface="Verdana"/>
                <a:cs typeface="Verdana"/>
                <a:sym typeface="Verdana"/>
              </a:endParaRPr>
            </a:p>
          </p:txBody>
        </p:sp>
        <p:sp>
          <p:nvSpPr>
            <p:cNvPr id="340" name="Google Shape;340;g396d4a5dad6_5_346"/>
            <p:cNvSpPr txBox="1"/>
            <p:nvPr/>
          </p:nvSpPr>
          <p:spPr>
            <a:xfrm>
              <a:off x="742950" y="3333750"/>
              <a:ext cx="7502100" cy="952500"/>
            </a:xfrm>
            <a:prstGeom prst="rect">
              <a:avLst/>
            </a:prstGeom>
            <a:noFill/>
            <a:ln>
              <a:noFill/>
            </a:ln>
          </p:spPr>
          <p:txBody>
            <a:bodyPr anchorCtr="0" anchor="ctr" bIns="0" lIns="0" spcFirstLastPara="1" rIns="0" wrap="square" tIns="0">
              <a:noAutofit/>
            </a:bodyPr>
            <a:lstStyle/>
            <a:p>
              <a:pPr indent="-342900" lvl="0" marL="457200" rtl="0" algn="l">
                <a:spcBef>
                  <a:spcPts val="0"/>
                </a:spcBef>
                <a:spcAft>
                  <a:spcPts val="750"/>
                </a:spcAft>
                <a:buClr>
                  <a:srgbClr val="000000"/>
                </a:buClr>
                <a:buSzPts val="1800"/>
                <a:buFont typeface="Verdana"/>
                <a:buChar char="●"/>
              </a:pPr>
              <a:r>
                <a:rPr b="1" lang="zh-CN" sz="1500">
                  <a:solidFill>
                    <a:schemeClr val="dk1"/>
                  </a:solidFill>
                </a:rPr>
                <a:t>Feature Learning:</a:t>
              </a:r>
              <a:r>
                <a:rPr lang="zh-CN" sz="1500">
                  <a:solidFill>
                    <a:schemeClr val="dk1"/>
                  </a:solidFill>
                </a:rPr>
                <a:t> No manual feature engineering required; the model learns to identify 'malicious shapes' in traffic.</a:t>
              </a:r>
              <a:endParaRPr b="0" sz="1800">
                <a:solidFill>
                  <a:srgbClr val="000000"/>
                </a:solidFill>
                <a:latin typeface="Verdana"/>
                <a:ea typeface="Verdana"/>
                <a:cs typeface="Verdana"/>
                <a:sym typeface="Verdana"/>
              </a:endParaRPr>
            </a:p>
          </p:txBody>
        </p:sp>
      </p:grpSp>
      <p:pic>
        <p:nvPicPr>
          <p:cNvPr id="341" name="Google Shape;341;g396d4a5dad6_5_346"/>
          <p:cNvPicPr preferRelativeResize="0"/>
          <p:nvPr/>
        </p:nvPicPr>
        <p:blipFill>
          <a:blip r:embed="rId3">
            <a:alphaModFix/>
          </a:blip>
          <a:stretch>
            <a:fillRect/>
          </a:stretch>
        </p:blipFill>
        <p:spPr>
          <a:xfrm>
            <a:off x="4439175" y="1098513"/>
            <a:ext cx="4536831" cy="1524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9"/>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400"/>
              <a:buNone/>
            </a:pPr>
            <a:r>
              <a:rPr lang="zh-CN"/>
              <a:t>CNN</a:t>
            </a:r>
            <a:endParaRPr/>
          </a:p>
        </p:txBody>
      </p:sp>
      <p:sp>
        <p:nvSpPr>
          <p:cNvPr id="348" name="Google Shape;348;p19"/>
          <p:cNvSpPr txBox="1"/>
          <p:nvPr>
            <p:ph idx="12" type="sldNum"/>
          </p:nvPr>
        </p:nvSpPr>
        <p:spPr>
          <a:xfrm>
            <a:off x="1" y="4790748"/>
            <a:ext cx="457200" cy="29565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rgbClr val="000000"/>
              </a:buClr>
              <a:buSzPts val="900"/>
              <a:buFont typeface="Arial"/>
              <a:buNone/>
            </a:pPr>
            <a:fld id="{00000000-1234-1234-1234-123412341234}" type="slidenum">
              <a:rPr lang="zh-CN"/>
              <a:t>‹#›</a:t>
            </a:fld>
            <a:endParaRPr/>
          </a:p>
        </p:txBody>
      </p:sp>
      <p:pic>
        <p:nvPicPr>
          <p:cNvPr id="349" name="Google Shape;349;p19"/>
          <p:cNvPicPr preferRelativeResize="0"/>
          <p:nvPr/>
        </p:nvPicPr>
        <p:blipFill rotWithShape="1">
          <a:blip r:embed="rId3">
            <a:alphaModFix/>
          </a:blip>
          <a:srcRect b="0" l="0" r="0" t="0"/>
          <a:stretch/>
        </p:blipFill>
        <p:spPr>
          <a:xfrm>
            <a:off x="831066" y="1016081"/>
            <a:ext cx="7481868" cy="373625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96d4a5dad6_5_164"/>
          <p:cNvSpPr txBox="1"/>
          <p:nvPr>
            <p:ph type="ctrTitle"/>
          </p:nvPr>
        </p:nvSpPr>
        <p:spPr>
          <a:xfrm>
            <a:off x="306600" y="1879197"/>
            <a:ext cx="10029600" cy="13851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3000"/>
              <a:buFont typeface="Verdana"/>
              <a:buNone/>
            </a:pPr>
            <a:br>
              <a:rPr lang="zh-CN"/>
            </a:br>
            <a:br>
              <a:rPr lang="zh-CN"/>
            </a:br>
            <a:br>
              <a:rPr lang="zh-CN"/>
            </a:br>
            <a:br>
              <a:rPr lang="zh-CN"/>
            </a:br>
            <a:br>
              <a:rPr lang="zh-CN"/>
            </a:br>
            <a:r>
              <a:rPr lang="zh-CN">
                <a:solidFill>
                  <a:srgbClr val="000000"/>
                </a:solidFill>
                <a:latin typeface="Helvetica Neue"/>
                <a:ea typeface="Helvetica Neue"/>
                <a:cs typeface="Helvetica Neue"/>
                <a:sym typeface="Helvetica Neue"/>
              </a:rPr>
              <a:t>AI-Assisted </a:t>
            </a:r>
            <a:r>
              <a:rPr lang="zh-CN"/>
              <a:t>Code Vulnerability Detection</a:t>
            </a:r>
            <a:br>
              <a:rPr lang="zh-CN"/>
            </a:br>
            <a:endParaRPr/>
          </a:p>
        </p:txBody>
      </p:sp>
      <p:sp>
        <p:nvSpPr>
          <p:cNvPr id="355" name="Google Shape;355;g396d4a5dad6_5_164"/>
          <p:cNvSpPr txBox="1"/>
          <p:nvPr/>
        </p:nvSpPr>
        <p:spPr>
          <a:xfrm>
            <a:off x="306600" y="3600450"/>
            <a:ext cx="6733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zh-CN" sz="1800" u="none" cap="none" strike="noStrike">
                <a:solidFill>
                  <a:schemeClr val="dk1"/>
                </a:solidFill>
                <a:latin typeface="Verdana"/>
                <a:ea typeface="Verdana"/>
                <a:cs typeface="Verdana"/>
                <a:sym typeface="Verdana"/>
              </a:rPr>
              <a:t>Haowen Xu</a:t>
            </a:r>
            <a:endParaRPr b="0" i="0" sz="1800" u="none" cap="none" strike="noStrike">
              <a:solidFill>
                <a:schemeClr val="dk1"/>
              </a:solidFill>
              <a:latin typeface="Verdana"/>
              <a:ea typeface="Verdana"/>
              <a:cs typeface="Verdana"/>
              <a:sym typeface="Verdan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96d4a5dad6_5_169"/>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362" name="Google Shape;362;g396d4a5dad6_5_169"/>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What are the Vulnerable Codes？</a:t>
            </a:r>
            <a:endParaRPr/>
          </a:p>
        </p:txBody>
      </p:sp>
      <p:pic>
        <p:nvPicPr>
          <p:cNvPr id="363" name="Google Shape;363;g396d4a5dad6_5_169"/>
          <p:cNvPicPr preferRelativeResize="0"/>
          <p:nvPr/>
        </p:nvPicPr>
        <p:blipFill rotWithShape="1">
          <a:blip r:embed="rId3">
            <a:alphaModFix/>
          </a:blip>
          <a:srcRect b="0" l="0" r="0" t="0"/>
          <a:stretch/>
        </p:blipFill>
        <p:spPr>
          <a:xfrm>
            <a:off x="457200" y="1235675"/>
            <a:ext cx="4154496" cy="1447629"/>
          </a:xfrm>
          <a:prstGeom prst="rect">
            <a:avLst/>
          </a:prstGeom>
          <a:noFill/>
          <a:ln>
            <a:noFill/>
          </a:ln>
        </p:spPr>
      </p:pic>
      <p:sp>
        <p:nvSpPr>
          <p:cNvPr id="364" name="Google Shape;364;g396d4a5dad6_5_169"/>
          <p:cNvSpPr txBox="1"/>
          <p:nvPr/>
        </p:nvSpPr>
        <p:spPr>
          <a:xfrm>
            <a:off x="457200" y="3055375"/>
            <a:ext cx="7624200" cy="954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Arial"/>
              <a:buChar char="•"/>
            </a:pPr>
            <a:r>
              <a:rPr b="0" i="0" lang="zh-CN" sz="1400" u="none" cap="none" strike="noStrike">
                <a:solidFill>
                  <a:schemeClr val="dk1"/>
                </a:solidFill>
                <a:latin typeface="Arial"/>
                <a:ea typeface="Arial"/>
                <a:cs typeface="Arial"/>
                <a:sym typeface="Arial"/>
              </a:rPr>
              <a:t>gets() does not check input length.</a:t>
            </a:r>
            <a:endParaRPr/>
          </a:p>
          <a:p>
            <a:pPr indent="-285750" lvl="0" marL="285750" marR="0" rtl="0" algn="l">
              <a:lnSpc>
                <a:spcPct val="150000"/>
              </a:lnSpc>
              <a:spcBef>
                <a:spcPts val="0"/>
              </a:spcBef>
              <a:spcAft>
                <a:spcPts val="0"/>
              </a:spcAft>
              <a:buClr>
                <a:srgbClr val="000000"/>
              </a:buClr>
              <a:buSzPts val="1400"/>
              <a:buFont typeface="Arial"/>
              <a:buChar char="•"/>
            </a:pPr>
            <a:r>
              <a:rPr b="0" i="0" lang="zh-CN" sz="1400" u="none" cap="none" strike="noStrike">
                <a:solidFill>
                  <a:schemeClr val="dk1"/>
                </a:solidFill>
                <a:latin typeface="Arial"/>
                <a:ea typeface="Arial"/>
                <a:cs typeface="Arial"/>
                <a:sym typeface="Arial"/>
              </a:rPr>
              <a:t>If the input is longer than the buffer, it can overwrite memory.</a:t>
            </a:r>
            <a:endParaRPr/>
          </a:p>
          <a:p>
            <a:pPr indent="-285750" lvl="0" marL="285750" marR="0" rtl="0" algn="l">
              <a:lnSpc>
                <a:spcPct val="150000"/>
              </a:lnSpc>
              <a:spcBef>
                <a:spcPts val="0"/>
              </a:spcBef>
              <a:spcAft>
                <a:spcPts val="0"/>
              </a:spcAft>
              <a:buClr>
                <a:srgbClr val="000000"/>
              </a:buClr>
              <a:buSzPts val="1400"/>
              <a:buFont typeface="Arial"/>
              <a:buChar char="•"/>
            </a:pPr>
            <a:r>
              <a:rPr b="0" i="0" lang="zh-CN" sz="1400" u="none" cap="none" strike="noStrike">
                <a:solidFill>
                  <a:schemeClr val="dk1"/>
                </a:solidFill>
                <a:latin typeface="Arial"/>
                <a:ea typeface="Arial"/>
                <a:cs typeface="Arial"/>
                <a:sym typeface="Arial"/>
              </a:rPr>
              <a:t>This is a classic example of unsafe memory handling in C.</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96d4a5dad6_5_177"/>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371" name="Google Shape;371;g396d4a5dad6_5_177"/>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What are the Vulnerable Codes？</a:t>
            </a:r>
            <a:endParaRPr/>
          </a:p>
        </p:txBody>
      </p:sp>
      <p:pic>
        <p:nvPicPr>
          <p:cNvPr id="372" name="Google Shape;372;g396d4a5dad6_5_177"/>
          <p:cNvPicPr preferRelativeResize="0"/>
          <p:nvPr/>
        </p:nvPicPr>
        <p:blipFill rotWithShape="1">
          <a:blip r:embed="rId3">
            <a:alphaModFix/>
          </a:blip>
          <a:srcRect b="0" l="0" r="0" t="0"/>
          <a:stretch/>
        </p:blipFill>
        <p:spPr>
          <a:xfrm>
            <a:off x="457200" y="1336674"/>
            <a:ext cx="6502400" cy="495300"/>
          </a:xfrm>
          <a:prstGeom prst="rect">
            <a:avLst/>
          </a:prstGeom>
          <a:noFill/>
          <a:ln>
            <a:noFill/>
          </a:ln>
        </p:spPr>
      </p:pic>
      <p:sp>
        <p:nvSpPr>
          <p:cNvPr id="373" name="Google Shape;373;g396d4a5dad6_5_177"/>
          <p:cNvSpPr txBox="1"/>
          <p:nvPr/>
        </p:nvSpPr>
        <p:spPr>
          <a:xfrm>
            <a:off x="457200" y="2305050"/>
            <a:ext cx="7853400" cy="954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Arial"/>
              <a:buChar char="•"/>
            </a:pPr>
            <a:r>
              <a:rPr b="0" i="0" lang="zh-CN" sz="1400" u="none" cap="none" strike="noStrike">
                <a:solidFill>
                  <a:schemeClr val="dk1"/>
                </a:solidFill>
                <a:latin typeface="Arial"/>
                <a:ea typeface="Arial"/>
                <a:cs typeface="Arial"/>
                <a:sym typeface="Arial"/>
              </a:rPr>
              <a:t>User input is directly concatenated into the SQL query.</a:t>
            </a:r>
            <a:endParaRPr/>
          </a:p>
          <a:p>
            <a:pPr indent="-285750" lvl="0" marL="285750" marR="0" rtl="0" algn="l">
              <a:lnSpc>
                <a:spcPct val="150000"/>
              </a:lnSpc>
              <a:spcBef>
                <a:spcPts val="0"/>
              </a:spcBef>
              <a:spcAft>
                <a:spcPts val="0"/>
              </a:spcAft>
              <a:buClr>
                <a:srgbClr val="000000"/>
              </a:buClr>
              <a:buSzPts val="1400"/>
              <a:buFont typeface="Arial"/>
              <a:buChar char="•"/>
            </a:pPr>
            <a:r>
              <a:rPr b="0" i="0" lang="zh-CN" sz="1400" u="none" cap="none" strike="noStrike">
                <a:solidFill>
                  <a:schemeClr val="dk1"/>
                </a:solidFill>
                <a:latin typeface="Arial"/>
                <a:ea typeface="Arial"/>
                <a:cs typeface="Arial"/>
                <a:sym typeface="Arial"/>
              </a:rPr>
              <a:t>An attacker may change the meaning of the query by injecting SQL syntax.</a:t>
            </a:r>
            <a:endParaRPr/>
          </a:p>
          <a:p>
            <a:pPr indent="-285750" lvl="0" marL="285750" marR="0" rtl="0" algn="l">
              <a:lnSpc>
                <a:spcPct val="150000"/>
              </a:lnSpc>
              <a:spcBef>
                <a:spcPts val="0"/>
              </a:spcBef>
              <a:spcAft>
                <a:spcPts val="0"/>
              </a:spcAft>
              <a:buClr>
                <a:srgbClr val="000000"/>
              </a:buClr>
              <a:buSzPts val="1400"/>
              <a:buFont typeface="Arial"/>
              <a:buChar char="•"/>
            </a:pPr>
            <a:r>
              <a:rPr b="0" i="0" lang="zh-CN" sz="1400" u="none" cap="none" strike="noStrike">
                <a:solidFill>
                  <a:schemeClr val="dk1"/>
                </a:solidFill>
                <a:latin typeface="Arial"/>
                <a:ea typeface="Arial"/>
                <a:cs typeface="Arial"/>
                <a:sym typeface="Arial"/>
              </a:rPr>
              <a:t>The safer approach is parameterized queries.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396d4a5dad6_5_185"/>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380" name="Google Shape;380;g396d4a5dad6_5_185"/>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What are the Vulnerable Codes？</a:t>
            </a:r>
            <a:endParaRPr/>
          </a:p>
        </p:txBody>
      </p:sp>
      <p:pic>
        <p:nvPicPr>
          <p:cNvPr id="381" name="Google Shape;381;g396d4a5dad6_5_185"/>
          <p:cNvPicPr preferRelativeResize="0"/>
          <p:nvPr/>
        </p:nvPicPr>
        <p:blipFill rotWithShape="1">
          <a:blip r:embed="rId3">
            <a:alphaModFix/>
          </a:blip>
          <a:srcRect b="0" l="0" r="0" t="0"/>
          <a:stretch/>
        </p:blipFill>
        <p:spPr>
          <a:xfrm>
            <a:off x="457200" y="1226974"/>
            <a:ext cx="5308600" cy="1600200"/>
          </a:xfrm>
          <a:prstGeom prst="rect">
            <a:avLst/>
          </a:prstGeom>
          <a:noFill/>
          <a:ln>
            <a:noFill/>
          </a:ln>
        </p:spPr>
      </p:pic>
      <p:sp>
        <p:nvSpPr>
          <p:cNvPr id="382" name="Google Shape;382;g396d4a5dad6_5_185"/>
          <p:cNvSpPr txBox="1"/>
          <p:nvPr/>
        </p:nvSpPr>
        <p:spPr>
          <a:xfrm>
            <a:off x="457200" y="3283050"/>
            <a:ext cx="8229600" cy="954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Arial"/>
              <a:buChar char="•"/>
            </a:pPr>
            <a:r>
              <a:rPr b="0" i="0" lang="zh-CN" sz="1400" u="none" cap="none" strike="noStrike">
                <a:solidFill>
                  <a:schemeClr val="dk1"/>
                </a:solidFill>
                <a:latin typeface="Arial"/>
                <a:ea typeface="Arial"/>
                <a:cs typeface="Arial"/>
                <a:sym typeface="Arial"/>
              </a:rPr>
              <a:t>User input is inserted directly into a shell command.</a:t>
            </a:r>
            <a:endParaRPr/>
          </a:p>
          <a:p>
            <a:pPr indent="-285750" lvl="0" marL="285750" marR="0" rtl="0" algn="l">
              <a:lnSpc>
                <a:spcPct val="150000"/>
              </a:lnSpc>
              <a:spcBef>
                <a:spcPts val="0"/>
              </a:spcBef>
              <a:spcAft>
                <a:spcPts val="0"/>
              </a:spcAft>
              <a:buClr>
                <a:srgbClr val="000000"/>
              </a:buClr>
              <a:buSzPts val="1400"/>
              <a:buFont typeface="Arial"/>
              <a:buChar char="•"/>
            </a:pPr>
            <a:r>
              <a:rPr b="0" i="0" lang="zh-CN" sz="1400" u="none" cap="none" strike="noStrike">
                <a:solidFill>
                  <a:schemeClr val="dk1"/>
                </a:solidFill>
                <a:latin typeface="Arial"/>
                <a:ea typeface="Arial"/>
                <a:cs typeface="Arial"/>
                <a:sym typeface="Arial"/>
              </a:rPr>
              <a:t>If the input contains command separators or extra shell syntax, unintended commands may run.</a:t>
            </a:r>
            <a:endParaRPr/>
          </a:p>
          <a:p>
            <a:pPr indent="-285750" lvl="0" marL="285750" marR="0" rtl="0" algn="l">
              <a:lnSpc>
                <a:spcPct val="150000"/>
              </a:lnSpc>
              <a:spcBef>
                <a:spcPts val="0"/>
              </a:spcBef>
              <a:spcAft>
                <a:spcPts val="0"/>
              </a:spcAft>
              <a:buClr>
                <a:srgbClr val="000000"/>
              </a:buClr>
              <a:buSzPts val="1400"/>
              <a:buFont typeface="Arial"/>
              <a:buChar char="•"/>
            </a:pPr>
            <a:r>
              <a:rPr b="0" i="0" lang="zh-CN" sz="1400" u="none" cap="none" strike="noStrike">
                <a:solidFill>
                  <a:schemeClr val="dk1"/>
                </a:solidFill>
                <a:latin typeface="Arial"/>
                <a:ea typeface="Arial"/>
                <a:cs typeface="Arial"/>
                <a:sym typeface="Arial"/>
              </a:rPr>
              <a:t>This is an example of command injection risk.</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96d4a5dad6_5_193"/>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389" name="Google Shape;389;g396d4a5dad6_5_193"/>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Why do we need Vulnerability Detection</a:t>
            </a:r>
            <a:endParaRPr/>
          </a:p>
        </p:txBody>
      </p:sp>
      <p:sp>
        <p:nvSpPr>
          <p:cNvPr id="390" name="Google Shape;390;g396d4a5dad6_5_193"/>
          <p:cNvSpPr txBox="1"/>
          <p:nvPr/>
        </p:nvSpPr>
        <p:spPr>
          <a:xfrm>
            <a:off x="3727800" y="1134369"/>
            <a:ext cx="5416200" cy="15777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Georgia"/>
                <a:ea typeface="Georgia"/>
                <a:cs typeface="Georgia"/>
                <a:sym typeface="Georgia"/>
              </a:rPr>
              <a:t>Software vulnerabilities are a major cause of security breaches</a:t>
            </a:r>
            <a:endParaRPr b="0" i="0" sz="1400" u="none" cap="none" strike="noStrike">
              <a:solidFill>
                <a:srgbClr val="000000"/>
              </a:solidFill>
              <a:latin typeface="Georgia"/>
              <a:ea typeface="Georgia"/>
              <a:cs typeface="Georgia"/>
              <a:sym typeface="Georgia"/>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Georgia"/>
                <a:ea typeface="Georgia"/>
                <a:cs typeface="Georgia"/>
                <a:sym typeface="Georgia"/>
              </a:rPr>
              <a:t>Manual code review is time-consuming and error-prone</a:t>
            </a:r>
            <a:endParaRPr b="0" i="0" sz="1400" u="none" cap="none" strike="noStrike">
              <a:solidFill>
                <a:srgbClr val="000000"/>
              </a:solidFill>
              <a:latin typeface="Georgia"/>
              <a:ea typeface="Georgia"/>
              <a:cs typeface="Georgia"/>
              <a:sym typeface="Georgia"/>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Georgia"/>
                <a:ea typeface="Georgia"/>
                <a:cs typeface="Georgia"/>
                <a:sym typeface="Georgia"/>
              </a:rPr>
              <a:t>Rule-based static analysis tools have limited coverage</a:t>
            </a:r>
            <a:endParaRPr b="0" i="0" sz="1400" u="none" cap="none" strike="noStrike">
              <a:solidFill>
                <a:srgbClr val="000000"/>
              </a:solidFill>
              <a:latin typeface="Georgia"/>
              <a:ea typeface="Georgia"/>
              <a:cs typeface="Georgia"/>
              <a:sym typeface="Georgia"/>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Georgia"/>
                <a:ea typeface="Georgia"/>
                <a:cs typeface="Georgia"/>
                <a:sym typeface="Georgia"/>
              </a:rPr>
              <a:t>New vulnerabilities appear faster than rules can be written</a:t>
            </a:r>
            <a:endParaRPr b="0" i="0" sz="1400" u="none" cap="none" strike="noStrike">
              <a:solidFill>
                <a:srgbClr val="000000"/>
              </a:solidFill>
              <a:latin typeface="Georgia"/>
              <a:ea typeface="Georgia"/>
              <a:cs typeface="Georgia"/>
              <a:sym typeface="Georgia"/>
            </a:endParaRPr>
          </a:p>
          <a:p>
            <a:pPr indent="-215900" lvl="0" marL="215900" marR="0" rtl="0" algn="l">
              <a:lnSpc>
                <a:spcPct val="150000"/>
              </a:lnSpc>
              <a:spcBef>
                <a:spcPts val="0"/>
              </a:spcBef>
              <a:spcAft>
                <a:spcPts val="0"/>
              </a:spcAft>
              <a:buClr>
                <a:srgbClr val="000000"/>
              </a:buClr>
              <a:buSzPts val="1400"/>
              <a:buFont typeface="Arial"/>
              <a:buChar char="•"/>
            </a:pPr>
            <a:r>
              <a:rPr b="1" i="0" lang="zh-CN" sz="1400" u="sng" cap="none" strike="noStrike">
                <a:solidFill>
                  <a:srgbClr val="000000"/>
                </a:solidFill>
                <a:latin typeface="Georgia"/>
                <a:ea typeface="Georgia"/>
                <a:cs typeface="Georgia"/>
                <a:sym typeface="Georgia"/>
              </a:rPr>
              <a:t>AI can help prioritize risky code for human review</a:t>
            </a:r>
            <a:endParaRPr/>
          </a:p>
        </p:txBody>
      </p:sp>
      <p:pic>
        <p:nvPicPr>
          <p:cNvPr descr="code vulnerabilities assessment illustration" id="391" name="Google Shape;391;g396d4a5dad6_5_193"/>
          <p:cNvPicPr preferRelativeResize="0"/>
          <p:nvPr/>
        </p:nvPicPr>
        <p:blipFill rotWithShape="1">
          <a:blip r:embed="rId3">
            <a:alphaModFix/>
          </a:blip>
          <a:srcRect b="0" l="0" r="0" t="0"/>
          <a:stretch/>
        </p:blipFill>
        <p:spPr>
          <a:xfrm>
            <a:off x="457200" y="1250706"/>
            <a:ext cx="2992581" cy="1633810"/>
          </a:xfrm>
          <a:prstGeom prst="rect">
            <a:avLst/>
          </a:prstGeom>
          <a:noFill/>
          <a:ln>
            <a:noFill/>
          </a:ln>
        </p:spPr>
      </p:pic>
      <p:sp>
        <p:nvSpPr>
          <p:cNvPr id="392" name="Google Shape;392;g396d4a5dad6_5_193"/>
          <p:cNvSpPr txBox="1"/>
          <p:nvPr/>
        </p:nvSpPr>
        <p:spPr>
          <a:xfrm>
            <a:off x="457200" y="3517572"/>
            <a:ext cx="4728300" cy="1000500"/>
          </a:xfrm>
          <a:prstGeom prst="rect">
            <a:avLst/>
          </a:prstGeom>
          <a:noFill/>
          <a:ln>
            <a:noFill/>
          </a:ln>
        </p:spPr>
        <p:txBody>
          <a:bodyPr anchorCtr="0" anchor="t" bIns="34275" lIns="68575" spcFirstLastPara="1" rIns="68575" wrap="square" tIns="34275">
            <a:spAutoFit/>
          </a:bodyPr>
          <a:lstStyle/>
          <a:p>
            <a:pPr indent="-254000" lvl="0" marL="254000" marR="0" rtl="0" algn="l">
              <a:lnSpc>
                <a:spcPct val="150000"/>
              </a:lnSpc>
              <a:spcBef>
                <a:spcPts val="0"/>
              </a:spcBef>
              <a:spcAft>
                <a:spcPts val="0"/>
              </a:spcAft>
              <a:buClr>
                <a:srgbClr val="000000"/>
              </a:buClr>
              <a:buSzPts val="1100"/>
              <a:buFont typeface="Arial"/>
              <a:buAutoNum type="arabicPeriod"/>
            </a:pPr>
            <a:r>
              <a:rPr b="1" i="0" lang="zh-CN" sz="1100" u="none" cap="none" strike="noStrike">
                <a:solidFill>
                  <a:srgbClr val="000000"/>
                </a:solidFill>
                <a:latin typeface="Arial"/>
                <a:ea typeface="Arial"/>
                <a:cs typeface="Arial"/>
                <a:sym typeface="Arial"/>
              </a:rPr>
              <a:t>Understand how AI detects code vulnerabilities</a:t>
            </a:r>
            <a:endParaRPr b="1" i="0" sz="1100" u="none" cap="none" strike="noStrike">
              <a:solidFill>
                <a:srgbClr val="000000"/>
              </a:solidFill>
              <a:latin typeface="Arial"/>
              <a:ea typeface="Arial"/>
              <a:cs typeface="Arial"/>
              <a:sym typeface="Arial"/>
            </a:endParaRPr>
          </a:p>
          <a:p>
            <a:pPr indent="-254000" lvl="0" marL="254000" marR="0" rtl="0" algn="l">
              <a:lnSpc>
                <a:spcPct val="150000"/>
              </a:lnSpc>
              <a:spcBef>
                <a:spcPts val="0"/>
              </a:spcBef>
              <a:spcAft>
                <a:spcPts val="0"/>
              </a:spcAft>
              <a:buClr>
                <a:srgbClr val="000000"/>
              </a:buClr>
              <a:buSzPts val="1100"/>
              <a:buFont typeface="Arial"/>
              <a:buAutoNum type="arabicPeriod"/>
            </a:pPr>
            <a:r>
              <a:rPr b="1" i="0" lang="zh-CN" sz="1100" u="none" cap="none" strike="noStrike">
                <a:solidFill>
                  <a:srgbClr val="000000"/>
                </a:solidFill>
                <a:latin typeface="Arial"/>
                <a:ea typeface="Arial"/>
                <a:cs typeface="Arial"/>
                <a:sym typeface="Arial"/>
              </a:rPr>
              <a:t>Run a vulnerability detection model</a:t>
            </a:r>
            <a:endParaRPr b="1" i="0" sz="1100" u="none" cap="none" strike="noStrike">
              <a:solidFill>
                <a:srgbClr val="000000"/>
              </a:solidFill>
              <a:latin typeface="Arial"/>
              <a:ea typeface="Arial"/>
              <a:cs typeface="Arial"/>
              <a:sym typeface="Arial"/>
            </a:endParaRPr>
          </a:p>
          <a:p>
            <a:pPr indent="-254000" lvl="0" marL="254000" marR="0" rtl="0" algn="l">
              <a:lnSpc>
                <a:spcPct val="150000"/>
              </a:lnSpc>
              <a:spcBef>
                <a:spcPts val="0"/>
              </a:spcBef>
              <a:spcAft>
                <a:spcPts val="0"/>
              </a:spcAft>
              <a:buClr>
                <a:srgbClr val="000000"/>
              </a:buClr>
              <a:buSzPts val="1100"/>
              <a:buFont typeface="Arial"/>
              <a:buAutoNum type="arabicPeriod"/>
            </a:pPr>
            <a:r>
              <a:rPr b="1" i="0" lang="zh-CN" sz="1100" u="none" cap="none" strike="noStrike">
                <a:solidFill>
                  <a:srgbClr val="000000"/>
                </a:solidFill>
                <a:latin typeface="Arial"/>
                <a:ea typeface="Arial"/>
                <a:cs typeface="Arial"/>
                <a:sym typeface="Arial"/>
              </a:rPr>
              <a:t>Analyze model predictions</a:t>
            </a:r>
            <a:endParaRPr b="1" i="0" sz="1100" u="none" cap="none" strike="noStrike">
              <a:solidFill>
                <a:srgbClr val="000000"/>
              </a:solidFill>
              <a:latin typeface="Arial"/>
              <a:ea typeface="Arial"/>
              <a:cs typeface="Arial"/>
              <a:sym typeface="Arial"/>
            </a:endParaRPr>
          </a:p>
          <a:p>
            <a:pPr indent="-254000" lvl="0" marL="254000" marR="0" rtl="0" algn="l">
              <a:lnSpc>
                <a:spcPct val="150000"/>
              </a:lnSpc>
              <a:spcBef>
                <a:spcPts val="0"/>
              </a:spcBef>
              <a:spcAft>
                <a:spcPts val="0"/>
              </a:spcAft>
              <a:buClr>
                <a:srgbClr val="000000"/>
              </a:buClr>
              <a:buSzPts val="1100"/>
              <a:buFont typeface="Arial"/>
              <a:buAutoNum type="arabicPeriod"/>
            </a:pPr>
            <a:r>
              <a:rPr b="1" i="0" lang="zh-CN" sz="1100" u="none" cap="none" strike="noStrike">
                <a:solidFill>
                  <a:srgbClr val="000000"/>
                </a:solidFill>
                <a:latin typeface="Arial"/>
                <a:ea typeface="Arial"/>
                <a:cs typeface="Arial"/>
                <a:sym typeface="Arial"/>
              </a:rPr>
              <a:t>Reflect on limitations of AI in security</a:t>
            </a:r>
            <a:endParaRPr b="1"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96d4a5dad6_5_202"/>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399" name="Google Shape;399;g396d4a5dad6_5_202"/>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Task Definition</a:t>
            </a:r>
            <a:endParaRPr/>
          </a:p>
        </p:txBody>
      </p:sp>
      <p:sp>
        <p:nvSpPr>
          <p:cNvPr id="400" name="Google Shape;400;g396d4a5dad6_5_202"/>
          <p:cNvSpPr txBox="1"/>
          <p:nvPr/>
        </p:nvSpPr>
        <p:spPr>
          <a:xfrm>
            <a:off x="457201" y="1040650"/>
            <a:ext cx="5919300" cy="13623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i="0" lang="zh-CN" sz="1200" u="none" cap="none" strike="noStrike">
                <a:solidFill>
                  <a:srgbClr val="000000"/>
                </a:solidFill>
                <a:latin typeface="Arial"/>
                <a:ea typeface="Arial"/>
                <a:cs typeface="Arial"/>
                <a:sym typeface="Arial"/>
              </a:rPr>
              <a:t>Input</a:t>
            </a:r>
            <a:r>
              <a:rPr b="0" i="0" lang="zh-CN" sz="1200" u="none" cap="none" strike="noStrike">
                <a:solidFill>
                  <a:srgbClr val="000000"/>
                </a:solidFill>
                <a:latin typeface="Arial"/>
                <a:ea typeface="Arial"/>
                <a:cs typeface="Arial"/>
                <a:sym typeface="Arial"/>
              </a:rPr>
              <a:t>:             A function-level code representation</a:t>
            </a:r>
            <a:endParaRPr b="0" i="0" sz="12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1" i="0" lang="zh-CN" sz="1200" u="none" cap="none" strike="noStrike">
                <a:solidFill>
                  <a:srgbClr val="000000"/>
                </a:solidFill>
                <a:latin typeface="Arial"/>
                <a:ea typeface="Arial"/>
                <a:cs typeface="Arial"/>
                <a:sym typeface="Arial"/>
              </a:rPr>
              <a:t>Output</a:t>
            </a:r>
            <a:r>
              <a:rPr b="0" i="0" lang="zh-CN" sz="1200" u="none" cap="none" strike="noStrike">
                <a:solidFill>
                  <a:srgbClr val="000000"/>
                </a:solidFill>
                <a:latin typeface="Arial"/>
                <a:ea typeface="Arial"/>
                <a:cs typeface="Arial"/>
                <a:sym typeface="Arial"/>
              </a:rPr>
              <a:t>:          Vulnerable (1) or Non-vulnerable (0)</a:t>
            </a:r>
            <a:endParaRPr b="0" i="0" sz="12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1" i="0" lang="zh-CN" sz="1200" u="none" cap="none" strike="noStrike">
                <a:solidFill>
                  <a:srgbClr val="000000"/>
                </a:solidFill>
                <a:latin typeface="Arial"/>
                <a:ea typeface="Arial"/>
                <a:cs typeface="Arial"/>
                <a:sym typeface="Arial"/>
              </a:rPr>
              <a:t>Task Type</a:t>
            </a:r>
            <a:r>
              <a:rPr b="0" i="0" lang="zh-CN" sz="1200" u="none" cap="none" strike="noStrike">
                <a:solidFill>
                  <a:srgbClr val="000000"/>
                </a:solidFill>
                <a:latin typeface="Arial"/>
                <a:ea typeface="Arial"/>
                <a:cs typeface="Arial"/>
                <a:sym typeface="Arial"/>
              </a:rPr>
              <a:t>:    </a:t>
            </a:r>
            <a:r>
              <a:rPr lang="zh-CN" sz="1200"/>
              <a:t> </a:t>
            </a:r>
            <a:r>
              <a:rPr b="0" i="0" lang="zh-CN" sz="1200" u="none" cap="none" strike="noStrike">
                <a:solidFill>
                  <a:srgbClr val="000000"/>
                </a:solidFill>
                <a:latin typeface="Arial"/>
                <a:ea typeface="Arial"/>
                <a:cs typeface="Arial"/>
                <a:sym typeface="Arial"/>
              </a:rPr>
              <a:t>Binary classification</a:t>
            </a:r>
            <a:endParaRPr b="0" i="0" sz="12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1" i="0" lang="zh-CN" sz="1200" u="none" cap="none" strike="noStrike">
                <a:solidFill>
                  <a:srgbClr val="000000"/>
                </a:solidFill>
                <a:latin typeface="Arial"/>
                <a:ea typeface="Arial"/>
                <a:cs typeface="Arial"/>
                <a:sym typeface="Arial"/>
              </a:rPr>
              <a:t>Granularity</a:t>
            </a:r>
            <a:r>
              <a:rPr b="0" i="0" lang="zh-CN" sz="1200" u="none" cap="none" strike="noStrike">
                <a:solidFill>
                  <a:srgbClr val="000000"/>
                </a:solidFill>
                <a:latin typeface="Arial"/>
                <a:ea typeface="Arial"/>
                <a:cs typeface="Arial"/>
                <a:sym typeface="Arial"/>
              </a:rPr>
              <a:t>:   Function-level vulnerability detection</a:t>
            </a:r>
            <a:endParaRPr b="0" i="0" sz="12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1" i="0" lang="zh-CN" sz="1200" u="none" cap="none" strike="noStrike">
                <a:solidFill>
                  <a:srgbClr val="000000"/>
                </a:solidFill>
                <a:latin typeface="Arial"/>
                <a:ea typeface="Arial"/>
                <a:cs typeface="Arial"/>
                <a:sym typeface="Arial"/>
              </a:rPr>
              <a:t>Dataset</a:t>
            </a:r>
            <a:r>
              <a:rPr b="0" i="0" lang="zh-CN" sz="1200" u="none" cap="none" strike="noStrike">
                <a:solidFill>
                  <a:srgbClr val="000000"/>
                </a:solidFill>
                <a:latin typeface="Arial"/>
                <a:ea typeface="Arial"/>
                <a:cs typeface="Arial"/>
                <a:sym typeface="Arial"/>
              </a:rPr>
              <a:t>:         Real-World Vulnerability Data</a:t>
            </a:r>
            <a:endParaRPr b="0" i="0" sz="1200" u="none" cap="none" strike="noStrike">
              <a:solidFill>
                <a:srgbClr val="000000"/>
              </a:solidFill>
              <a:latin typeface="Arial"/>
              <a:ea typeface="Arial"/>
              <a:cs typeface="Arial"/>
              <a:sym typeface="Arial"/>
            </a:endParaRPr>
          </a:p>
        </p:txBody>
      </p:sp>
      <p:sp>
        <p:nvSpPr>
          <p:cNvPr id="401" name="Google Shape;401;g396d4a5dad6_5_202"/>
          <p:cNvSpPr txBox="1"/>
          <p:nvPr/>
        </p:nvSpPr>
        <p:spPr>
          <a:xfrm>
            <a:off x="4959347" y="1103775"/>
            <a:ext cx="3112200" cy="492600"/>
          </a:xfrm>
          <a:prstGeom prst="rect">
            <a:avLst/>
          </a:prstGeom>
          <a:noFill/>
          <a:ln>
            <a:noFill/>
          </a:ln>
        </p:spPr>
        <p:txBody>
          <a:bodyPr anchorCtr="0" anchor="t" bIns="34275" lIns="68575" spcFirstLastPara="1" rIns="68575" wrap="square" tIns="34275">
            <a:spAutoFit/>
          </a:bodyPr>
          <a:lstStyle/>
          <a:p>
            <a:pPr indent="-215900" lvl="0" marL="215900" marR="0" rtl="0" algn="l">
              <a:lnSpc>
                <a:spcPct val="150000"/>
              </a:lnSpc>
              <a:spcBef>
                <a:spcPts val="0"/>
              </a:spcBef>
              <a:spcAft>
                <a:spcPts val="0"/>
              </a:spcAft>
              <a:buClr>
                <a:srgbClr val="000000"/>
              </a:buClr>
              <a:buSzPts val="1100"/>
              <a:buFont typeface="Arial"/>
              <a:buChar char="-"/>
            </a:pPr>
            <a:r>
              <a:rPr b="0" i="0" lang="zh-CN" sz="1100" u="none" cap="none" strike="noStrike">
                <a:solidFill>
                  <a:srgbClr val="000000"/>
                </a:solidFill>
                <a:latin typeface="Arial"/>
                <a:ea typeface="Arial"/>
                <a:cs typeface="Arial"/>
                <a:sym typeface="Arial"/>
              </a:rPr>
              <a:t>Source</a:t>
            </a:r>
            <a:r>
              <a:rPr b="0" i="0" lang="zh-CN" sz="1100" u="none" cap="none" strike="noStrike">
                <a:solidFill>
                  <a:srgbClr val="383A42"/>
                </a:solidFill>
                <a:latin typeface="Arial"/>
                <a:ea typeface="Arial"/>
                <a:cs typeface="Arial"/>
                <a:sym typeface="Arial"/>
              </a:rPr>
              <a:t>:</a:t>
            </a:r>
            <a:r>
              <a:rPr b="0" i="0" lang="zh-CN" sz="1100" u="none" cap="none" strike="noStrike">
                <a:solidFill>
                  <a:srgbClr val="000000"/>
                </a:solidFill>
                <a:latin typeface="Arial"/>
                <a:ea typeface="Arial"/>
                <a:cs typeface="Arial"/>
                <a:sym typeface="Arial"/>
              </a:rPr>
              <a:t> CVE</a:t>
            </a:r>
            <a:r>
              <a:rPr b="0" i="0" lang="zh-CN" sz="1100" u="none" cap="none" strike="noStrike">
                <a:solidFill>
                  <a:srgbClr val="4078F2"/>
                </a:solidFill>
                <a:latin typeface="Arial"/>
                <a:ea typeface="Arial"/>
                <a:cs typeface="Arial"/>
                <a:sym typeface="Arial"/>
              </a:rPr>
              <a:t>-</a:t>
            </a:r>
            <a:r>
              <a:rPr b="0" i="0" lang="zh-CN" sz="1100" u="none" cap="none" strike="noStrike">
                <a:solidFill>
                  <a:srgbClr val="000000"/>
                </a:solidFill>
                <a:latin typeface="Arial"/>
                <a:ea typeface="Arial"/>
                <a:cs typeface="Arial"/>
                <a:sym typeface="Arial"/>
              </a:rPr>
              <a:t>based</a:t>
            </a:r>
            <a:r>
              <a:rPr b="0" i="0" lang="zh-CN" sz="1100" u="none" cap="none" strike="noStrike">
                <a:solidFill>
                  <a:srgbClr val="383A42"/>
                </a:solidFill>
                <a:latin typeface="Arial"/>
                <a:ea typeface="Arial"/>
                <a:cs typeface="Arial"/>
                <a:sym typeface="Arial"/>
              </a:rPr>
              <a:t>,</a:t>
            </a:r>
            <a:r>
              <a:rPr b="0" i="0" lang="zh-CN" sz="1100" u="none" cap="none" strike="noStrike">
                <a:solidFill>
                  <a:srgbClr val="000000"/>
                </a:solidFill>
                <a:latin typeface="Arial"/>
                <a:ea typeface="Arial"/>
                <a:cs typeface="Arial"/>
                <a:sym typeface="Arial"/>
              </a:rPr>
              <a:t> 150K</a:t>
            </a:r>
            <a:r>
              <a:rPr b="0" i="0" lang="zh-CN" sz="1100" u="none" cap="none" strike="noStrike">
                <a:solidFill>
                  <a:srgbClr val="4078F2"/>
                </a:solidFill>
                <a:latin typeface="Arial"/>
                <a:ea typeface="Arial"/>
                <a:cs typeface="Arial"/>
                <a:sym typeface="Arial"/>
              </a:rPr>
              <a:t>+</a:t>
            </a:r>
            <a:r>
              <a:rPr b="0" i="0" lang="zh-CN" sz="1100" u="none" cap="none" strike="noStrike">
                <a:solidFill>
                  <a:srgbClr val="000000"/>
                </a:solidFill>
                <a:latin typeface="Arial"/>
                <a:ea typeface="Arial"/>
                <a:cs typeface="Arial"/>
                <a:sym typeface="Arial"/>
              </a:rPr>
              <a:t> C functions </a:t>
            </a:r>
            <a:endParaRPr b="0" i="0" sz="1100" u="none" cap="none" strike="noStrike">
              <a:solidFill>
                <a:srgbClr val="000000"/>
              </a:solidFill>
              <a:latin typeface="Arial"/>
              <a:ea typeface="Arial"/>
              <a:cs typeface="Arial"/>
              <a:sym typeface="Arial"/>
            </a:endParaRPr>
          </a:p>
          <a:p>
            <a:pPr indent="-215900" lvl="0" marL="215900" marR="0" rtl="0" algn="l">
              <a:lnSpc>
                <a:spcPct val="150000"/>
              </a:lnSpc>
              <a:spcBef>
                <a:spcPts val="0"/>
              </a:spcBef>
              <a:spcAft>
                <a:spcPts val="0"/>
              </a:spcAft>
              <a:buClr>
                <a:srgbClr val="000000"/>
              </a:buClr>
              <a:buSzPts val="1100"/>
              <a:buFont typeface="Arial"/>
              <a:buChar char="-"/>
            </a:pPr>
            <a:r>
              <a:rPr b="0" i="0" lang="zh-CN" sz="1100" u="none" cap="none" strike="noStrike">
                <a:solidFill>
                  <a:srgbClr val="000000"/>
                </a:solidFill>
                <a:latin typeface="Arial"/>
                <a:ea typeface="Arial"/>
                <a:cs typeface="Arial"/>
                <a:sym typeface="Arial"/>
              </a:rPr>
              <a:t>Split</a:t>
            </a:r>
            <a:r>
              <a:rPr b="0" i="0" lang="zh-CN" sz="1100" u="none" cap="none" strike="noStrike">
                <a:solidFill>
                  <a:srgbClr val="383A42"/>
                </a:solidFill>
                <a:latin typeface="Arial"/>
                <a:ea typeface="Arial"/>
                <a:cs typeface="Arial"/>
                <a:sym typeface="Arial"/>
              </a:rPr>
              <a:t>:</a:t>
            </a:r>
            <a:r>
              <a:rPr b="0" i="0" lang="zh-CN" sz="1100" u="none" cap="none" strike="noStrike">
                <a:solidFill>
                  <a:srgbClr val="000000"/>
                </a:solidFill>
                <a:latin typeface="Arial"/>
                <a:ea typeface="Arial"/>
                <a:cs typeface="Arial"/>
                <a:sym typeface="Arial"/>
              </a:rPr>
              <a:t> </a:t>
            </a:r>
            <a:r>
              <a:rPr b="0" i="0" lang="zh-CN" sz="1100" u="none" cap="none" strike="noStrike">
                <a:solidFill>
                  <a:srgbClr val="B76B01"/>
                </a:solidFill>
                <a:latin typeface="Arial"/>
                <a:ea typeface="Arial"/>
                <a:cs typeface="Arial"/>
                <a:sym typeface="Arial"/>
              </a:rPr>
              <a:t>5.8</a:t>
            </a:r>
            <a:r>
              <a:rPr b="0" i="0" lang="zh-CN" sz="1100" u="none" cap="none" strike="noStrike">
                <a:solidFill>
                  <a:srgbClr val="4078F2"/>
                </a:solidFill>
                <a:latin typeface="Arial"/>
                <a:ea typeface="Arial"/>
                <a:cs typeface="Arial"/>
                <a:sym typeface="Arial"/>
              </a:rPr>
              <a:t>%</a:t>
            </a:r>
            <a:r>
              <a:rPr b="0" i="0" lang="zh-CN" sz="1100" u="none" cap="none" strike="noStrike">
                <a:solidFill>
                  <a:srgbClr val="000000"/>
                </a:solidFill>
                <a:latin typeface="Arial"/>
                <a:ea typeface="Arial"/>
                <a:cs typeface="Arial"/>
                <a:sym typeface="Arial"/>
              </a:rPr>
              <a:t> vulnerable</a:t>
            </a:r>
            <a:r>
              <a:rPr b="0" i="0" lang="zh-CN" sz="1100" u="none" cap="none" strike="noStrike">
                <a:solidFill>
                  <a:srgbClr val="383A42"/>
                </a:solidFill>
                <a:latin typeface="Arial"/>
                <a:ea typeface="Arial"/>
                <a:cs typeface="Arial"/>
                <a:sym typeface="Arial"/>
              </a:rPr>
              <a:t>,</a:t>
            </a:r>
            <a:r>
              <a:rPr b="0" i="0" lang="zh-CN" sz="1100" u="none" cap="none" strike="noStrike">
                <a:solidFill>
                  <a:srgbClr val="000000"/>
                </a:solidFill>
                <a:latin typeface="Arial"/>
                <a:ea typeface="Arial"/>
                <a:cs typeface="Arial"/>
                <a:sym typeface="Arial"/>
              </a:rPr>
              <a:t> </a:t>
            </a:r>
            <a:r>
              <a:rPr b="0" i="0" lang="zh-CN" sz="1100" u="none" cap="none" strike="noStrike">
                <a:solidFill>
                  <a:srgbClr val="B76B01"/>
                </a:solidFill>
                <a:latin typeface="Arial"/>
                <a:ea typeface="Arial"/>
                <a:cs typeface="Arial"/>
                <a:sym typeface="Arial"/>
              </a:rPr>
              <a:t>94.2</a:t>
            </a:r>
            <a:r>
              <a:rPr b="0" i="0" lang="zh-CN" sz="1100" u="none" cap="none" strike="noStrike">
                <a:solidFill>
                  <a:srgbClr val="4078F2"/>
                </a:solidFill>
                <a:latin typeface="Arial"/>
                <a:ea typeface="Arial"/>
                <a:cs typeface="Arial"/>
                <a:sym typeface="Arial"/>
              </a:rPr>
              <a:t>%</a:t>
            </a:r>
            <a:r>
              <a:rPr b="0" i="0" lang="zh-CN" sz="1100" u="none" cap="none" strike="noStrike">
                <a:solidFill>
                  <a:srgbClr val="000000"/>
                </a:solidFill>
                <a:latin typeface="Arial"/>
                <a:ea typeface="Arial"/>
                <a:cs typeface="Arial"/>
                <a:sym typeface="Arial"/>
              </a:rPr>
              <a:t> safe</a:t>
            </a:r>
            <a:endParaRPr b="0" i="0" sz="1100" u="none" cap="none" strike="noStrike">
              <a:solidFill>
                <a:srgbClr val="000000"/>
              </a:solidFill>
              <a:latin typeface="Arial"/>
              <a:ea typeface="Arial"/>
              <a:cs typeface="Arial"/>
              <a:sym typeface="Arial"/>
            </a:endParaRPr>
          </a:p>
        </p:txBody>
      </p:sp>
      <p:graphicFrame>
        <p:nvGraphicFramePr>
          <p:cNvPr id="402" name="Google Shape;402;g396d4a5dad6_5_202"/>
          <p:cNvGraphicFramePr/>
          <p:nvPr/>
        </p:nvGraphicFramePr>
        <p:xfrm>
          <a:off x="369893" y="2687662"/>
          <a:ext cx="3000000" cy="3000000"/>
        </p:xfrm>
        <a:graphic>
          <a:graphicData uri="http://schemas.openxmlformats.org/drawingml/2006/table">
            <a:tbl>
              <a:tblPr>
                <a:noFill/>
                <a:tableStyleId>{F368FC2B-AFB1-4F07-8A4D-405918A23FD0}</a:tableStyleId>
              </a:tblPr>
              <a:tblGrid>
                <a:gridCol w="1018650"/>
                <a:gridCol w="1454075"/>
                <a:gridCol w="2899100"/>
                <a:gridCol w="1756075"/>
                <a:gridCol w="1429800"/>
              </a:tblGrid>
              <a:tr h="133350">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Term</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Meaning (Chinese)</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What It Is</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Example</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Purpose</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3350">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CVE ID</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Vulnerability Identifier</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A unique identifier for a specific vulnerability</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CVE-2014-0160</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Track and reference a specific vulnerability</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3350">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CWE ID</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Vulnerability Type</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A classification of vulnerability types</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CWE-119 (Buffer Overflow)</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Identify the category of a vulnerability</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3350">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CVSS Score</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Severity Score</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A numerical score (0–10) indicating severity</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9.8 (Critical)</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Prioritize vulnerability remediation</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33350">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Commit Info</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Commit Information</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Git commit record that fixes the vulnerability</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a3f5c8d…</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Trace code changes across versions</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88600">
                <a:tc>
                  <a:txBody>
                    <a:bodyPr/>
                    <a:lstStyle/>
                    <a:p>
                      <a:pPr indent="0" lvl="0" marL="0" marR="0" rtl="0" algn="l">
                        <a:lnSpc>
                          <a:spcPct val="100000"/>
                        </a:lnSpc>
                        <a:spcBef>
                          <a:spcPts val="0"/>
                        </a:spcBef>
                        <a:spcAft>
                          <a:spcPts val="0"/>
                        </a:spcAft>
                        <a:buClr>
                          <a:srgbClr val="000000"/>
                        </a:buClr>
                        <a:buSzPts val="1100"/>
                        <a:buFont typeface="Arial"/>
                        <a:buNone/>
                      </a:pPr>
                      <a:r>
                        <a:rPr b="1" lang="zh-CN" sz="1000" u="none" cap="none" strike="noStrike"/>
                        <a:t>Patch Details</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Patch Details</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Specific code modifications in the fix</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strcpy → strncpy</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zh-CN" sz="1000" u="none" cap="none" strike="noStrike"/>
                        <a:t>Understand how the vulnerability was fixed</a:t>
                      </a:r>
                      <a:endParaRPr sz="1000" u="none" cap="none" strike="noStrike"/>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96d4a5dad6_5_211"/>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409" name="Google Shape;409;g396d4a5dad6_5_211"/>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Code Representation</a:t>
            </a:r>
            <a:endParaRPr/>
          </a:p>
        </p:txBody>
      </p:sp>
      <p:sp>
        <p:nvSpPr>
          <p:cNvPr id="410" name="Google Shape;410;g396d4a5dad6_5_211"/>
          <p:cNvSpPr txBox="1"/>
          <p:nvPr/>
        </p:nvSpPr>
        <p:spPr>
          <a:xfrm>
            <a:off x="457200" y="1095703"/>
            <a:ext cx="5416200" cy="3000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500"/>
              <a:buFont typeface="Arial"/>
              <a:buNone/>
            </a:pPr>
            <a:r>
              <a:rPr b="1" i="0" lang="zh-CN" sz="1500" u="none" cap="none" strike="noStrike">
                <a:solidFill>
                  <a:srgbClr val="000000"/>
                </a:solidFill>
                <a:latin typeface="Arial"/>
                <a:ea typeface="Arial"/>
                <a:cs typeface="Arial"/>
                <a:sym typeface="Arial"/>
              </a:rPr>
              <a:t>How Is Code Converted into AI Input?</a:t>
            </a:r>
            <a:endParaRPr b="1" i="0" sz="1500" u="none" cap="none" strike="noStrike">
              <a:solidFill>
                <a:srgbClr val="000000"/>
              </a:solidFill>
              <a:latin typeface="Arial"/>
              <a:ea typeface="Arial"/>
              <a:cs typeface="Arial"/>
              <a:sym typeface="Arial"/>
            </a:endParaRPr>
          </a:p>
        </p:txBody>
      </p:sp>
      <p:sp>
        <p:nvSpPr>
          <p:cNvPr id="411" name="Google Shape;411;g396d4a5dad6_5_211"/>
          <p:cNvSpPr txBox="1"/>
          <p:nvPr/>
        </p:nvSpPr>
        <p:spPr>
          <a:xfrm>
            <a:off x="544463" y="1486738"/>
            <a:ext cx="6381000" cy="8619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1" i="0" lang="zh-CN" sz="1400" u="none" cap="none" strike="noStrike">
                <a:solidFill>
                  <a:srgbClr val="000000"/>
                </a:solidFill>
              </a:rPr>
              <a:t>1. Tokenization </a:t>
            </a:r>
            <a:endParaRPr b="1" i="0" sz="1400" u="none" cap="none" strike="noStrike">
              <a:solidFill>
                <a:srgbClr val="000000"/>
              </a:solidFill>
            </a:endParaRPr>
          </a:p>
          <a:p>
            <a:pPr indent="0" lvl="0" marL="0" marR="0" rtl="0" algn="l">
              <a:lnSpc>
                <a:spcPct val="150000"/>
              </a:lnSpc>
              <a:spcBef>
                <a:spcPts val="0"/>
              </a:spcBef>
              <a:spcAft>
                <a:spcPts val="0"/>
              </a:spcAft>
              <a:buNone/>
            </a:pPr>
            <a:r>
              <a:rPr b="0" i="0" lang="zh-CN" sz="1100" u="none" cap="none" strike="noStrike">
                <a:solidFill>
                  <a:srgbClr val="000000"/>
                </a:solidFill>
                <a:latin typeface="Arial"/>
                <a:ea typeface="Arial"/>
                <a:cs typeface="Arial"/>
                <a:sym typeface="Arial"/>
              </a:rPr>
              <a:t>   • Use C</a:t>
            </a:r>
            <a:r>
              <a:rPr lang="zh-CN" sz="1100"/>
              <a:t>-</a:t>
            </a:r>
            <a:r>
              <a:rPr b="0" i="0" lang="zh-CN" sz="1100" u="none" cap="none" strike="noStrike">
                <a:solidFill>
                  <a:srgbClr val="000000"/>
                </a:solidFill>
                <a:latin typeface="Arial"/>
                <a:ea typeface="Arial"/>
                <a:cs typeface="Arial"/>
                <a:sym typeface="Arial"/>
              </a:rPr>
              <a:t>Lexer to parse C code into tokens</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0" i="0" lang="zh-CN" sz="1100" u="none" cap="none" strike="noStrike">
                <a:solidFill>
                  <a:srgbClr val="000000"/>
                </a:solidFill>
                <a:latin typeface="Arial"/>
                <a:ea typeface="Arial"/>
                <a:cs typeface="Arial"/>
                <a:sym typeface="Arial"/>
              </a:rPr>
              <a:t>   • Remove comments &amp; string literals</a:t>
            </a:r>
            <a:r>
              <a:rPr b="0" i="0" lang="zh-C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12" name="Google Shape;412;g396d4a5dad6_5_211"/>
          <p:cNvSpPr txBox="1"/>
          <p:nvPr/>
        </p:nvSpPr>
        <p:spPr>
          <a:xfrm>
            <a:off x="4999129" y="1410647"/>
            <a:ext cx="4575600" cy="10698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rPr>
              <a:t>3. Sequence Encoding </a:t>
            </a:r>
            <a:endParaRPr b="1" i="0" sz="1400" u="none" cap="none" strike="noStrike">
              <a:solidFill>
                <a:srgbClr val="000000"/>
              </a:solidFill>
            </a:endParaRPr>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Token → Integer IDs</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Fixed length: 300 (padding/truncating)</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Embedding: ID → 128-dim dense vectors</a:t>
            </a:r>
            <a:endParaRPr b="0" i="0" sz="1100" u="none" cap="none" strike="noStrike">
              <a:solidFill>
                <a:srgbClr val="000000"/>
              </a:solidFill>
              <a:latin typeface="Arial"/>
              <a:ea typeface="Arial"/>
              <a:cs typeface="Arial"/>
              <a:sym typeface="Arial"/>
            </a:endParaRPr>
          </a:p>
        </p:txBody>
      </p:sp>
      <p:sp>
        <p:nvSpPr>
          <p:cNvPr id="413" name="Google Shape;413;g396d4a5dad6_5_211"/>
          <p:cNvSpPr txBox="1"/>
          <p:nvPr/>
        </p:nvSpPr>
        <p:spPr>
          <a:xfrm>
            <a:off x="4999133" y="2768209"/>
            <a:ext cx="4788300" cy="838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rPr>
              <a:t>4. Representation Level</a:t>
            </a:r>
            <a:endParaRPr b="1"/>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Function-level granularity</a:t>
            </a:r>
            <a:endParaRPr sz="1100"/>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Sequential structure preserved</a:t>
            </a:r>
            <a:endParaRPr sz="1100"/>
          </a:p>
        </p:txBody>
      </p:sp>
      <p:sp>
        <p:nvSpPr>
          <p:cNvPr id="414" name="Google Shape;414;g396d4a5dad6_5_211"/>
          <p:cNvSpPr txBox="1"/>
          <p:nvPr/>
        </p:nvSpPr>
        <p:spPr>
          <a:xfrm>
            <a:off x="544475" y="2722000"/>
            <a:ext cx="3891900" cy="931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zh-CN">
                <a:solidFill>
                  <a:schemeClr val="dk1"/>
                </a:solidFill>
              </a:rPr>
              <a:t>2. Vocabulary Building </a:t>
            </a:r>
            <a:endParaRPr b="1">
              <a:solidFill>
                <a:schemeClr val="dk1"/>
              </a:solidFill>
            </a:endParaRPr>
          </a:p>
          <a:p>
            <a:pPr indent="0" lvl="0" marL="0" rtl="0" algn="l">
              <a:lnSpc>
                <a:spcPct val="150000"/>
              </a:lnSpc>
              <a:spcBef>
                <a:spcPts val="0"/>
              </a:spcBef>
              <a:spcAft>
                <a:spcPts val="0"/>
              </a:spcAft>
              <a:buNone/>
            </a:pPr>
            <a:r>
              <a:rPr lang="zh-CN" sz="1100">
                <a:solidFill>
                  <a:schemeClr val="dk1"/>
                </a:solidFill>
              </a:rPr>
              <a:t>  • </a:t>
            </a:r>
            <a:r>
              <a:rPr lang="zh-CN" sz="1100">
                <a:solidFill>
                  <a:schemeClr val="dk1"/>
                </a:solidFill>
              </a:rPr>
              <a:t>161,622 unique tokens</a:t>
            </a:r>
            <a:endParaRPr sz="1100">
              <a:solidFill>
                <a:schemeClr val="dk1"/>
              </a:solidFill>
            </a:endParaRPr>
          </a:p>
          <a:p>
            <a:pPr indent="0" lvl="0" marL="0" rtl="0" algn="l">
              <a:lnSpc>
                <a:spcPct val="150000"/>
              </a:lnSpc>
              <a:spcBef>
                <a:spcPts val="0"/>
              </a:spcBef>
              <a:spcAft>
                <a:spcPts val="0"/>
              </a:spcAft>
              <a:buNone/>
            </a:pPr>
            <a:r>
              <a:rPr lang="zh-CN" sz="1100">
                <a:solidFill>
                  <a:schemeClr val="dk1"/>
                </a:solidFill>
              </a:rPr>
              <a:t>  • </a:t>
            </a:r>
            <a:r>
              <a:rPr lang="zh-CN" sz="1100">
                <a:solidFill>
                  <a:schemeClr val="dk1"/>
                </a:solidFill>
              </a:rPr>
              <a:t>Filter low-frequency tokens (min_freq=5)</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96d4a5dad6_5_221"/>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421" name="Google Shape;421;g396d4a5dad6_5_221"/>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Model Architecture</a:t>
            </a:r>
            <a:endParaRPr/>
          </a:p>
        </p:txBody>
      </p:sp>
      <p:sp>
        <p:nvSpPr>
          <p:cNvPr id="422" name="Google Shape;422;g396d4a5dad6_5_221"/>
          <p:cNvSpPr txBox="1"/>
          <p:nvPr/>
        </p:nvSpPr>
        <p:spPr>
          <a:xfrm>
            <a:off x="563145" y="1325172"/>
            <a:ext cx="6591900" cy="14391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rPr>
              <a:t>1. Why Sequence Models?</a:t>
            </a:r>
            <a:endParaRPr b="1" i="0" sz="1400" u="none" cap="none" strike="noStrike">
              <a:solidFill>
                <a:srgbClr val="000000"/>
              </a:solidFill>
            </a:endParaRPr>
          </a:p>
          <a:p>
            <a:pPr indent="0" lvl="0" marL="0" marR="0" rtl="0" algn="l">
              <a:lnSpc>
                <a:spcPct val="150000"/>
              </a:lnSpc>
              <a:spcBef>
                <a:spcPts val="0"/>
              </a:spcBef>
              <a:spcAft>
                <a:spcPts val="0"/>
              </a:spcAft>
              <a:buClr>
                <a:srgbClr val="000000"/>
              </a:buClr>
              <a:buSzPts val="1400"/>
              <a:buFont typeface="Arial"/>
              <a:buNone/>
            </a:pPr>
            <a:r>
              <a:rPr b="0" i="0" lang="zh-CN" sz="1400" u="none" cap="none" strike="noStrike">
                <a:solidFill>
                  <a:srgbClr val="000000"/>
                </a:solidFill>
                <a:latin typeface="Arial"/>
                <a:ea typeface="Arial"/>
                <a:cs typeface="Arial"/>
                <a:sym typeface="Arial"/>
              </a:rPr>
              <a:t> </a:t>
            </a:r>
            <a:r>
              <a:rPr b="0" i="0" lang="zh-CN" sz="1100" u="none" cap="none" strike="noStrike">
                <a:solidFill>
                  <a:srgbClr val="000000"/>
                </a:solidFill>
                <a:latin typeface="Arial"/>
                <a:ea typeface="Arial"/>
                <a:cs typeface="Arial"/>
                <a:sym typeface="Arial"/>
              </a:rPr>
              <a:t>  • Code has syntactic order (like natural language)</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Dependencies between statements</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Vulnerability patterns span multiple lines</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396d4a5dad6_5_221"/>
          <p:cNvSpPr txBox="1"/>
          <p:nvPr/>
        </p:nvSpPr>
        <p:spPr>
          <a:xfrm>
            <a:off x="4769780" y="1306004"/>
            <a:ext cx="4575600" cy="13698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rPr>
              <a:t>3. Why Attention? ⭐ </a:t>
            </a:r>
            <a:endParaRPr b="1" i="0" sz="1400" u="none" cap="none" strike="noStrike">
              <a:solidFill>
                <a:srgbClr val="000000"/>
              </a:solidFill>
            </a:endParaRPr>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Not all code tokens are equally important</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Focus on vulnerability-critical patterns</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zh-CN" sz="1100" u="none" cap="none" strike="noStrike">
                <a:solidFill>
                  <a:srgbClr val="000000"/>
                </a:solidFill>
                <a:latin typeface="Arial"/>
                <a:ea typeface="Arial"/>
                <a:cs typeface="Arial"/>
                <a:sym typeface="Arial"/>
              </a:rPr>
              <a:t>   • Automatically weight relevant tokens</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396d4a5dad6_5_221"/>
          <p:cNvSpPr txBox="1"/>
          <p:nvPr/>
        </p:nvSpPr>
        <p:spPr>
          <a:xfrm>
            <a:off x="4769775" y="2868225"/>
            <a:ext cx="4331400" cy="1185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zh-CN">
                <a:solidFill>
                  <a:schemeClr val="dk1"/>
                </a:solidFill>
              </a:rPr>
              <a:t>4. NLP Analogy</a:t>
            </a:r>
            <a:endParaRPr b="1">
              <a:solidFill>
                <a:schemeClr val="dk1"/>
              </a:solidFill>
            </a:endParaRPr>
          </a:p>
          <a:p>
            <a:pPr indent="0" lvl="0" marL="0" rtl="0" algn="l">
              <a:lnSpc>
                <a:spcPct val="150000"/>
              </a:lnSpc>
              <a:spcBef>
                <a:spcPts val="0"/>
              </a:spcBef>
              <a:spcAft>
                <a:spcPts val="0"/>
              </a:spcAft>
              <a:buNone/>
            </a:pPr>
            <a:r>
              <a:rPr lang="zh-CN" sz="1100">
                <a:solidFill>
                  <a:schemeClr val="dk1"/>
                </a:solidFill>
              </a:rPr>
              <a:t>   • Code = Structured language</a:t>
            </a:r>
            <a:endParaRPr sz="1100">
              <a:solidFill>
                <a:schemeClr val="dk1"/>
              </a:solidFill>
            </a:endParaRPr>
          </a:p>
          <a:p>
            <a:pPr indent="0" lvl="0" marL="0" rtl="0" algn="l">
              <a:lnSpc>
                <a:spcPct val="150000"/>
              </a:lnSpc>
              <a:spcBef>
                <a:spcPts val="0"/>
              </a:spcBef>
              <a:spcAft>
                <a:spcPts val="0"/>
              </a:spcAft>
              <a:buNone/>
            </a:pPr>
            <a:r>
              <a:rPr lang="zh-CN" sz="1100">
                <a:solidFill>
                  <a:schemeClr val="dk1"/>
                </a:solidFill>
              </a:rPr>
              <a:t>   • Tokens = Words</a:t>
            </a:r>
            <a:endParaRPr sz="1100">
              <a:solidFill>
                <a:schemeClr val="dk1"/>
              </a:solidFill>
            </a:endParaRPr>
          </a:p>
          <a:p>
            <a:pPr indent="0" lvl="0" marL="0" rtl="0" algn="l">
              <a:lnSpc>
                <a:spcPct val="150000"/>
              </a:lnSpc>
              <a:spcBef>
                <a:spcPts val="0"/>
              </a:spcBef>
              <a:spcAft>
                <a:spcPts val="0"/>
              </a:spcAft>
              <a:buNone/>
            </a:pPr>
            <a:r>
              <a:rPr lang="zh-CN" sz="1100">
                <a:solidFill>
                  <a:schemeClr val="dk1"/>
                </a:solidFill>
              </a:rPr>
              <a:t>   • Functions = Sentences/Paragraphs</a:t>
            </a:r>
            <a:endParaRPr sz="1100"/>
          </a:p>
        </p:txBody>
      </p:sp>
      <p:sp>
        <p:nvSpPr>
          <p:cNvPr id="425" name="Google Shape;425;g396d4a5dad6_5_221"/>
          <p:cNvSpPr txBox="1"/>
          <p:nvPr/>
        </p:nvSpPr>
        <p:spPr>
          <a:xfrm>
            <a:off x="563150" y="2833575"/>
            <a:ext cx="5538300" cy="1254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zh-CN">
                <a:solidFill>
                  <a:schemeClr val="dk1"/>
                </a:solidFill>
              </a:rPr>
              <a:t>2. Why Bi-LSTM?</a:t>
            </a:r>
            <a:endParaRPr b="1">
              <a:solidFill>
                <a:schemeClr val="dk1"/>
              </a:solidFill>
            </a:endParaRPr>
          </a:p>
          <a:p>
            <a:pPr indent="0" lvl="0" marL="0" rtl="0" algn="l">
              <a:lnSpc>
                <a:spcPct val="150000"/>
              </a:lnSpc>
              <a:spcBef>
                <a:spcPts val="0"/>
              </a:spcBef>
              <a:spcAft>
                <a:spcPts val="0"/>
              </a:spcAft>
              <a:buNone/>
            </a:pPr>
            <a:r>
              <a:rPr lang="zh-CN">
                <a:solidFill>
                  <a:schemeClr val="dk1"/>
                </a:solidFill>
              </a:rPr>
              <a:t> </a:t>
            </a:r>
            <a:r>
              <a:rPr lang="zh-CN" sz="1100">
                <a:solidFill>
                  <a:schemeClr val="dk1"/>
                </a:solidFill>
              </a:rPr>
              <a:t>  • Forward pass: understand what comes before</a:t>
            </a:r>
            <a:endParaRPr sz="1100">
              <a:solidFill>
                <a:schemeClr val="dk1"/>
              </a:solidFill>
            </a:endParaRPr>
          </a:p>
          <a:p>
            <a:pPr indent="0" lvl="0" marL="0" rtl="0" algn="l">
              <a:lnSpc>
                <a:spcPct val="150000"/>
              </a:lnSpc>
              <a:spcBef>
                <a:spcPts val="0"/>
              </a:spcBef>
              <a:spcAft>
                <a:spcPts val="0"/>
              </a:spcAft>
              <a:buNone/>
            </a:pPr>
            <a:r>
              <a:rPr lang="zh-CN" sz="1100">
                <a:solidFill>
                  <a:schemeClr val="dk1"/>
                </a:solidFill>
              </a:rPr>
              <a:t>   • Backward pass: understand what comes after</a:t>
            </a:r>
            <a:endParaRPr sz="1100">
              <a:solidFill>
                <a:schemeClr val="dk1"/>
              </a:solidFill>
            </a:endParaRPr>
          </a:p>
          <a:p>
            <a:pPr indent="0" lvl="0" marL="0" rtl="0" algn="l">
              <a:lnSpc>
                <a:spcPct val="150000"/>
              </a:lnSpc>
              <a:spcBef>
                <a:spcPts val="0"/>
              </a:spcBef>
              <a:spcAft>
                <a:spcPts val="0"/>
              </a:spcAft>
              <a:buNone/>
            </a:pPr>
            <a:r>
              <a:rPr lang="zh-CN" sz="1100">
                <a:solidFill>
                  <a:schemeClr val="dk1"/>
                </a:solidFill>
              </a:rPr>
              <a:t>   • Example: Variable usage requires definition &amp; usage context</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96d4a5dad6_5_230"/>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432" name="Google Shape;432;g396d4a5dad6_5_230"/>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Hands-on Task</a:t>
            </a:r>
            <a:endParaRPr/>
          </a:p>
        </p:txBody>
      </p:sp>
      <p:sp>
        <p:nvSpPr>
          <p:cNvPr id="433" name="Google Shape;433;g396d4a5dad6_5_230"/>
          <p:cNvSpPr txBox="1"/>
          <p:nvPr/>
        </p:nvSpPr>
        <p:spPr>
          <a:xfrm>
            <a:off x="457200" y="1003225"/>
            <a:ext cx="4575600" cy="12546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latin typeface="Arial"/>
                <a:ea typeface="Arial"/>
                <a:cs typeface="Arial"/>
                <a:sym typeface="Arial"/>
              </a:rPr>
              <a:t>Task 1: Explore the Dataset</a:t>
            </a:r>
            <a:endParaRPr b="1"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latin typeface="Arial"/>
                <a:ea typeface="Arial"/>
                <a:cs typeface="Arial"/>
                <a:sym typeface="Arial"/>
              </a:rPr>
              <a:t>Task 2: Train the Model</a:t>
            </a:r>
            <a:endParaRPr b="1"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latin typeface="Arial"/>
                <a:ea typeface="Arial"/>
                <a:cs typeface="Arial"/>
                <a:sym typeface="Arial"/>
              </a:rPr>
              <a:t>Task 3: Make Predictions</a:t>
            </a:r>
            <a:endParaRPr b="1"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434" name="Google Shape;434;g396d4a5dad6_5_230"/>
          <p:cNvSpPr txBox="1"/>
          <p:nvPr/>
        </p:nvSpPr>
        <p:spPr>
          <a:xfrm>
            <a:off x="457200" y="2267500"/>
            <a:ext cx="4575600" cy="12546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latin typeface="Arial"/>
                <a:ea typeface="Arial"/>
                <a:cs typeface="Arial"/>
                <a:sym typeface="Arial"/>
              </a:rPr>
              <a:t>Task 1: Explore the Dataset</a:t>
            </a:r>
            <a:endParaRPr b="1" i="0" sz="1400" u="none" cap="none" strike="noStrike">
              <a:solidFill>
                <a:srgbClr val="000000"/>
              </a:solidFill>
              <a:latin typeface="Arial"/>
              <a:ea typeface="Arial"/>
              <a:cs typeface="Arial"/>
              <a:sym typeface="Arial"/>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Arial"/>
                <a:ea typeface="Arial"/>
                <a:cs typeface="Arial"/>
                <a:sym typeface="Arial"/>
              </a:rPr>
              <a:t>Inspect input features</a:t>
            </a:r>
            <a:endParaRPr b="0" i="0" sz="1400" u="none" cap="none" strike="noStrike">
              <a:solidFill>
                <a:srgbClr val="000000"/>
              </a:solidFill>
              <a:latin typeface="Arial"/>
              <a:ea typeface="Arial"/>
              <a:cs typeface="Arial"/>
              <a:sym typeface="Arial"/>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Arial"/>
                <a:ea typeface="Arial"/>
                <a:cs typeface="Arial"/>
                <a:sym typeface="Arial"/>
              </a:rPr>
              <a:t>Understand labels</a:t>
            </a:r>
            <a:endParaRPr b="0" i="0" sz="1400" u="none" cap="none" strike="noStrike">
              <a:solidFill>
                <a:srgbClr val="000000"/>
              </a:solidFill>
              <a:latin typeface="Arial"/>
              <a:ea typeface="Arial"/>
              <a:cs typeface="Arial"/>
              <a:sym typeface="Arial"/>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Arial"/>
                <a:ea typeface="Arial"/>
                <a:cs typeface="Arial"/>
                <a:sym typeface="Arial"/>
              </a:rPr>
              <a:t>Observe data imbalance</a:t>
            </a:r>
            <a:endParaRPr b="0" i="0" sz="1400" u="none" cap="none" strike="noStrike">
              <a:solidFill>
                <a:srgbClr val="000000"/>
              </a:solidFill>
              <a:latin typeface="Arial"/>
              <a:ea typeface="Arial"/>
              <a:cs typeface="Arial"/>
              <a:sym typeface="Arial"/>
            </a:endParaRPr>
          </a:p>
        </p:txBody>
      </p:sp>
      <p:sp>
        <p:nvSpPr>
          <p:cNvPr id="435" name="Google Shape;435;g396d4a5dad6_5_230"/>
          <p:cNvSpPr txBox="1"/>
          <p:nvPr/>
        </p:nvSpPr>
        <p:spPr>
          <a:xfrm>
            <a:off x="3333438" y="2267500"/>
            <a:ext cx="3097200" cy="12546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latin typeface="Arial"/>
                <a:ea typeface="Arial"/>
                <a:cs typeface="Arial"/>
                <a:sym typeface="Arial"/>
              </a:rPr>
              <a:t>Task 2: Train the Model</a:t>
            </a:r>
            <a:endParaRPr b="1" i="0" sz="1400" u="none" cap="none" strike="noStrike">
              <a:solidFill>
                <a:srgbClr val="000000"/>
              </a:solidFill>
              <a:latin typeface="Arial"/>
              <a:ea typeface="Arial"/>
              <a:cs typeface="Arial"/>
              <a:sym typeface="Arial"/>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Arial"/>
                <a:ea typeface="Arial"/>
                <a:cs typeface="Arial"/>
                <a:sym typeface="Arial"/>
              </a:rPr>
              <a:t>Run training cells</a:t>
            </a:r>
            <a:endParaRPr b="0" i="0" sz="1400" u="none" cap="none" strike="noStrike">
              <a:solidFill>
                <a:srgbClr val="000000"/>
              </a:solidFill>
              <a:latin typeface="Arial"/>
              <a:ea typeface="Arial"/>
              <a:cs typeface="Arial"/>
              <a:sym typeface="Arial"/>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Arial"/>
                <a:ea typeface="Arial"/>
                <a:cs typeface="Arial"/>
                <a:sym typeface="Arial"/>
              </a:rPr>
              <a:t>Observe loss and accuracy</a:t>
            </a:r>
            <a:endParaRPr b="0" i="0" sz="1400" u="none" cap="none" strike="noStrike">
              <a:solidFill>
                <a:srgbClr val="000000"/>
              </a:solidFill>
              <a:latin typeface="Arial"/>
              <a:ea typeface="Arial"/>
              <a:cs typeface="Arial"/>
              <a:sym typeface="Arial"/>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Arial"/>
                <a:ea typeface="Arial"/>
                <a:cs typeface="Arial"/>
                <a:sym typeface="Arial"/>
              </a:rPr>
              <a:t>Compare train vs validation</a:t>
            </a:r>
            <a:endParaRPr b="0" i="0" sz="1400" u="none" cap="none" strike="noStrike">
              <a:solidFill>
                <a:srgbClr val="000000"/>
              </a:solidFill>
              <a:latin typeface="Arial"/>
              <a:ea typeface="Arial"/>
              <a:cs typeface="Arial"/>
              <a:sym typeface="Arial"/>
            </a:endParaRPr>
          </a:p>
        </p:txBody>
      </p:sp>
      <p:sp>
        <p:nvSpPr>
          <p:cNvPr id="436" name="Google Shape;436;g396d4a5dad6_5_230"/>
          <p:cNvSpPr txBox="1"/>
          <p:nvPr/>
        </p:nvSpPr>
        <p:spPr>
          <a:xfrm>
            <a:off x="6110364" y="2280497"/>
            <a:ext cx="4575600" cy="6081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i="0" lang="zh-CN" sz="1400" u="none" cap="none" strike="noStrike">
                <a:solidFill>
                  <a:srgbClr val="000000"/>
                </a:solidFill>
                <a:latin typeface="Arial"/>
                <a:ea typeface="Arial"/>
                <a:cs typeface="Arial"/>
                <a:sym typeface="Arial"/>
              </a:rPr>
              <a:t>Task 3: Make Predictions</a:t>
            </a:r>
            <a:endParaRPr b="1" i="0" sz="1400" u="none" cap="none" strike="noStrike">
              <a:solidFill>
                <a:srgbClr val="000000"/>
              </a:solidFill>
              <a:latin typeface="Arial"/>
              <a:ea typeface="Arial"/>
              <a:cs typeface="Arial"/>
              <a:sym typeface="Arial"/>
            </a:endParaRPr>
          </a:p>
          <a:p>
            <a:pPr indent="-215900" lvl="0" marL="215900" marR="0" rtl="0" algn="l">
              <a:lnSpc>
                <a:spcPct val="150000"/>
              </a:lnSpc>
              <a:spcBef>
                <a:spcPts val="0"/>
              </a:spcBef>
              <a:spcAft>
                <a:spcPts val="0"/>
              </a:spcAft>
              <a:buClr>
                <a:srgbClr val="000000"/>
              </a:buClr>
              <a:buSzPts val="1400"/>
              <a:buFont typeface="Arial"/>
              <a:buChar char="•"/>
            </a:pPr>
            <a:r>
              <a:rPr b="0" i="0" lang="zh-CN" sz="1400" u="none" cap="none" strike="noStrike">
                <a:solidFill>
                  <a:srgbClr val="000000"/>
                </a:solidFill>
                <a:latin typeface="Arial"/>
                <a:ea typeface="Arial"/>
                <a:cs typeface="Arial"/>
                <a:sym typeface="Arial"/>
              </a:rPr>
              <a:t>Test on unseen samples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0"/>
          <p:cNvSpPr txBox="1"/>
          <p:nvPr>
            <p:ph type="ctrTitle"/>
          </p:nvPr>
        </p:nvSpPr>
        <p:spPr>
          <a:xfrm>
            <a:off x="457200" y="1972785"/>
            <a:ext cx="7479450" cy="2084938"/>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3000"/>
              <a:buFont typeface="Verdana"/>
              <a:buNone/>
            </a:pPr>
            <a:br>
              <a:rPr lang="zh-CN"/>
            </a:br>
            <a:br>
              <a:rPr lang="zh-CN"/>
            </a:br>
            <a:br>
              <a:rPr lang="zh-CN"/>
            </a:br>
            <a:br>
              <a:rPr lang="zh-CN"/>
            </a:br>
            <a:br>
              <a:rPr lang="zh-CN"/>
            </a:br>
            <a:r>
              <a:rPr lang="zh-CN">
                <a:solidFill>
                  <a:srgbClr val="000000"/>
                </a:solidFill>
                <a:latin typeface="Helvetica Neue"/>
                <a:ea typeface="Helvetica Neue"/>
                <a:cs typeface="Helvetica Neue"/>
                <a:sym typeface="Helvetica Neue"/>
              </a:rPr>
              <a:t>AI-Assisted Binary &amp; Library Fuzzing</a:t>
            </a:r>
            <a:br>
              <a:rPr lang="zh-CN">
                <a:solidFill>
                  <a:srgbClr val="000000"/>
                </a:solidFill>
                <a:latin typeface="Helvetica Neue"/>
                <a:ea typeface="Helvetica Neue"/>
                <a:cs typeface="Helvetica Neue"/>
                <a:sym typeface="Helvetica Neue"/>
              </a:rPr>
            </a:br>
            <a:br>
              <a:rPr lang="zh-CN"/>
            </a:b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21"/>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448" name="Google Shape;448;p21"/>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t/>
            </a:r>
            <a:endParaRPr/>
          </a:p>
        </p:txBody>
      </p:sp>
      <p:sp>
        <p:nvSpPr>
          <p:cNvPr id="449" name="Google Shape;449;p21"/>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How C &amp; C++ code works during execution</a:t>
            </a:r>
            <a:endParaRPr/>
          </a:p>
          <a:p>
            <a:pPr indent="-254000" lvl="0" marL="342900" rtl="0" algn="l">
              <a:lnSpc>
                <a:spcPct val="95000"/>
              </a:lnSpc>
              <a:spcBef>
                <a:spcPts val="900"/>
              </a:spcBef>
              <a:spcAft>
                <a:spcPts val="0"/>
              </a:spcAft>
              <a:buSzPts val="1400"/>
              <a:buChar char="•"/>
            </a:pPr>
            <a:r>
              <a:rPr lang="zh-CN"/>
              <a:t>Why dynamic detection method as fuzzing matters</a:t>
            </a:r>
            <a:endParaRPr/>
          </a:p>
          <a:p>
            <a:pPr indent="-254000" lvl="0" marL="342900" rtl="0" algn="l">
              <a:lnSpc>
                <a:spcPct val="95000"/>
              </a:lnSpc>
              <a:spcBef>
                <a:spcPts val="900"/>
              </a:spcBef>
              <a:spcAft>
                <a:spcPts val="0"/>
              </a:spcAft>
              <a:buSzPts val="1400"/>
              <a:buChar char="•"/>
            </a:pPr>
            <a:r>
              <a:rPr lang="zh-CN"/>
              <a:t>How LLMs helps fuzzing</a:t>
            </a:r>
            <a:endParaRPr/>
          </a:p>
          <a:p>
            <a:pPr indent="-254000" lvl="0" marL="342900" rtl="0" algn="l">
              <a:lnSpc>
                <a:spcPct val="95000"/>
              </a:lnSpc>
              <a:spcBef>
                <a:spcPts val="900"/>
              </a:spcBef>
              <a:spcAft>
                <a:spcPts val="0"/>
              </a:spcAft>
              <a:buSzPts val="1400"/>
              <a:buChar char="•"/>
            </a:pPr>
            <a:r>
              <a:rPr lang="zh-CN"/>
              <a:t>Hands on experiments</a:t>
            </a:r>
            <a:endParaRPr/>
          </a:p>
        </p:txBody>
      </p:sp>
      <p:sp>
        <p:nvSpPr>
          <p:cNvPr id="450" name="Google Shape;450;p21"/>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Content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2"/>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457" name="Google Shape;457;p22"/>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t/>
            </a:r>
            <a:endParaRPr/>
          </a:p>
        </p:txBody>
      </p:sp>
      <p:sp>
        <p:nvSpPr>
          <p:cNvPr id="458" name="Google Shape;458;p22"/>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Fuzzing Workflow Overview</a:t>
            </a:r>
            <a:endParaRPr/>
          </a:p>
        </p:txBody>
      </p:sp>
      <p:sp>
        <p:nvSpPr>
          <p:cNvPr id="459" name="Google Shape;459;p22"/>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How code works during execution</a:t>
            </a:r>
            <a:endParaRPr/>
          </a:p>
        </p:txBody>
      </p:sp>
      <p:pic>
        <p:nvPicPr>
          <p:cNvPr descr="9251766353035_.pic" id="460" name="Google Shape;460;p22"/>
          <p:cNvPicPr preferRelativeResize="0"/>
          <p:nvPr/>
        </p:nvPicPr>
        <p:blipFill rotWithShape="1">
          <a:blip r:embed="rId3">
            <a:alphaModFix/>
          </a:blip>
          <a:srcRect b="0" l="0" r="0" t="0"/>
          <a:stretch/>
        </p:blipFill>
        <p:spPr>
          <a:xfrm>
            <a:off x="217646" y="1744504"/>
            <a:ext cx="5032058" cy="2283619"/>
          </a:xfrm>
          <a:prstGeom prst="rect">
            <a:avLst/>
          </a:prstGeom>
          <a:noFill/>
          <a:ln>
            <a:noFill/>
          </a:ln>
        </p:spPr>
      </p:pic>
      <p:sp>
        <p:nvSpPr>
          <p:cNvPr id="461" name="Google Shape;461;p22"/>
          <p:cNvSpPr txBox="1"/>
          <p:nvPr/>
        </p:nvSpPr>
        <p:spPr>
          <a:xfrm>
            <a:off x="5298758" y="1397794"/>
            <a:ext cx="3742373" cy="297703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1" i="0" lang="zh-CN" sz="1100" u="none" cap="none" strike="noStrike">
                <a:solidFill>
                  <a:srgbClr val="000000"/>
                </a:solidFill>
                <a:latin typeface="Arial"/>
                <a:ea typeface="Arial"/>
                <a:cs typeface="Arial"/>
                <a:sym typeface="Arial"/>
              </a:rPr>
              <a:t>Seeds</a:t>
            </a:r>
            <a:r>
              <a:rPr b="0" i="0" lang="zh-CN" sz="1100" u="none" cap="none" strike="noStrike">
                <a:solidFill>
                  <a:srgbClr val="000000"/>
                </a:solidFill>
                <a:latin typeface="Arial"/>
                <a:ea typeface="Arial"/>
                <a:cs typeface="Arial"/>
                <a:sym typeface="Arial"/>
              </a:rPr>
              <a:t> provide initial valid or semi-valid inputs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Serve as starting points for fuzzing</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zh-CN" sz="1100" u="none" cap="none" strike="noStrike">
                <a:solidFill>
                  <a:srgbClr val="000000"/>
                </a:solidFill>
                <a:latin typeface="Arial"/>
                <a:ea typeface="Arial"/>
                <a:cs typeface="Arial"/>
                <a:sym typeface="Arial"/>
              </a:rPr>
              <a:t>Corpus</a:t>
            </a:r>
            <a:r>
              <a:rPr b="0" i="0" lang="zh-CN" sz="1100" u="none" cap="none" strike="noStrike">
                <a:solidFill>
                  <a:srgbClr val="000000"/>
                </a:solidFill>
                <a:latin typeface="Arial"/>
                <a:ea typeface="Arial"/>
                <a:cs typeface="Arial"/>
                <a:sym typeface="Arial"/>
              </a:rPr>
              <a:t> stores inputs that trigger new behaviors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Continuously updated based on coverage feedback</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zh-CN" sz="1100" u="none" cap="none" strike="noStrike">
                <a:solidFill>
                  <a:srgbClr val="000000"/>
                </a:solidFill>
                <a:latin typeface="Arial"/>
                <a:ea typeface="Arial"/>
                <a:cs typeface="Arial"/>
                <a:sym typeface="Arial"/>
              </a:rPr>
              <a:t>Fuzzer</a:t>
            </a:r>
            <a:r>
              <a:rPr b="0" i="0" lang="zh-CN" sz="1100" u="none" cap="none" strike="noStrike">
                <a:solidFill>
                  <a:srgbClr val="000000"/>
                </a:solidFill>
                <a:latin typeface="Arial"/>
                <a:ea typeface="Arial"/>
                <a:cs typeface="Arial"/>
                <a:sym typeface="Arial"/>
              </a:rPr>
              <a:t> mutates inputs and schedules executions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Guided by coverage and runtime feedback</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zh-CN" sz="1100" u="none" cap="none" strike="noStrike">
                <a:solidFill>
                  <a:srgbClr val="000000"/>
                </a:solidFill>
                <a:latin typeface="Arial"/>
                <a:ea typeface="Arial"/>
                <a:cs typeface="Arial"/>
                <a:sym typeface="Arial"/>
              </a:rPr>
              <a:t>Fuzz Harness</a:t>
            </a:r>
            <a:r>
              <a:rPr b="0" i="0" lang="zh-CN" sz="1100" u="none" cap="none" strike="noStrike">
                <a:solidFill>
                  <a:srgbClr val="000000"/>
                </a:solidFill>
                <a:latin typeface="Arial"/>
                <a:ea typeface="Arial"/>
                <a:cs typeface="Arial"/>
                <a:sym typeface="Arial"/>
              </a:rPr>
              <a:t> connects the fuzzer to the software under test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Feeds inputs and observes execution behavior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zh-CN" sz="1100" u="none" cap="none" strike="noStrike">
                <a:solidFill>
                  <a:srgbClr val="000000"/>
                </a:solidFill>
                <a:latin typeface="Arial"/>
                <a:ea typeface="Arial"/>
                <a:cs typeface="Arial"/>
                <a:sym typeface="Arial"/>
              </a:rPr>
              <a:t>Findings</a:t>
            </a:r>
            <a:r>
              <a:rPr b="0" i="0" lang="zh-CN" sz="1100" u="none" cap="none" strike="noStrike">
                <a:solidFill>
                  <a:srgbClr val="000000"/>
                </a:solidFill>
                <a:latin typeface="Arial"/>
                <a:ea typeface="Arial"/>
                <a:cs typeface="Arial"/>
                <a:sym typeface="Arial"/>
              </a:rPr>
              <a:t> include crashes, hangs, and abnormal behaviors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Indicate potential bugs or vulnerabilities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3"/>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468" name="Google Shape;468;p23"/>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t/>
            </a:r>
            <a:endParaRPr/>
          </a:p>
        </p:txBody>
      </p:sp>
      <p:sp>
        <p:nvSpPr>
          <p:cNvPr id="469" name="Google Shape;469;p23"/>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Given an input (from stdin or harness files)</a:t>
            </a:r>
            <a:endParaRPr/>
          </a:p>
        </p:txBody>
      </p:sp>
      <p:sp>
        <p:nvSpPr>
          <p:cNvPr id="470" name="Google Shape;470;p23"/>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How code works during execution</a:t>
            </a:r>
            <a:endParaRPr/>
          </a:p>
        </p:txBody>
      </p:sp>
      <p:pic>
        <p:nvPicPr>
          <p:cNvPr id="471" name="Google Shape;471;p23"/>
          <p:cNvPicPr preferRelativeResize="0"/>
          <p:nvPr/>
        </p:nvPicPr>
        <p:blipFill rotWithShape="1">
          <a:blip r:embed="rId3">
            <a:alphaModFix/>
          </a:blip>
          <a:srcRect b="0" l="0" r="0" t="0"/>
          <a:stretch/>
        </p:blipFill>
        <p:spPr>
          <a:xfrm>
            <a:off x="0" y="1709738"/>
            <a:ext cx="5850731" cy="2234565"/>
          </a:xfrm>
          <a:prstGeom prst="rect">
            <a:avLst/>
          </a:prstGeom>
          <a:noFill/>
          <a:ln>
            <a:noFill/>
          </a:ln>
        </p:spPr>
      </p:pic>
      <p:sp>
        <p:nvSpPr>
          <p:cNvPr id="472" name="Google Shape;472;p23"/>
          <p:cNvSpPr txBox="1"/>
          <p:nvPr/>
        </p:nvSpPr>
        <p:spPr>
          <a:xfrm>
            <a:off x="5850726" y="1538549"/>
            <a:ext cx="3224700" cy="3090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A harness defines the entry point for the fuzzer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It maps raw fuzzer input to meaningful program inputs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 data and size are interpreted as file contents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It invokes a specific target API or function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 mz_zip_add_mem_to_archive_file_in_place(...)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It isolates the test logic from the rest of the application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zh-CN" sz="1100" u="none" cap="none" strike="noStrike">
                <a:solidFill>
                  <a:srgbClr val="000000"/>
                </a:solidFill>
                <a:latin typeface="Arial"/>
                <a:ea typeface="Arial"/>
                <a:cs typeface="Arial"/>
                <a:sym typeface="Arial"/>
              </a:rPr>
              <a:t> → No CLI parsing, no full program execution</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24"/>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479" name="Google Shape;479;p24"/>
          <p:cNvSpPr txBox="1"/>
          <p:nvPr>
            <p:ph idx="11" type="ftr"/>
          </p:nvPr>
        </p:nvSpPr>
        <p:spPr>
          <a:xfrm>
            <a:off x="457200" y="4800600"/>
            <a:ext cx="4938236"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https://stackoverflow.com/questions/517589/tools-to-get-a-pictorial-function-call-graph-of-code</a:t>
            </a:r>
            <a:endParaRPr sz="800"/>
          </a:p>
        </p:txBody>
      </p:sp>
      <p:sp>
        <p:nvSpPr>
          <p:cNvPr id="480" name="Google Shape;480;p24"/>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fontScale="47500" lnSpcReduction="10000"/>
          </a:bodyPr>
          <a:lstStyle/>
          <a:p>
            <a:pPr indent="-251460" lvl="0" marL="342900" rtl="0" algn="l">
              <a:lnSpc>
                <a:spcPct val="95000"/>
              </a:lnSpc>
              <a:spcBef>
                <a:spcPts val="900"/>
              </a:spcBef>
              <a:spcAft>
                <a:spcPts val="0"/>
              </a:spcAft>
              <a:buSzPct val="113333"/>
              <a:buChar char="•"/>
            </a:pPr>
            <a:r>
              <a:rPr lang="zh-CN" sz="3000"/>
              <a:t>Given an input (from stdin or harness files)</a:t>
            </a:r>
            <a:endParaRPr sz="3000"/>
          </a:p>
          <a:p>
            <a:pPr indent="-251460" lvl="0" marL="342900" rtl="0" algn="l">
              <a:lnSpc>
                <a:spcPct val="95000"/>
              </a:lnSpc>
              <a:spcBef>
                <a:spcPts val="900"/>
              </a:spcBef>
              <a:spcAft>
                <a:spcPts val="0"/>
              </a:spcAft>
              <a:buSzPct val="113333"/>
              <a:buChar char="•"/>
            </a:pPr>
            <a:r>
              <a:rPr lang="zh-CN" sz="3000"/>
              <a:t>Run </a:t>
            </a:r>
            <a:r>
              <a:rPr lang="zh-CN" sz="3000">
                <a:solidFill>
                  <a:srgbClr val="FF0000"/>
                </a:solidFill>
              </a:rPr>
              <a:t>ONE </a:t>
            </a:r>
            <a:r>
              <a:rPr lang="zh-CN" sz="3000">
                <a:solidFill>
                  <a:schemeClr val="dk1"/>
                </a:solidFill>
              </a:rPr>
              <a:t>path from main() to somewhere</a:t>
            </a:r>
            <a:endParaRPr sz="3000">
              <a:solidFill>
                <a:schemeClr val="dk1"/>
              </a:solidFill>
            </a:endParaRPr>
          </a:p>
          <a:p>
            <a:pPr indent="342900" lvl="0" marL="88900" rtl="0" algn="l">
              <a:lnSpc>
                <a:spcPct val="95000"/>
              </a:lnSpc>
              <a:spcBef>
                <a:spcPts val="900"/>
              </a:spcBef>
              <a:spcAft>
                <a:spcPts val="0"/>
              </a:spcAft>
              <a:buSzPct val="113333"/>
              <a:buNone/>
            </a:pPr>
            <a:r>
              <a:rPr lang="zh-CN" sz="3000">
                <a:solidFill>
                  <a:schemeClr val="dk1"/>
                </a:solidFill>
                <a:latin typeface="Verdana"/>
                <a:ea typeface="Verdana"/>
                <a:cs typeface="Verdana"/>
                <a:sym typeface="Verdana"/>
              </a:rPr>
              <a:t>-- call graph</a:t>
            </a:r>
            <a:endParaRPr sz="3000">
              <a:solidFill>
                <a:schemeClr val="dk1"/>
              </a:solidFill>
              <a:latin typeface="Verdana"/>
              <a:ea typeface="Verdana"/>
              <a:cs typeface="Verdana"/>
              <a:sym typeface="Verdana"/>
            </a:endParaRPr>
          </a:p>
          <a:p>
            <a:pPr indent="342900" lvl="0" marL="88900" rtl="0" algn="l">
              <a:lnSpc>
                <a:spcPct val="95000"/>
              </a:lnSpc>
              <a:spcBef>
                <a:spcPts val="900"/>
              </a:spcBef>
              <a:spcAft>
                <a:spcPts val="0"/>
              </a:spcAft>
              <a:buSzPct val="188889"/>
              <a:buNone/>
            </a:pPr>
            <a:r>
              <a:rPr lang="zh-CN">
                <a:solidFill>
                  <a:schemeClr val="dk1"/>
                </a:solidFill>
              </a:rPr>
              <a:t>Nodes represent functions</a:t>
            </a:r>
            <a:endParaRPr>
              <a:solidFill>
                <a:schemeClr val="dk1"/>
              </a:solidFill>
            </a:endParaRPr>
          </a:p>
          <a:p>
            <a:pPr indent="342900" lvl="0" marL="88900" rtl="0" algn="l">
              <a:lnSpc>
                <a:spcPct val="95000"/>
              </a:lnSpc>
              <a:spcBef>
                <a:spcPts val="900"/>
              </a:spcBef>
              <a:spcAft>
                <a:spcPts val="0"/>
              </a:spcAft>
              <a:buSzPct val="188889"/>
              <a:buNone/>
            </a:pPr>
            <a:r>
              <a:rPr lang="zh-CN">
                <a:solidFill>
                  <a:schemeClr val="dk1"/>
                </a:solidFill>
              </a:rPr>
              <a:t>→ _start, main, f0, f1, f2</a:t>
            </a:r>
            <a:endParaRPr>
              <a:solidFill>
                <a:schemeClr val="dk1"/>
              </a:solidFill>
            </a:endParaRPr>
          </a:p>
          <a:p>
            <a:pPr indent="342900" lvl="0" marL="88900" rtl="0" algn="l">
              <a:lnSpc>
                <a:spcPct val="95000"/>
              </a:lnSpc>
              <a:spcBef>
                <a:spcPts val="900"/>
              </a:spcBef>
              <a:spcAft>
                <a:spcPts val="0"/>
              </a:spcAft>
              <a:buSzPct val="188889"/>
              <a:buNone/>
            </a:pPr>
            <a:r>
              <a:t/>
            </a:r>
            <a:endParaRPr>
              <a:solidFill>
                <a:schemeClr val="dk1"/>
              </a:solidFill>
            </a:endParaRPr>
          </a:p>
          <a:p>
            <a:pPr indent="342900" lvl="0" marL="88900" rtl="0" algn="l">
              <a:lnSpc>
                <a:spcPct val="95000"/>
              </a:lnSpc>
              <a:spcBef>
                <a:spcPts val="900"/>
              </a:spcBef>
              <a:spcAft>
                <a:spcPts val="0"/>
              </a:spcAft>
              <a:buSzPct val="188889"/>
              <a:buNone/>
            </a:pPr>
            <a:r>
              <a:rPr lang="zh-CN">
                <a:solidFill>
                  <a:schemeClr val="dk1"/>
                </a:solidFill>
              </a:rPr>
              <a:t>Edges represent function calls</a:t>
            </a:r>
            <a:endParaRPr>
              <a:solidFill>
                <a:schemeClr val="dk1"/>
              </a:solidFill>
            </a:endParaRPr>
          </a:p>
          <a:p>
            <a:pPr indent="342900" lvl="0" marL="88900" rtl="0" algn="l">
              <a:lnSpc>
                <a:spcPct val="95000"/>
              </a:lnSpc>
              <a:spcBef>
                <a:spcPts val="900"/>
              </a:spcBef>
              <a:spcAft>
                <a:spcPts val="0"/>
              </a:spcAft>
              <a:buSzPct val="188889"/>
              <a:buNone/>
            </a:pPr>
            <a:r>
              <a:rPr lang="zh-CN">
                <a:solidFill>
                  <a:schemeClr val="dk1"/>
                </a:solidFill>
              </a:rPr>
              <a:t>→ An edge means “this function may call that function”</a:t>
            </a:r>
            <a:endParaRPr>
              <a:solidFill>
                <a:schemeClr val="dk1"/>
              </a:solidFill>
            </a:endParaRPr>
          </a:p>
          <a:p>
            <a:pPr indent="342900" lvl="0" marL="88900" rtl="0" algn="l">
              <a:lnSpc>
                <a:spcPct val="95000"/>
              </a:lnSpc>
              <a:spcBef>
                <a:spcPts val="900"/>
              </a:spcBef>
              <a:spcAft>
                <a:spcPts val="0"/>
              </a:spcAft>
              <a:buSzPct val="188889"/>
              <a:buNone/>
            </a:pPr>
            <a:r>
              <a:t/>
            </a:r>
            <a:endParaRPr>
              <a:solidFill>
                <a:schemeClr val="dk1"/>
              </a:solidFill>
            </a:endParaRPr>
          </a:p>
          <a:p>
            <a:pPr indent="342900" lvl="0" marL="88900" rtl="0" algn="l">
              <a:lnSpc>
                <a:spcPct val="95000"/>
              </a:lnSpc>
              <a:spcBef>
                <a:spcPts val="900"/>
              </a:spcBef>
              <a:spcAft>
                <a:spcPts val="0"/>
              </a:spcAft>
              <a:buSzPct val="188889"/>
              <a:buNone/>
            </a:pPr>
            <a:r>
              <a:rPr lang="zh-CN">
                <a:solidFill>
                  <a:schemeClr val="dk1"/>
                </a:solidFill>
              </a:rPr>
              <a:t>Edge labels show call frequency</a:t>
            </a:r>
            <a:endParaRPr>
              <a:solidFill>
                <a:schemeClr val="dk1"/>
              </a:solidFill>
            </a:endParaRPr>
          </a:p>
          <a:p>
            <a:pPr indent="342900" lvl="0" marL="88900" rtl="0" algn="l">
              <a:lnSpc>
                <a:spcPct val="95000"/>
              </a:lnSpc>
              <a:spcBef>
                <a:spcPts val="900"/>
              </a:spcBef>
              <a:spcAft>
                <a:spcPts val="0"/>
              </a:spcAft>
              <a:buSzPct val="188889"/>
              <a:buNone/>
            </a:pPr>
            <a:r>
              <a:rPr lang="zh-CN">
                <a:solidFill>
                  <a:schemeClr val="dk1"/>
                </a:solidFill>
              </a:rPr>
              <a:t>→ 1×, 2× indicate how many times the call happened</a:t>
            </a:r>
            <a:endParaRPr>
              <a:solidFill>
                <a:schemeClr val="dk1"/>
              </a:solidFill>
            </a:endParaRPr>
          </a:p>
          <a:p>
            <a:pPr indent="342900" lvl="0" marL="88900" rtl="0" algn="l">
              <a:lnSpc>
                <a:spcPct val="95000"/>
              </a:lnSpc>
              <a:spcBef>
                <a:spcPts val="900"/>
              </a:spcBef>
              <a:spcAft>
                <a:spcPts val="0"/>
              </a:spcAft>
              <a:buSzPct val="188889"/>
              <a:buNone/>
            </a:pPr>
            <a:r>
              <a:t/>
            </a:r>
            <a:endParaRPr>
              <a:solidFill>
                <a:schemeClr val="dk1"/>
              </a:solidFill>
            </a:endParaRPr>
          </a:p>
          <a:p>
            <a:pPr indent="342900" lvl="0" marL="88900" rtl="0" algn="l">
              <a:lnSpc>
                <a:spcPct val="95000"/>
              </a:lnSpc>
              <a:spcBef>
                <a:spcPts val="900"/>
              </a:spcBef>
              <a:spcAft>
                <a:spcPts val="0"/>
              </a:spcAft>
              <a:buSzPct val="188889"/>
              <a:buNone/>
            </a:pPr>
            <a:r>
              <a:rPr lang="zh-CN">
                <a:solidFill>
                  <a:schemeClr val="dk1"/>
                </a:solidFill>
              </a:rPr>
              <a:t>Coverage/color reflects execution frequency or time</a:t>
            </a:r>
            <a:endParaRPr>
              <a:solidFill>
                <a:schemeClr val="dk1"/>
              </a:solidFill>
            </a:endParaRPr>
          </a:p>
          <a:p>
            <a:pPr indent="342900" lvl="0" marL="88900" rtl="0" algn="l">
              <a:lnSpc>
                <a:spcPct val="95000"/>
              </a:lnSpc>
              <a:spcBef>
                <a:spcPts val="900"/>
              </a:spcBef>
              <a:spcAft>
                <a:spcPts val="0"/>
              </a:spcAft>
              <a:buSzPct val="188889"/>
              <a:buNone/>
            </a:pPr>
            <a:r>
              <a:rPr lang="zh-CN">
                <a:solidFill>
                  <a:schemeClr val="dk1"/>
                </a:solidFill>
              </a:rPr>
              <a:t>→ Helps identify hot and cold functions</a:t>
            </a:r>
            <a:endParaRPr>
              <a:solidFill>
                <a:schemeClr val="dk1"/>
              </a:solidFill>
            </a:endParaRPr>
          </a:p>
        </p:txBody>
      </p:sp>
      <p:sp>
        <p:nvSpPr>
          <p:cNvPr id="481" name="Google Shape;481;p24"/>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How code works during execution</a:t>
            </a:r>
            <a:endParaRPr/>
          </a:p>
        </p:txBody>
      </p:sp>
      <p:pic>
        <p:nvPicPr>
          <p:cNvPr descr="9261766353571_.pic" id="482" name="Google Shape;482;p24"/>
          <p:cNvPicPr preferRelativeResize="0"/>
          <p:nvPr/>
        </p:nvPicPr>
        <p:blipFill rotWithShape="1">
          <a:blip r:embed="rId3">
            <a:alphaModFix/>
          </a:blip>
          <a:srcRect b="0" l="0" r="0" t="0"/>
          <a:stretch/>
        </p:blipFill>
        <p:spPr>
          <a:xfrm>
            <a:off x="5619750" y="1094422"/>
            <a:ext cx="1652588" cy="358235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5"/>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489" name="Google Shape;489;p25"/>
          <p:cNvSpPr txBox="1"/>
          <p:nvPr>
            <p:ph idx="11" type="ftr"/>
          </p:nvPr>
        </p:nvSpPr>
        <p:spPr>
          <a:xfrm>
            <a:off x="457200" y="4800600"/>
            <a:ext cx="4938236"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https://en.wikipedia.org/wiki/Control-flow_graph#/media/File:Rust_MIR_CFG.svg</a:t>
            </a:r>
            <a:endParaRPr sz="800"/>
          </a:p>
        </p:txBody>
      </p:sp>
      <p:sp>
        <p:nvSpPr>
          <p:cNvPr id="490" name="Google Shape;490;p25"/>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fontScale="50000" lnSpcReduction="10000"/>
          </a:bodyPr>
          <a:lstStyle/>
          <a:p>
            <a:pPr indent="-250825" lvl="0" marL="342900" rtl="0" algn="l">
              <a:lnSpc>
                <a:spcPct val="95000"/>
              </a:lnSpc>
              <a:spcBef>
                <a:spcPts val="900"/>
              </a:spcBef>
              <a:spcAft>
                <a:spcPts val="0"/>
              </a:spcAft>
              <a:buSzPct val="90000"/>
              <a:buChar char="•"/>
            </a:pPr>
            <a:r>
              <a:rPr lang="zh-CN" sz="3000"/>
              <a:t>Given an input (from stdin or harness files)</a:t>
            </a:r>
            <a:endParaRPr sz="3000"/>
          </a:p>
          <a:p>
            <a:pPr indent="-250825" lvl="0" marL="342900" rtl="0" algn="l">
              <a:lnSpc>
                <a:spcPct val="95000"/>
              </a:lnSpc>
              <a:spcBef>
                <a:spcPts val="900"/>
              </a:spcBef>
              <a:spcAft>
                <a:spcPts val="0"/>
              </a:spcAft>
              <a:buSzPct val="90000"/>
              <a:buChar char="•"/>
            </a:pPr>
            <a:r>
              <a:rPr lang="zh-CN" sz="3000"/>
              <a:t>Run ONE path from main() to somewhere</a:t>
            </a:r>
            <a:endParaRPr sz="3000"/>
          </a:p>
          <a:p>
            <a:pPr indent="342900" lvl="0" marL="88900" rtl="0" algn="l">
              <a:lnSpc>
                <a:spcPct val="95000"/>
              </a:lnSpc>
              <a:spcBef>
                <a:spcPts val="900"/>
              </a:spcBef>
              <a:spcAft>
                <a:spcPts val="0"/>
              </a:spcAft>
              <a:buSzPct val="90000"/>
              <a:buNone/>
            </a:pPr>
            <a:r>
              <a:rPr lang="zh-CN" sz="3000"/>
              <a:t>-- control flow graph</a:t>
            </a:r>
            <a:endParaRPr>
              <a:solidFill>
                <a:schemeClr val="dk1"/>
              </a:solidFill>
            </a:endParaRPr>
          </a:p>
          <a:p>
            <a:pPr indent="342900" lvl="0" marL="88900" rtl="0" algn="l">
              <a:lnSpc>
                <a:spcPct val="95000"/>
              </a:lnSpc>
              <a:spcBef>
                <a:spcPts val="900"/>
              </a:spcBef>
              <a:spcAft>
                <a:spcPts val="0"/>
              </a:spcAft>
              <a:buSzPct val="150000"/>
              <a:buNone/>
            </a:pPr>
            <a:r>
              <a:rPr lang="zh-CN">
                <a:solidFill>
                  <a:schemeClr val="dk1"/>
                </a:solidFill>
              </a:rPr>
              <a:t>A CFG models execution flow inside a single function</a:t>
            </a:r>
            <a:endParaRPr>
              <a:solidFill>
                <a:schemeClr val="dk1"/>
              </a:solidFill>
            </a:endParaRPr>
          </a:p>
          <a:p>
            <a:pPr indent="342900" lvl="0" marL="88900" rtl="0" algn="l">
              <a:lnSpc>
                <a:spcPct val="95000"/>
              </a:lnSpc>
              <a:spcBef>
                <a:spcPts val="900"/>
              </a:spcBef>
              <a:spcAft>
                <a:spcPts val="0"/>
              </a:spcAft>
              <a:buSzPct val="150000"/>
              <a:buNone/>
            </a:pPr>
            <a:r>
              <a:t/>
            </a:r>
            <a:endParaRPr>
              <a:solidFill>
                <a:schemeClr val="dk1"/>
              </a:solidFill>
            </a:endParaRPr>
          </a:p>
          <a:p>
            <a:pPr indent="342900" lvl="0" marL="88900" rtl="0" algn="l">
              <a:lnSpc>
                <a:spcPct val="95000"/>
              </a:lnSpc>
              <a:spcBef>
                <a:spcPts val="900"/>
              </a:spcBef>
              <a:spcAft>
                <a:spcPts val="0"/>
              </a:spcAft>
              <a:buSzPct val="150000"/>
              <a:buNone/>
            </a:pPr>
            <a:r>
              <a:rPr lang="zh-CN">
                <a:solidFill>
                  <a:schemeClr val="dk1"/>
                </a:solidFill>
              </a:rPr>
              <a:t>Nodes are Basic Blocks (BBs)</a:t>
            </a:r>
            <a:endParaRPr>
              <a:solidFill>
                <a:schemeClr val="dk1"/>
              </a:solidFill>
            </a:endParaRPr>
          </a:p>
          <a:p>
            <a:pPr indent="342900" lvl="0" marL="88900" rtl="0" algn="l">
              <a:lnSpc>
                <a:spcPct val="95000"/>
              </a:lnSpc>
              <a:spcBef>
                <a:spcPts val="900"/>
              </a:spcBef>
              <a:spcAft>
                <a:spcPts val="0"/>
              </a:spcAft>
              <a:buSzPct val="150000"/>
              <a:buNone/>
            </a:pPr>
            <a:r>
              <a:rPr lang="zh-CN">
                <a:solidFill>
                  <a:schemeClr val="dk1"/>
                </a:solidFill>
              </a:rPr>
              <a:t>→ Straight-line code with one entry and one exit</a:t>
            </a:r>
            <a:endParaRPr>
              <a:solidFill>
                <a:schemeClr val="dk1"/>
              </a:solidFill>
            </a:endParaRPr>
          </a:p>
          <a:p>
            <a:pPr indent="342900" lvl="0" marL="88900" rtl="0" algn="l">
              <a:lnSpc>
                <a:spcPct val="95000"/>
              </a:lnSpc>
              <a:spcBef>
                <a:spcPts val="900"/>
              </a:spcBef>
              <a:spcAft>
                <a:spcPts val="0"/>
              </a:spcAft>
              <a:buSzPct val="150000"/>
              <a:buNone/>
            </a:pPr>
            <a:r>
              <a:t/>
            </a:r>
            <a:endParaRPr>
              <a:solidFill>
                <a:schemeClr val="dk1"/>
              </a:solidFill>
            </a:endParaRPr>
          </a:p>
          <a:p>
            <a:pPr indent="342900" lvl="0" marL="88900" rtl="0" algn="l">
              <a:lnSpc>
                <a:spcPct val="95000"/>
              </a:lnSpc>
              <a:spcBef>
                <a:spcPts val="900"/>
              </a:spcBef>
              <a:spcAft>
                <a:spcPts val="0"/>
              </a:spcAft>
              <a:buSzPct val="150000"/>
              <a:buNone/>
            </a:pPr>
            <a:r>
              <a:rPr lang="zh-CN">
                <a:solidFill>
                  <a:schemeClr val="dk1"/>
                </a:solidFill>
              </a:rPr>
              <a:t>Edges represent possible control transfers</a:t>
            </a:r>
            <a:endParaRPr>
              <a:solidFill>
                <a:schemeClr val="dk1"/>
              </a:solidFill>
            </a:endParaRPr>
          </a:p>
          <a:p>
            <a:pPr indent="342900" lvl="0" marL="88900" rtl="0" algn="l">
              <a:lnSpc>
                <a:spcPct val="95000"/>
              </a:lnSpc>
              <a:spcBef>
                <a:spcPts val="900"/>
              </a:spcBef>
              <a:spcAft>
                <a:spcPts val="0"/>
              </a:spcAft>
              <a:buSzPct val="150000"/>
              <a:buNone/>
            </a:pPr>
            <a:r>
              <a:rPr lang="zh-CN">
                <a:solidFill>
                  <a:schemeClr val="dk1"/>
                </a:solidFill>
              </a:rPr>
              <a:t>→ if, else, switch, goto, return</a:t>
            </a:r>
            <a:endParaRPr>
              <a:solidFill>
                <a:schemeClr val="dk1"/>
              </a:solidFill>
            </a:endParaRPr>
          </a:p>
          <a:p>
            <a:pPr indent="342900" lvl="0" marL="88900" rtl="0" algn="l">
              <a:lnSpc>
                <a:spcPct val="95000"/>
              </a:lnSpc>
              <a:spcBef>
                <a:spcPts val="900"/>
              </a:spcBef>
              <a:spcAft>
                <a:spcPts val="0"/>
              </a:spcAft>
              <a:buSzPct val="150000"/>
              <a:buNone/>
            </a:pPr>
            <a:r>
              <a:t/>
            </a:r>
            <a:endParaRPr>
              <a:solidFill>
                <a:schemeClr val="dk1"/>
              </a:solidFill>
            </a:endParaRPr>
          </a:p>
          <a:p>
            <a:pPr indent="342900" lvl="0" marL="88900" rtl="0" algn="l">
              <a:lnSpc>
                <a:spcPct val="95000"/>
              </a:lnSpc>
              <a:spcBef>
                <a:spcPts val="900"/>
              </a:spcBef>
              <a:spcAft>
                <a:spcPts val="0"/>
              </a:spcAft>
              <a:buSzPct val="150000"/>
              <a:buNone/>
            </a:pPr>
            <a:r>
              <a:rPr lang="zh-CN">
                <a:solidFill>
                  <a:schemeClr val="dk1"/>
                </a:solidFill>
              </a:rPr>
              <a:t>Branching splits execution into multiple paths</a:t>
            </a:r>
            <a:endParaRPr>
              <a:solidFill>
                <a:schemeClr val="dk1"/>
              </a:solidFill>
            </a:endParaRPr>
          </a:p>
          <a:p>
            <a:pPr indent="342900" lvl="0" marL="88900" rtl="0" algn="l">
              <a:lnSpc>
                <a:spcPct val="95000"/>
              </a:lnSpc>
              <a:spcBef>
                <a:spcPts val="900"/>
              </a:spcBef>
              <a:spcAft>
                <a:spcPts val="0"/>
              </a:spcAft>
              <a:buSzPct val="150000"/>
              <a:buNone/>
            </a:pPr>
            <a:r>
              <a:rPr lang="zh-CN">
                <a:solidFill>
                  <a:schemeClr val="dk1"/>
                </a:solidFill>
              </a:rPr>
              <a:t>→ Only one path is taken per execution</a:t>
            </a:r>
            <a:endParaRPr>
              <a:solidFill>
                <a:schemeClr val="dk1"/>
              </a:solidFill>
            </a:endParaRPr>
          </a:p>
        </p:txBody>
      </p:sp>
      <p:sp>
        <p:nvSpPr>
          <p:cNvPr id="491" name="Google Shape;491;p25"/>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How code works during execution</a:t>
            </a:r>
            <a:endParaRPr/>
          </a:p>
        </p:txBody>
      </p:sp>
      <p:pic>
        <p:nvPicPr>
          <p:cNvPr descr="9281766354108_.pic" id="492" name="Google Shape;492;p25"/>
          <p:cNvPicPr preferRelativeResize="0"/>
          <p:nvPr/>
        </p:nvPicPr>
        <p:blipFill rotWithShape="1">
          <a:blip r:embed="rId3">
            <a:alphaModFix/>
          </a:blip>
          <a:srcRect b="0" l="0" r="0" t="0"/>
          <a:stretch/>
        </p:blipFill>
        <p:spPr>
          <a:xfrm>
            <a:off x="5395436" y="961072"/>
            <a:ext cx="2571750" cy="385048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26"/>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499" name="Google Shape;499;p26"/>
          <p:cNvSpPr txBox="1"/>
          <p:nvPr>
            <p:ph idx="11" type="ftr"/>
          </p:nvPr>
        </p:nvSpPr>
        <p:spPr>
          <a:xfrm>
            <a:off x="457200" y="4791075"/>
            <a:ext cx="6185535" cy="238125"/>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https://medium.com/@xianpeng.shen/use-gcov-and-lcov-to-perform-code-coverage-testing-for-c-c-projects-c85708b91c78</a:t>
            </a:r>
            <a:endParaRPr sz="800"/>
          </a:p>
        </p:txBody>
      </p:sp>
      <p:sp>
        <p:nvSpPr>
          <p:cNvPr id="500" name="Google Shape;500;p26"/>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Code coverage</a:t>
            </a:r>
            <a:endParaRPr/>
          </a:p>
        </p:txBody>
      </p:sp>
      <p:sp>
        <p:nvSpPr>
          <p:cNvPr id="501" name="Google Shape;501;p26"/>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Why dynamic detection method as fuzzing matters</a:t>
            </a:r>
            <a:endParaRPr/>
          </a:p>
        </p:txBody>
      </p:sp>
      <p:pic>
        <p:nvPicPr>
          <p:cNvPr id="502" name="Google Shape;502;p26"/>
          <p:cNvPicPr preferRelativeResize="0"/>
          <p:nvPr/>
        </p:nvPicPr>
        <p:blipFill rotWithShape="1">
          <a:blip r:embed="rId3">
            <a:alphaModFix/>
          </a:blip>
          <a:srcRect b="0" l="0" r="0" t="0"/>
          <a:stretch/>
        </p:blipFill>
        <p:spPr>
          <a:xfrm>
            <a:off x="2648426" y="1030129"/>
            <a:ext cx="2446973" cy="1126808"/>
          </a:xfrm>
          <a:prstGeom prst="rect">
            <a:avLst/>
          </a:prstGeom>
          <a:noFill/>
          <a:ln>
            <a:noFill/>
          </a:ln>
        </p:spPr>
      </p:pic>
      <p:pic>
        <p:nvPicPr>
          <p:cNvPr id="503" name="Google Shape;503;p26"/>
          <p:cNvPicPr preferRelativeResize="0"/>
          <p:nvPr/>
        </p:nvPicPr>
        <p:blipFill rotWithShape="1">
          <a:blip r:embed="rId4">
            <a:alphaModFix/>
          </a:blip>
          <a:srcRect b="0" l="0" r="0" t="0"/>
          <a:stretch/>
        </p:blipFill>
        <p:spPr>
          <a:xfrm>
            <a:off x="457200" y="2323624"/>
            <a:ext cx="4638199" cy="1591151"/>
          </a:xfrm>
          <a:prstGeom prst="rect">
            <a:avLst/>
          </a:prstGeom>
          <a:noFill/>
          <a:ln>
            <a:noFill/>
          </a:ln>
        </p:spPr>
      </p:pic>
      <p:sp>
        <p:nvSpPr>
          <p:cNvPr id="504" name="Google Shape;504;p26"/>
          <p:cNvSpPr txBox="1"/>
          <p:nvPr/>
        </p:nvSpPr>
        <p:spPr>
          <a:xfrm>
            <a:off x="5257324" y="1337786"/>
            <a:ext cx="3886676" cy="356235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0" i="0" lang="zh-CN" sz="1200" u="none" cap="none" strike="noStrike">
                <a:solidFill>
                  <a:srgbClr val="000000"/>
                </a:solidFill>
                <a:latin typeface="Arial"/>
                <a:ea typeface="Arial"/>
                <a:cs typeface="Arial"/>
                <a:sym typeface="Arial"/>
              </a:rPr>
              <a:t>Source code is compiled with coverage instrumentation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zh-CN" sz="1200" u="none" cap="none" strike="noStrike">
                <a:solidFill>
                  <a:srgbClr val="000000"/>
                </a:solidFill>
                <a:latin typeface="Arial"/>
                <a:ea typeface="Arial"/>
                <a:cs typeface="Arial"/>
                <a:sym typeface="Arial"/>
              </a:rPr>
              <a:t> → GCC inserts counters into the program</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zh-CN" sz="1200" u="none" cap="none" strike="noStrike">
                <a:solidFill>
                  <a:srgbClr val="000000"/>
                </a:solidFill>
                <a:latin typeface="Arial"/>
                <a:ea typeface="Arial"/>
                <a:cs typeface="Arial"/>
                <a:sym typeface="Arial"/>
              </a:rPr>
              <a:t>Compilation produces a static structure file (.gcno)</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zh-CN" sz="1200" u="none" cap="none" strike="noStrike">
                <a:solidFill>
                  <a:srgbClr val="000000"/>
                </a:solidFill>
                <a:latin typeface="Arial"/>
                <a:ea typeface="Arial"/>
                <a:cs typeface="Arial"/>
                <a:sym typeface="Arial"/>
              </a:rPr>
              <a:t> → Describes the program’s control-flow structure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zh-CN" sz="1200" u="none" cap="none" strike="noStrike">
                <a:solidFill>
                  <a:srgbClr val="000000"/>
                </a:solidFill>
                <a:latin typeface="Arial"/>
                <a:ea typeface="Arial"/>
                <a:cs typeface="Arial"/>
                <a:sym typeface="Arial"/>
              </a:rPr>
              <a:t>Program execution produces runtime data (.gcda)</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zh-CN" sz="1200" u="none" cap="none" strike="noStrike">
                <a:solidFill>
                  <a:srgbClr val="000000"/>
                </a:solidFill>
                <a:latin typeface="Arial"/>
                <a:ea typeface="Arial"/>
                <a:cs typeface="Arial"/>
                <a:sym typeface="Arial"/>
              </a:rPr>
              <a:t> → Records which parts of the code actually ran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zh-CN" sz="1200" u="none" cap="none" strike="noStrike">
                <a:solidFill>
                  <a:srgbClr val="000000"/>
                </a:solidFill>
                <a:latin typeface="Arial"/>
                <a:ea typeface="Arial"/>
                <a:cs typeface="Arial"/>
                <a:sym typeface="Arial"/>
              </a:rPr>
              <a:t>gcov processes both files to generate coverage data</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zh-CN" sz="1200" u="none" cap="none" strike="noStrike">
                <a:solidFill>
                  <a:srgbClr val="000000"/>
                </a:solidFill>
                <a:latin typeface="Arial"/>
                <a:ea typeface="Arial"/>
                <a:cs typeface="Arial"/>
                <a:sym typeface="Arial"/>
              </a:rPr>
              <a:t> → Used to build human-readable reports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27"/>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511" name="Google Shape;511;p27"/>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t/>
            </a:r>
            <a:endParaRPr/>
          </a:p>
        </p:txBody>
      </p:sp>
      <p:sp>
        <p:nvSpPr>
          <p:cNvPr id="512" name="Google Shape;512;p27"/>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Code coverage</a:t>
            </a:r>
            <a:endParaRPr/>
          </a:p>
          <a:p>
            <a:pPr indent="-254000" lvl="0" marL="342900" rtl="0" algn="l">
              <a:lnSpc>
                <a:spcPct val="95000"/>
              </a:lnSpc>
              <a:spcBef>
                <a:spcPts val="900"/>
              </a:spcBef>
              <a:spcAft>
                <a:spcPts val="0"/>
              </a:spcAft>
              <a:buSzPts val="1400"/>
              <a:buChar char="•"/>
            </a:pPr>
            <a:r>
              <a:rPr lang="zh-CN"/>
              <a:t>Seed</a:t>
            </a:r>
            <a:endParaRPr/>
          </a:p>
          <a:p>
            <a:pPr indent="342900" lvl="0" marL="88900" rtl="0" algn="l">
              <a:lnSpc>
                <a:spcPct val="95000"/>
              </a:lnSpc>
              <a:spcBef>
                <a:spcPts val="900"/>
              </a:spcBef>
              <a:spcAft>
                <a:spcPts val="0"/>
              </a:spcAft>
              <a:buSzPts val="1400"/>
              <a:buNone/>
            </a:pPr>
            <a:r>
              <a:rPr lang="zh-CN"/>
              <a:t>-- a file (json, xml, ...)</a:t>
            </a:r>
            <a:endParaRPr/>
          </a:p>
          <a:p>
            <a:pPr indent="342900" lvl="0" marL="88900" rtl="0" algn="l">
              <a:lnSpc>
                <a:spcPct val="95000"/>
              </a:lnSpc>
              <a:spcBef>
                <a:spcPts val="900"/>
              </a:spcBef>
              <a:spcAft>
                <a:spcPts val="0"/>
              </a:spcAft>
              <a:buSzPts val="1400"/>
              <a:buNone/>
            </a:pPr>
            <a:r>
              <a:rPr lang="zh-CN"/>
              <a:t>-- a string </a:t>
            </a:r>
            <a:endParaRPr/>
          </a:p>
          <a:p>
            <a:pPr indent="342900" lvl="0" marL="88900" rtl="0" algn="l">
              <a:lnSpc>
                <a:spcPct val="95000"/>
              </a:lnSpc>
              <a:spcBef>
                <a:spcPts val="900"/>
              </a:spcBef>
              <a:spcAft>
                <a:spcPts val="0"/>
              </a:spcAft>
              <a:buSzPts val="1400"/>
              <a:buNone/>
            </a:pPr>
            <a:r>
              <a:rPr lang="zh-CN"/>
              <a:t>-- a number</a:t>
            </a:r>
            <a:endParaRPr/>
          </a:p>
          <a:p>
            <a:pPr indent="342900" lvl="0" marL="88900" rtl="0" algn="l">
              <a:lnSpc>
                <a:spcPct val="95000"/>
              </a:lnSpc>
              <a:spcBef>
                <a:spcPts val="900"/>
              </a:spcBef>
              <a:spcAft>
                <a:spcPts val="0"/>
              </a:spcAft>
              <a:buSzPts val="1400"/>
              <a:buNone/>
            </a:pPr>
            <a:r>
              <a:rPr lang="zh-CN"/>
              <a:t>-- sometimes non-readable</a:t>
            </a:r>
            <a:endParaRPr/>
          </a:p>
        </p:txBody>
      </p:sp>
      <p:sp>
        <p:nvSpPr>
          <p:cNvPr id="513" name="Google Shape;513;p27"/>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Why dynamic detection method as fuzzing matters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28"/>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520" name="Google Shape;520;p28"/>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https://www.fuzzingbook.org/html/MutationFuzzer.html</a:t>
            </a:r>
            <a:endParaRPr sz="800"/>
          </a:p>
        </p:txBody>
      </p:sp>
      <p:sp>
        <p:nvSpPr>
          <p:cNvPr id="521" name="Google Shape;521;p28"/>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Code coverage</a:t>
            </a:r>
            <a:endParaRPr/>
          </a:p>
          <a:p>
            <a:pPr indent="-254000" lvl="0" marL="342900" rtl="0" algn="l">
              <a:lnSpc>
                <a:spcPct val="95000"/>
              </a:lnSpc>
              <a:spcBef>
                <a:spcPts val="900"/>
              </a:spcBef>
              <a:spcAft>
                <a:spcPts val="0"/>
              </a:spcAft>
              <a:buSzPts val="1400"/>
              <a:buChar char="•"/>
            </a:pPr>
            <a:r>
              <a:rPr lang="zh-CN"/>
              <a:t>Seed</a:t>
            </a:r>
            <a:endParaRPr/>
          </a:p>
          <a:p>
            <a:pPr indent="-254000" lvl="0" marL="342900" rtl="0" algn="l">
              <a:lnSpc>
                <a:spcPct val="95000"/>
              </a:lnSpc>
              <a:spcBef>
                <a:spcPts val="900"/>
              </a:spcBef>
              <a:spcAft>
                <a:spcPts val="0"/>
              </a:spcAft>
              <a:buSzPts val="1400"/>
              <a:buChar char="•"/>
            </a:pPr>
            <a:r>
              <a:rPr lang="zh-CN"/>
              <a:t>Scheduling(mutation)</a:t>
            </a:r>
            <a:endParaRPr/>
          </a:p>
          <a:p>
            <a:pPr indent="342900" lvl="0" marL="88900" rtl="0" algn="l">
              <a:lnSpc>
                <a:spcPct val="95000"/>
              </a:lnSpc>
              <a:spcBef>
                <a:spcPts val="900"/>
              </a:spcBef>
              <a:spcAft>
                <a:spcPts val="0"/>
              </a:spcAft>
              <a:buSzPts val="1400"/>
              <a:buNone/>
            </a:pPr>
            <a:r>
              <a:rPr lang="zh-CN"/>
              <a:t>-- byte level</a:t>
            </a:r>
            <a:endParaRPr/>
          </a:p>
          <a:p>
            <a:pPr indent="342900" lvl="0" marL="88900" rtl="0" algn="l">
              <a:lnSpc>
                <a:spcPct val="95000"/>
              </a:lnSpc>
              <a:spcBef>
                <a:spcPts val="900"/>
              </a:spcBef>
              <a:spcAft>
                <a:spcPts val="0"/>
              </a:spcAft>
              <a:buSzPts val="1400"/>
              <a:buNone/>
            </a:pPr>
            <a:r>
              <a:rPr lang="zh-CN"/>
              <a:t>-- token level</a:t>
            </a:r>
            <a:endParaRPr/>
          </a:p>
          <a:p>
            <a:pPr indent="342900" lvl="0" marL="88900" rtl="0" algn="l">
              <a:lnSpc>
                <a:spcPct val="95000"/>
              </a:lnSpc>
              <a:spcBef>
                <a:spcPts val="900"/>
              </a:spcBef>
              <a:spcAft>
                <a:spcPts val="0"/>
              </a:spcAft>
              <a:buSzPts val="1400"/>
              <a:buNone/>
            </a:pPr>
            <a:r>
              <a:rPr lang="zh-CN"/>
              <a:t>-- structure level</a:t>
            </a:r>
            <a:endParaRPr/>
          </a:p>
          <a:p>
            <a:pPr indent="342900" lvl="0" marL="88900" rtl="0" algn="l">
              <a:lnSpc>
                <a:spcPct val="95000"/>
              </a:lnSpc>
              <a:spcBef>
                <a:spcPts val="900"/>
              </a:spcBef>
              <a:spcAft>
                <a:spcPts val="0"/>
              </a:spcAft>
              <a:buSzPts val="1400"/>
              <a:buNone/>
            </a:pPr>
            <a:r>
              <a:rPr lang="zh-CN"/>
              <a:t>-- gramar based</a:t>
            </a:r>
            <a:endParaRPr/>
          </a:p>
          <a:p>
            <a:pPr indent="342900" lvl="0" marL="88900" rtl="0" algn="l">
              <a:lnSpc>
                <a:spcPct val="95000"/>
              </a:lnSpc>
              <a:spcBef>
                <a:spcPts val="900"/>
              </a:spcBef>
              <a:spcAft>
                <a:spcPts val="0"/>
              </a:spcAft>
              <a:buSzPts val="1400"/>
              <a:buNone/>
            </a:pPr>
            <a:r>
              <a:rPr lang="zh-CN"/>
              <a:t>-- semantic mutation</a:t>
            </a:r>
            <a:endParaRPr/>
          </a:p>
        </p:txBody>
      </p:sp>
      <p:sp>
        <p:nvSpPr>
          <p:cNvPr id="522" name="Google Shape;522;p28"/>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Why dynamic detection method as fuzzing matters</a:t>
            </a:r>
            <a:endParaRPr/>
          </a:p>
        </p:txBody>
      </p:sp>
      <p:pic>
        <p:nvPicPr>
          <p:cNvPr id="523" name="Google Shape;523;p28"/>
          <p:cNvPicPr preferRelativeResize="0"/>
          <p:nvPr/>
        </p:nvPicPr>
        <p:blipFill rotWithShape="1">
          <a:blip r:embed="rId3">
            <a:alphaModFix/>
          </a:blip>
          <a:srcRect b="0" l="0" r="0" t="0"/>
          <a:stretch/>
        </p:blipFill>
        <p:spPr>
          <a:xfrm>
            <a:off x="4080034" y="1143000"/>
            <a:ext cx="2053590" cy="1726882"/>
          </a:xfrm>
          <a:prstGeom prst="rect">
            <a:avLst/>
          </a:prstGeom>
          <a:noFill/>
          <a:ln>
            <a:noFill/>
          </a:ln>
        </p:spPr>
      </p:pic>
      <p:pic>
        <p:nvPicPr>
          <p:cNvPr id="524" name="Google Shape;524;p28"/>
          <p:cNvPicPr preferRelativeResize="0"/>
          <p:nvPr/>
        </p:nvPicPr>
        <p:blipFill rotWithShape="1">
          <a:blip r:embed="rId4">
            <a:alphaModFix/>
          </a:blip>
          <a:srcRect b="0" l="0" r="0" t="0"/>
          <a:stretch/>
        </p:blipFill>
        <p:spPr>
          <a:xfrm>
            <a:off x="4023836" y="3073241"/>
            <a:ext cx="3600450" cy="135731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29"/>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531" name="Google Shape;531;p29"/>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zh-CN" sz="800"/>
              <a:t>https://arxiv.org/pdf/2308.04748</a:t>
            </a:r>
            <a:endParaRPr sz="800"/>
          </a:p>
        </p:txBody>
      </p:sp>
      <p:sp>
        <p:nvSpPr>
          <p:cNvPr id="532" name="Google Shape;532;p29"/>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How LLMs helps fuzzing</a:t>
            </a:r>
            <a:endParaRPr/>
          </a:p>
        </p:txBody>
      </p:sp>
      <p:pic>
        <p:nvPicPr>
          <p:cNvPr id="533" name="Google Shape;533;p29"/>
          <p:cNvPicPr preferRelativeResize="0"/>
          <p:nvPr/>
        </p:nvPicPr>
        <p:blipFill rotWithShape="1">
          <a:blip r:embed="rId3">
            <a:alphaModFix/>
          </a:blip>
          <a:srcRect b="0" l="0" r="0" t="0"/>
          <a:stretch/>
        </p:blipFill>
        <p:spPr>
          <a:xfrm>
            <a:off x="561975" y="1017270"/>
            <a:ext cx="8186738" cy="36290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0"/>
          <p:cNvSpPr txBox="1"/>
          <p:nvPr>
            <p:ph idx="12" type="sldNum"/>
          </p:nvPr>
        </p:nvSpPr>
        <p:spPr>
          <a:xfrm>
            <a:off x="1" y="4790748"/>
            <a:ext cx="457200" cy="295602"/>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sp>
        <p:nvSpPr>
          <p:cNvPr id="540" name="Google Shape;540;p30"/>
          <p:cNvSpPr txBox="1"/>
          <p:nvPr>
            <p:ph idx="11" type="ftr"/>
          </p:nvPr>
        </p:nvSpPr>
        <p:spPr>
          <a:xfrm>
            <a:off x="457200" y="4800600"/>
            <a:ext cx="5105400" cy="228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t/>
            </a:r>
            <a:endParaRPr/>
          </a:p>
        </p:txBody>
      </p:sp>
      <p:sp>
        <p:nvSpPr>
          <p:cNvPr id="541" name="Google Shape;541;p30"/>
          <p:cNvSpPr txBox="1"/>
          <p:nvPr>
            <p:ph idx="1" type="body"/>
          </p:nvPr>
        </p:nvSpPr>
        <p:spPr>
          <a:xfrm>
            <a:off x="457200" y="1143000"/>
            <a:ext cx="8229600" cy="3486150"/>
          </a:xfrm>
          <a:prstGeom prst="rect">
            <a:avLst/>
          </a:prstGeom>
          <a:noFill/>
          <a:ln>
            <a:noFill/>
          </a:ln>
        </p:spPr>
        <p:txBody>
          <a:bodyPr anchorCtr="0" anchor="t" bIns="34275" lIns="68575" spcFirstLastPara="1" rIns="68575" wrap="square" tIns="34275">
            <a:normAutofit/>
          </a:bodyPr>
          <a:lstStyle/>
          <a:p>
            <a:pPr indent="-254000" lvl="0" marL="342900" rtl="0" algn="l">
              <a:lnSpc>
                <a:spcPct val="95000"/>
              </a:lnSpc>
              <a:spcBef>
                <a:spcPts val="900"/>
              </a:spcBef>
              <a:spcAft>
                <a:spcPts val="0"/>
              </a:spcAft>
              <a:buSzPts val="1400"/>
              <a:buChar char="•"/>
            </a:pPr>
            <a:r>
              <a:rPr lang="zh-CN"/>
              <a:t>OSS-Fuzz-gen</a:t>
            </a:r>
            <a:endParaRPr/>
          </a:p>
          <a:p>
            <a:pPr indent="-165100" lvl="0" marL="342900" rtl="0" algn="l">
              <a:lnSpc>
                <a:spcPct val="95000"/>
              </a:lnSpc>
              <a:spcBef>
                <a:spcPts val="900"/>
              </a:spcBef>
              <a:spcAft>
                <a:spcPts val="0"/>
              </a:spcAft>
              <a:buSzPts val="1400"/>
              <a:buNone/>
            </a:pPr>
            <a:r>
              <a:t/>
            </a:r>
            <a:endParaRPr/>
          </a:p>
        </p:txBody>
      </p:sp>
      <p:sp>
        <p:nvSpPr>
          <p:cNvPr id="542" name="Google Shape;542;p30"/>
          <p:cNvSpPr txBox="1"/>
          <p:nvPr>
            <p:ph type="title"/>
          </p:nvPr>
        </p:nvSpPr>
        <p:spPr>
          <a:xfrm>
            <a:off x="457200" y="263525"/>
            <a:ext cx="8229600" cy="60007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Hands on experiments</a:t>
            </a:r>
            <a:endParaRPr/>
          </a:p>
        </p:txBody>
      </p:sp>
      <p:pic>
        <p:nvPicPr>
          <p:cNvPr id="543" name="Google Shape;543;p30"/>
          <p:cNvPicPr preferRelativeResize="0"/>
          <p:nvPr/>
        </p:nvPicPr>
        <p:blipFill rotWithShape="1">
          <a:blip r:embed="rId3">
            <a:alphaModFix/>
          </a:blip>
          <a:srcRect b="0" l="0" r="0" t="0"/>
          <a:stretch/>
        </p:blipFill>
        <p:spPr>
          <a:xfrm>
            <a:off x="457200" y="1633061"/>
            <a:ext cx="2723674" cy="2506504"/>
          </a:xfrm>
          <a:prstGeom prst="rect">
            <a:avLst/>
          </a:prstGeom>
          <a:noFill/>
          <a:ln>
            <a:noFill/>
          </a:ln>
        </p:spPr>
      </p:pic>
      <p:pic>
        <p:nvPicPr>
          <p:cNvPr id="544" name="Google Shape;544;p30"/>
          <p:cNvPicPr preferRelativeResize="0"/>
          <p:nvPr/>
        </p:nvPicPr>
        <p:blipFill rotWithShape="1">
          <a:blip r:embed="rId4">
            <a:alphaModFix/>
          </a:blip>
          <a:srcRect b="0" l="0" r="0" t="0"/>
          <a:stretch/>
        </p:blipFill>
        <p:spPr>
          <a:xfrm>
            <a:off x="3256598" y="1743075"/>
            <a:ext cx="5826919" cy="217789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0"/>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Post-workshop Quiz</a:t>
            </a:r>
            <a:endParaRPr/>
          </a:p>
        </p:txBody>
      </p:sp>
      <p:sp>
        <p:nvSpPr>
          <p:cNvPr id="550" name="Google Shape;550;p40"/>
          <p:cNvSpPr txBox="1"/>
          <p:nvPr>
            <p:ph idx="1" type="body"/>
          </p:nvPr>
        </p:nvSpPr>
        <p:spPr>
          <a:xfrm>
            <a:off x="457200" y="1143000"/>
            <a:ext cx="8229600" cy="3486300"/>
          </a:xfrm>
          <a:prstGeom prst="rect">
            <a:avLst/>
          </a:prstGeom>
          <a:noFill/>
          <a:ln>
            <a:noFill/>
          </a:ln>
        </p:spPr>
        <p:txBody>
          <a:bodyPr anchorCtr="0" anchor="t" bIns="34275" lIns="68575" spcFirstLastPara="1" rIns="68575" wrap="square" tIns="34275">
            <a:normAutofit/>
          </a:bodyPr>
          <a:lstStyle/>
          <a:p>
            <a:pPr indent="-165100" lvl="0" marL="342900" rtl="0" algn="l">
              <a:lnSpc>
                <a:spcPct val="95000"/>
              </a:lnSpc>
              <a:spcBef>
                <a:spcPts val="900"/>
              </a:spcBef>
              <a:spcAft>
                <a:spcPts val="0"/>
              </a:spcAft>
              <a:buSzPts val="1400"/>
              <a:buNone/>
            </a:pPr>
            <a:r>
              <a:rPr lang="zh-CN" u="sng">
                <a:solidFill>
                  <a:schemeClr val="hlink"/>
                </a:solidFill>
                <a:hlinkClick r:id="rId3"/>
              </a:rPr>
              <a:t>https://docs.google.com/forms/d/e/1FAIpQLSeWm6VmdRqP1jc2hU-sAQfu6CTMRnFNIZcRbN3DBW2gzjh0ZA/viewform?usp=publish-editor</a:t>
            </a:r>
            <a:endParaRPr/>
          </a:p>
          <a:p>
            <a:pPr indent="-165100" lvl="0" marL="342900" rtl="0" algn="l">
              <a:lnSpc>
                <a:spcPct val="95000"/>
              </a:lnSpc>
              <a:spcBef>
                <a:spcPts val="900"/>
              </a:spcBef>
              <a:spcAft>
                <a:spcPts val="0"/>
              </a:spcAft>
              <a:buSzPts val="1400"/>
              <a:buNone/>
            </a:pPr>
            <a:r>
              <a:t/>
            </a:r>
            <a:endParaRPr/>
          </a:p>
          <a:p>
            <a:pPr indent="-165100" lvl="0" marL="342900" rtl="0" algn="l">
              <a:lnSpc>
                <a:spcPct val="95000"/>
              </a:lnSpc>
              <a:spcBef>
                <a:spcPts val="900"/>
              </a:spcBef>
              <a:spcAft>
                <a:spcPts val="0"/>
              </a:spcAft>
              <a:buSzPts val="1400"/>
              <a:buNone/>
            </a:pPr>
            <a:r>
              <a:t/>
            </a:r>
            <a:endParaRPr/>
          </a:p>
        </p:txBody>
      </p:sp>
      <p:sp>
        <p:nvSpPr>
          <p:cNvPr id="551" name="Google Shape;551;p40"/>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pic>
        <p:nvPicPr>
          <p:cNvPr id="552" name="Google Shape;552;p40"/>
          <p:cNvPicPr preferRelativeResize="0"/>
          <p:nvPr/>
        </p:nvPicPr>
        <p:blipFill rotWithShape="1">
          <a:blip r:embed="rId4">
            <a:alphaModFix/>
          </a:blip>
          <a:srcRect b="0" l="0" r="0" t="0"/>
          <a:stretch/>
        </p:blipFill>
        <p:spPr>
          <a:xfrm>
            <a:off x="3348550" y="2025250"/>
            <a:ext cx="2890825" cy="28908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d47a4565b8_28_31"/>
          <p:cNvSpPr txBox="1"/>
          <p:nvPr>
            <p:ph type="title"/>
          </p:nvPr>
        </p:nvSpPr>
        <p:spPr>
          <a:xfrm>
            <a:off x="457200" y="263525"/>
            <a:ext cx="8229600" cy="600000"/>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Clr>
                <a:srgbClr val="262626"/>
              </a:buClr>
              <a:buSzPts val="1400"/>
              <a:buNone/>
            </a:pPr>
            <a:r>
              <a:rPr lang="zh-CN"/>
              <a:t>Post-workshop Survey</a:t>
            </a:r>
            <a:endParaRPr/>
          </a:p>
        </p:txBody>
      </p:sp>
      <p:sp>
        <p:nvSpPr>
          <p:cNvPr id="558" name="Google Shape;558;g3d47a4565b8_28_31"/>
          <p:cNvSpPr txBox="1"/>
          <p:nvPr>
            <p:ph idx="1" type="body"/>
          </p:nvPr>
        </p:nvSpPr>
        <p:spPr>
          <a:xfrm>
            <a:off x="457200" y="1143000"/>
            <a:ext cx="8229600" cy="3486300"/>
          </a:xfrm>
          <a:prstGeom prst="rect">
            <a:avLst/>
          </a:prstGeom>
          <a:noFill/>
          <a:ln>
            <a:noFill/>
          </a:ln>
        </p:spPr>
        <p:txBody>
          <a:bodyPr anchorCtr="0" anchor="t" bIns="34275" lIns="68575" spcFirstLastPara="1" rIns="68575" wrap="square" tIns="34275">
            <a:normAutofit/>
          </a:bodyPr>
          <a:lstStyle/>
          <a:p>
            <a:pPr indent="-165100" lvl="0" marL="342900" rtl="0" algn="l">
              <a:lnSpc>
                <a:spcPct val="95000"/>
              </a:lnSpc>
              <a:spcBef>
                <a:spcPts val="900"/>
              </a:spcBef>
              <a:spcAft>
                <a:spcPts val="0"/>
              </a:spcAft>
              <a:buSzPts val="1400"/>
              <a:buNone/>
            </a:pPr>
            <a:r>
              <a:rPr lang="zh-CN" u="sng">
                <a:solidFill>
                  <a:schemeClr val="hlink"/>
                </a:solidFill>
                <a:hlinkClick r:id="rId3"/>
              </a:rPr>
              <a:t>https://docs.google.com/forms/d/e/1FAIpQLSfLsSk2Im3z0i-C1vZZvoncM_lZDDe_UpqJ85Q3chkUuPl4Hg/viewform</a:t>
            </a:r>
            <a:endParaRPr/>
          </a:p>
          <a:p>
            <a:pPr indent="-165100" lvl="0" marL="342900" rtl="0" algn="l">
              <a:lnSpc>
                <a:spcPct val="95000"/>
              </a:lnSpc>
              <a:spcBef>
                <a:spcPts val="900"/>
              </a:spcBef>
              <a:spcAft>
                <a:spcPts val="0"/>
              </a:spcAft>
              <a:buSzPts val="1400"/>
              <a:buNone/>
            </a:pPr>
            <a:r>
              <a:t/>
            </a:r>
            <a:endParaRPr/>
          </a:p>
          <a:p>
            <a:pPr indent="-165100" lvl="0" marL="342900" rtl="0" algn="l">
              <a:lnSpc>
                <a:spcPct val="95000"/>
              </a:lnSpc>
              <a:spcBef>
                <a:spcPts val="900"/>
              </a:spcBef>
              <a:spcAft>
                <a:spcPts val="0"/>
              </a:spcAft>
              <a:buSzPts val="1400"/>
              <a:buNone/>
            </a:pPr>
            <a:r>
              <a:t/>
            </a:r>
            <a:endParaRPr/>
          </a:p>
          <a:p>
            <a:pPr indent="-165100" lvl="0" marL="342900" rtl="0" algn="l">
              <a:lnSpc>
                <a:spcPct val="95000"/>
              </a:lnSpc>
              <a:spcBef>
                <a:spcPts val="900"/>
              </a:spcBef>
              <a:spcAft>
                <a:spcPts val="0"/>
              </a:spcAft>
              <a:buSzPts val="1400"/>
              <a:buNone/>
            </a:pPr>
            <a:r>
              <a:t/>
            </a:r>
            <a:endParaRPr/>
          </a:p>
        </p:txBody>
      </p:sp>
      <p:sp>
        <p:nvSpPr>
          <p:cNvPr id="559" name="Google Shape;559;g3d47a4565b8_28_31"/>
          <p:cNvSpPr txBox="1"/>
          <p:nvPr>
            <p:ph idx="12" type="sldNum"/>
          </p:nvPr>
        </p:nvSpPr>
        <p:spPr>
          <a:xfrm>
            <a:off x="1" y="4790748"/>
            <a:ext cx="457200" cy="295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SzPts val="900"/>
              <a:buNone/>
            </a:pPr>
            <a:fld id="{00000000-1234-1234-1234-123412341234}" type="slidenum">
              <a:rPr lang="zh-CN"/>
              <a:t>‹#›</a:t>
            </a:fld>
            <a:endParaRPr/>
          </a:p>
        </p:txBody>
      </p:sp>
      <p:pic>
        <p:nvPicPr>
          <p:cNvPr id="560" name="Google Shape;560;g3d47a4565b8_28_31"/>
          <p:cNvPicPr preferRelativeResize="0"/>
          <p:nvPr/>
        </p:nvPicPr>
        <p:blipFill>
          <a:blip r:embed="rId4">
            <a:alphaModFix/>
          </a:blip>
          <a:stretch>
            <a:fillRect/>
          </a:stretch>
        </p:blipFill>
        <p:spPr>
          <a:xfrm>
            <a:off x="3114175" y="1752100"/>
            <a:ext cx="3140525" cy="31405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1"/>
          <p:cNvSpPr txBox="1"/>
          <p:nvPr/>
        </p:nvSpPr>
        <p:spPr>
          <a:xfrm>
            <a:off x="457200" y="1892450"/>
            <a:ext cx="8229000" cy="743100"/>
          </a:xfrm>
          <a:prstGeom prst="rect">
            <a:avLst/>
          </a:prstGeom>
          <a:noFill/>
          <a:ln>
            <a:noFill/>
          </a:ln>
        </p:spPr>
        <p:txBody>
          <a:bodyPr anchorCtr="0" anchor="b" bIns="34275" lIns="68575" spcFirstLastPara="1" rIns="68575" wrap="square" tIns="34275">
            <a:noAutofit/>
          </a:bodyPr>
          <a:lstStyle/>
          <a:p>
            <a:pPr indent="0" lvl="0" marL="0" marR="0" rtl="0" algn="ctr">
              <a:lnSpc>
                <a:spcPct val="100000"/>
              </a:lnSpc>
              <a:spcBef>
                <a:spcPts val="0"/>
              </a:spcBef>
              <a:spcAft>
                <a:spcPts val="0"/>
              </a:spcAft>
              <a:buClr>
                <a:schemeClr val="lt1"/>
              </a:buClr>
              <a:buSzPts val="3000"/>
              <a:buFont typeface="Verdana"/>
              <a:buNone/>
            </a:pPr>
            <a:r>
              <a:rPr b="1" i="0" lang="zh-CN" sz="3000" u="none" cap="none" strike="noStrike">
                <a:solidFill>
                  <a:schemeClr val="lt1"/>
                </a:solidFill>
                <a:latin typeface="Verdana"/>
                <a:ea typeface="Verdana"/>
                <a:cs typeface="Verdana"/>
                <a:sym typeface="Verdana"/>
              </a:rPr>
              <a:t>Thanks</a:t>
            </a:r>
            <a:endParaRPr b="1" i="0" sz="3000" u="none" cap="none" strike="noStrike">
              <a:solidFill>
                <a:schemeClr val="lt1"/>
              </a:solidFill>
              <a:latin typeface="Verdana"/>
              <a:ea typeface="Verdana"/>
              <a:cs typeface="Verdana"/>
              <a:sym typeface="Verdana"/>
            </a:endParaRPr>
          </a:p>
        </p:txBody>
      </p:sp>
      <p:sp>
        <p:nvSpPr>
          <p:cNvPr id="567" name="Google Shape;567;p41"/>
          <p:cNvSpPr txBox="1"/>
          <p:nvPr>
            <p:ph idx="1" type="subTitle"/>
          </p:nvPr>
        </p:nvSpPr>
        <p:spPr>
          <a:xfrm>
            <a:off x="542925" y="2825125"/>
            <a:ext cx="8143200" cy="1591200"/>
          </a:xfrm>
          <a:prstGeom prst="rect">
            <a:avLst/>
          </a:prstGeom>
          <a:noFill/>
          <a:ln>
            <a:noFill/>
          </a:ln>
        </p:spPr>
        <p:txBody>
          <a:bodyPr anchorCtr="0" anchor="t" bIns="34275" lIns="68575" spcFirstLastPara="1" rIns="68575" wrap="square" tIns="34275">
            <a:normAutofit/>
          </a:bodyPr>
          <a:lstStyle/>
          <a:p>
            <a:pPr indent="0" lvl="0" marL="0" rtl="0" algn="ctr">
              <a:lnSpc>
                <a:spcPct val="95000"/>
              </a:lnSpc>
              <a:spcBef>
                <a:spcPts val="0"/>
              </a:spcBef>
              <a:spcAft>
                <a:spcPts val="0"/>
              </a:spcAft>
              <a:buSzPts val="2100"/>
              <a:buNone/>
            </a:pPr>
            <a:r>
              <a:rPr lang="zh-CN"/>
              <a:t>Q&amp;A</a:t>
            </a:r>
            <a:endParaRPr sz="21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WPI-White">
  <a:themeElements>
    <a:clrScheme name="Custom 56">
      <a:dk1>
        <a:srgbClr val="000000"/>
      </a:dk1>
      <a:lt1>
        <a:srgbClr val="FFFFFF"/>
      </a:lt1>
      <a:dk2>
        <a:srgbClr val="6D6D6D"/>
      </a:dk2>
      <a:lt2>
        <a:srgbClr val="AB192D"/>
      </a:lt2>
      <a:accent1>
        <a:srgbClr val="AB192D"/>
      </a:accent1>
      <a:accent2>
        <a:srgbClr val="B2B7BB"/>
      </a:accent2>
      <a:accent3>
        <a:srgbClr val="2C6A8C"/>
      </a:accent3>
      <a:accent4>
        <a:srgbClr val="B7A079"/>
      </a:accent4>
      <a:accent5>
        <a:srgbClr val="46A0DC"/>
      </a:accent5>
      <a:accent6>
        <a:srgbClr val="6D6D6D"/>
      </a:accent6>
      <a:hlink>
        <a:srgbClr val="46A0DC"/>
      </a:hlink>
      <a:folHlink>
        <a:srgbClr val="808D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