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12192000"/>
  <p:notesSz cx="6858000" cy="9144000"/>
  <p:embeddedFontLst>
    <p:embeddedFont>
      <p:font typeface="Helvetica Neue"/>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5">
          <p15:clr>
            <a:srgbClr val="A4A3A4"/>
          </p15:clr>
        </p15:guide>
        <p15:guide id="2" orient="horz" pos="960">
          <p15:clr>
            <a:srgbClr val="A4A3A4"/>
          </p15:clr>
        </p15:guide>
        <p15:guide id="3" orient="horz" pos="3888">
          <p15:clr>
            <a:srgbClr val="A4A3A4"/>
          </p15:clr>
        </p15:guide>
        <p15:guide id="4" pos="384">
          <p15:clr>
            <a:srgbClr val="A4A3A4"/>
          </p15:clr>
        </p15:guide>
        <p15:guide id="5" pos="7296">
          <p15:clr>
            <a:srgbClr val="A4A3A4"/>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4" roundtripDataSignature="AMtx7miexGgjVWhREK5V9HZXAU/zRDOQ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88DBBA-F483-4167-A458-FFD70BF95162}">
  <a:tblStyle styleId="{1F88DBBA-F483-4167-A458-FFD70BF951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5" orient="horz"/>
        <p:guide pos="960" orient="horz"/>
        <p:guide pos="3888" orient="horz"/>
        <p:guide pos="384"/>
        <p:guide pos="7296"/>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4.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HelveticaNeue-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70" name="Google Shape;7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75" name="Google Shape;7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4" name="Google Shape;8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94" name="Google Shape;9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14" name="Google Shape;1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Signature-based Intrusion Detection System: This system works on the principle of matching. The data is analyzed and compared with the signature of known attacks. In case of any matching, an alert is issued. An advantage of this system is it has more accuracy and standard alarms understood by the user.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25" name="Google Shape;12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Anomaly-based Intrusion Detection System: It consists of a statistical model of normal network traffic which consists of the bandwidth used, the protocols defined for the traffic, the ports, and devices that are part of the network. It regularly monitors the network traffic and compares it with the statistical model. In case of any anomaly or discrepancy, the administrator is alerted. An advantage of this system is it can detect new and unique attacks.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3bcb5be8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3bcb5be8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“We represent our input features as a matrix XXX,</a:t>
            </a:r>
            <a:br>
              <a:rPr lang="en-US"/>
            </a:br>
            <a:r>
              <a:rPr lang="en-US"/>
              <a:t> where each row corresponds to one data sample,</a:t>
            </a:r>
            <a:br>
              <a:rPr lang="en-US"/>
            </a:br>
            <a:r>
              <a:rPr lang="en-US"/>
              <a:t> and each column corresponds to one feature.”</a:t>
            </a:r>
            <a:endParaRPr/>
          </a:p>
          <a:p>
            <a:pPr indent="0" lvl="0" marL="381000" marR="381000" rtl="0" algn="l">
              <a:lnSpc>
                <a:spcPct val="115000"/>
              </a:lnSpc>
              <a:spcBef>
                <a:spcPts val="1200"/>
              </a:spcBef>
              <a:spcAft>
                <a:spcPts val="0"/>
              </a:spcAft>
              <a:buNone/>
            </a:pPr>
            <a:r>
              <a:rPr lang="en-US"/>
              <a:t>“So if we have nnn samples and mmm features,</a:t>
            </a:r>
            <a:br>
              <a:rPr lang="en-US"/>
            </a:br>
            <a:r>
              <a:rPr lang="en-US"/>
              <a:t> XXX is an n×mn \times mn×m matrix.”</a:t>
            </a:r>
            <a:endParaRPr/>
          </a:p>
          <a:p>
            <a:pPr indent="0" lvl="0" marL="381000" marR="381000" rtl="0" algn="l">
              <a:lnSpc>
                <a:spcPct val="115000"/>
              </a:lnSpc>
              <a:spcBef>
                <a:spcPts val="1200"/>
              </a:spcBef>
              <a:spcAft>
                <a:spcPts val="0"/>
              </a:spcAft>
              <a:buNone/>
            </a:pPr>
            <a:r>
              <a:rPr lang="en-US"/>
              <a:t>“The dependent variable YYY is binary — it only takes values 0 or 1.”</a:t>
            </a:r>
            <a:endParaRPr/>
          </a:p>
          <a:p>
            <a:pPr indent="0" lvl="0" marL="381000" marR="381000" rtl="0" algn="l">
              <a:lnSpc>
                <a:spcPct val="115000"/>
              </a:lnSpc>
              <a:spcBef>
                <a:spcPts val="1200"/>
              </a:spcBef>
              <a:spcAft>
                <a:spcPts val="0"/>
              </a:spcAft>
              <a:buNone/>
            </a:pPr>
            <a:r>
              <a:rPr lang="en-US"/>
              <a:t>“In practice, we usually interpret:</a:t>
            </a:r>
            <a:endParaRPr/>
          </a:p>
          <a:p>
            <a:pPr indent="-298450" lvl="0" marL="457200" rtl="0" algn="l">
              <a:lnSpc>
                <a:spcPct val="115000"/>
              </a:lnSpc>
              <a:spcBef>
                <a:spcPts val="1200"/>
              </a:spcBef>
              <a:spcAft>
                <a:spcPts val="0"/>
              </a:spcAft>
              <a:buClr>
                <a:schemeClr val="dk1"/>
              </a:buClr>
              <a:buSzPts val="1100"/>
              <a:buChar char="●"/>
            </a:pPr>
            <a:r>
              <a:rPr lang="en-US"/>
              <a:t>0 as the negative class</a:t>
            </a:r>
            <a:endParaRPr/>
          </a:p>
          <a:p>
            <a:pPr indent="-298450" lvl="0" marL="457200" rtl="0" algn="l">
              <a:lnSpc>
                <a:spcPct val="115000"/>
              </a:lnSpc>
              <a:spcBef>
                <a:spcPts val="0"/>
              </a:spcBef>
              <a:spcAft>
                <a:spcPts val="0"/>
              </a:spcAft>
              <a:buClr>
                <a:schemeClr val="dk1"/>
              </a:buClr>
              <a:buSzPts val="1100"/>
              <a:buChar char="●"/>
            </a:pPr>
            <a:r>
              <a:rPr lang="en-US"/>
              <a:t>1 as the positive class”</a:t>
            </a:r>
            <a:endParaRPr/>
          </a:p>
          <a:p>
            <a:pPr indent="0" lvl="0" marL="381000" marR="381000" rtl="0" algn="l">
              <a:lnSpc>
                <a:spcPct val="115000"/>
              </a:lnSpc>
              <a:spcBef>
                <a:spcPts val="1200"/>
              </a:spcBef>
              <a:spcAft>
                <a:spcPts val="0"/>
              </a:spcAft>
              <a:buNone/>
            </a:pPr>
            <a:r>
              <a:rPr lang="en-US"/>
              <a:t>“Our goal is to predict the probability that Y=1.”</a:t>
            </a:r>
            <a:endParaRPr/>
          </a:p>
          <a:p>
            <a:pPr indent="0" lvl="0" marL="381000" marR="381000" rtl="0" algn="l">
              <a:lnSpc>
                <a:spcPct val="115000"/>
              </a:lnSpc>
              <a:spcBef>
                <a:spcPts val="1200"/>
              </a:spcBef>
              <a:spcAft>
                <a:spcPts val="0"/>
              </a:spcAft>
              <a:buNone/>
            </a:pPr>
            <a:r>
              <a:t/>
            </a:r>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“Here comes the key difference.”</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σ(z)=11+e−z\sigma(z)=\frac{1}{1+e^{-z}}σ(z)=1+e−z1​</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“We pass the linear output zzz through a </a:t>
            </a:r>
            <a:r>
              <a:rPr b="1" lang="en-US" sz="1100">
                <a:latin typeface="Arial"/>
                <a:ea typeface="Arial"/>
                <a:cs typeface="Arial"/>
                <a:sym typeface="Arial"/>
              </a:rPr>
              <a:t>sigmoid function</a:t>
            </a:r>
            <a:r>
              <a:rPr lang="en-US" sz="1100">
                <a:latin typeface="Arial"/>
                <a:ea typeface="Arial"/>
                <a:cs typeface="Arial"/>
                <a:sym typeface="Arial"/>
              </a:rPr>
              <a:t>.”</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“The sigmoid function maps any real number into a value between 0 and 1.”</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“This is important because it allows us to interpret the output as a </a:t>
            </a:r>
            <a:r>
              <a:rPr b="1" lang="en-US" sz="1100">
                <a:latin typeface="Arial"/>
                <a:ea typeface="Arial"/>
                <a:cs typeface="Arial"/>
                <a:sym typeface="Arial"/>
              </a:rPr>
              <a:t>probability</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 Highlight:</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“When zzz is very large, the output is close to 1.</a:t>
            </a:r>
            <a:br>
              <a:rPr lang="en-US" sz="1100">
                <a:latin typeface="Arial"/>
                <a:ea typeface="Arial"/>
                <a:cs typeface="Arial"/>
                <a:sym typeface="Arial"/>
              </a:rPr>
            </a:br>
            <a:r>
              <a:rPr lang="en-US" sz="1100">
                <a:latin typeface="Arial"/>
                <a:ea typeface="Arial"/>
                <a:cs typeface="Arial"/>
                <a:sym typeface="Arial"/>
              </a:rPr>
              <a:t> When zzz is very small, the output is close to 0.</a:t>
            </a:r>
            <a:br>
              <a:rPr lang="en-US" sz="1100">
                <a:latin typeface="Arial"/>
                <a:ea typeface="Arial"/>
                <a:cs typeface="Arial"/>
                <a:sym typeface="Arial"/>
              </a:rPr>
            </a:br>
            <a:r>
              <a:rPr lang="en-US" sz="1100">
                <a:latin typeface="Arial"/>
                <a:ea typeface="Arial"/>
                <a:cs typeface="Arial"/>
                <a:sym typeface="Arial"/>
              </a:rPr>
              <a:t> And when z=0, the output is exactly 0.5.”</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t/>
            </a:r>
            <a:endParaRPr/>
          </a:p>
          <a:p>
            <a:pPr indent="0" lvl="0" marL="381000" marR="38100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153" name="Google Shape;153;g3d3bcb5be89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3bcb5be89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3bcb5be89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x </a:t>
            </a:r>
            <a:endParaRPr/>
          </a:p>
          <a:p>
            <a:pPr indent="0" lvl="0" marL="0" rtl="0" algn="l">
              <a:spcBef>
                <a:spcPts val="0"/>
              </a:spcBef>
              <a:spcAft>
                <a:spcPts val="0"/>
              </a:spcAft>
              <a:buNone/>
            </a:pPr>
            <a:r>
              <a:rPr lang="en-US"/>
              <a:t>i</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  is the feature value,</a:t>
            </a:r>
            <a:endParaRPr/>
          </a:p>
          <a:p>
            <a:pPr indent="0" lvl="0" marL="0" rtl="0" algn="l">
              <a:spcBef>
                <a:spcPts val="0"/>
              </a:spcBef>
              <a:spcAft>
                <a:spcPts val="0"/>
              </a:spcAft>
              <a:buNone/>
            </a:pPr>
            <a:r>
              <a:rPr lang="en-US"/>
              <a:t>μ</a:t>
            </a:r>
            <a:endParaRPr/>
          </a:p>
          <a:p>
            <a:pPr indent="0" lvl="0" marL="0" rtl="0" algn="l">
              <a:spcBef>
                <a:spcPts val="0"/>
              </a:spcBef>
              <a:spcAft>
                <a:spcPts val="0"/>
              </a:spcAft>
              <a:buNone/>
            </a:pPr>
            <a:r>
              <a:rPr lang="en-US"/>
              <a:t>μ is the mean of the feature values for a given class </a:t>
            </a:r>
            <a:endParaRPr/>
          </a:p>
          <a:p>
            <a:pPr indent="0" lvl="0" marL="0" rtl="0" algn="l">
              <a:spcBef>
                <a:spcPts val="0"/>
              </a:spcBef>
              <a:spcAft>
                <a:spcPts val="0"/>
              </a:spcAft>
              <a:buNone/>
            </a:pPr>
            <a:r>
              <a:rPr lang="en-US"/>
              <a:t>y</a:t>
            </a:r>
            <a:endParaRPr/>
          </a:p>
          <a:p>
            <a:pPr indent="0" lvl="0" marL="0" rtl="0" algn="l">
              <a:spcBef>
                <a:spcPts val="0"/>
              </a:spcBef>
              <a:spcAft>
                <a:spcPts val="0"/>
              </a:spcAft>
              <a:buNone/>
            </a:pPr>
            <a:r>
              <a:rPr lang="en-US"/>
              <a:t>k</a:t>
            </a:r>
            <a:endParaRPr/>
          </a:p>
          <a:p>
            <a:pPr indent="0" lvl="0" marL="0" rtl="0" algn="l">
              <a:spcBef>
                <a:spcPts val="0"/>
              </a:spcBef>
              <a:spcAft>
                <a:spcPts val="0"/>
              </a:spcAft>
              <a:buNone/>
            </a:pPr>
            <a:r>
              <a:rPr lang="en-US"/>
              <a:t>y </a:t>
            </a:r>
            <a:endParaRPr/>
          </a:p>
          <a:p>
            <a:pPr indent="0" lvl="0" marL="0" rtl="0" algn="l">
              <a:spcBef>
                <a:spcPts val="0"/>
              </a:spcBef>
              <a:spcAft>
                <a:spcPts val="0"/>
              </a:spcAft>
              <a:buNone/>
            </a:pPr>
            <a:r>
              <a:rPr lang="en-US"/>
              <a:t>k</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σ</a:t>
            </a:r>
            <a:endParaRPr/>
          </a:p>
          <a:p>
            <a:pPr indent="0" lvl="0" marL="0" rtl="0" algn="l">
              <a:spcBef>
                <a:spcPts val="0"/>
              </a:spcBef>
              <a:spcAft>
                <a:spcPts val="0"/>
              </a:spcAft>
              <a:buNone/>
            </a:pPr>
            <a:r>
              <a:rPr lang="en-US"/>
              <a:t>σ is the standard deviation of the feature values for that class,</a:t>
            </a:r>
            <a:endParaRPr/>
          </a:p>
          <a:p>
            <a:pPr indent="0" lvl="0" marL="0" rtl="0" algn="l">
              <a:spcBef>
                <a:spcPts val="0"/>
              </a:spcBef>
              <a:spcAft>
                <a:spcPts val="0"/>
              </a:spcAft>
              <a:buNone/>
            </a:pPr>
            <a:r>
              <a:rPr lang="en-US"/>
              <a:t>π</a:t>
            </a:r>
            <a:endParaRPr/>
          </a:p>
          <a:p>
            <a:pPr indent="0" lvl="0" marL="0" rtl="0" algn="l">
              <a:spcBef>
                <a:spcPts val="0"/>
              </a:spcBef>
              <a:spcAft>
                <a:spcPts val="0"/>
              </a:spcAft>
              <a:buNone/>
            </a:pPr>
            <a:r>
              <a:rPr lang="en-US"/>
              <a:t>π is a constant (approximately 3.14159),</a:t>
            </a:r>
            <a:endParaRPr/>
          </a:p>
          <a:p>
            <a:pPr indent="0" lvl="0" marL="0" rtl="0" algn="l">
              <a:spcBef>
                <a:spcPts val="0"/>
              </a:spcBef>
              <a:spcAft>
                <a:spcPts val="0"/>
              </a:spcAft>
              <a:buNone/>
            </a:pPr>
            <a:r>
              <a:rPr lang="en-US"/>
              <a:t>e</a:t>
            </a:r>
            <a:endParaRPr/>
          </a:p>
          <a:p>
            <a:pPr indent="0" lvl="0" marL="0" rtl="0" algn="l">
              <a:spcBef>
                <a:spcPts val="0"/>
              </a:spcBef>
              <a:spcAft>
                <a:spcPts val="0"/>
              </a:spcAft>
              <a:buNone/>
            </a:pPr>
            <a:r>
              <a:rPr lang="en-US"/>
              <a:t>e is the base of the natural logarithm.</a:t>
            </a:r>
            <a:endParaRPr/>
          </a:p>
          <a:p>
            <a:pPr indent="0" lvl="0" marL="0" rtl="0" algn="l">
              <a:spcBef>
                <a:spcPts val="0"/>
              </a:spcBef>
              <a:spcAft>
                <a:spcPts val="0"/>
              </a:spcAft>
              <a:buNone/>
            </a:pPr>
            <a:r>
              <a:rPr lang="en-US"/>
              <a:t>To classify each new data point x the algorithm finds out the maximum value of the posterior probability of each class and assigns the data point to that class.</a:t>
            </a:r>
            <a:endParaRPr/>
          </a:p>
        </p:txBody>
      </p:sp>
      <p:sp>
        <p:nvSpPr>
          <p:cNvPr id="162" name="Google Shape;162;g3d3bcb5be89_0_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3bcb5be89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3bcb5be89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d3bcb5be89_0_1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3bcb5be89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3bcb5be89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d3bcb5be89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3bcb5be89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3bcb5be89_0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d3bcb5be89_0_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3bcb5be89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3bcb5be89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d3bcb5be89_0_4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5" name="Google Shape;2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10" name="Google Shape;21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t>
            </a:r>
            <a:endParaRPr/>
          </a:p>
          <a:p>
            <a:pPr indent="0" lvl="0" marL="0" rtl="0" algn="l">
              <a:lnSpc>
                <a:spcPct val="100000"/>
              </a:lnSpc>
              <a:spcBef>
                <a:spcPts val="0"/>
              </a:spcBef>
              <a:spcAft>
                <a:spcPts val="0"/>
              </a:spcAft>
              <a:buSzPts val="1400"/>
              <a:buNone/>
            </a:pPr>
            <a:r>
              <a:rPr lang="en-US"/>
              <a:t>Here is the outline of today’s talk.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First, I’ll briefly explain how C and C++ programs execute, because this directly affects how fuzzing works.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Then I’ll explain why dynamic detection methods, especially fuzzing, are necessary compared to static analysis.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After that, I’ll introduce how large language models can help fuzzing, especially in generating and mutating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Finally, I’ll show some hands-on experimental results, including coverage improvements on real-world OSS-Fuzz projects.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19" name="Google Shape;2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diagram illustrates the core feedback-driven loop of modern fuzzing.</a:t>
            </a:r>
            <a:endParaRPr/>
          </a:p>
          <a:p>
            <a:pPr indent="0" lvl="0" marL="0" rtl="0" algn="l">
              <a:lnSpc>
                <a:spcPct val="100000"/>
              </a:lnSpc>
              <a:spcBef>
                <a:spcPts val="0"/>
              </a:spcBef>
              <a:spcAft>
                <a:spcPts val="0"/>
              </a:spcAft>
              <a:buSzPts val="1400"/>
              <a:buNone/>
            </a:pPr>
            <a:r>
              <a:rPr lang="en-US"/>
              <a:t>The process starts with a set of seed inputs, which are typically valid or representative examples of the program’s expected input format. These seeds are placed into a corpus, which acts as the evolving knowledge base of the fuzzer.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fuzzer repeatedly selects inputs from the corpus and applies various mutation strategies to generate new test cases. Each mutated input is then passed through the fuzz harness, which serves as a wrapper that feeds the input into the software under test and executes the target code in a controlled manner.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During execution, the fuzzer monitors runtime feedback, most importantly code coverage information. If a new input triggers previously unseen execution paths, it is considered valuable and added back into the corpus, enabling the fuzzer to progressively explore deeper and more complex program behaviors.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the same time, the fuzzer records findings such as crashes, hangs, or memory violations. These findings often correspond to real bugs or security vulnerabilities, making fuzzing an effective dynamic analysis technique for discovering flaws that are difficult to detect with static methods.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30" name="Google Shape;23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code snippet is a typical example of a fuzz harness file used by modern fuzzers such as LibFuzzer or OSS-Fuzz.</a:t>
            </a:r>
            <a:endParaRPr/>
          </a:p>
          <a:p>
            <a:pPr indent="0" lvl="0" marL="0" rtl="0" algn="l">
              <a:lnSpc>
                <a:spcPct val="100000"/>
              </a:lnSpc>
              <a:spcBef>
                <a:spcPts val="0"/>
              </a:spcBef>
              <a:spcAft>
                <a:spcPts val="0"/>
              </a:spcAft>
              <a:buSzPts val="1400"/>
              <a:buNone/>
            </a:pPr>
            <a:r>
              <a:rPr lang="en-US"/>
              <a:t>The harness defines a special function, LLVMFuzzerTestOneInput, which serves as the entry point that the fuzzer repeatedly calls with mutated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parameters data and size represent the raw bytes generated by the fuzzer. The role of the harness is to translate these arbitrary bytes into inputs that the target software can consume. In this example, the fuzzed data is treated as in-memory file content and passed directly to a ZIP-processing API in the miniz library.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Rather than fuzzing an entire application or command-line tool, the harness directly invokes a specific function of interest—mz_zip_add_mem_to_archive_file_in_place. This allows the fuzzer to focus on a well-defined execution path and efficiently explore edge cases inside the library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By isolating the target functionality and eliminating unrelated logic such as argument parsing or I/O handling, the harness improves coverage, performance, and crash reproducibility. In practice, the quality of the harness largely determines how effective fuzzing will be at uncovering deep bugs and security vulnerabilities.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41" name="Google Shape;24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diagram is a call graph, which describes how functions call each other during program execution.</a:t>
            </a:r>
            <a:endParaRPr/>
          </a:p>
          <a:p>
            <a:pPr indent="0" lvl="0" marL="0" rtl="0" algn="l">
              <a:lnSpc>
                <a:spcPct val="100000"/>
              </a:lnSpc>
              <a:spcBef>
                <a:spcPts val="0"/>
              </a:spcBef>
              <a:spcAft>
                <a:spcPts val="0"/>
              </a:spcAft>
              <a:buSzPts val="1400"/>
              <a:buNone/>
            </a:pPr>
            <a:r>
              <a:rPr lang="en-US"/>
              <a:t>Each node represents a function, and each directed edge indicates a possible or observed function call relationship.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Execution starts from the program entry point (_start), flows into main, and then branches into other functions such as f0 and f1. Some functions, like f2, may be called from multiple callers, which is why multiple arrows converge on them.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numbers on the edges indicate how many times a call occurred, while the colors or percentages show relative execution cost or coverage. Call graphs are useful for understanding high-level program structure, but they do not show what happens inside a function.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51" name="Google Shape;25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we stop looking at which functions call which.</a:t>
            </a:r>
            <a:endParaRPr/>
          </a:p>
          <a:p>
            <a:pPr indent="0" lvl="0" marL="0" rtl="0" algn="l">
              <a:lnSpc>
                <a:spcPct val="100000"/>
              </a:lnSpc>
              <a:spcBef>
                <a:spcPts val="0"/>
              </a:spcBef>
              <a:spcAft>
                <a:spcPts val="0"/>
              </a:spcAft>
              <a:buSzPts val="1400"/>
              <a:buNone/>
            </a:pPr>
            <a:r>
              <a:rPr lang="en-US"/>
              <a:t>Instead, we focus on what happens inside a single function, step by step.”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 What does a CFG describe?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Control Flow Graph shows all the possible ways execution can flow inside one function.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simple terms, it answers the question: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the program is at this line, where can it go next?”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CFG draws all those possible next steps.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 What is a Basic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“Each box in the CFG is called a Basic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Basic Block is a chunk of code that: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Executes straight from top to bottom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Has no jumps in the middle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Has one entry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Has one exit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Once execution enters a basic block, every instruction in it will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remember this: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Basic Block is a piece of code that always executes together.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3️⃣ Why do we split code into Basic Blocks?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Because real programs contain: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 else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switch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goto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return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Whenever the program needs to make a decision, the execution can split.</a:t>
            </a:r>
            <a:endParaRPr/>
          </a:p>
          <a:p>
            <a:pPr indent="0" lvl="0" marL="0" rtl="0" algn="l">
              <a:lnSpc>
                <a:spcPct val="100000"/>
              </a:lnSpc>
              <a:spcBef>
                <a:spcPts val="0"/>
              </a:spcBef>
              <a:spcAft>
                <a:spcPts val="0"/>
              </a:spcAft>
              <a:buSzPts val="1400"/>
              <a:buNone/>
            </a:pPr>
            <a:r>
              <a:rPr lang="en-US"/>
              <a:t>At that point, the CFG cuts the code into separate basic blocks.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Each block represents one uninterrupted execution segment.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What do the arrows mean?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arrows show where execution may go next after finishing a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Conditional statements create multiple outgoing arrows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goto creates a single forced jump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return ends the function and has no outgoing arrow</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Important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CFG shows all possible paths — not one actual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 How many paths does one execution take?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Only one.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Even though the CFG looks like a network of many paths,</a:t>
            </a:r>
            <a:endParaRPr/>
          </a:p>
          <a:p>
            <a:pPr indent="0" lvl="0" marL="0" rtl="0" algn="l">
              <a:lnSpc>
                <a:spcPct val="100000"/>
              </a:lnSpc>
              <a:spcBef>
                <a:spcPts val="0"/>
              </a:spcBef>
              <a:spcAft>
                <a:spcPts val="0"/>
              </a:spcAft>
              <a:buSzPts val="1400"/>
              <a:buNone/>
            </a:pPr>
            <a:r>
              <a:rPr lang="en-US"/>
              <a:t>a single program run follows only one path from start to end.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good analogy 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CFG is a map.</a:t>
            </a:r>
            <a:endParaRPr/>
          </a:p>
          <a:p>
            <a:pPr indent="0" lvl="0" marL="0" rtl="0" algn="l">
              <a:lnSpc>
                <a:spcPct val="100000"/>
              </a:lnSpc>
              <a:spcBef>
                <a:spcPts val="0"/>
              </a:spcBef>
              <a:spcAft>
                <a:spcPts val="0"/>
              </a:spcAft>
              <a:buSzPts val="1400"/>
              <a:buNone/>
            </a:pPr>
            <a:r>
              <a:rPr lang="en-US"/>
              <a:t>A program execution is one route on that map.”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6️⃣ Why is CFG important for fuzzing?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explains a key idea in fuzzing: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One fuzz input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Executes one path in the CFG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Other paths require different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fuzzing works by: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Generating many inputs to explore new paths in the CFG.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Bugs often hide in paths that are rarely taken.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61" name="Google Shape;26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we compile a program with GCC using coverage flags, the compiler does not just produce a normal binary.</a:t>
            </a:r>
            <a:endParaRPr/>
          </a:p>
          <a:p>
            <a:pPr indent="0" lvl="0" marL="0" rtl="0" algn="l">
              <a:lnSpc>
                <a:spcPct val="100000"/>
              </a:lnSpc>
              <a:spcBef>
                <a:spcPts val="0"/>
              </a:spcBef>
              <a:spcAft>
                <a:spcPts val="0"/>
              </a:spcAft>
              <a:buSzPts val="1400"/>
              <a:buNone/>
            </a:pPr>
            <a:r>
              <a:rPr lang="en-US"/>
              <a:t>It instruments the code by inserting counters at important locations, such as basic blocks and branches.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During compilation, GCC generates a file called .gcno.</a:t>
            </a:r>
            <a:endParaRPr/>
          </a:p>
          <a:p>
            <a:pPr indent="0" lvl="0" marL="0" rtl="0" algn="l">
              <a:lnSpc>
                <a:spcPct val="100000"/>
              </a:lnSpc>
              <a:spcBef>
                <a:spcPts val="0"/>
              </a:spcBef>
              <a:spcAft>
                <a:spcPts val="0"/>
              </a:spcAft>
              <a:buSzPts val="1400"/>
              <a:buNone/>
            </a:pPr>
            <a:r>
              <a:rPr lang="en-US"/>
              <a:t>This file contains the static structure of the program — essentially, where the code could go.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we run the program, the instrumented binary produces a .gcda file.</a:t>
            </a:r>
            <a:endParaRPr/>
          </a:p>
          <a:p>
            <a:pPr indent="0" lvl="0" marL="0" rtl="0" algn="l">
              <a:lnSpc>
                <a:spcPct val="100000"/>
              </a:lnSpc>
              <a:spcBef>
                <a:spcPts val="0"/>
              </a:spcBef>
              <a:spcAft>
                <a:spcPts val="0"/>
              </a:spcAft>
              <a:buSzPts val="1400"/>
              <a:buNone/>
            </a:pPr>
            <a:r>
              <a:rPr lang="en-US"/>
              <a:t>This file records what actually happened at runtime — which lines or blocks were executed, and how many times.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Finally, the gcov tool combines the static structure (.gcno) with the runtime data (.gcda) and turns it into coverage information that other tools can visualize.</a:t>
            </a:r>
            <a:br>
              <a:rPr lang="en-US"/>
            </a:br>
            <a:br>
              <a:rPr lang="en-US"/>
            </a:br>
            <a:br>
              <a:rPr lang="en-US"/>
            </a:br>
            <a:r>
              <a:rPr lang="en-US"/>
              <a:t>This LCOV report shows which lines of code were executed during the test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Each line in the source code is annotated with a number: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positive number means the line was executed that many times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zero means the line was never executed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Colors make this very intuitive: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Blue or green lines were covered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Red lines were never reached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the top, LCOV summarizes coverage using percentages: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Line coverage: how many lines were executed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Function coverage: how many functions were entered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example, one branch of the if–else statement was never taken, which means the program logic is only partially tested.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73" name="Google Shape;27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t>
            </a:r>
            <a:endParaRPr/>
          </a:p>
          <a:p>
            <a:pPr indent="0" lvl="0" marL="0" rtl="0" algn="l">
              <a:lnSpc>
                <a:spcPct val="100000"/>
              </a:lnSpc>
              <a:spcBef>
                <a:spcPts val="0"/>
              </a:spcBef>
              <a:spcAft>
                <a:spcPts val="0"/>
              </a:spcAft>
              <a:buSzPts val="1400"/>
              <a:buNone/>
            </a:pPr>
            <a:r>
              <a:rPr lang="en-US"/>
              <a:t>Fuzzing starts from seeds.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seed is simply an input to the program. It can be a file like JSON or XML, a string, a number, or sometimes even a binary blob that is not human-readable.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quality of these seeds matters a lot, because they determine which execution paths we can reach initially.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82" name="Google Shape;28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t>
            </a:r>
            <a:endParaRPr/>
          </a:p>
          <a:p>
            <a:pPr indent="0" lvl="0" marL="0" rtl="0" algn="l">
              <a:lnSpc>
                <a:spcPct val="100000"/>
              </a:lnSpc>
              <a:spcBef>
                <a:spcPts val="0"/>
              </a:spcBef>
              <a:spcAft>
                <a:spcPts val="0"/>
              </a:spcAft>
              <a:buSzPts val="1400"/>
              <a:buNone/>
            </a:pPr>
            <a:r>
              <a:rPr lang="en-US"/>
              <a:t>After we have seeds, fuzzing relies on mutation strategies.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Traditional fuzzers mutate inputs at the byte level, such as flipping bits or bytes.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More advanced fuzzers use token-level or structure-level mutations, and grammar-based fuzzers ensure syntactic validity.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Recently, there is increasing interest in semantic mutation, where we try to change the meaning of the input rather than just its bytes.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where LLMs become particularly useful.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93" name="Google Shape;29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Figure Description: LLM-Driven Autoprompting and Fuzzing Pipeline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figure presents an end-to-end framework that combines LLM-based autoprompting with a semantic fuzzing loop to test complex software systems, such as compilers, interpreters, and formal verification tools.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the top of the pipeline, the framework takes heterogeneous user-provided knowledge as input, including documentation (for example, API descriptions of std::expected), example code snippets, and formal specifications. Together, these sources define the semantic scope of the target functionality and serve as the foundation for constructing effective prompts.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left side of the figure illustrates the autoprompting via distillation process. In this stage, the system samples multiple candidate prompts derived from the available documentation, examples, and specifications. A generation LLM then uses these prompts to produce multiple candidate code snippets, such as small C++ programs exercising the target feature. These generated snippets are evaluated according to criteria such as correctness, diversity, or downstream performance. Based on this evaluation, the system selects the best-performing prompt, effectively distilling a refined input prompt that captures the intended semantics of the target functionality.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right side of the figure shows a semantic fuzzing loop guided by an LLM and feedback from the system under test (SUT). The refined prompt is fed into a generation LLM, which produces fuzzing inputs in the form of code snippets. A subset of these generated snippets is selected and executed against the SUT, which may include SMT solvers (e.g., Z3 or CVC5), compilers (e.g., GCC), or language runtimes and analysis tools. During execution, results such as failures, crashes, or coverage information are collected and used as feedback. This feedback is then used to update the input prompt, and the process iterates.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Within the fuzzing loop, the framework supports multiple generation strategies. These include generating entirely new programs, mutating existing generated code, and applying semantic-equivalent transformations that produce syntactically different but semantically equivalent inputs. By operating at the semantic level rather than relying solely on low-level syntax mutations, these strategies enable more effective exploration of the input space.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Overall, the figure highlights a closed-loop, LLM-assisted testing framework that automatically distills high-quality prompts from raw knowledge sources, leverages semantic code generation to drive fuzzing, and continuously improves input quality through execution feedback. This design enables semantics-aware fuzzing that goes beyond random mutations and is particularly well suited for testing complex, specification-heavy systems.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02" name="Google Shape;30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t>
            </a:r>
            <a:endParaRPr/>
          </a:p>
          <a:p>
            <a:pPr indent="0" lvl="0" marL="0" rtl="0" algn="l">
              <a:lnSpc>
                <a:spcPct val="100000"/>
              </a:lnSpc>
              <a:spcBef>
                <a:spcPts val="0"/>
              </a:spcBef>
              <a:spcAft>
                <a:spcPts val="0"/>
              </a:spcAft>
              <a:buSzPts val="1400"/>
              <a:buNone/>
            </a:pPr>
            <a:r>
              <a:rPr lang="en-US"/>
              <a:t>To evaluate these ideas, we conducted experiments on OSS-Fuzz, which is Google’s large-scale continuous fuzzing infrastructure for open-source software.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We compare the traditional OSS-Fuzz setup with OSS-Fuzz-Gen, which uses LLM-generated fuzzing harnesses and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allows us to measure whether LLM assistance can actually improve coverage on real-world projects.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3" name="Google Shape;31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18" name="Google Shape;31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Modern software systems are complex and large-scale.</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Even experienced developers can introduce vulnerabilities unintentionally.</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Traditional tools rely on manually crafted rules, which are hard to maintain and often miss unknown patterns.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This motivates using </a:t>
            </a:r>
            <a:r>
              <a:rPr b="1" i="0" lang="en-US" sz="1200" u="none" cap="none" strike="noStrike">
                <a:solidFill>
                  <a:schemeClr val="dk1"/>
                </a:solidFill>
                <a:latin typeface="Calibri"/>
                <a:ea typeface="Calibri"/>
                <a:cs typeface="Calibri"/>
                <a:sym typeface="Calibri"/>
              </a:rPr>
              <a:t>AI to automatically learn vulnerability patterns from data</a:t>
            </a: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28" name="Google Shape;32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We frame vulnerability detection as a supervised learning problem.</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Each code function is treated as one data sample.</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model predicts whether this function contains a vulnerability or not.</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So fundamentally, this is a </a:t>
            </a:r>
            <a:r>
              <a:rPr b="1" i="0" lang="en-US" sz="1200" u="none" cap="none" strike="noStrike">
                <a:solidFill>
                  <a:schemeClr val="dk1"/>
                </a:solidFill>
                <a:latin typeface="Calibri"/>
                <a:ea typeface="Calibri"/>
                <a:cs typeface="Calibri"/>
                <a:sym typeface="Calibri"/>
              </a:rPr>
              <a:t>binary classification task</a:t>
            </a: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a:t>Our data comes from the MSR_data_cleaned dataset on HuggingFace, which is built from real-world CVE vulnerability records. It contains actual production code from well-known open-source projects like the Linux kernel, FFmpeg, and Apache.</a:t>
            </a:r>
            <a:endParaRPr/>
          </a:p>
          <a:p>
            <a:pPr indent="-228600" lvl="0" marL="457200" marR="0" rtl="0" algn="l">
              <a:lnSpc>
                <a:spcPct val="100000"/>
              </a:lnSpc>
              <a:spcBef>
                <a:spcPts val="0"/>
              </a:spcBef>
              <a:spcAft>
                <a:spcPts val="0"/>
              </a:spcAft>
              <a:buSzPts val="1400"/>
              <a:buNone/>
            </a:pPr>
            <a:r>
              <a:rPr lang="en-US"/>
              <a:t>In terms of scale, we have over </a:t>
            </a:r>
            <a:r>
              <a:rPr b="1" lang="en-US"/>
              <a:t>150,000 C language functions</a:t>
            </a:r>
            <a:r>
              <a:rPr lang="en-US"/>
              <a:t> in total. Among these, 8,720 functions are vulnerable, accounting for 5.8%, while over 142,000 functions are non-vulnerable, making up 94.2%.</a:t>
            </a:r>
            <a:endParaRPr/>
          </a:p>
          <a:p>
            <a:pPr indent="-228600" lvl="0" marL="457200" marR="0" rtl="0" algn="l">
              <a:lnSpc>
                <a:spcPct val="100000"/>
              </a:lnSpc>
              <a:spcBef>
                <a:spcPts val="0"/>
              </a:spcBef>
              <a:spcAft>
                <a:spcPts val="0"/>
              </a:spcAft>
              <a:buClr>
                <a:srgbClr val="000000"/>
              </a:buClr>
              <a:buSzPts val="1400"/>
              <a:buFont typeface="Arial"/>
              <a:buNone/>
            </a:pPr>
            <a:r>
              <a:rPr b="1" i="0" lang="en-US" sz="1200" u="none" cap="none" strike="noStrike">
                <a:solidFill>
                  <a:schemeClr val="dk1"/>
                </a:solidFill>
                <a:latin typeface="Calibri"/>
                <a:ea typeface="Calibri"/>
                <a:cs typeface="Calibri"/>
                <a:sym typeface="Calibri"/>
              </a:rPr>
              <a:t>To better understand and label these vulnerable functions, real-world vulnerability records provide essential contextual information.</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In vulnerability analysis, each vulnerability is described using standardized identifiers and metadata.</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CVE IDs uniquely identify individual vulnerabilities, while CWE IDs categorize them based on underlying weakness types.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CVSS score quantifies the severity of a vulnerability and helps prioritize remediation efforts.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In addition, commit information and patch details provide insight into how vulnerabilities are fixed at the code level.</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Together, these elements form the foundation for understanding, analyzing, and automatically detecting software vulnerabilities using AI-based approaches.</a:t>
            </a:r>
            <a:endParaRPr b="0" i="0" sz="1200" u="none" cap="none" strike="noStrike">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38" name="Google Shape;33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So how do we convert code into something AI can understand?</a:t>
            </a:r>
            <a:endParaRPr/>
          </a:p>
          <a:p>
            <a:pPr indent="-228600" lvl="0" marL="457200" marR="0" rtl="0" algn="l">
              <a:lnSpc>
                <a:spcPct val="100000"/>
              </a:lnSpc>
              <a:spcBef>
                <a:spcPts val="0"/>
              </a:spcBef>
              <a:spcAft>
                <a:spcPts val="0"/>
              </a:spcAft>
              <a:buSzPts val="1400"/>
              <a:buNone/>
            </a:pPr>
            <a:r>
              <a:rPr b="1" lang="en-US"/>
              <a:t>First, tokenization.</a:t>
            </a:r>
            <a:r>
              <a:rPr lang="en-US"/>
              <a:t> We use a C lexer to break down the source code into tokens—things like keywords, operators, and variable names. We also preprocess the code by removing comments and string literals, since they don't affect functionality. For example, a function like 'strcpy(buffer, input)' becomes a sequence of tokens: 'strcpy', opening parenthesis, 'buffer', comma, 'input', closing parenthesis.</a:t>
            </a:r>
            <a:endParaRPr/>
          </a:p>
          <a:p>
            <a:pPr indent="-228600" lvl="0" marL="457200" marR="0" rtl="0" algn="l">
              <a:lnSpc>
                <a:spcPct val="100000"/>
              </a:lnSpc>
              <a:spcBef>
                <a:spcPts val="0"/>
              </a:spcBef>
              <a:spcAft>
                <a:spcPts val="0"/>
              </a:spcAft>
              <a:buSzPts val="1400"/>
              <a:buNone/>
            </a:pPr>
            <a:r>
              <a:rPr b="1" lang="en-US"/>
              <a:t>Second, vocabulary building.</a:t>
            </a:r>
            <a:r>
              <a:rPr lang="en-US"/>
              <a:t> Across all 150,000 functions, we identified over 161,000 unique tokens. To reduce noise, we filtered out tokens that appear fewer than 5 times.</a:t>
            </a:r>
            <a:endParaRPr/>
          </a:p>
          <a:p>
            <a:pPr indent="-228600" lvl="0" marL="457200" marR="0" rtl="0" algn="l">
              <a:lnSpc>
                <a:spcPct val="100000"/>
              </a:lnSpc>
              <a:spcBef>
                <a:spcPts val="0"/>
              </a:spcBef>
              <a:spcAft>
                <a:spcPts val="0"/>
              </a:spcAft>
              <a:buSzPts val="1400"/>
              <a:buNone/>
            </a:pPr>
            <a:r>
              <a:rPr b="1" lang="en-US"/>
              <a:t>Third, encoding.</a:t>
            </a:r>
            <a:r>
              <a:rPr lang="en-US"/>
              <a:t> Each token is converted to an integer ID. Then we standardize the sequence length to 300 tokens—longer functions are truncated, shorter ones are padded with zeros.</a:t>
            </a:r>
            <a:endParaRPr/>
          </a:p>
          <a:p>
            <a:pPr indent="-228600" lvl="0" marL="457200" marR="0" rtl="0" algn="l">
              <a:lnSpc>
                <a:spcPct val="100000"/>
              </a:lnSpc>
              <a:spcBef>
                <a:spcPts val="0"/>
              </a:spcBef>
              <a:spcAft>
                <a:spcPts val="0"/>
              </a:spcAft>
              <a:buSzPts val="1400"/>
              <a:buNone/>
            </a:pPr>
            <a:r>
              <a:rPr b="1" lang="en-US"/>
              <a:t>Finally, embedding.</a:t>
            </a:r>
            <a:r>
              <a:rPr lang="en-US"/>
              <a:t> These integer IDs are transformed into 128-dimensional dense vectors through an embedding layer. This captures semantic relationships between tokens—similar code patterns get similar vector representations.</a:t>
            </a:r>
            <a:endParaRPr/>
          </a:p>
          <a:p>
            <a:pPr indent="-228600" lvl="0" marL="457200" marR="0" rtl="0" algn="l">
              <a:lnSpc>
                <a:spcPct val="100000"/>
              </a:lnSpc>
              <a:spcBef>
                <a:spcPts val="0"/>
              </a:spcBef>
              <a:spcAft>
                <a:spcPts val="0"/>
              </a:spcAft>
              <a:buSzPts val="1400"/>
              <a:buNone/>
            </a:pPr>
            <a:r>
              <a:rPr lang="en-US"/>
              <a:t>The key point is: we preserve the sequential structure of the code while converting it into a numerical format the neural network can process."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48" name="Google Shape;34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"Our model is a Bi-LSTM with attention. Let me explain why.</a:t>
            </a:r>
            <a:endParaRPr/>
          </a:p>
          <a:p>
            <a:pPr indent="-228600" lvl="0" marL="457200" marR="0" rtl="0" algn="l">
              <a:lnSpc>
                <a:spcPct val="100000"/>
              </a:lnSpc>
              <a:spcBef>
                <a:spcPts val="0"/>
              </a:spcBef>
              <a:spcAft>
                <a:spcPts val="0"/>
              </a:spcAft>
              <a:buSzPts val="1400"/>
              <a:buNone/>
            </a:pPr>
            <a:r>
              <a:rPr b="1" lang="en-US"/>
              <a:t>Bi-LSTM:</a:t>
            </a:r>
            <a:r>
              <a:rPr lang="en-US"/>
              <a:t> We read code in both directions—forward and backward—because vulnerabilities depend on context from both sides. For example, understanding a pointer requires knowing where it's allocated AND where it's freed.</a:t>
            </a:r>
            <a:endParaRPr/>
          </a:p>
          <a:p>
            <a:pPr indent="-228600" lvl="0" marL="457200" marR="0" rtl="0" algn="l">
              <a:lnSpc>
                <a:spcPct val="100000"/>
              </a:lnSpc>
              <a:spcBef>
                <a:spcPts val="0"/>
              </a:spcBef>
              <a:spcAft>
                <a:spcPts val="0"/>
              </a:spcAft>
              <a:buSzPts val="1400"/>
              <a:buNone/>
            </a:pPr>
            <a:r>
              <a:rPr b="1" lang="en-US"/>
              <a:t>Attention mechanism:</a:t>
            </a:r>
            <a:r>
              <a:rPr lang="en-US"/>
              <a:t> Not all code is equally important. Some keywords like 'strcpy' are high-risk, while others like semicolons don't matter much. Attention automatically learns to focus on the critical parts—the vulnerability hotspots.</a:t>
            </a:r>
            <a:endParaRPr/>
          </a:p>
          <a:p>
            <a:pPr indent="-228600" lvl="0" marL="457200" marR="0" rtl="0" algn="l">
              <a:lnSpc>
                <a:spcPct val="100000"/>
              </a:lnSpc>
              <a:spcBef>
                <a:spcPts val="0"/>
              </a:spcBef>
              <a:spcAft>
                <a:spcPts val="0"/>
              </a:spcAft>
              <a:buSzPts val="1400"/>
              <a:buNone/>
            </a:pPr>
            <a:r>
              <a:rPr lang="en-US"/>
              <a:t>The architecture is: embedding layer, bidirectional LSTM, attention, dense layer with dropout, and sigmoid output for binary classification.</a:t>
            </a:r>
            <a:endParaRPr/>
          </a:p>
          <a:p>
            <a:pPr indent="-228600" lvl="0" marL="457200" marR="0" rtl="0" algn="l">
              <a:lnSpc>
                <a:spcPct val="100000"/>
              </a:lnSpc>
              <a:spcBef>
                <a:spcPts val="0"/>
              </a:spcBef>
              <a:spcAft>
                <a:spcPts val="0"/>
              </a:spcAft>
              <a:buSzPts val="1400"/>
              <a:buNone/>
            </a:pPr>
            <a:r>
              <a:rPr lang="en-US"/>
              <a:t>It's like teaching the model to review code the way a security expert would—scanning both ways and focusing on the dangerous patterns."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58" name="Google Shape;35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conclude, fuzzing is fundamentally about exploring program behaviors, and dynamic execution is essential for that.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Large language models provide a new way to guide this exploration by generating and mutating inputs at the semantic level.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Our experiments show that this approach can lead to meaningful coverage improvements on real-world codebases.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Thank you for your attention. I’m happy to take any questions.</a:t>
            </a:r>
            <a:endParaRPr/>
          </a:p>
        </p:txBody>
      </p:sp>
      <p:sp>
        <p:nvSpPr>
          <p:cNvPr id="370" name="Google Shape;37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pic>
        <p:nvPicPr>
          <p:cNvPr descr="greyWatermark-20.png" id="17" name="Google Shape;17;p29"/>
          <p:cNvPicPr preferRelativeResize="0"/>
          <p:nvPr/>
        </p:nvPicPr>
        <p:blipFill rotWithShape="1">
          <a:blip r:embed="rId2">
            <a:alphaModFix/>
          </a:blip>
          <a:srcRect b="0" l="0" r="0" t="0"/>
          <a:stretch/>
        </p:blipFill>
        <p:spPr>
          <a:xfrm>
            <a:off x="7949092" y="2703302"/>
            <a:ext cx="4242908" cy="4154698"/>
          </a:xfrm>
          <a:prstGeom prst="rect">
            <a:avLst/>
          </a:prstGeom>
          <a:noFill/>
          <a:ln>
            <a:noFill/>
          </a:ln>
        </p:spPr>
      </p:pic>
      <p:sp>
        <p:nvSpPr>
          <p:cNvPr id="18" name="Google Shape;18;p29"/>
          <p:cNvSpPr txBox="1"/>
          <p:nvPr>
            <p:ph type="ctrTitle"/>
          </p:nvPr>
        </p:nvSpPr>
        <p:spPr>
          <a:xfrm>
            <a:off x="609600" y="2537925"/>
            <a:ext cx="9144000" cy="15240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dk2"/>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pic>
        <p:nvPicPr>
          <p:cNvPr id="20" name="Google Shape;20;p29"/>
          <p:cNvPicPr preferRelativeResize="0"/>
          <p:nvPr/>
        </p:nvPicPr>
        <p:blipFill rotWithShape="1">
          <a:blip r:embed="rId3">
            <a:alphaModFix/>
          </a:blip>
          <a:srcRect b="0" l="0" r="0" t="0"/>
          <a:stretch/>
        </p:blipFill>
        <p:spPr>
          <a:xfrm>
            <a:off x="711200" y="990601"/>
            <a:ext cx="3383438" cy="1096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5000"/>
              </a:lnSpc>
              <a:spcBef>
                <a:spcPts val="1200"/>
              </a:spcBef>
              <a:spcAft>
                <a:spcPts val="0"/>
              </a:spcAft>
              <a:buSzPts val="1800"/>
              <a:buChar char="•"/>
              <a:defRPr/>
            </a:lvl1pPr>
            <a:lvl2pPr indent="-342900" lvl="1" marL="914400" algn="l">
              <a:lnSpc>
                <a:spcPct val="95000"/>
              </a:lnSpc>
              <a:spcBef>
                <a:spcPts val="600"/>
              </a:spcBef>
              <a:spcAft>
                <a:spcPts val="0"/>
              </a:spcAft>
              <a:buSzPts val="1800"/>
              <a:buChar char="─"/>
              <a:defRPr/>
            </a:lvl2pPr>
            <a:lvl3pPr indent="-342900" lvl="2" marL="1371600" algn="l">
              <a:lnSpc>
                <a:spcPct val="95000"/>
              </a:lnSpc>
              <a:spcBef>
                <a:spcPts val="600"/>
              </a:spcBef>
              <a:spcAft>
                <a:spcPts val="0"/>
              </a:spcAft>
              <a:buSzPts val="1800"/>
              <a:buChar char="▪"/>
              <a:defRPr/>
            </a:lvl3pPr>
            <a:lvl4pPr indent="-342900" lvl="3" marL="1828800" algn="l">
              <a:lnSpc>
                <a:spcPct val="95000"/>
              </a:lnSpc>
              <a:spcBef>
                <a:spcPts val="600"/>
              </a:spcBef>
              <a:spcAft>
                <a:spcPts val="0"/>
              </a:spcAft>
              <a:buSzPts val="1800"/>
              <a:buChar char="o"/>
              <a:defRPr/>
            </a:lvl4pPr>
            <a:lvl5pPr indent="-342900" lvl="4" marL="2286000" algn="l">
              <a:lnSpc>
                <a:spcPct val="95000"/>
              </a:lnSpc>
              <a:spcBef>
                <a:spcPts val="60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 name="Google Shape;24;p30"/>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showMasterSp="0">
  <p:cSld name="Title2">
    <p:bg>
      <p:bgPr>
        <a:solidFill>
          <a:srgbClr val="AB192D"/>
        </a:solidFill>
      </p:bgPr>
    </p:bg>
    <p:spTree>
      <p:nvGrpSpPr>
        <p:cNvPr id="26" name="Shape 26"/>
        <p:cNvGrpSpPr/>
        <p:nvPr/>
      </p:nvGrpSpPr>
      <p:grpSpPr>
        <a:xfrm>
          <a:off x="0" y="0"/>
          <a:ext cx="0" cy="0"/>
          <a:chOff x="0" y="0"/>
          <a:chExt cx="0" cy="0"/>
        </a:xfrm>
      </p:grpSpPr>
      <p:pic>
        <p:nvPicPr>
          <p:cNvPr id="27" name="Google Shape;27;p31"/>
          <p:cNvPicPr preferRelativeResize="0"/>
          <p:nvPr/>
        </p:nvPicPr>
        <p:blipFill rotWithShape="1">
          <a:blip r:embed="rId2">
            <a:alphaModFix/>
          </a:blip>
          <a:srcRect b="0" l="0" r="0" t="0"/>
          <a:stretch/>
        </p:blipFill>
        <p:spPr>
          <a:xfrm>
            <a:off x="711200" y="990601"/>
            <a:ext cx="3383438" cy="1105313"/>
          </a:xfrm>
          <a:prstGeom prst="rect">
            <a:avLst/>
          </a:prstGeom>
          <a:noFill/>
          <a:ln>
            <a:noFill/>
          </a:ln>
        </p:spPr>
      </p:pic>
      <p:pic>
        <p:nvPicPr>
          <p:cNvPr id="28" name="Google Shape;28;p31"/>
          <p:cNvPicPr preferRelativeResize="0"/>
          <p:nvPr/>
        </p:nvPicPr>
        <p:blipFill rotWithShape="1">
          <a:blip r:embed="rId3">
            <a:alphaModFix/>
          </a:blip>
          <a:srcRect b="0" l="0" r="0" t="0"/>
          <a:stretch/>
        </p:blipFill>
        <p:spPr>
          <a:xfrm>
            <a:off x="7931182" y="2693986"/>
            <a:ext cx="4260818" cy="4172236"/>
          </a:xfrm>
          <a:prstGeom prst="rect">
            <a:avLst/>
          </a:prstGeom>
          <a:noFill/>
          <a:ln>
            <a:noFill/>
          </a:ln>
        </p:spPr>
      </p:pic>
      <p:sp>
        <p:nvSpPr>
          <p:cNvPr id="29" name="Google Shape;29;p31"/>
          <p:cNvSpPr txBox="1"/>
          <p:nvPr>
            <p:ph type="ctrTitle"/>
          </p:nvPr>
        </p:nvSpPr>
        <p:spPr>
          <a:xfrm>
            <a:off x="609600" y="2537925"/>
            <a:ext cx="9144000" cy="15240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4000"/>
              <a:buFont typeface="Verdana"/>
              <a:buNone/>
              <a:defRPr b="1"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1"/>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lt1"/>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Red" showMasterSp="0">
  <p:cSld name="BlankRed">
    <p:bg>
      <p:bgPr>
        <a:solidFill>
          <a:schemeClr val="lt2"/>
        </a:solidFill>
      </p:bgPr>
    </p:bg>
    <p:spTree>
      <p:nvGrpSpPr>
        <p:cNvPr id="31" name="Shape 31"/>
        <p:cNvGrpSpPr/>
        <p:nvPr/>
      </p:nvGrpSpPr>
      <p:grpSpPr>
        <a:xfrm>
          <a:off x="0" y="0"/>
          <a:ext cx="0" cy="0"/>
          <a:chOff x="0" y="0"/>
          <a:chExt cx="0" cy="0"/>
        </a:xfrm>
      </p:grpSpPr>
      <p:pic>
        <p:nvPicPr>
          <p:cNvPr id="32" name="Google Shape;32;p32"/>
          <p:cNvPicPr preferRelativeResize="0"/>
          <p:nvPr/>
        </p:nvPicPr>
        <p:blipFill rotWithShape="1">
          <a:blip r:embed="rId2">
            <a:alphaModFix/>
          </a:blip>
          <a:srcRect b="0" l="0" r="0" t="0"/>
          <a:stretch/>
        </p:blipFill>
        <p:spPr>
          <a:xfrm>
            <a:off x="3866131" y="1066834"/>
            <a:ext cx="4459738" cy="442803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3" name="Shape 33"/>
        <p:cNvGrpSpPr/>
        <p:nvPr/>
      </p:nvGrpSpPr>
      <p:grpSpPr>
        <a:xfrm>
          <a:off x="0" y="0"/>
          <a:ext cx="0" cy="0"/>
          <a:chOff x="0" y="0"/>
          <a:chExt cx="0" cy="0"/>
        </a:xfrm>
      </p:grpSpPr>
      <p:sp>
        <p:nvSpPr>
          <p:cNvPr id="34" name="Google Shape;34;p33"/>
          <p:cNvSpPr/>
          <p:nvPr/>
        </p:nvSpPr>
        <p:spPr>
          <a:xfrm>
            <a:off x="0" y="0"/>
            <a:ext cx="12192000" cy="1143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5" name="Google Shape;35;p33"/>
          <p:cNvSpPr txBox="1"/>
          <p:nvPr>
            <p:ph type="title"/>
          </p:nvPr>
        </p:nvSpPr>
        <p:spPr>
          <a:xfrm>
            <a:off x="625475" y="1447800"/>
            <a:ext cx="9144000" cy="1676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solidFill>
                  <a:srgbClr val="262626"/>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625475" y="3124200"/>
            <a:ext cx="91440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800"/>
              <a:buNone/>
              <a:defRPr sz="2800">
                <a:solidFill>
                  <a:schemeClr val="dk2"/>
                </a:solidFill>
              </a:defRPr>
            </a:lvl1pPr>
            <a:lvl2pPr indent="-228600" lvl="1" marL="914400" algn="l">
              <a:lnSpc>
                <a:spcPct val="95000"/>
              </a:lnSpc>
              <a:spcBef>
                <a:spcPts val="600"/>
              </a:spcBef>
              <a:spcAft>
                <a:spcPts val="0"/>
              </a:spcAft>
              <a:buSzPts val="1800"/>
              <a:buNone/>
              <a:defRPr sz="1800">
                <a:solidFill>
                  <a:srgbClr val="888888"/>
                </a:solidFill>
              </a:defRPr>
            </a:lvl2pPr>
            <a:lvl3pPr indent="-228600" lvl="2" marL="1371600" algn="l">
              <a:lnSpc>
                <a:spcPct val="95000"/>
              </a:lnSpc>
              <a:spcBef>
                <a:spcPts val="600"/>
              </a:spcBef>
              <a:spcAft>
                <a:spcPts val="0"/>
              </a:spcAft>
              <a:buSzPts val="1600"/>
              <a:buNone/>
              <a:defRPr sz="1600">
                <a:solidFill>
                  <a:srgbClr val="888888"/>
                </a:solidFill>
              </a:defRPr>
            </a:lvl3pPr>
            <a:lvl4pPr indent="-228600" lvl="3" marL="1828800" algn="l">
              <a:lnSpc>
                <a:spcPct val="95000"/>
              </a:lnSpc>
              <a:spcBef>
                <a:spcPts val="600"/>
              </a:spcBef>
              <a:spcAft>
                <a:spcPts val="0"/>
              </a:spcAft>
              <a:buSzPts val="1400"/>
              <a:buNone/>
              <a:defRPr sz="1400">
                <a:solidFill>
                  <a:srgbClr val="888888"/>
                </a:solidFill>
              </a:defRPr>
            </a:lvl4pPr>
            <a:lvl5pPr indent="-228600" lvl="4" marL="2286000" algn="l">
              <a:lnSpc>
                <a:spcPct val="95000"/>
              </a:lnSpc>
              <a:spcBef>
                <a:spcPts val="600"/>
              </a:spcBef>
              <a:spcAft>
                <a:spcPts val="0"/>
              </a:spcAft>
              <a:buSzPts val="1400"/>
              <a:buNone/>
              <a:defRPr sz="1400">
                <a:solidFill>
                  <a:srgbClr val="888888"/>
                </a:solidFill>
              </a:defRPr>
            </a:lvl5pPr>
            <a:lvl6pPr indent="-228600" lvl="5" marL="2743200" algn="l">
              <a:lnSpc>
                <a:spcPct val="100000"/>
              </a:lnSpc>
              <a:spcBef>
                <a:spcPts val="280"/>
              </a:spcBef>
              <a:spcAft>
                <a:spcPts val="0"/>
              </a:spcAft>
              <a:buSzPts val="1400"/>
              <a:buNone/>
              <a:defRPr sz="1400">
                <a:solidFill>
                  <a:srgbClr val="888888"/>
                </a:solidFill>
              </a:defRPr>
            </a:lvl6pPr>
            <a:lvl7pPr indent="-228600" lvl="6" marL="3200400" algn="l">
              <a:lnSpc>
                <a:spcPct val="100000"/>
              </a:lnSpc>
              <a:spcBef>
                <a:spcPts val="280"/>
              </a:spcBef>
              <a:spcAft>
                <a:spcPts val="0"/>
              </a:spcAft>
              <a:buSzPts val="1400"/>
              <a:buNone/>
              <a:defRPr sz="1400">
                <a:solidFill>
                  <a:srgbClr val="888888"/>
                </a:solidFill>
              </a:defRPr>
            </a:lvl7pPr>
            <a:lvl8pPr indent="-228600" lvl="7" marL="3657600" algn="l">
              <a:lnSpc>
                <a:spcPct val="100000"/>
              </a:lnSpc>
              <a:spcBef>
                <a:spcPts val="280"/>
              </a:spcBef>
              <a:spcAft>
                <a:spcPts val="0"/>
              </a:spcAft>
              <a:buSzPts val="1400"/>
              <a:buNone/>
              <a:defRPr sz="1400">
                <a:solidFill>
                  <a:srgbClr val="888888"/>
                </a:solidFill>
              </a:defRPr>
            </a:lvl8pPr>
            <a:lvl9pPr indent="-228600" lvl="8" marL="4114800" algn="l">
              <a:lnSpc>
                <a:spcPct val="100000"/>
              </a:lnSpc>
              <a:spcBef>
                <a:spcPts val="280"/>
              </a:spcBef>
              <a:spcAft>
                <a:spcPts val="0"/>
              </a:spcAft>
              <a:buSzPts val="1400"/>
              <a:buNone/>
              <a:defRPr sz="1400">
                <a:solidFill>
                  <a:srgbClr val="888888"/>
                </a:solidFill>
              </a:defRPr>
            </a:lvl9pPr>
          </a:lstStyle>
          <a:p/>
        </p:txBody>
      </p:sp>
      <p:sp>
        <p:nvSpPr>
          <p:cNvPr id="37" name="Google Shape;37;p33"/>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38" name="Google Shape;38;p33"/>
          <p:cNvSpPr txBox="1"/>
          <p:nvPr>
            <p:ph idx="11" type="ftr"/>
          </p:nvPr>
        </p:nvSpPr>
        <p:spPr>
          <a:xfrm>
            <a:off x="625475"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sz="1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greyWatermark-20.png" id="39" name="Google Shape;39;p33"/>
          <p:cNvPicPr preferRelativeResize="0"/>
          <p:nvPr/>
        </p:nvPicPr>
        <p:blipFill rotWithShape="1">
          <a:blip r:embed="rId2">
            <a:alphaModFix/>
          </a:blip>
          <a:srcRect b="0" l="0" r="0" t="0"/>
          <a:stretch/>
        </p:blipFill>
        <p:spPr>
          <a:xfrm>
            <a:off x="7949092" y="2703302"/>
            <a:ext cx="4242908" cy="415469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3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43" name="Google Shape;43;p34"/>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Caption">
  <p:cSld name="PhotoCaption">
    <p:spTree>
      <p:nvGrpSpPr>
        <p:cNvPr id="44" name="Shape 44"/>
        <p:cNvGrpSpPr/>
        <p:nvPr/>
      </p:nvGrpSpPr>
      <p:grpSpPr>
        <a:xfrm>
          <a:off x="0" y="0"/>
          <a:ext cx="0" cy="0"/>
          <a:chOff x="0" y="0"/>
          <a:chExt cx="0" cy="0"/>
        </a:xfrm>
      </p:grpSpPr>
      <p:sp>
        <p:nvSpPr>
          <p:cNvPr id="45" name="Google Shape;45;p3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47" name="Google Shape;47;p35"/>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5"/>
          <p:cNvSpPr/>
          <p:nvPr>
            <p:ph idx="2" type="pic"/>
          </p:nvPr>
        </p:nvSpPr>
        <p:spPr>
          <a:xfrm>
            <a:off x="609600" y="1524000"/>
            <a:ext cx="7823200" cy="4648200"/>
          </a:xfrm>
          <a:prstGeom prst="rect">
            <a:avLst/>
          </a:prstGeom>
          <a:noFill/>
          <a:ln>
            <a:noFill/>
          </a:ln>
        </p:spPr>
      </p:sp>
      <p:sp>
        <p:nvSpPr>
          <p:cNvPr id="49" name="Google Shape;49;p35"/>
          <p:cNvSpPr txBox="1"/>
          <p:nvPr>
            <p:ph idx="1" type="body"/>
          </p:nvPr>
        </p:nvSpPr>
        <p:spPr>
          <a:xfrm>
            <a:off x="8737600" y="1524000"/>
            <a:ext cx="28448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Font typeface="Verdana"/>
              <a:buNone/>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3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3200"/>
              <a:buFont typeface="Verdan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6"/>
          <p:cNvSpPr txBox="1"/>
          <p:nvPr>
            <p:ph idx="1" type="body"/>
          </p:nvPr>
        </p:nvSpPr>
        <p:spPr>
          <a:xfrm>
            <a:off x="1016000" y="1496736"/>
            <a:ext cx="4876800" cy="639762"/>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3" name="Google Shape;53;p36"/>
          <p:cNvSpPr txBox="1"/>
          <p:nvPr>
            <p:ph idx="2" type="body"/>
          </p:nvPr>
        </p:nvSpPr>
        <p:spPr>
          <a:xfrm>
            <a:off x="10160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4" name="Google Shape;54;p36"/>
          <p:cNvSpPr txBox="1"/>
          <p:nvPr>
            <p:ph idx="3" type="body"/>
          </p:nvPr>
        </p:nvSpPr>
        <p:spPr>
          <a:xfrm>
            <a:off x="6197600" y="1496736"/>
            <a:ext cx="4876800" cy="639762"/>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5" name="Google Shape;55;p36"/>
          <p:cNvSpPr txBox="1"/>
          <p:nvPr>
            <p:ph idx="4" type="body"/>
          </p:nvPr>
        </p:nvSpPr>
        <p:spPr>
          <a:xfrm>
            <a:off x="61976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6" name="Google Shape;56;p36"/>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57" name="Google Shape;57;p36"/>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37"/>
          <p:cNvSpPr txBox="1"/>
          <p:nvPr>
            <p:ph idx="12" type="sldNum"/>
          </p:nvPr>
        </p:nvSpPr>
        <p:spPr>
          <a:xfrm>
            <a:off x="1" y="6391657"/>
            <a:ext cx="612396"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60" name="Google Shape;60;p37"/>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609600" y="76200"/>
            <a:ext cx="11074400" cy="1066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3200"/>
              <a:buFont typeface="Verdana"/>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 type="body"/>
          </p:nvPr>
        </p:nvSpPr>
        <p:spPr>
          <a:xfrm>
            <a:off x="4523709" y="1524001"/>
            <a:ext cx="7058691" cy="4648199"/>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68300" lvl="1" marL="914400" algn="l">
              <a:lnSpc>
                <a:spcPct val="95000"/>
              </a:lnSpc>
              <a:spcBef>
                <a:spcPts val="600"/>
              </a:spcBef>
              <a:spcAft>
                <a:spcPts val="0"/>
              </a:spcAft>
              <a:buSzPts val="2200"/>
              <a:buChar char="─"/>
              <a:defRPr sz="2200"/>
            </a:lvl2pPr>
            <a:lvl3pPr indent="-355600" lvl="2" marL="1371600" algn="l">
              <a:lnSpc>
                <a:spcPct val="95000"/>
              </a:lnSpc>
              <a:spcBef>
                <a:spcPts val="600"/>
              </a:spcBef>
              <a:spcAft>
                <a:spcPts val="0"/>
              </a:spcAft>
              <a:buSzPts val="2000"/>
              <a:buChar char="▪"/>
              <a:defRPr sz="2000"/>
            </a:lvl3pPr>
            <a:lvl4pPr indent="-342900" lvl="3" marL="1828800" algn="l">
              <a:lnSpc>
                <a:spcPct val="95000"/>
              </a:lnSpc>
              <a:spcBef>
                <a:spcPts val="600"/>
              </a:spcBef>
              <a:spcAft>
                <a:spcPts val="0"/>
              </a:spcAft>
              <a:buSzPts val="1800"/>
              <a:buChar char="o"/>
              <a:defRPr sz="1800"/>
            </a:lvl4pPr>
            <a:lvl5pPr indent="-342900" lvl="4" marL="2286000" algn="l">
              <a:lnSpc>
                <a:spcPct val="95000"/>
              </a:lnSpc>
              <a:spcBef>
                <a:spcPts val="600"/>
              </a:spcBef>
              <a:spcAft>
                <a:spcPts val="0"/>
              </a:spcAft>
              <a:buSzPts val="1800"/>
              <a:buChar char="•"/>
              <a:defRPr sz="18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64" name="Google Shape;64;p38"/>
          <p:cNvSpPr txBox="1"/>
          <p:nvPr>
            <p:ph idx="2" type="body"/>
          </p:nvPr>
        </p:nvSpPr>
        <p:spPr>
          <a:xfrm>
            <a:off x="591890" y="1524000"/>
            <a:ext cx="3564876"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None/>
              <a:defRPr sz="2000">
                <a:solidFill>
                  <a:schemeClr val="dk2"/>
                </a:solidFill>
              </a:defRPr>
            </a:lvl1pPr>
            <a:lvl2pPr indent="-228600" lvl="1" marL="914400" algn="l">
              <a:lnSpc>
                <a:spcPct val="95000"/>
              </a:lnSpc>
              <a:spcBef>
                <a:spcPts val="600"/>
              </a:spcBef>
              <a:spcAft>
                <a:spcPts val="0"/>
              </a:spcAft>
              <a:buSzPts val="1200"/>
              <a:buNone/>
              <a:defRPr sz="1200"/>
            </a:lvl2pPr>
            <a:lvl3pPr indent="-228600" lvl="2" marL="1371600" algn="l">
              <a:lnSpc>
                <a:spcPct val="95000"/>
              </a:lnSpc>
              <a:spcBef>
                <a:spcPts val="600"/>
              </a:spcBef>
              <a:spcAft>
                <a:spcPts val="0"/>
              </a:spcAft>
              <a:buSzPts val="1000"/>
              <a:buNone/>
              <a:defRPr sz="1000"/>
            </a:lvl3pPr>
            <a:lvl4pPr indent="-228600" lvl="3" marL="1828800" algn="l">
              <a:lnSpc>
                <a:spcPct val="95000"/>
              </a:lnSpc>
              <a:spcBef>
                <a:spcPts val="600"/>
              </a:spcBef>
              <a:spcAft>
                <a:spcPts val="0"/>
              </a:spcAft>
              <a:buSzPts val="900"/>
              <a:buNone/>
              <a:defRPr sz="900"/>
            </a:lvl4pPr>
            <a:lvl5pPr indent="-228600" lvl="4" marL="2286000" algn="l">
              <a:lnSpc>
                <a:spcPct val="95000"/>
              </a:lnSpc>
              <a:spcBef>
                <a:spcPts val="60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65" name="Google Shape;65;p38"/>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cxnSp>
        <p:nvCxnSpPr>
          <p:cNvPr id="66" name="Google Shape;66;p38"/>
          <p:cNvCxnSpPr/>
          <p:nvPr/>
        </p:nvCxnSpPr>
        <p:spPr>
          <a:xfrm rot="5400000">
            <a:off x="2447147" y="3581135"/>
            <a:ext cx="3810000" cy="2117"/>
          </a:xfrm>
          <a:prstGeom prst="straightConnector1">
            <a:avLst/>
          </a:prstGeom>
          <a:noFill/>
          <a:ln cap="flat" cmpd="sng" w="15875">
            <a:solidFill>
              <a:srgbClr val="B5B5B5"/>
            </a:solidFill>
            <a:prstDash val="solid"/>
            <a:round/>
            <a:headEnd len="sm" w="sm" type="none"/>
            <a:tailEnd len="sm" w="sm" type="none"/>
          </a:ln>
        </p:spPr>
      </p:cxnSp>
      <p:sp>
        <p:nvSpPr>
          <p:cNvPr id="67" name="Google Shape;67;p38"/>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262626"/>
              </a:buClr>
              <a:buSzPts val="3200"/>
              <a:buFont typeface="Verdana"/>
              <a:buNone/>
              <a:defRPr b="1" i="0" sz="3200" u="none" cap="none" strike="noStrike">
                <a:solidFill>
                  <a:srgbClr val="262626"/>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1" name="Google Shape;11;p28"/>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5000"/>
              </a:lnSpc>
              <a:spcBef>
                <a:spcPts val="1200"/>
              </a:spcBef>
              <a:spcAft>
                <a:spcPts val="0"/>
              </a:spcAft>
              <a:buClr>
                <a:schemeClr val="lt2"/>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95000"/>
              </a:lnSpc>
              <a:spcBef>
                <a:spcPts val="600"/>
              </a:spcBef>
              <a:spcAft>
                <a:spcPts val="0"/>
              </a:spcAft>
              <a:buClr>
                <a:schemeClr val="lt2"/>
              </a:buClr>
              <a:buSzPts val="2000"/>
              <a:buFont typeface="Verdana"/>
              <a:buChar char="─"/>
              <a:defRPr b="0" i="0" sz="2000" u="none" cap="none" strike="noStrike">
                <a:solidFill>
                  <a:schemeClr val="dk1"/>
                </a:solidFill>
                <a:latin typeface="Verdana"/>
                <a:ea typeface="Verdana"/>
                <a:cs typeface="Verdana"/>
                <a:sym typeface="Verdana"/>
              </a:defRPr>
            </a:lvl2pPr>
            <a:lvl3pPr indent="-342900" lvl="2" marL="1371600" marR="0" rtl="0" algn="l">
              <a:lnSpc>
                <a:spcPct val="95000"/>
              </a:lnSpc>
              <a:spcBef>
                <a:spcPts val="600"/>
              </a:spcBef>
              <a:spcAft>
                <a:spcPts val="0"/>
              </a:spcAft>
              <a:buClr>
                <a:schemeClr val="lt2"/>
              </a:buClr>
              <a:buSzPts val="1800"/>
              <a:buFont typeface="Noto Sans Symbols"/>
              <a:buChar char="▪"/>
              <a:defRPr b="0" i="0" sz="1800" u="none" cap="none" strike="noStrike">
                <a:solidFill>
                  <a:schemeClr val="dk1"/>
                </a:solidFill>
                <a:latin typeface="Verdana"/>
                <a:ea typeface="Verdana"/>
                <a:cs typeface="Verdana"/>
                <a:sym typeface="Verdana"/>
              </a:defRPr>
            </a:lvl3pPr>
            <a:lvl4pPr indent="-330200" lvl="3" marL="1828800" marR="0" rtl="0" algn="l">
              <a:lnSpc>
                <a:spcPct val="95000"/>
              </a:lnSpc>
              <a:spcBef>
                <a:spcPts val="600"/>
              </a:spcBef>
              <a:spcAft>
                <a:spcPts val="0"/>
              </a:spcAft>
              <a:buClr>
                <a:schemeClr val="lt2"/>
              </a:buClr>
              <a:buSzPts val="1600"/>
              <a:buFont typeface="Courier New"/>
              <a:buChar char="o"/>
              <a:defRPr b="0" i="0" sz="1600" u="none" cap="none" strike="noStrike">
                <a:solidFill>
                  <a:schemeClr val="dk1"/>
                </a:solidFill>
                <a:latin typeface="Verdana"/>
                <a:ea typeface="Verdana"/>
                <a:cs typeface="Verdana"/>
                <a:sym typeface="Verdana"/>
              </a:defRPr>
            </a:lvl4pPr>
            <a:lvl5pPr indent="-330200" lvl="4" marL="2286000" marR="0" rtl="0" algn="l">
              <a:lnSpc>
                <a:spcPct val="95000"/>
              </a:lnSpc>
              <a:spcBef>
                <a:spcPts val="600"/>
              </a:spcBef>
              <a:spcAft>
                <a:spcPts val="0"/>
              </a:spcAft>
              <a:buClr>
                <a:schemeClr val="lt2"/>
              </a:buClr>
              <a:buSzPts val="1600"/>
              <a:buFont typeface="Arial"/>
              <a:buChar char="•"/>
              <a:defRPr b="0" i="0" sz="1600" u="none" cap="none" strike="noStrike">
                <a:solidFill>
                  <a:schemeClr val="dk1"/>
                </a:solidFill>
                <a:latin typeface="Verdana"/>
                <a:ea typeface="Verdana"/>
                <a:cs typeface="Verdana"/>
                <a:sym typeface="Verdana"/>
              </a:defRPr>
            </a:lvl5pPr>
            <a:lvl6pPr indent="-330200" lvl="5" marL="27432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6pPr>
            <a:lvl7pPr indent="-330200" lvl="6" marL="32004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7pPr>
            <a:lvl8pPr indent="-330200" lvl="7" marL="36576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8pPr>
            <a:lvl9pPr indent="-330200" lvl="8" marL="41148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9pPr>
          </a:lstStyle>
          <a:p/>
        </p:txBody>
      </p:sp>
      <p:sp>
        <p:nvSpPr>
          <p:cNvPr id="12" name="Google Shape;12;p28"/>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3" name="Google Shape;13;p28"/>
          <p:cNvSpPr/>
          <p:nvPr/>
        </p:nvSpPr>
        <p:spPr>
          <a:xfrm>
            <a:off x="609600" y="1234967"/>
            <a:ext cx="11582400" cy="4571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4" name="Google Shape;14;p28"/>
          <p:cNvSpPr txBox="1"/>
          <p:nvPr/>
        </p:nvSpPr>
        <p:spPr>
          <a:xfrm>
            <a:off x="7315200" y="6400800"/>
            <a:ext cx="447040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Times New Roman"/>
                <a:ea typeface="Times New Roman"/>
                <a:cs typeface="Times New Roman"/>
                <a:sym typeface="Times New Roman"/>
              </a:rPr>
              <a:t>Worcester Polytechnic Institute</a:t>
            </a:r>
            <a:endParaRPr b="0" i="0" sz="1800" u="none" cap="none" strike="noStrike">
              <a:solidFill>
                <a:schemeClr val="lt2"/>
              </a:solidFill>
              <a:latin typeface="Times New Roman"/>
              <a:ea typeface="Times New Roman"/>
              <a:cs typeface="Times New Roman"/>
              <a:sym typeface="Times New Roman"/>
            </a:endParaRPr>
          </a:p>
        </p:txBody>
      </p:sp>
      <p:sp>
        <p:nvSpPr>
          <p:cNvPr id="15" name="Google Shape;15;p28"/>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jp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jpg"/><Relationship Id="rId4"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jp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609600" y="2630380"/>
            <a:ext cx="9972600" cy="277991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4000"/>
              <a:buFont typeface="Verdana"/>
              <a:buNone/>
            </a:pPr>
            <a:br>
              <a:rPr lang="en-US"/>
            </a:br>
            <a:br>
              <a:rPr lang="en-US"/>
            </a:br>
            <a:br>
              <a:rPr lang="en-US"/>
            </a:br>
            <a:br>
              <a:rPr lang="en-US"/>
            </a:br>
            <a:br>
              <a:rPr lang="en-US"/>
            </a:br>
            <a:r>
              <a:rPr lang="en-US">
                <a:solidFill>
                  <a:srgbClr val="000000"/>
                </a:solidFill>
                <a:latin typeface="Helvetica Neue"/>
                <a:ea typeface="Helvetica Neue"/>
                <a:cs typeface="Helvetica Neue"/>
                <a:sym typeface="Helvetica Neue"/>
              </a:rPr>
              <a:t>AI-assisted Intrusion Detection</a:t>
            </a:r>
            <a:br>
              <a:rPr lang="en-US">
                <a:solidFill>
                  <a:srgbClr val="000000"/>
                </a:solidFill>
                <a:latin typeface="Helvetica Neue"/>
                <a:ea typeface="Helvetica Neue"/>
                <a:cs typeface="Helvetica Neue"/>
                <a:sym typeface="Helvetica Neue"/>
              </a:rPr>
            </a:br>
            <a:br>
              <a:rPr lang="en-US"/>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2"/>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79" name="Google Shape;79;p2"/>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2"/>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What system logs look like</a:t>
            </a:r>
            <a:endParaRPr/>
          </a:p>
          <a:p>
            <a:pPr indent="-342900" lvl="0" marL="457200" rtl="0" algn="l">
              <a:lnSpc>
                <a:spcPct val="95000"/>
              </a:lnSpc>
              <a:spcBef>
                <a:spcPts val="1200"/>
              </a:spcBef>
              <a:spcAft>
                <a:spcPts val="0"/>
              </a:spcAft>
              <a:buSzPts val="1800"/>
              <a:buChar char="•"/>
            </a:pPr>
            <a:r>
              <a:rPr lang="en-US"/>
              <a:t>Limitation of traditional method</a:t>
            </a:r>
            <a:endParaRPr/>
          </a:p>
          <a:p>
            <a:pPr indent="-342900" lvl="0" marL="457200" rtl="0" algn="l">
              <a:lnSpc>
                <a:spcPct val="95000"/>
              </a:lnSpc>
              <a:spcBef>
                <a:spcPts val="1200"/>
              </a:spcBef>
              <a:spcAft>
                <a:spcPts val="0"/>
              </a:spcAft>
              <a:buSzPts val="1800"/>
              <a:buChar char="•"/>
            </a:pPr>
            <a:r>
              <a:rPr lang="en-US"/>
              <a:t>How machine learning method helps intrusion detection</a:t>
            </a:r>
            <a:endParaRPr/>
          </a:p>
          <a:p>
            <a:pPr indent="-342900" lvl="0" marL="457200" rtl="0" algn="l">
              <a:lnSpc>
                <a:spcPct val="95000"/>
              </a:lnSpc>
              <a:spcBef>
                <a:spcPts val="1200"/>
              </a:spcBef>
              <a:spcAft>
                <a:spcPts val="0"/>
              </a:spcAft>
              <a:buSzPts val="1800"/>
              <a:buChar char="•"/>
            </a:pPr>
            <a:r>
              <a:rPr lang="en-US"/>
              <a:t>Hands on experiments</a:t>
            </a:r>
            <a:endParaRPr/>
          </a:p>
        </p:txBody>
      </p:sp>
      <p:sp>
        <p:nvSpPr>
          <p:cNvPr id="81" name="Google Shape;81;p2"/>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Content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88" name="Google Shape;88;p3"/>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3"/>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It can be raw system-level logs</a:t>
            </a:r>
            <a:endParaRPr/>
          </a:p>
        </p:txBody>
      </p:sp>
      <p:sp>
        <p:nvSpPr>
          <p:cNvPr id="90" name="Google Shape;90;p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What system logs look like</a:t>
            </a:r>
            <a:endParaRPr/>
          </a:p>
        </p:txBody>
      </p:sp>
      <p:pic>
        <p:nvPicPr>
          <p:cNvPr id="91" name="Google Shape;91;p3"/>
          <p:cNvPicPr preferRelativeResize="0"/>
          <p:nvPr/>
        </p:nvPicPr>
        <p:blipFill rotWithShape="1">
          <a:blip r:embed="rId3">
            <a:alphaModFix/>
          </a:blip>
          <a:srcRect b="0" l="0" r="0" t="0"/>
          <a:stretch/>
        </p:blipFill>
        <p:spPr>
          <a:xfrm>
            <a:off x="895985" y="2122805"/>
            <a:ext cx="10106025" cy="36239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98" name="Google Shape;98;p4"/>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https://ieeexplore.ieee.org/stamp/stamp.jsp?arnumber=10646725</a:t>
            </a:r>
            <a:endParaRPr sz="1000"/>
          </a:p>
        </p:txBody>
      </p:sp>
      <p:sp>
        <p:nvSpPr>
          <p:cNvPr id="99" name="Google Shape;99;p4"/>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It can be provenanced-based logs</a:t>
            </a:r>
            <a:endParaRPr/>
          </a:p>
        </p:txBody>
      </p:sp>
      <p:sp>
        <p:nvSpPr>
          <p:cNvPr id="100" name="Google Shape;100;p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What system logs look like</a:t>
            </a:r>
            <a:endParaRPr/>
          </a:p>
        </p:txBody>
      </p:sp>
      <p:pic>
        <p:nvPicPr>
          <p:cNvPr id="101" name="Google Shape;101;p4"/>
          <p:cNvPicPr preferRelativeResize="0"/>
          <p:nvPr/>
        </p:nvPicPr>
        <p:blipFill rotWithShape="1">
          <a:blip r:embed="rId3">
            <a:alphaModFix/>
          </a:blip>
          <a:srcRect b="0" l="0" r="0" t="0"/>
          <a:stretch/>
        </p:blipFill>
        <p:spPr>
          <a:xfrm>
            <a:off x="609600" y="2550160"/>
            <a:ext cx="11250295" cy="22879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108" name="Google Shape;108;p5"/>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https://blog.csdn.net/airenKKK/article/details/124619217</a:t>
            </a:r>
            <a:endParaRPr sz="1000"/>
          </a:p>
        </p:txBody>
      </p:sp>
      <p:sp>
        <p:nvSpPr>
          <p:cNvPr id="109" name="Google Shape;109;p5"/>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It can also be manually labeled</a:t>
            </a:r>
            <a:endParaRPr/>
          </a:p>
        </p:txBody>
      </p:sp>
      <p:sp>
        <p:nvSpPr>
          <p:cNvPr id="110" name="Google Shape;110;p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What system logs look like</a:t>
            </a:r>
            <a:endParaRPr/>
          </a:p>
        </p:txBody>
      </p:sp>
      <p:pic>
        <p:nvPicPr>
          <p:cNvPr id="111" name="Google Shape;111;p5"/>
          <p:cNvPicPr preferRelativeResize="0"/>
          <p:nvPr/>
        </p:nvPicPr>
        <p:blipFill rotWithShape="1">
          <a:blip r:embed="rId3">
            <a:alphaModFix/>
          </a:blip>
          <a:srcRect b="0" l="0" r="0" t="0"/>
          <a:stretch/>
        </p:blipFill>
        <p:spPr>
          <a:xfrm>
            <a:off x="1530350" y="1980565"/>
            <a:ext cx="7209155" cy="43662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118" name="Google Shape;118;p6"/>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https://www.elprocus.com/basic-intrusion-detection-system/</a:t>
            </a:r>
            <a:endParaRPr sz="1000"/>
          </a:p>
        </p:txBody>
      </p:sp>
      <p:sp>
        <p:nvSpPr>
          <p:cNvPr id="119" name="Google Shape;119;p6"/>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Pattern based, signature based</a:t>
            </a:r>
            <a:endParaRPr/>
          </a:p>
        </p:txBody>
      </p:sp>
      <p:sp>
        <p:nvSpPr>
          <p:cNvPr id="120" name="Google Shape;120;p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Limitaion of traditional method</a:t>
            </a:r>
            <a:endParaRPr/>
          </a:p>
        </p:txBody>
      </p:sp>
      <p:pic>
        <p:nvPicPr>
          <p:cNvPr id="121" name="Google Shape;121;p6"/>
          <p:cNvPicPr preferRelativeResize="0"/>
          <p:nvPr/>
        </p:nvPicPr>
        <p:blipFill rotWithShape="1">
          <a:blip r:embed="rId3">
            <a:alphaModFix/>
          </a:blip>
          <a:srcRect b="0" l="0" r="0" t="0"/>
          <a:stretch/>
        </p:blipFill>
        <p:spPr>
          <a:xfrm>
            <a:off x="688340" y="2357120"/>
            <a:ext cx="5986145" cy="3488690"/>
          </a:xfrm>
          <a:prstGeom prst="rect">
            <a:avLst/>
          </a:prstGeom>
          <a:noFill/>
          <a:ln>
            <a:noFill/>
          </a:ln>
        </p:spPr>
      </p:pic>
      <p:sp>
        <p:nvSpPr>
          <p:cNvPr id="122" name="Google Shape;122;p6"/>
          <p:cNvSpPr txBox="1"/>
          <p:nvPr/>
        </p:nvSpPr>
        <p:spPr>
          <a:xfrm>
            <a:off x="6981190" y="1983105"/>
            <a:ext cx="4393565" cy="3753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Rely on manually defined attack signatures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Only effective for known attacks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Easily evaded by attack variants or obfuscation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Small changes in payload can bypass detection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High maintenance cost for rule updates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Requires continuous expert intervention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Poor generalization to new systems or environments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Rules do not transfer well across deployments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129" name="Google Shape;129;p7"/>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https://www.elprocus.com/basic-intrusion-detection-system/</a:t>
            </a:r>
            <a:endParaRPr sz="1000"/>
          </a:p>
          <a:p>
            <a:pPr indent="0" lvl="0" marL="0" rtl="0" algn="l">
              <a:lnSpc>
                <a:spcPct val="100000"/>
              </a:lnSpc>
              <a:spcBef>
                <a:spcPts val="0"/>
              </a:spcBef>
              <a:spcAft>
                <a:spcPts val="0"/>
              </a:spcAft>
              <a:buSzPts val="1400"/>
              <a:buNone/>
            </a:pPr>
            <a:r>
              <a:t/>
            </a:r>
            <a:endParaRPr sz="1000"/>
          </a:p>
        </p:txBody>
      </p:sp>
      <p:sp>
        <p:nvSpPr>
          <p:cNvPr id="130" name="Google Shape;130;p7"/>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Anomaly based</a:t>
            </a:r>
            <a:endParaRPr/>
          </a:p>
        </p:txBody>
      </p:sp>
      <p:sp>
        <p:nvSpPr>
          <p:cNvPr id="131" name="Google Shape;131;p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Limitaion of traditional method</a:t>
            </a:r>
            <a:endParaRPr/>
          </a:p>
        </p:txBody>
      </p:sp>
      <p:pic>
        <p:nvPicPr>
          <p:cNvPr id="132" name="Google Shape;132;p7"/>
          <p:cNvPicPr preferRelativeResize="0"/>
          <p:nvPr/>
        </p:nvPicPr>
        <p:blipFill rotWithShape="1">
          <a:blip r:embed="rId3">
            <a:alphaModFix/>
          </a:blip>
          <a:srcRect b="0" l="0" r="0" t="0"/>
          <a:stretch/>
        </p:blipFill>
        <p:spPr>
          <a:xfrm>
            <a:off x="609600" y="2382520"/>
            <a:ext cx="5637530" cy="3228340"/>
          </a:xfrm>
          <a:prstGeom prst="rect">
            <a:avLst/>
          </a:prstGeom>
          <a:noFill/>
          <a:ln>
            <a:noFill/>
          </a:ln>
        </p:spPr>
      </p:pic>
      <p:sp>
        <p:nvSpPr>
          <p:cNvPr id="133" name="Google Shape;133;p7"/>
          <p:cNvSpPr txBox="1"/>
          <p:nvPr/>
        </p:nvSpPr>
        <p:spPr>
          <a:xfrm>
            <a:off x="6409055" y="1971675"/>
            <a:ext cx="4916170" cy="3753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Depend on an accurate model of “normal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Hard to define in real-world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High false positive 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Rare but benign behaviors are flagged as attacks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Sensitive to system and workload changes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Updates and configuration changes break assumptions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Thresholds are often manually tuned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Unstable and environment-specific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machine learning method helps IDS</a:t>
            </a:r>
            <a:endParaRPr/>
          </a:p>
        </p:txBody>
      </p:sp>
      <p:sp>
        <p:nvSpPr>
          <p:cNvPr id="139" name="Google Shape;139;p8"/>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pic>
        <p:nvPicPr>
          <p:cNvPr id="140" name="Google Shape;140;p8"/>
          <p:cNvPicPr preferRelativeResize="0"/>
          <p:nvPr/>
        </p:nvPicPr>
        <p:blipFill rotWithShape="1">
          <a:blip r:embed="rId3">
            <a:alphaModFix/>
          </a:blip>
          <a:srcRect b="0" l="0" r="0" t="0"/>
          <a:stretch/>
        </p:blipFill>
        <p:spPr>
          <a:xfrm>
            <a:off x="926465" y="1993265"/>
            <a:ext cx="5840730" cy="3604260"/>
          </a:xfrm>
          <a:prstGeom prst="rect">
            <a:avLst/>
          </a:prstGeom>
          <a:noFill/>
          <a:ln>
            <a:noFill/>
          </a:ln>
        </p:spPr>
      </p:pic>
      <p:sp>
        <p:nvSpPr>
          <p:cNvPr id="141" name="Google Shape;141;p8"/>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https://ieeexplore.ieee.org/stamp/stamp.jsp?arnumber=10646725</a:t>
            </a:r>
            <a:endParaRPr sz="1000"/>
          </a:p>
        </p:txBody>
      </p:sp>
      <p:sp>
        <p:nvSpPr>
          <p:cNvPr id="142" name="Google Shape;142;p8"/>
          <p:cNvSpPr txBox="1"/>
          <p:nvPr/>
        </p:nvSpPr>
        <p:spPr>
          <a:xfrm>
            <a:off x="6674485" y="1910715"/>
            <a:ext cx="5217160" cy="3753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Automatically learn patterns from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Reduce reliance on hand-crafted rules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Handle high-dimensional and multi-source logs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System calls, processes, networks, provenance, etc.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Better generalization to unseen attacks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Detect behavior patterns rather than exact signatures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Support diverse models and representations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ML (LR, RF) and DL (CNN, GNN for sequences and graphs)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Hands on experiments</a:t>
            </a:r>
            <a:endParaRPr/>
          </a:p>
        </p:txBody>
      </p:sp>
      <p:sp>
        <p:nvSpPr>
          <p:cNvPr id="148" name="Google Shape;148;p9"/>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task1: explore nsl-kdd datasets </a:t>
            </a:r>
            <a:endParaRPr/>
          </a:p>
          <a:p>
            <a:pPr indent="-342900" lvl="0" marL="457200" rtl="0" algn="l">
              <a:lnSpc>
                <a:spcPct val="95000"/>
              </a:lnSpc>
              <a:spcBef>
                <a:spcPts val="1200"/>
              </a:spcBef>
              <a:spcAft>
                <a:spcPts val="0"/>
              </a:spcAft>
              <a:buSzPts val="1800"/>
              <a:buChar char="•"/>
            </a:pPr>
            <a:r>
              <a:rPr lang="en-US" sz="2400"/>
              <a:t>task2: feature extraction</a:t>
            </a:r>
            <a:endParaRPr sz="2400"/>
          </a:p>
          <a:p>
            <a:pPr indent="457200" lvl="1" marL="571500" rtl="0" algn="l">
              <a:lnSpc>
                <a:spcPct val="95000"/>
              </a:lnSpc>
              <a:spcBef>
                <a:spcPts val="600"/>
              </a:spcBef>
              <a:spcAft>
                <a:spcPts val="0"/>
              </a:spcAft>
              <a:buSzPts val="1800"/>
              <a:buNone/>
            </a:pPr>
            <a:r>
              <a:rPr lang="en-US" sz="2400"/>
              <a:t>--  how to handle multiple features labeled</a:t>
            </a:r>
            <a:endParaRPr sz="2400"/>
          </a:p>
          <a:p>
            <a:pPr indent="457200" lvl="1" marL="571500" rtl="0" algn="l">
              <a:lnSpc>
                <a:spcPct val="95000"/>
              </a:lnSpc>
              <a:spcBef>
                <a:spcPts val="600"/>
              </a:spcBef>
              <a:spcAft>
                <a:spcPts val="0"/>
              </a:spcAft>
              <a:buSzPts val="1800"/>
              <a:buNone/>
            </a:pPr>
            <a:r>
              <a:rPr lang="en-US" sz="2400"/>
              <a:t>--  how to parse raw system logs into graphs</a:t>
            </a:r>
            <a:endParaRPr/>
          </a:p>
          <a:p>
            <a:pPr indent="-342900" lvl="0" marL="457200" rtl="0" algn="l">
              <a:lnSpc>
                <a:spcPct val="95000"/>
              </a:lnSpc>
              <a:spcBef>
                <a:spcPts val="1200"/>
              </a:spcBef>
              <a:spcAft>
                <a:spcPts val="0"/>
              </a:spcAft>
              <a:buSzPts val="1800"/>
              <a:buChar char="•"/>
            </a:pPr>
            <a:r>
              <a:rPr lang="en-US"/>
              <a:t>task3:  model choosing</a:t>
            </a:r>
            <a:endParaRPr/>
          </a:p>
          <a:p>
            <a:pPr indent="457200" lvl="1" marL="571500" rtl="0" algn="l">
              <a:lnSpc>
                <a:spcPct val="95000"/>
              </a:lnSpc>
              <a:spcBef>
                <a:spcPts val="600"/>
              </a:spcBef>
              <a:spcAft>
                <a:spcPts val="0"/>
              </a:spcAft>
              <a:buSzPts val="1800"/>
              <a:buNone/>
            </a:pPr>
            <a:r>
              <a:rPr lang="en-US"/>
              <a:t>--  machine learning: Logistic Regression, Decision Tree, Random Forest, ...</a:t>
            </a:r>
            <a:endParaRPr/>
          </a:p>
          <a:p>
            <a:pPr indent="457200" lvl="1" marL="571500" rtl="0" algn="l">
              <a:lnSpc>
                <a:spcPct val="95000"/>
              </a:lnSpc>
              <a:spcBef>
                <a:spcPts val="600"/>
              </a:spcBef>
              <a:spcAft>
                <a:spcPts val="0"/>
              </a:spcAft>
              <a:buSzPts val="1800"/>
              <a:buNone/>
            </a:pPr>
            <a:r>
              <a:rPr lang="en-US"/>
              <a:t>--  deep learning: CNN, GNN, ...</a:t>
            </a:r>
            <a:endParaRPr/>
          </a:p>
        </p:txBody>
      </p:sp>
      <p:sp>
        <p:nvSpPr>
          <p:cNvPr id="149" name="Google Shape;149;p9"/>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d3bcb5be89_0_0"/>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Logistic Regression</a:t>
            </a:r>
            <a:endParaRPr/>
          </a:p>
        </p:txBody>
      </p:sp>
      <p:sp>
        <p:nvSpPr>
          <p:cNvPr id="156" name="Google Shape;156;g3d3bcb5be89_0_0"/>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157" name="Google Shape;157;g3d3bcb5be89_0_0"/>
          <p:cNvPicPr preferRelativeResize="0"/>
          <p:nvPr/>
        </p:nvPicPr>
        <p:blipFill>
          <a:blip r:embed="rId3">
            <a:alphaModFix/>
          </a:blip>
          <a:stretch>
            <a:fillRect/>
          </a:stretch>
        </p:blipFill>
        <p:spPr>
          <a:xfrm>
            <a:off x="5979038" y="2221750"/>
            <a:ext cx="5800725" cy="3095625"/>
          </a:xfrm>
          <a:prstGeom prst="rect">
            <a:avLst/>
          </a:prstGeom>
          <a:noFill/>
          <a:ln>
            <a:noFill/>
          </a:ln>
        </p:spPr>
      </p:pic>
      <p:pic>
        <p:nvPicPr>
          <p:cNvPr id="158" name="Google Shape;158;g3d3bcb5be89_0_0"/>
          <p:cNvPicPr preferRelativeResize="0"/>
          <p:nvPr/>
        </p:nvPicPr>
        <p:blipFill>
          <a:blip r:embed="rId4">
            <a:alphaModFix/>
          </a:blip>
          <a:stretch>
            <a:fillRect/>
          </a:stretch>
        </p:blipFill>
        <p:spPr>
          <a:xfrm>
            <a:off x="178325" y="1889539"/>
            <a:ext cx="5800725" cy="37600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d3bcb5be89_0_9"/>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Gaussian Naive Bayes</a:t>
            </a:r>
            <a:endParaRPr/>
          </a:p>
        </p:txBody>
      </p:sp>
      <p:sp>
        <p:nvSpPr>
          <p:cNvPr id="165" name="Google Shape;165;g3d3bcb5be89_0_9"/>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166" name="Google Shape;166;g3d3bcb5be89_0_9"/>
          <p:cNvPicPr preferRelativeResize="0"/>
          <p:nvPr/>
        </p:nvPicPr>
        <p:blipFill>
          <a:blip r:embed="rId3">
            <a:alphaModFix/>
          </a:blip>
          <a:stretch>
            <a:fillRect/>
          </a:stretch>
        </p:blipFill>
        <p:spPr>
          <a:xfrm>
            <a:off x="609600" y="1744400"/>
            <a:ext cx="7620000" cy="3810000"/>
          </a:xfrm>
          <a:prstGeom prst="rect">
            <a:avLst/>
          </a:prstGeom>
          <a:noFill/>
          <a:ln>
            <a:noFill/>
          </a:ln>
        </p:spPr>
      </p:pic>
      <p:pic>
        <p:nvPicPr>
          <p:cNvPr id="167" name="Google Shape;167;g3d3bcb5be89_0_9"/>
          <p:cNvPicPr preferRelativeResize="0"/>
          <p:nvPr/>
        </p:nvPicPr>
        <p:blipFill>
          <a:blip r:embed="rId4">
            <a:alphaModFix/>
          </a:blip>
          <a:stretch>
            <a:fillRect/>
          </a:stretch>
        </p:blipFill>
        <p:spPr>
          <a:xfrm>
            <a:off x="8229600" y="3042750"/>
            <a:ext cx="3902025" cy="97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d3bcb5be89_0_18"/>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Support Vector Machine (SVM)</a:t>
            </a:r>
            <a:endParaRPr/>
          </a:p>
        </p:txBody>
      </p:sp>
      <p:sp>
        <p:nvSpPr>
          <p:cNvPr id="174" name="Google Shape;174;g3d3bcb5be89_0_18"/>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175" name="Google Shape;175;g3d3bcb5be89_0_18"/>
          <p:cNvPicPr preferRelativeResize="0"/>
          <p:nvPr/>
        </p:nvPicPr>
        <p:blipFill>
          <a:blip r:embed="rId3">
            <a:alphaModFix/>
          </a:blip>
          <a:stretch>
            <a:fillRect/>
          </a:stretch>
        </p:blipFill>
        <p:spPr>
          <a:xfrm>
            <a:off x="328450" y="2633113"/>
            <a:ext cx="4543046" cy="2271512"/>
          </a:xfrm>
          <a:prstGeom prst="rect">
            <a:avLst/>
          </a:prstGeom>
          <a:noFill/>
          <a:ln>
            <a:noFill/>
          </a:ln>
        </p:spPr>
      </p:pic>
      <p:pic>
        <p:nvPicPr>
          <p:cNvPr id="176" name="Google Shape;176;g3d3bcb5be89_0_18"/>
          <p:cNvPicPr preferRelativeResize="0"/>
          <p:nvPr/>
        </p:nvPicPr>
        <p:blipFill>
          <a:blip r:embed="rId4">
            <a:alphaModFix/>
          </a:blip>
          <a:stretch>
            <a:fillRect/>
          </a:stretch>
        </p:blipFill>
        <p:spPr>
          <a:xfrm>
            <a:off x="5172675" y="1897700"/>
            <a:ext cx="6811899" cy="4153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d3bcb5be89_0_28"/>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Decision Tree</a:t>
            </a:r>
            <a:endParaRPr/>
          </a:p>
        </p:txBody>
      </p:sp>
      <p:sp>
        <p:nvSpPr>
          <p:cNvPr id="183" name="Google Shape;183;g3d3bcb5be89_0_28"/>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184" name="Google Shape;184;g3d3bcb5be89_0_28"/>
          <p:cNvPicPr preferRelativeResize="0"/>
          <p:nvPr/>
        </p:nvPicPr>
        <p:blipFill>
          <a:blip r:embed="rId3">
            <a:alphaModFix/>
          </a:blip>
          <a:stretch>
            <a:fillRect/>
          </a:stretch>
        </p:blipFill>
        <p:spPr>
          <a:xfrm>
            <a:off x="3280200" y="1295968"/>
            <a:ext cx="4892102" cy="2621181"/>
          </a:xfrm>
          <a:prstGeom prst="rect">
            <a:avLst/>
          </a:prstGeom>
          <a:noFill/>
          <a:ln>
            <a:noFill/>
          </a:ln>
        </p:spPr>
      </p:pic>
      <p:pic>
        <p:nvPicPr>
          <p:cNvPr id="185" name="Google Shape;185;g3d3bcb5be89_0_28"/>
          <p:cNvPicPr preferRelativeResize="0"/>
          <p:nvPr/>
        </p:nvPicPr>
        <p:blipFill>
          <a:blip r:embed="rId4">
            <a:alphaModFix/>
          </a:blip>
          <a:stretch>
            <a:fillRect/>
          </a:stretch>
        </p:blipFill>
        <p:spPr>
          <a:xfrm>
            <a:off x="2264425" y="3850325"/>
            <a:ext cx="6923648" cy="2537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d3bcb5be89_0_37"/>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Random Forest</a:t>
            </a:r>
            <a:endParaRPr/>
          </a:p>
        </p:txBody>
      </p:sp>
      <p:sp>
        <p:nvSpPr>
          <p:cNvPr id="192" name="Google Shape;192;g3d3bcb5be89_0_37"/>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193" name="Google Shape;193;g3d3bcb5be89_0_37"/>
          <p:cNvPicPr preferRelativeResize="0"/>
          <p:nvPr/>
        </p:nvPicPr>
        <p:blipFill>
          <a:blip r:embed="rId3">
            <a:alphaModFix/>
          </a:blip>
          <a:stretch>
            <a:fillRect/>
          </a:stretch>
        </p:blipFill>
        <p:spPr>
          <a:xfrm>
            <a:off x="0" y="2122411"/>
            <a:ext cx="6121924" cy="3060975"/>
          </a:xfrm>
          <a:prstGeom prst="rect">
            <a:avLst/>
          </a:prstGeom>
          <a:noFill/>
          <a:ln>
            <a:noFill/>
          </a:ln>
        </p:spPr>
      </p:pic>
      <p:pic>
        <p:nvPicPr>
          <p:cNvPr id="194" name="Google Shape;194;g3d3bcb5be89_0_37"/>
          <p:cNvPicPr preferRelativeResize="0"/>
          <p:nvPr/>
        </p:nvPicPr>
        <p:blipFill>
          <a:blip r:embed="rId4">
            <a:alphaModFix/>
          </a:blip>
          <a:stretch>
            <a:fillRect/>
          </a:stretch>
        </p:blipFill>
        <p:spPr>
          <a:xfrm>
            <a:off x="6121925" y="2219688"/>
            <a:ext cx="6070075" cy="28664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d3bcb5be89_0_47"/>
          <p:cNvSpPr txBox="1"/>
          <p:nvPr>
            <p:ph type="title"/>
          </p:nvPr>
        </p:nvSpPr>
        <p:spPr>
          <a:xfrm>
            <a:off x="609600" y="351367"/>
            <a:ext cx="10972800" cy="800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CNN</a:t>
            </a:r>
            <a:endParaRPr/>
          </a:p>
        </p:txBody>
      </p:sp>
      <p:sp>
        <p:nvSpPr>
          <p:cNvPr id="201" name="Google Shape;201;g3d3bcb5be89_0_47"/>
          <p:cNvSpPr txBox="1"/>
          <p:nvPr>
            <p:ph idx="12" type="sldNum"/>
          </p:nvPr>
        </p:nvSpPr>
        <p:spPr>
          <a:xfrm>
            <a:off x="1" y="6387664"/>
            <a:ext cx="609600" cy="3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pic>
        <p:nvPicPr>
          <p:cNvPr id="202" name="Google Shape;202;g3d3bcb5be89_0_47"/>
          <p:cNvPicPr preferRelativeResize="0"/>
          <p:nvPr/>
        </p:nvPicPr>
        <p:blipFill>
          <a:blip r:embed="rId3">
            <a:alphaModFix/>
          </a:blip>
          <a:stretch>
            <a:fillRect/>
          </a:stretch>
        </p:blipFill>
        <p:spPr>
          <a:xfrm>
            <a:off x="1108088" y="1354775"/>
            <a:ext cx="9975824" cy="4981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txBox="1"/>
          <p:nvPr>
            <p:ph type="ctrTitle"/>
          </p:nvPr>
        </p:nvSpPr>
        <p:spPr>
          <a:xfrm>
            <a:off x="609600" y="2630380"/>
            <a:ext cx="9972600" cy="277991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4000"/>
              <a:buFont typeface="Verdana"/>
              <a:buNone/>
            </a:pPr>
            <a:br>
              <a:rPr lang="en-US"/>
            </a:br>
            <a:br>
              <a:rPr lang="en-US"/>
            </a:br>
            <a:br>
              <a:rPr lang="en-US"/>
            </a:br>
            <a:br>
              <a:rPr lang="en-US"/>
            </a:br>
            <a:br>
              <a:rPr lang="en-US"/>
            </a:br>
            <a:r>
              <a:rPr lang="en-US">
                <a:solidFill>
                  <a:srgbClr val="000000"/>
                </a:solidFill>
                <a:latin typeface="Helvetica Neue"/>
                <a:ea typeface="Helvetica Neue"/>
                <a:cs typeface="Helvetica Neue"/>
                <a:sym typeface="Helvetica Neue"/>
              </a:rPr>
              <a:t>AI-assisted Binary &amp; Library Fuzzing</a:t>
            </a:r>
            <a:br>
              <a:rPr lang="en-US">
                <a:solidFill>
                  <a:srgbClr val="000000"/>
                </a:solidFill>
                <a:latin typeface="Helvetica Neue"/>
                <a:ea typeface="Helvetica Neue"/>
                <a:cs typeface="Helvetica Neue"/>
                <a:sym typeface="Helvetica Neue"/>
              </a:rPr>
            </a:br>
            <a:br>
              <a:rPr lang="en-US"/>
            </a:b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1"/>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14" name="Google Shape;214;p11"/>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1"/>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How C &amp; C++ code works during execution</a:t>
            </a:r>
            <a:endParaRPr/>
          </a:p>
          <a:p>
            <a:pPr indent="-342900" lvl="0" marL="457200" rtl="0" algn="l">
              <a:lnSpc>
                <a:spcPct val="95000"/>
              </a:lnSpc>
              <a:spcBef>
                <a:spcPts val="1200"/>
              </a:spcBef>
              <a:spcAft>
                <a:spcPts val="0"/>
              </a:spcAft>
              <a:buSzPts val="1800"/>
              <a:buChar char="•"/>
            </a:pPr>
            <a:r>
              <a:rPr lang="en-US"/>
              <a:t>Why dynamic detection method as fuzzing matters</a:t>
            </a:r>
            <a:endParaRPr/>
          </a:p>
          <a:p>
            <a:pPr indent="-342900" lvl="0" marL="457200" rtl="0" algn="l">
              <a:lnSpc>
                <a:spcPct val="95000"/>
              </a:lnSpc>
              <a:spcBef>
                <a:spcPts val="1200"/>
              </a:spcBef>
              <a:spcAft>
                <a:spcPts val="0"/>
              </a:spcAft>
              <a:buSzPts val="1800"/>
              <a:buChar char="•"/>
            </a:pPr>
            <a:r>
              <a:rPr lang="en-US"/>
              <a:t>How LLMs helps fuzzing</a:t>
            </a:r>
            <a:endParaRPr/>
          </a:p>
          <a:p>
            <a:pPr indent="-342900" lvl="0" marL="457200" rtl="0" algn="l">
              <a:lnSpc>
                <a:spcPct val="95000"/>
              </a:lnSpc>
              <a:spcBef>
                <a:spcPts val="1200"/>
              </a:spcBef>
              <a:spcAft>
                <a:spcPts val="0"/>
              </a:spcAft>
              <a:buSzPts val="1800"/>
              <a:buChar char="•"/>
            </a:pPr>
            <a:r>
              <a:rPr lang="en-US"/>
              <a:t>Hands on experiments</a:t>
            </a:r>
            <a:endParaRPr/>
          </a:p>
        </p:txBody>
      </p:sp>
      <p:sp>
        <p:nvSpPr>
          <p:cNvPr id="216" name="Google Shape;216;p11"/>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Content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23" name="Google Shape;223;p12"/>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12"/>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Fuzzing Workflow Overview</a:t>
            </a:r>
            <a:endParaRPr/>
          </a:p>
        </p:txBody>
      </p:sp>
      <p:sp>
        <p:nvSpPr>
          <p:cNvPr id="225" name="Google Shape;225;p12"/>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code works during execution</a:t>
            </a:r>
            <a:endParaRPr/>
          </a:p>
        </p:txBody>
      </p:sp>
      <p:pic>
        <p:nvPicPr>
          <p:cNvPr descr="9251766353035_.pic" id="226" name="Google Shape;226;p12"/>
          <p:cNvPicPr preferRelativeResize="0"/>
          <p:nvPr/>
        </p:nvPicPr>
        <p:blipFill rotWithShape="1">
          <a:blip r:embed="rId3">
            <a:alphaModFix/>
          </a:blip>
          <a:srcRect b="0" l="0" r="0" t="0"/>
          <a:stretch/>
        </p:blipFill>
        <p:spPr>
          <a:xfrm>
            <a:off x="290195" y="2326005"/>
            <a:ext cx="6709410" cy="3044825"/>
          </a:xfrm>
          <a:prstGeom prst="rect">
            <a:avLst/>
          </a:prstGeom>
          <a:noFill/>
          <a:ln>
            <a:noFill/>
          </a:ln>
        </p:spPr>
      </p:pic>
      <p:sp>
        <p:nvSpPr>
          <p:cNvPr id="227" name="Google Shape;227;p12"/>
          <p:cNvSpPr txBox="1"/>
          <p:nvPr/>
        </p:nvSpPr>
        <p:spPr>
          <a:xfrm>
            <a:off x="7065010" y="1863725"/>
            <a:ext cx="4989830" cy="39693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Seeds</a:t>
            </a:r>
            <a:r>
              <a:rPr b="0" i="0" lang="en-US" sz="1400" u="none" cap="none" strike="noStrike">
                <a:solidFill>
                  <a:srgbClr val="000000"/>
                </a:solidFill>
                <a:latin typeface="Arial"/>
                <a:ea typeface="Arial"/>
                <a:cs typeface="Arial"/>
                <a:sym typeface="Arial"/>
              </a:rPr>
              <a:t> provide initial valid or semi-valid inputs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Serve as starting points for fuzzing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Corpus</a:t>
            </a:r>
            <a:r>
              <a:rPr b="0" i="0" lang="en-US" sz="1400" u="none" cap="none" strike="noStrike">
                <a:solidFill>
                  <a:srgbClr val="000000"/>
                </a:solidFill>
                <a:latin typeface="Arial"/>
                <a:ea typeface="Arial"/>
                <a:cs typeface="Arial"/>
                <a:sym typeface="Arial"/>
              </a:rPr>
              <a:t> stores inputs that trigger new behaviors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Continuously updated based on coverage feedback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Fuzzer</a:t>
            </a:r>
            <a:r>
              <a:rPr b="0" i="0" lang="en-US" sz="1400" u="none" cap="none" strike="noStrike">
                <a:solidFill>
                  <a:srgbClr val="000000"/>
                </a:solidFill>
                <a:latin typeface="Arial"/>
                <a:ea typeface="Arial"/>
                <a:cs typeface="Arial"/>
                <a:sym typeface="Arial"/>
              </a:rPr>
              <a:t> mutates inputs and schedules executions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Guided by coverage and runtime feedback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Fuzz Harness</a:t>
            </a:r>
            <a:r>
              <a:rPr b="0" i="0" lang="en-US" sz="1400" u="none" cap="none" strike="noStrike">
                <a:solidFill>
                  <a:srgbClr val="000000"/>
                </a:solidFill>
                <a:latin typeface="Arial"/>
                <a:ea typeface="Arial"/>
                <a:cs typeface="Arial"/>
                <a:sym typeface="Arial"/>
              </a:rPr>
              <a:t> connects the fuzzer to the software under 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Feeds inputs and observes execution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Findings</a:t>
            </a:r>
            <a:r>
              <a:rPr b="0" i="0" lang="en-US" sz="1400" u="none" cap="none" strike="noStrike">
                <a:solidFill>
                  <a:srgbClr val="000000"/>
                </a:solidFill>
                <a:latin typeface="Arial"/>
                <a:ea typeface="Arial"/>
                <a:cs typeface="Arial"/>
                <a:sym typeface="Arial"/>
              </a:rPr>
              <a:t> include crashes, hangs, and abnormal behaviors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Indicate potential bugs or vulnerabilities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34" name="Google Shape;234;p13"/>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3"/>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Given an input (from stdin or harness files)</a:t>
            </a:r>
            <a:endParaRPr/>
          </a:p>
        </p:txBody>
      </p:sp>
      <p:sp>
        <p:nvSpPr>
          <p:cNvPr id="236" name="Google Shape;236;p1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code works during execution</a:t>
            </a:r>
            <a:endParaRPr/>
          </a:p>
        </p:txBody>
      </p:sp>
      <p:pic>
        <p:nvPicPr>
          <p:cNvPr id="237" name="Google Shape;237;p13"/>
          <p:cNvPicPr preferRelativeResize="0"/>
          <p:nvPr/>
        </p:nvPicPr>
        <p:blipFill rotWithShape="1">
          <a:blip r:embed="rId3">
            <a:alphaModFix/>
          </a:blip>
          <a:srcRect b="0" l="0" r="0" t="0"/>
          <a:stretch/>
        </p:blipFill>
        <p:spPr>
          <a:xfrm>
            <a:off x="0" y="2279650"/>
            <a:ext cx="7800975" cy="2979420"/>
          </a:xfrm>
          <a:prstGeom prst="rect">
            <a:avLst/>
          </a:prstGeom>
          <a:noFill/>
          <a:ln>
            <a:noFill/>
          </a:ln>
        </p:spPr>
      </p:pic>
      <p:sp>
        <p:nvSpPr>
          <p:cNvPr id="238" name="Google Shape;238;p13"/>
          <p:cNvSpPr txBox="1"/>
          <p:nvPr/>
        </p:nvSpPr>
        <p:spPr>
          <a:xfrm>
            <a:off x="7800975" y="2279650"/>
            <a:ext cx="4683760" cy="43821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 harness defines the entry point for the fuzzer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It maps raw fuzzer input to meaningful program inputs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data and size are interpreted as file contents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It invokes a specific target API or function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mz_zip_add_mem_to_archive_file_in_place(...)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It isolates the test logic from the rest of the application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No CLI parsing, no full program execution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4"/>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45" name="Google Shape;245;p14"/>
          <p:cNvSpPr txBox="1"/>
          <p:nvPr>
            <p:ph idx="11" type="ftr"/>
          </p:nvPr>
        </p:nvSpPr>
        <p:spPr>
          <a:xfrm>
            <a:off x="609600" y="6400800"/>
            <a:ext cx="6584315"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https://stackoverflow.com/questions/517589/tools-to-get-a-pictorial-function-call-graph-of-code</a:t>
            </a:r>
            <a:endParaRPr sz="1000"/>
          </a:p>
        </p:txBody>
      </p:sp>
      <p:sp>
        <p:nvSpPr>
          <p:cNvPr id="246" name="Google Shape;246;p14"/>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fontScale="40000"/>
          </a:bodyPr>
          <a:lstStyle/>
          <a:p>
            <a:pPr indent="-342900" lvl="0" marL="457200" rtl="0" algn="l">
              <a:lnSpc>
                <a:spcPct val="95000"/>
              </a:lnSpc>
              <a:spcBef>
                <a:spcPts val="1200"/>
              </a:spcBef>
              <a:spcAft>
                <a:spcPts val="0"/>
              </a:spcAft>
              <a:buSzPct val="112500"/>
              <a:buChar char="•"/>
            </a:pPr>
            <a:r>
              <a:rPr lang="en-US" sz="4000"/>
              <a:t>Given an input (from stdin or harness files)</a:t>
            </a:r>
            <a:endParaRPr sz="4000"/>
          </a:p>
          <a:p>
            <a:pPr indent="-342900" lvl="0" marL="457200" rtl="0" algn="l">
              <a:lnSpc>
                <a:spcPct val="95000"/>
              </a:lnSpc>
              <a:spcBef>
                <a:spcPts val="1200"/>
              </a:spcBef>
              <a:spcAft>
                <a:spcPts val="0"/>
              </a:spcAft>
              <a:buSzPct val="112500"/>
              <a:buChar char="•"/>
            </a:pPr>
            <a:r>
              <a:rPr lang="en-US" sz="4000"/>
              <a:t>Run </a:t>
            </a:r>
            <a:r>
              <a:rPr lang="en-US" sz="4000">
                <a:solidFill>
                  <a:srgbClr val="FF0000"/>
                </a:solidFill>
              </a:rPr>
              <a:t>ONE </a:t>
            </a:r>
            <a:r>
              <a:rPr lang="en-US" sz="4000">
                <a:solidFill>
                  <a:schemeClr val="dk1"/>
                </a:solidFill>
              </a:rPr>
              <a:t>path from main() to somewhere</a:t>
            </a:r>
            <a:endParaRPr sz="4000">
              <a:solidFill>
                <a:schemeClr val="dk1"/>
              </a:solidFill>
            </a:endParaRPr>
          </a:p>
          <a:p>
            <a:pPr indent="457200" lvl="0" marL="114300" rtl="0" algn="l">
              <a:lnSpc>
                <a:spcPct val="95000"/>
              </a:lnSpc>
              <a:spcBef>
                <a:spcPts val="1200"/>
              </a:spcBef>
              <a:spcAft>
                <a:spcPts val="0"/>
              </a:spcAft>
              <a:buSzPct val="112500"/>
              <a:buNone/>
            </a:pPr>
            <a:r>
              <a:rPr lang="en-US" sz="4000">
                <a:solidFill>
                  <a:schemeClr val="dk1"/>
                </a:solidFill>
                <a:latin typeface="Verdana"/>
                <a:ea typeface="Verdana"/>
                <a:cs typeface="Verdana"/>
                <a:sym typeface="Verdana"/>
              </a:rPr>
              <a:t>-- call graph</a:t>
            </a:r>
            <a:endParaRPr sz="4000">
              <a:solidFill>
                <a:schemeClr val="dk1"/>
              </a:solidFill>
              <a:latin typeface="Verdana"/>
              <a:ea typeface="Verdana"/>
              <a:cs typeface="Verdana"/>
              <a:sym typeface="Verdana"/>
            </a:endParaRPr>
          </a:p>
          <a:p>
            <a:pPr indent="457200" lvl="0" marL="114300" rtl="0" algn="l">
              <a:lnSpc>
                <a:spcPct val="95000"/>
              </a:lnSpc>
              <a:spcBef>
                <a:spcPts val="1200"/>
              </a:spcBef>
              <a:spcAft>
                <a:spcPts val="0"/>
              </a:spcAft>
              <a:buSzPct val="187500"/>
              <a:buNone/>
            </a:pPr>
            <a:r>
              <a:rPr lang="en-US">
                <a:solidFill>
                  <a:schemeClr val="dk1"/>
                </a:solidFill>
              </a:rPr>
              <a:t>Nodes represent functions</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 _start, main, f0, f1, f2</a:t>
            </a:r>
            <a:endParaRPr>
              <a:solidFill>
                <a:schemeClr val="dk1"/>
              </a:solidFill>
            </a:endParaRPr>
          </a:p>
          <a:p>
            <a:pPr indent="457200" lvl="0" marL="114300" rtl="0" algn="l">
              <a:lnSpc>
                <a:spcPct val="95000"/>
              </a:lnSpc>
              <a:spcBef>
                <a:spcPts val="1200"/>
              </a:spcBef>
              <a:spcAft>
                <a:spcPts val="0"/>
              </a:spcAft>
              <a:buSzPct val="187500"/>
              <a:buNone/>
            </a:pPr>
            <a:r>
              <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Edges represent function calls</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 An edge means “this function may call that function”</a:t>
            </a:r>
            <a:endParaRPr>
              <a:solidFill>
                <a:schemeClr val="dk1"/>
              </a:solidFill>
            </a:endParaRPr>
          </a:p>
          <a:p>
            <a:pPr indent="457200" lvl="0" marL="114300" rtl="0" algn="l">
              <a:lnSpc>
                <a:spcPct val="95000"/>
              </a:lnSpc>
              <a:spcBef>
                <a:spcPts val="1200"/>
              </a:spcBef>
              <a:spcAft>
                <a:spcPts val="0"/>
              </a:spcAft>
              <a:buSzPct val="187500"/>
              <a:buNone/>
            </a:pPr>
            <a:r>
              <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Edge labels show call frequency</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 1×, 2× indicate how many times the call happened</a:t>
            </a:r>
            <a:endParaRPr>
              <a:solidFill>
                <a:schemeClr val="dk1"/>
              </a:solidFill>
            </a:endParaRPr>
          </a:p>
          <a:p>
            <a:pPr indent="457200" lvl="0" marL="114300" rtl="0" algn="l">
              <a:lnSpc>
                <a:spcPct val="95000"/>
              </a:lnSpc>
              <a:spcBef>
                <a:spcPts val="1200"/>
              </a:spcBef>
              <a:spcAft>
                <a:spcPts val="0"/>
              </a:spcAft>
              <a:buSzPct val="187500"/>
              <a:buNone/>
            </a:pPr>
            <a:r>
              <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Coverage/color reflects execution frequency or time</a:t>
            </a:r>
            <a:endParaRPr>
              <a:solidFill>
                <a:schemeClr val="dk1"/>
              </a:solidFill>
            </a:endParaRPr>
          </a:p>
          <a:p>
            <a:pPr indent="457200" lvl="0" marL="114300" rtl="0" algn="l">
              <a:lnSpc>
                <a:spcPct val="95000"/>
              </a:lnSpc>
              <a:spcBef>
                <a:spcPts val="1200"/>
              </a:spcBef>
              <a:spcAft>
                <a:spcPts val="0"/>
              </a:spcAft>
              <a:buSzPct val="187500"/>
              <a:buNone/>
            </a:pPr>
            <a:r>
              <a:rPr lang="en-US">
                <a:solidFill>
                  <a:schemeClr val="dk1"/>
                </a:solidFill>
              </a:rPr>
              <a:t>→ Helps identify hot and cold functions</a:t>
            </a:r>
            <a:endParaRPr>
              <a:solidFill>
                <a:schemeClr val="dk1"/>
              </a:solidFill>
            </a:endParaRPr>
          </a:p>
        </p:txBody>
      </p:sp>
      <p:sp>
        <p:nvSpPr>
          <p:cNvPr id="247" name="Google Shape;247;p1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code works during execution</a:t>
            </a:r>
            <a:endParaRPr/>
          </a:p>
        </p:txBody>
      </p:sp>
      <p:pic>
        <p:nvPicPr>
          <p:cNvPr descr="9261766353571_.pic" id="248" name="Google Shape;248;p14"/>
          <p:cNvPicPr preferRelativeResize="0"/>
          <p:nvPr/>
        </p:nvPicPr>
        <p:blipFill rotWithShape="1">
          <a:blip r:embed="rId3">
            <a:alphaModFix/>
          </a:blip>
          <a:srcRect b="0" l="0" r="0" t="0"/>
          <a:stretch/>
        </p:blipFill>
        <p:spPr>
          <a:xfrm>
            <a:off x="7493000" y="1459230"/>
            <a:ext cx="2203450" cy="477647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55" name="Google Shape;255;p15"/>
          <p:cNvSpPr txBox="1"/>
          <p:nvPr>
            <p:ph idx="11" type="ftr"/>
          </p:nvPr>
        </p:nvSpPr>
        <p:spPr>
          <a:xfrm>
            <a:off x="609600" y="6400800"/>
            <a:ext cx="6584315"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https://en.wikipedia.org/wiki/Control-flow_graph#/media/File:Rust_MIR_CFG.svg</a:t>
            </a:r>
            <a:endParaRPr sz="1000"/>
          </a:p>
        </p:txBody>
      </p:sp>
      <p:sp>
        <p:nvSpPr>
          <p:cNvPr id="256" name="Google Shape;256;p15"/>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fontScale="50000"/>
          </a:bodyPr>
          <a:lstStyle/>
          <a:p>
            <a:pPr indent="-342900" lvl="0" marL="457200" rtl="0" algn="l">
              <a:lnSpc>
                <a:spcPct val="95000"/>
              </a:lnSpc>
              <a:spcBef>
                <a:spcPts val="1200"/>
              </a:spcBef>
              <a:spcAft>
                <a:spcPts val="0"/>
              </a:spcAft>
              <a:buSzPct val="90000"/>
              <a:buChar char="•"/>
            </a:pPr>
            <a:r>
              <a:rPr lang="en-US" sz="4000"/>
              <a:t>Given an input (from stdin or harness files)</a:t>
            </a:r>
            <a:endParaRPr sz="4000"/>
          </a:p>
          <a:p>
            <a:pPr indent="-342900" lvl="0" marL="457200" rtl="0" algn="l">
              <a:lnSpc>
                <a:spcPct val="95000"/>
              </a:lnSpc>
              <a:spcBef>
                <a:spcPts val="1200"/>
              </a:spcBef>
              <a:spcAft>
                <a:spcPts val="0"/>
              </a:spcAft>
              <a:buSzPct val="90000"/>
              <a:buChar char="•"/>
            </a:pPr>
            <a:r>
              <a:rPr lang="en-US" sz="4000"/>
              <a:t>Run ONE path from main() to somewhere</a:t>
            </a:r>
            <a:endParaRPr sz="4000"/>
          </a:p>
          <a:p>
            <a:pPr indent="457200" lvl="0" marL="114300" rtl="0" algn="l">
              <a:lnSpc>
                <a:spcPct val="95000"/>
              </a:lnSpc>
              <a:spcBef>
                <a:spcPts val="1200"/>
              </a:spcBef>
              <a:spcAft>
                <a:spcPts val="0"/>
              </a:spcAft>
              <a:buSzPct val="90000"/>
              <a:buNone/>
            </a:pPr>
            <a:r>
              <a:rPr lang="en-US" sz="4000"/>
              <a:t>-- control flow graph</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A CFG models execution flow inside a single function</a:t>
            </a:r>
            <a:endParaRPr>
              <a:solidFill>
                <a:schemeClr val="dk1"/>
              </a:solidFill>
            </a:endParaRPr>
          </a:p>
          <a:p>
            <a:pPr indent="457200" lvl="0" marL="114300" rtl="0" algn="l">
              <a:lnSpc>
                <a:spcPct val="95000"/>
              </a:lnSpc>
              <a:spcBef>
                <a:spcPts val="1200"/>
              </a:spcBef>
              <a:spcAft>
                <a:spcPts val="0"/>
              </a:spcAft>
              <a:buSzPct val="150000"/>
              <a:buNone/>
            </a:pPr>
            <a:r>
              <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Nodes are Basic Blocks (BBs)</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 Straight-line code with one entry and one exit</a:t>
            </a:r>
            <a:endParaRPr>
              <a:solidFill>
                <a:schemeClr val="dk1"/>
              </a:solidFill>
            </a:endParaRPr>
          </a:p>
          <a:p>
            <a:pPr indent="457200" lvl="0" marL="114300" rtl="0" algn="l">
              <a:lnSpc>
                <a:spcPct val="95000"/>
              </a:lnSpc>
              <a:spcBef>
                <a:spcPts val="1200"/>
              </a:spcBef>
              <a:spcAft>
                <a:spcPts val="0"/>
              </a:spcAft>
              <a:buSzPct val="150000"/>
              <a:buNone/>
            </a:pPr>
            <a:r>
              <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Edges represent possible control transfers</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 if, else, switch, goto, return</a:t>
            </a:r>
            <a:endParaRPr>
              <a:solidFill>
                <a:schemeClr val="dk1"/>
              </a:solidFill>
            </a:endParaRPr>
          </a:p>
          <a:p>
            <a:pPr indent="457200" lvl="0" marL="114300" rtl="0" algn="l">
              <a:lnSpc>
                <a:spcPct val="95000"/>
              </a:lnSpc>
              <a:spcBef>
                <a:spcPts val="1200"/>
              </a:spcBef>
              <a:spcAft>
                <a:spcPts val="0"/>
              </a:spcAft>
              <a:buSzPct val="150000"/>
              <a:buNone/>
            </a:pPr>
            <a:r>
              <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Branching splits execution into multiple paths</a:t>
            </a:r>
            <a:endParaRPr>
              <a:solidFill>
                <a:schemeClr val="dk1"/>
              </a:solidFill>
            </a:endParaRPr>
          </a:p>
          <a:p>
            <a:pPr indent="457200" lvl="0" marL="114300" rtl="0" algn="l">
              <a:lnSpc>
                <a:spcPct val="95000"/>
              </a:lnSpc>
              <a:spcBef>
                <a:spcPts val="1200"/>
              </a:spcBef>
              <a:spcAft>
                <a:spcPts val="0"/>
              </a:spcAft>
              <a:buSzPct val="150000"/>
              <a:buNone/>
            </a:pPr>
            <a:r>
              <a:rPr lang="en-US">
                <a:solidFill>
                  <a:schemeClr val="dk1"/>
                </a:solidFill>
              </a:rPr>
              <a:t>→ Only one path is taken per execution</a:t>
            </a:r>
            <a:endParaRPr>
              <a:solidFill>
                <a:schemeClr val="dk1"/>
              </a:solidFill>
            </a:endParaRPr>
          </a:p>
        </p:txBody>
      </p:sp>
      <p:sp>
        <p:nvSpPr>
          <p:cNvPr id="257" name="Google Shape;257;p1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code works during execution</a:t>
            </a:r>
            <a:endParaRPr/>
          </a:p>
        </p:txBody>
      </p:sp>
      <p:pic>
        <p:nvPicPr>
          <p:cNvPr descr="9281766354108_.pic" id="258" name="Google Shape;258;p15"/>
          <p:cNvPicPr preferRelativeResize="0"/>
          <p:nvPr/>
        </p:nvPicPr>
        <p:blipFill rotWithShape="1">
          <a:blip r:embed="rId3">
            <a:alphaModFix/>
          </a:blip>
          <a:srcRect b="0" l="0" r="0" t="0"/>
          <a:stretch/>
        </p:blipFill>
        <p:spPr>
          <a:xfrm>
            <a:off x="7193915" y="1281430"/>
            <a:ext cx="3429000" cy="5133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65" name="Google Shape;265;p16"/>
          <p:cNvSpPr txBox="1"/>
          <p:nvPr>
            <p:ph idx="11" type="ftr"/>
          </p:nvPr>
        </p:nvSpPr>
        <p:spPr>
          <a:xfrm>
            <a:off x="609600" y="6388100"/>
            <a:ext cx="8247380" cy="317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https://medium.com/@xianpeng.shen/use-gcov-and-lcov-to-perform-code-coverage-testing-for-c-c-projects-c85708b91c78</a:t>
            </a:r>
            <a:endParaRPr sz="1000"/>
          </a:p>
        </p:txBody>
      </p:sp>
      <p:sp>
        <p:nvSpPr>
          <p:cNvPr id="266" name="Google Shape;266;p16"/>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Code coverage</a:t>
            </a:r>
            <a:endParaRPr/>
          </a:p>
        </p:txBody>
      </p:sp>
      <p:sp>
        <p:nvSpPr>
          <p:cNvPr id="267" name="Google Shape;267;p1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Why dynamic detection method as fuzzing matters</a:t>
            </a:r>
            <a:endParaRPr/>
          </a:p>
        </p:txBody>
      </p:sp>
      <p:pic>
        <p:nvPicPr>
          <p:cNvPr id="268" name="Google Shape;268;p16"/>
          <p:cNvPicPr preferRelativeResize="0"/>
          <p:nvPr/>
        </p:nvPicPr>
        <p:blipFill rotWithShape="1">
          <a:blip r:embed="rId3">
            <a:alphaModFix/>
          </a:blip>
          <a:srcRect b="0" l="0" r="0" t="0"/>
          <a:stretch/>
        </p:blipFill>
        <p:spPr>
          <a:xfrm>
            <a:off x="3531235" y="1373505"/>
            <a:ext cx="3262630" cy="1502410"/>
          </a:xfrm>
          <a:prstGeom prst="rect">
            <a:avLst/>
          </a:prstGeom>
          <a:noFill/>
          <a:ln>
            <a:noFill/>
          </a:ln>
        </p:spPr>
      </p:pic>
      <p:pic>
        <p:nvPicPr>
          <p:cNvPr id="269" name="Google Shape;269;p16"/>
          <p:cNvPicPr preferRelativeResize="0"/>
          <p:nvPr/>
        </p:nvPicPr>
        <p:blipFill rotWithShape="1">
          <a:blip r:embed="rId4">
            <a:alphaModFix/>
          </a:blip>
          <a:srcRect b="0" l="0" r="0" t="0"/>
          <a:stretch/>
        </p:blipFill>
        <p:spPr>
          <a:xfrm>
            <a:off x="609600" y="3098165"/>
            <a:ext cx="6184265" cy="2121535"/>
          </a:xfrm>
          <a:prstGeom prst="rect">
            <a:avLst/>
          </a:prstGeom>
          <a:noFill/>
          <a:ln>
            <a:noFill/>
          </a:ln>
        </p:spPr>
      </p:pic>
      <p:sp>
        <p:nvSpPr>
          <p:cNvPr id="270" name="Google Shape;270;p16"/>
          <p:cNvSpPr txBox="1"/>
          <p:nvPr/>
        </p:nvSpPr>
        <p:spPr>
          <a:xfrm>
            <a:off x="7009765" y="1783715"/>
            <a:ext cx="5182235" cy="474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Source code is compiled with coverage instrumentation</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 GCC inserts counters into the program</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Compilation produces a static structure file (.gcno)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 Describes the program’s control-flow structure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Program execution produces runtime data (.gcda)</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 Records which parts of the code actually ran</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gcov processes both files to generate coverage data</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 Used to build human-readable reports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7"/>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77" name="Google Shape;277;p17"/>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7"/>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Code coverage</a:t>
            </a:r>
            <a:endParaRPr/>
          </a:p>
          <a:p>
            <a:pPr indent="-342900" lvl="0" marL="457200" rtl="0" algn="l">
              <a:lnSpc>
                <a:spcPct val="95000"/>
              </a:lnSpc>
              <a:spcBef>
                <a:spcPts val="1200"/>
              </a:spcBef>
              <a:spcAft>
                <a:spcPts val="0"/>
              </a:spcAft>
              <a:buSzPts val="1800"/>
              <a:buChar char="•"/>
            </a:pPr>
            <a:r>
              <a:rPr lang="en-US"/>
              <a:t>Seed</a:t>
            </a:r>
            <a:endParaRPr/>
          </a:p>
          <a:p>
            <a:pPr indent="457200" lvl="0" marL="114300" rtl="0" algn="l">
              <a:lnSpc>
                <a:spcPct val="95000"/>
              </a:lnSpc>
              <a:spcBef>
                <a:spcPts val="1200"/>
              </a:spcBef>
              <a:spcAft>
                <a:spcPts val="0"/>
              </a:spcAft>
              <a:buSzPts val="1800"/>
              <a:buNone/>
            </a:pPr>
            <a:r>
              <a:rPr lang="en-US"/>
              <a:t>-- a file (json, xml, ...)</a:t>
            </a:r>
            <a:endParaRPr/>
          </a:p>
          <a:p>
            <a:pPr indent="457200" lvl="0" marL="114300" rtl="0" algn="l">
              <a:lnSpc>
                <a:spcPct val="95000"/>
              </a:lnSpc>
              <a:spcBef>
                <a:spcPts val="1200"/>
              </a:spcBef>
              <a:spcAft>
                <a:spcPts val="0"/>
              </a:spcAft>
              <a:buSzPts val="1800"/>
              <a:buNone/>
            </a:pPr>
            <a:r>
              <a:rPr lang="en-US"/>
              <a:t>-- a string </a:t>
            </a:r>
            <a:endParaRPr/>
          </a:p>
          <a:p>
            <a:pPr indent="457200" lvl="0" marL="114300" rtl="0" algn="l">
              <a:lnSpc>
                <a:spcPct val="95000"/>
              </a:lnSpc>
              <a:spcBef>
                <a:spcPts val="1200"/>
              </a:spcBef>
              <a:spcAft>
                <a:spcPts val="0"/>
              </a:spcAft>
              <a:buSzPts val="1800"/>
              <a:buNone/>
            </a:pPr>
            <a:r>
              <a:rPr lang="en-US"/>
              <a:t>-- a number</a:t>
            </a:r>
            <a:endParaRPr/>
          </a:p>
          <a:p>
            <a:pPr indent="457200" lvl="0" marL="114300" rtl="0" algn="l">
              <a:lnSpc>
                <a:spcPct val="95000"/>
              </a:lnSpc>
              <a:spcBef>
                <a:spcPts val="1200"/>
              </a:spcBef>
              <a:spcAft>
                <a:spcPts val="0"/>
              </a:spcAft>
              <a:buSzPts val="1800"/>
              <a:buNone/>
            </a:pPr>
            <a:r>
              <a:rPr lang="en-US"/>
              <a:t>-- sometimes non-readable</a:t>
            </a:r>
            <a:endParaRPr/>
          </a:p>
        </p:txBody>
      </p:sp>
      <p:sp>
        <p:nvSpPr>
          <p:cNvPr id="279" name="Google Shape;279;p1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Why dynamic detection method as fuzzing matters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8"/>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86" name="Google Shape;286;p18"/>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https://www.fuzzingbook.org/html/MutationFuzzer.html</a:t>
            </a:r>
            <a:endParaRPr sz="1000"/>
          </a:p>
        </p:txBody>
      </p:sp>
      <p:sp>
        <p:nvSpPr>
          <p:cNvPr id="287" name="Google Shape;287;p18"/>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Code coverage</a:t>
            </a:r>
            <a:endParaRPr/>
          </a:p>
          <a:p>
            <a:pPr indent="-342900" lvl="0" marL="457200" rtl="0" algn="l">
              <a:lnSpc>
                <a:spcPct val="95000"/>
              </a:lnSpc>
              <a:spcBef>
                <a:spcPts val="1200"/>
              </a:spcBef>
              <a:spcAft>
                <a:spcPts val="0"/>
              </a:spcAft>
              <a:buSzPts val="1800"/>
              <a:buChar char="•"/>
            </a:pPr>
            <a:r>
              <a:rPr lang="en-US"/>
              <a:t>Seed</a:t>
            </a:r>
            <a:endParaRPr/>
          </a:p>
          <a:p>
            <a:pPr indent="-342900" lvl="0" marL="457200" rtl="0" algn="l">
              <a:lnSpc>
                <a:spcPct val="95000"/>
              </a:lnSpc>
              <a:spcBef>
                <a:spcPts val="1200"/>
              </a:spcBef>
              <a:spcAft>
                <a:spcPts val="0"/>
              </a:spcAft>
              <a:buSzPts val="1800"/>
              <a:buChar char="•"/>
            </a:pPr>
            <a:r>
              <a:rPr lang="en-US"/>
              <a:t>Scheduling(mutation)</a:t>
            </a:r>
            <a:endParaRPr/>
          </a:p>
          <a:p>
            <a:pPr indent="457200" lvl="0" marL="114300" rtl="0" algn="l">
              <a:lnSpc>
                <a:spcPct val="95000"/>
              </a:lnSpc>
              <a:spcBef>
                <a:spcPts val="1200"/>
              </a:spcBef>
              <a:spcAft>
                <a:spcPts val="0"/>
              </a:spcAft>
              <a:buSzPts val="1800"/>
              <a:buNone/>
            </a:pPr>
            <a:r>
              <a:rPr lang="en-US"/>
              <a:t>-- byte level</a:t>
            </a:r>
            <a:endParaRPr/>
          </a:p>
          <a:p>
            <a:pPr indent="457200" lvl="0" marL="114300" rtl="0" algn="l">
              <a:lnSpc>
                <a:spcPct val="95000"/>
              </a:lnSpc>
              <a:spcBef>
                <a:spcPts val="1200"/>
              </a:spcBef>
              <a:spcAft>
                <a:spcPts val="0"/>
              </a:spcAft>
              <a:buSzPts val="1800"/>
              <a:buNone/>
            </a:pPr>
            <a:r>
              <a:rPr lang="en-US"/>
              <a:t>-- token level</a:t>
            </a:r>
            <a:endParaRPr/>
          </a:p>
          <a:p>
            <a:pPr indent="457200" lvl="0" marL="114300" rtl="0" algn="l">
              <a:lnSpc>
                <a:spcPct val="95000"/>
              </a:lnSpc>
              <a:spcBef>
                <a:spcPts val="1200"/>
              </a:spcBef>
              <a:spcAft>
                <a:spcPts val="0"/>
              </a:spcAft>
              <a:buSzPts val="1800"/>
              <a:buNone/>
            </a:pPr>
            <a:r>
              <a:rPr lang="en-US"/>
              <a:t>-- structure level</a:t>
            </a:r>
            <a:endParaRPr/>
          </a:p>
          <a:p>
            <a:pPr indent="457200" lvl="0" marL="114300" rtl="0" algn="l">
              <a:lnSpc>
                <a:spcPct val="95000"/>
              </a:lnSpc>
              <a:spcBef>
                <a:spcPts val="1200"/>
              </a:spcBef>
              <a:spcAft>
                <a:spcPts val="0"/>
              </a:spcAft>
              <a:buSzPts val="1800"/>
              <a:buNone/>
            </a:pPr>
            <a:r>
              <a:rPr lang="en-US"/>
              <a:t>-- gramar based</a:t>
            </a:r>
            <a:endParaRPr/>
          </a:p>
          <a:p>
            <a:pPr indent="457200" lvl="0" marL="114300" rtl="0" algn="l">
              <a:lnSpc>
                <a:spcPct val="95000"/>
              </a:lnSpc>
              <a:spcBef>
                <a:spcPts val="1200"/>
              </a:spcBef>
              <a:spcAft>
                <a:spcPts val="0"/>
              </a:spcAft>
              <a:buSzPts val="1800"/>
              <a:buNone/>
            </a:pPr>
            <a:r>
              <a:rPr lang="en-US"/>
              <a:t>-- semantic mutation</a:t>
            </a:r>
            <a:endParaRPr/>
          </a:p>
        </p:txBody>
      </p:sp>
      <p:sp>
        <p:nvSpPr>
          <p:cNvPr id="288" name="Google Shape;288;p1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Why dynamic detection method as fuzzing matters</a:t>
            </a:r>
            <a:endParaRPr/>
          </a:p>
        </p:txBody>
      </p:sp>
      <p:pic>
        <p:nvPicPr>
          <p:cNvPr id="289" name="Google Shape;289;p18"/>
          <p:cNvPicPr preferRelativeResize="0"/>
          <p:nvPr/>
        </p:nvPicPr>
        <p:blipFill rotWithShape="1">
          <a:blip r:embed="rId3">
            <a:alphaModFix/>
          </a:blip>
          <a:srcRect b="0" l="0" r="0" t="0"/>
          <a:stretch/>
        </p:blipFill>
        <p:spPr>
          <a:xfrm>
            <a:off x="5440045" y="1524000"/>
            <a:ext cx="2738120" cy="2302510"/>
          </a:xfrm>
          <a:prstGeom prst="rect">
            <a:avLst/>
          </a:prstGeom>
          <a:noFill/>
          <a:ln>
            <a:noFill/>
          </a:ln>
        </p:spPr>
      </p:pic>
      <p:pic>
        <p:nvPicPr>
          <p:cNvPr id="290" name="Google Shape;290;p18"/>
          <p:cNvPicPr preferRelativeResize="0"/>
          <p:nvPr/>
        </p:nvPicPr>
        <p:blipFill rotWithShape="1">
          <a:blip r:embed="rId4">
            <a:alphaModFix/>
          </a:blip>
          <a:srcRect b="0" l="0" r="0" t="0"/>
          <a:stretch/>
        </p:blipFill>
        <p:spPr>
          <a:xfrm>
            <a:off x="5365115" y="4097655"/>
            <a:ext cx="4800600" cy="1809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9"/>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97" name="Google Shape;297;p19"/>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https://arxiv.org/pdf/2308.04748</a:t>
            </a:r>
            <a:endParaRPr sz="1000"/>
          </a:p>
        </p:txBody>
      </p:sp>
      <p:sp>
        <p:nvSpPr>
          <p:cNvPr id="298" name="Google Shape;298;p1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How LLMs helps fuzzing</a:t>
            </a:r>
            <a:endParaRPr/>
          </a:p>
        </p:txBody>
      </p:sp>
      <p:pic>
        <p:nvPicPr>
          <p:cNvPr id="299" name="Google Shape;299;p19"/>
          <p:cNvPicPr preferRelativeResize="0"/>
          <p:nvPr/>
        </p:nvPicPr>
        <p:blipFill rotWithShape="1">
          <a:blip r:embed="rId3">
            <a:alphaModFix/>
          </a:blip>
          <a:srcRect b="0" l="0" r="0" t="0"/>
          <a:stretch/>
        </p:blipFill>
        <p:spPr>
          <a:xfrm>
            <a:off x="749300" y="1356360"/>
            <a:ext cx="10915650"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0"/>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06" name="Google Shape;306;p20"/>
          <p:cNvSpPr txBox="1"/>
          <p:nvPr>
            <p:ph idx="11" type="ftr"/>
          </p:nvPr>
        </p:nvSpPr>
        <p:spPr>
          <a:xfrm>
            <a:off x="609600" y="6400800"/>
            <a:ext cx="68072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Char char="•"/>
            </a:pPr>
            <a:r>
              <a:rPr lang="en-US"/>
              <a:t>OSS-Fuzz-gen</a:t>
            </a:r>
            <a:endParaRPr/>
          </a:p>
          <a:p>
            <a:pPr indent="-228600" lvl="0" marL="457200" rtl="0" algn="l">
              <a:lnSpc>
                <a:spcPct val="95000"/>
              </a:lnSpc>
              <a:spcBef>
                <a:spcPts val="1200"/>
              </a:spcBef>
              <a:spcAft>
                <a:spcPts val="0"/>
              </a:spcAft>
              <a:buSzPts val="1800"/>
              <a:buNone/>
            </a:pPr>
            <a:r>
              <a:t/>
            </a:r>
            <a:endParaRPr/>
          </a:p>
        </p:txBody>
      </p:sp>
      <p:sp>
        <p:nvSpPr>
          <p:cNvPr id="308" name="Google Shape;308;p2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Hands on experiments</a:t>
            </a:r>
            <a:endParaRPr/>
          </a:p>
        </p:txBody>
      </p:sp>
      <p:pic>
        <p:nvPicPr>
          <p:cNvPr id="309" name="Google Shape;309;p20"/>
          <p:cNvPicPr preferRelativeResize="0"/>
          <p:nvPr/>
        </p:nvPicPr>
        <p:blipFill rotWithShape="1">
          <a:blip r:embed="rId3">
            <a:alphaModFix/>
          </a:blip>
          <a:srcRect b="0" l="0" r="0" t="0"/>
          <a:stretch/>
        </p:blipFill>
        <p:spPr>
          <a:xfrm>
            <a:off x="609600" y="2177415"/>
            <a:ext cx="3631565" cy="3342005"/>
          </a:xfrm>
          <a:prstGeom prst="rect">
            <a:avLst/>
          </a:prstGeom>
          <a:noFill/>
          <a:ln>
            <a:noFill/>
          </a:ln>
        </p:spPr>
      </p:pic>
      <p:pic>
        <p:nvPicPr>
          <p:cNvPr id="310" name="Google Shape;310;p20"/>
          <p:cNvPicPr preferRelativeResize="0"/>
          <p:nvPr/>
        </p:nvPicPr>
        <p:blipFill rotWithShape="1">
          <a:blip r:embed="rId4">
            <a:alphaModFix/>
          </a:blip>
          <a:srcRect b="0" l="0" r="0" t="0"/>
          <a:stretch/>
        </p:blipFill>
        <p:spPr>
          <a:xfrm>
            <a:off x="4342130" y="2324100"/>
            <a:ext cx="7769225" cy="290385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1"/>
          <p:cNvSpPr txBox="1"/>
          <p:nvPr>
            <p:ph type="ctrTitle"/>
          </p:nvPr>
        </p:nvSpPr>
        <p:spPr>
          <a:xfrm>
            <a:off x="424405" y="3243838"/>
            <a:ext cx="13372618" cy="277991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4000"/>
              <a:buFont typeface="Verdana"/>
              <a:buNone/>
            </a:pPr>
            <a:br>
              <a:rPr lang="en-US"/>
            </a:br>
            <a:br>
              <a:rPr lang="en-US"/>
            </a:br>
            <a:br>
              <a:rPr lang="en-US"/>
            </a:br>
            <a:br>
              <a:rPr lang="en-US"/>
            </a:br>
            <a:br>
              <a:rPr lang="en-US"/>
            </a:br>
            <a:r>
              <a:rPr lang="en-US">
                <a:solidFill>
                  <a:srgbClr val="000000"/>
                </a:solidFill>
                <a:latin typeface="Helvetica Neue"/>
                <a:ea typeface="Helvetica Neue"/>
                <a:cs typeface="Helvetica Neue"/>
                <a:sym typeface="Helvetica Neue"/>
              </a:rPr>
              <a:t>AI-assisted </a:t>
            </a:r>
            <a:r>
              <a:rPr lang="en-US"/>
              <a:t>Code Vulnerability Detection</a:t>
            </a:r>
            <a:br>
              <a:rPr lang="en-US"/>
            </a:br>
            <a:br>
              <a:rPr lang="en-US">
                <a:solidFill>
                  <a:srgbClr val="000000"/>
                </a:solidFill>
                <a:latin typeface="Helvetica Neue"/>
                <a:ea typeface="Helvetica Neue"/>
                <a:cs typeface="Helvetica Neue"/>
                <a:sym typeface="Helvetica Neue"/>
              </a:rPr>
            </a:br>
            <a:br>
              <a:rPr lang="en-US"/>
            </a:b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2"/>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22" name="Google Shape;322;p22"/>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Why do we need Vulnerability Detection</a:t>
            </a:r>
            <a:endParaRPr/>
          </a:p>
        </p:txBody>
      </p:sp>
      <p:sp>
        <p:nvSpPr>
          <p:cNvPr id="323" name="Google Shape;323;p22"/>
          <p:cNvSpPr txBox="1"/>
          <p:nvPr/>
        </p:nvSpPr>
        <p:spPr>
          <a:xfrm>
            <a:off x="5386137" y="1820701"/>
            <a:ext cx="7221689" cy="170296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Software vulnerabilities are a major cause of security breaches</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Manual code review is time-consuming and error-prone</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Rule-based static analysis tools have limited coverage</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New vulnerabilities appear faster than rules can be written</a:t>
            </a:r>
            <a:endParaRPr b="0" i="0" sz="1800" u="none" cap="none" strike="noStrike">
              <a:solidFill>
                <a:srgbClr val="000000"/>
              </a:solidFill>
              <a:latin typeface="Arial"/>
              <a:ea typeface="Arial"/>
              <a:cs typeface="Arial"/>
              <a:sym typeface="Arial"/>
            </a:endParaRPr>
          </a:p>
        </p:txBody>
      </p:sp>
      <p:pic>
        <p:nvPicPr>
          <p:cNvPr descr="code vulnerabilities assessment illustration" id="324" name="Google Shape;324;p22"/>
          <p:cNvPicPr preferRelativeResize="0"/>
          <p:nvPr/>
        </p:nvPicPr>
        <p:blipFill rotWithShape="1">
          <a:blip r:embed="rId3">
            <a:alphaModFix/>
          </a:blip>
          <a:srcRect b="0" l="0" r="0" t="0"/>
          <a:stretch/>
        </p:blipFill>
        <p:spPr>
          <a:xfrm>
            <a:off x="609600" y="1820701"/>
            <a:ext cx="4558631" cy="2564230"/>
          </a:xfrm>
          <a:prstGeom prst="rect">
            <a:avLst/>
          </a:prstGeom>
          <a:noFill/>
          <a:ln>
            <a:noFill/>
          </a:ln>
        </p:spPr>
      </p:pic>
      <p:sp>
        <p:nvSpPr>
          <p:cNvPr id="325" name="Google Shape;325;p22"/>
          <p:cNvSpPr txBox="1"/>
          <p:nvPr/>
        </p:nvSpPr>
        <p:spPr>
          <a:xfrm>
            <a:off x="609600" y="4713773"/>
            <a:ext cx="6304546" cy="134504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Understand how AI detects code vulnerabilities</a:t>
            </a:r>
            <a:endParaRPr b="1"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Run a vulnerability detection model</a:t>
            </a:r>
            <a:endParaRPr b="1"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Analyze model predictions</a:t>
            </a:r>
            <a:endParaRPr b="1"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Reflect on limitations of AI in security</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3"/>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32" name="Google Shape;332;p2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Task Definition</a:t>
            </a:r>
            <a:endParaRPr/>
          </a:p>
        </p:txBody>
      </p:sp>
      <p:sp>
        <p:nvSpPr>
          <p:cNvPr id="333" name="Google Shape;333;p23"/>
          <p:cNvSpPr txBox="1"/>
          <p:nvPr/>
        </p:nvSpPr>
        <p:spPr>
          <a:xfrm>
            <a:off x="605590" y="1335910"/>
            <a:ext cx="7221689" cy="211846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Input</a:t>
            </a:r>
            <a:r>
              <a:rPr b="0" i="0" lang="en-US" sz="1800" u="none" cap="none" strike="noStrike">
                <a:solidFill>
                  <a:srgbClr val="000000"/>
                </a:solidFill>
                <a:latin typeface="Arial"/>
                <a:ea typeface="Arial"/>
                <a:cs typeface="Arial"/>
                <a:sym typeface="Arial"/>
              </a:rPr>
              <a:t>:             A function-level code representation</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Output</a:t>
            </a:r>
            <a:r>
              <a:rPr b="0" i="0" lang="en-US" sz="1800" u="none" cap="none" strike="noStrike">
                <a:solidFill>
                  <a:srgbClr val="000000"/>
                </a:solidFill>
                <a:latin typeface="Arial"/>
                <a:ea typeface="Arial"/>
                <a:cs typeface="Arial"/>
                <a:sym typeface="Arial"/>
              </a:rPr>
              <a:t>:          Vulnerable (1) or Non-vulnerable (0)</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Task Type</a:t>
            </a:r>
            <a:r>
              <a:rPr b="0" i="0" lang="en-US" sz="1800" u="none" cap="none" strike="noStrike">
                <a:solidFill>
                  <a:srgbClr val="000000"/>
                </a:solidFill>
                <a:latin typeface="Arial"/>
                <a:ea typeface="Arial"/>
                <a:cs typeface="Arial"/>
                <a:sym typeface="Arial"/>
              </a:rPr>
              <a:t>:    Binary classification</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Granularity</a:t>
            </a:r>
            <a:r>
              <a:rPr b="0" i="0" lang="en-US" sz="1800" u="none" cap="none" strike="noStrike">
                <a:solidFill>
                  <a:srgbClr val="000000"/>
                </a:solidFill>
                <a:latin typeface="Arial"/>
                <a:ea typeface="Arial"/>
                <a:cs typeface="Arial"/>
                <a:sym typeface="Arial"/>
              </a:rPr>
              <a:t>:   Function-level vulnerability detection</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Dataset</a:t>
            </a:r>
            <a:r>
              <a:rPr b="0" i="0" lang="en-US" sz="1800" u="none" cap="none" strike="noStrike">
                <a:solidFill>
                  <a:srgbClr val="000000"/>
                </a:solidFill>
                <a:latin typeface="Arial"/>
                <a:ea typeface="Arial"/>
                <a:cs typeface="Arial"/>
                <a:sym typeface="Arial"/>
              </a:rPr>
              <a:t>:         Real-World Vulnerability Data</a:t>
            </a:r>
            <a:endParaRPr b="0" i="0" sz="1800" u="none" cap="none" strike="noStrike">
              <a:solidFill>
                <a:srgbClr val="000000"/>
              </a:solidFill>
              <a:latin typeface="Arial"/>
              <a:ea typeface="Arial"/>
              <a:cs typeface="Arial"/>
              <a:sym typeface="Arial"/>
            </a:endParaRPr>
          </a:p>
        </p:txBody>
      </p:sp>
      <p:sp>
        <p:nvSpPr>
          <p:cNvPr id="334" name="Google Shape;334;p23"/>
          <p:cNvSpPr txBox="1"/>
          <p:nvPr/>
        </p:nvSpPr>
        <p:spPr>
          <a:xfrm>
            <a:off x="6856488" y="2730283"/>
            <a:ext cx="6100010" cy="69871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Source</a:t>
            </a:r>
            <a:r>
              <a:rPr b="0" i="0" lang="en-US" sz="1400" u="none" cap="none" strike="noStrike">
                <a:solidFill>
                  <a:srgbClr val="383A4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CVE</a:t>
            </a:r>
            <a:r>
              <a:rPr b="0" i="0" lang="en-US" sz="1400" u="none" cap="none" strike="noStrike">
                <a:solidFill>
                  <a:srgbClr val="4078F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based</a:t>
            </a:r>
            <a:r>
              <a:rPr b="0" i="0" lang="en-US" sz="1400" u="none" cap="none" strike="noStrike">
                <a:solidFill>
                  <a:srgbClr val="383A4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150K</a:t>
            </a:r>
            <a:r>
              <a:rPr b="0" i="0" lang="en-US" sz="1400" u="none" cap="none" strike="noStrike">
                <a:solidFill>
                  <a:srgbClr val="4078F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C functions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Split</a:t>
            </a:r>
            <a:r>
              <a:rPr b="0" i="0" lang="en-US" sz="1400" u="none" cap="none" strike="noStrike">
                <a:solidFill>
                  <a:srgbClr val="383A4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a:t>
            </a:r>
            <a:r>
              <a:rPr b="0" i="0" lang="en-US" sz="1400" u="none" cap="none" strike="noStrike">
                <a:solidFill>
                  <a:srgbClr val="B76B01"/>
                </a:solidFill>
                <a:latin typeface="Arial"/>
                <a:ea typeface="Arial"/>
                <a:cs typeface="Arial"/>
                <a:sym typeface="Arial"/>
              </a:rPr>
              <a:t>5.8</a:t>
            </a:r>
            <a:r>
              <a:rPr b="0" i="0" lang="en-US" sz="1400" u="none" cap="none" strike="noStrike">
                <a:solidFill>
                  <a:srgbClr val="4078F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vulnerable</a:t>
            </a:r>
            <a:r>
              <a:rPr b="0" i="0" lang="en-US" sz="1400" u="none" cap="none" strike="noStrike">
                <a:solidFill>
                  <a:srgbClr val="383A4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a:t>
            </a:r>
            <a:r>
              <a:rPr b="0" i="0" lang="en-US" sz="1400" u="none" cap="none" strike="noStrike">
                <a:solidFill>
                  <a:srgbClr val="B76B01"/>
                </a:solidFill>
                <a:latin typeface="Arial"/>
                <a:ea typeface="Arial"/>
                <a:cs typeface="Arial"/>
                <a:sym typeface="Arial"/>
              </a:rPr>
              <a:t>94.2</a:t>
            </a:r>
            <a:r>
              <a:rPr b="0" i="0" lang="en-US" sz="1400" u="none" cap="none" strike="noStrike">
                <a:solidFill>
                  <a:srgbClr val="4078F2"/>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 safe</a:t>
            </a:r>
            <a:endParaRPr b="0" i="0" sz="1400" u="none" cap="none" strike="noStrike">
              <a:solidFill>
                <a:srgbClr val="000000"/>
              </a:solidFill>
              <a:latin typeface="Arial"/>
              <a:ea typeface="Arial"/>
              <a:cs typeface="Arial"/>
              <a:sym typeface="Arial"/>
            </a:endParaRPr>
          </a:p>
        </p:txBody>
      </p:sp>
      <p:graphicFrame>
        <p:nvGraphicFramePr>
          <p:cNvPr id="335" name="Google Shape;335;p23"/>
          <p:cNvGraphicFramePr/>
          <p:nvPr/>
        </p:nvGraphicFramePr>
        <p:xfrm>
          <a:off x="107924" y="3560016"/>
          <a:ext cx="3000000" cy="3000000"/>
        </p:xfrm>
        <a:graphic>
          <a:graphicData uri="http://schemas.openxmlformats.org/drawingml/2006/table">
            <a:tbl>
              <a:tblPr>
                <a:noFill/>
                <a:tableStyleId>{1F88DBBA-F483-4167-A458-FFD70BF95162}</a:tableStyleId>
              </a:tblPr>
              <a:tblGrid>
                <a:gridCol w="1358200"/>
                <a:gridCol w="2221325"/>
                <a:gridCol w="4109475"/>
                <a:gridCol w="2110275"/>
                <a:gridCol w="2284800"/>
              </a:tblGrid>
              <a:tr h="177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Term</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Meaning (Chinese)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What It Is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Example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Purpose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CVE ID</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Vulnerability Identifier</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 unique identifier for a specific vulnerability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CVE-2014-0160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Track and reference a specific vulnerability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CWE ID</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Vulnerability Type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 classification of vulnerability types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CWE-119 (Buffer Overflow)</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Identify the category of a vulnerability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CVSS Score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Severity Score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 numerical score (0–10) indicating severity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9.8 (Critical)</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Prioritize vulnerability remediation</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Commit Info</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Commit Information</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Git commit record that fixes the vulnerability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a3f5c8d…</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Trace code changes across versions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Patch Details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Patch Details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Specific code modifications in the fix</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strcpy → strncpy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Understand how the vulnerability was fixed</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4"/>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42" name="Google Shape;342;p2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Code Representation</a:t>
            </a:r>
            <a:endParaRPr/>
          </a:p>
        </p:txBody>
      </p:sp>
      <p:sp>
        <p:nvSpPr>
          <p:cNvPr id="343" name="Google Shape;343;p24"/>
          <p:cNvSpPr txBox="1"/>
          <p:nvPr/>
        </p:nvSpPr>
        <p:spPr>
          <a:xfrm>
            <a:off x="609600" y="1460937"/>
            <a:ext cx="7221689" cy="49699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2000" u="none" cap="none" strike="noStrike">
                <a:solidFill>
                  <a:srgbClr val="000000"/>
                </a:solidFill>
                <a:latin typeface="Arial"/>
                <a:ea typeface="Arial"/>
                <a:cs typeface="Arial"/>
                <a:sym typeface="Arial"/>
              </a:rPr>
              <a:t>How Is Code Converted into AI Input?</a:t>
            </a:r>
            <a:endParaRPr b="1" i="0" sz="2000" u="none" cap="none" strike="noStrike">
              <a:solidFill>
                <a:srgbClr val="000000"/>
              </a:solidFill>
              <a:latin typeface="Arial"/>
              <a:ea typeface="Arial"/>
              <a:cs typeface="Arial"/>
              <a:sym typeface="Arial"/>
            </a:endParaRPr>
          </a:p>
        </p:txBody>
      </p:sp>
      <p:sp>
        <p:nvSpPr>
          <p:cNvPr id="344" name="Google Shape;344;p24"/>
          <p:cNvSpPr txBox="1"/>
          <p:nvPr/>
        </p:nvSpPr>
        <p:spPr>
          <a:xfrm>
            <a:off x="725951" y="1982318"/>
            <a:ext cx="8507989"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1. Tokenization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Use CLexer to parse C code into tokens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Remove comments &amp; string literals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2. Vocabulary Building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161,622 unique tokens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Filter low-frequency tokens (min_freq=5)</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345" name="Google Shape;345;p24"/>
          <p:cNvSpPr txBox="1"/>
          <p:nvPr/>
        </p:nvSpPr>
        <p:spPr>
          <a:xfrm>
            <a:off x="6663128" y="1982318"/>
            <a:ext cx="610099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3. Sequence Encoding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Token → Integer IDs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Fixed length: 300 (padding/truncating)</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Embedding: ID → 128-dim dense vectors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4. Representation Level</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Function-level granularity</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Sequential structure preserved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5"/>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52" name="Google Shape;352;p2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Model Architecture</a:t>
            </a:r>
            <a:endParaRPr/>
          </a:p>
        </p:txBody>
      </p:sp>
      <p:sp>
        <p:nvSpPr>
          <p:cNvPr id="353" name="Google Shape;353;p25"/>
          <p:cNvSpPr txBox="1"/>
          <p:nvPr/>
        </p:nvSpPr>
        <p:spPr>
          <a:xfrm>
            <a:off x="609600" y="1460937"/>
            <a:ext cx="7221689" cy="49699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2000" u="none" cap="none" strike="noStrike">
                <a:solidFill>
                  <a:srgbClr val="000000"/>
                </a:solidFill>
                <a:latin typeface="Arial"/>
                <a:ea typeface="Arial"/>
                <a:cs typeface="Arial"/>
                <a:sym typeface="Arial"/>
              </a:rPr>
              <a:t>Why Bi-LSTM + Attention?</a:t>
            </a:r>
            <a:endParaRPr b="1" i="0" sz="2000" u="none" cap="none" strike="noStrike">
              <a:solidFill>
                <a:srgbClr val="000000"/>
              </a:solidFill>
              <a:latin typeface="Arial"/>
              <a:ea typeface="Arial"/>
              <a:cs typeface="Arial"/>
              <a:sym typeface="Arial"/>
            </a:endParaRPr>
          </a:p>
        </p:txBody>
      </p:sp>
      <p:sp>
        <p:nvSpPr>
          <p:cNvPr id="354" name="Google Shape;354;p25"/>
          <p:cNvSpPr txBox="1"/>
          <p:nvPr/>
        </p:nvSpPr>
        <p:spPr>
          <a:xfrm>
            <a:off x="609600" y="1796672"/>
            <a:ext cx="8789233"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1. Why Sequence Models?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Code has syntactic order (like natural language)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Dependencies between statements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Vulnerability patterns span multiple lines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2. Why Bi-LSTM?</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Forward pass: understand what comes before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Backward pass: understand what comes after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Example: Variable usage requires both definition &amp; usage context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55" name="Google Shape;355;p25"/>
          <p:cNvSpPr txBox="1"/>
          <p:nvPr/>
        </p:nvSpPr>
        <p:spPr>
          <a:xfrm>
            <a:off x="7562537" y="2073670"/>
            <a:ext cx="610099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3. Why Attention? ⭐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Not all code tokens are equally important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Focus on vulnerability-critical patterns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Automatically weight relevant tokens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4. NLP Analogy</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Code = Structured language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Tokens = Words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 Functions = Sentences/Paragraphs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6"/>
          <p:cNvSpPr txBox="1"/>
          <p:nvPr>
            <p:ph idx="12" type="sldNum"/>
          </p:nvPr>
        </p:nvSpPr>
        <p:spPr>
          <a:xfrm>
            <a:off x="1" y="6387664"/>
            <a:ext cx="609600" cy="39413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362" name="Google Shape;362;p2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Hands-on Task</a:t>
            </a:r>
            <a:endParaRPr/>
          </a:p>
        </p:txBody>
      </p:sp>
      <p:sp>
        <p:nvSpPr>
          <p:cNvPr id="363" name="Google Shape;363;p26"/>
          <p:cNvSpPr txBox="1"/>
          <p:nvPr/>
        </p:nvSpPr>
        <p:spPr>
          <a:xfrm>
            <a:off x="609600" y="1337633"/>
            <a:ext cx="6100996" cy="17030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Task 1: Explore the Dataset</a:t>
            </a:r>
            <a:endParaRPr b="1"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Task 2: Train the Model</a:t>
            </a:r>
            <a:endParaRPr b="1"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i="0" lang="en-US" sz="1800" u="none" cap="none" strike="noStrike">
                <a:solidFill>
                  <a:srgbClr val="000000"/>
                </a:solidFill>
                <a:latin typeface="Arial"/>
                <a:ea typeface="Arial"/>
                <a:cs typeface="Arial"/>
                <a:sym typeface="Arial"/>
              </a:rPr>
              <a:t>Task 3: Make Predictions</a:t>
            </a:r>
            <a:endParaRPr b="1"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364" name="Google Shape;364;p26"/>
          <p:cNvSpPr txBox="1"/>
          <p:nvPr/>
        </p:nvSpPr>
        <p:spPr>
          <a:xfrm>
            <a:off x="609600" y="3023333"/>
            <a:ext cx="6100996" cy="170296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Task 1: Explore the Dataset</a:t>
            </a:r>
            <a:endParaRPr b="1"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Inspect input features</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Understand labels</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Observe data imbalance</a:t>
            </a:r>
            <a:endParaRPr b="0" i="0" sz="1800" u="none" cap="none" strike="noStrike">
              <a:solidFill>
                <a:srgbClr val="000000"/>
              </a:solidFill>
              <a:latin typeface="Arial"/>
              <a:ea typeface="Arial"/>
              <a:cs typeface="Arial"/>
              <a:sym typeface="Arial"/>
            </a:endParaRPr>
          </a:p>
        </p:txBody>
      </p:sp>
      <p:sp>
        <p:nvSpPr>
          <p:cNvPr id="365" name="Google Shape;365;p26"/>
          <p:cNvSpPr txBox="1"/>
          <p:nvPr/>
        </p:nvSpPr>
        <p:spPr>
          <a:xfrm>
            <a:off x="4444584" y="3023333"/>
            <a:ext cx="4129790" cy="170296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Task 2: Train the Model</a:t>
            </a:r>
            <a:endParaRPr b="1"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Run training cells</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Observe loss and accuracy</a:t>
            </a:r>
            <a:endParaRPr b="0"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Compare train vs validation</a:t>
            </a:r>
            <a:endParaRPr b="0" i="0" sz="1800" u="none" cap="none" strike="noStrike">
              <a:solidFill>
                <a:srgbClr val="000000"/>
              </a:solidFill>
              <a:latin typeface="Arial"/>
              <a:ea typeface="Arial"/>
              <a:cs typeface="Arial"/>
              <a:sym typeface="Arial"/>
            </a:endParaRPr>
          </a:p>
        </p:txBody>
      </p:sp>
      <p:sp>
        <p:nvSpPr>
          <p:cNvPr id="366" name="Google Shape;366;p26"/>
          <p:cNvSpPr txBox="1"/>
          <p:nvPr/>
        </p:nvSpPr>
        <p:spPr>
          <a:xfrm>
            <a:off x="8147152" y="3040663"/>
            <a:ext cx="6100996" cy="8719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Task 3: Make Predictions</a:t>
            </a:r>
            <a:endParaRPr b="1" i="0" sz="1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Test on unseen samples</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7"/>
          <p:cNvSpPr txBox="1"/>
          <p:nvPr/>
        </p:nvSpPr>
        <p:spPr>
          <a:xfrm>
            <a:off x="609600" y="2523250"/>
            <a:ext cx="5616000" cy="9906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4000"/>
              <a:buFont typeface="Verdana"/>
              <a:buNone/>
            </a:pPr>
            <a:r>
              <a:rPr b="1" i="0" lang="en-US" sz="4000" u="none" cap="none" strike="noStrike">
                <a:solidFill>
                  <a:schemeClr val="lt1"/>
                </a:solidFill>
                <a:latin typeface="Verdana"/>
                <a:ea typeface="Verdana"/>
                <a:cs typeface="Verdana"/>
                <a:sym typeface="Verdana"/>
              </a:rPr>
              <a:t>End</a:t>
            </a:r>
            <a:endParaRPr b="1" i="0" sz="4000" u="none" cap="none" strike="noStrike">
              <a:solidFill>
                <a:schemeClr val="lt1"/>
              </a:solidFill>
              <a:latin typeface="Verdana"/>
              <a:ea typeface="Verdana"/>
              <a:cs typeface="Verdana"/>
              <a:sym typeface="Verdana"/>
            </a:endParaRPr>
          </a:p>
        </p:txBody>
      </p:sp>
      <p:sp>
        <p:nvSpPr>
          <p:cNvPr id="373" name="Google Shape;373;p27"/>
          <p:cNvSpPr txBox="1"/>
          <p:nvPr>
            <p:ph idx="1" type="subTitle"/>
          </p:nvPr>
        </p:nvSpPr>
        <p:spPr>
          <a:xfrm>
            <a:off x="723900" y="3766825"/>
            <a:ext cx="9144000" cy="212160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PI-White">
  <a:themeElements>
    <a:clrScheme name="Custom 56">
      <a:dk1>
        <a:srgbClr val="000000"/>
      </a:dk1>
      <a:lt1>
        <a:srgbClr val="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2026-03-31T17:59:42Z</dcterms:created>
  <dc:creator>Melissa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A14C5E5559674A13B70A6169CAA914C6_43</vt:lpwstr>
  </property>
  <property fmtid="{D5CDD505-2E9C-101B-9397-08002B2CF9AE}" pid="3" name="KSOProductBuildVer">
    <vt:lpwstr>2052-6.10.0.8196</vt:lpwstr>
  </property>
</Properties>
</file>