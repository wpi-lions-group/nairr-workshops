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 id="2147483710" r:id="rId5"/>
  </p:sldMasterIdLst>
  <p:sldIdLst>
    <p:sldId id="256" r:id="rId6"/>
    <p:sldId id="257" r:id="rId7"/>
    <p:sldId id="265" r:id="rId8"/>
    <p:sldId id="266" r:id="rId9"/>
    <p:sldId id="267" r:id="rId10"/>
    <p:sldId id="268" r:id="rId11"/>
    <p:sldId id="269" r:id="rId12"/>
    <p:sldId id="270" r:id="rId13"/>
    <p:sldId id="258" r:id="rId14"/>
    <p:sldId id="261" r:id="rId15"/>
    <p:sldId id="263" r:id="rId16"/>
    <p:sldId id="264"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p15:clr>
            <a:srgbClr val="A4A3A4"/>
          </p15:clr>
        </p15:guide>
        <p15:guide id="2" orient="horz" pos="960">
          <p15:clr>
            <a:srgbClr val="A4A3A4"/>
          </p15:clr>
        </p15:guide>
        <p15:guide id="3" orient="horz" pos="3888">
          <p15:clr>
            <a:srgbClr val="A4A3A4"/>
          </p15:clr>
        </p15:guide>
        <p15:guide id="4" pos="456">
          <p15:clr>
            <a:srgbClr val="A4A3A4"/>
          </p15:clr>
        </p15:guide>
        <p15:guide id="5" pos="729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41E404-36FA-0F20-784D-95B746F0945E}" v="250" dt="2026-01-09T14:22:41.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guide orient="horz" pos="720"/>
        <p:guide orient="horz" pos="960"/>
        <p:guide orient="horz" pos="3888"/>
        <p:guide pos="456"/>
        <p:guide pos="7296"/>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9"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11"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2"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3806064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2">
    <p:bg>
      <p:bgPr>
        <a:solidFill>
          <a:schemeClr val="accent1"/>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13"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4"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3017159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BFEBEB0A-9E3D-4B14-9782-E2AE3DA60D96}" type="slidenum">
              <a:rPr lang="en-US" smtClean="0"/>
              <a:pPr/>
              <a:t>‹#›</a:t>
            </a:fld>
            <a:endParaRPr lang="en-US"/>
          </a:p>
        </p:txBody>
      </p:sp>
      <p:sp>
        <p:nvSpPr>
          <p:cNvPr id="8" name="Footer Placeholder 2"/>
          <p:cNvSpPr>
            <a:spLocks noGrp="1"/>
          </p:cNvSpPr>
          <p:nvPr>
            <p:ph type="ftr" sz="quarter" idx="3"/>
          </p:nvPr>
        </p:nvSpPr>
        <p:spPr>
          <a:xfrm>
            <a:off x="609600" y="6400800"/>
            <a:ext cx="6807200" cy="304800"/>
          </a:xfrm>
          <a:prstGeom prst="rect">
            <a:avLst/>
          </a:prstGeom>
        </p:spPr>
        <p:txBody>
          <a:bodyPr/>
          <a:lstStyle>
            <a:lvl1pPr>
              <a:defRPr sz="1600" b="0">
                <a:solidFill>
                  <a:schemeClr val="tx1"/>
                </a:solidFill>
              </a:defRPr>
            </a:lvl1pPr>
          </a:lstStyle>
          <a:p>
            <a:endParaRPr lang="en-US" dirty="0"/>
          </a:p>
        </p:txBody>
      </p:sp>
      <p:sp>
        <p:nvSpPr>
          <p:cNvPr id="7"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9"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1"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162321331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27" name="Rectangle 19"/>
          <p:cNvSpPr>
            <a:spLocks noGrp="1"/>
          </p:cNvSpPr>
          <p:nvPr>
            <p:ph type="ftr" sz="quarter" idx="11"/>
          </p:nvPr>
        </p:nvSpPr>
        <p:spPr/>
        <p:txBody>
          <a:bodyPr/>
          <a:lstStyle/>
          <a:p>
            <a:endParaRPr lang="en-US" dirty="0"/>
          </a:p>
        </p:txBody>
      </p:sp>
      <p:sp>
        <p:nvSpPr>
          <p:cNvPr id="24" name="Rectangle 26"/>
          <p:cNvSpPr>
            <a:spLocks noGrp="1"/>
          </p:cNvSpPr>
          <p:nvPr>
            <p:ph type="sldNum" sz="quarter" idx="12"/>
          </p:nvPr>
        </p:nvSpPr>
        <p:spPr/>
        <p:txBody>
          <a:bodyPr/>
          <a:lstStyle/>
          <a:p>
            <a:fld id="{963B0023-0CED-47F7-85AE-654F0B232C29}" type="slidenum">
              <a:rPr lang="en-US" smtClean="0"/>
              <a:pPr/>
              <a:t>‹#›</a:t>
            </a:fld>
            <a:endParaRPr lang="en-US" dirty="0"/>
          </a:p>
        </p:txBody>
      </p:sp>
    </p:spTree>
    <p:extLst>
      <p:ext uri="{BB962C8B-B14F-4D97-AF65-F5344CB8AC3E}">
        <p14:creationId xmlns:p14="http://schemas.microsoft.com/office/powerpoint/2010/main" val="397337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160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sp>
        <p:nvSpPr>
          <p:cNvPr id="6"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3245494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6000" y="1496736"/>
            <a:ext cx="4876800" cy="639762"/>
          </a:xfrm>
        </p:spPr>
        <p:txBody>
          <a:bodyPr anchor="b">
            <a:noAutofit/>
          </a:bodyPr>
          <a:lstStyle>
            <a:lvl1pPr marL="0" indent="0">
              <a:buNone/>
              <a:defRPr sz="2000" b="1">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160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7600" y="1496736"/>
            <a:ext cx="4876800" cy="639762"/>
          </a:xfrm>
        </p:spPr>
        <p:txBody>
          <a:bodyPr anchor="b">
            <a:noAutofit/>
          </a:bodyPr>
          <a:lstStyle>
            <a:lvl1pPr marL="0" indent="0">
              <a:buNone/>
              <a:defRPr sz="2000" b="1">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76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FEBEB0A-9E3D-4B14-9782-E2AE3DA60D96}" type="slidenum">
              <a:rPr lang="en-US" smtClean="0"/>
              <a:pPr/>
              <a:t>‹#›</a:t>
            </a:fld>
            <a:endParaRPr lang="en-US"/>
          </a:p>
        </p:txBody>
      </p:sp>
      <p:sp>
        <p:nvSpPr>
          <p:cNvPr id="8"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99202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BFEBEB0A-9E3D-4B14-9782-E2AE3DA60D96}" type="slidenum">
              <a:rPr lang="en-US" smtClean="0"/>
              <a:pPr/>
              <a:t>‹#›</a:t>
            </a:fld>
            <a:endParaRPr lang="en-US"/>
          </a:p>
        </p:txBody>
      </p:sp>
      <p:sp>
        <p:nvSpPr>
          <p:cNvPr id="4"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280741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2795" y="6391657"/>
            <a:ext cx="612396" cy="365125"/>
          </a:xfrm>
        </p:spPr>
        <p:txBody>
          <a:bodyPr/>
          <a:lstStyle>
            <a:lvl1pPr>
              <a:defRPr>
                <a:solidFill>
                  <a:schemeClr val="tx1"/>
                </a:solidFill>
              </a:defRPr>
            </a:lvl1pPr>
          </a:lstStyle>
          <a:p>
            <a:fld id="{BFEBEB0A-9E3D-4B14-9782-E2AE3DA60D96}" type="slidenum">
              <a:rPr lang="en-US" smtClean="0"/>
              <a:pPr/>
              <a:t>‹#›</a:t>
            </a:fld>
            <a:endParaRPr lang="en-US" dirty="0"/>
          </a:p>
        </p:txBody>
      </p:sp>
      <p:sp>
        <p:nvSpPr>
          <p:cNvPr id="3" name="Rectangle 19"/>
          <p:cNvSpPr>
            <a:spLocks noGrp="1"/>
          </p:cNvSpPr>
          <p:nvPr>
            <p:ph type="ftr" sz="quarter" idx="11"/>
          </p:nvPr>
        </p:nvSpPr>
        <p:spPr>
          <a:xfrm>
            <a:off x="609600" y="6400800"/>
            <a:ext cx="6807200" cy="304800"/>
          </a:xfrm>
        </p:spPr>
        <p:txBody>
          <a:bodyPr/>
          <a:lstStyle>
            <a:lvl1pPr>
              <a:defRPr>
                <a:solidFill>
                  <a:schemeClr val="tx1"/>
                </a:solidFill>
              </a:defRPr>
            </a:lvl1pPr>
            <a:extLst/>
          </a:lstStyle>
          <a:p>
            <a:endParaRPr lang="en-US" dirty="0"/>
          </a:p>
        </p:txBody>
      </p:sp>
    </p:spTree>
    <p:extLst>
      <p:ext uri="{BB962C8B-B14F-4D97-AF65-F5344CB8AC3E}">
        <p14:creationId xmlns:p14="http://schemas.microsoft.com/office/powerpoint/2010/main" val="29610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074400" cy="1066800"/>
          </a:xfrm>
        </p:spPr>
        <p:txBody>
          <a:bodyPr anchor="b">
            <a:normAutofit/>
          </a:bodyPr>
          <a:lstStyle>
            <a:lvl1pPr algn="l">
              <a:defRPr sz="3200" b="1"/>
            </a:lvl1pPr>
          </a:lstStyle>
          <a:p>
            <a:r>
              <a:rPr lang="en-US" dirty="0"/>
              <a:t>Click to edit Master title style</a:t>
            </a:r>
          </a:p>
        </p:txBody>
      </p:sp>
      <p:sp>
        <p:nvSpPr>
          <p:cNvPr id="3" name="Content Placeholder 2"/>
          <p:cNvSpPr>
            <a:spLocks noGrp="1"/>
          </p:cNvSpPr>
          <p:nvPr>
            <p:ph idx="1"/>
          </p:nvPr>
        </p:nvSpPr>
        <p:spPr>
          <a:xfrm>
            <a:off x="4523709" y="1524001"/>
            <a:ext cx="7058691" cy="46481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91890" y="1524000"/>
            <a:ext cx="3564876" cy="4648200"/>
          </a:xfrm>
        </p:spPr>
        <p:txBody>
          <a:bodyPr>
            <a:normAutofit/>
          </a:bodyPr>
          <a:lstStyle>
            <a:lvl1pPr marL="0" indent="0">
              <a:buNone/>
              <a:defRPr sz="20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cxnSp>
        <p:nvCxnSpPr>
          <p:cNvPr id="10" name="Straight Connector 9"/>
          <p:cNvCxnSpPr/>
          <p:nvPr/>
        </p:nvCxnSpPr>
        <p:spPr>
          <a:xfrm rot="5400000">
            <a:off x="2447147" y="3581135"/>
            <a:ext cx="3810000" cy="2117"/>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428604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hoto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FEBEB0A-9E3D-4B14-9782-E2AE3DA60D96}" type="slidenum">
              <a:rPr lang="en-US" smtClean="0"/>
              <a:pPr/>
              <a:t>‹#›</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6" name="Picture Placeholder 5"/>
          <p:cNvSpPr>
            <a:spLocks noGrp="1"/>
          </p:cNvSpPr>
          <p:nvPr>
            <p:ph type="pic" sz="quarter" idx="12"/>
          </p:nvPr>
        </p:nvSpPr>
        <p:spPr>
          <a:xfrm>
            <a:off x="609600" y="1524000"/>
            <a:ext cx="7823200" cy="4648200"/>
          </a:xfrm>
        </p:spPr>
        <p:txBody>
          <a:bodyPr/>
          <a:lstStyle/>
          <a:p>
            <a:endParaRPr lang="en-US"/>
          </a:p>
        </p:txBody>
      </p:sp>
      <p:sp>
        <p:nvSpPr>
          <p:cNvPr id="8" name="Text Placeholder 7"/>
          <p:cNvSpPr>
            <a:spLocks noGrp="1"/>
          </p:cNvSpPr>
          <p:nvPr>
            <p:ph type="body" sz="quarter" idx="13"/>
          </p:nvPr>
        </p:nvSpPr>
        <p:spPr>
          <a:xfrm>
            <a:off x="8737600" y="1524000"/>
            <a:ext cx="2844800" cy="4648200"/>
          </a:xfrm>
        </p:spPr>
        <p:txBody>
          <a:bodyPr>
            <a:normAutofit/>
          </a:bodyPr>
          <a:lstStyle>
            <a:lvl1pPr marL="0" indent="0">
              <a:buFontTx/>
              <a:buNone/>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792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lankRed">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6131" y="1066834"/>
            <a:ext cx="4459738" cy="4428034"/>
          </a:xfrm>
          <a:prstGeom prst="rect">
            <a:avLst/>
          </a:prstGeom>
        </p:spPr>
      </p:pic>
    </p:spTree>
    <p:extLst>
      <p:ext uri="{BB962C8B-B14F-4D97-AF65-F5344CB8AC3E}">
        <p14:creationId xmlns:p14="http://schemas.microsoft.com/office/powerpoint/2010/main" val="1504187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2812348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410754663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a:p>
        </p:txBody>
      </p:sp>
    </p:spTree>
    <p:extLst>
      <p:ext uri="{BB962C8B-B14F-4D97-AF65-F5344CB8AC3E}">
        <p14:creationId xmlns:p14="http://schemas.microsoft.com/office/powerpoint/2010/main" val="2616041228"/>
      </p:ext>
    </p:extLst>
  </p:cSld>
  <p:clrMapOvr>
    <a:masterClrMapping/>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3417555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FEBEB0A-9E3D-4B14-9782-E2AE3DA60D96}" type="slidenum">
              <a:rPr lang="en-US" smtClean="0"/>
              <a:pPr/>
              <a:t>‹#›</a:t>
            </a:fld>
            <a:endParaRPr lang="en-US"/>
          </a:p>
        </p:txBody>
      </p:sp>
    </p:spTree>
    <p:extLst>
      <p:ext uri="{BB962C8B-B14F-4D97-AF65-F5344CB8AC3E}">
        <p14:creationId xmlns:p14="http://schemas.microsoft.com/office/powerpoint/2010/main" val="198109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129188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2314667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spTree>
    <p:extLst>
      <p:ext uri="{BB962C8B-B14F-4D97-AF65-F5344CB8AC3E}">
        <p14:creationId xmlns:p14="http://schemas.microsoft.com/office/powerpoint/2010/main" val="27986813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2923604527"/>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3373154309"/>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951995581"/>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302864294"/>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387522071"/>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2004356733"/>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703309512"/>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534426819"/>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5730638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42900"/>
            <a:ext cx="10972800" cy="800100"/>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 y="6391657"/>
            <a:ext cx="609600" cy="313944"/>
          </a:xfrm>
          <a:prstGeom prst="rect">
            <a:avLst/>
          </a:prstGeom>
        </p:spPr>
        <p:txBody>
          <a:bodyPr vert="horz" lIns="91440" tIns="45720" rIns="91440" bIns="45720" rtlCol="0" anchor="ctr"/>
          <a:lstStyle>
            <a:lvl1pPr algn="l">
              <a:defRPr sz="1200">
                <a:solidFill>
                  <a:schemeClr val="tx1"/>
                </a:solidFill>
                <a:latin typeface="+mj-lt"/>
              </a:defRPr>
            </a:lvl1pPr>
          </a:lstStyle>
          <a:p>
            <a:fld id="{BFEBEB0A-9E3D-4B14-9782-E2AE3DA60D96}" type="slidenum">
              <a:rPr lang="en-US" smtClean="0"/>
              <a:pPr/>
              <a:t>‹#›</a:t>
            </a:fld>
            <a:endParaRPr lang="en-US" dirty="0"/>
          </a:p>
        </p:txBody>
      </p:sp>
      <p:sp>
        <p:nvSpPr>
          <p:cNvPr id="9" name="Rectangle 8"/>
          <p:cNvSpPr/>
          <p:nvPr/>
        </p:nvSpPr>
        <p:spPr>
          <a:xfrm>
            <a:off x="609600" y="1234967"/>
            <a:ext cx="115824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9"/>
          <p:cNvSpPr txBox="1"/>
          <p:nvPr/>
        </p:nvSpPr>
        <p:spPr>
          <a:xfrm>
            <a:off x="7315200" y="6400800"/>
            <a:ext cx="4470400" cy="369332"/>
          </a:xfrm>
          <a:prstGeom prst="rect">
            <a:avLst/>
          </a:prstGeom>
          <a:noFill/>
          <a:ln>
            <a:noFill/>
          </a:ln>
        </p:spPr>
        <p:txBody>
          <a:bodyPr wrap="square" rtlCol="0">
            <a:spAutoFit/>
          </a:bodyPr>
          <a:lstStyle/>
          <a:p>
            <a:pPr algn="r"/>
            <a:r>
              <a:rPr lang="en-US" sz="1800" dirty="0">
                <a:solidFill>
                  <a:schemeClr val="tx1"/>
                </a:solidFill>
                <a:latin typeface="Times New Roman" pitchFamily="18" charset="0"/>
                <a:cs typeface="Times New Roman" pitchFamily="18" charset="0"/>
              </a:rPr>
              <a:t>Worcester Polytechnic Institute</a:t>
            </a:r>
          </a:p>
        </p:txBody>
      </p:sp>
      <p:sp>
        <p:nvSpPr>
          <p:cNvPr id="13" name="Footer Placeholder 2"/>
          <p:cNvSpPr>
            <a:spLocks noGrp="1"/>
          </p:cNvSpPr>
          <p:nvPr>
            <p:ph type="ftr" sz="quarter" idx="3"/>
          </p:nvPr>
        </p:nvSpPr>
        <p:spPr>
          <a:xfrm>
            <a:off x="609600" y="6400800"/>
            <a:ext cx="6807200" cy="304800"/>
          </a:xfrm>
          <a:prstGeom prst="rect">
            <a:avLst/>
          </a:prstGeom>
        </p:spPr>
        <p:txBody>
          <a:bodyPr/>
          <a:lstStyle>
            <a:lvl1pPr>
              <a:defRPr sz="1600" b="0">
                <a:solidFill>
                  <a:schemeClr val="tx1"/>
                </a:solidFill>
              </a:defRPr>
            </a:lvl1pPr>
          </a:lstStyle>
          <a:p>
            <a:endParaRPr lang="en-US" dirty="0"/>
          </a:p>
        </p:txBody>
      </p:sp>
    </p:spTree>
    <p:extLst>
      <p:ext uri="{BB962C8B-B14F-4D97-AF65-F5344CB8AC3E}">
        <p14:creationId xmlns:p14="http://schemas.microsoft.com/office/powerpoint/2010/main" val="343689432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9" r:id="rId11"/>
  </p:sldLayoutIdLst>
  <p:hf hdr="0" dt="0"/>
  <p:txStyles>
    <p:titleStyle>
      <a:lvl1pPr algn="l" defTabSz="914400" rtl="0" eaLnBrk="1" latinLnBrk="0" hangingPunct="1">
        <a:spcBef>
          <a:spcPct val="0"/>
        </a:spcBef>
        <a:buNone/>
        <a:defRPr sz="3200" b="1" kern="1200">
          <a:solidFill>
            <a:schemeClr val="tx1"/>
          </a:solidFill>
          <a:latin typeface="Verdana" pitchFamily="34" charset="0"/>
          <a:ea typeface="Verdana" pitchFamily="34" charset="0"/>
          <a:cs typeface="Verdana"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chemeClr val="bg2"/>
        </a:buClr>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594360" indent="-274320" algn="l" defTabSz="914400" rtl="0" eaLnBrk="1" latinLnBrk="0" hangingPunct="1">
        <a:lnSpc>
          <a:spcPct val="95000"/>
        </a:lnSpc>
        <a:spcBef>
          <a:spcPts val="600"/>
        </a:spcBef>
        <a:buClr>
          <a:schemeClr val="bg2"/>
        </a:buClr>
        <a:buFont typeface="Verdana" pitchFamily="34" charset="0"/>
        <a:buChar char="─"/>
        <a:defRPr sz="2000" kern="1200">
          <a:solidFill>
            <a:schemeClr val="tx1"/>
          </a:solidFill>
          <a:latin typeface="Verdana" pitchFamily="34" charset="0"/>
          <a:ea typeface="Verdana" pitchFamily="34" charset="0"/>
          <a:cs typeface="Verdana" pitchFamily="34" charset="0"/>
        </a:defRPr>
      </a:lvl2pPr>
      <a:lvl3pPr marL="868680" indent="-228600" algn="l" defTabSz="914400" rtl="0" eaLnBrk="1" latinLnBrk="0" hangingPunct="1">
        <a:lnSpc>
          <a:spcPct val="95000"/>
        </a:lnSpc>
        <a:spcBef>
          <a:spcPts val="600"/>
        </a:spcBef>
        <a:buClr>
          <a:schemeClr val="bg2"/>
        </a:buClr>
        <a:buFont typeface="Wingdings" pitchFamily="2" charset="2"/>
        <a:buChar char="§"/>
        <a:defRPr sz="1800" kern="1200">
          <a:solidFill>
            <a:schemeClr val="tx1"/>
          </a:solidFill>
          <a:latin typeface="Verdana" pitchFamily="34" charset="0"/>
          <a:ea typeface="Verdana" pitchFamily="34" charset="0"/>
          <a:cs typeface="Verdana" pitchFamily="34" charset="0"/>
        </a:defRPr>
      </a:lvl3pPr>
      <a:lvl4pPr marL="1143000" indent="-228600" algn="l" defTabSz="914400" rtl="0" eaLnBrk="1" latinLnBrk="0" hangingPunct="1">
        <a:lnSpc>
          <a:spcPct val="95000"/>
        </a:lnSpc>
        <a:spcBef>
          <a:spcPts val="600"/>
        </a:spcBef>
        <a:buClr>
          <a:schemeClr val="bg2"/>
        </a:buClr>
        <a:buFont typeface="Courier New" pitchFamily="49" charset="0"/>
        <a:buChar char="o"/>
        <a:defRPr sz="1600" kern="1200">
          <a:solidFill>
            <a:schemeClr val="tx1"/>
          </a:solidFill>
          <a:latin typeface="Verdana" pitchFamily="34" charset="0"/>
          <a:ea typeface="Verdana" pitchFamily="34" charset="0"/>
          <a:cs typeface="Verdana" pitchFamily="34" charset="0"/>
        </a:defRPr>
      </a:lvl4pPr>
      <a:lvl5pPr marL="1371600" indent="-228600" algn="l" defTabSz="914400" rtl="0" eaLnBrk="1" latinLnBrk="0" hangingPunct="1">
        <a:lnSpc>
          <a:spcPct val="95000"/>
        </a:lnSpc>
        <a:spcBef>
          <a:spcPts val="600"/>
        </a:spcBef>
        <a:buClr>
          <a:schemeClr val="bg2"/>
        </a:buClr>
        <a:buFont typeface="Arial" pitchFamily="34" charset="0"/>
        <a:buChar char="•"/>
        <a:defRPr sz="1600" kern="1200" baseline="0">
          <a:solidFill>
            <a:schemeClr val="tx1"/>
          </a:solidFill>
          <a:latin typeface="Verdana" pitchFamily="34" charset="0"/>
          <a:ea typeface="Verdana" pitchFamily="34" charset="0"/>
          <a:cs typeface="Verdana"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1/9/2026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993183860"/>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hf hd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190F-7E9A-B107-6B94-7D8E80593C6F}"/>
              </a:ext>
            </a:extLst>
          </p:cNvPr>
          <p:cNvSpPr>
            <a:spLocks noGrp="1"/>
          </p:cNvSpPr>
          <p:nvPr>
            <p:ph type="ctrTitle"/>
          </p:nvPr>
        </p:nvSpPr>
        <p:spPr>
          <a:xfrm>
            <a:off x="3668486" y="1964267"/>
            <a:ext cx="7491639" cy="2421464"/>
          </a:xfrm>
        </p:spPr>
        <p:txBody>
          <a:bodyPr/>
          <a:lstStyle/>
          <a:p>
            <a:r>
              <a:rPr lang="en-US" dirty="0"/>
              <a:t>Security OF ai development using </a:t>
            </a:r>
            <a:r>
              <a:rPr lang="en-US" dirty="0" err="1"/>
              <a:t>Nairr</a:t>
            </a:r>
            <a:endParaRPr lang="en-US" dirty="0"/>
          </a:p>
        </p:txBody>
      </p:sp>
      <p:sp>
        <p:nvSpPr>
          <p:cNvPr id="3" name="Subtitle 2">
            <a:extLst>
              <a:ext uri="{FF2B5EF4-FFF2-40B4-BE49-F238E27FC236}">
                <a16:creationId xmlns:a16="http://schemas.microsoft.com/office/drawing/2014/main" id="{E003CF56-4754-EABF-8964-85E9EDE938B7}"/>
              </a:ext>
            </a:extLst>
          </p:cNvPr>
          <p:cNvSpPr>
            <a:spLocks noGrp="1"/>
          </p:cNvSpPr>
          <p:nvPr>
            <p:ph type="subTitle" idx="1"/>
          </p:nvPr>
        </p:nvSpPr>
        <p:spPr/>
        <p:txBody>
          <a:bodyPr/>
          <a:lstStyle/>
          <a:p>
            <a:r>
              <a:rPr lang="en-US" dirty="0"/>
              <a:t>Module 2.2</a:t>
            </a:r>
          </a:p>
        </p:txBody>
      </p:sp>
    </p:spTree>
    <p:extLst>
      <p:ext uri="{BB962C8B-B14F-4D97-AF65-F5344CB8AC3E}">
        <p14:creationId xmlns:p14="http://schemas.microsoft.com/office/powerpoint/2010/main" val="2439982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EF90F-4F43-1E7E-7B16-158222F7D97A}"/>
              </a:ext>
            </a:extLst>
          </p:cNvPr>
          <p:cNvSpPr>
            <a:spLocks noGrp="1"/>
          </p:cNvSpPr>
          <p:nvPr>
            <p:ph type="title"/>
          </p:nvPr>
        </p:nvSpPr>
        <p:spPr/>
        <p:txBody>
          <a:bodyPr/>
          <a:lstStyle/>
          <a:p>
            <a:r>
              <a:rPr lang="en-US" dirty="0"/>
              <a:t>Adversarial Images</a:t>
            </a:r>
          </a:p>
        </p:txBody>
      </p:sp>
      <p:sp>
        <p:nvSpPr>
          <p:cNvPr id="3" name="Text Placeholder 2">
            <a:extLst>
              <a:ext uri="{FF2B5EF4-FFF2-40B4-BE49-F238E27FC236}">
                <a16:creationId xmlns:a16="http://schemas.microsoft.com/office/drawing/2014/main" id="{2F5F85FF-9D0A-8F74-927B-5D08D7E288CC}"/>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ED58149-56BE-3768-AAD3-DD6F4365844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15899DA-6A4D-3EEF-2A82-4DA3F4356D41}"/>
              </a:ext>
            </a:extLst>
          </p:cNvPr>
          <p:cNvSpPr>
            <a:spLocks noGrp="1"/>
          </p:cNvSpPr>
          <p:nvPr>
            <p:ph type="sldNum" sz="quarter" idx="12"/>
          </p:nvPr>
        </p:nvSpPr>
        <p:spPr/>
        <p:txBody>
          <a:bodyPr/>
          <a:lstStyle/>
          <a:p>
            <a:fld id="{BFEBEB0A-9E3D-4B14-9782-E2AE3DA60D96}" type="slidenum">
              <a:rPr lang="en-US" smtClean="0"/>
              <a:pPr/>
              <a:t>2</a:t>
            </a:fld>
            <a:endParaRPr lang="en-US"/>
          </a:p>
        </p:txBody>
      </p:sp>
    </p:spTree>
    <p:extLst>
      <p:ext uri="{BB962C8B-B14F-4D97-AF65-F5344CB8AC3E}">
        <p14:creationId xmlns:p14="http://schemas.microsoft.com/office/powerpoint/2010/main" val="1897530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3447C-8E3D-587C-67E7-90AD599CD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0569-31DF-73A4-ABEB-3CD774AFB894}"/>
              </a:ext>
            </a:extLst>
          </p:cNvPr>
          <p:cNvSpPr>
            <a:spLocks noGrp="1"/>
          </p:cNvSpPr>
          <p:nvPr>
            <p:ph type="title"/>
          </p:nvPr>
        </p:nvSpPr>
        <p:spPr/>
        <p:txBody>
          <a:bodyPr/>
          <a:lstStyle/>
          <a:p>
            <a:r>
              <a:rPr lang="en-US" dirty="0">
                <a:ea typeface="Calibri Light"/>
                <a:cs typeface="Calibri Light"/>
              </a:rPr>
              <a:t>Adversarial attacks</a:t>
            </a:r>
            <a:endParaRPr lang="en-US" dirty="0"/>
          </a:p>
        </p:txBody>
      </p:sp>
      <p:sp>
        <p:nvSpPr>
          <p:cNvPr id="3" name="Content Placeholder 2">
            <a:extLst>
              <a:ext uri="{FF2B5EF4-FFF2-40B4-BE49-F238E27FC236}">
                <a16:creationId xmlns:a16="http://schemas.microsoft.com/office/drawing/2014/main" id="{83C6569F-0F9B-F016-234A-53D7443C1B0C}"/>
              </a:ext>
            </a:extLst>
          </p:cNvPr>
          <p:cNvSpPr>
            <a:spLocks noGrp="1"/>
          </p:cNvSpPr>
          <p:nvPr>
            <p:ph idx="1"/>
          </p:nvPr>
        </p:nvSpPr>
        <p:spPr/>
        <p:txBody>
          <a:bodyPr/>
          <a:lstStyle/>
          <a:p>
            <a:r>
              <a:rPr lang="en-US" b="1" dirty="0">
                <a:ea typeface="Calibri"/>
                <a:cs typeface="Calibri"/>
              </a:rPr>
              <a:t>Adversarial attacks</a:t>
            </a:r>
            <a:r>
              <a:rPr lang="en-US" dirty="0">
                <a:ea typeface="Calibri"/>
                <a:cs typeface="Calibri"/>
              </a:rPr>
              <a:t> are techniques used to fool machine learning models by making small, often imperceptible modifications to input data that cause the model to make incorrect predictions.</a:t>
            </a:r>
          </a:p>
          <a:p>
            <a:pPr>
              <a:buClr>
                <a:srgbClr val="FFFFFF"/>
              </a:buClr>
            </a:pPr>
            <a:r>
              <a:rPr lang="en-US" b="1" dirty="0">
                <a:ea typeface="Calibri"/>
                <a:cs typeface="Calibri"/>
              </a:rPr>
              <a:t>Key concepts:</a:t>
            </a:r>
          </a:p>
          <a:p>
            <a:pPr lvl="1">
              <a:buClr>
                <a:srgbClr val="FFFFFF"/>
              </a:buClr>
              <a:buFont typeface="Courier New"/>
              <a:buChar char="o"/>
            </a:pPr>
            <a:r>
              <a:rPr lang="en-US" b="1" dirty="0">
                <a:ea typeface="Calibri"/>
                <a:cs typeface="Calibri"/>
              </a:rPr>
              <a:t>Subtle perturbations:</a:t>
            </a:r>
            <a:r>
              <a:rPr lang="en-US" dirty="0">
                <a:ea typeface="Calibri"/>
                <a:cs typeface="Calibri"/>
              </a:rPr>
              <a:t> Small changes to input (like images, audio, or text) that are barely noticeable to humans but cause significant changes in model predictions</a:t>
            </a:r>
          </a:p>
          <a:p>
            <a:pPr lvl="1">
              <a:buClr>
                <a:srgbClr val="FFFFFF"/>
              </a:buClr>
              <a:buFont typeface="Courier New"/>
              <a:buChar char="o"/>
            </a:pPr>
            <a:r>
              <a:rPr lang="en-US" b="1" dirty="0">
                <a:ea typeface="Calibri"/>
                <a:cs typeface="Calibri"/>
              </a:rPr>
              <a:t>Targeted vs. untargeted: </a:t>
            </a:r>
            <a:r>
              <a:rPr lang="en-US" dirty="0">
                <a:ea typeface="Calibri"/>
                <a:cs typeface="Calibri"/>
              </a:rPr>
              <a:t>Attacks can aim to make a model misclassify something as a specific wrong class (targeted) or just make any wrong prediction (untargeted)</a:t>
            </a:r>
          </a:p>
          <a:p>
            <a:pPr lvl="1">
              <a:buClr>
                <a:srgbClr val="FFFFFF"/>
              </a:buClr>
              <a:buFont typeface="Courier New"/>
              <a:buChar char="o"/>
            </a:pPr>
            <a:r>
              <a:rPr lang="en-US" b="1" dirty="0">
                <a:ea typeface="Calibri"/>
                <a:cs typeface="Calibri"/>
              </a:rPr>
              <a:t>White-box vs. black-box: </a:t>
            </a:r>
            <a:r>
              <a:rPr lang="en-US" dirty="0">
                <a:ea typeface="Calibri"/>
                <a:cs typeface="Calibri"/>
              </a:rPr>
              <a:t>Attacks can exploit full knowledge of the model's architecture and weights (white-box) or work without that information (black-box)</a:t>
            </a:r>
          </a:p>
          <a:p>
            <a:pPr>
              <a:buClr>
                <a:srgbClr val="FFFFFF"/>
              </a:buClr>
            </a:pPr>
            <a:endParaRPr lang="en-US" dirty="0">
              <a:ea typeface="Calibri"/>
              <a:cs typeface="Calibri"/>
            </a:endParaRPr>
          </a:p>
        </p:txBody>
      </p:sp>
      <p:sp>
        <p:nvSpPr>
          <p:cNvPr id="4" name="Footer Placeholder 3">
            <a:extLst>
              <a:ext uri="{FF2B5EF4-FFF2-40B4-BE49-F238E27FC236}">
                <a16:creationId xmlns:a16="http://schemas.microsoft.com/office/drawing/2014/main" id="{BE4B1987-D232-3EF3-2019-2BB13B28155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9AAA60B-81F6-875F-B879-5D6E28D3AADA}"/>
              </a:ext>
            </a:extLst>
          </p:cNvPr>
          <p:cNvSpPr>
            <a:spLocks noGrp="1"/>
          </p:cNvSpPr>
          <p:nvPr>
            <p:ph type="sldNum" sz="quarter" idx="12"/>
          </p:nvPr>
        </p:nvSpPr>
        <p:spPr/>
        <p:txBody>
          <a:bodyPr/>
          <a:lstStyle/>
          <a:p>
            <a:fld id="{BFEBEB0A-9E3D-4B14-9782-E2AE3DA60D96}" type="slidenum">
              <a:rPr lang="en-US" smtClean="0"/>
              <a:pPr/>
              <a:t>3</a:t>
            </a:fld>
            <a:endParaRPr lang="en-US" dirty="0"/>
          </a:p>
        </p:txBody>
      </p:sp>
    </p:spTree>
    <p:extLst>
      <p:ext uri="{BB962C8B-B14F-4D97-AF65-F5344CB8AC3E}">
        <p14:creationId xmlns:p14="http://schemas.microsoft.com/office/powerpoint/2010/main" val="291985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20ED3-C240-CD7F-1D09-008213650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BB5FA-0465-B1BF-CD29-C255BB65E755}"/>
              </a:ext>
            </a:extLst>
          </p:cNvPr>
          <p:cNvSpPr>
            <a:spLocks noGrp="1"/>
          </p:cNvSpPr>
          <p:nvPr>
            <p:ph type="title"/>
          </p:nvPr>
        </p:nvSpPr>
        <p:spPr/>
        <p:txBody>
          <a:bodyPr/>
          <a:lstStyle/>
          <a:p>
            <a:r>
              <a:rPr lang="en-US" dirty="0">
                <a:ea typeface="Calibri Light"/>
                <a:cs typeface="Calibri Light"/>
              </a:rPr>
              <a:t>Adversarial attacks</a:t>
            </a:r>
            <a:endParaRPr lang="en-US" dirty="0"/>
          </a:p>
        </p:txBody>
      </p:sp>
      <p:sp>
        <p:nvSpPr>
          <p:cNvPr id="3" name="Content Placeholder 2">
            <a:extLst>
              <a:ext uri="{FF2B5EF4-FFF2-40B4-BE49-F238E27FC236}">
                <a16:creationId xmlns:a16="http://schemas.microsoft.com/office/drawing/2014/main" id="{731AD2BA-626B-8A52-D439-02D3A04235B9}"/>
              </a:ext>
            </a:extLst>
          </p:cNvPr>
          <p:cNvSpPr>
            <a:spLocks noGrp="1"/>
          </p:cNvSpPr>
          <p:nvPr>
            <p:ph idx="1"/>
          </p:nvPr>
        </p:nvSpPr>
        <p:spPr/>
        <p:txBody>
          <a:bodyPr/>
          <a:lstStyle/>
          <a:p>
            <a:r>
              <a:rPr lang="en-US" b="1" dirty="0">
                <a:ea typeface="Calibri"/>
                <a:cs typeface="Calibri"/>
              </a:rPr>
              <a:t>Common examples:</a:t>
            </a:r>
          </a:p>
          <a:p>
            <a:pPr lvl="1">
              <a:buClr>
                <a:srgbClr val="FFFFFF"/>
              </a:buClr>
              <a:buFont typeface="Courier New"/>
              <a:buChar char="o"/>
            </a:pPr>
            <a:r>
              <a:rPr lang="en-US" dirty="0">
                <a:ea typeface="Calibri"/>
                <a:cs typeface="Calibri"/>
              </a:rPr>
              <a:t>Adding imperceptible noise to a stop sign image to make a self-driving car misclassify it as a speed limit sign</a:t>
            </a:r>
          </a:p>
          <a:p>
            <a:pPr lvl="1">
              <a:buClr>
                <a:srgbClr val="FFFFFF"/>
              </a:buClr>
              <a:buFont typeface="Courier New"/>
              <a:buChar char="o"/>
            </a:pPr>
            <a:r>
              <a:rPr lang="en-US" dirty="0">
                <a:ea typeface="Calibri"/>
                <a:cs typeface="Calibri"/>
              </a:rPr>
              <a:t>Modifying pixels in an image of a panda so it's classified as a gibbon</a:t>
            </a:r>
          </a:p>
          <a:p>
            <a:pPr lvl="1">
              <a:buClr>
                <a:srgbClr val="FFFFFF"/>
              </a:buClr>
              <a:buFont typeface="Courier New"/>
              <a:buChar char="o"/>
            </a:pPr>
            <a:r>
              <a:rPr lang="en-US" dirty="0">
                <a:ea typeface="Calibri"/>
                <a:cs typeface="Calibri"/>
              </a:rPr>
              <a:t>Altering audio waveforms to change speech recognition output</a:t>
            </a:r>
          </a:p>
          <a:p>
            <a:pPr>
              <a:buClr>
                <a:srgbClr val="FFFFFF"/>
              </a:buClr>
            </a:pPr>
            <a:r>
              <a:rPr lang="en-US" b="1" dirty="0">
                <a:ea typeface="Calibri"/>
                <a:cs typeface="Calibri"/>
              </a:rPr>
              <a:t>Why it matters:</a:t>
            </a:r>
          </a:p>
          <a:p>
            <a:pPr marL="457200" lvl="1" indent="0">
              <a:buClr>
                <a:srgbClr val="FFFFFF"/>
              </a:buClr>
              <a:buNone/>
            </a:pPr>
            <a:r>
              <a:rPr lang="en-US" dirty="0">
                <a:ea typeface="Calibri"/>
                <a:cs typeface="Calibri"/>
              </a:rPr>
              <a:t>Adversarial attacks expose vulnerabilities in AI systems, especially in security-critical applications like autonomous vehicles, facial recognition, malware detection, and medical diagnosis. Understanding these attacks is crucial for developing robust, secure AI systems.</a:t>
            </a:r>
            <a:endParaRPr lang="en-US">
              <a:ea typeface="Calibri"/>
              <a:cs typeface="Calibri"/>
            </a:endParaRPr>
          </a:p>
        </p:txBody>
      </p:sp>
      <p:sp>
        <p:nvSpPr>
          <p:cNvPr id="4" name="Footer Placeholder 3">
            <a:extLst>
              <a:ext uri="{FF2B5EF4-FFF2-40B4-BE49-F238E27FC236}">
                <a16:creationId xmlns:a16="http://schemas.microsoft.com/office/drawing/2014/main" id="{D670DE08-26EB-9EE9-510A-961B44CA9A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0229201-7F69-7F2E-7BFD-C787155B93B8}"/>
              </a:ext>
            </a:extLst>
          </p:cNvPr>
          <p:cNvSpPr>
            <a:spLocks noGrp="1"/>
          </p:cNvSpPr>
          <p:nvPr>
            <p:ph type="sldNum" sz="quarter" idx="12"/>
          </p:nvPr>
        </p:nvSpPr>
        <p:spPr/>
        <p:txBody>
          <a:bodyPr/>
          <a:lstStyle/>
          <a:p>
            <a:fld id="{BFEBEB0A-9E3D-4B14-9782-E2AE3DA60D96}" type="slidenum">
              <a:rPr lang="en-US" smtClean="0"/>
              <a:pPr/>
              <a:t>4</a:t>
            </a:fld>
            <a:endParaRPr lang="en-US" dirty="0"/>
          </a:p>
        </p:txBody>
      </p:sp>
    </p:spTree>
    <p:extLst>
      <p:ext uri="{BB962C8B-B14F-4D97-AF65-F5344CB8AC3E}">
        <p14:creationId xmlns:p14="http://schemas.microsoft.com/office/powerpoint/2010/main" val="2846876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1E0B-42F7-D3B5-906B-FDFE11FB7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0031D-AA69-8F27-F939-E60A356E04EC}"/>
              </a:ext>
            </a:extLst>
          </p:cNvPr>
          <p:cNvSpPr>
            <a:spLocks noGrp="1"/>
          </p:cNvSpPr>
          <p:nvPr>
            <p:ph type="title"/>
          </p:nvPr>
        </p:nvSpPr>
        <p:spPr/>
        <p:txBody>
          <a:bodyPr/>
          <a:lstStyle/>
          <a:p>
            <a:r>
              <a:rPr lang="en-US" dirty="0">
                <a:ea typeface="Calibri Light"/>
                <a:cs typeface="Calibri Light"/>
              </a:rPr>
              <a:t>Adversarial Training and </a:t>
            </a:r>
            <a:r>
              <a:rPr lang="en-US" dirty="0">
                <a:ea typeface="+mj-lt"/>
                <a:cs typeface="+mj-lt"/>
              </a:rPr>
              <a:t>defense</a:t>
            </a:r>
            <a:endParaRPr lang="en-US" dirty="0" err="1"/>
          </a:p>
        </p:txBody>
      </p:sp>
      <p:sp>
        <p:nvSpPr>
          <p:cNvPr id="3" name="Content Placeholder 2">
            <a:extLst>
              <a:ext uri="{FF2B5EF4-FFF2-40B4-BE49-F238E27FC236}">
                <a16:creationId xmlns:a16="http://schemas.microsoft.com/office/drawing/2014/main" id="{F361DBC9-4161-1573-8453-820705FD5E49}"/>
              </a:ext>
            </a:extLst>
          </p:cNvPr>
          <p:cNvSpPr>
            <a:spLocks noGrp="1"/>
          </p:cNvSpPr>
          <p:nvPr>
            <p:ph idx="1"/>
          </p:nvPr>
        </p:nvSpPr>
        <p:spPr/>
        <p:txBody>
          <a:bodyPr>
            <a:normAutofit/>
          </a:bodyPr>
          <a:lstStyle/>
          <a:p>
            <a:r>
              <a:rPr lang="en-US" b="1" dirty="0">
                <a:ea typeface="Calibri"/>
                <a:cs typeface="Calibri"/>
              </a:rPr>
              <a:t>Adversarial Training</a:t>
            </a:r>
            <a:r>
              <a:rPr lang="en-US" dirty="0">
                <a:ea typeface="Calibri"/>
                <a:cs typeface="Calibri"/>
              </a:rPr>
              <a:t> is a defense technique that makes machine learning models more robust by training them on adversarial examples alongside normal data. During training, adversarial examples are generated and the model learns to correctly classify both original and perturbed inputs.</a:t>
            </a:r>
          </a:p>
          <a:p>
            <a:pPr>
              <a:buClr>
                <a:srgbClr val="FFFFFF"/>
              </a:buClr>
            </a:pPr>
            <a:r>
              <a:rPr lang="en-US" b="1" dirty="0">
                <a:solidFill>
                  <a:srgbClr val="FFFFFF"/>
                </a:solidFill>
                <a:ea typeface="+mn-lt"/>
                <a:cs typeface="+mn-lt"/>
              </a:rPr>
              <a:t>How it works:</a:t>
            </a:r>
            <a:endParaRPr lang="en-US" dirty="0">
              <a:solidFill>
                <a:srgbClr val="FFFFFF"/>
              </a:solidFill>
              <a:ea typeface="+mn-lt"/>
              <a:cs typeface="+mn-lt"/>
            </a:endParaRPr>
          </a:p>
          <a:p>
            <a:pPr lvl="1">
              <a:buClr>
                <a:srgbClr val="FFFFFF"/>
              </a:buClr>
              <a:buAutoNum type="arabicPeriod"/>
            </a:pPr>
            <a:r>
              <a:rPr lang="en-US" dirty="0">
                <a:solidFill>
                  <a:srgbClr val="FFFFFF"/>
                </a:solidFill>
                <a:ea typeface="+mn-lt"/>
                <a:cs typeface="+mn-lt"/>
              </a:rPr>
              <a:t>Generate adversarial examples during training</a:t>
            </a:r>
          </a:p>
          <a:p>
            <a:pPr lvl="1">
              <a:buClr>
                <a:srgbClr val="FFFFFF"/>
              </a:buClr>
              <a:buAutoNum type="arabicPeriod"/>
            </a:pPr>
            <a:r>
              <a:rPr lang="en-US" dirty="0">
                <a:solidFill>
                  <a:srgbClr val="FFFFFF"/>
                </a:solidFill>
                <a:ea typeface="+mn-lt"/>
                <a:cs typeface="+mn-lt"/>
              </a:rPr>
              <a:t>Add them to the training dataset with correct labels</a:t>
            </a:r>
            <a:endParaRPr lang="en-US">
              <a:solidFill>
                <a:srgbClr val="FFFFFF"/>
              </a:solidFill>
              <a:ea typeface="+mn-lt"/>
              <a:cs typeface="+mn-lt"/>
            </a:endParaRPr>
          </a:p>
          <a:p>
            <a:pPr lvl="1">
              <a:buClr>
                <a:srgbClr val="FFFFFF"/>
              </a:buClr>
              <a:buAutoNum type="arabicPeriod"/>
            </a:pPr>
            <a:r>
              <a:rPr lang="en-US" dirty="0">
                <a:solidFill>
                  <a:srgbClr val="FFFFFF"/>
                </a:solidFill>
                <a:ea typeface="+mn-lt"/>
                <a:cs typeface="+mn-lt"/>
              </a:rPr>
              <a:t>Model learns to be resilient to these perturbations</a:t>
            </a:r>
            <a:endParaRPr lang="en-US">
              <a:solidFill>
                <a:srgbClr val="FFFFFF"/>
              </a:solidFill>
              <a:ea typeface="+mn-lt"/>
              <a:cs typeface="+mn-lt"/>
            </a:endParaRPr>
          </a:p>
          <a:p>
            <a:pPr lvl="1">
              <a:buClr>
                <a:srgbClr val="FFFFFF"/>
              </a:buClr>
              <a:buAutoNum type="arabicPeriod"/>
            </a:pPr>
            <a:r>
              <a:rPr lang="en-US">
                <a:solidFill>
                  <a:srgbClr val="FFFFFF"/>
                </a:solidFill>
                <a:ea typeface="+mn-lt"/>
                <a:cs typeface="+mn-lt"/>
              </a:rPr>
              <a:t>Results in more robust decision boundaries</a:t>
            </a:r>
          </a:p>
          <a:p>
            <a:pPr>
              <a:buClr>
                <a:srgbClr val="FFFFFF"/>
              </a:buClr>
            </a:pPr>
            <a:endParaRPr lang="en-US" dirty="0">
              <a:ea typeface="Calibri"/>
              <a:cs typeface="Calibri"/>
            </a:endParaRPr>
          </a:p>
        </p:txBody>
      </p:sp>
      <p:sp>
        <p:nvSpPr>
          <p:cNvPr id="4" name="Footer Placeholder 3">
            <a:extLst>
              <a:ext uri="{FF2B5EF4-FFF2-40B4-BE49-F238E27FC236}">
                <a16:creationId xmlns:a16="http://schemas.microsoft.com/office/drawing/2014/main" id="{3B681B42-8B10-BCBA-F6F8-8D85F642551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58E2ECA-0CED-9F9E-AC00-AAD25669230E}"/>
              </a:ext>
            </a:extLst>
          </p:cNvPr>
          <p:cNvSpPr>
            <a:spLocks noGrp="1"/>
          </p:cNvSpPr>
          <p:nvPr>
            <p:ph type="sldNum" sz="quarter" idx="12"/>
          </p:nvPr>
        </p:nvSpPr>
        <p:spPr/>
        <p:txBody>
          <a:bodyPr/>
          <a:lstStyle/>
          <a:p>
            <a:fld id="{BFEBEB0A-9E3D-4B14-9782-E2AE3DA60D96}" type="slidenum">
              <a:rPr lang="en-US" smtClean="0"/>
              <a:pPr/>
              <a:t>5</a:t>
            </a:fld>
            <a:endParaRPr lang="en-US" dirty="0"/>
          </a:p>
        </p:txBody>
      </p:sp>
    </p:spTree>
    <p:extLst>
      <p:ext uri="{BB962C8B-B14F-4D97-AF65-F5344CB8AC3E}">
        <p14:creationId xmlns:p14="http://schemas.microsoft.com/office/powerpoint/2010/main" val="1811033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16C9-40F8-438B-F57E-6CF931D2B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90858-4E8C-417F-BBCF-7C912A19F244}"/>
              </a:ext>
            </a:extLst>
          </p:cNvPr>
          <p:cNvSpPr>
            <a:spLocks noGrp="1"/>
          </p:cNvSpPr>
          <p:nvPr>
            <p:ph type="title"/>
          </p:nvPr>
        </p:nvSpPr>
        <p:spPr/>
        <p:txBody>
          <a:bodyPr/>
          <a:lstStyle/>
          <a:p>
            <a:r>
              <a:rPr lang="en-US" dirty="0">
                <a:ea typeface="Calibri Light"/>
                <a:cs typeface="Calibri Light"/>
              </a:rPr>
              <a:t>Adversarial Training and </a:t>
            </a:r>
            <a:r>
              <a:rPr lang="en-US" dirty="0">
                <a:ea typeface="+mj-lt"/>
                <a:cs typeface="+mj-lt"/>
              </a:rPr>
              <a:t>defense</a:t>
            </a:r>
            <a:endParaRPr lang="en-US" dirty="0" err="1"/>
          </a:p>
        </p:txBody>
      </p:sp>
      <p:sp>
        <p:nvSpPr>
          <p:cNvPr id="3" name="Content Placeholder 2">
            <a:extLst>
              <a:ext uri="{FF2B5EF4-FFF2-40B4-BE49-F238E27FC236}">
                <a16:creationId xmlns:a16="http://schemas.microsoft.com/office/drawing/2014/main" id="{118168D7-31D9-5A32-AB92-30CAB5972B22}"/>
              </a:ext>
            </a:extLst>
          </p:cNvPr>
          <p:cNvSpPr>
            <a:spLocks noGrp="1"/>
          </p:cNvSpPr>
          <p:nvPr>
            <p:ph idx="1"/>
          </p:nvPr>
        </p:nvSpPr>
        <p:spPr/>
        <p:txBody>
          <a:bodyPr>
            <a:normAutofit/>
          </a:bodyPr>
          <a:lstStyle/>
          <a:p>
            <a:r>
              <a:rPr lang="en-US" b="1" dirty="0">
                <a:ea typeface="Calibri"/>
                <a:cs typeface="Calibri"/>
              </a:rPr>
              <a:t>Defense Mechanisms</a:t>
            </a:r>
            <a:r>
              <a:rPr lang="en-US" dirty="0">
                <a:ea typeface="Calibri"/>
                <a:cs typeface="Calibri"/>
              </a:rPr>
              <a:t> include various strategies beyond adversarial training:</a:t>
            </a:r>
          </a:p>
          <a:p>
            <a:pPr lvl="1">
              <a:buClr>
                <a:srgbClr val="FFFFFF"/>
              </a:buClr>
              <a:buAutoNum type="arabicPeriod"/>
            </a:pPr>
            <a:r>
              <a:rPr lang="en-US" b="1" dirty="0">
                <a:ea typeface="Calibri"/>
                <a:cs typeface="Calibri"/>
              </a:rPr>
              <a:t>Input preprocessing: </a:t>
            </a:r>
            <a:r>
              <a:rPr lang="en-US" dirty="0">
                <a:ea typeface="Calibri"/>
                <a:cs typeface="Calibri"/>
              </a:rPr>
              <a:t>Detecting and filtering adversarial perturbations before they reach the model (denoising, compression, transformation)</a:t>
            </a:r>
          </a:p>
          <a:p>
            <a:pPr lvl="1">
              <a:buClr>
                <a:srgbClr val="FFFFFF"/>
              </a:buClr>
              <a:buAutoNum type="arabicPeriod"/>
            </a:pPr>
            <a:r>
              <a:rPr lang="en-US" b="1" dirty="0">
                <a:ea typeface="Calibri"/>
                <a:cs typeface="Calibri"/>
              </a:rPr>
              <a:t>Defensive distillation:</a:t>
            </a:r>
            <a:r>
              <a:rPr lang="en-US" dirty="0">
                <a:ea typeface="Calibri"/>
                <a:cs typeface="Calibri"/>
              </a:rPr>
              <a:t> Training models at high temperatures to smooth decision boundaries</a:t>
            </a:r>
            <a:endParaRPr lang="en-US">
              <a:ea typeface="Calibri"/>
              <a:cs typeface="Calibri"/>
            </a:endParaRPr>
          </a:p>
          <a:p>
            <a:pPr lvl="1">
              <a:buClr>
                <a:srgbClr val="FFFFFF"/>
              </a:buClr>
              <a:buAutoNum type="arabicPeriod"/>
            </a:pPr>
            <a:r>
              <a:rPr lang="en-US" b="1" dirty="0">
                <a:ea typeface="Calibri"/>
                <a:cs typeface="Calibri"/>
              </a:rPr>
              <a:t>Ensemble methods: </a:t>
            </a:r>
            <a:r>
              <a:rPr lang="en-US" dirty="0">
                <a:ea typeface="Calibri"/>
                <a:cs typeface="Calibri"/>
              </a:rPr>
              <a:t>Using multiple models with different architectures to make predictions harder to fool</a:t>
            </a:r>
            <a:endParaRPr lang="en-US">
              <a:ea typeface="Calibri"/>
              <a:cs typeface="Calibri"/>
            </a:endParaRPr>
          </a:p>
          <a:p>
            <a:pPr lvl="1">
              <a:buClr>
                <a:srgbClr val="FFFFFF"/>
              </a:buClr>
              <a:buAutoNum type="arabicPeriod"/>
            </a:pPr>
            <a:r>
              <a:rPr lang="en-US" b="1" dirty="0">
                <a:ea typeface="Calibri"/>
                <a:cs typeface="Calibri"/>
              </a:rPr>
              <a:t>Detection:</a:t>
            </a:r>
            <a:r>
              <a:rPr lang="en-US" dirty="0">
                <a:ea typeface="Calibri"/>
                <a:cs typeface="Calibri"/>
              </a:rPr>
              <a:t> Identifying adversarial examples rather than classifying them</a:t>
            </a:r>
            <a:endParaRPr lang="en-US">
              <a:ea typeface="Calibri"/>
              <a:cs typeface="Calibri"/>
            </a:endParaRPr>
          </a:p>
          <a:p>
            <a:pPr lvl="1">
              <a:buClr>
                <a:srgbClr val="FFFFFF"/>
              </a:buClr>
              <a:buAutoNum type="arabicPeriod"/>
            </a:pPr>
            <a:r>
              <a:rPr lang="en-US" b="1" dirty="0">
                <a:ea typeface="Calibri"/>
                <a:cs typeface="Calibri"/>
              </a:rPr>
              <a:t>Gradient masking:</a:t>
            </a:r>
            <a:r>
              <a:rPr lang="en-US" dirty="0">
                <a:ea typeface="Calibri"/>
                <a:cs typeface="Calibri"/>
              </a:rPr>
              <a:t> Making gradients harder to exploit (though this can provide false security)</a:t>
            </a:r>
            <a:endParaRPr lang="en-US">
              <a:ea typeface="Calibri"/>
              <a:cs typeface="Calibri"/>
            </a:endParaRPr>
          </a:p>
          <a:p>
            <a:pPr lvl="1">
              <a:buClr>
                <a:srgbClr val="FFFFFF"/>
              </a:buClr>
              <a:buAutoNum type="arabicPeriod"/>
            </a:pPr>
            <a:r>
              <a:rPr lang="en-US" b="1" dirty="0">
                <a:ea typeface="Calibri"/>
                <a:cs typeface="Calibri"/>
              </a:rPr>
              <a:t>Certified defenses:</a:t>
            </a:r>
            <a:r>
              <a:rPr lang="en-US" dirty="0">
                <a:ea typeface="Calibri"/>
                <a:cs typeface="Calibri"/>
              </a:rPr>
              <a:t> Providing mathematical guarantees about robustness within certain perturbation bounds</a:t>
            </a:r>
            <a:endParaRPr lang="en-US">
              <a:ea typeface="Calibri"/>
              <a:cs typeface="Calibri"/>
            </a:endParaRPr>
          </a:p>
          <a:p>
            <a:pPr>
              <a:buClr>
                <a:srgbClr val="FFFFFF"/>
              </a:buClr>
            </a:pPr>
            <a:endParaRPr lang="en-US" dirty="0">
              <a:ea typeface="Calibri"/>
              <a:cs typeface="Calibri"/>
            </a:endParaRPr>
          </a:p>
        </p:txBody>
      </p:sp>
      <p:sp>
        <p:nvSpPr>
          <p:cNvPr id="4" name="Footer Placeholder 3">
            <a:extLst>
              <a:ext uri="{FF2B5EF4-FFF2-40B4-BE49-F238E27FC236}">
                <a16:creationId xmlns:a16="http://schemas.microsoft.com/office/drawing/2014/main" id="{3F9E9838-B871-B70C-9593-75588F5D6F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CDC8209-96AD-E228-3C7E-285D4DE8CAF4}"/>
              </a:ext>
            </a:extLst>
          </p:cNvPr>
          <p:cNvSpPr>
            <a:spLocks noGrp="1"/>
          </p:cNvSpPr>
          <p:nvPr>
            <p:ph type="sldNum" sz="quarter" idx="12"/>
          </p:nvPr>
        </p:nvSpPr>
        <p:spPr/>
        <p:txBody>
          <a:bodyPr/>
          <a:lstStyle/>
          <a:p>
            <a:fld id="{BFEBEB0A-9E3D-4B14-9782-E2AE3DA60D96}" type="slidenum">
              <a:rPr lang="en-US" smtClean="0"/>
              <a:pPr/>
              <a:t>6</a:t>
            </a:fld>
            <a:endParaRPr lang="en-US" dirty="0"/>
          </a:p>
        </p:txBody>
      </p:sp>
    </p:spTree>
    <p:extLst>
      <p:ext uri="{BB962C8B-B14F-4D97-AF65-F5344CB8AC3E}">
        <p14:creationId xmlns:p14="http://schemas.microsoft.com/office/powerpoint/2010/main" val="1490343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E59C-753C-F48D-C0BC-BECAA3276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110EA-331D-BB50-CCBF-14FF476F189C}"/>
              </a:ext>
            </a:extLst>
          </p:cNvPr>
          <p:cNvSpPr>
            <a:spLocks noGrp="1"/>
          </p:cNvSpPr>
          <p:nvPr>
            <p:ph type="title"/>
          </p:nvPr>
        </p:nvSpPr>
        <p:spPr/>
        <p:txBody>
          <a:bodyPr/>
          <a:lstStyle/>
          <a:p>
            <a:r>
              <a:rPr lang="en-US" dirty="0">
                <a:ea typeface="Calibri Light"/>
                <a:cs typeface="Calibri Light"/>
              </a:rPr>
              <a:t>Adversarial Training and </a:t>
            </a:r>
            <a:r>
              <a:rPr lang="en-US" dirty="0">
                <a:ea typeface="+mj-lt"/>
                <a:cs typeface="+mj-lt"/>
              </a:rPr>
              <a:t>defense</a:t>
            </a:r>
            <a:endParaRPr lang="en-US" dirty="0" err="1"/>
          </a:p>
        </p:txBody>
      </p:sp>
      <p:sp>
        <p:nvSpPr>
          <p:cNvPr id="3" name="Content Placeholder 2">
            <a:extLst>
              <a:ext uri="{FF2B5EF4-FFF2-40B4-BE49-F238E27FC236}">
                <a16:creationId xmlns:a16="http://schemas.microsoft.com/office/drawing/2014/main" id="{79B022BE-47B0-DE23-DFE2-94D0EF2789FA}"/>
              </a:ext>
            </a:extLst>
          </p:cNvPr>
          <p:cNvSpPr>
            <a:spLocks noGrp="1"/>
          </p:cNvSpPr>
          <p:nvPr>
            <p:ph idx="1"/>
          </p:nvPr>
        </p:nvSpPr>
        <p:spPr/>
        <p:txBody>
          <a:bodyPr>
            <a:normAutofit/>
          </a:bodyPr>
          <a:lstStyle/>
          <a:p>
            <a:pPr>
              <a:buClr>
                <a:srgbClr val="FFFFFF"/>
              </a:buClr>
            </a:pPr>
            <a:r>
              <a:rPr lang="en-US" b="1" dirty="0">
                <a:solidFill>
                  <a:srgbClr val="FFFFFF"/>
                </a:solidFill>
                <a:ea typeface="+mn-lt"/>
                <a:cs typeface="+mn-lt"/>
              </a:rPr>
              <a:t>Trade-offs:</a:t>
            </a:r>
          </a:p>
          <a:p>
            <a:pPr lvl="1">
              <a:buClr>
                <a:srgbClr val="FFFFFF"/>
              </a:buClr>
              <a:buFont typeface="Courier New"/>
              <a:buChar char="o"/>
            </a:pPr>
            <a:r>
              <a:rPr lang="en-US" dirty="0">
                <a:solidFill>
                  <a:srgbClr val="FFFFFF"/>
                </a:solidFill>
                <a:ea typeface="+mn-lt"/>
                <a:cs typeface="+mn-lt"/>
              </a:rPr>
              <a:t>Adversarial training often improves robustness but may slightly reduce accuracy on clean data</a:t>
            </a:r>
          </a:p>
          <a:p>
            <a:pPr lvl="1">
              <a:buClr>
                <a:srgbClr val="FFFFFF"/>
              </a:buClr>
              <a:buFont typeface="Courier New"/>
              <a:buChar char="o"/>
            </a:pPr>
            <a:r>
              <a:rPr lang="en-US" dirty="0">
                <a:solidFill>
                  <a:srgbClr val="FFFFFF"/>
                </a:solidFill>
                <a:ea typeface="+mn-lt"/>
                <a:cs typeface="+mn-lt"/>
              </a:rPr>
              <a:t>Computational cost increases due to generating adversarial examples during training</a:t>
            </a:r>
          </a:p>
          <a:p>
            <a:pPr lvl="1">
              <a:buClr>
                <a:srgbClr val="FFFFFF"/>
              </a:buClr>
              <a:buFont typeface="Courier New"/>
              <a:buChar char="o"/>
            </a:pPr>
            <a:r>
              <a:rPr lang="en-US" dirty="0">
                <a:solidFill>
                  <a:srgbClr val="FFFFFF"/>
                </a:solidFill>
                <a:ea typeface="+mn-lt"/>
                <a:cs typeface="+mn-lt"/>
              </a:rPr>
              <a:t>Defense is an ongoing arms race—new attacks can bypass existing defenses</a:t>
            </a:r>
          </a:p>
        </p:txBody>
      </p:sp>
      <p:sp>
        <p:nvSpPr>
          <p:cNvPr id="4" name="Footer Placeholder 3">
            <a:extLst>
              <a:ext uri="{FF2B5EF4-FFF2-40B4-BE49-F238E27FC236}">
                <a16:creationId xmlns:a16="http://schemas.microsoft.com/office/drawing/2014/main" id="{5D6CEEDF-2859-5F52-818A-7C10D4FB000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77D781E-5EAB-4A1C-FAE4-391A790D728C}"/>
              </a:ext>
            </a:extLst>
          </p:cNvPr>
          <p:cNvSpPr>
            <a:spLocks noGrp="1"/>
          </p:cNvSpPr>
          <p:nvPr>
            <p:ph type="sldNum" sz="quarter" idx="12"/>
          </p:nvPr>
        </p:nvSpPr>
        <p:spPr/>
        <p:txBody>
          <a:bodyPr/>
          <a:lstStyle/>
          <a:p>
            <a:fld id="{BFEBEB0A-9E3D-4B14-9782-E2AE3DA60D96}" type="slidenum">
              <a:rPr lang="en-US" smtClean="0"/>
              <a:pPr/>
              <a:t>7</a:t>
            </a:fld>
            <a:endParaRPr lang="en-US" dirty="0"/>
          </a:p>
        </p:txBody>
      </p:sp>
    </p:spTree>
    <p:extLst>
      <p:ext uri="{BB962C8B-B14F-4D97-AF65-F5344CB8AC3E}">
        <p14:creationId xmlns:p14="http://schemas.microsoft.com/office/powerpoint/2010/main" val="1660101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1C4EB-3DA1-26C9-4313-D9060B798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768E8-59AE-2B6E-E447-43BEA157EB2B}"/>
              </a:ext>
            </a:extLst>
          </p:cNvPr>
          <p:cNvSpPr>
            <a:spLocks noGrp="1"/>
          </p:cNvSpPr>
          <p:nvPr>
            <p:ph type="title"/>
          </p:nvPr>
        </p:nvSpPr>
        <p:spPr/>
        <p:txBody>
          <a:bodyPr/>
          <a:lstStyle/>
          <a:p>
            <a:r>
              <a:rPr lang="en-US" dirty="0">
                <a:ea typeface="Calibri Light"/>
                <a:cs typeface="Calibri Light"/>
              </a:rPr>
              <a:t>Adversarial Attacks, Training, and </a:t>
            </a:r>
            <a:r>
              <a:rPr lang="en-US" dirty="0">
                <a:ea typeface="+mj-lt"/>
                <a:cs typeface="+mj-lt"/>
              </a:rPr>
              <a:t>defense in </a:t>
            </a:r>
            <a:r>
              <a:rPr lang="en-US">
                <a:ea typeface="+mj-lt"/>
                <a:cs typeface="+mj-lt"/>
              </a:rPr>
              <a:t>this workshop</a:t>
            </a:r>
            <a:endParaRPr lang="en-US" dirty="0" err="1"/>
          </a:p>
        </p:txBody>
      </p:sp>
      <p:sp>
        <p:nvSpPr>
          <p:cNvPr id="3" name="Content Placeholder 2">
            <a:extLst>
              <a:ext uri="{FF2B5EF4-FFF2-40B4-BE49-F238E27FC236}">
                <a16:creationId xmlns:a16="http://schemas.microsoft.com/office/drawing/2014/main" id="{9CA415C2-2281-E0AD-2BCC-EEFAE43A341E}"/>
              </a:ext>
            </a:extLst>
          </p:cNvPr>
          <p:cNvSpPr>
            <a:spLocks noGrp="1"/>
          </p:cNvSpPr>
          <p:nvPr>
            <p:ph idx="1"/>
          </p:nvPr>
        </p:nvSpPr>
        <p:spPr/>
        <p:txBody>
          <a:bodyPr>
            <a:normAutofit fontScale="85000" lnSpcReduction="10000"/>
          </a:bodyPr>
          <a:lstStyle/>
          <a:p>
            <a:pPr>
              <a:buClr>
                <a:srgbClr val="FFFFFF"/>
              </a:buClr>
            </a:pPr>
            <a:r>
              <a:rPr lang="en-US" dirty="0">
                <a:solidFill>
                  <a:srgbClr val="FFFFFF"/>
                </a:solidFill>
                <a:ea typeface="+mn-lt"/>
                <a:cs typeface="+mn-lt"/>
              </a:rPr>
              <a:t>These following two notebooks form a comprehensive learning module on adversarial machine learning for automotive/computer vision AI systems.</a:t>
            </a:r>
            <a:endParaRPr lang="en-US" dirty="0">
              <a:ea typeface="+mn-lt"/>
              <a:cs typeface="+mn-lt"/>
            </a:endParaRPr>
          </a:p>
          <a:p>
            <a:pPr>
              <a:buClr>
                <a:srgbClr val="FFFFFF"/>
              </a:buClr>
            </a:pPr>
            <a:r>
              <a:rPr lang="en-US" b="1" dirty="0">
                <a:ea typeface="+mn-lt"/>
                <a:cs typeface="+mn-lt"/>
              </a:rPr>
              <a:t>adversarial_</a:t>
            </a:r>
            <a:r>
              <a:rPr lang="en-US" b="1" dirty="0">
                <a:solidFill>
                  <a:srgbClr val="FFFFFF"/>
                </a:solidFill>
                <a:ea typeface="+mn-lt"/>
                <a:cs typeface="+mn-lt"/>
              </a:rPr>
              <a:t>attacks_automotive.ipynb Learning Objectives:</a:t>
            </a:r>
            <a:endParaRPr lang="en-US" dirty="0"/>
          </a:p>
          <a:p>
            <a:pPr lvl="1">
              <a:buClr>
                <a:srgbClr val="FFFFFF"/>
              </a:buClr>
              <a:buFont typeface="Courier New"/>
              <a:buChar char="o"/>
            </a:pPr>
            <a:r>
              <a:rPr lang="en-US">
                <a:solidFill>
                  <a:srgbClr val="FFFFFF"/>
                </a:solidFill>
                <a:ea typeface="+mn-lt"/>
                <a:cs typeface="+mn-lt"/>
              </a:rPr>
              <a:t>Understand how adversarial attacks work in practice</a:t>
            </a:r>
            <a:endParaRPr lang="en-US">
              <a:ea typeface="Calibri"/>
              <a:cs typeface="Calibri"/>
            </a:endParaRPr>
          </a:p>
          <a:p>
            <a:pPr lvl="1">
              <a:buClr>
                <a:srgbClr val="FFFFFF"/>
              </a:buClr>
              <a:buFont typeface="Courier New"/>
              <a:buChar char="o"/>
            </a:pPr>
            <a:r>
              <a:rPr lang="en-US">
                <a:solidFill>
                  <a:srgbClr val="FFFFFF"/>
                </a:solidFill>
                <a:ea typeface="+mn-lt"/>
                <a:cs typeface="+mn-lt"/>
              </a:rPr>
              <a:t>See the vulnerability of neural networks to small perturbations</a:t>
            </a:r>
            <a:endParaRPr lang="en-US">
              <a:ea typeface="Calibri"/>
              <a:cs typeface="Calibri"/>
            </a:endParaRPr>
          </a:p>
          <a:p>
            <a:pPr lvl="1">
              <a:buClr>
                <a:srgbClr val="FFFFFF"/>
              </a:buClr>
              <a:buFont typeface="Courier New"/>
              <a:buChar char="o"/>
            </a:pPr>
            <a:r>
              <a:rPr lang="en-US">
                <a:solidFill>
                  <a:srgbClr val="FFFFFF"/>
                </a:solidFill>
                <a:ea typeface="+mn-lt"/>
                <a:cs typeface="+mn-lt"/>
              </a:rPr>
              <a:t>Compare different attack methodologies</a:t>
            </a:r>
            <a:endParaRPr lang="en-US">
              <a:ea typeface="Calibri"/>
              <a:cs typeface="Calibri"/>
            </a:endParaRPr>
          </a:p>
          <a:p>
            <a:pPr>
              <a:buClr>
                <a:srgbClr val="FFFFFF"/>
              </a:buClr>
            </a:pPr>
            <a:r>
              <a:rPr lang="en-US" sz="1700" b="1" dirty="0">
                <a:solidFill>
                  <a:srgbClr val="FFFFFF"/>
                </a:solidFill>
                <a:ea typeface="+mn-lt"/>
                <a:cs typeface="+mn-lt"/>
              </a:rPr>
              <a:t>adversarial_training_defense.ipynb </a:t>
            </a:r>
            <a:r>
              <a:rPr lang="en-US" b="1" dirty="0">
                <a:solidFill>
                  <a:srgbClr val="FFFFFF"/>
                </a:solidFill>
                <a:ea typeface="+mn-lt"/>
                <a:cs typeface="+mn-lt"/>
              </a:rPr>
              <a:t>Learning Objectives:</a:t>
            </a:r>
            <a:endParaRPr lang="en-US" sz="1700" b="1">
              <a:solidFill>
                <a:srgbClr val="000000"/>
              </a:solidFill>
              <a:ea typeface="+mn-lt"/>
              <a:cs typeface="+mn-lt"/>
            </a:endParaRPr>
          </a:p>
          <a:p>
            <a:pPr lvl="1">
              <a:buClr>
                <a:srgbClr val="FFFFFF"/>
              </a:buClr>
              <a:buFont typeface="Courier New"/>
              <a:buChar char="o"/>
            </a:pPr>
            <a:r>
              <a:rPr lang="en-US" dirty="0">
                <a:solidFill>
                  <a:srgbClr val="FFFFFF"/>
                </a:solidFill>
                <a:ea typeface="+mn-lt"/>
                <a:cs typeface="+mn-lt"/>
              </a:rPr>
              <a:t>Learn how to defend against adversarial attacks</a:t>
            </a:r>
            <a:endParaRPr lang="en-US">
              <a:ea typeface="Calibri"/>
              <a:cs typeface="Calibri"/>
            </a:endParaRPr>
          </a:p>
          <a:p>
            <a:pPr lvl="1">
              <a:buClr>
                <a:srgbClr val="FFFFFF"/>
              </a:buClr>
              <a:buFont typeface="Courier New"/>
              <a:buChar char="o"/>
            </a:pPr>
            <a:r>
              <a:rPr lang="en-US" dirty="0">
                <a:solidFill>
                  <a:srgbClr val="FFFFFF"/>
                </a:solidFill>
                <a:ea typeface="+mn-lt"/>
                <a:cs typeface="+mn-lt"/>
              </a:rPr>
              <a:t>Understand the trade-offs in robust model training</a:t>
            </a:r>
            <a:endParaRPr lang="en-US">
              <a:ea typeface="Calibri"/>
              <a:cs typeface="Calibri"/>
            </a:endParaRPr>
          </a:p>
          <a:p>
            <a:pPr lvl="1">
              <a:buClr>
                <a:srgbClr val="FFFFFF"/>
              </a:buClr>
              <a:buFont typeface="Courier New"/>
              <a:buChar char="o"/>
            </a:pPr>
            <a:r>
              <a:rPr lang="en-US" dirty="0">
                <a:solidFill>
                  <a:srgbClr val="FFFFFF"/>
                </a:solidFill>
                <a:ea typeface="+mn-lt"/>
                <a:cs typeface="+mn-lt"/>
              </a:rPr>
              <a:t>Implement adversarial training from scratch</a:t>
            </a:r>
            <a:endParaRPr lang="en-US">
              <a:ea typeface="Calibri"/>
              <a:cs typeface="Calibri"/>
            </a:endParaRPr>
          </a:p>
          <a:p>
            <a:pPr>
              <a:buClr>
                <a:srgbClr val="FFFFFF"/>
              </a:buClr>
            </a:pPr>
            <a:r>
              <a:rPr lang="en-US" dirty="0">
                <a:solidFill>
                  <a:srgbClr val="FFFFFF"/>
                </a:solidFill>
                <a:ea typeface="+mn-lt"/>
                <a:cs typeface="+mn-lt"/>
              </a:rPr>
              <a:t>No extra datasets are needed before execution since the notebooks will already handel the required materials.</a:t>
            </a:r>
          </a:p>
          <a:p>
            <a:pPr>
              <a:buClr>
                <a:srgbClr val="FFFFFF"/>
              </a:buClr>
            </a:pPr>
            <a:endParaRPr lang="en-US" b="1" dirty="0">
              <a:solidFill>
                <a:srgbClr val="FFFFFF"/>
              </a:solidFill>
              <a:ea typeface="+mn-lt"/>
              <a:cs typeface="+mn-lt"/>
            </a:endParaRPr>
          </a:p>
        </p:txBody>
      </p:sp>
      <p:sp>
        <p:nvSpPr>
          <p:cNvPr id="4" name="Footer Placeholder 3">
            <a:extLst>
              <a:ext uri="{FF2B5EF4-FFF2-40B4-BE49-F238E27FC236}">
                <a16:creationId xmlns:a16="http://schemas.microsoft.com/office/drawing/2014/main" id="{68CC6A8B-8347-4780-EDD3-27FEA34A8A6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8896E6E-8E87-80AE-833E-EB0C3F813B4F}"/>
              </a:ext>
            </a:extLst>
          </p:cNvPr>
          <p:cNvSpPr>
            <a:spLocks noGrp="1"/>
          </p:cNvSpPr>
          <p:nvPr>
            <p:ph type="sldNum" sz="quarter" idx="12"/>
          </p:nvPr>
        </p:nvSpPr>
        <p:spPr/>
        <p:txBody>
          <a:bodyPr/>
          <a:lstStyle/>
          <a:p>
            <a:fld id="{BFEBEB0A-9E3D-4B14-9782-E2AE3DA60D96}" type="slidenum">
              <a:rPr lang="en-US" smtClean="0"/>
              <a:pPr/>
              <a:t>8</a:t>
            </a:fld>
            <a:endParaRPr lang="en-US" dirty="0"/>
          </a:p>
        </p:txBody>
      </p:sp>
    </p:spTree>
    <p:extLst>
      <p:ext uri="{BB962C8B-B14F-4D97-AF65-F5344CB8AC3E}">
        <p14:creationId xmlns:p14="http://schemas.microsoft.com/office/powerpoint/2010/main" val="3038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A32C-3906-4543-AF94-2790C4F42654}"/>
              </a:ext>
            </a:extLst>
          </p:cNvPr>
          <p:cNvSpPr>
            <a:spLocks noGrp="1"/>
          </p:cNvSpPr>
          <p:nvPr>
            <p:ph type="title"/>
          </p:nvPr>
        </p:nvSpPr>
        <p:spPr/>
        <p:txBody>
          <a:bodyPr/>
          <a:lstStyle/>
          <a:p>
            <a:r>
              <a:rPr lang="en-US" dirty="0"/>
              <a:t>Model Inversion and Differential Privacy</a:t>
            </a:r>
          </a:p>
        </p:txBody>
      </p:sp>
      <p:sp>
        <p:nvSpPr>
          <p:cNvPr id="3" name="Text Placeholder 2">
            <a:extLst>
              <a:ext uri="{FF2B5EF4-FFF2-40B4-BE49-F238E27FC236}">
                <a16:creationId xmlns:a16="http://schemas.microsoft.com/office/drawing/2014/main" id="{4C28E863-D285-3C21-3B3B-00C10E385909}"/>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52AFE41B-2F9C-5206-28CE-91A6BDE0027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316F859-16A9-5CE9-B52B-688081EC6335}"/>
              </a:ext>
            </a:extLst>
          </p:cNvPr>
          <p:cNvSpPr>
            <a:spLocks noGrp="1"/>
          </p:cNvSpPr>
          <p:nvPr>
            <p:ph type="sldNum" sz="quarter" idx="12"/>
          </p:nvPr>
        </p:nvSpPr>
        <p:spPr/>
        <p:txBody>
          <a:bodyPr/>
          <a:lstStyle/>
          <a:p>
            <a:fld id="{BFEBEB0A-9E3D-4B14-9782-E2AE3DA60D96}" type="slidenum">
              <a:rPr lang="en-US" smtClean="0"/>
              <a:pPr/>
              <a:t>9</a:t>
            </a:fld>
            <a:endParaRPr lang="en-US"/>
          </a:p>
        </p:txBody>
      </p:sp>
    </p:spTree>
    <p:extLst>
      <p:ext uri="{BB962C8B-B14F-4D97-AF65-F5344CB8AC3E}">
        <p14:creationId xmlns:p14="http://schemas.microsoft.com/office/powerpoint/2010/main" val="2844226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3217-F91C-EEF3-CD0C-922F918A38E4}"/>
              </a:ext>
            </a:extLst>
          </p:cNvPr>
          <p:cNvSpPr>
            <a:spLocks noGrp="1"/>
          </p:cNvSpPr>
          <p:nvPr>
            <p:ph type="title"/>
          </p:nvPr>
        </p:nvSpPr>
        <p:spPr/>
        <p:txBody>
          <a:bodyPr/>
          <a:lstStyle/>
          <a:p>
            <a:r>
              <a:rPr lang="en-US" dirty="0"/>
              <a:t>What is model inversion?</a:t>
            </a:r>
          </a:p>
        </p:txBody>
      </p:sp>
      <p:sp>
        <p:nvSpPr>
          <p:cNvPr id="3" name="Content Placeholder 2">
            <a:extLst>
              <a:ext uri="{FF2B5EF4-FFF2-40B4-BE49-F238E27FC236}">
                <a16:creationId xmlns:a16="http://schemas.microsoft.com/office/drawing/2014/main" id="{7881B88D-F141-AE6F-8244-249D89749140}"/>
              </a:ext>
            </a:extLst>
          </p:cNvPr>
          <p:cNvSpPr>
            <a:spLocks noGrp="1"/>
          </p:cNvSpPr>
          <p:nvPr>
            <p:ph idx="1"/>
          </p:nvPr>
        </p:nvSpPr>
        <p:spPr/>
        <p:txBody>
          <a:bodyPr/>
          <a:lstStyle/>
          <a:p>
            <a:r>
              <a:rPr lang="en-US" dirty="0"/>
              <a:t>Model inversion attacks aim to extract private data from a machine learning model</a:t>
            </a:r>
          </a:p>
          <a:p>
            <a:r>
              <a:rPr lang="en-US" dirty="0"/>
              <a:t>Specifically, the goal is to recover the private dataset used to train the model</a:t>
            </a:r>
          </a:p>
          <a:p>
            <a:r>
              <a:rPr lang="en-US" dirty="0"/>
              <a:t>To do this, attacks will generate random samples that describe the general shape of the training data</a:t>
            </a:r>
          </a:p>
          <a:p>
            <a:r>
              <a:rPr lang="en-US" dirty="0"/>
              <a:t>These samples will be fed into the model, allowing attackers to analyze the predictions</a:t>
            </a:r>
          </a:p>
          <a:p>
            <a:r>
              <a:rPr lang="en-US" dirty="0"/>
              <a:t>Using these predictions, attackers can recover more information about the training dataset</a:t>
            </a:r>
          </a:p>
        </p:txBody>
      </p:sp>
      <p:sp>
        <p:nvSpPr>
          <p:cNvPr id="4" name="Footer Placeholder 3">
            <a:extLst>
              <a:ext uri="{FF2B5EF4-FFF2-40B4-BE49-F238E27FC236}">
                <a16:creationId xmlns:a16="http://schemas.microsoft.com/office/drawing/2014/main" id="{2933CF60-073D-70D0-945F-DCE08CFF78F2}"/>
              </a:ext>
            </a:extLst>
          </p:cNvPr>
          <p:cNvSpPr>
            <a:spLocks noGrp="1"/>
          </p:cNvSpPr>
          <p:nvPr>
            <p:ph type="ftr" sz="quarter" idx="11"/>
          </p:nvPr>
        </p:nvSpPr>
        <p:spPr/>
        <p:txBody>
          <a:bodyPr/>
          <a:lstStyle/>
          <a:p>
            <a:r>
              <a:rPr lang="en-US" dirty="0"/>
              <a:t>Song, J., </a:t>
            </a:r>
            <a:r>
              <a:rPr lang="en-US" dirty="0" err="1"/>
              <a:t>Namiot</a:t>
            </a:r>
            <a:r>
              <a:rPr lang="en-US" dirty="0"/>
              <a:t>, D. (2023). A Survey of the Implementations of Model Inversion Attacks. In: Vishnevskiy, V.M., </a:t>
            </a:r>
            <a:r>
              <a:rPr lang="en-US" dirty="0" err="1"/>
              <a:t>Samouylov</a:t>
            </a:r>
            <a:r>
              <a:rPr lang="en-US" dirty="0"/>
              <a:t>, K.E., Kozyrev, D.V. (eds) Distributed Computer and Communication Networks. DCCN 2022. Communications in Computer and Information Science, vol 1748. Springer, Cham. https://doi.org/10.1007/978-3-031-30648-8_1</a:t>
            </a:r>
          </a:p>
          <a:p>
            <a:endParaRPr lang="en-US" dirty="0"/>
          </a:p>
        </p:txBody>
      </p:sp>
      <p:sp>
        <p:nvSpPr>
          <p:cNvPr id="5" name="Slide Number Placeholder 4">
            <a:extLst>
              <a:ext uri="{FF2B5EF4-FFF2-40B4-BE49-F238E27FC236}">
                <a16:creationId xmlns:a16="http://schemas.microsoft.com/office/drawing/2014/main" id="{8D9525A5-172B-9FCA-C66F-831C5BB419D5}"/>
              </a:ext>
            </a:extLst>
          </p:cNvPr>
          <p:cNvSpPr>
            <a:spLocks noGrp="1"/>
          </p:cNvSpPr>
          <p:nvPr>
            <p:ph type="sldNum" sz="quarter" idx="12"/>
          </p:nvPr>
        </p:nvSpPr>
        <p:spPr/>
        <p:txBody>
          <a:bodyPr/>
          <a:lstStyle/>
          <a:p>
            <a:fld id="{BFEBEB0A-9E3D-4B14-9782-E2AE3DA60D96}" type="slidenum">
              <a:rPr lang="en-US" smtClean="0"/>
              <a:pPr/>
              <a:t>10</a:t>
            </a:fld>
            <a:endParaRPr lang="en-US" dirty="0"/>
          </a:p>
        </p:txBody>
      </p:sp>
    </p:spTree>
    <p:extLst>
      <p:ext uri="{BB962C8B-B14F-4D97-AF65-F5344CB8AC3E}">
        <p14:creationId xmlns:p14="http://schemas.microsoft.com/office/powerpoint/2010/main" val="771975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609C-3CE1-C897-0B2D-629D9666B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385C8-A677-8D07-6974-7D313FE816F2}"/>
              </a:ext>
            </a:extLst>
          </p:cNvPr>
          <p:cNvSpPr>
            <a:spLocks noGrp="1"/>
          </p:cNvSpPr>
          <p:nvPr>
            <p:ph type="title"/>
          </p:nvPr>
        </p:nvSpPr>
        <p:spPr/>
        <p:txBody>
          <a:bodyPr/>
          <a:lstStyle/>
          <a:p>
            <a:r>
              <a:rPr lang="en-US" dirty="0"/>
              <a:t>What is differential privacy?</a:t>
            </a:r>
          </a:p>
        </p:txBody>
      </p:sp>
      <p:sp>
        <p:nvSpPr>
          <p:cNvPr id="3" name="Content Placeholder 2">
            <a:extLst>
              <a:ext uri="{FF2B5EF4-FFF2-40B4-BE49-F238E27FC236}">
                <a16:creationId xmlns:a16="http://schemas.microsoft.com/office/drawing/2014/main" id="{3A06DAF4-FDCE-5088-EE0F-DB4BFB17301A}"/>
              </a:ext>
            </a:extLst>
          </p:cNvPr>
          <p:cNvSpPr>
            <a:spLocks noGrp="1"/>
          </p:cNvSpPr>
          <p:nvPr>
            <p:ph idx="1"/>
          </p:nvPr>
        </p:nvSpPr>
        <p:spPr/>
        <p:txBody>
          <a:bodyPr/>
          <a:lstStyle/>
          <a:p>
            <a:r>
              <a:rPr lang="en-US" dirty="0"/>
              <a:t>Differential Privacy is a method used to mitigate data leakage from machine learning models</a:t>
            </a:r>
          </a:p>
          <a:p>
            <a:r>
              <a:rPr lang="en-US" dirty="0"/>
              <a:t>This method adds random noise to either the training data or the output of the model</a:t>
            </a:r>
          </a:p>
          <a:p>
            <a:r>
              <a:rPr lang="en-US" dirty="0"/>
              <a:t>This noise ensures that individual data points cannot be inferred by querying the model</a:t>
            </a:r>
          </a:p>
        </p:txBody>
      </p:sp>
      <p:sp>
        <p:nvSpPr>
          <p:cNvPr id="4" name="Footer Placeholder 3">
            <a:extLst>
              <a:ext uri="{FF2B5EF4-FFF2-40B4-BE49-F238E27FC236}">
                <a16:creationId xmlns:a16="http://schemas.microsoft.com/office/drawing/2014/main" id="{D86D0421-7376-44B1-4B38-1181EE2BEBE9}"/>
              </a:ext>
            </a:extLst>
          </p:cNvPr>
          <p:cNvSpPr>
            <a:spLocks noGrp="1"/>
          </p:cNvSpPr>
          <p:nvPr>
            <p:ph type="ftr" sz="quarter" idx="11"/>
          </p:nvPr>
        </p:nvSpPr>
        <p:spPr/>
        <p:txBody>
          <a:bodyPr/>
          <a:lstStyle/>
          <a:p>
            <a:r>
              <a:rPr lang="en-US" dirty="0"/>
              <a:t>Martin Abadi, Andy Chu, Ian Goodfellow, H. Brendan McMahan, Ilya Mironov, Kunal Talwar, and Li Zhang. 2016. Deep Learning with Differential Privacy. In Proceedings of the 2016 ACM SIGSAC Conference on Computer and Communications Security (CCS '16). Association for Computing Machinery, New York, NY, USA, 308–318. https://doi.org/10.1145/2976749.2978318</a:t>
            </a:r>
          </a:p>
          <a:p>
            <a:endParaRPr lang="en-US" dirty="0"/>
          </a:p>
        </p:txBody>
      </p:sp>
      <p:sp>
        <p:nvSpPr>
          <p:cNvPr id="5" name="Slide Number Placeholder 4">
            <a:extLst>
              <a:ext uri="{FF2B5EF4-FFF2-40B4-BE49-F238E27FC236}">
                <a16:creationId xmlns:a16="http://schemas.microsoft.com/office/drawing/2014/main" id="{B50F86B3-0105-DE61-1363-6FD954BCA9F7}"/>
              </a:ext>
            </a:extLst>
          </p:cNvPr>
          <p:cNvSpPr>
            <a:spLocks noGrp="1"/>
          </p:cNvSpPr>
          <p:nvPr>
            <p:ph type="sldNum" sz="quarter" idx="12"/>
          </p:nvPr>
        </p:nvSpPr>
        <p:spPr/>
        <p:txBody>
          <a:bodyPr/>
          <a:lstStyle/>
          <a:p>
            <a:fld id="{BFEBEB0A-9E3D-4B14-9782-E2AE3DA60D96}" type="slidenum">
              <a:rPr lang="en-US" smtClean="0"/>
              <a:pPr/>
              <a:t>11</a:t>
            </a:fld>
            <a:endParaRPr lang="en-US" dirty="0"/>
          </a:p>
        </p:txBody>
      </p:sp>
    </p:spTree>
    <p:extLst>
      <p:ext uri="{BB962C8B-B14F-4D97-AF65-F5344CB8AC3E}">
        <p14:creationId xmlns:p14="http://schemas.microsoft.com/office/powerpoint/2010/main" val="3266921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2F96-8DA3-346A-134F-AE4B3D422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46088-7F77-7DF4-CA5D-28DA44F4F857}"/>
              </a:ext>
            </a:extLst>
          </p:cNvPr>
          <p:cNvSpPr>
            <a:spLocks noGrp="1"/>
          </p:cNvSpPr>
          <p:nvPr>
            <p:ph type="title"/>
          </p:nvPr>
        </p:nvSpPr>
        <p:spPr/>
        <p:txBody>
          <a:bodyPr/>
          <a:lstStyle/>
          <a:p>
            <a:r>
              <a:rPr lang="en-US" dirty="0"/>
              <a:t>Model inversion in This workshop</a:t>
            </a:r>
          </a:p>
        </p:txBody>
      </p:sp>
      <p:sp>
        <p:nvSpPr>
          <p:cNvPr id="3" name="Content Placeholder 2">
            <a:extLst>
              <a:ext uri="{FF2B5EF4-FFF2-40B4-BE49-F238E27FC236}">
                <a16:creationId xmlns:a16="http://schemas.microsoft.com/office/drawing/2014/main" id="{359FA96A-E5C1-F64F-FC05-578E007F8A74}"/>
              </a:ext>
            </a:extLst>
          </p:cNvPr>
          <p:cNvSpPr>
            <a:spLocks noGrp="1"/>
          </p:cNvSpPr>
          <p:nvPr>
            <p:ph idx="1"/>
          </p:nvPr>
        </p:nvSpPr>
        <p:spPr/>
        <p:txBody>
          <a:bodyPr/>
          <a:lstStyle/>
          <a:p>
            <a:pPr marL="342900" indent="-342900">
              <a:buAutoNum type="arabicPeriod"/>
            </a:pPr>
            <a:r>
              <a:rPr lang="en-US" dirty="0"/>
              <a:t>Load and analyze the Iris dataset (simple classification dataset)</a:t>
            </a:r>
          </a:p>
          <a:p>
            <a:pPr marL="342900" indent="-342900">
              <a:buAutoNum type="arabicPeriod"/>
            </a:pPr>
            <a:r>
              <a:rPr lang="en-US" dirty="0"/>
              <a:t>Train a simple Decision Tree Classifier</a:t>
            </a:r>
          </a:p>
          <a:p>
            <a:pPr marL="342900" indent="-342900">
              <a:buAutoNum type="arabicPeriod"/>
            </a:pPr>
            <a:r>
              <a:rPr lang="en-US" dirty="0"/>
              <a:t>Use a Model Inversion attack to learn more about the petal length feature in the training data</a:t>
            </a:r>
          </a:p>
          <a:p>
            <a:pPr marL="342900" indent="-342900">
              <a:buAutoNum type="arabicPeriod"/>
            </a:pPr>
            <a:r>
              <a:rPr lang="en-US" dirty="0"/>
              <a:t>Use Differential Privacy on the model’s outputs to defend against these attacks</a:t>
            </a:r>
          </a:p>
          <a:p>
            <a:pPr marL="342900" indent="-342900">
              <a:buAutoNum type="arabicPeriod"/>
            </a:pPr>
            <a:r>
              <a:rPr lang="en-US" dirty="0"/>
              <a:t>Attempt to use a Model Inversion attack and analyze the results</a:t>
            </a:r>
          </a:p>
        </p:txBody>
      </p:sp>
      <p:sp>
        <p:nvSpPr>
          <p:cNvPr id="4" name="Footer Placeholder 3">
            <a:extLst>
              <a:ext uri="{FF2B5EF4-FFF2-40B4-BE49-F238E27FC236}">
                <a16:creationId xmlns:a16="http://schemas.microsoft.com/office/drawing/2014/main" id="{A8DF0C98-52F7-1C7F-3929-D518FF4B16A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0779B0-5377-B2B2-A154-65BC32ED2C16}"/>
              </a:ext>
            </a:extLst>
          </p:cNvPr>
          <p:cNvSpPr>
            <a:spLocks noGrp="1"/>
          </p:cNvSpPr>
          <p:nvPr>
            <p:ph type="sldNum" sz="quarter" idx="12"/>
          </p:nvPr>
        </p:nvSpPr>
        <p:spPr/>
        <p:txBody>
          <a:bodyPr/>
          <a:lstStyle/>
          <a:p>
            <a:fld id="{BFEBEB0A-9E3D-4B14-9782-E2AE3DA60D96}" type="slidenum">
              <a:rPr lang="en-US" smtClean="0"/>
              <a:pPr/>
              <a:t>12</a:t>
            </a:fld>
            <a:endParaRPr lang="en-US" dirty="0"/>
          </a:p>
        </p:txBody>
      </p:sp>
    </p:spTree>
    <p:extLst>
      <p:ext uri="{BB962C8B-B14F-4D97-AF65-F5344CB8AC3E}">
        <p14:creationId xmlns:p14="http://schemas.microsoft.com/office/powerpoint/2010/main" val="3359272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300F-5894-DA54-F4A6-CB4D0C407E0F}"/>
              </a:ext>
            </a:extLst>
          </p:cNvPr>
          <p:cNvSpPr>
            <a:spLocks noGrp="1"/>
          </p:cNvSpPr>
          <p:nvPr>
            <p:ph type="title"/>
          </p:nvPr>
        </p:nvSpPr>
        <p:spPr/>
        <p:txBody>
          <a:bodyPr/>
          <a:lstStyle/>
          <a:p>
            <a:r>
              <a:rPr lang="en-US" dirty="0"/>
              <a:t>Watermarking</a:t>
            </a:r>
          </a:p>
        </p:txBody>
      </p:sp>
      <p:sp>
        <p:nvSpPr>
          <p:cNvPr id="3" name="Text Placeholder 2">
            <a:extLst>
              <a:ext uri="{FF2B5EF4-FFF2-40B4-BE49-F238E27FC236}">
                <a16:creationId xmlns:a16="http://schemas.microsoft.com/office/drawing/2014/main" id="{B625656C-82BB-A41D-9D7C-9FE45B8A78D2}"/>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71576019-1666-C83A-96BD-81720F65F28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123EC41-F20C-B678-B7B9-89F52E89D0CE}"/>
              </a:ext>
            </a:extLst>
          </p:cNvPr>
          <p:cNvSpPr>
            <a:spLocks noGrp="1"/>
          </p:cNvSpPr>
          <p:nvPr>
            <p:ph type="sldNum" sz="quarter" idx="12"/>
          </p:nvPr>
        </p:nvSpPr>
        <p:spPr/>
        <p:txBody>
          <a:bodyPr/>
          <a:lstStyle/>
          <a:p>
            <a:fld id="{BFEBEB0A-9E3D-4B14-9782-E2AE3DA60D96}" type="slidenum">
              <a:rPr lang="en-US" smtClean="0"/>
              <a:pPr/>
              <a:t>13</a:t>
            </a:fld>
            <a:endParaRPr lang="en-US"/>
          </a:p>
        </p:txBody>
      </p:sp>
    </p:spTree>
    <p:extLst>
      <p:ext uri="{BB962C8B-B14F-4D97-AF65-F5344CB8AC3E}">
        <p14:creationId xmlns:p14="http://schemas.microsoft.com/office/powerpoint/2010/main" val="40140646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WPI_Gray">
  <a:themeElements>
    <a:clrScheme name="Custom 57">
      <a:dk1>
        <a:srgbClr val="FFFFFF"/>
      </a:dk1>
      <a:lt1>
        <a:srgbClr val="6D6D6D"/>
      </a:lt1>
      <a:dk2>
        <a:srgbClr val="000000"/>
      </a:dk2>
      <a:lt2>
        <a:srgbClr val="FFFFFF"/>
      </a:lt2>
      <a:accent1>
        <a:srgbClr val="AB192D"/>
      </a:accent1>
      <a:accent2>
        <a:srgbClr val="B2B7BB"/>
      </a:accent2>
      <a:accent3>
        <a:srgbClr val="2C6A8C"/>
      </a:accent3>
      <a:accent4>
        <a:srgbClr val="B7A079"/>
      </a:accent4>
      <a:accent5>
        <a:srgbClr val="46A0DC"/>
      </a:accent5>
      <a:accent6>
        <a:srgbClr val="D9CD95"/>
      </a:accent6>
      <a:hlink>
        <a:srgbClr val="46A0DC"/>
      </a:hlink>
      <a:folHlink>
        <a:srgbClr val="808DA9"/>
      </a:folHlink>
    </a:clrScheme>
    <a:fontScheme name="Verdana">
      <a:majorFont>
        <a:latin typeface="Verdana"/>
        <a:ea typeface=""/>
        <a:cs typeface=""/>
      </a:majorFont>
      <a:minorFont>
        <a:latin typeface="Verdana"/>
        <a:ea typeface=""/>
        <a:cs typeface=""/>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lumMod val="40000"/>
            <a:lumOff val="60000"/>
          </a:schemeClr>
        </a:solidFill>
        <a:ln w="12700" cap="sq" algn="ctr">
          <a:solidFill>
            <a:schemeClr val="tx1"/>
          </a:solidFill>
          <a:miter lim="800000"/>
          <a:headEnd/>
          <a:tailEnd/>
        </a:ln>
        <a:effectLst/>
      </a:spPr>
      <a:bodyPr wrap="none" rtlCol="0" anchor="ctr"/>
      <a:lstStyle>
        <a:defPPr algn="ctr">
          <a:defRPr sz="1600" dirty="0" smtClean="0">
            <a:solidFill>
              <a:schemeClr val="bg1"/>
            </a:solidFill>
            <a:latin typeface="+mn-lt"/>
          </a:defRPr>
        </a:defPPr>
      </a:lstStyle>
    </a:spDef>
    <a:lnDef>
      <a:spPr bwMode="auto">
        <a:solidFill>
          <a:schemeClr val="accent2"/>
        </a:solidFill>
        <a:ln w="19050" cap="sq" cmpd="sng" algn="ctr">
          <a:solidFill>
            <a:schemeClr val="tx1"/>
          </a:solidFill>
          <a:prstDash val="solid"/>
          <a:round/>
          <a:headEnd type="triangle" w="med" len="med"/>
          <a:tailEnd type="triangle" w="med" len="med"/>
        </a:ln>
        <a:effectLst/>
      </a:spPr>
      <a:bodyPr/>
      <a:lstStyle/>
    </a:lnDef>
    <a:txDef>
      <a:spPr>
        <a:noFill/>
      </a:spPr>
      <a:bodyPr wrap="none" rtlCol="0">
        <a:noAutofit/>
      </a:bodyPr>
      <a:lstStyle>
        <a:defPPr algn="ctr">
          <a:defRPr sz="1600" dirty="0" err="1" smtClean="0"/>
        </a:defPPr>
      </a:lstStyle>
    </a:txDef>
  </a:objectDefaults>
  <a:extraClrScheme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0776f9d-29d1-4d1f-85f1-fe6b0606df2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3246A679234D546B5651AB1B84C05D3" ma:contentTypeVersion="11" ma:contentTypeDescription="Create a new document." ma:contentTypeScope="" ma:versionID="8d4fd18703ae504d733a934ed6031828">
  <xsd:schema xmlns:xsd="http://www.w3.org/2001/XMLSchema" xmlns:xs="http://www.w3.org/2001/XMLSchema" xmlns:p="http://schemas.microsoft.com/office/2006/metadata/properties" xmlns:ns3="80776f9d-29d1-4d1f-85f1-fe6b0606df25" targetNamespace="http://schemas.microsoft.com/office/2006/metadata/properties" ma:root="true" ma:fieldsID="69f7a6e5737561963752bb19d98358e1" ns3:_="">
    <xsd:import namespace="80776f9d-29d1-4d1f-85f1-fe6b0606df2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776f9d-29d1-4d1f-85f1-fe6b0606df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0FB2C6-E2AC-4428-A8BB-969983EF2C29}">
  <ds:schemaRefs>
    <ds:schemaRef ds:uri="http://schemas.microsoft.com/sharepoint/v3/contenttype/forms"/>
  </ds:schemaRefs>
</ds:datastoreItem>
</file>

<file path=customXml/itemProps2.xml><?xml version="1.0" encoding="utf-8"?>
<ds:datastoreItem xmlns:ds="http://schemas.openxmlformats.org/officeDocument/2006/customXml" ds:itemID="{A4048A47-D098-4C28-800E-055A8CF51245}">
  <ds:schemaRefs>
    <ds:schemaRef ds:uri="80776f9d-29d1-4d1f-85f1-fe6b0606df25"/>
    <ds:schemaRef ds:uri="http://schemas.microsoft.com/office/2006/documentManagement/types"/>
    <ds:schemaRef ds:uri="http://purl.org/dc/dcmitype/"/>
    <ds:schemaRef ds:uri="http://www.w3.org/XML/1998/namespac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05AED1EE-F8CA-41B9-B40F-54931B3488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776f9d-29d1-4d1f-85f1-fe6b0606df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89c76f5-ca15-41f9-884b-55ec15a0672a}" enabled="0" method="" siteId="{589c76f5-ca15-41f9-884b-55ec15a0672a}" removed="1"/>
</clbl:labelList>
</file>

<file path=docProps/app.xml><?xml version="1.0" encoding="utf-8"?>
<Properties xmlns="http://schemas.openxmlformats.org/officeDocument/2006/extended-properties" xmlns:vt="http://schemas.openxmlformats.org/officeDocument/2006/docPropsVTypes">
  <Template>WPI_Theme</Template>
  <TotalTime>965</TotalTime>
  <Words>357</Words>
  <Application>Microsoft Office PowerPoint</Application>
  <PresentationFormat>Widescreen</PresentationFormat>
  <Paragraphs>30</Paragraphs>
  <Slides>13</Slides>
  <Notes>0</Notes>
  <HiddenSlides>0</HiddenSlides>
  <MMClips>0</MMClip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WPI_Gray</vt:lpstr>
      <vt:lpstr>Celestial</vt:lpstr>
      <vt:lpstr>Security OF ai development using Nairr</vt:lpstr>
      <vt:lpstr>Adversarial Images</vt:lpstr>
      <vt:lpstr>Adversarial attacks</vt:lpstr>
      <vt:lpstr>Adversarial attacks</vt:lpstr>
      <vt:lpstr>Adversarial Training and defense</vt:lpstr>
      <vt:lpstr>Adversarial Training and defense</vt:lpstr>
      <vt:lpstr>Adversarial Training and defense</vt:lpstr>
      <vt:lpstr>Adversarial Attacks, Training, and defense in this workshop</vt:lpstr>
      <vt:lpstr>Model Inversion and Differential Privacy</vt:lpstr>
      <vt:lpstr>What is model inversion?</vt:lpstr>
      <vt:lpstr>What is differential privacy?</vt:lpstr>
      <vt:lpstr>Model inversion in This workshop</vt:lpstr>
      <vt:lpstr>Watermarking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Dean, Cooper</dc:creator>
  <cp:lastModifiedBy>Dean, Cooper</cp:lastModifiedBy>
  <cp:revision>90</cp:revision>
  <dcterms:created xsi:type="dcterms:W3CDTF">2025-12-22T15:40:31Z</dcterms:created>
  <dcterms:modified xsi:type="dcterms:W3CDTF">2026-01-09T14:22:56Z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0x01010023246A679234D546B5651AB1B84C05D3</vt:lpwstr>
  </property>
</Properties>
</file>