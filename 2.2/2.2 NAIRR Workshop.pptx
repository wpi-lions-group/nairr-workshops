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1"/>
  </p:notesMasterIdLst>
  <p:handoutMasterIdLst>
    <p:handoutMasterId r:id="rId72"/>
  </p:handoutMasterIdLst>
  <p:sldIdLst>
    <p:sldId id="256" r:id="rId5"/>
    <p:sldId id="257" r:id="rId6"/>
    <p:sldId id="258" r:id="rId7"/>
    <p:sldId id="2186" r:id="rId8"/>
    <p:sldId id="2187" r:id="rId9"/>
    <p:sldId id="264" r:id="rId10"/>
    <p:sldId id="261" r:id="rId11"/>
    <p:sldId id="262" r:id="rId12"/>
    <p:sldId id="263" r:id="rId13"/>
    <p:sldId id="265" r:id="rId14"/>
    <p:sldId id="266" r:id="rId15"/>
    <p:sldId id="267" r:id="rId16"/>
    <p:sldId id="2132" r:id="rId17"/>
    <p:sldId id="260" r:id="rId18"/>
    <p:sldId id="2140" r:id="rId19"/>
    <p:sldId id="2147" r:id="rId20"/>
    <p:sldId id="2148" r:id="rId21"/>
    <p:sldId id="2178" r:id="rId22"/>
    <p:sldId id="2176" r:id="rId23"/>
    <p:sldId id="2179" r:id="rId24"/>
    <p:sldId id="2153" r:id="rId25"/>
    <p:sldId id="2167" r:id="rId26"/>
    <p:sldId id="2149" r:id="rId27"/>
    <p:sldId id="2180" r:id="rId28"/>
    <p:sldId id="2151" r:id="rId29"/>
    <p:sldId id="2150" r:id="rId30"/>
    <p:sldId id="2168" r:id="rId31"/>
    <p:sldId id="2154" r:id="rId32"/>
    <p:sldId id="2133" r:id="rId33"/>
    <p:sldId id="270" r:id="rId34"/>
    <p:sldId id="271" r:id="rId35"/>
    <p:sldId id="272" r:id="rId36"/>
    <p:sldId id="274" r:id="rId37"/>
    <p:sldId id="281" r:id="rId38"/>
    <p:sldId id="275" r:id="rId39"/>
    <p:sldId id="279" r:id="rId40"/>
    <p:sldId id="277" r:id="rId41"/>
    <p:sldId id="2169" r:id="rId42"/>
    <p:sldId id="2170" r:id="rId43"/>
    <p:sldId id="2171" r:id="rId44"/>
    <p:sldId id="2172" r:id="rId45"/>
    <p:sldId id="2173" r:id="rId46"/>
    <p:sldId id="2139" r:id="rId47"/>
    <p:sldId id="2163" r:id="rId48"/>
    <p:sldId id="2164" r:id="rId49"/>
    <p:sldId id="2143" r:id="rId50"/>
    <p:sldId id="2157" r:id="rId51"/>
    <p:sldId id="2166" r:id="rId52"/>
    <p:sldId id="2165" r:id="rId53"/>
    <p:sldId id="2156" r:id="rId54"/>
    <p:sldId id="2174" r:id="rId55"/>
    <p:sldId id="2175" r:id="rId56"/>
    <p:sldId id="2118" r:id="rId57"/>
    <p:sldId id="2162" r:id="rId58"/>
    <p:sldId id="2181" r:id="rId59"/>
    <p:sldId id="2159" r:id="rId60"/>
    <p:sldId id="2182" r:id="rId61"/>
    <p:sldId id="2183" r:id="rId62"/>
    <p:sldId id="2142" r:id="rId63"/>
    <p:sldId id="2160" r:id="rId64"/>
    <p:sldId id="2184" r:id="rId65"/>
    <p:sldId id="2185" r:id="rId66"/>
    <p:sldId id="2161" r:id="rId67"/>
    <p:sldId id="302" r:id="rId68"/>
    <p:sldId id="303" r:id="rId69"/>
    <p:sldId id="304" r:id="rId70"/>
  </p:sldIdLst>
  <p:sldSz cx="12192000" cy="6858000"/>
  <p:notesSz cx="7010400" cy="9296400"/>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2" orient="horz" pos="960" userDrawn="1">
          <p15:clr>
            <a:srgbClr val="A4A3A4"/>
          </p15:clr>
        </p15:guide>
        <p15:guide id="3" orient="horz" pos="3888" userDrawn="1">
          <p15:clr>
            <a:srgbClr val="A4A3A4"/>
          </p15:clr>
        </p15:guide>
        <p15:guide id="4" pos="456" userDrawn="1">
          <p15:clr>
            <a:srgbClr val="A4A3A4"/>
          </p15:clr>
        </p15:guide>
        <p15:guide id="5" pos="7296"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6569"/>
    <a:srgbClr val="5E7361"/>
    <a:srgbClr val="002E6D"/>
    <a:srgbClr val="272626"/>
    <a:srgbClr val="AB162B"/>
    <a:srgbClr val="B2B7BB"/>
    <a:srgbClr val="C78A3D"/>
    <a:srgbClr val="C4122F"/>
    <a:srgbClr val="343433"/>
    <a:srgbClr val="00B1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C89F1-4199-1FA5-C9B4-EE6369F3F29D}" v="1893" dt="2026-04-18T08:23:39.842"/>
    <p1510:client id="{64F12758-9E36-C99E-5446-5563DFEA42A5}" v="118" dt="2026-04-18T14:15:17.299"/>
    <p1510:client id="{7649013E-FB64-3C80-6141-CE36CF99C55E}" v="3" dt="2026-04-17T19:42:51.327"/>
    <p1510:client id="{9EFCC3B2-1C0D-5F16-4B2B-C4CF8124CDEB}" v="2" dt="2026-04-18T03:03:55.897"/>
    <p1510:client id="{A8DD6E54-4971-4F29-8ECD-E3F548A0DCF2}" v="2500" dt="2026-04-18T01:32:16.671"/>
    <p1510:client id="{E068A04D-7D92-BDBF-314B-1ADDF4E8BE3E}" v="52" dt="2026-04-18T02:43:29.843"/>
    <p1510:client id="{FB70BE21-9F31-8A8F-2573-04325B61DA5E}" v="9" dt="2026-04-17T17:22:45.7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20"/>
        <p:guide orient="horz" pos="960"/>
        <p:guide orient="horz" pos="3888"/>
        <p:guide pos="456"/>
        <p:guide pos="7296"/>
      </p:guideLst>
    </p:cSldViewPr>
  </p:slide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gs" Target="tags/tag1.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13_6402C916.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Privacy</c:v>
                </c:pt>
              </c:strCache>
            </c:strRef>
          </c:tx>
          <c:spPr>
            <a:ln w="28575" cap="rnd">
              <a:solidFill>
                <a:schemeClr val="accent1"/>
              </a:solidFill>
              <a:round/>
            </a:ln>
            <a:effectLst/>
          </c:spPr>
          <c:marker>
            <c:symbol val="none"/>
          </c:marker>
          <c:cat>
            <c:numRef>
              <c:f>Sheet1!$A$2:$A$7</c:f>
              <c:numCache>
                <c:formatCode>General</c:formatCode>
                <c:ptCount val="6"/>
                <c:pt idx="0">
                  <c:v>0.5</c:v>
                </c:pt>
                <c:pt idx="1">
                  <c:v>1</c:v>
                </c:pt>
                <c:pt idx="2">
                  <c:v>1.5</c:v>
                </c:pt>
                <c:pt idx="3">
                  <c:v>2</c:v>
                </c:pt>
                <c:pt idx="4">
                  <c:v>2.5</c:v>
                </c:pt>
                <c:pt idx="5">
                  <c:v>3</c:v>
                </c:pt>
              </c:numCache>
            </c:numRef>
          </c:cat>
          <c:val>
            <c:numRef>
              <c:f>Sheet1!$B$2:$B$7</c:f>
              <c:numCache>
                <c:formatCode>General</c:formatCode>
                <c:ptCount val="6"/>
                <c:pt idx="0">
                  <c:v>0.61</c:v>
                </c:pt>
                <c:pt idx="1">
                  <c:v>0.55000000000000004</c:v>
                </c:pt>
                <c:pt idx="2">
                  <c:v>0.49</c:v>
                </c:pt>
                <c:pt idx="3">
                  <c:v>0.43</c:v>
                </c:pt>
                <c:pt idx="4">
                  <c:v>0.37</c:v>
                </c:pt>
                <c:pt idx="5">
                  <c:v>0.31</c:v>
                </c:pt>
              </c:numCache>
            </c:numRef>
          </c:val>
          <c:smooth val="0"/>
          <c:extLst>
            <c:ext xmlns:c16="http://schemas.microsoft.com/office/drawing/2014/chart" uri="{C3380CC4-5D6E-409C-BE32-E72D297353CC}">
              <c16:uniqueId val="{00000000-27FB-40DD-B415-73485D565A8A}"/>
            </c:ext>
          </c:extLst>
        </c:ser>
        <c:ser>
          <c:idx val="1"/>
          <c:order val="1"/>
          <c:tx>
            <c:strRef>
              <c:f>Sheet1!$C$1</c:f>
              <c:strCache>
                <c:ptCount val="1"/>
                <c:pt idx="0">
                  <c:v>Accuracy</c:v>
                </c:pt>
              </c:strCache>
            </c:strRef>
          </c:tx>
          <c:spPr>
            <a:ln w="28575" cap="rnd">
              <a:solidFill>
                <a:schemeClr val="accent2"/>
              </a:solidFill>
              <a:round/>
            </a:ln>
            <a:effectLst/>
          </c:spPr>
          <c:marker>
            <c:symbol val="none"/>
          </c:marker>
          <c:cat>
            <c:numRef>
              <c:f>Sheet1!$A$2:$A$7</c:f>
              <c:numCache>
                <c:formatCode>General</c:formatCode>
                <c:ptCount val="6"/>
                <c:pt idx="0">
                  <c:v>0.5</c:v>
                </c:pt>
                <c:pt idx="1">
                  <c:v>1</c:v>
                </c:pt>
                <c:pt idx="2">
                  <c:v>1.5</c:v>
                </c:pt>
                <c:pt idx="3">
                  <c:v>2</c:v>
                </c:pt>
                <c:pt idx="4">
                  <c:v>2.5</c:v>
                </c:pt>
                <c:pt idx="5">
                  <c:v>3</c:v>
                </c:pt>
              </c:numCache>
            </c:numRef>
          </c:cat>
          <c:val>
            <c:numRef>
              <c:f>Sheet1!$C$2:$C$7</c:f>
              <c:numCache>
                <c:formatCode>General</c:formatCode>
                <c:ptCount val="6"/>
                <c:pt idx="0">
                  <c:v>0.42</c:v>
                </c:pt>
                <c:pt idx="1">
                  <c:v>0.47</c:v>
                </c:pt>
                <c:pt idx="2">
                  <c:v>0.5</c:v>
                </c:pt>
                <c:pt idx="3">
                  <c:v>0.57999999999999996</c:v>
                </c:pt>
                <c:pt idx="4">
                  <c:v>0.61</c:v>
                </c:pt>
                <c:pt idx="5">
                  <c:v>0.71</c:v>
                </c:pt>
              </c:numCache>
            </c:numRef>
          </c:val>
          <c:smooth val="0"/>
          <c:extLst>
            <c:ext xmlns:c16="http://schemas.microsoft.com/office/drawing/2014/chart" uri="{C3380CC4-5D6E-409C-BE32-E72D297353CC}">
              <c16:uniqueId val="{00000001-27FB-40DD-B415-73485D565A8A}"/>
            </c:ext>
          </c:extLst>
        </c:ser>
        <c:dLbls>
          <c:showLegendKey val="0"/>
          <c:showVal val="0"/>
          <c:showCatName val="0"/>
          <c:showSerName val="0"/>
          <c:showPercent val="0"/>
          <c:showBubbleSize val="0"/>
        </c:dLbls>
        <c:smooth val="0"/>
        <c:axId val="566588576"/>
        <c:axId val="566589536"/>
      </c:lineChart>
      <c:catAx>
        <c:axId val="5665885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6589536"/>
        <c:crosses val="autoZero"/>
        <c:auto val="1"/>
        <c:lblAlgn val="ctr"/>
        <c:lblOffset val="100"/>
        <c:noMultiLvlLbl val="0"/>
      </c:catAx>
      <c:valAx>
        <c:axId val="566589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6588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550449CD-19C8-44C0-A36B-1667EDB1312B}" type="datetimeFigureOut">
              <a:rPr lang="en-US" smtClean="0"/>
              <a:t>4/18/2026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5C7A2D6-6A74-4789-8A27-67CDFFE8E463}" type="slidenum">
              <a:rPr lang="en-US" smtClean="0"/>
              <a:t>‹#›</a:t>
            </a:fld>
            <a:endParaRPr lang="en-US"/>
          </a:p>
        </p:txBody>
      </p:sp>
    </p:spTree>
    <p:extLst>
      <p:ext uri="{BB962C8B-B14F-4D97-AF65-F5344CB8AC3E}">
        <p14:creationId xmlns:p14="http://schemas.microsoft.com/office/powerpoint/2010/main" val="2909079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14C511E-AA3B-43E3-B946-406AB5E4C4BB}" type="datetimeFigureOut">
              <a:rPr lang="en-US" smtClean="0"/>
              <a:pPr/>
              <a:t>4/18/2026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E4A049-8685-4352-9DC2-828F08FD542B}" type="slidenum">
              <a:rPr lang="en-US" smtClean="0"/>
              <a:pPr/>
              <a:t>‹#›</a:t>
            </a:fld>
            <a:endParaRPr lang="en-US"/>
          </a:p>
        </p:txBody>
      </p:sp>
    </p:spTree>
    <p:extLst>
      <p:ext uri="{BB962C8B-B14F-4D97-AF65-F5344CB8AC3E}">
        <p14:creationId xmlns:p14="http://schemas.microsoft.com/office/powerpoint/2010/main" val="544259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Good morning everyone,</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welcome to the NAIRR Workshop Series on Cybersecurity, Edge AI, and Autonomous Driving.</a:t>
            </a:r>
            <a:endParaRPr sz="1050">
              <a:solidFill>
                <a:srgbClr val="0E0E0E"/>
              </a:solidFill>
            </a:endParaRPr>
          </a:p>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6" name="Google Shape;6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96d4a5dad6_3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 name="Google Shape;73;g396d4a5dad6_3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Before we begin, let me briefly introduce our group.</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We are part of the Lions Group at Worcester Polytechnic Institute, led by Prof. Jun Dai and Prof. Xiaoyan Sun.</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Our group focuses on research in cybersecurity and AI.</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This work is a collaborative effort among members of the group.</a:t>
            </a:r>
            <a:endParaRPr sz="1050">
              <a:solidFill>
                <a:srgbClr val="0E0E0E"/>
              </a:solidFill>
            </a:endParaRPr>
          </a:p>
          <a:p>
            <a:pPr marL="0" lvl="0" indent="0" algn="l" rtl="0">
              <a:lnSpc>
                <a:spcPct val="100000"/>
              </a:lnSpc>
              <a:spcBef>
                <a:spcPts val="0"/>
              </a:spcBef>
              <a:spcAft>
                <a:spcPts val="0"/>
              </a:spcAft>
              <a:buSzPts val="1100"/>
              <a:buNone/>
            </a:pPr>
            <a:endParaRPr sz="1050">
              <a:solidFill>
                <a:srgbClr val="0E0E0E"/>
              </a:solidFill>
            </a:endParaRPr>
          </a:p>
        </p:txBody>
      </p:sp>
      <p:sp>
        <p:nvSpPr>
          <p:cNvPr id="80" name="Google Shape;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00F2CE-DAA7-4DEE-8EED-08DDA41E7B9E}" type="slidenum">
              <a:rPr lang="en-US"/>
              <a:pPr/>
              <a:t>4</a:t>
            </a:fld>
            <a:endParaRPr lang="en-US"/>
          </a:p>
        </p:txBody>
      </p:sp>
      <p:sp>
        <p:nvSpPr>
          <p:cNvPr id="602114" name="Rectangle 2"/>
          <p:cNvSpPr>
            <a:spLocks noGrp="1" noRot="1" noChangeAspect="1" noChangeArrowheads="1" noTextEdit="1"/>
          </p:cNvSpPr>
          <p:nvPr>
            <p:ph type="sldImg"/>
          </p:nvPr>
        </p:nvSpPr>
        <p:spPr>
          <a:xfrm>
            <a:off x="381000" y="685800"/>
            <a:ext cx="6096000" cy="3429000"/>
          </a:xfrm>
          <a:ln/>
        </p:spPr>
      </p:sp>
      <p:sp>
        <p:nvSpPr>
          <p:cNvPr id="602115" name="Rectangle 3"/>
          <p:cNvSpPr>
            <a:spLocks noGrp="1" noChangeArrowheads="1"/>
          </p:cNvSpPr>
          <p:nvPr>
            <p:ph type="body" idx="1"/>
          </p:nvPr>
        </p:nvSpPr>
        <p:spPr/>
        <p:txBody>
          <a:bodyPr/>
          <a:lstStyle/>
          <a:p>
            <a:r>
              <a:rPr lang="en-US"/>
              <a:t> </a:t>
            </a:r>
          </a:p>
        </p:txBody>
      </p:sp>
    </p:spTree>
    <p:extLst>
      <p:ext uri="{BB962C8B-B14F-4D97-AF65-F5344CB8AC3E}">
        <p14:creationId xmlns:p14="http://schemas.microsoft.com/office/powerpoint/2010/main" val="3878680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DA68-3052-BE1C-42A1-6CB90A1C0AA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209F247B-196C-F94A-D1CC-4062DE60F8A6}"/>
              </a:ext>
            </a:extLst>
          </p:cNvPr>
          <p:cNvSpPr>
            <a:spLocks noGrp="1" noChangeArrowheads="1"/>
          </p:cNvSpPr>
          <p:nvPr>
            <p:ph type="sldNum" sz="quarter" idx="5"/>
          </p:nvPr>
        </p:nvSpPr>
        <p:spPr>
          <a:ln/>
        </p:spPr>
        <p:txBody>
          <a:bodyPr/>
          <a:lstStyle/>
          <a:p>
            <a:fld id="{942E4EEC-242E-4699-A735-AC67A337252C}" type="slidenum">
              <a:rPr lang="en-US"/>
              <a:pPr/>
              <a:t>5</a:t>
            </a:fld>
            <a:endParaRPr lang="en-US"/>
          </a:p>
        </p:txBody>
      </p:sp>
      <p:sp>
        <p:nvSpPr>
          <p:cNvPr id="595970" name="Rectangle 2">
            <a:extLst>
              <a:ext uri="{FF2B5EF4-FFF2-40B4-BE49-F238E27FC236}">
                <a16:creationId xmlns:a16="http://schemas.microsoft.com/office/drawing/2014/main" id="{E6449426-E620-ED99-33D3-A62EF8261262}"/>
              </a:ext>
            </a:extLst>
          </p:cNvPr>
          <p:cNvSpPr>
            <a:spLocks noGrp="1" noRot="1" noChangeAspect="1" noChangeArrowheads="1" noTextEdit="1"/>
          </p:cNvSpPr>
          <p:nvPr>
            <p:ph type="sldImg"/>
          </p:nvPr>
        </p:nvSpPr>
        <p:spPr>
          <a:xfrm>
            <a:off x="381000" y="685800"/>
            <a:ext cx="6096000" cy="3429000"/>
          </a:xfrm>
          <a:ln/>
        </p:spPr>
      </p:sp>
      <p:sp>
        <p:nvSpPr>
          <p:cNvPr id="595971" name="Rectangle 3">
            <a:extLst>
              <a:ext uri="{FF2B5EF4-FFF2-40B4-BE49-F238E27FC236}">
                <a16:creationId xmlns:a16="http://schemas.microsoft.com/office/drawing/2014/main" id="{1C5742F0-BC6C-6CF3-3884-F46CFF9E71E9}"/>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02664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Change this slide to add examples</a:t>
            </a:r>
            <a:endParaRPr lang="en-US"/>
          </a:p>
        </p:txBody>
      </p:sp>
      <p:sp>
        <p:nvSpPr>
          <p:cNvPr id="4" name="Slide Number Placeholder 3"/>
          <p:cNvSpPr>
            <a:spLocks noGrp="1"/>
          </p:cNvSpPr>
          <p:nvPr>
            <p:ph type="sldNum" sz="quarter" idx="5"/>
          </p:nvPr>
        </p:nvSpPr>
        <p:spPr/>
        <p:txBody>
          <a:bodyPr/>
          <a:lstStyle/>
          <a:p>
            <a:fld id="{78E4A049-8685-4352-9DC2-828F08FD542B}" type="slidenum">
              <a:rPr lang="en-US" smtClean="0"/>
              <a:pPr/>
              <a:t>34</a:t>
            </a:fld>
            <a:endParaRPr lang="en-US"/>
          </a:p>
        </p:txBody>
      </p:sp>
    </p:spTree>
    <p:extLst>
      <p:ext uri="{BB962C8B-B14F-4D97-AF65-F5344CB8AC3E}">
        <p14:creationId xmlns:p14="http://schemas.microsoft.com/office/powerpoint/2010/main" val="2089327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78E4A049-8685-4352-9DC2-828F08FD542B}" type="slidenum">
              <a:rPr lang="en-US" smtClean="0"/>
              <a:pPr/>
              <a:t>37</a:t>
            </a:fld>
            <a:endParaRPr lang="en-US"/>
          </a:p>
        </p:txBody>
      </p:sp>
    </p:spTree>
    <p:extLst>
      <p:ext uri="{BB962C8B-B14F-4D97-AF65-F5344CB8AC3E}">
        <p14:creationId xmlns:p14="http://schemas.microsoft.com/office/powerpoint/2010/main" val="61638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Redo this slide for real model inversion</a:t>
            </a:r>
          </a:p>
        </p:txBody>
      </p:sp>
      <p:sp>
        <p:nvSpPr>
          <p:cNvPr id="4" name="Slide Number Placeholder 3"/>
          <p:cNvSpPr>
            <a:spLocks noGrp="1"/>
          </p:cNvSpPr>
          <p:nvPr>
            <p:ph type="sldNum" sz="quarter" idx="5"/>
          </p:nvPr>
        </p:nvSpPr>
        <p:spPr/>
        <p:txBody>
          <a:bodyPr/>
          <a:lstStyle/>
          <a:p>
            <a:fld id="{78E4A049-8685-4352-9DC2-828F08FD542B}" type="slidenum">
              <a:rPr lang="en-US" smtClean="0"/>
              <a:pPr/>
              <a:t>40</a:t>
            </a:fld>
            <a:endParaRPr lang="en-US"/>
          </a:p>
        </p:txBody>
      </p:sp>
    </p:spTree>
    <p:extLst>
      <p:ext uri="{BB962C8B-B14F-4D97-AF65-F5344CB8AC3E}">
        <p14:creationId xmlns:p14="http://schemas.microsoft.com/office/powerpoint/2010/main" val="4198708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A0BA-E867-21BB-94BF-2EC370399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DC5A1-56A9-BA83-E35C-1B1CA2F04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2BA32-3E33-572A-B0CC-0D17FE18E437}"/>
              </a:ext>
            </a:extLst>
          </p:cNvPr>
          <p:cNvSpPr>
            <a:spLocks noGrp="1"/>
          </p:cNvSpPr>
          <p:nvPr>
            <p:ph type="body" idx="1"/>
          </p:nvPr>
        </p:nvSpPr>
        <p:spPr/>
        <p:txBody>
          <a:bodyPr/>
          <a:lstStyle/>
          <a:p>
            <a:r>
              <a:rPr lang="en-US"/>
              <a:t>Cover for a full photo background</a:t>
            </a:r>
          </a:p>
        </p:txBody>
      </p:sp>
      <p:sp>
        <p:nvSpPr>
          <p:cNvPr id="4" name="Slide Number Placeholder 3">
            <a:extLst>
              <a:ext uri="{FF2B5EF4-FFF2-40B4-BE49-F238E27FC236}">
                <a16:creationId xmlns:a16="http://schemas.microsoft.com/office/drawing/2014/main" id="{2E57706A-220E-B084-4C21-7C97DB5905DC}"/>
              </a:ext>
            </a:extLst>
          </p:cNvPr>
          <p:cNvSpPr>
            <a:spLocks noGrp="1"/>
          </p:cNvSpPr>
          <p:nvPr>
            <p:ph type="sldNum" sz="quarter" idx="5"/>
          </p:nvPr>
        </p:nvSpPr>
        <p:spPr/>
        <p:txBody>
          <a:bodyPr/>
          <a:lstStyle/>
          <a:p>
            <a:fld id="{78E4A049-8685-4352-9DC2-828F08FD542B}" type="slidenum">
              <a:rPr lang="en-US" smtClean="0"/>
              <a:pPr/>
              <a:t>46</a:t>
            </a:fld>
            <a:endParaRPr lang="en-US"/>
          </a:p>
        </p:txBody>
      </p:sp>
    </p:spTree>
    <p:extLst>
      <p:ext uri="{BB962C8B-B14F-4D97-AF65-F5344CB8AC3E}">
        <p14:creationId xmlns:p14="http://schemas.microsoft.com/office/powerpoint/2010/main" val="2677961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Cover for a full photo background</a:t>
            </a:r>
          </a:p>
        </p:txBody>
      </p:sp>
      <p:sp>
        <p:nvSpPr>
          <p:cNvPr id="4" name="Slide Number Placeholder 3"/>
          <p:cNvSpPr>
            <a:spLocks noGrp="1"/>
          </p:cNvSpPr>
          <p:nvPr>
            <p:ph type="sldNum" sz="quarter" idx="5"/>
          </p:nvPr>
        </p:nvSpPr>
        <p:spPr/>
        <p:txBody>
          <a:bodyPr/>
          <a:lstStyle/>
          <a:p>
            <a:fld id="{78E4A049-8685-4352-9DC2-828F08FD542B}" type="slidenum">
              <a:rPr lang="en-US" smtClean="0"/>
              <a:pPr/>
              <a:t>53</a:t>
            </a:fld>
            <a:endParaRPr lang="en-US"/>
          </a:p>
        </p:txBody>
      </p:sp>
    </p:spTree>
    <p:extLst>
      <p:ext uri="{BB962C8B-B14F-4D97-AF65-F5344CB8AC3E}">
        <p14:creationId xmlns:p14="http://schemas.microsoft.com/office/powerpoint/2010/main" val="87605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5F46-02E4-1D15-1DCF-6802BA755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9E143-25B5-ED45-6DA1-50299D214A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4DBF4-D40B-CC92-D11F-4913AB0065D5}"/>
              </a:ext>
            </a:extLst>
          </p:cNvPr>
          <p:cNvSpPr>
            <a:spLocks noGrp="1"/>
          </p:cNvSpPr>
          <p:nvPr>
            <p:ph type="body" idx="1"/>
          </p:nvPr>
        </p:nvSpPr>
        <p:spPr/>
        <p:txBody>
          <a:bodyPr/>
          <a:lstStyle/>
          <a:p>
            <a:r>
              <a:rPr lang="en-US"/>
              <a:t>Cover for a full photo background</a:t>
            </a:r>
          </a:p>
        </p:txBody>
      </p:sp>
      <p:sp>
        <p:nvSpPr>
          <p:cNvPr id="4" name="Slide Number Placeholder 3">
            <a:extLst>
              <a:ext uri="{FF2B5EF4-FFF2-40B4-BE49-F238E27FC236}">
                <a16:creationId xmlns:a16="http://schemas.microsoft.com/office/drawing/2014/main" id="{9D9EBDCC-AB2D-C443-24B4-0630BE8FD255}"/>
              </a:ext>
            </a:extLst>
          </p:cNvPr>
          <p:cNvSpPr>
            <a:spLocks noGrp="1"/>
          </p:cNvSpPr>
          <p:nvPr>
            <p:ph type="sldNum" sz="quarter" idx="5"/>
          </p:nvPr>
        </p:nvSpPr>
        <p:spPr/>
        <p:txBody>
          <a:bodyPr/>
          <a:lstStyle/>
          <a:p>
            <a:fld id="{78E4A049-8685-4352-9DC2-828F08FD542B}" type="slidenum">
              <a:rPr lang="en-US" smtClean="0"/>
              <a:pPr/>
              <a:t>59</a:t>
            </a:fld>
            <a:endParaRPr lang="en-US"/>
          </a:p>
        </p:txBody>
      </p:sp>
    </p:spTree>
    <p:extLst>
      <p:ext uri="{BB962C8B-B14F-4D97-AF65-F5344CB8AC3E}">
        <p14:creationId xmlns:p14="http://schemas.microsoft.com/office/powerpoint/2010/main" val="3222650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7" name="Google Shape;5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d47a4565b8_28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5" name="Google Shape;555;g3d47a4565b8_28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3" name="Google Shape;563;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To conclude, fuzzing is fundamentally about exploring program behaviors, and dynamic execution is essential for that.</a:t>
            </a:r>
          </a:p>
          <a:p>
            <a:pPr marL="0" lvl="0" indent="0" algn="l" rtl="0">
              <a:lnSpc>
                <a:spcPct val="100000"/>
              </a:lnSpc>
              <a:spcBef>
                <a:spcPts val="0"/>
              </a:spcBef>
              <a:spcAft>
                <a:spcPts val="0"/>
              </a:spcAft>
              <a:buSzPts val="1400"/>
              <a:buNone/>
            </a:pPr>
            <a:endParaRPr lang="zh-CN"/>
          </a:p>
          <a:p>
            <a:pPr marL="0" lvl="0" indent="0" algn="l" rtl="0">
              <a:lnSpc>
                <a:spcPct val="100000"/>
              </a:lnSpc>
              <a:spcBef>
                <a:spcPts val="0"/>
              </a:spcBef>
              <a:spcAft>
                <a:spcPts val="0"/>
              </a:spcAft>
              <a:buSzPts val="1400"/>
              <a:buNone/>
            </a:pPr>
            <a:r>
              <a:rPr lang="zh-CN"/>
              <a:t>Large language models provide a new way to guide this exploration by generating and mutating inputs at the semantic level.</a:t>
            </a:r>
          </a:p>
          <a:p>
            <a:pPr marL="0" lvl="0" indent="0" algn="l" rtl="0">
              <a:lnSpc>
                <a:spcPct val="100000"/>
              </a:lnSpc>
              <a:spcBef>
                <a:spcPts val="0"/>
              </a:spcBef>
              <a:spcAft>
                <a:spcPts val="0"/>
              </a:spcAft>
              <a:buSzPts val="1400"/>
              <a:buNone/>
            </a:pPr>
            <a:endParaRPr lang="zh-CN"/>
          </a:p>
          <a:p>
            <a:pPr marL="0" lvl="0" indent="0" algn="l" rtl="0">
              <a:lnSpc>
                <a:spcPct val="100000"/>
              </a:lnSpc>
              <a:spcBef>
                <a:spcPts val="0"/>
              </a:spcBef>
              <a:spcAft>
                <a:spcPts val="0"/>
              </a:spcAft>
              <a:buSzPts val="1400"/>
              <a:buNone/>
            </a:pPr>
            <a:r>
              <a:rPr lang="zh-CN"/>
              <a:t>Our experiments show that this approach can lead to meaningful coverage improvements on real-world codebases.</a:t>
            </a:r>
          </a:p>
          <a:p>
            <a:pPr marL="0" lvl="0" indent="0" algn="l" rtl="0">
              <a:lnSpc>
                <a:spcPct val="100000"/>
              </a:lnSpc>
              <a:spcBef>
                <a:spcPts val="0"/>
              </a:spcBef>
              <a:spcAft>
                <a:spcPts val="0"/>
              </a:spcAft>
              <a:buSzPts val="1400"/>
              <a:buNone/>
            </a:pPr>
            <a:endParaRPr lang="zh-CN"/>
          </a:p>
          <a:p>
            <a:pPr marL="0" lvl="0" indent="0" algn="l" rtl="0">
              <a:lnSpc>
                <a:spcPct val="100000"/>
              </a:lnSpc>
              <a:spcBef>
                <a:spcPts val="0"/>
              </a:spcBef>
              <a:spcAft>
                <a:spcPts val="0"/>
              </a:spcAft>
              <a:buSzPts val="1400"/>
              <a:buNone/>
            </a:pPr>
            <a:r>
              <a:rPr lang="zh-CN"/>
              <a:t>Thank you for your attention. I’m happy to take any questions.</a:t>
            </a:r>
          </a:p>
        </p:txBody>
      </p:sp>
      <p:sp>
        <p:nvSpPr>
          <p:cNvPr id="564" name="Google Shape;564;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en-US" alt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66</a:t>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C2D0595-5770-C96B-A9D1-4F753B181841}"/>
              </a:ext>
            </a:extLst>
          </p:cNvPr>
          <p:cNvSpPr>
            <a:spLocks noGrp="1"/>
          </p:cNvSpPr>
          <p:nvPr>
            <p:ph type="ctrTitle" hasCustomPrompt="1"/>
          </p:nvPr>
        </p:nvSpPr>
        <p:spPr>
          <a:xfrm>
            <a:off x="609600" y="2836309"/>
            <a:ext cx="9144000" cy="1524001"/>
          </a:xfrm>
        </p:spPr>
        <p:txBody>
          <a:bodyPr>
            <a:noAutofit/>
          </a:bodyPr>
          <a:lstStyle>
            <a:lvl1pPr>
              <a:lnSpc>
                <a:spcPts val="4200"/>
              </a:lnSpc>
              <a:defRPr sz="4000" b="1"/>
            </a:lvl1pPr>
          </a:lstStyle>
          <a:p>
            <a:r>
              <a:rPr lang="en-US"/>
              <a:t>Click to edit</a:t>
            </a:r>
            <a:br>
              <a:rPr lang="en-US"/>
            </a:br>
            <a:r>
              <a:rPr lang="en-US"/>
              <a:t>Master title style</a:t>
            </a:r>
          </a:p>
        </p:txBody>
      </p:sp>
      <p:sp>
        <p:nvSpPr>
          <p:cNvPr id="9" name="Subtitle 2">
            <a:extLst>
              <a:ext uri="{FF2B5EF4-FFF2-40B4-BE49-F238E27FC236}">
                <a16:creationId xmlns:a16="http://schemas.microsoft.com/office/drawing/2014/main" id="{CE14D3FB-B92A-0140-6727-1A2CFC21BC24}"/>
              </a:ext>
            </a:extLst>
          </p:cNvPr>
          <p:cNvSpPr>
            <a:spLocks noGrp="1"/>
          </p:cNvSpPr>
          <p:nvPr>
            <p:ph type="subTitle" idx="1"/>
          </p:nvPr>
        </p:nvSpPr>
        <p:spPr>
          <a:xfrm>
            <a:off x="609600" y="4591957"/>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1" name="Picture 10" descr="A red letter w on a black background&#10;&#10;Description automatically generated">
            <a:extLst>
              <a:ext uri="{FF2B5EF4-FFF2-40B4-BE49-F238E27FC236}">
                <a16:creationId xmlns:a16="http://schemas.microsoft.com/office/drawing/2014/main" id="{16AFF59A-392A-B90D-90C3-40ADAD4A64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078" y="990600"/>
            <a:ext cx="3393650" cy="1097280"/>
          </a:xfrm>
          <a:prstGeom prst="rect">
            <a:avLst/>
          </a:prstGeom>
        </p:spPr>
      </p:pic>
      <p:pic>
        <p:nvPicPr>
          <p:cNvPr id="12" name="Picture 11" descr="A grey logo with text&#10;&#10;Description automatically generated">
            <a:extLst>
              <a:ext uri="{FF2B5EF4-FFF2-40B4-BE49-F238E27FC236}">
                <a16:creationId xmlns:a16="http://schemas.microsoft.com/office/drawing/2014/main" id="{4C1E441D-3FAC-DA36-0F0B-FE18196D7950}"/>
              </a:ext>
            </a:extLst>
          </p:cNvPr>
          <p:cNvPicPr>
            <a:picLocks noChangeAspect="1"/>
          </p:cNvPicPr>
          <p:nvPr userDrawn="1"/>
        </p:nvPicPr>
        <p:blipFill rotWithShape="1">
          <a:blip r:embed="rId3" cstate="print">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E98F50-F8E9-DD5D-F0F3-B177E05FE517}"/>
              </a:ext>
            </a:extLst>
          </p:cNvPr>
          <p:cNvSpPr/>
          <p:nvPr userDrawn="1"/>
        </p:nvSpPr>
        <p:spPr bwMode="auto">
          <a:xfrm>
            <a:off x="0" y="0"/>
            <a:ext cx="12192000" cy="1143000"/>
          </a:xfrm>
          <a:prstGeom prst="rect">
            <a:avLst/>
          </a:prstGeom>
          <a:solidFill>
            <a:srgbClr val="AB162B"/>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15" name="Subtitle 2">
            <a:extLst>
              <a:ext uri="{FF2B5EF4-FFF2-40B4-BE49-F238E27FC236}">
                <a16:creationId xmlns:a16="http://schemas.microsoft.com/office/drawing/2014/main" id="{5CB2D455-4055-7480-CBDA-FD85C71EBDFE}"/>
              </a:ext>
            </a:extLst>
          </p:cNvPr>
          <p:cNvSpPr>
            <a:spLocks noGrp="1"/>
          </p:cNvSpPr>
          <p:nvPr>
            <p:ph type="subTitle" idx="1"/>
          </p:nvPr>
        </p:nvSpPr>
        <p:spPr>
          <a:xfrm>
            <a:off x="609600" y="4024064"/>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6" name="Title 1">
            <a:extLst>
              <a:ext uri="{FF2B5EF4-FFF2-40B4-BE49-F238E27FC236}">
                <a16:creationId xmlns:a16="http://schemas.microsoft.com/office/drawing/2014/main" id="{B1045F49-C082-20D9-8199-F2BED577C03E}"/>
              </a:ext>
            </a:extLst>
          </p:cNvPr>
          <p:cNvSpPr>
            <a:spLocks noGrp="1"/>
          </p:cNvSpPr>
          <p:nvPr>
            <p:ph type="ctrTitle"/>
          </p:nvPr>
        </p:nvSpPr>
        <p:spPr>
          <a:xfrm>
            <a:off x="609600" y="2268416"/>
            <a:ext cx="9144000" cy="1524001"/>
          </a:xfrm>
        </p:spPr>
        <p:txBody>
          <a:bodyPr>
            <a:noAutofit/>
          </a:bodyPr>
          <a:lstStyle>
            <a:lvl1pPr>
              <a:lnSpc>
                <a:spcPts val="4200"/>
              </a:lnSpc>
              <a:defRPr sz="4000" b="1"/>
            </a:lvl1pPr>
          </a:lstStyle>
          <a:p>
            <a:r>
              <a:rPr lang="en-US"/>
              <a:t>Click to edit Master title style</a:t>
            </a:r>
          </a:p>
        </p:txBody>
      </p:sp>
      <p:sp>
        <p:nvSpPr>
          <p:cNvPr id="17" name="TextBox 16">
            <a:extLst>
              <a:ext uri="{FF2B5EF4-FFF2-40B4-BE49-F238E27FC236}">
                <a16:creationId xmlns:a16="http://schemas.microsoft.com/office/drawing/2014/main" id="{04792277-BE88-7783-1DD4-5085D63F96DC}"/>
              </a:ext>
            </a:extLst>
          </p:cNvPr>
          <p:cNvSpPr txBox="1"/>
          <p:nvPr userDrawn="1"/>
        </p:nvSpPr>
        <p:spPr>
          <a:xfrm>
            <a:off x="-433137" y="4360244"/>
            <a:ext cx="0" cy="0"/>
          </a:xfrm>
          <a:prstGeom prst="rect">
            <a:avLst/>
          </a:prstGeom>
          <a:noFill/>
        </p:spPr>
        <p:txBody>
          <a:bodyPr wrap="none" rtlCol="0">
            <a:noAutofit/>
          </a:bodyPr>
          <a:lstStyle/>
          <a:p>
            <a:pPr algn="ctr"/>
            <a:endParaRPr lang="en-US" sz="1600" err="1"/>
          </a:p>
        </p:txBody>
      </p:sp>
      <p:pic>
        <p:nvPicPr>
          <p:cNvPr id="18" name="Picture 17" descr="A grey logo with text&#10;&#10;Description automatically generated">
            <a:extLst>
              <a:ext uri="{FF2B5EF4-FFF2-40B4-BE49-F238E27FC236}">
                <a16:creationId xmlns:a16="http://schemas.microsoft.com/office/drawing/2014/main" id="{5376143C-E399-5AFE-BF3E-718BB884008D}"/>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r="10769" b="12037"/>
          <a:stretch/>
        </p:blipFill>
        <p:spPr>
          <a:xfrm>
            <a:off x="8112370" y="2836309"/>
            <a:ext cx="4079630" cy="4021691"/>
          </a:xfrm>
          <a:prstGeom prst="rect">
            <a:avLst/>
          </a:prstGeom>
        </p:spPr>
      </p:pic>
    </p:spTree>
    <p:extLst>
      <p:ext uri="{BB962C8B-B14F-4D97-AF65-F5344CB8AC3E}">
        <p14:creationId xmlns:p14="http://schemas.microsoft.com/office/powerpoint/2010/main" val="2237983437"/>
      </p:ext>
    </p:extLst>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524000"/>
            <a:ext cx="10972800" cy="4648200"/>
          </a:xfrm>
        </p:spPr>
        <p:txBody>
          <a:bodyPr/>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Tree>
    <p:extLst>
      <p:ext uri="{BB962C8B-B14F-4D97-AF65-F5344CB8AC3E}">
        <p14:creationId xmlns:p14="http://schemas.microsoft.com/office/powerpoint/2010/main" val="411570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4263325"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4263322"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8004175"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8004172" y="3971398"/>
            <a:ext cx="3578225" cy="2012950"/>
          </a:xfrm>
        </p:spPr>
        <p:txBody>
          <a:bodyPr/>
          <a:lstStyle/>
          <a:p>
            <a:endParaRPr lang="en-US"/>
          </a:p>
        </p:txBody>
      </p:sp>
    </p:spTree>
    <p:extLst>
      <p:ext uri="{BB962C8B-B14F-4D97-AF65-F5344CB8AC3E}">
        <p14:creationId xmlns:p14="http://schemas.microsoft.com/office/powerpoint/2010/main" val="420514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a:xfrm>
            <a:off x="609600" y="351367"/>
            <a:ext cx="10972800" cy="800100"/>
          </a:xfrm>
        </p:spPr>
        <p:txBody>
          <a:bodyPr anchor="b" anchorCtr="0"/>
          <a:lstStyle/>
          <a:p>
            <a:r>
              <a:rPr lang="en-US" noProof="1"/>
              <a:t>Click to edit Master title style</a:t>
            </a:r>
            <a:endParaRPr lang="en-US"/>
          </a:p>
        </p:txBody>
      </p:sp>
      <p:sp>
        <p:nvSpPr>
          <p:cNvPr id="14" name="Rectangle 6"/>
          <p:cNvSpPr>
            <a:spLocks noGrp="1"/>
          </p:cNvSpPr>
          <p:nvPr>
            <p:ph idx="1"/>
          </p:nvPr>
        </p:nvSpPr>
        <p:spPr>
          <a:xfrm>
            <a:off x="8091303" y="1795464"/>
            <a:ext cx="3491097"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19" name="Picture Placeholder 11">
            <a:extLst>
              <a:ext uri="{FF2B5EF4-FFF2-40B4-BE49-F238E27FC236}">
                <a16:creationId xmlns:a16="http://schemas.microsoft.com/office/drawing/2014/main" id="{951C2A1F-7537-C4F1-6B37-08D509AD72E4}"/>
              </a:ext>
            </a:extLst>
          </p:cNvPr>
          <p:cNvSpPr>
            <a:spLocks noGrp="1"/>
          </p:cNvSpPr>
          <p:nvPr>
            <p:ph type="pic" sz="quarter" idx="10"/>
          </p:nvPr>
        </p:nvSpPr>
        <p:spPr>
          <a:xfrm>
            <a:off x="609603" y="1799550"/>
            <a:ext cx="3578225" cy="2012950"/>
          </a:xfrm>
        </p:spPr>
        <p:txBody>
          <a:bodyPr/>
          <a:lstStyle/>
          <a:p>
            <a:endParaRPr lang="en-US"/>
          </a:p>
        </p:txBody>
      </p:sp>
      <p:sp>
        <p:nvSpPr>
          <p:cNvPr id="20" name="Picture Placeholder 11">
            <a:extLst>
              <a:ext uri="{FF2B5EF4-FFF2-40B4-BE49-F238E27FC236}">
                <a16:creationId xmlns:a16="http://schemas.microsoft.com/office/drawing/2014/main" id="{92441D67-6FBE-E495-29AB-89B669EEECE6}"/>
              </a:ext>
            </a:extLst>
          </p:cNvPr>
          <p:cNvSpPr>
            <a:spLocks noGrp="1"/>
          </p:cNvSpPr>
          <p:nvPr>
            <p:ph type="pic" sz="quarter" idx="11"/>
          </p:nvPr>
        </p:nvSpPr>
        <p:spPr>
          <a:xfrm>
            <a:off x="609600" y="3975484"/>
            <a:ext cx="3578225" cy="2012950"/>
          </a:xfrm>
        </p:spPr>
        <p:txBody>
          <a:bodyPr/>
          <a:lstStyle/>
          <a:p>
            <a:endParaRPr lang="en-US"/>
          </a:p>
        </p:txBody>
      </p:sp>
      <p:sp>
        <p:nvSpPr>
          <p:cNvPr id="21" name="Picture Placeholder 11">
            <a:extLst>
              <a:ext uri="{FF2B5EF4-FFF2-40B4-BE49-F238E27FC236}">
                <a16:creationId xmlns:a16="http://schemas.microsoft.com/office/drawing/2014/main" id="{EF4467BA-E9BA-5857-EAD9-76EDE888A9BB}"/>
              </a:ext>
            </a:extLst>
          </p:cNvPr>
          <p:cNvSpPr>
            <a:spLocks noGrp="1"/>
          </p:cNvSpPr>
          <p:nvPr>
            <p:ph type="pic" sz="quarter" idx="12"/>
          </p:nvPr>
        </p:nvSpPr>
        <p:spPr>
          <a:xfrm>
            <a:off x="4350453" y="1795464"/>
            <a:ext cx="3578225" cy="2012950"/>
          </a:xfrm>
        </p:spPr>
        <p:txBody>
          <a:bodyPr/>
          <a:lstStyle/>
          <a:p>
            <a:endParaRPr lang="en-US"/>
          </a:p>
        </p:txBody>
      </p:sp>
      <p:sp>
        <p:nvSpPr>
          <p:cNvPr id="22" name="Picture Placeholder 11">
            <a:extLst>
              <a:ext uri="{FF2B5EF4-FFF2-40B4-BE49-F238E27FC236}">
                <a16:creationId xmlns:a16="http://schemas.microsoft.com/office/drawing/2014/main" id="{EEE304F3-E1CB-FB4B-9A38-A4949DB383CE}"/>
              </a:ext>
            </a:extLst>
          </p:cNvPr>
          <p:cNvSpPr>
            <a:spLocks noGrp="1"/>
          </p:cNvSpPr>
          <p:nvPr>
            <p:ph type="pic" sz="quarter" idx="13"/>
          </p:nvPr>
        </p:nvSpPr>
        <p:spPr>
          <a:xfrm>
            <a:off x="4350450" y="3971398"/>
            <a:ext cx="3578225" cy="2012950"/>
          </a:xfrm>
        </p:spPr>
        <p:txBody>
          <a:bodyPr/>
          <a:lstStyle/>
          <a:p>
            <a:endParaRPr lang="en-US"/>
          </a:p>
        </p:txBody>
      </p:sp>
    </p:spTree>
    <p:extLst>
      <p:ext uri="{BB962C8B-B14F-4D97-AF65-F5344CB8AC3E}">
        <p14:creationId xmlns:p14="http://schemas.microsoft.com/office/powerpoint/2010/main" val="4076799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394052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609600"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4" name="Chart Placeholder 2">
            <a:extLst>
              <a:ext uri="{FF2B5EF4-FFF2-40B4-BE49-F238E27FC236}">
                <a16:creationId xmlns:a16="http://schemas.microsoft.com/office/drawing/2014/main" id="{6A0E3AFB-EF36-B596-ECF7-DB02E81A9E3B}"/>
              </a:ext>
            </a:extLst>
          </p:cNvPr>
          <p:cNvSpPr>
            <a:spLocks noGrp="1"/>
          </p:cNvSpPr>
          <p:nvPr>
            <p:ph type="chart" sz="quarter" idx="11"/>
          </p:nvPr>
        </p:nvSpPr>
        <p:spPr>
          <a:xfrm>
            <a:off x="5119688" y="1795463"/>
            <a:ext cx="6462712" cy="4189412"/>
          </a:xfrm>
        </p:spPr>
        <p:txBody>
          <a:bodyPr/>
          <a:lstStyle/>
          <a:p>
            <a:endParaRPr lang="en-US"/>
          </a:p>
        </p:txBody>
      </p:sp>
    </p:spTree>
    <p:extLst>
      <p:ext uri="{BB962C8B-B14F-4D97-AF65-F5344CB8AC3E}">
        <p14:creationId xmlns:p14="http://schemas.microsoft.com/office/powerpoint/2010/main" val="19288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a:p>
        </p:txBody>
      </p:sp>
      <p:sp>
        <p:nvSpPr>
          <p:cNvPr id="14" name="Rectangle 6"/>
          <p:cNvSpPr>
            <a:spLocks noGrp="1"/>
          </p:cNvSpPr>
          <p:nvPr>
            <p:ph idx="1"/>
          </p:nvPr>
        </p:nvSpPr>
        <p:spPr>
          <a:xfrm>
            <a:off x="7441096" y="1795464"/>
            <a:ext cx="4141304" cy="4189412"/>
          </a:xfrm>
        </p:spPr>
        <p:txBody>
          <a:bodyPr anchor="ctr" anchorCtr="0"/>
          <a:lstStyle>
            <a:lvl1pPr>
              <a:buClr>
                <a:srgbClr val="C4122F"/>
              </a:buClr>
              <a:defRPr/>
            </a:lvl1pPr>
            <a:lvl2pPr>
              <a:buClr>
                <a:srgbClr val="C4122F"/>
              </a:buClr>
              <a:defRPr/>
            </a:lvl2pPr>
            <a:lvl3pPr>
              <a:buClr>
                <a:srgbClr val="C4122F"/>
              </a:buClr>
              <a:defRPr/>
            </a:lvl3pPr>
            <a:lvl4pPr>
              <a:buClr>
                <a:srgbClr val="C4122F"/>
              </a:buClr>
              <a:defRPr/>
            </a:lvl4pPr>
            <a:lvl5pPr>
              <a:buClr>
                <a:srgbClr val="C4122F"/>
              </a:buClr>
              <a:defRPr/>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6" name="Picture Placeholder 4">
            <a:extLst>
              <a:ext uri="{FF2B5EF4-FFF2-40B4-BE49-F238E27FC236}">
                <a16:creationId xmlns:a16="http://schemas.microsoft.com/office/drawing/2014/main" id="{47B081FF-3E29-3D08-F3F2-FAADD0528EAA}"/>
              </a:ext>
            </a:extLst>
          </p:cNvPr>
          <p:cNvSpPr>
            <a:spLocks noGrp="1"/>
          </p:cNvSpPr>
          <p:nvPr>
            <p:ph type="pic" sz="quarter" idx="10"/>
          </p:nvPr>
        </p:nvSpPr>
        <p:spPr>
          <a:xfrm>
            <a:off x="609600" y="1795463"/>
            <a:ext cx="6462712" cy="4189412"/>
          </a:xfrm>
        </p:spPr>
        <p:txBody>
          <a:bodyPr/>
          <a:lstStyle/>
          <a:p>
            <a:endParaRPr lang="en-US"/>
          </a:p>
        </p:txBody>
      </p:sp>
    </p:spTree>
    <p:extLst>
      <p:ext uri="{BB962C8B-B14F-4D97-AF65-F5344CB8AC3E}">
        <p14:creationId xmlns:p14="http://schemas.microsoft.com/office/powerpoint/2010/main" val="3725992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99202" y="1527048"/>
            <a:ext cx="5283200" cy="4495800"/>
          </a:xfrm>
        </p:spPr>
        <p:txBody>
          <a:bodyPr>
            <a:normAutofit/>
          </a:bodyPr>
          <a:lstStyle>
            <a:lvl1pPr>
              <a:buClr>
                <a:srgbClr val="C4122F"/>
              </a:buClr>
              <a:defRPr sz="2400"/>
            </a:lvl1pPr>
            <a:lvl2pPr>
              <a:buClr>
                <a:srgbClr val="C4122F"/>
              </a:buClr>
              <a:defRPr sz="2000"/>
            </a:lvl2pPr>
            <a:lvl3pPr>
              <a:buClr>
                <a:srgbClr val="C4122F"/>
              </a:buClr>
              <a:defRPr sz="1800"/>
            </a:lvl3pPr>
            <a:lvl4pPr>
              <a:buClr>
                <a:srgbClr val="C4122F"/>
              </a:buClr>
              <a:defRPr sz="1600"/>
            </a:lvl4pPr>
            <a:lvl5pPr>
              <a:buClr>
                <a:srgbClr val="C4122F"/>
              </a:buCl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nSpc>
                <a:spcPts val="3800"/>
              </a:lnSpc>
              <a:defRPr/>
            </a:lvl1pPr>
          </a:lstStyle>
          <a:p>
            <a:r>
              <a:rPr lang="en-US"/>
              <a:t>Click to edit Master title style</a:t>
            </a:r>
            <a:br>
              <a:rPr lang="en-US"/>
            </a:br>
            <a:r>
              <a:rPr lang="en-US" err="1"/>
              <a:t>ghghghg</a:t>
            </a:r>
            <a:endParaRPr lang="en-US"/>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5"/>
            <a:ext cx="3560461" cy="2009669"/>
          </a:xfrm>
        </p:spPr>
        <p:txBody>
          <a:bodyPr/>
          <a:lstStyle/>
          <a:p>
            <a:endParaRPr lang="en-US"/>
          </a:p>
        </p:txBody>
      </p:sp>
      <p:sp>
        <p:nvSpPr>
          <p:cNvPr id="37" name="Picture Placeholder 29">
            <a:extLst>
              <a:ext uri="{FF2B5EF4-FFF2-40B4-BE49-F238E27FC236}">
                <a16:creationId xmlns:a16="http://schemas.microsoft.com/office/drawing/2014/main" id="{A49D9818-2411-344C-A56B-875F98535DE9}"/>
              </a:ext>
            </a:extLst>
          </p:cNvPr>
          <p:cNvSpPr>
            <a:spLocks noGrp="1"/>
          </p:cNvSpPr>
          <p:nvPr>
            <p:ph type="pic" sz="quarter" idx="11"/>
          </p:nvPr>
        </p:nvSpPr>
        <p:spPr>
          <a:xfrm>
            <a:off x="609599" y="3971259"/>
            <a:ext cx="3560461" cy="2009669"/>
          </a:xfrm>
        </p:spPr>
        <p:txBody>
          <a:bodyPr/>
          <a:lstStyle/>
          <a:p>
            <a:endParaRPr lang="en-US"/>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2009669"/>
          </a:xfrm>
        </p:spPr>
        <p:txBody>
          <a:bodyPr/>
          <a:lstStyle/>
          <a:p>
            <a:endParaRPr lang="en-US"/>
          </a:p>
        </p:txBody>
      </p:sp>
      <p:sp>
        <p:nvSpPr>
          <p:cNvPr id="39" name="Picture Placeholder 29">
            <a:extLst>
              <a:ext uri="{FF2B5EF4-FFF2-40B4-BE49-F238E27FC236}">
                <a16:creationId xmlns:a16="http://schemas.microsoft.com/office/drawing/2014/main" id="{563B06A4-C363-484C-CF9B-67A85842D4C8}"/>
              </a:ext>
            </a:extLst>
          </p:cNvPr>
          <p:cNvSpPr>
            <a:spLocks noGrp="1"/>
          </p:cNvSpPr>
          <p:nvPr>
            <p:ph type="pic" sz="quarter" idx="13"/>
          </p:nvPr>
        </p:nvSpPr>
        <p:spPr>
          <a:xfrm>
            <a:off x="4315768" y="3971259"/>
            <a:ext cx="3560461" cy="2009669"/>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2009669"/>
          </a:xfrm>
        </p:spPr>
        <p:txBody>
          <a:bodyPr/>
          <a:lstStyle/>
          <a:p>
            <a:endParaRPr lang="en-US"/>
          </a:p>
        </p:txBody>
      </p:sp>
      <p:sp>
        <p:nvSpPr>
          <p:cNvPr id="41" name="Picture Placeholder 29">
            <a:extLst>
              <a:ext uri="{FF2B5EF4-FFF2-40B4-BE49-F238E27FC236}">
                <a16:creationId xmlns:a16="http://schemas.microsoft.com/office/drawing/2014/main" id="{A98A7173-01A5-7FE9-3F9D-EB7D34B47BE4}"/>
              </a:ext>
            </a:extLst>
          </p:cNvPr>
          <p:cNvSpPr>
            <a:spLocks noGrp="1"/>
          </p:cNvSpPr>
          <p:nvPr>
            <p:ph type="pic" sz="quarter" idx="15"/>
          </p:nvPr>
        </p:nvSpPr>
        <p:spPr>
          <a:xfrm>
            <a:off x="8021939" y="3971259"/>
            <a:ext cx="3560461" cy="2009669"/>
          </a:xfrm>
        </p:spPr>
        <p:txBody>
          <a:bodyPr/>
          <a:lstStyle/>
          <a:p>
            <a:endParaRPr lang="en-US"/>
          </a:p>
        </p:txBody>
      </p:sp>
    </p:spTree>
    <p:extLst>
      <p:ext uri="{BB962C8B-B14F-4D97-AF65-F5344CB8AC3E}">
        <p14:creationId xmlns:p14="http://schemas.microsoft.com/office/powerpoint/2010/main" val="51941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3">
            <a:extLst>
              <a:ext uri="{FF2B5EF4-FFF2-40B4-BE49-F238E27FC236}">
                <a16:creationId xmlns:a16="http://schemas.microsoft.com/office/drawing/2014/main" id="{F515B657-5011-7715-8F0C-0D7032BCB695}"/>
              </a:ext>
            </a:extLst>
          </p:cNvPr>
          <p:cNvSpPr>
            <a:spLocks noGrp="1"/>
          </p:cNvSpPr>
          <p:nvPr>
            <p:ph type="tbl" sz="quarter" idx="16"/>
          </p:nvPr>
        </p:nvSpPr>
        <p:spPr>
          <a:xfrm>
            <a:off x="609599" y="1798638"/>
            <a:ext cx="10972801" cy="4183062"/>
          </a:xfrm>
        </p:spPr>
        <p:txBody>
          <a:bodyPr/>
          <a:lstStyle/>
          <a:p>
            <a:endParaRPr lang="en-US"/>
          </a:p>
        </p:txBody>
      </p:sp>
    </p:spTree>
    <p:extLst>
      <p:ext uri="{BB962C8B-B14F-4D97-AF65-F5344CB8AC3E}">
        <p14:creationId xmlns:p14="http://schemas.microsoft.com/office/powerpoint/2010/main" val="10426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6" name="Picture Placeholder 29">
            <a:extLst>
              <a:ext uri="{FF2B5EF4-FFF2-40B4-BE49-F238E27FC236}">
                <a16:creationId xmlns:a16="http://schemas.microsoft.com/office/drawing/2014/main" id="{5244BC53-C119-4F58-759C-4315A0FAAA39}"/>
              </a:ext>
            </a:extLst>
          </p:cNvPr>
          <p:cNvSpPr>
            <a:spLocks noGrp="1"/>
          </p:cNvSpPr>
          <p:nvPr>
            <p:ph type="pic" sz="quarter" idx="10"/>
          </p:nvPr>
        </p:nvSpPr>
        <p:spPr>
          <a:xfrm>
            <a:off x="609600" y="1798654"/>
            <a:ext cx="3560461" cy="3558535"/>
          </a:xfrm>
        </p:spPr>
        <p:txBody>
          <a:bodyPr/>
          <a:lstStyle/>
          <a:p>
            <a:endParaRPr lang="en-US"/>
          </a:p>
        </p:txBody>
      </p:sp>
      <p:sp>
        <p:nvSpPr>
          <p:cNvPr id="38" name="Picture Placeholder 29">
            <a:extLst>
              <a:ext uri="{FF2B5EF4-FFF2-40B4-BE49-F238E27FC236}">
                <a16:creationId xmlns:a16="http://schemas.microsoft.com/office/drawing/2014/main" id="{29DEAC6C-0B95-082C-AE64-4DB58BBA1ACE}"/>
              </a:ext>
            </a:extLst>
          </p:cNvPr>
          <p:cNvSpPr>
            <a:spLocks noGrp="1"/>
          </p:cNvSpPr>
          <p:nvPr>
            <p:ph type="pic" sz="quarter" idx="12"/>
          </p:nvPr>
        </p:nvSpPr>
        <p:spPr>
          <a:xfrm>
            <a:off x="4315769" y="1798655"/>
            <a:ext cx="3560461" cy="3558536"/>
          </a:xfrm>
        </p:spPr>
        <p:txBody>
          <a:bodyPr/>
          <a:lstStyle/>
          <a:p>
            <a:endParaRPr lang="en-US"/>
          </a:p>
        </p:txBody>
      </p:sp>
      <p:sp>
        <p:nvSpPr>
          <p:cNvPr id="40" name="Picture Placeholder 29">
            <a:extLst>
              <a:ext uri="{FF2B5EF4-FFF2-40B4-BE49-F238E27FC236}">
                <a16:creationId xmlns:a16="http://schemas.microsoft.com/office/drawing/2014/main" id="{6A31F244-4234-8398-1A92-815E5A2CE893}"/>
              </a:ext>
            </a:extLst>
          </p:cNvPr>
          <p:cNvSpPr>
            <a:spLocks noGrp="1"/>
          </p:cNvSpPr>
          <p:nvPr>
            <p:ph type="pic" sz="quarter" idx="14"/>
          </p:nvPr>
        </p:nvSpPr>
        <p:spPr>
          <a:xfrm>
            <a:off x="8021940" y="1798655"/>
            <a:ext cx="3560461" cy="3558536"/>
          </a:xfrm>
        </p:spPr>
        <p:txBody>
          <a:bodyPr/>
          <a:lstStyle/>
          <a:p>
            <a:endParaRPr lang="en-US"/>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6" name="TextBox 5">
            <a:extLst>
              <a:ext uri="{FF2B5EF4-FFF2-40B4-BE49-F238E27FC236}">
                <a16:creationId xmlns:a16="http://schemas.microsoft.com/office/drawing/2014/main" id="{48C3F6AF-61A0-8B1C-2E91-A2C94FBCE73C}"/>
              </a:ext>
            </a:extLst>
          </p:cNvPr>
          <p:cNvSpPr txBox="1"/>
          <p:nvPr userDrawn="1"/>
        </p:nvSpPr>
        <p:spPr>
          <a:xfrm>
            <a:off x="5327374" y="5396947"/>
            <a:ext cx="0" cy="0"/>
          </a:xfrm>
          <a:prstGeom prst="rect">
            <a:avLst/>
          </a:prstGeom>
          <a:noFill/>
        </p:spPr>
        <p:txBody>
          <a:bodyPr wrap="none" rtlCol="0">
            <a:noAutofit/>
          </a:bodyPr>
          <a:lstStyle/>
          <a:p>
            <a:pPr algn="ctr"/>
            <a:endParaRPr lang="en-US" sz="1600" err="1"/>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Tree>
    <p:extLst>
      <p:ext uri="{BB962C8B-B14F-4D97-AF65-F5344CB8AC3E}">
        <p14:creationId xmlns:p14="http://schemas.microsoft.com/office/powerpoint/2010/main" val="1530854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EFD57F27-E780-1D1A-2235-3359A9AD23EE}"/>
              </a:ext>
            </a:extLst>
          </p:cNvPr>
          <p:cNvSpPr>
            <a:spLocks noGrp="1"/>
          </p:cNvSpPr>
          <p:nvPr>
            <p:ph type="body" sz="quarter" idx="16"/>
          </p:nvPr>
        </p:nvSpPr>
        <p:spPr>
          <a:xfrm>
            <a:off x="609597"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7" name="Text Placeholder 3">
            <a:extLst>
              <a:ext uri="{FF2B5EF4-FFF2-40B4-BE49-F238E27FC236}">
                <a16:creationId xmlns:a16="http://schemas.microsoft.com/office/drawing/2014/main" id="{A23D2F03-3057-A9E9-4126-7CC220620444}"/>
              </a:ext>
            </a:extLst>
          </p:cNvPr>
          <p:cNvSpPr>
            <a:spLocks noGrp="1"/>
          </p:cNvSpPr>
          <p:nvPr>
            <p:ph type="body" sz="quarter" idx="17"/>
          </p:nvPr>
        </p:nvSpPr>
        <p:spPr>
          <a:xfrm>
            <a:off x="431576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8" name="Text Placeholder 3">
            <a:extLst>
              <a:ext uri="{FF2B5EF4-FFF2-40B4-BE49-F238E27FC236}">
                <a16:creationId xmlns:a16="http://schemas.microsoft.com/office/drawing/2014/main" id="{6A58090A-63C8-ADC3-23D8-A48EFF69A45F}"/>
              </a:ext>
            </a:extLst>
          </p:cNvPr>
          <p:cNvSpPr>
            <a:spLocks noGrp="1"/>
          </p:cNvSpPr>
          <p:nvPr>
            <p:ph type="body" sz="quarter" idx="18"/>
          </p:nvPr>
        </p:nvSpPr>
        <p:spPr>
          <a:xfrm>
            <a:off x="8021939" y="5396947"/>
            <a:ext cx="3560461" cy="693312"/>
          </a:xfrm>
        </p:spPr>
        <p:txBody>
          <a:bodyPr>
            <a:noAutofit/>
          </a:bodyPr>
          <a:lstStyle>
            <a:lvl1pPr marL="0" indent="0" algn="ctr">
              <a:buNone/>
              <a:defRPr sz="1600"/>
            </a:lvl1pPr>
            <a:lvl2pPr marL="320040" indent="0" algn="ctr">
              <a:buNone/>
              <a:defRPr sz="1400"/>
            </a:lvl2pPr>
            <a:lvl3pPr marL="640080" indent="0" algn="ctr">
              <a:buNone/>
              <a:defRPr sz="1400"/>
            </a:lvl3pPr>
            <a:lvl4pPr marL="914400" indent="0" algn="ctr">
              <a:buNone/>
              <a:defRPr sz="1400"/>
            </a:lvl4pPr>
            <a:lvl5pPr marL="1143000" indent="0" algn="ctr">
              <a:buNone/>
              <a:defRPr sz="1400"/>
            </a:lvl5pPr>
          </a:lstStyle>
          <a:p>
            <a:pPr lvl="0"/>
            <a:r>
              <a:rPr lang="en-US"/>
              <a:t>Click to edit Master text</a:t>
            </a:r>
          </a:p>
        </p:txBody>
      </p:sp>
      <p:sp>
        <p:nvSpPr>
          <p:cNvPr id="11" name="Chart Placeholder 4">
            <a:extLst>
              <a:ext uri="{FF2B5EF4-FFF2-40B4-BE49-F238E27FC236}">
                <a16:creationId xmlns:a16="http://schemas.microsoft.com/office/drawing/2014/main" id="{3EF471E3-3169-E47C-1DF5-8E18891BD311}"/>
              </a:ext>
            </a:extLst>
          </p:cNvPr>
          <p:cNvSpPr>
            <a:spLocks noGrp="1"/>
          </p:cNvSpPr>
          <p:nvPr>
            <p:ph type="chart" sz="quarter" idx="19"/>
          </p:nvPr>
        </p:nvSpPr>
        <p:spPr>
          <a:xfrm>
            <a:off x="609600" y="1798638"/>
            <a:ext cx="3560763" cy="3559175"/>
          </a:xfrm>
        </p:spPr>
        <p:txBody>
          <a:bodyPr/>
          <a:lstStyle/>
          <a:p>
            <a:endParaRPr lang="en-US"/>
          </a:p>
        </p:txBody>
      </p:sp>
      <p:sp>
        <p:nvSpPr>
          <p:cNvPr id="12" name="Chart Placeholder 4">
            <a:extLst>
              <a:ext uri="{FF2B5EF4-FFF2-40B4-BE49-F238E27FC236}">
                <a16:creationId xmlns:a16="http://schemas.microsoft.com/office/drawing/2014/main" id="{AFF3D7C2-5A28-5CCC-774B-408975F809D4}"/>
              </a:ext>
            </a:extLst>
          </p:cNvPr>
          <p:cNvSpPr>
            <a:spLocks noGrp="1"/>
          </p:cNvSpPr>
          <p:nvPr>
            <p:ph type="chart" sz="quarter" idx="20"/>
          </p:nvPr>
        </p:nvSpPr>
        <p:spPr>
          <a:xfrm>
            <a:off x="4315617" y="1798014"/>
            <a:ext cx="3560763" cy="3559175"/>
          </a:xfrm>
        </p:spPr>
        <p:txBody>
          <a:bodyPr/>
          <a:lstStyle/>
          <a:p>
            <a:endParaRPr lang="en-US"/>
          </a:p>
        </p:txBody>
      </p:sp>
      <p:sp>
        <p:nvSpPr>
          <p:cNvPr id="13" name="Chart Placeholder 4">
            <a:extLst>
              <a:ext uri="{FF2B5EF4-FFF2-40B4-BE49-F238E27FC236}">
                <a16:creationId xmlns:a16="http://schemas.microsoft.com/office/drawing/2014/main" id="{F4526561-6D13-A8BC-DFED-3E9422B381E9}"/>
              </a:ext>
            </a:extLst>
          </p:cNvPr>
          <p:cNvSpPr>
            <a:spLocks noGrp="1"/>
          </p:cNvSpPr>
          <p:nvPr>
            <p:ph type="chart" sz="quarter" idx="21"/>
          </p:nvPr>
        </p:nvSpPr>
        <p:spPr>
          <a:xfrm>
            <a:off x="8021634" y="1798014"/>
            <a:ext cx="3560763" cy="3559175"/>
          </a:xfrm>
        </p:spPr>
        <p:txBody>
          <a:bodyPr/>
          <a:lstStyle/>
          <a:p>
            <a:endParaRPr lang="en-US"/>
          </a:p>
        </p:txBody>
      </p:sp>
    </p:spTree>
    <p:extLst>
      <p:ext uri="{BB962C8B-B14F-4D97-AF65-F5344CB8AC3E}">
        <p14:creationId xmlns:p14="http://schemas.microsoft.com/office/powerpoint/2010/main" val="4021952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pic>
        <p:nvPicPr>
          <p:cNvPr id="6" name="Picture 5" descr="A grey logo with text&#10;&#10;Description automatically generated">
            <a:extLst>
              <a:ext uri="{FF2B5EF4-FFF2-40B4-BE49-F238E27FC236}">
                <a16:creationId xmlns:a16="http://schemas.microsoft.com/office/drawing/2014/main" id="{B1D05FE9-9C13-6D48-7303-93DC7F7D7A37}"/>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tretch/>
        </p:blipFill>
        <p:spPr>
          <a:xfrm>
            <a:off x="3810000" y="1143000"/>
            <a:ext cx="4572000" cy="4572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9523D3-F72C-A737-D43A-E356A52D838C}"/>
              </a:ext>
            </a:extLst>
          </p:cNvPr>
          <p:cNvSpPr/>
          <p:nvPr userDrawn="1"/>
        </p:nvSpPr>
        <p:spPr bwMode="auto">
          <a:xfrm>
            <a:off x="0" y="0"/>
            <a:ext cx="12192000" cy="6858000"/>
          </a:xfrm>
          <a:prstGeom prst="rect">
            <a:avLst/>
          </a:prstGeom>
          <a:solidFill>
            <a:schemeClr val="bg1"/>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Tree>
    <p:extLst>
      <p:ext uri="{BB962C8B-B14F-4D97-AF65-F5344CB8AC3E}">
        <p14:creationId xmlns:p14="http://schemas.microsoft.com/office/powerpoint/2010/main" val="31807474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Slide" type="title">
  <p:cSld name="2_Title Slide">
    <p:spTree>
      <p:nvGrpSpPr>
        <p:cNvPr id="1" name="Shape 12"/>
        <p:cNvGrpSpPr/>
        <p:nvPr/>
      </p:nvGrpSpPr>
      <p:grpSpPr>
        <a:xfrm>
          <a:off x="0" y="0"/>
          <a:ext cx="0" cy="0"/>
          <a:chOff x="0" y="0"/>
          <a:chExt cx="0" cy="0"/>
        </a:xfrm>
      </p:grpSpPr>
      <p:pic>
        <p:nvPicPr>
          <p:cNvPr id="13" name="Google Shape;13;p43" descr="greyWatermark-20.png"/>
          <p:cNvPicPr preferRelativeResize="0"/>
          <p:nvPr/>
        </p:nvPicPr>
        <p:blipFill rotWithShape="1">
          <a:blip r:embed="rId2"/>
          <a:srcRect/>
          <a:stretch>
            <a:fillRect/>
          </a:stretch>
        </p:blipFill>
        <p:spPr>
          <a:xfrm>
            <a:off x="7949093" y="2703303"/>
            <a:ext cx="4242908" cy="4154699"/>
          </a:xfrm>
          <a:prstGeom prst="rect">
            <a:avLst/>
          </a:prstGeom>
          <a:noFill/>
          <a:ln>
            <a:noFill/>
          </a:ln>
        </p:spPr>
      </p:pic>
      <p:sp>
        <p:nvSpPr>
          <p:cNvPr id="14" name="Google Shape;14;p43"/>
          <p:cNvSpPr txBox="1">
            <a:spLocks noGrp="1"/>
          </p:cNvSpPr>
          <p:nvPr>
            <p:ph type="ctrTitle"/>
          </p:nvPr>
        </p:nvSpPr>
        <p:spPr>
          <a:xfrm>
            <a:off x="609600" y="2537926"/>
            <a:ext cx="9144000" cy="1524001"/>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3000"/>
              <a:buFont typeface="Verdana" panose="020B0804030504040204"/>
              <a:buNone/>
              <a:defRPr sz="40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43"/>
          <p:cNvSpPr txBox="1">
            <a:spLocks noGrp="1"/>
          </p:cNvSpPr>
          <p:nvPr>
            <p:ph type="subTitle" idx="1"/>
          </p:nvPr>
        </p:nvSpPr>
        <p:spPr>
          <a:xfrm>
            <a:off x="609600" y="4293573"/>
            <a:ext cx="9144000" cy="990600"/>
          </a:xfrm>
          <a:prstGeom prst="rect">
            <a:avLst/>
          </a:prstGeom>
          <a:noFill/>
          <a:ln>
            <a:noFill/>
          </a:ln>
        </p:spPr>
        <p:txBody>
          <a:bodyPr spcFirstLastPara="1" wrap="square" lIns="68575" tIns="34275" rIns="68575" bIns="34275" anchor="t" anchorCtr="0">
            <a:normAutofit/>
          </a:bodyPr>
          <a:lstStyle>
            <a:lvl1pPr lvl="0" algn="l">
              <a:lnSpc>
                <a:spcPct val="95000"/>
              </a:lnSpc>
              <a:spcBef>
                <a:spcPts val="1200"/>
              </a:spcBef>
              <a:spcAft>
                <a:spcPts val="0"/>
              </a:spcAft>
              <a:buSzPts val="2100"/>
              <a:buNone/>
              <a:defRPr sz="2800">
                <a:solidFill>
                  <a:schemeClr val="dk2"/>
                </a:solidFill>
              </a:defRPr>
            </a:lvl1pPr>
            <a:lvl2pPr lvl="1" algn="ctr">
              <a:lnSpc>
                <a:spcPct val="95000"/>
              </a:lnSpc>
              <a:spcBef>
                <a:spcPts val="667"/>
              </a:spcBef>
              <a:spcAft>
                <a:spcPts val="0"/>
              </a:spcAft>
              <a:buSzPts val="1500"/>
              <a:buNone/>
              <a:defRPr>
                <a:solidFill>
                  <a:srgbClr val="888888"/>
                </a:solidFill>
              </a:defRPr>
            </a:lvl2pPr>
            <a:lvl3pPr lvl="2" algn="ctr">
              <a:lnSpc>
                <a:spcPct val="95000"/>
              </a:lnSpc>
              <a:spcBef>
                <a:spcPts val="667"/>
              </a:spcBef>
              <a:spcAft>
                <a:spcPts val="0"/>
              </a:spcAft>
              <a:buSzPts val="1400"/>
              <a:buNone/>
              <a:defRPr>
                <a:solidFill>
                  <a:srgbClr val="888888"/>
                </a:solidFill>
              </a:defRPr>
            </a:lvl3pPr>
            <a:lvl4pPr lvl="3" algn="ctr">
              <a:lnSpc>
                <a:spcPct val="95000"/>
              </a:lnSpc>
              <a:spcBef>
                <a:spcPts val="667"/>
              </a:spcBef>
              <a:spcAft>
                <a:spcPts val="0"/>
              </a:spcAft>
              <a:buSzPts val="1200"/>
              <a:buNone/>
              <a:defRPr>
                <a:solidFill>
                  <a:srgbClr val="888888"/>
                </a:solidFill>
              </a:defRPr>
            </a:lvl4pPr>
            <a:lvl5pPr lvl="4" algn="ctr">
              <a:lnSpc>
                <a:spcPct val="95000"/>
              </a:lnSpc>
              <a:spcBef>
                <a:spcPts val="667"/>
              </a:spcBef>
              <a:spcAft>
                <a:spcPts val="0"/>
              </a:spcAft>
              <a:buSzPts val="1200"/>
              <a:buNone/>
              <a:defRPr>
                <a:solidFill>
                  <a:srgbClr val="888888"/>
                </a:solidFill>
              </a:defRPr>
            </a:lvl5pPr>
            <a:lvl6pPr lvl="5" algn="ctr">
              <a:lnSpc>
                <a:spcPct val="100000"/>
              </a:lnSpc>
              <a:spcBef>
                <a:spcPts val="267"/>
              </a:spcBef>
              <a:spcAft>
                <a:spcPts val="0"/>
              </a:spcAft>
              <a:buSzPts val="1200"/>
              <a:buNone/>
              <a:defRPr>
                <a:solidFill>
                  <a:srgbClr val="888888"/>
                </a:solidFill>
              </a:defRPr>
            </a:lvl6pPr>
            <a:lvl7pPr lvl="6" algn="ctr">
              <a:lnSpc>
                <a:spcPct val="100000"/>
              </a:lnSpc>
              <a:spcBef>
                <a:spcPts val="267"/>
              </a:spcBef>
              <a:spcAft>
                <a:spcPts val="0"/>
              </a:spcAft>
              <a:buSzPts val="1200"/>
              <a:buNone/>
              <a:defRPr>
                <a:solidFill>
                  <a:srgbClr val="888888"/>
                </a:solidFill>
              </a:defRPr>
            </a:lvl7pPr>
            <a:lvl8pPr lvl="7" algn="ctr">
              <a:lnSpc>
                <a:spcPct val="100000"/>
              </a:lnSpc>
              <a:spcBef>
                <a:spcPts val="267"/>
              </a:spcBef>
              <a:spcAft>
                <a:spcPts val="0"/>
              </a:spcAft>
              <a:buSzPts val="1200"/>
              <a:buNone/>
              <a:defRPr>
                <a:solidFill>
                  <a:srgbClr val="888888"/>
                </a:solidFill>
              </a:defRPr>
            </a:lvl8pPr>
            <a:lvl9pPr lvl="8" algn="ctr">
              <a:lnSpc>
                <a:spcPct val="100000"/>
              </a:lnSpc>
              <a:spcBef>
                <a:spcPts val="267"/>
              </a:spcBef>
              <a:spcAft>
                <a:spcPts val="0"/>
              </a:spcAft>
              <a:buSzPts val="1200"/>
              <a:buNone/>
              <a:defRPr>
                <a:solidFill>
                  <a:srgbClr val="888888"/>
                </a:solidFill>
              </a:defRPr>
            </a:lvl9pPr>
          </a:lstStyle>
          <a:p>
            <a:endParaRPr/>
          </a:p>
        </p:txBody>
      </p:sp>
      <p:pic>
        <p:nvPicPr>
          <p:cNvPr id="16" name="Google Shape;16;p43"/>
          <p:cNvPicPr preferRelativeResize="0"/>
          <p:nvPr/>
        </p:nvPicPr>
        <p:blipFill rotWithShape="1">
          <a:blip r:embed="rId3"/>
          <a:srcRect/>
          <a:stretch>
            <a:fillRect/>
          </a:stretch>
        </p:blipFill>
        <p:spPr>
          <a:xfrm>
            <a:off x="711201" y="990601"/>
            <a:ext cx="3383439" cy="1096875"/>
          </a:xfrm>
          <a:prstGeom prst="rect">
            <a:avLst/>
          </a:prstGeom>
          <a:noFill/>
          <a:ln>
            <a:noFill/>
          </a:ln>
        </p:spPr>
      </p:pic>
    </p:spTree>
    <p:extLst>
      <p:ext uri="{BB962C8B-B14F-4D97-AF65-F5344CB8AC3E}">
        <p14:creationId xmlns:p14="http://schemas.microsoft.com/office/powerpoint/2010/main" val="3994212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2">
  <p:cSld name="Title2">
    <p:bg>
      <p:bgPr>
        <a:solidFill>
          <a:srgbClr val="AB192D"/>
        </a:solidFill>
        <a:effectLst/>
      </p:bgPr>
    </p:bg>
    <p:spTree>
      <p:nvGrpSpPr>
        <p:cNvPr id="1" name="Shape 22"/>
        <p:cNvGrpSpPr/>
        <p:nvPr/>
      </p:nvGrpSpPr>
      <p:grpSpPr>
        <a:xfrm>
          <a:off x="0" y="0"/>
          <a:ext cx="0" cy="0"/>
          <a:chOff x="0" y="0"/>
          <a:chExt cx="0" cy="0"/>
        </a:xfrm>
      </p:grpSpPr>
      <p:pic>
        <p:nvPicPr>
          <p:cNvPr id="23" name="Google Shape;23;p45"/>
          <p:cNvPicPr preferRelativeResize="0"/>
          <p:nvPr/>
        </p:nvPicPr>
        <p:blipFill rotWithShape="1">
          <a:blip r:embed="rId2"/>
          <a:srcRect/>
          <a:stretch>
            <a:fillRect/>
          </a:stretch>
        </p:blipFill>
        <p:spPr>
          <a:xfrm>
            <a:off x="711200" y="990602"/>
            <a:ext cx="3383437" cy="1105313"/>
          </a:xfrm>
          <a:prstGeom prst="rect">
            <a:avLst/>
          </a:prstGeom>
          <a:noFill/>
          <a:ln>
            <a:noFill/>
          </a:ln>
        </p:spPr>
      </p:pic>
      <p:pic>
        <p:nvPicPr>
          <p:cNvPr id="24" name="Google Shape;24;p45"/>
          <p:cNvPicPr preferRelativeResize="0"/>
          <p:nvPr/>
        </p:nvPicPr>
        <p:blipFill rotWithShape="1">
          <a:blip r:embed="rId3"/>
          <a:srcRect/>
          <a:stretch>
            <a:fillRect/>
          </a:stretch>
        </p:blipFill>
        <p:spPr>
          <a:xfrm>
            <a:off x="7931184" y="2693987"/>
            <a:ext cx="4260817" cy="4172236"/>
          </a:xfrm>
          <a:prstGeom prst="rect">
            <a:avLst/>
          </a:prstGeom>
          <a:noFill/>
          <a:ln>
            <a:noFill/>
          </a:ln>
        </p:spPr>
      </p:pic>
      <p:sp>
        <p:nvSpPr>
          <p:cNvPr id="25" name="Google Shape;25;p45"/>
          <p:cNvSpPr txBox="1">
            <a:spLocks noGrp="1"/>
          </p:cNvSpPr>
          <p:nvPr>
            <p:ph type="ctrTitle"/>
          </p:nvPr>
        </p:nvSpPr>
        <p:spPr>
          <a:xfrm>
            <a:off x="609600" y="2537926"/>
            <a:ext cx="9144000" cy="1524001"/>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chemeClr val="lt1"/>
              </a:buClr>
              <a:buSzPts val="3000"/>
              <a:buFont typeface="Verdana" panose="020B0804030504040204"/>
              <a:buNone/>
              <a:defRPr sz="4000" b="1">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 name="Google Shape;26;p45"/>
          <p:cNvSpPr txBox="1">
            <a:spLocks noGrp="1"/>
          </p:cNvSpPr>
          <p:nvPr>
            <p:ph type="subTitle" idx="1"/>
          </p:nvPr>
        </p:nvSpPr>
        <p:spPr>
          <a:xfrm>
            <a:off x="609600" y="4293573"/>
            <a:ext cx="9144000" cy="990600"/>
          </a:xfrm>
          <a:prstGeom prst="rect">
            <a:avLst/>
          </a:prstGeom>
          <a:noFill/>
          <a:ln>
            <a:noFill/>
          </a:ln>
        </p:spPr>
        <p:txBody>
          <a:bodyPr spcFirstLastPara="1" wrap="square" lIns="68575" tIns="34275" rIns="68575" bIns="34275" anchor="t" anchorCtr="0">
            <a:normAutofit/>
          </a:bodyPr>
          <a:lstStyle>
            <a:lvl1pPr lvl="0" algn="l">
              <a:lnSpc>
                <a:spcPct val="95000"/>
              </a:lnSpc>
              <a:spcBef>
                <a:spcPts val="1200"/>
              </a:spcBef>
              <a:spcAft>
                <a:spcPts val="0"/>
              </a:spcAft>
              <a:buSzPts val="2100"/>
              <a:buNone/>
              <a:defRPr sz="2800">
                <a:solidFill>
                  <a:schemeClr val="lt1"/>
                </a:solidFill>
              </a:defRPr>
            </a:lvl1pPr>
            <a:lvl2pPr lvl="1" algn="ctr">
              <a:lnSpc>
                <a:spcPct val="95000"/>
              </a:lnSpc>
              <a:spcBef>
                <a:spcPts val="667"/>
              </a:spcBef>
              <a:spcAft>
                <a:spcPts val="0"/>
              </a:spcAft>
              <a:buSzPts val="1500"/>
              <a:buNone/>
              <a:defRPr>
                <a:solidFill>
                  <a:srgbClr val="888888"/>
                </a:solidFill>
              </a:defRPr>
            </a:lvl2pPr>
            <a:lvl3pPr lvl="2" algn="ctr">
              <a:lnSpc>
                <a:spcPct val="95000"/>
              </a:lnSpc>
              <a:spcBef>
                <a:spcPts val="667"/>
              </a:spcBef>
              <a:spcAft>
                <a:spcPts val="0"/>
              </a:spcAft>
              <a:buSzPts val="1400"/>
              <a:buNone/>
              <a:defRPr>
                <a:solidFill>
                  <a:srgbClr val="888888"/>
                </a:solidFill>
              </a:defRPr>
            </a:lvl3pPr>
            <a:lvl4pPr lvl="3" algn="ctr">
              <a:lnSpc>
                <a:spcPct val="95000"/>
              </a:lnSpc>
              <a:spcBef>
                <a:spcPts val="667"/>
              </a:spcBef>
              <a:spcAft>
                <a:spcPts val="0"/>
              </a:spcAft>
              <a:buSzPts val="1200"/>
              <a:buNone/>
              <a:defRPr>
                <a:solidFill>
                  <a:srgbClr val="888888"/>
                </a:solidFill>
              </a:defRPr>
            </a:lvl4pPr>
            <a:lvl5pPr lvl="4" algn="ctr">
              <a:lnSpc>
                <a:spcPct val="95000"/>
              </a:lnSpc>
              <a:spcBef>
                <a:spcPts val="667"/>
              </a:spcBef>
              <a:spcAft>
                <a:spcPts val="0"/>
              </a:spcAft>
              <a:buSzPts val="1200"/>
              <a:buNone/>
              <a:defRPr>
                <a:solidFill>
                  <a:srgbClr val="888888"/>
                </a:solidFill>
              </a:defRPr>
            </a:lvl5pPr>
            <a:lvl6pPr lvl="5" algn="ctr">
              <a:lnSpc>
                <a:spcPct val="100000"/>
              </a:lnSpc>
              <a:spcBef>
                <a:spcPts val="267"/>
              </a:spcBef>
              <a:spcAft>
                <a:spcPts val="0"/>
              </a:spcAft>
              <a:buSzPts val="1200"/>
              <a:buNone/>
              <a:defRPr>
                <a:solidFill>
                  <a:srgbClr val="888888"/>
                </a:solidFill>
              </a:defRPr>
            </a:lvl6pPr>
            <a:lvl7pPr lvl="6" algn="ctr">
              <a:lnSpc>
                <a:spcPct val="100000"/>
              </a:lnSpc>
              <a:spcBef>
                <a:spcPts val="267"/>
              </a:spcBef>
              <a:spcAft>
                <a:spcPts val="0"/>
              </a:spcAft>
              <a:buSzPts val="1200"/>
              <a:buNone/>
              <a:defRPr>
                <a:solidFill>
                  <a:srgbClr val="888888"/>
                </a:solidFill>
              </a:defRPr>
            </a:lvl7pPr>
            <a:lvl8pPr lvl="7" algn="ctr">
              <a:lnSpc>
                <a:spcPct val="100000"/>
              </a:lnSpc>
              <a:spcBef>
                <a:spcPts val="267"/>
              </a:spcBef>
              <a:spcAft>
                <a:spcPts val="0"/>
              </a:spcAft>
              <a:buSzPts val="1200"/>
              <a:buNone/>
              <a:defRPr>
                <a:solidFill>
                  <a:srgbClr val="888888"/>
                </a:solidFill>
              </a:defRPr>
            </a:lvl8pPr>
            <a:lvl9pPr lvl="8" algn="ctr">
              <a:lnSpc>
                <a:spcPct val="100000"/>
              </a:lnSpc>
              <a:spcBef>
                <a:spcPts val="267"/>
              </a:spcBef>
              <a:spcAft>
                <a:spcPts val="0"/>
              </a:spcAft>
              <a:buSzPts val="1200"/>
              <a:buNone/>
              <a:defRPr>
                <a:solidFill>
                  <a:srgbClr val="888888"/>
                </a:solidFill>
              </a:defRPr>
            </a:lvl9pPr>
          </a:lstStyle>
          <a:p>
            <a:endParaRPr/>
          </a:p>
        </p:txBody>
      </p:sp>
    </p:spTree>
    <p:extLst>
      <p:ext uri="{BB962C8B-B14F-4D97-AF65-F5344CB8AC3E}">
        <p14:creationId xmlns:p14="http://schemas.microsoft.com/office/powerpoint/2010/main" val="266320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12192000" cy="1143000"/>
          </a:xfrm>
          <a:prstGeom prst="rect">
            <a:avLst/>
          </a:prstGeom>
          <a:solidFill>
            <a:schemeClr val="bg2"/>
          </a:solidFill>
          <a:ln>
            <a:noFill/>
          </a:ln>
          <a:effectLst>
            <a:innerShdw blurRad="215900" dist="76200" dir="5400000">
              <a:prstClr val="black">
                <a:alpha val="1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25475" y="1447800"/>
            <a:ext cx="9144000" cy="1676400"/>
          </a:xfrm>
        </p:spPr>
        <p:txBody>
          <a:bodyPr anchor="b" anchorCtr="0"/>
          <a:lstStyle>
            <a:lvl1pPr algn="l">
              <a:defRPr lang="en-US" sz="4000" b="1" kern="1200" dirty="0">
                <a:solidFill>
                  <a:schemeClr val="tx1">
                    <a:lumMod val="85000"/>
                    <a:lumOff val="15000"/>
                  </a:schemeClr>
                </a:solidFill>
                <a:latin typeface="Verdana" pitchFamily="34" charset="0"/>
                <a:ea typeface="Verdana" pitchFamily="34" charset="0"/>
                <a:cs typeface="Verdana" pitchFamily="34" charset="0"/>
              </a:defRPr>
            </a:lvl1pPr>
          </a:lstStyle>
          <a:p>
            <a:r>
              <a:rPr lang="en-US"/>
              <a:t>Click to edit Master title style</a:t>
            </a:r>
          </a:p>
        </p:txBody>
      </p:sp>
      <p:sp>
        <p:nvSpPr>
          <p:cNvPr id="3" name="Text Placeholder 2"/>
          <p:cNvSpPr>
            <a:spLocks noGrp="1"/>
          </p:cNvSpPr>
          <p:nvPr>
            <p:ph type="body" idx="1"/>
          </p:nvPr>
        </p:nvSpPr>
        <p:spPr>
          <a:xfrm>
            <a:off x="625475" y="3124200"/>
            <a:ext cx="9144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a:p>
        </p:txBody>
      </p:sp>
      <p:sp>
        <p:nvSpPr>
          <p:cNvPr id="9" name="Footer Placeholder 2"/>
          <p:cNvSpPr>
            <a:spLocks noGrp="1"/>
          </p:cNvSpPr>
          <p:nvPr>
            <p:ph type="ftr" sz="quarter" idx="3"/>
          </p:nvPr>
        </p:nvSpPr>
        <p:spPr>
          <a:xfrm>
            <a:off x="625475" y="6400800"/>
            <a:ext cx="6807200" cy="304800"/>
          </a:xfrm>
          <a:prstGeom prst="rect">
            <a:avLst/>
          </a:prstGeom>
        </p:spPr>
        <p:txBody>
          <a:bodyPr/>
          <a:lstStyle>
            <a:lvl1pPr>
              <a:defRPr sz="1600" b="0">
                <a:solidFill>
                  <a:schemeClr val="tx2"/>
                </a:solidFill>
              </a:defRPr>
            </a:lvl1pPr>
          </a:lstStyle>
          <a:p>
            <a:endParaRPr lang="en-US"/>
          </a:p>
        </p:txBody>
      </p:sp>
      <p:pic>
        <p:nvPicPr>
          <p:cNvPr id="8" name="Picture 7" descr="greyWatermark-20.png"/>
          <p:cNvPicPr>
            <a:picLocks noChangeAspect="1"/>
          </p:cNvPicPr>
          <p:nvPr userDrawn="1"/>
        </p:nvPicPr>
        <p:blipFill>
          <a:blip r:embed="rId2" cstate="print"/>
          <a:stretch>
            <a:fillRect/>
          </a:stretch>
        </p:blipFill>
        <p:spPr>
          <a:xfrm>
            <a:off x="7949092" y="2703302"/>
            <a:ext cx="4242908" cy="4154698"/>
          </a:xfrm>
          <a:prstGeom prst="rect">
            <a:avLst/>
          </a:prstGeom>
        </p:spPr>
      </p:pic>
    </p:spTree>
    <p:extLst>
      <p:ext uri="{BB962C8B-B14F-4D97-AF65-F5344CB8AC3E}">
        <p14:creationId xmlns:p14="http://schemas.microsoft.com/office/powerpoint/2010/main" val="2062536761"/>
      </p:ext>
    </p:extLst>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FEBEB0A-9E3D-4B14-9782-E2AE3DA60D96}" type="slidenum">
              <a:rPr lang="en-US" smtClean="0"/>
              <a:pPr/>
              <a:t>‹#›</a:t>
            </a:fld>
            <a:endParaRPr lang="en-US"/>
          </a:p>
        </p:txBody>
      </p:sp>
      <p:sp>
        <p:nvSpPr>
          <p:cNvPr id="4" name="Footer Placeholder 3"/>
          <p:cNvSpPr>
            <a:spLocks noGrp="1"/>
          </p:cNvSpPr>
          <p:nvPr>
            <p:ph type="ftr" sz="quarter" idx="11"/>
          </p:nvPr>
        </p:nvSpPr>
        <p:spPr/>
        <p:txBody>
          <a:bodyPr/>
          <a:lstStyle/>
          <a:p>
            <a:endParaRPr lang="en-US"/>
          </a:p>
        </p:txBody>
      </p:sp>
      <p:sp>
        <p:nvSpPr>
          <p:cNvPr id="6" name="Picture Placeholder 5"/>
          <p:cNvSpPr>
            <a:spLocks noGrp="1"/>
          </p:cNvSpPr>
          <p:nvPr>
            <p:ph type="pic" sz="quarter" idx="12"/>
          </p:nvPr>
        </p:nvSpPr>
        <p:spPr>
          <a:xfrm>
            <a:off x="609600" y="1524000"/>
            <a:ext cx="7823200" cy="4648200"/>
          </a:xfrm>
        </p:spPr>
        <p:txBody>
          <a:bodyPr/>
          <a:lstStyle/>
          <a:p>
            <a:r>
              <a:rPr lang="en-US"/>
              <a:t>Click icon to add picture</a:t>
            </a:r>
          </a:p>
        </p:txBody>
      </p:sp>
      <p:sp>
        <p:nvSpPr>
          <p:cNvPr id="8" name="Text Placeholder 7"/>
          <p:cNvSpPr>
            <a:spLocks noGrp="1"/>
          </p:cNvSpPr>
          <p:nvPr>
            <p:ph type="body" sz="quarter" idx="13"/>
          </p:nvPr>
        </p:nvSpPr>
        <p:spPr>
          <a:xfrm>
            <a:off x="8737600" y="1524000"/>
            <a:ext cx="2844800" cy="4648200"/>
          </a:xfrm>
        </p:spPr>
        <p:txBody>
          <a:bodyPr>
            <a:normAutofit/>
          </a:bodyPr>
          <a:lstStyle>
            <a:lvl1pPr marL="0" indent="0">
              <a:buFontTx/>
              <a:buNone/>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6900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074400" cy="1066800"/>
          </a:xfrm>
        </p:spPr>
        <p:txBody>
          <a:bodyPr anchor="b">
            <a:normAutofit/>
          </a:bodyPr>
          <a:lstStyle>
            <a:lvl1pPr algn="l">
              <a:defRPr sz="3200" b="1"/>
            </a:lvl1pPr>
          </a:lstStyle>
          <a:p>
            <a:r>
              <a:rPr lang="en-US"/>
              <a:t>Click to edit Master title style</a:t>
            </a:r>
          </a:p>
        </p:txBody>
      </p:sp>
      <p:sp>
        <p:nvSpPr>
          <p:cNvPr id="3" name="Content Placeholder 2"/>
          <p:cNvSpPr>
            <a:spLocks noGrp="1"/>
          </p:cNvSpPr>
          <p:nvPr>
            <p:ph idx="1"/>
          </p:nvPr>
        </p:nvSpPr>
        <p:spPr>
          <a:xfrm>
            <a:off x="4523709" y="1524001"/>
            <a:ext cx="7058691" cy="46481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1890" y="1524000"/>
            <a:ext cx="3564876" cy="4648200"/>
          </a:xfrm>
        </p:spPr>
        <p:txBody>
          <a:bodyPr>
            <a:normAutofit/>
          </a:bodyPr>
          <a:lstStyle>
            <a:lvl1pPr marL="0" indent="0">
              <a:buNone/>
              <a:defRPr sz="20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cxnSp>
        <p:nvCxnSpPr>
          <p:cNvPr id="10" name="Straight Connector 9"/>
          <p:cNvCxnSpPr/>
          <p:nvPr/>
        </p:nvCxnSpPr>
        <p:spPr>
          <a:xfrm rot="5400000">
            <a:off x="2447147" y="3581135"/>
            <a:ext cx="3810000" cy="2117"/>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19"/>
          <p:cNvSpPr>
            <a:spLocks noGrp="1"/>
          </p:cNvSpPr>
          <p:nvPr>
            <p:ph type="ftr" sz="quarter" idx="11"/>
          </p:nvPr>
        </p:nvSpPr>
        <p:spPr>
          <a:xfrm>
            <a:off x="609600" y="6400800"/>
            <a:ext cx="6807200" cy="304800"/>
          </a:xfrm>
        </p:spPr>
        <p:txBody>
          <a:bodyPr/>
          <a:lstStyle/>
          <a:p>
            <a:endParaRPr lang="en-US"/>
          </a:p>
        </p:txBody>
      </p:sp>
    </p:spTree>
    <p:extLst>
      <p:ext uri="{BB962C8B-B14F-4D97-AF65-F5344CB8AC3E}">
        <p14:creationId xmlns:p14="http://schemas.microsoft.com/office/powerpoint/2010/main" val="4046058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Red">
    <p:bg>
      <p:bgPr>
        <a:solidFill>
          <a:schemeClr val="bg2"/>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66131" y="1066834"/>
            <a:ext cx="4459738" cy="4428034"/>
          </a:xfrm>
          <a:prstGeom prst="rect">
            <a:avLst/>
          </a:prstGeom>
        </p:spPr>
      </p:pic>
    </p:spTree>
    <p:extLst>
      <p:ext uri="{BB962C8B-B14F-4D97-AF65-F5344CB8AC3E}">
        <p14:creationId xmlns:p14="http://schemas.microsoft.com/office/powerpoint/2010/main" val="3050398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3090"/>
            <a:ext cx="10972800" cy="800100"/>
          </a:xfrm>
          <a:prstGeom prst="rect">
            <a:avLst/>
          </a:prstGeom>
        </p:spPr>
        <p:txBody>
          <a:bodyPr vert="horz" lIns="0" tIns="45720" rIns="0" bIns="45720" rtlCol="0" anchor="b" anchorCtr="0">
            <a:noAutofit/>
          </a:bodyPr>
          <a:lstStyle/>
          <a:p>
            <a:r>
              <a:rPr lang="en-US"/>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0" tIns="45720" rIns="0" bIns="4572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p:nvSpPr>
        <p:spPr>
          <a:xfrm>
            <a:off x="609600" y="1234967"/>
            <a:ext cx="11582400" cy="45719"/>
          </a:xfrm>
          <a:prstGeom prst="rect">
            <a:avLst/>
          </a:prstGeom>
          <a:solidFill>
            <a:srgbClr val="A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descr="A red letter w on a black background&#10;&#10;Description automatically generated">
            <a:extLst>
              <a:ext uri="{FF2B5EF4-FFF2-40B4-BE49-F238E27FC236}">
                <a16:creationId xmlns:a16="http://schemas.microsoft.com/office/drawing/2014/main" id="{628F81A4-8449-2076-D026-43F034BC1E15}"/>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474628" y="6237513"/>
            <a:ext cx="1131217" cy="36576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705" r:id="rId2"/>
    <p:sldLayoutId id="2147483695" r:id="rId3"/>
    <p:sldLayoutId id="2147483697" r:id="rId4"/>
    <p:sldLayoutId id="2147483700" r:id="rId5"/>
    <p:sldLayoutId id="2147483699" r:id="rId6"/>
    <p:sldLayoutId id="2147483703" r:id="rId7"/>
    <p:sldLayoutId id="2147483698" r:id="rId8"/>
    <p:sldLayoutId id="2147483664" r:id="rId9"/>
    <p:sldLayoutId id="2147483666" r:id="rId10"/>
    <p:sldLayoutId id="2147483696" r:id="rId11"/>
    <p:sldLayoutId id="2147483702" r:id="rId12"/>
    <p:sldLayoutId id="2147483701" r:id="rId13"/>
    <p:sldLayoutId id="2147483704" r:id="rId14"/>
    <p:sldLayoutId id="2147483667" r:id="rId15"/>
    <p:sldLayoutId id="2147483706" r:id="rId16"/>
    <p:sldLayoutId id="2147483707" r:id="rId17"/>
    <p:sldLayoutId id="2147483708" r:id="rId18"/>
    <p:sldLayoutId id="2147483709" r:id="rId19"/>
    <p:sldLayoutId id="2147483710" r:id="rId20"/>
    <p:sldLayoutId id="2147483711" r:id="rId21"/>
    <p:sldLayoutId id="2147483712" r:id="rId22"/>
  </p:sldLayoutIdLst>
  <p:hf hdr="0" dt="0"/>
  <p:txStyles>
    <p:titleStyle>
      <a:lvl1pPr algn="l" defTabSz="914400" rtl="0" eaLnBrk="1" latinLnBrk="0" hangingPunct="1">
        <a:lnSpc>
          <a:spcPts val="3800"/>
        </a:lnSpc>
        <a:spcBef>
          <a:spcPct val="0"/>
        </a:spcBef>
        <a:buNone/>
        <a:defRPr sz="3600" b="1" kern="1200">
          <a:solidFill>
            <a:srgbClr val="272626"/>
          </a:solidFill>
          <a:latin typeface="Arial" panose="020B0604020202020204" pitchFamily="34" charset="0"/>
          <a:ea typeface="Verdana" pitchFamily="34" charset="0"/>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rgbClr val="AB162B"/>
        </a:buClr>
        <a:buFont typeface="Arial" pitchFamily="34" charset="0"/>
        <a:buChar char="•"/>
        <a:defRPr sz="2400" kern="1200">
          <a:solidFill>
            <a:srgbClr val="272626"/>
          </a:solidFill>
          <a:latin typeface="Arial" panose="020B0604020202020204" pitchFamily="34" charset="0"/>
          <a:ea typeface="Verdana" pitchFamily="34" charset="0"/>
          <a:cs typeface="Arial" panose="020B0604020202020204" pitchFamily="34" charset="0"/>
        </a:defRPr>
      </a:lvl1pPr>
      <a:lvl2pPr marL="594360" indent="-274320" algn="l" defTabSz="914400" rtl="0" eaLnBrk="1" latinLnBrk="0" hangingPunct="1">
        <a:lnSpc>
          <a:spcPct val="95000"/>
        </a:lnSpc>
        <a:spcBef>
          <a:spcPts val="600"/>
        </a:spcBef>
        <a:buClr>
          <a:srgbClr val="AB162B"/>
        </a:buClr>
        <a:buFont typeface="Verdana" pitchFamily="34" charset="0"/>
        <a:buChar char="─"/>
        <a:defRPr sz="2000" kern="1200">
          <a:solidFill>
            <a:srgbClr val="272626"/>
          </a:solidFill>
          <a:latin typeface="Arial" panose="020B0604020202020204" pitchFamily="34" charset="0"/>
          <a:ea typeface="Verdana" pitchFamily="34" charset="0"/>
          <a:cs typeface="Arial" panose="020B0604020202020204" pitchFamily="34" charset="0"/>
        </a:defRPr>
      </a:lvl2pPr>
      <a:lvl3pPr marL="868680" indent="-228600" algn="l" defTabSz="914400" rtl="0" eaLnBrk="1" latinLnBrk="0" hangingPunct="1">
        <a:lnSpc>
          <a:spcPct val="95000"/>
        </a:lnSpc>
        <a:spcBef>
          <a:spcPts val="600"/>
        </a:spcBef>
        <a:buClr>
          <a:srgbClr val="AB162B"/>
        </a:buClr>
        <a:buFont typeface="Wingdings" pitchFamily="2" charset="2"/>
        <a:buChar char="§"/>
        <a:defRPr sz="1800" kern="1200">
          <a:solidFill>
            <a:srgbClr val="272626"/>
          </a:solidFill>
          <a:latin typeface="Arial" panose="020B0604020202020204" pitchFamily="34" charset="0"/>
          <a:ea typeface="Verdana" pitchFamily="34" charset="0"/>
          <a:cs typeface="Arial" panose="020B0604020202020204" pitchFamily="34" charset="0"/>
        </a:defRPr>
      </a:lvl3pPr>
      <a:lvl4pPr marL="1143000" indent="-228600" algn="l" defTabSz="914400" rtl="0" eaLnBrk="1" latinLnBrk="0" hangingPunct="1">
        <a:lnSpc>
          <a:spcPct val="95000"/>
        </a:lnSpc>
        <a:spcBef>
          <a:spcPts val="600"/>
        </a:spcBef>
        <a:buClr>
          <a:srgbClr val="AB162B"/>
        </a:buClr>
        <a:buFont typeface="Courier New" pitchFamily="49" charset="0"/>
        <a:buChar char="o"/>
        <a:defRPr sz="1600" kern="1200">
          <a:solidFill>
            <a:srgbClr val="272626"/>
          </a:solidFill>
          <a:latin typeface="Arial" panose="020B0604020202020204" pitchFamily="34" charset="0"/>
          <a:ea typeface="Verdana" pitchFamily="34" charset="0"/>
          <a:cs typeface="Arial" panose="020B0604020202020204" pitchFamily="34" charset="0"/>
        </a:defRPr>
      </a:lvl4pPr>
      <a:lvl5pPr marL="1371600" indent="-228600" algn="l" defTabSz="914400" rtl="0" eaLnBrk="1" latinLnBrk="0" hangingPunct="1">
        <a:lnSpc>
          <a:spcPct val="95000"/>
        </a:lnSpc>
        <a:spcBef>
          <a:spcPts val="600"/>
        </a:spcBef>
        <a:buClr>
          <a:srgbClr val="AB162B"/>
        </a:buClr>
        <a:buFont typeface="Arial" pitchFamily="34" charset="0"/>
        <a:buChar char="•"/>
        <a:defRPr sz="1600" kern="1200" baseline="0">
          <a:solidFill>
            <a:srgbClr val="272626"/>
          </a:solidFill>
          <a:latin typeface="Arial" panose="020B0604020202020204" pitchFamily="34" charset="0"/>
          <a:ea typeface="Verdana" pitchFamily="34" charset="0"/>
          <a:cs typeface="Arial" panose="020B0604020202020204"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3.xml"/><Relationship Id="rId5" Type="http://schemas.openxmlformats.org/officeDocument/2006/relationships/image" Target="../media/image44.jpeg"/><Relationship Id="rId4" Type="http://schemas.openxmlformats.org/officeDocument/2006/relationships/image" Target="../media/image43.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9.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9.xml"/><Relationship Id="rId4" Type="http://schemas.openxmlformats.org/officeDocument/2006/relationships/image" Target="../media/image57.jpeg"/></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9.xml"/><Relationship Id="rId4" Type="http://schemas.openxmlformats.org/officeDocument/2006/relationships/image" Target="../media/image62.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9.xml"/><Relationship Id="rId4" Type="http://schemas.openxmlformats.org/officeDocument/2006/relationships/image" Target="../media/image68.jpeg"/></Relationships>
</file>

<file path=ppt/slides/_rels/slide6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
          <p:cNvSpPr txBox="1">
            <a:spLocks noGrp="1"/>
          </p:cNvSpPr>
          <p:nvPr>
            <p:ph type="ctrTitle"/>
          </p:nvPr>
        </p:nvSpPr>
        <p:spPr>
          <a:xfrm>
            <a:off x="609600" y="2630171"/>
            <a:ext cx="11078400" cy="2780000"/>
          </a:xfrm>
          <a:prstGeom prst="rect">
            <a:avLst/>
          </a:prstGeom>
          <a:noFill/>
          <a:ln>
            <a:noFill/>
          </a:ln>
        </p:spPr>
        <p:txBody>
          <a:bodyPr spcFirstLastPara="1" vert="horz" wrap="square" lIns="91433" tIns="45700" rIns="91433" bIns="45700" rtlCol="0" anchor="b" anchorCtr="0">
            <a:noAutofit/>
          </a:bodyPr>
          <a:lstStyle/>
          <a:p>
            <a:br>
              <a:rPr lang="zh-CN"/>
            </a:br>
            <a:br>
              <a:rPr lang="zh-CN"/>
            </a:br>
            <a:br>
              <a:rPr lang="zh-CN"/>
            </a:br>
            <a:br>
              <a:rPr lang="zh-CN"/>
            </a:br>
            <a:br>
              <a:rPr lang="zh-CN"/>
            </a:br>
            <a:r>
              <a:rPr lang="en-US" altLang="zh-CN" sz="3067">
                <a:solidFill>
                  <a:srgbClr val="292929"/>
                </a:solidFill>
                <a:latin typeface="Helvetica Neue" panose="02000503000000020004"/>
                <a:ea typeface="Helvetica Neue" panose="02000503000000020004"/>
                <a:cs typeface="Helvetica Neue" panose="02000503000000020004"/>
                <a:sym typeface="Helvetica Neue" panose="02000503000000020004"/>
              </a:rPr>
              <a:t>NAIRR Workshop Series on Cybersecurity, Edge AI, and Autonomous Driving</a:t>
            </a:r>
            <a:b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br>
            <a:br>
              <a:rPr lang="zh-CN"/>
            </a:br>
            <a:endParaRPr lang="zh-CN"/>
          </a:p>
        </p:txBody>
      </p:sp>
      <p:sp>
        <p:nvSpPr>
          <p:cNvPr id="69" name="Google Shape;69;p1"/>
          <p:cNvSpPr txBox="1"/>
          <p:nvPr/>
        </p:nvSpPr>
        <p:spPr>
          <a:xfrm>
            <a:off x="753633" y="5277833"/>
            <a:ext cx="10852400" cy="615513"/>
          </a:xfrm>
          <a:prstGeom prst="rect">
            <a:avLst/>
          </a:prstGeom>
          <a:noFill/>
          <a:ln>
            <a:noFill/>
          </a:ln>
        </p:spPr>
        <p:txBody>
          <a:bodyPr spcFirstLastPara="1" wrap="square" lIns="121900" tIns="121900" rIns="121900" bIns="121900" anchor="t" anchorCtr="0">
            <a:spAutoFit/>
          </a:bodyPr>
          <a:lstStyle/>
          <a:p>
            <a:pPr>
              <a:buClr>
                <a:srgbClr val="000000"/>
              </a:buClr>
              <a:buSzPts val="1800"/>
            </a:pPr>
            <a:r>
              <a:rPr lang="en-US" altLang="zh-CN" sz="2400">
                <a:solidFill>
                  <a:schemeClr val="dk1"/>
                </a:solidFill>
                <a:latin typeface="Verdana" panose="020B0804030504040204"/>
                <a:ea typeface="Verdana" panose="020B0804030504040204"/>
                <a:cs typeface="Verdana" panose="020B0804030504040204"/>
                <a:sym typeface="Verdana" panose="020B0804030504040204"/>
              </a:rPr>
              <a:t>WPI &amp; Oakland University</a:t>
            </a:r>
            <a:endParaRPr sz="2400">
              <a:solidFill>
                <a:schemeClr val="dk1"/>
              </a:solidFill>
              <a:latin typeface="Verdana" panose="020B0804030504040204"/>
              <a:ea typeface="Verdana" panose="020B0804030504040204"/>
              <a:cs typeface="Verdana" panose="020B0804030504040204"/>
              <a:sym typeface="Verdana" panose="020B0804030504040204"/>
            </a:endParaRPr>
          </a:p>
        </p:txBody>
      </p:sp>
      <p:pic>
        <p:nvPicPr>
          <p:cNvPr id="70" name="Google Shape;70;p1"/>
          <p:cNvPicPr preferRelativeResize="0"/>
          <p:nvPr/>
        </p:nvPicPr>
        <p:blipFill>
          <a:blip r:embed="rId3"/>
          <a:stretch>
            <a:fillRect/>
          </a:stretch>
        </p:blipFill>
        <p:spPr>
          <a:xfrm>
            <a:off x="7552367" y="957234"/>
            <a:ext cx="1403400" cy="13411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g396d4a5dad6_3_35"/>
          <p:cNvSpPr txBox="1"/>
          <p:nvPr/>
        </p:nvSpPr>
        <p:spPr>
          <a:xfrm>
            <a:off x="542933" y="571500"/>
            <a:ext cx="8229600" cy="615513"/>
          </a:xfrm>
          <a:prstGeom prst="rect">
            <a:avLst/>
          </a:prstGeom>
          <a:noFill/>
          <a:ln>
            <a:noFill/>
          </a:ln>
        </p:spPr>
        <p:txBody>
          <a:bodyPr spcFirstLastPara="1" wrap="square" lIns="121900" tIns="121900" rIns="121900" bIns="121900" anchor="t" anchorCtr="0">
            <a:spAutoFit/>
          </a:bodyPr>
          <a:lstStyle/>
          <a:p>
            <a:endParaRPr sz="2400">
              <a:solidFill>
                <a:schemeClr val="dk1"/>
              </a:solidFill>
              <a:latin typeface="Verdana" panose="020B0804030504040204"/>
              <a:ea typeface="Verdana" panose="020B0804030504040204"/>
              <a:cs typeface="Verdana" panose="020B0804030504040204"/>
              <a:sym typeface="Verdana" panose="020B0804030504040204"/>
            </a:endParaRPr>
          </a:p>
        </p:txBody>
      </p:sp>
      <p:sp>
        <p:nvSpPr>
          <p:cNvPr id="76" name="Google Shape;76;g396d4a5dad6_3_35"/>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CARE-AI Team</a:t>
            </a:r>
          </a:p>
        </p:txBody>
      </p:sp>
      <p:pic>
        <p:nvPicPr>
          <p:cNvPr id="77" name="Google Shape;77;g396d4a5dad6_3_35"/>
          <p:cNvPicPr preferRelativeResize="0"/>
          <p:nvPr/>
        </p:nvPicPr>
        <p:blipFill>
          <a:blip r:embed="rId3"/>
          <a:stretch>
            <a:fillRect/>
          </a:stretch>
        </p:blipFill>
        <p:spPr>
          <a:xfrm>
            <a:off x="989800" y="1333167"/>
            <a:ext cx="10542600" cy="5264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LIONS Group</a:t>
            </a:r>
          </a:p>
        </p:txBody>
      </p:sp>
      <p:sp>
        <p:nvSpPr>
          <p:cNvPr id="83" name="Google Shape;83;p2"/>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3</a:t>
            </a:fld>
            <a:endParaRPr lang="zh-CN"/>
          </a:p>
        </p:txBody>
      </p:sp>
      <p:pic>
        <p:nvPicPr>
          <p:cNvPr id="84" name="Google Shape;84;p2"/>
          <p:cNvPicPr preferRelativeResize="0"/>
          <p:nvPr/>
        </p:nvPicPr>
        <p:blipFill rotWithShape="1">
          <a:blip r:embed="rId3"/>
          <a:srcRect/>
          <a:stretch>
            <a:fillRect/>
          </a:stretch>
        </p:blipFill>
        <p:spPr>
          <a:xfrm>
            <a:off x="1521951" y="1800793"/>
            <a:ext cx="1679999" cy="1679999"/>
          </a:xfrm>
          <a:prstGeom prst="rect">
            <a:avLst/>
          </a:prstGeom>
          <a:noFill/>
          <a:ln>
            <a:noFill/>
          </a:ln>
        </p:spPr>
      </p:pic>
      <p:pic>
        <p:nvPicPr>
          <p:cNvPr id="85" name="Google Shape;85;p2"/>
          <p:cNvPicPr preferRelativeResize="0"/>
          <p:nvPr/>
        </p:nvPicPr>
        <p:blipFill rotWithShape="1">
          <a:blip r:embed="rId4"/>
          <a:srcRect l="12663" t="11963" r="13585" b="14286"/>
          <a:stretch>
            <a:fillRect/>
          </a:stretch>
        </p:blipFill>
        <p:spPr>
          <a:xfrm>
            <a:off x="1521951" y="4360567"/>
            <a:ext cx="1679999" cy="1679999"/>
          </a:xfrm>
          <a:prstGeom prst="rect">
            <a:avLst/>
          </a:prstGeom>
          <a:noFill/>
          <a:ln>
            <a:noFill/>
          </a:ln>
        </p:spPr>
      </p:pic>
      <p:pic>
        <p:nvPicPr>
          <p:cNvPr id="86" name="Google Shape;86;p2"/>
          <p:cNvPicPr preferRelativeResize="0"/>
          <p:nvPr/>
        </p:nvPicPr>
        <p:blipFill rotWithShape="1">
          <a:blip r:embed="rId5"/>
          <a:srcRect/>
          <a:stretch>
            <a:fillRect/>
          </a:stretch>
        </p:blipFill>
        <p:spPr>
          <a:xfrm>
            <a:off x="9414749" y="1800807"/>
            <a:ext cx="1440000" cy="1440000"/>
          </a:xfrm>
          <a:prstGeom prst="rect">
            <a:avLst/>
          </a:prstGeom>
          <a:noFill/>
          <a:ln>
            <a:noFill/>
          </a:ln>
        </p:spPr>
      </p:pic>
      <p:pic>
        <p:nvPicPr>
          <p:cNvPr id="87" name="Google Shape;87;p2" title="headshot.jpg"/>
          <p:cNvPicPr preferRelativeResize="0"/>
          <p:nvPr/>
        </p:nvPicPr>
        <p:blipFill rotWithShape="1">
          <a:blip r:embed="rId6"/>
          <a:srcRect l="25164" t="17712" r="17683" b="41728"/>
          <a:stretch>
            <a:fillRect/>
          </a:stretch>
        </p:blipFill>
        <p:spPr>
          <a:xfrm>
            <a:off x="5167916" y="1805606"/>
            <a:ext cx="1440001" cy="1430399"/>
          </a:xfrm>
          <a:prstGeom prst="rect">
            <a:avLst/>
          </a:prstGeom>
          <a:noFill/>
          <a:ln>
            <a:noFill/>
          </a:ln>
        </p:spPr>
      </p:pic>
      <p:pic>
        <p:nvPicPr>
          <p:cNvPr id="88" name="Google Shape;88;p2" title="Picture_TH.jpg"/>
          <p:cNvPicPr preferRelativeResize="0"/>
          <p:nvPr/>
        </p:nvPicPr>
        <p:blipFill rotWithShape="1">
          <a:blip r:embed="rId7"/>
          <a:srcRect t="9411" b="20408"/>
          <a:stretch>
            <a:fillRect/>
          </a:stretch>
        </p:blipFill>
        <p:spPr>
          <a:xfrm>
            <a:off x="9414765" y="4360562"/>
            <a:ext cx="1440000" cy="1449601"/>
          </a:xfrm>
          <a:prstGeom prst="rect">
            <a:avLst/>
          </a:prstGeom>
          <a:noFill/>
          <a:ln>
            <a:noFill/>
          </a:ln>
        </p:spPr>
      </p:pic>
      <p:pic>
        <p:nvPicPr>
          <p:cNvPr id="89" name="Google Shape;89;p2" title="6d8912544390d707e1309dec537b68fb.jpg"/>
          <p:cNvPicPr preferRelativeResize="0"/>
          <p:nvPr/>
        </p:nvPicPr>
        <p:blipFill rotWithShape="1">
          <a:blip r:embed="rId8"/>
          <a:srcRect/>
          <a:stretch>
            <a:fillRect/>
          </a:stretch>
        </p:blipFill>
        <p:spPr>
          <a:xfrm>
            <a:off x="7291361" y="4365368"/>
            <a:ext cx="1440000" cy="1440000"/>
          </a:xfrm>
          <a:prstGeom prst="rect">
            <a:avLst/>
          </a:prstGeom>
          <a:noFill/>
          <a:ln>
            <a:noFill/>
          </a:ln>
        </p:spPr>
      </p:pic>
      <p:pic>
        <p:nvPicPr>
          <p:cNvPr id="90" name="Google Shape;90;p2" title="8f467292d39d0bf0114c377e765d7114.jpg"/>
          <p:cNvPicPr preferRelativeResize="0"/>
          <p:nvPr/>
        </p:nvPicPr>
        <p:blipFill rotWithShape="1">
          <a:blip r:embed="rId9"/>
          <a:srcRect/>
          <a:stretch>
            <a:fillRect/>
          </a:stretch>
        </p:blipFill>
        <p:spPr>
          <a:xfrm>
            <a:off x="5167917" y="4365363"/>
            <a:ext cx="1440000" cy="1440000"/>
          </a:xfrm>
          <a:prstGeom prst="rect">
            <a:avLst/>
          </a:prstGeom>
          <a:noFill/>
          <a:ln>
            <a:noFill/>
          </a:ln>
        </p:spPr>
      </p:pic>
      <p:pic>
        <p:nvPicPr>
          <p:cNvPr id="91" name="Google Shape;91;p2" title="8fa7805412d61c43b28091e23990fde5.jpg"/>
          <p:cNvPicPr preferRelativeResize="0"/>
          <p:nvPr/>
        </p:nvPicPr>
        <p:blipFill rotWithShape="1">
          <a:blip r:embed="rId10"/>
          <a:srcRect/>
          <a:stretch>
            <a:fillRect/>
          </a:stretch>
        </p:blipFill>
        <p:spPr>
          <a:xfrm>
            <a:off x="7291333" y="1800807"/>
            <a:ext cx="1440000" cy="1440000"/>
          </a:xfrm>
          <a:prstGeom prst="rect">
            <a:avLst/>
          </a:prstGeom>
          <a:noFill/>
          <a:ln>
            <a:noFill/>
          </a:ln>
        </p:spPr>
      </p:pic>
      <p:sp>
        <p:nvSpPr>
          <p:cNvPr id="92" name="Google Shape;92;p2"/>
          <p:cNvSpPr txBox="1"/>
          <p:nvPr/>
        </p:nvSpPr>
        <p:spPr>
          <a:xfrm>
            <a:off x="1521957" y="3664085"/>
            <a:ext cx="1680000" cy="512857"/>
          </a:xfrm>
          <a:prstGeom prst="rect">
            <a:avLst/>
          </a:prstGeom>
          <a:noFill/>
          <a:ln>
            <a:noFill/>
          </a:ln>
        </p:spPr>
        <p:txBody>
          <a:bodyPr spcFirstLastPara="1" wrap="square" lIns="121900" tIns="121900" rIns="121900" bIns="121900" anchor="t" anchorCtr="0">
            <a:spAutoFit/>
          </a:bodyPr>
          <a:lstStyle/>
          <a:p>
            <a:pPr algn="ctr">
              <a:buClr>
                <a:srgbClr val="000000"/>
              </a:buClr>
              <a:buSzPts val="1300"/>
            </a:pPr>
            <a:r>
              <a:rPr lang="en-US" altLang="zh-CN" sz="1733">
                <a:solidFill>
                  <a:schemeClr val="dk1"/>
                </a:solidFill>
                <a:latin typeface="Georgia" panose="02040502050405090303"/>
                <a:ea typeface="Georgia" panose="02040502050405090303"/>
                <a:cs typeface="Georgia" panose="02040502050405090303"/>
                <a:sym typeface="Georgia" panose="02040502050405090303"/>
              </a:rPr>
              <a:t>Prof. Jun Dai</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3" name="Google Shape;93;p2"/>
          <p:cNvSpPr txBox="1"/>
          <p:nvPr/>
        </p:nvSpPr>
        <p:spPr>
          <a:xfrm>
            <a:off x="5026509" y="3339367"/>
            <a:ext cx="1722800" cy="759078"/>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Cooper Dean</a:t>
            </a:r>
            <a:br>
              <a:rPr lang="zh-CN" altLang="en-US" sz="1733">
                <a:solidFill>
                  <a:schemeClr val="dk1"/>
                </a:solidFill>
                <a:latin typeface="Georgia" panose="02040502050405090303"/>
                <a:ea typeface="Georgia" panose="02040502050405090303"/>
                <a:cs typeface="Georgia" panose="02040502050405090303"/>
                <a:sym typeface="Georgia" panose="02040502050405090303"/>
              </a:rPr>
            </a:b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4" name="Google Shape;94;p2"/>
          <p:cNvSpPr txBox="1"/>
          <p:nvPr/>
        </p:nvSpPr>
        <p:spPr>
          <a:xfrm>
            <a:off x="7149943" y="3339351"/>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Zhihao Zhang</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5" name="Google Shape;95;p2"/>
          <p:cNvSpPr txBox="1"/>
          <p:nvPr/>
        </p:nvSpPr>
        <p:spPr>
          <a:xfrm>
            <a:off x="9401809" y="3339351"/>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Brian Almaguer</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6" name="Google Shape;96;p2"/>
          <p:cNvSpPr txBox="1"/>
          <p:nvPr/>
        </p:nvSpPr>
        <p:spPr>
          <a:xfrm>
            <a:off x="781568" y="6118534"/>
            <a:ext cx="3160800" cy="512857"/>
          </a:xfrm>
          <a:prstGeom prst="rect">
            <a:avLst/>
          </a:prstGeom>
          <a:noFill/>
          <a:ln>
            <a:noFill/>
          </a:ln>
        </p:spPr>
        <p:txBody>
          <a:bodyPr spcFirstLastPara="1" wrap="square" lIns="121900" tIns="121900" rIns="121900" bIns="121900" anchor="t" anchorCtr="0">
            <a:spAutoFit/>
          </a:bodyPr>
          <a:lstStyle/>
          <a:p>
            <a:pPr algn="ctr">
              <a:buClr>
                <a:srgbClr val="000000"/>
              </a:buClr>
              <a:buSzPts val="1300"/>
            </a:pPr>
            <a:r>
              <a:rPr lang="en-US" altLang="zh-CN" sz="1733">
                <a:solidFill>
                  <a:schemeClr val="dk1"/>
                </a:solidFill>
                <a:latin typeface="Georgia" panose="02040502050405090303"/>
                <a:ea typeface="Georgia" panose="02040502050405090303"/>
                <a:cs typeface="Georgia" panose="02040502050405090303"/>
                <a:sym typeface="Georgia" panose="02040502050405090303"/>
              </a:rPr>
              <a:t>Prof. Xiaoyan (Sherry) Sun</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7" name="Google Shape;97;p2"/>
          <p:cNvSpPr txBox="1"/>
          <p:nvPr/>
        </p:nvSpPr>
        <p:spPr>
          <a:xfrm>
            <a:off x="9039796" y="5895267"/>
            <a:ext cx="2446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Tran Ngoc Bao Huynh</a:t>
            </a:r>
            <a:endParaRPr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endParaRPr>
          </a:p>
        </p:txBody>
      </p:sp>
      <p:sp>
        <p:nvSpPr>
          <p:cNvPr id="98" name="Google Shape;98;p2"/>
          <p:cNvSpPr txBox="1"/>
          <p:nvPr/>
        </p:nvSpPr>
        <p:spPr>
          <a:xfrm>
            <a:off x="7149976" y="5895251"/>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Chao Wang</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9" name="Google Shape;99;p2"/>
          <p:cNvSpPr txBox="1"/>
          <p:nvPr/>
        </p:nvSpPr>
        <p:spPr>
          <a:xfrm>
            <a:off x="5026543" y="5895267"/>
            <a:ext cx="1722800" cy="492402"/>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US" altLang="zh-CN" sz="1600">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Haowen Xu</a:t>
            </a:r>
            <a:endParaRPr sz="1733">
              <a:solidFill>
                <a:schemeClr val="dk1"/>
              </a:solidFill>
              <a:latin typeface="Georgia" panose="02040502050405090303"/>
              <a:ea typeface="Georgia" panose="02040502050405090303"/>
              <a:cs typeface="Georgia" panose="02040502050405090303"/>
              <a:sym typeface="Georgia" panose="020405020504050903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7" name="Rectangle 9"/>
          <p:cNvSpPr>
            <a:spLocks noGrp="1" noChangeArrowheads="1"/>
          </p:cNvSpPr>
          <p:nvPr>
            <p:ph type="title"/>
          </p:nvPr>
        </p:nvSpPr>
        <p:spPr>
          <a:xfrm>
            <a:off x="611868" y="1447800"/>
            <a:ext cx="9422946" cy="1676400"/>
          </a:xfrm>
        </p:spPr>
        <p:txBody>
          <a:bodyPr/>
          <a:lstStyle/>
          <a:p>
            <a:r>
              <a:rPr lang="en-US" err="1">
                <a:latin typeface="Verdana"/>
                <a:ea typeface="Verdana"/>
              </a:rPr>
              <a:t>JupyterHub</a:t>
            </a:r>
            <a:r>
              <a:rPr lang="en-US">
                <a:latin typeface="Verdana"/>
                <a:ea typeface="Verdana"/>
              </a:rPr>
              <a:t> NAIRR Instructions</a:t>
            </a:r>
            <a:endParaRPr lang="en-US"/>
          </a:p>
        </p:txBody>
      </p:sp>
      <p:sp>
        <p:nvSpPr>
          <p:cNvPr id="8" name="Text Placeholder 7"/>
          <p:cNvSpPr>
            <a:spLocks noGrp="1"/>
          </p:cNvSpPr>
          <p:nvPr>
            <p:ph type="body" idx="1"/>
          </p:nvPr>
        </p:nvSpPr>
        <p:spPr>
          <a:xfrm>
            <a:off x="625475" y="3124200"/>
            <a:ext cx="9144000" cy="584200"/>
          </a:xfrm>
        </p:spPr>
        <p:txBody>
          <a:bodyPr/>
          <a:lstStyle/>
          <a:p>
            <a:r>
              <a:rPr lang="en-US">
                <a:latin typeface="Verdana"/>
                <a:ea typeface="Verdana"/>
              </a:rPr>
              <a:t>Workshop Lab Environments</a:t>
            </a:r>
            <a:endParaRPr lang="en-US"/>
          </a:p>
        </p:txBody>
      </p:sp>
      <p:sp>
        <p:nvSpPr>
          <p:cNvPr id="4" name="Slide Number Placeholder 3"/>
          <p:cNvSpPr>
            <a:spLocks noGrp="1"/>
          </p:cNvSpPr>
          <p:nvPr>
            <p:ph type="sldNum" sz="quarter" idx="12"/>
          </p:nvPr>
        </p:nvSpPr>
        <p:spPr/>
        <p:txBody>
          <a:bodyPr/>
          <a:lstStyle/>
          <a:p>
            <a:fld id="{BFEBEB0A-9E3D-4B14-9782-E2AE3DA60D96}" type="slidenum">
              <a:rPr lang="en-US" smtClean="0"/>
              <a:pPr/>
              <a:t>4</a:t>
            </a:fld>
            <a:endParaRPr lang="en-US"/>
          </a:p>
        </p:txBody>
      </p:sp>
      <p:sp>
        <p:nvSpPr>
          <p:cNvPr id="2" name="Footer Placeholder 1"/>
          <p:cNvSpPr>
            <a:spLocks noGrp="1"/>
          </p:cNvSpPr>
          <p:nvPr>
            <p:ph type="ftr" sz="quarter" idx="3"/>
          </p:nvPr>
        </p:nvSpPr>
        <p:spPr/>
        <p:txBody>
          <a:bodyPr/>
          <a:lstStyle/>
          <a:p>
            <a:endParaRPr lang="en-US"/>
          </a:p>
        </p:txBody>
      </p:sp>
    </p:spTree>
    <p:extLst>
      <p:ext uri="{BB962C8B-B14F-4D97-AF65-F5344CB8AC3E}">
        <p14:creationId xmlns:p14="http://schemas.microsoft.com/office/powerpoint/2010/main" val="1322382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E834-D580-C3F7-BA75-64A9EF218186}"/>
            </a:ext>
          </a:extLst>
        </p:cNvPr>
        <p:cNvGrpSpPr/>
        <p:nvPr/>
      </p:nvGrpSpPr>
      <p:grpSpPr>
        <a:xfrm>
          <a:off x="0" y="0"/>
          <a:ext cx="0" cy="0"/>
          <a:chOff x="0" y="0"/>
          <a:chExt cx="0" cy="0"/>
        </a:xfrm>
      </p:grpSpPr>
      <p:sp>
        <p:nvSpPr>
          <p:cNvPr id="499718" name="Rectangle 6">
            <a:extLst>
              <a:ext uri="{FF2B5EF4-FFF2-40B4-BE49-F238E27FC236}">
                <a16:creationId xmlns:a16="http://schemas.microsoft.com/office/drawing/2014/main" id="{18B5678C-4D69-CB40-FBF1-DB3AB3906122}"/>
              </a:ext>
            </a:extLst>
          </p:cNvPr>
          <p:cNvSpPr>
            <a:spLocks noGrp="1" noChangeArrowheads="1"/>
          </p:cNvSpPr>
          <p:nvPr>
            <p:ph type="title"/>
          </p:nvPr>
        </p:nvSpPr>
        <p:spPr>
          <a:xfrm>
            <a:off x="609600" y="351367"/>
            <a:ext cx="10972800" cy="800100"/>
          </a:xfrm>
        </p:spPr>
        <p:txBody>
          <a:bodyPr anchor="b">
            <a:normAutofit/>
          </a:bodyPr>
          <a:lstStyle/>
          <a:p>
            <a:r>
              <a:rPr lang="en-US" err="1">
                <a:latin typeface="Verdana"/>
                <a:ea typeface="Verdana"/>
              </a:rPr>
              <a:t>JupyterHub</a:t>
            </a:r>
            <a:r>
              <a:rPr lang="en-US">
                <a:latin typeface="Verdana"/>
                <a:ea typeface="Verdana"/>
              </a:rPr>
              <a:t> </a:t>
            </a:r>
            <a:endParaRPr lang="en-US"/>
          </a:p>
        </p:txBody>
      </p:sp>
      <p:sp>
        <p:nvSpPr>
          <p:cNvPr id="4" name="Slide Number Placeholder 3">
            <a:extLst>
              <a:ext uri="{FF2B5EF4-FFF2-40B4-BE49-F238E27FC236}">
                <a16:creationId xmlns:a16="http://schemas.microsoft.com/office/drawing/2014/main" id="{2BDF3AD5-7272-AEA0-1629-0DBD7B83D950}"/>
              </a:ext>
            </a:extLst>
          </p:cNvPr>
          <p:cNvSpPr>
            <a:spLocks noGrp="1"/>
          </p:cNvSpPr>
          <p:nvPr>
            <p:ph type="sldNum" sz="quarter" idx="10"/>
          </p:nvPr>
        </p:nvSpPr>
        <p:spPr>
          <a:xfrm>
            <a:off x="1" y="6387664"/>
            <a:ext cx="609600" cy="394136"/>
          </a:xfrm>
        </p:spPr>
        <p:txBody>
          <a:bodyPr anchor="ctr">
            <a:normAutofit/>
          </a:bodyPr>
          <a:lstStyle/>
          <a:p>
            <a:pPr>
              <a:spcAft>
                <a:spcPts val="600"/>
              </a:spcAft>
            </a:pPr>
            <a:fld id="{BFEBEB0A-9E3D-4B14-9782-E2AE3DA60D96}" type="slidenum">
              <a:rPr lang="en-US" smtClean="0"/>
              <a:pPr>
                <a:spcAft>
                  <a:spcPts val="600"/>
                </a:spcAft>
              </a:pPr>
              <a:t>5</a:t>
            </a:fld>
            <a:endParaRPr lang="en-US"/>
          </a:p>
        </p:txBody>
      </p:sp>
      <p:sp>
        <p:nvSpPr>
          <p:cNvPr id="499724" name="Footer Placeholder 3">
            <a:extLst>
              <a:ext uri="{FF2B5EF4-FFF2-40B4-BE49-F238E27FC236}">
                <a16:creationId xmlns:a16="http://schemas.microsoft.com/office/drawing/2014/main" id="{D647C637-DA08-E024-B3AC-A1C2294C6D2B}"/>
              </a:ext>
            </a:extLst>
          </p:cNvPr>
          <p:cNvSpPr>
            <a:spLocks noGrp="1"/>
          </p:cNvSpPr>
          <p:nvPr>
            <p:ph type="ftr" sz="quarter" idx="11"/>
          </p:nvPr>
        </p:nvSpPr>
        <p:spPr>
          <a:xfrm>
            <a:off x="609600" y="6400800"/>
            <a:ext cx="6807200" cy="304800"/>
          </a:xfrm>
        </p:spPr>
        <p:txBody>
          <a:bodyPr/>
          <a:lstStyle/>
          <a:p>
            <a:endParaRPr lang="en-US"/>
          </a:p>
        </p:txBody>
      </p:sp>
      <p:pic>
        <p:nvPicPr>
          <p:cNvPr id="3" name="Picture Placeholder 2" descr="JupyterHub | Cuahsi.org">
            <a:extLst>
              <a:ext uri="{FF2B5EF4-FFF2-40B4-BE49-F238E27FC236}">
                <a16:creationId xmlns:a16="http://schemas.microsoft.com/office/drawing/2014/main" id="{E3592F18-E52A-7A3F-11FE-4CA01E958E13}"/>
              </a:ext>
            </a:extLst>
          </p:cNvPr>
          <p:cNvPicPr>
            <a:picLocks noGrp="1" noChangeAspect="1"/>
          </p:cNvPicPr>
          <p:nvPr>
            <p:ph type="pic" sz="quarter" idx="12"/>
          </p:nvPr>
        </p:nvPicPr>
        <p:blipFill>
          <a:blip r:embed="rId3"/>
          <a:srcRect t="987" b="987"/>
          <a:stretch/>
        </p:blipFill>
        <p:spPr>
          <a:prstGeom prst="rect">
            <a:avLst/>
          </a:prstGeom>
        </p:spPr>
      </p:pic>
      <p:sp>
        <p:nvSpPr>
          <p:cNvPr id="499719" name="Rectangle 7">
            <a:extLst>
              <a:ext uri="{FF2B5EF4-FFF2-40B4-BE49-F238E27FC236}">
                <a16:creationId xmlns:a16="http://schemas.microsoft.com/office/drawing/2014/main" id="{ED43FC49-463A-4F06-278D-A46D501718F3}"/>
              </a:ext>
            </a:extLst>
          </p:cNvPr>
          <p:cNvSpPr>
            <a:spLocks noGrp="1" noChangeArrowheads="1"/>
          </p:cNvSpPr>
          <p:nvPr>
            <p:ph type="body" sz="quarter" idx="13"/>
          </p:nvPr>
        </p:nvSpPr>
        <p:spPr>
          <a:xfrm>
            <a:off x="8737600" y="1524000"/>
            <a:ext cx="2844800" cy="4648200"/>
          </a:xfrm>
        </p:spPr>
        <p:txBody>
          <a:bodyPr vert="horz" lIns="91440" tIns="45720" rIns="91440" bIns="45720" rtlCol="0" anchor="ctr" anchorCtr="0">
            <a:normAutofit/>
          </a:bodyPr>
          <a:lstStyle/>
          <a:p>
            <a:r>
              <a:rPr lang="en-US" sz="1600" err="1">
                <a:latin typeface="Verdana"/>
                <a:ea typeface="Verdana"/>
              </a:rPr>
              <a:t>JupyterHub</a:t>
            </a:r>
            <a:r>
              <a:rPr lang="en-US" sz="1600">
                <a:latin typeface="Verdana"/>
                <a:ea typeface="Verdana"/>
              </a:rPr>
              <a:t> is a multi-user server designed to deliver </a:t>
            </a:r>
            <a:r>
              <a:rPr lang="en-US" sz="1600" err="1">
                <a:latin typeface="Verdana"/>
                <a:ea typeface="Verdana"/>
              </a:rPr>
              <a:t>Jupyter</a:t>
            </a:r>
            <a:r>
              <a:rPr lang="en-US" sz="1600">
                <a:latin typeface="Verdana"/>
                <a:ea typeface="Verdana"/>
              </a:rPr>
              <a:t> Notebooks to groups of users.</a:t>
            </a:r>
            <a:endParaRPr lang="en-US"/>
          </a:p>
          <a:p>
            <a:r>
              <a:rPr lang="en-US" sz="1600">
                <a:latin typeface="Verdana"/>
                <a:ea typeface="Verdana"/>
              </a:rPr>
              <a:t>It manages authentication and spawns individual notebook servers for each person.</a:t>
            </a:r>
            <a:endParaRPr lang="en-US"/>
          </a:p>
          <a:p>
            <a:r>
              <a:rPr lang="en-US" sz="1600">
                <a:latin typeface="Verdana"/>
                <a:ea typeface="Verdana"/>
              </a:rPr>
              <a:t>This provides a consistent computational environment without requiring users to install software locally.</a:t>
            </a:r>
            <a:endParaRPr lang="en-US"/>
          </a:p>
        </p:txBody>
      </p:sp>
    </p:spTree>
    <p:extLst>
      <p:ext uri="{BB962C8B-B14F-4D97-AF65-F5344CB8AC3E}">
        <p14:creationId xmlns:p14="http://schemas.microsoft.com/office/powerpoint/2010/main" val="302930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5D264-56C3-B600-F7D2-3542246157C0}"/>
              </a:ext>
            </a:extLst>
          </p:cNvPr>
          <p:cNvSpPr>
            <a:spLocks noGrp="1"/>
          </p:cNvSpPr>
          <p:nvPr>
            <p:ph type="title"/>
          </p:nvPr>
        </p:nvSpPr>
        <p:spPr/>
        <p:txBody>
          <a:bodyPr/>
          <a:lstStyle/>
          <a:p>
            <a:r>
              <a:rPr lang="en-US">
                <a:latin typeface="Verdana"/>
                <a:ea typeface="Verdana"/>
              </a:rPr>
              <a:t>Account Creation</a:t>
            </a:r>
            <a:endParaRPr lang="en-US"/>
          </a:p>
        </p:txBody>
      </p:sp>
      <p:sp>
        <p:nvSpPr>
          <p:cNvPr id="3" name="Content Placeholder 2">
            <a:extLst>
              <a:ext uri="{FF2B5EF4-FFF2-40B4-BE49-F238E27FC236}">
                <a16:creationId xmlns:a16="http://schemas.microsoft.com/office/drawing/2014/main" id="{45744473-E14B-B571-6556-A6FFF2E99462}"/>
              </a:ext>
            </a:extLst>
          </p:cNvPr>
          <p:cNvSpPr>
            <a:spLocks noGrp="1"/>
          </p:cNvSpPr>
          <p:nvPr>
            <p:ph idx="1"/>
          </p:nvPr>
        </p:nvSpPr>
        <p:spPr/>
        <p:txBody>
          <a:bodyPr vert="horz" lIns="91440" tIns="45720" rIns="91440" bIns="45720" rtlCol="0" anchor="ctr" anchorCtr="0">
            <a:normAutofit/>
          </a:bodyPr>
          <a:lstStyle/>
          <a:p>
            <a:r>
              <a:rPr lang="en-US">
                <a:latin typeface="Verdana"/>
                <a:ea typeface="Verdana"/>
              </a:rPr>
              <a:t>For our current workshops, </a:t>
            </a:r>
            <a:r>
              <a:rPr lang="en-US" err="1">
                <a:latin typeface="Verdana"/>
                <a:ea typeface="Verdana"/>
              </a:rPr>
              <a:t>JupyterHub</a:t>
            </a:r>
            <a:r>
              <a:rPr lang="en-US">
                <a:latin typeface="Verdana"/>
                <a:ea typeface="Verdana"/>
              </a:rPr>
              <a:t> accounts use a universal password you can only receive during the workshop.</a:t>
            </a:r>
            <a:endParaRPr lang="en-US"/>
          </a:p>
          <a:p>
            <a:r>
              <a:rPr lang="en-US">
                <a:latin typeface="Verdana"/>
                <a:ea typeface="Verdana"/>
              </a:rPr>
              <a:t>Using this password you can login to our </a:t>
            </a:r>
            <a:r>
              <a:rPr lang="en-US" err="1">
                <a:latin typeface="Verdana"/>
                <a:ea typeface="Verdana"/>
              </a:rPr>
              <a:t>JupyterHub</a:t>
            </a:r>
            <a:r>
              <a:rPr lang="en-US">
                <a:latin typeface="Verdana"/>
                <a:ea typeface="Verdana"/>
              </a:rPr>
              <a:t> with any username but there are limited slots.</a:t>
            </a:r>
          </a:p>
          <a:p>
            <a:pPr lvl="1">
              <a:buFont typeface="Calibri" pitchFamily="34" charset="0"/>
              <a:buChar char="-"/>
            </a:pPr>
            <a:r>
              <a:rPr lang="en-US">
                <a:latin typeface="Verdana"/>
                <a:ea typeface="Verdana"/>
              </a:rPr>
              <a:t>The limit is 1 account per person.</a:t>
            </a:r>
          </a:p>
          <a:p>
            <a:r>
              <a:rPr lang="en-US">
                <a:latin typeface="Verdana"/>
                <a:ea typeface="Verdana"/>
              </a:rPr>
              <a:t>Future workshops will use your ACCESS login or </a:t>
            </a:r>
            <a:r>
              <a:rPr lang="en-US" err="1">
                <a:latin typeface="Verdana"/>
                <a:ea typeface="Verdana"/>
              </a:rPr>
              <a:t>Github</a:t>
            </a:r>
            <a:r>
              <a:rPr lang="en-US">
                <a:latin typeface="Verdana"/>
                <a:ea typeface="Verdana"/>
              </a:rPr>
              <a:t>/Gitlab account but for the moment, in the next couple of workshops, the universal password will be used.</a:t>
            </a:r>
          </a:p>
          <a:p>
            <a:r>
              <a:rPr lang="en-US">
                <a:latin typeface="Verdana"/>
                <a:ea typeface="Verdana"/>
              </a:rPr>
              <a:t>The password will be given after these slides.</a:t>
            </a:r>
          </a:p>
        </p:txBody>
      </p:sp>
      <p:sp>
        <p:nvSpPr>
          <p:cNvPr id="4" name="Footer Placeholder 3">
            <a:extLst>
              <a:ext uri="{FF2B5EF4-FFF2-40B4-BE49-F238E27FC236}">
                <a16:creationId xmlns:a16="http://schemas.microsoft.com/office/drawing/2014/main" id="{4BC0BF16-F095-2029-ABAB-C2082132D9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7ED68F-521A-54C6-F56F-AF28393569DC}"/>
              </a:ext>
            </a:extLst>
          </p:cNvPr>
          <p:cNvSpPr>
            <a:spLocks noGrp="1"/>
          </p:cNvSpPr>
          <p:nvPr>
            <p:ph type="sldNum" sz="quarter" idx="12"/>
          </p:nvPr>
        </p:nvSpPr>
        <p:spPr/>
        <p:txBody>
          <a:bodyPr/>
          <a:lstStyle/>
          <a:p>
            <a:fld id="{963B0023-0CED-47F7-85AE-654F0B232C29}" type="slidenum">
              <a:rPr lang="en-US" smtClean="0"/>
              <a:pPr/>
              <a:t>6</a:t>
            </a:fld>
            <a:endParaRPr lang="en-US"/>
          </a:p>
        </p:txBody>
      </p:sp>
    </p:spTree>
    <p:extLst>
      <p:ext uri="{BB962C8B-B14F-4D97-AF65-F5344CB8AC3E}">
        <p14:creationId xmlns:p14="http://schemas.microsoft.com/office/powerpoint/2010/main" val="521988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626A-2499-474A-F5A8-D844D3E07611}"/>
              </a:ext>
            </a:extLst>
          </p:cNvPr>
          <p:cNvSpPr>
            <a:spLocks noGrp="1"/>
          </p:cNvSpPr>
          <p:nvPr>
            <p:ph type="title"/>
          </p:nvPr>
        </p:nvSpPr>
        <p:spPr/>
        <p:txBody>
          <a:bodyPr/>
          <a:lstStyle/>
          <a:p>
            <a:r>
              <a:rPr lang="en-US">
                <a:latin typeface="Verdana"/>
                <a:ea typeface="Verdana"/>
              </a:rPr>
              <a:t>Lab Environments</a:t>
            </a:r>
            <a:endParaRPr lang="en-US"/>
          </a:p>
        </p:txBody>
      </p:sp>
      <p:pic>
        <p:nvPicPr>
          <p:cNvPr id="7" name="Content Placeholder 6" descr="A screen shot of a computer&#10;&#10;AI-generated content may be incorrect.">
            <a:extLst>
              <a:ext uri="{FF2B5EF4-FFF2-40B4-BE49-F238E27FC236}">
                <a16:creationId xmlns:a16="http://schemas.microsoft.com/office/drawing/2014/main" id="{FDE0093E-C1F0-69E3-09A7-62F2616CEAD2}"/>
              </a:ext>
            </a:extLst>
          </p:cNvPr>
          <p:cNvPicPr>
            <a:picLocks noGrp="1" noChangeAspect="1"/>
          </p:cNvPicPr>
          <p:nvPr>
            <p:ph idx="1"/>
          </p:nvPr>
        </p:nvPicPr>
        <p:blipFill>
          <a:blip r:embed="rId2"/>
          <a:stretch>
            <a:fillRect/>
          </a:stretch>
        </p:blipFill>
        <p:spPr>
          <a:xfrm>
            <a:off x="4523709" y="2782269"/>
            <a:ext cx="7058691" cy="2131662"/>
          </a:xfrm>
          <a:prstGeom prst="rect">
            <a:avLst/>
          </a:prstGeom>
        </p:spPr>
      </p:pic>
      <p:sp>
        <p:nvSpPr>
          <p:cNvPr id="4" name="Text Placeholder 3">
            <a:extLst>
              <a:ext uri="{FF2B5EF4-FFF2-40B4-BE49-F238E27FC236}">
                <a16:creationId xmlns:a16="http://schemas.microsoft.com/office/drawing/2014/main" id="{9F8F6AE8-3380-AA03-30C1-5C7C09CFD99F}"/>
              </a:ext>
            </a:extLst>
          </p:cNvPr>
          <p:cNvSpPr>
            <a:spLocks noGrp="1"/>
          </p:cNvSpPr>
          <p:nvPr>
            <p:ph type="body" sz="half" idx="2"/>
          </p:nvPr>
        </p:nvSpPr>
        <p:spPr/>
        <p:txBody>
          <a:bodyPr vert="horz" lIns="91440" tIns="45720" rIns="91440" bIns="45720" rtlCol="0" anchor="ctr" anchorCtr="0">
            <a:normAutofit/>
          </a:bodyPr>
          <a:lstStyle/>
          <a:p>
            <a:r>
              <a:rPr lang="en-US">
                <a:latin typeface="Verdana"/>
                <a:ea typeface="Verdana"/>
              </a:rPr>
              <a:t>When you login into </a:t>
            </a:r>
            <a:r>
              <a:rPr lang="en-US" err="1">
                <a:latin typeface="Verdana"/>
                <a:ea typeface="Verdana"/>
              </a:rPr>
              <a:t>JupyterHub</a:t>
            </a:r>
            <a:r>
              <a:rPr lang="en-US">
                <a:latin typeface="Verdana"/>
                <a:ea typeface="Verdana"/>
              </a:rPr>
              <a:t> you'll will see either one or many virtual environments.</a:t>
            </a:r>
          </a:p>
          <a:p>
            <a:r>
              <a:rPr lang="en-US">
                <a:latin typeface="Verdana"/>
                <a:ea typeface="Verdana"/>
              </a:rPr>
              <a:t>The example on the side shows exactly one environment that is designed specifically for the 2.1 AI for Cybersecurity workshop.</a:t>
            </a:r>
            <a:endParaRPr lang="en-US"/>
          </a:p>
          <a:p>
            <a:r>
              <a:rPr lang="en-US">
                <a:latin typeface="Verdana"/>
                <a:ea typeface="Verdana"/>
              </a:rPr>
              <a:t>Each  environment for these workshops are built with all the packages and specific version python.</a:t>
            </a:r>
          </a:p>
        </p:txBody>
      </p:sp>
      <p:sp>
        <p:nvSpPr>
          <p:cNvPr id="5" name="Slide Number Placeholder 4">
            <a:extLst>
              <a:ext uri="{FF2B5EF4-FFF2-40B4-BE49-F238E27FC236}">
                <a16:creationId xmlns:a16="http://schemas.microsoft.com/office/drawing/2014/main" id="{2A72AA16-CA62-D4F4-D1B8-F9C62921E27F}"/>
              </a:ext>
            </a:extLst>
          </p:cNvPr>
          <p:cNvSpPr>
            <a:spLocks noGrp="1"/>
          </p:cNvSpPr>
          <p:nvPr>
            <p:ph type="sldNum" sz="quarter" idx="12"/>
          </p:nvPr>
        </p:nvSpPr>
        <p:spPr/>
        <p:txBody>
          <a:bodyPr/>
          <a:lstStyle/>
          <a:p>
            <a:fld id="{BFEBEB0A-9E3D-4B14-9782-E2AE3DA60D96}" type="slidenum">
              <a:rPr lang="en-US" smtClean="0"/>
              <a:pPr/>
              <a:t>7</a:t>
            </a:fld>
            <a:endParaRPr lang="en-US"/>
          </a:p>
        </p:txBody>
      </p:sp>
      <p:sp>
        <p:nvSpPr>
          <p:cNvPr id="6" name="Footer Placeholder 5">
            <a:extLst>
              <a:ext uri="{FF2B5EF4-FFF2-40B4-BE49-F238E27FC236}">
                <a16:creationId xmlns:a16="http://schemas.microsoft.com/office/drawing/2014/main" id="{781778C0-0AC7-83A9-75E7-6722C3F8BB7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1053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EA60C3E-FEB8-E13C-E928-F51B973AC3D6}"/>
              </a:ext>
            </a:extLst>
          </p:cNvPr>
          <p:cNvSpPr>
            <a:spLocks noGrp="1"/>
          </p:cNvSpPr>
          <p:nvPr>
            <p:ph type="title"/>
          </p:nvPr>
        </p:nvSpPr>
        <p:spPr>
          <a:xfrm>
            <a:off x="609600" y="351367"/>
            <a:ext cx="10972800" cy="800100"/>
          </a:xfrm>
        </p:spPr>
        <p:txBody>
          <a:bodyPr/>
          <a:lstStyle/>
          <a:p>
            <a:r>
              <a:rPr lang="en-US">
                <a:latin typeface="Verdana"/>
                <a:ea typeface="Verdana"/>
              </a:rPr>
              <a:t>Starting a Server</a:t>
            </a:r>
            <a:endParaRPr lang="en-US"/>
          </a:p>
        </p:txBody>
      </p:sp>
      <p:sp>
        <p:nvSpPr>
          <p:cNvPr id="5" name="Slide Number Placeholder 4">
            <a:extLst>
              <a:ext uri="{FF2B5EF4-FFF2-40B4-BE49-F238E27FC236}">
                <a16:creationId xmlns:a16="http://schemas.microsoft.com/office/drawing/2014/main" id="{E1ED3FD7-BDE0-2A31-3F25-E100E225D892}"/>
              </a:ext>
            </a:extLst>
          </p:cNvPr>
          <p:cNvSpPr>
            <a:spLocks noGrp="1"/>
          </p:cNvSpPr>
          <p:nvPr>
            <p:ph type="sldNum" sz="quarter" idx="10"/>
          </p:nvPr>
        </p:nvSpPr>
        <p:spPr>
          <a:xfrm>
            <a:off x="1" y="6387664"/>
            <a:ext cx="609600" cy="394136"/>
          </a:xfrm>
        </p:spPr>
        <p:txBody>
          <a:bodyPr anchor="ctr">
            <a:normAutofit/>
          </a:bodyPr>
          <a:lstStyle/>
          <a:p>
            <a:pPr>
              <a:spcAft>
                <a:spcPts val="600"/>
              </a:spcAft>
            </a:pPr>
            <a:fld id="{BFEBEB0A-9E3D-4B14-9782-E2AE3DA60D96}" type="slidenum">
              <a:rPr lang="en-US" smtClean="0"/>
              <a:pPr>
                <a:spcAft>
                  <a:spcPts val="600"/>
                </a:spcAft>
              </a:pPr>
              <a:t>8</a:t>
            </a:fld>
            <a:endParaRPr lang="en-US"/>
          </a:p>
        </p:txBody>
      </p:sp>
      <p:sp>
        <p:nvSpPr>
          <p:cNvPr id="14" name="Footer Placeholder 3">
            <a:extLst>
              <a:ext uri="{FF2B5EF4-FFF2-40B4-BE49-F238E27FC236}">
                <a16:creationId xmlns:a16="http://schemas.microsoft.com/office/drawing/2014/main" id="{3C82CBB3-F602-FB81-D825-ADA0DC6239D7}"/>
              </a:ext>
            </a:extLst>
          </p:cNvPr>
          <p:cNvSpPr>
            <a:spLocks noGrp="1"/>
          </p:cNvSpPr>
          <p:nvPr>
            <p:ph type="ftr" sz="quarter" idx="11"/>
          </p:nvPr>
        </p:nvSpPr>
        <p:spPr>
          <a:xfrm>
            <a:off x="609600" y="6400800"/>
            <a:ext cx="6807200" cy="304800"/>
          </a:xfrm>
        </p:spPr>
        <p:txBody>
          <a:bodyPr/>
          <a:lstStyle/>
          <a:p>
            <a:endParaRPr lang="en-US"/>
          </a:p>
        </p:txBody>
      </p:sp>
      <p:pic>
        <p:nvPicPr>
          <p:cNvPr id="7" name="Content Placeholder 6" descr="A screenshot of a computer error&#10;&#10;AI-generated content may be incorrect.">
            <a:extLst>
              <a:ext uri="{FF2B5EF4-FFF2-40B4-BE49-F238E27FC236}">
                <a16:creationId xmlns:a16="http://schemas.microsoft.com/office/drawing/2014/main" id="{F9AFE97C-1D45-50ED-FA62-9AA9B5049EF5}"/>
              </a:ext>
            </a:extLst>
          </p:cNvPr>
          <p:cNvPicPr>
            <a:picLocks noGrp="1" noChangeAspect="1"/>
          </p:cNvPicPr>
          <p:nvPr>
            <p:ph type="pic" sz="quarter" idx="12"/>
          </p:nvPr>
        </p:nvPicPr>
        <p:blipFill>
          <a:blip r:embed="rId2"/>
          <a:srcRect l="7703" r="11090"/>
          <a:stretch>
            <a:fillRect/>
          </a:stretch>
        </p:blipFill>
        <p:spPr>
          <a:xfrm>
            <a:off x="609600" y="1524000"/>
            <a:ext cx="7823200" cy="4648200"/>
          </a:xfrm>
          <a:prstGeom prst="rect">
            <a:avLst/>
          </a:prstGeom>
          <a:noFill/>
        </p:spPr>
      </p:pic>
      <p:sp>
        <p:nvSpPr>
          <p:cNvPr id="16" name="Text Placeholder 5">
            <a:extLst>
              <a:ext uri="{FF2B5EF4-FFF2-40B4-BE49-F238E27FC236}">
                <a16:creationId xmlns:a16="http://schemas.microsoft.com/office/drawing/2014/main" id="{311C782C-7757-3CE8-392D-CF5DF04FD0D7}"/>
              </a:ext>
            </a:extLst>
          </p:cNvPr>
          <p:cNvSpPr>
            <a:spLocks noGrp="1"/>
          </p:cNvSpPr>
          <p:nvPr>
            <p:ph type="body" sz="quarter" idx="13"/>
          </p:nvPr>
        </p:nvSpPr>
        <p:spPr>
          <a:xfrm>
            <a:off x="8737600" y="1524000"/>
            <a:ext cx="2844800" cy="4648200"/>
          </a:xfrm>
        </p:spPr>
        <p:txBody>
          <a:bodyPr vert="horz" lIns="91440" tIns="45720" rIns="91440" bIns="45720" rtlCol="0" anchor="ctr" anchorCtr="0">
            <a:normAutofit/>
          </a:bodyPr>
          <a:lstStyle/>
          <a:p>
            <a:r>
              <a:rPr lang="en-US">
                <a:latin typeface="Verdana"/>
                <a:ea typeface="Verdana"/>
              </a:rPr>
              <a:t>Starting a server will communicate with our Jetstream2 services to deploy a container to host a notebook environment.</a:t>
            </a:r>
          </a:p>
          <a:p>
            <a:r>
              <a:rPr lang="en-US">
                <a:latin typeface="Verdana"/>
                <a:ea typeface="Verdana"/>
              </a:rPr>
              <a:t>On the side is the process and event log of this server creation.</a:t>
            </a:r>
            <a:endParaRPr lang="en-US"/>
          </a:p>
        </p:txBody>
      </p:sp>
    </p:spTree>
    <p:extLst>
      <p:ext uri="{BB962C8B-B14F-4D97-AF65-F5344CB8AC3E}">
        <p14:creationId xmlns:p14="http://schemas.microsoft.com/office/powerpoint/2010/main" val="324389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A89D4-9003-2E20-DD14-5272530D3A2B}"/>
              </a:ext>
            </a:extLst>
          </p:cNvPr>
          <p:cNvSpPr>
            <a:spLocks noGrp="1"/>
          </p:cNvSpPr>
          <p:nvPr>
            <p:ph type="title"/>
          </p:nvPr>
        </p:nvSpPr>
        <p:spPr/>
        <p:txBody>
          <a:bodyPr/>
          <a:lstStyle/>
          <a:p>
            <a:r>
              <a:rPr lang="en-US">
                <a:latin typeface="Verdana"/>
                <a:ea typeface="Verdana"/>
              </a:rPr>
              <a:t>Starting a Sever</a:t>
            </a:r>
            <a:endParaRPr lang="en-US"/>
          </a:p>
        </p:txBody>
      </p:sp>
      <p:pic>
        <p:nvPicPr>
          <p:cNvPr id="6" name="Content Placeholder 5" descr="A screenshot of a computer&#10;&#10;AI-generated content may be incorrect.">
            <a:extLst>
              <a:ext uri="{FF2B5EF4-FFF2-40B4-BE49-F238E27FC236}">
                <a16:creationId xmlns:a16="http://schemas.microsoft.com/office/drawing/2014/main" id="{E3F7C84E-4BC1-B0CD-7760-6741504D0C0F}"/>
              </a:ext>
            </a:extLst>
          </p:cNvPr>
          <p:cNvPicPr>
            <a:picLocks noGrp="1" noChangeAspect="1"/>
          </p:cNvPicPr>
          <p:nvPr>
            <p:ph idx="1"/>
          </p:nvPr>
        </p:nvPicPr>
        <p:blipFill>
          <a:blip r:embed="rId2"/>
          <a:stretch>
            <a:fillRect/>
          </a:stretch>
        </p:blipFill>
        <p:spPr>
          <a:xfrm>
            <a:off x="1959370" y="1524000"/>
            <a:ext cx="8273260" cy="4648200"/>
          </a:xfrm>
          <a:prstGeom prst="rect">
            <a:avLst/>
          </a:prstGeom>
        </p:spPr>
      </p:pic>
      <p:sp>
        <p:nvSpPr>
          <p:cNvPr id="4" name="Footer Placeholder 3">
            <a:extLst>
              <a:ext uri="{FF2B5EF4-FFF2-40B4-BE49-F238E27FC236}">
                <a16:creationId xmlns:a16="http://schemas.microsoft.com/office/drawing/2014/main" id="{DCFFBA60-6F9A-F9C7-E0AF-9F6E08E4D9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92B53A-B9EF-BFD4-4C05-48A1D0FECDB9}"/>
              </a:ext>
            </a:extLst>
          </p:cNvPr>
          <p:cNvSpPr>
            <a:spLocks noGrp="1"/>
          </p:cNvSpPr>
          <p:nvPr>
            <p:ph type="sldNum" sz="quarter" idx="12"/>
          </p:nvPr>
        </p:nvSpPr>
        <p:spPr/>
        <p:txBody>
          <a:bodyPr/>
          <a:lstStyle/>
          <a:p>
            <a:fld id="{963B0023-0CED-47F7-85AE-654F0B232C29}" type="slidenum">
              <a:rPr lang="en-US" smtClean="0"/>
              <a:pPr/>
              <a:t>9</a:t>
            </a:fld>
            <a:endParaRPr lang="en-US"/>
          </a:p>
        </p:txBody>
      </p:sp>
    </p:spTree>
    <p:extLst>
      <p:ext uri="{BB962C8B-B14F-4D97-AF65-F5344CB8AC3E}">
        <p14:creationId xmlns:p14="http://schemas.microsoft.com/office/powerpoint/2010/main" val="14426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1D180-CC1B-9B74-AA93-E99183BA9A1B}"/>
              </a:ext>
            </a:extLst>
          </p:cNvPr>
          <p:cNvSpPr>
            <a:spLocks noGrp="1"/>
          </p:cNvSpPr>
          <p:nvPr>
            <p:ph type="title"/>
          </p:nvPr>
        </p:nvSpPr>
        <p:spPr/>
        <p:txBody>
          <a:bodyPr/>
          <a:lstStyle/>
          <a:p>
            <a:r>
              <a:rPr lang="en-US">
                <a:latin typeface="Verdana"/>
                <a:ea typeface="Verdana"/>
              </a:rPr>
              <a:t>Accessing our lab materials</a:t>
            </a:r>
            <a:endParaRPr lang="en-US"/>
          </a:p>
        </p:txBody>
      </p:sp>
      <p:pic>
        <p:nvPicPr>
          <p:cNvPr id="7" name="Content Placeholder 6" descr="A screenshot of a computer&#10;&#10;AI-generated content may be incorrect.">
            <a:extLst>
              <a:ext uri="{FF2B5EF4-FFF2-40B4-BE49-F238E27FC236}">
                <a16:creationId xmlns:a16="http://schemas.microsoft.com/office/drawing/2014/main" id="{A0425374-B0BD-0DCD-9073-D8CDDB868F5D}"/>
              </a:ext>
            </a:extLst>
          </p:cNvPr>
          <p:cNvPicPr>
            <a:picLocks noGrp="1" noChangeAspect="1"/>
          </p:cNvPicPr>
          <p:nvPr>
            <p:ph idx="1"/>
          </p:nvPr>
        </p:nvPicPr>
        <p:blipFill>
          <a:blip r:embed="rId2"/>
          <a:stretch>
            <a:fillRect/>
          </a:stretch>
        </p:blipFill>
        <p:spPr>
          <a:xfrm>
            <a:off x="4523709" y="1865193"/>
            <a:ext cx="7058691" cy="3965814"/>
          </a:xfrm>
          <a:prstGeom prst="rect">
            <a:avLst/>
          </a:prstGeom>
        </p:spPr>
      </p:pic>
      <p:sp>
        <p:nvSpPr>
          <p:cNvPr id="4" name="Text Placeholder 3">
            <a:extLst>
              <a:ext uri="{FF2B5EF4-FFF2-40B4-BE49-F238E27FC236}">
                <a16:creationId xmlns:a16="http://schemas.microsoft.com/office/drawing/2014/main" id="{6724E4A3-77AB-907E-F629-093CC509DBC5}"/>
              </a:ext>
            </a:extLst>
          </p:cNvPr>
          <p:cNvSpPr>
            <a:spLocks noGrp="1"/>
          </p:cNvSpPr>
          <p:nvPr>
            <p:ph type="body" sz="half" idx="2"/>
          </p:nvPr>
        </p:nvSpPr>
        <p:spPr/>
        <p:txBody>
          <a:bodyPr vert="horz" lIns="91440" tIns="45720" rIns="91440" bIns="45720" rtlCol="0" anchor="ctr" anchorCtr="0">
            <a:normAutofit/>
          </a:bodyPr>
          <a:lstStyle/>
          <a:p>
            <a:r>
              <a:rPr lang="en-US">
                <a:latin typeface="Verdana"/>
                <a:ea typeface="Verdana"/>
              </a:rPr>
              <a:t>All </a:t>
            </a:r>
            <a:r>
              <a:rPr lang="en-US" err="1">
                <a:latin typeface="Verdana"/>
                <a:ea typeface="Verdana"/>
              </a:rPr>
              <a:t>enviorments</a:t>
            </a:r>
            <a:r>
              <a:rPr lang="en-US">
                <a:latin typeface="Verdana"/>
                <a:ea typeface="Verdana"/>
              </a:rPr>
              <a:t> have the </a:t>
            </a:r>
            <a:r>
              <a:rPr lang="en-US" err="1">
                <a:latin typeface="Verdana"/>
                <a:ea typeface="Verdana"/>
              </a:rPr>
              <a:t>nbgitpuller</a:t>
            </a:r>
            <a:r>
              <a:rPr lang="en-US">
                <a:latin typeface="Verdana"/>
                <a:ea typeface="Verdana"/>
              </a:rPr>
              <a:t> software installed which allows our us to easily clone any repository into our servers using a simple link.</a:t>
            </a:r>
          </a:p>
          <a:p>
            <a:r>
              <a:rPr lang="en-US">
                <a:latin typeface="Verdana"/>
                <a:ea typeface="Verdana"/>
              </a:rPr>
              <a:t>Links will be provided after these slides but an example of what process look like is on the side.</a:t>
            </a:r>
            <a:endParaRPr lang="en-US"/>
          </a:p>
        </p:txBody>
      </p:sp>
      <p:sp>
        <p:nvSpPr>
          <p:cNvPr id="5" name="Slide Number Placeholder 4">
            <a:extLst>
              <a:ext uri="{FF2B5EF4-FFF2-40B4-BE49-F238E27FC236}">
                <a16:creationId xmlns:a16="http://schemas.microsoft.com/office/drawing/2014/main" id="{F0D7E1D2-7B10-8AF9-B507-07A919824316}"/>
              </a:ext>
            </a:extLst>
          </p:cNvPr>
          <p:cNvSpPr>
            <a:spLocks noGrp="1"/>
          </p:cNvSpPr>
          <p:nvPr>
            <p:ph type="sldNum" sz="quarter" idx="12"/>
          </p:nvPr>
        </p:nvSpPr>
        <p:spPr/>
        <p:txBody>
          <a:bodyPr/>
          <a:lstStyle/>
          <a:p>
            <a:fld id="{BFEBEB0A-9E3D-4B14-9782-E2AE3DA60D96}" type="slidenum">
              <a:rPr lang="en-US" smtClean="0"/>
              <a:pPr/>
              <a:t>10</a:t>
            </a:fld>
            <a:endParaRPr lang="en-US"/>
          </a:p>
        </p:txBody>
      </p:sp>
      <p:sp>
        <p:nvSpPr>
          <p:cNvPr id="6" name="Footer Placeholder 5">
            <a:extLst>
              <a:ext uri="{FF2B5EF4-FFF2-40B4-BE49-F238E27FC236}">
                <a16:creationId xmlns:a16="http://schemas.microsoft.com/office/drawing/2014/main" id="{A635AAFD-6A30-216C-A56F-6F561C21040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03505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EE67A8B2-F9D6-5137-B493-D853F252B30B}"/>
              </a:ext>
            </a:extLst>
          </p:cNvPr>
          <p:cNvSpPr txBox="1">
            <a:spLocks noChangeArrowheads="1"/>
          </p:cNvSpPr>
          <p:nvPr/>
        </p:nvSpPr>
        <p:spPr>
          <a:xfrm>
            <a:off x="1387475" y="2590800"/>
            <a:ext cx="9422946" cy="1676400"/>
          </a:xfrm>
          <a:prstGeom prst="rect">
            <a:avLst/>
          </a:prstGeom>
        </p:spPr>
        <p:txBody>
          <a:bodyPr lIns="91440" tIns="45720" rIns="91440" bIns="45720" anchor="ctr"/>
          <a:lstStyle>
            <a:lvl1pPr algn="l" defTabSz="914400" rtl="0" eaLnBrk="1" latinLnBrk="0" hangingPunct="1">
              <a:spcBef>
                <a:spcPct val="0"/>
              </a:spcBef>
              <a:buNone/>
              <a:defRPr sz="3200" b="1" kern="1200">
                <a:solidFill>
                  <a:schemeClr val="tx1">
                    <a:lumMod val="85000"/>
                    <a:lumOff val="15000"/>
                  </a:schemeClr>
                </a:solidFill>
                <a:latin typeface="Verdana" pitchFamily="34" charset="0"/>
                <a:ea typeface="Verdana" pitchFamily="34" charset="0"/>
                <a:cs typeface="Verdana"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solidFill>
                  <a:schemeClr val="bg1"/>
                </a:solidFill>
                <a:latin typeface="Verdana"/>
                <a:ea typeface="Verdana"/>
              </a:rPr>
              <a:t>Live Demo</a:t>
            </a:r>
            <a:endParaRPr lang="en-US"/>
          </a:p>
        </p:txBody>
      </p:sp>
    </p:spTree>
    <p:extLst>
      <p:ext uri="{BB962C8B-B14F-4D97-AF65-F5344CB8AC3E}">
        <p14:creationId xmlns:p14="http://schemas.microsoft.com/office/powerpoint/2010/main" val="2102332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FE9E4-F1C8-69B4-53ED-D5606F273FBB}"/>
            </a:ext>
          </a:extLst>
        </p:cNvPr>
        <p:cNvGrpSpPr/>
        <p:nvPr/>
      </p:nvGrpSpPr>
      <p:grpSpPr>
        <a:xfrm>
          <a:off x="0" y="0"/>
          <a:ext cx="0" cy="0"/>
          <a:chOff x="0" y="0"/>
          <a:chExt cx="0" cy="0"/>
        </a:xfrm>
      </p:grpSpPr>
      <p:sp>
        <p:nvSpPr>
          <p:cNvPr id="3" name="Rectangle 9">
            <a:extLst>
              <a:ext uri="{FF2B5EF4-FFF2-40B4-BE49-F238E27FC236}">
                <a16:creationId xmlns:a16="http://schemas.microsoft.com/office/drawing/2014/main" id="{DE41ACE4-71B6-8141-1A6B-688BFE63426D}"/>
              </a:ext>
            </a:extLst>
          </p:cNvPr>
          <p:cNvSpPr txBox="1">
            <a:spLocks noChangeArrowheads="1"/>
          </p:cNvSpPr>
          <p:nvPr/>
        </p:nvSpPr>
        <p:spPr>
          <a:xfrm>
            <a:off x="1387475" y="2590800"/>
            <a:ext cx="9422946" cy="1676400"/>
          </a:xfrm>
          <a:prstGeom prst="rect">
            <a:avLst/>
          </a:prstGeom>
        </p:spPr>
        <p:txBody>
          <a:bodyPr lIns="91440" tIns="45720" rIns="91440" bIns="45720" anchor="ctr"/>
          <a:lstStyle>
            <a:lvl1pPr algn="l" defTabSz="914400" rtl="0" eaLnBrk="1" latinLnBrk="0" hangingPunct="1">
              <a:spcBef>
                <a:spcPct val="0"/>
              </a:spcBef>
              <a:buNone/>
              <a:defRPr sz="3200" b="1" kern="1200">
                <a:solidFill>
                  <a:schemeClr val="tx1">
                    <a:lumMod val="85000"/>
                    <a:lumOff val="15000"/>
                  </a:schemeClr>
                </a:solidFill>
                <a:latin typeface="Verdana" pitchFamily="34" charset="0"/>
                <a:ea typeface="Verdana" pitchFamily="34" charset="0"/>
                <a:cs typeface="Verdana"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solidFill>
                  <a:schemeClr val="bg1"/>
                </a:solidFill>
                <a:latin typeface="Verdana"/>
                <a:ea typeface="Verdana"/>
              </a:rPr>
              <a:t>Links, Passwords, &amp; Git Repository</a:t>
            </a:r>
            <a:endParaRPr lang="en-US">
              <a:solidFill>
                <a:schemeClr val="bg1"/>
              </a:solidFill>
            </a:endParaRPr>
          </a:p>
        </p:txBody>
      </p:sp>
    </p:spTree>
    <p:extLst>
      <p:ext uri="{BB962C8B-B14F-4D97-AF65-F5344CB8AC3E}">
        <p14:creationId xmlns:p14="http://schemas.microsoft.com/office/powerpoint/2010/main" val="169523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17E8-3E65-2E43-D2BE-48731D1046DE}"/>
              </a:ext>
            </a:extLst>
          </p:cNvPr>
          <p:cNvSpPr>
            <a:spLocks noGrp="1"/>
          </p:cNvSpPr>
          <p:nvPr>
            <p:ph type="ctrTitle"/>
          </p:nvPr>
        </p:nvSpPr>
        <p:spPr/>
        <p:txBody>
          <a:bodyPr/>
          <a:lstStyle/>
          <a:p>
            <a:r>
              <a:rPr lang="en-US">
                <a:latin typeface="Arial"/>
                <a:ea typeface="Verdana"/>
                <a:cs typeface="Arial"/>
              </a:rPr>
              <a:t>NAIRR 2.2 Workshop,</a:t>
            </a:r>
            <a:br>
              <a:rPr lang="en-US"/>
            </a:br>
            <a:r>
              <a:rPr lang="en-US">
                <a:latin typeface="Arial"/>
                <a:ea typeface="Verdana"/>
                <a:cs typeface="Arial"/>
              </a:rPr>
              <a:t>Secure AI Development Using NAIRR</a:t>
            </a:r>
            <a:endParaRPr lang="en-US"/>
          </a:p>
        </p:txBody>
      </p:sp>
      <p:sp>
        <p:nvSpPr>
          <p:cNvPr id="3" name="Subtitle 2">
            <a:extLst>
              <a:ext uri="{FF2B5EF4-FFF2-40B4-BE49-F238E27FC236}">
                <a16:creationId xmlns:a16="http://schemas.microsoft.com/office/drawing/2014/main" id="{8193679C-7B81-3C65-E1C1-5FDEFB2EE145}"/>
              </a:ext>
            </a:extLst>
          </p:cNvPr>
          <p:cNvSpPr>
            <a:spLocks noGrp="1"/>
          </p:cNvSpPr>
          <p:nvPr>
            <p:ph type="subTitle" idx="1"/>
          </p:nvPr>
        </p:nvSpPr>
        <p:spPr/>
        <p:txBody>
          <a:bodyPr>
            <a:normAutofit lnSpcReduction="10000"/>
          </a:bodyPr>
          <a:lstStyle/>
          <a:p>
            <a:r>
              <a:rPr lang="en-US"/>
              <a:t>Presented By: </a:t>
            </a:r>
          </a:p>
          <a:p>
            <a:r>
              <a:rPr lang="en-US"/>
              <a:t>Brian Almaguer, Cooper Dean, and Chao Wang</a:t>
            </a:r>
          </a:p>
        </p:txBody>
      </p:sp>
      <p:sp>
        <p:nvSpPr>
          <p:cNvPr id="4" name="TextBox 3">
            <a:extLst>
              <a:ext uri="{FF2B5EF4-FFF2-40B4-BE49-F238E27FC236}">
                <a16:creationId xmlns:a16="http://schemas.microsoft.com/office/drawing/2014/main" id="{6BC7616F-2A61-600D-8733-CD9238B895E6}"/>
              </a:ext>
            </a:extLst>
          </p:cNvPr>
          <p:cNvSpPr txBox="1"/>
          <p:nvPr/>
        </p:nvSpPr>
        <p:spPr>
          <a:xfrm>
            <a:off x="4348480" y="606552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3198349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609600" y="351367"/>
            <a:ext cx="10972800" cy="8001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latin typeface="Arial"/>
                <a:cs typeface="Arial"/>
              </a:rPr>
              <a:t>Pre-workshop Quiz</a:t>
            </a:r>
            <a:endParaRPr lang="en-US" altLang="zh-CN">
              <a:latin typeface="Arial"/>
              <a:ea typeface="Verdana"/>
              <a:cs typeface="Arial"/>
            </a:endParaRPr>
          </a:p>
        </p:txBody>
      </p:sp>
      <p:sp>
        <p:nvSpPr>
          <p:cNvPr id="110" name="Google Shape;110;p4"/>
          <p:cNvSpPr txBox="1">
            <a:spLocks noGrp="1"/>
          </p:cNvSpPr>
          <p:nvPr>
            <p:ph type="body" idx="1"/>
          </p:nvPr>
        </p:nvSpPr>
        <p:spPr>
          <a:xfrm>
            <a:off x="609600" y="1524000"/>
            <a:ext cx="10972800" cy="4648200"/>
          </a:xfrm>
          <a:prstGeom prst="rect">
            <a:avLst/>
          </a:prstGeom>
          <a:noFill/>
          <a:ln>
            <a:noFill/>
          </a:ln>
        </p:spPr>
        <p:txBody>
          <a:bodyPr spcFirstLastPara="1" vert="horz" wrap="square" lIns="91433" tIns="45700" rIns="91433" bIns="45700" rtlCol="0" anchor="t" anchorCtr="0">
            <a:normAutofit/>
          </a:bodyPr>
          <a:lstStyle/>
          <a:p>
            <a:pPr marL="456565" indent="-219710">
              <a:buNone/>
            </a:pPr>
            <a:r>
              <a:rPr lang="zh-CN">
                <a:solidFill>
                  <a:schemeClr val="hlink"/>
                </a:solidFill>
                <a:latin typeface="Arial"/>
                <a:cs typeface="Arial"/>
              </a:rPr>
              <a:t>https://docs.google.com/forms/d/e/1FAIpQLS</a:t>
            </a:r>
            <a:r>
              <a:rPr lang="en-US" altLang="zh-CN">
                <a:solidFill>
                  <a:schemeClr val="hlink"/>
                </a:solidFill>
                <a:latin typeface="Arial"/>
                <a:ea typeface="Verdana"/>
                <a:cs typeface="Arial"/>
              </a:rPr>
              <a:t>d</a:t>
            </a:r>
            <a:r>
              <a:rPr lang="zh-CN">
                <a:solidFill>
                  <a:schemeClr val="hlink"/>
                </a:solidFill>
                <a:latin typeface="Arial"/>
                <a:cs typeface="Arial"/>
              </a:rPr>
              <a:t>Iw</a:t>
            </a:r>
            <a:r>
              <a:rPr lang="en-US" altLang="zh-CN">
                <a:solidFill>
                  <a:schemeClr val="hlink"/>
                </a:solidFill>
                <a:latin typeface="Arial"/>
                <a:ea typeface="Verdana"/>
                <a:cs typeface="Arial"/>
              </a:rPr>
              <a:t>W</a:t>
            </a:r>
            <a:r>
              <a:rPr lang="zh-CN">
                <a:solidFill>
                  <a:schemeClr val="hlink"/>
                </a:solidFill>
                <a:latin typeface="Arial"/>
                <a:cs typeface="Arial"/>
              </a:rPr>
              <a:t>1</a:t>
            </a:r>
            <a:r>
              <a:rPr lang="en-US" altLang="zh-CN">
                <a:solidFill>
                  <a:schemeClr val="hlink"/>
                </a:solidFill>
                <a:latin typeface="Arial"/>
                <a:ea typeface="Verdana"/>
                <a:cs typeface="Arial"/>
              </a:rPr>
              <a:t>-</a:t>
            </a:r>
            <a:r>
              <a:rPr lang="en-US" altLang="zh-CN" err="1">
                <a:solidFill>
                  <a:schemeClr val="hlink"/>
                </a:solidFill>
                <a:latin typeface="Arial"/>
                <a:ea typeface="Verdana"/>
                <a:cs typeface="Arial"/>
              </a:rPr>
              <a:t>rv</a:t>
            </a:r>
            <a:r>
              <a:rPr lang="zh-CN">
                <a:solidFill>
                  <a:schemeClr val="hlink"/>
                </a:solidFill>
                <a:latin typeface="Arial"/>
                <a:cs typeface="Arial"/>
              </a:rPr>
              <a:t>s</a:t>
            </a:r>
            <a:r>
              <a:rPr lang="en-US" altLang="zh-CN" err="1">
                <a:solidFill>
                  <a:schemeClr val="hlink"/>
                </a:solidFill>
                <a:latin typeface="Arial"/>
                <a:ea typeface="Verdana"/>
                <a:cs typeface="Arial"/>
              </a:rPr>
              <a:t>fn</a:t>
            </a:r>
            <a:r>
              <a:rPr lang="zh-CN">
                <a:solidFill>
                  <a:schemeClr val="hlink"/>
                </a:solidFill>
                <a:latin typeface="Arial"/>
                <a:cs typeface="Arial"/>
              </a:rPr>
              <a:t>F</a:t>
            </a:r>
            <a:r>
              <a:rPr lang="en-US" altLang="zh-CN">
                <a:solidFill>
                  <a:schemeClr val="hlink"/>
                </a:solidFill>
                <a:latin typeface="Arial"/>
                <a:ea typeface="Verdana"/>
                <a:cs typeface="Arial"/>
              </a:rPr>
              <a:t>ugfO0nf</a:t>
            </a:r>
            <a:r>
              <a:rPr lang="zh-CN">
                <a:solidFill>
                  <a:schemeClr val="hlink"/>
                </a:solidFill>
                <a:latin typeface="Arial"/>
                <a:cs typeface="Arial"/>
              </a:rPr>
              <a:t>1</a:t>
            </a:r>
            <a:r>
              <a:rPr lang="en-US" altLang="zh-CN">
                <a:solidFill>
                  <a:schemeClr val="hlink"/>
                </a:solidFill>
                <a:latin typeface="Arial"/>
                <a:ea typeface="Verdana"/>
                <a:cs typeface="Arial"/>
              </a:rPr>
              <a:t>y</a:t>
            </a:r>
            <a:r>
              <a:rPr lang="zh-CN">
                <a:solidFill>
                  <a:schemeClr val="hlink"/>
                </a:solidFill>
                <a:latin typeface="Arial"/>
                <a:cs typeface="Arial"/>
              </a:rPr>
              <a:t>Q</a:t>
            </a:r>
            <a:r>
              <a:rPr lang="en-US" altLang="zh-CN">
                <a:solidFill>
                  <a:schemeClr val="hlink"/>
                </a:solidFill>
                <a:latin typeface="Arial"/>
                <a:ea typeface="Verdana"/>
                <a:cs typeface="Arial"/>
              </a:rPr>
              <a:t>6FcNyw7FNnbzHbzkEEMaX5hqCg</a:t>
            </a:r>
            <a:r>
              <a:rPr lang="zh-CN">
                <a:solidFill>
                  <a:schemeClr val="hlink"/>
                </a:solidFill>
                <a:latin typeface="Arial"/>
                <a:cs typeface="Arial"/>
              </a:rPr>
              <a:t>/viewform?usp=he</a:t>
            </a:r>
            <a:r>
              <a:rPr lang="en-US" altLang="zh-CN">
                <a:solidFill>
                  <a:schemeClr val="hlink"/>
                </a:solidFill>
                <a:latin typeface="Arial"/>
                <a:ea typeface="Verdana"/>
                <a:cs typeface="Arial"/>
              </a:rPr>
              <a:t>a</a:t>
            </a:r>
            <a:r>
              <a:rPr lang="zh-CN">
                <a:solidFill>
                  <a:schemeClr val="hlink"/>
                </a:solidFill>
                <a:latin typeface="Arial"/>
                <a:cs typeface="Arial"/>
              </a:rPr>
              <a:t>d</a:t>
            </a:r>
            <a:r>
              <a:rPr lang="en-US" altLang="zh-CN">
                <a:solidFill>
                  <a:schemeClr val="hlink"/>
                </a:solidFill>
                <a:latin typeface="Arial"/>
                <a:ea typeface="Verdana"/>
                <a:cs typeface="Arial"/>
              </a:rPr>
              <a:t>e</a:t>
            </a:r>
            <a:r>
              <a:rPr lang="zh-CN">
                <a:solidFill>
                  <a:schemeClr val="hlink"/>
                </a:solidFill>
                <a:latin typeface="Arial"/>
                <a:cs typeface="Arial"/>
              </a:rPr>
              <a:t>r</a:t>
            </a:r>
            <a:endParaRPr lang="en-US" altLang="zh-CN">
              <a:solidFill>
                <a:schemeClr val="hlink"/>
              </a:solidFill>
              <a:latin typeface="Arial"/>
              <a:ea typeface="Verdana"/>
              <a:cs typeface="Arial"/>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p:txBody>
      </p:sp>
      <p:sp>
        <p:nvSpPr>
          <p:cNvPr id="111" name="Google Shape;111;p4"/>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14</a:t>
            </a:fld>
            <a:endParaRPr lang="zh-CN"/>
          </a:p>
        </p:txBody>
      </p:sp>
      <p:pic>
        <p:nvPicPr>
          <p:cNvPr id="2" name="Picture 1" descr="A qr code on a white background&#10;&#10;AI-generated content may be incorrect.">
            <a:extLst>
              <a:ext uri="{FF2B5EF4-FFF2-40B4-BE49-F238E27FC236}">
                <a16:creationId xmlns:a16="http://schemas.microsoft.com/office/drawing/2014/main" id="{50F4A04D-E0EA-15F8-F32C-159BC8B0BCC3}"/>
              </a:ext>
            </a:extLst>
          </p:cNvPr>
          <p:cNvPicPr>
            <a:picLocks noChangeAspect="1"/>
          </p:cNvPicPr>
          <p:nvPr/>
        </p:nvPicPr>
        <p:blipFill>
          <a:blip r:embed="rId3"/>
          <a:stretch>
            <a:fillRect/>
          </a:stretch>
        </p:blipFill>
        <p:spPr>
          <a:xfrm>
            <a:off x="4080423" y="2438182"/>
            <a:ext cx="4031154" cy="40311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0BAC-AB4A-676E-CBD9-909D7493109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C6C106-400C-9756-8703-3935B95AD188}"/>
              </a:ext>
            </a:extLst>
          </p:cNvPr>
          <p:cNvSpPr>
            <a:spLocks noGrp="1"/>
          </p:cNvSpPr>
          <p:nvPr>
            <p:ph type="subTitle" idx="1"/>
          </p:nvPr>
        </p:nvSpPr>
        <p:spPr/>
        <p:txBody>
          <a:bodyPr/>
          <a:lstStyle/>
          <a:p>
            <a:pPr marL="0" indent="0">
              <a:buNone/>
            </a:pPr>
            <a:r>
              <a:rPr lang="en-US"/>
              <a:t>Presented By Brian Almaguer</a:t>
            </a:r>
          </a:p>
        </p:txBody>
      </p:sp>
      <p:sp>
        <p:nvSpPr>
          <p:cNvPr id="2" name="Title 1">
            <a:extLst>
              <a:ext uri="{FF2B5EF4-FFF2-40B4-BE49-F238E27FC236}">
                <a16:creationId xmlns:a16="http://schemas.microsoft.com/office/drawing/2014/main" id="{0B178811-CF57-C896-8AC7-D68A5FAF2E46}"/>
              </a:ext>
            </a:extLst>
          </p:cNvPr>
          <p:cNvSpPr>
            <a:spLocks noGrp="1"/>
          </p:cNvSpPr>
          <p:nvPr>
            <p:ph type="ctrTitle"/>
          </p:nvPr>
        </p:nvSpPr>
        <p:spPr/>
        <p:txBody>
          <a:bodyPr/>
          <a:lstStyle/>
          <a:p>
            <a:r>
              <a:rPr lang="en-US"/>
              <a:t>Adversarial Attacks</a:t>
            </a:r>
            <a:br>
              <a:rPr lang="en-US"/>
            </a:br>
            <a:r>
              <a:rPr lang="en-US"/>
              <a:t>Adversarial Training</a:t>
            </a:r>
            <a:br>
              <a:rPr lang="en-US"/>
            </a:br>
            <a:r>
              <a:rPr lang="en-US"/>
              <a:t>Adversarial Defense</a:t>
            </a:r>
          </a:p>
        </p:txBody>
      </p:sp>
      <p:sp>
        <p:nvSpPr>
          <p:cNvPr id="6" name="TextBox 5">
            <a:extLst>
              <a:ext uri="{FF2B5EF4-FFF2-40B4-BE49-F238E27FC236}">
                <a16:creationId xmlns:a16="http://schemas.microsoft.com/office/drawing/2014/main" id="{67CD1630-F34A-0A53-3C14-B3B785869E8B}"/>
              </a:ext>
            </a:extLst>
          </p:cNvPr>
          <p:cNvSpPr txBox="1"/>
          <p:nvPr/>
        </p:nvSpPr>
        <p:spPr>
          <a:xfrm>
            <a:off x="3901440" y="595376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3767130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097-E8CE-5AF3-3A5F-28BF8A3C86E6}"/>
              </a:ext>
            </a:extLst>
          </p:cNvPr>
          <p:cNvSpPr>
            <a:spLocks noGrp="1"/>
          </p:cNvSpPr>
          <p:nvPr>
            <p:ph type="title"/>
          </p:nvPr>
        </p:nvSpPr>
        <p:spPr/>
        <p:txBody>
          <a:bodyPr/>
          <a:lstStyle/>
          <a:p>
            <a:r>
              <a:rPr lang="en-US"/>
              <a:t>Adversarial Attacks​</a:t>
            </a:r>
          </a:p>
        </p:txBody>
      </p:sp>
      <p:sp>
        <p:nvSpPr>
          <p:cNvPr id="3" name="Content Placeholder 2">
            <a:extLst>
              <a:ext uri="{FF2B5EF4-FFF2-40B4-BE49-F238E27FC236}">
                <a16:creationId xmlns:a16="http://schemas.microsoft.com/office/drawing/2014/main" id="{23440E51-022F-B3A6-2822-AFBF06C6AEF1}"/>
              </a:ext>
            </a:extLst>
          </p:cNvPr>
          <p:cNvSpPr>
            <a:spLocks noGrp="1"/>
          </p:cNvSpPr>
          <p:nvPr>
            <p:ph idx="1"/>
          </p:nvPr>
        </p:nvSpPr>
        <p:spPr/>
        <p:txBody>
          <a:bodyPr anchor="ctr">
            <a:normAutofit fontScale="92500"/>
          </a:bodyPr>
          <a:lstStyle/>
          <a:p>
            <a:pPr marL="0" indent="0">
              <a:buNone/>
            </a:pPr>
            <a:r>
              <a:rPr lang="en-US" b="1"/>
              <a:t>Adversarial attacks </a:t>
            </a:r>
            <a:r>
              <a:rPr lang="en-US"/>
              <a:t>are techniques used to fool machine learning models by making small, often imperceptible modifications to input data that cause the model to make incorrect predictions.​</a:t>
            </a:r>
          </a:p>
          <a:p>
            <a:pPr marL="0" indent="0">
              <a:buNone/>
            </a:pPr>
            <a:r>
              <a:rPr lang="en-US" b="1"/>
              <a:t>Key concepts:​</a:t>
            </a:r>
          </a:p>
          <a:p>
            <a:r>
              <a:rPr lang="en-US"/>
              <a:t>Subtle perturbations: Small changes to input (like images, audio, or text) that are barely noticeable to humans but cause significant changes in model predictions​</a:t>
            </a:r>
          </a:p>
          <a:p>
            <a:r>
              <a:rPr lang="en-US"/>
              <a:t>Targeted vs. untargeted: Attacks can aim to make a model misclassify something as a specific wrong class (targeted) or just make any wrong prediction (untargeted)​</a:t>
            </a:r>
          </a:p>
          <a:p>
            <a:r>
              <a:rPr lang="en-US"/>
              <a:t>White-box vs. black-box: Attacks can exploit full knowledge of the model's architecture and weights (white-box) or work without that information (black-box)​</a:t>
            </a:r>
          </a:p>
        </p:txBody>
      </p:sp>
    </p:spTree>
    <p:extLst>
      <p:ext uri="{BB962C8B-B14F-4D97-AF65-F5344CB8AC3E}">
        <p14:creationId xmlns:p14="http://schemas.microsoft.com/office/powerpoint/2010/main" val="413426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44D1E-1803-FBD7-C374-C924AFB70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05FE-40AE-B46E-5A1B-1577D6A8D99E}"/>
              </a:ext>
            </a:extLst>
          </p:cNvPr>
          <p:cNvSpPr>
            <a:spLocks noGrp="1"/>
          </p:cNvSpPr>
          <p:nvPr>
            <p:ph type="title"/>
          </p:nvPr>
        </p:nvSpPr>
        <p:spPr/>
        <p:txBody>
          <a:bodyPr/>
          <a:lstStyle/>
          <a:p>
            <a:r>
              <a:rPr lang="en-US">
                <a:latin typeface="Arial"/>
                <a:ea typeface="Verdana"/>
                <a:cs typeface="Arial"/>
              </a:rPr>
              <a:t>Adversarial Attacks​</a:t>
            </a:r>
          </a:p>
        </p:txBody>
      </p:sp>
      <p:sp>
        <p:nvSpPr>
          <p:cNvPr id="3" name="Content Placeholder 2">
            <a:extLst>
              <a:ext uri="{FF2B5EF4-FFF2-40B4-BE49-F238E27FC236}">
                <a16:creationId xmlns:a16="http://schemas.microsoft.com/office/drawing/2014/main" id="{A48554AE-9CE3-BB92-71D5-5210002B10CF}"/>
              </a:ext>
            </a:extLst>
          </p:cNvPr>
          <p:cNvSpPr>
            <a:spLocks noGrp="1"/>
          </p:cNvSpPr>
          <p:nvPr>
            <p:ph idx="1"/>
          </p:nvPr>
        </p:nvSpPr>
        <p:spPr/>
        <p:txBody>
          <a:bodyPr anchor="ctr">
            <a:normAutofit/>
          </a:bodyPr>
          <a:lstStyle/>
          <a:p>
            <a:pPr marL="0" indent="0" fontAlgn="base">
              <a:buNone/>
            </a:pPr>
            <a:r>
              <a:rPr lang="en-US" sz="2200" b="1"/>
              <a:t>Common examples:</a:t>
            </a:r>
            <a:r>
              <a:rPr lang="en-US" sz="2200"/>
              <a:t>​</a:t>
            </a:r>
          </a:p>
          <a:p>
            <a:pPr fontAlgn="base"/>
            <a:r>
              <a:rPr lang="en-US" sz="2200"/>
              <a:t>Adding imperceptible noise to a stop sign image to make a self-driving car misclassify it as a speed limit sign​</a:t>
            </a:r>
          </a:p>
          <a:p>
            <a:pPr fontAlgn="base"/>
            <a:r>
              <a:rPr lang="en-US" sz="2200"/>
              <a:t>Modifying pixels in an image of a panda so it's classified as a gibbon​</a:t>
            </a:r>
          </a:p>
          <a:p>
            <a:pPr fontAlgn="base"/>
            <a:r>
              <a:rPr lang="en-US" sz="2200"/>
              <a:t>Altering audio waveforms to change speech recognition output​</a:t>
            </a:r>
          </a:p>
          <a:p>
            <a:pPr marL="0" indent="0" fontAlgn="base">
              <a:buNone/>
            </a:pPr>
            <a:r>
              <a:rPr lang="en-US" sz="2200" b="1"/>
              <a:t>Why it matters:</a:t>
            </a:r>
            <a:r>
              <a:rPr lang="en-US" sz="2200"/>
              <a:t>​</a:t>
            </a:r>
          </a:p>
          <a:p>
            <a:pPr fontAlgn="base"/>
            <a:r>
              <a:rPr lang="en-US" sz="2200"/>
              <a:t>Adversarial attacks expose vulnerabilities in AI systems, especially in security-critical applications like autonomous vehicles, facial recognition, malware detection, and medical diagnosis. Understanding these attacks is crucial for developing robust, secure AI systems.​</a:t>
            </a:r>
          </a:p>
        </p:txBody>
      </p:sp>
    </p:spTree>
    <p:extLst>
      <p:ext uri="{BB962C8B-B14F-4D97-AF65-F5344CB8AC3E}">
        <p14:creationId xmlns:p14="http://schemas.microsoft.com/office/powerpoint/2010/main" val="2620919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DB9CD-E4EA-A50F-2ABD-7C6A01BD1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C9628-76F7-75E5-4FA5-70B1083F7536}"/>
              </a:ext>
            </a:extLst>
          </p:cNvPr>
          <p:cNvSpPr>
            <a:spLocks noGrp="1"/>
          </p:cNvSpPr>
          <p:nvPr>
            <p:ph type="title"/>
          </p:nvPr>
        </p:nvSpPr>
        <p:spPr/>
        <p:txBody>
          <a:bodyPr/>
          <a:lstStyle/>
          <a:p>
            <a:r>
              <a:rPr lang="en-US">
                <a:latin typeface="Arial"/>
                <a:cs typeface="Arial"/>
              </a:rPr>
              <a:t>Adversarial Attacks Example</a:t>
            </a:r>
            <a:endParaRPr lang="en-US" b="0">
              <a:solidFill>
                <a:srgbClr val="000000"/>
              </a:solidFill>
              <a:latin typeface="Arial"/>
              <a:cs typeface="Arial"/>
            </a:endParaRPr>
          </a:p>
        </p:txBody>
      </p:sp>
      <p:pic>
        <p:nvPicPr>
          <p:cNvPr id="3" name="Content Placeholder 2" descr="A screenshot of a car&#10;&#10;AI-generated content may be incorrect.">
            <a:extLst>
              <a:ext uri="{FF2B5EF4-FFF2-40B4-BE49-F238E27FC236}">
                <a16:creationId xmlns:a16="http://schemas.microsoft.com/office/drawing/2014/main" id="{D72A3467-A71F-83CA-28AA-7F75B7197B16}"/>
              </a:ext>
            </a:extLst>
          </p:cNvPr>
          <p:cNvPicPr>
            <a:picLocks noGrp="1" noChangeAspect="1"/>
          </p:cNvPicPr>
          <p:nvPr>
            <p:ph idx="1"/>
          </p:nvPr>
        </p:nvPicPr>
        <p:blipFill>
          <a:blip r:embed="rId2"/>
          <a:srcRect r="66740"/>
          <a:stretch>
            <a:fillRect/>
          </a:stretch>
        </p:blipFill>
        <p:spPr>
          <a:xfrm>
            <a:off x="3986463" y="1711896"/>
            <a:ext cx="3649586" cy="3791143"/>
          </a:xfrm>
          <a:prstGeom prst="rect">
            <a:avLst/>
          </a:prstGeom>
        </p:spPr>
      </p:pic>
    </p:spTree>
    <p:extLst>
      <p:ext uri="{BB962C8B-B14F-4D97-AF65-F5344CB8AC3E}">
        <p14:creationId xmlns:p14="http://schemas.microsoft.com/office/powerpoint/2010/main" val="185743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D25FD-53E5-A66D-FB58-8C15482B2B07}"/>
              </a:ext>
            </a:extLst>
          </p:cNvPr>
          <p:cNvSpPr>
            <a:spLocks noGrp="1"/>
          </p:cNvSpPr>
          <p:nvPr>
            <p:ph type="title"/>
          </p:nvPr>
        </p:nvSpPr>
        <p:spPr>
          <a:xfrm>
            <a:off x="609600" y="363090"/>
            <a:ext cx="10972800" cy="800100"/>
          </a:xfrm>
        </p:spPr>
        <p:txBody>
          <a:bodyPr anchor="b">
            <a:normAutofit/>
          </a:bodyPr>
          <a:lstStyle/>
          <a:p>
            <a:r>
              <a:rPr lang="en-US"/>
              <a:t>Adversarial Attacks Example</a:t>
            </a:r>
            <a:endParaRPr lang="en-US" b="0"/>
          </a:p>
        </p:txBody>
      </p:sp>
      <p:pic>
        <p:nvPicPr>
          <p:cNvPr id="7" name="Content Placeholder 6" descr="A collage of images of a car&#10;&#10;AI-generated content may be incorrect.">
            <a:extLst>
              <a:ext uri="{FF2B5EF4-FFF2-40B4-BE49-F238E27FC236}">
                <a16:creationId xmlns:a16="http://schemas.microsoft.com/office/drawing/2014/main" id="{668DFD29-6D1A-FB03-14F3-D2BFE6231DBC}"/>
              </a:ext>
            </a:extLst>
          </p:cNvPr>
          <p:cNvPicPr>
            <a:picLocks noGrp="1" noChangeAspect="1"/>
          </p:cNvPicPr>
          <p:nvPr>
            <p:ph idx="1"/>
          </p:nvPr>
        </p:nvPicPr>
        <p:blipFill>
          <a:blip r:embed="rId2"/>
          <a:srcRect r="-74" b="66478"/>
          <a:stretch>
            <a:fillRect/>
          </a:stretch>
        </p:blipFill>
        <p:spPr>
          <a:xfrm>
            <a:off x="601494" y="1718553"/>
            <a:ext cx="10981029" cy="3851661"/>
          </a:xfrm>
          <a:prstGeom prst="rect">
            <a:avLst/>
          </a:prstGeom>
          <a:noFill/>
        </p:spPr>
      </p:pic>
    </p:spTree>
    <p:extLst>
      <p:ext uri="{BB962C8B-B14F-4D97-AF65-F5344CB8AC3E}">
        <p14:creationId xmlns:p14="http://schemas.microsoft.com/office/powerpoint/2010/main" val="120215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77E8-FE77-07B4-DEF3-CD4F01A4D3C6}"/>
              </a:ext>
            </a:extLst>
          </p:cNvPr>
          <p:cNvSpPr>
            <a:spLocks noGrp="1"/>
          </p:cNvSpPr>
          <p:nvPr>
            <p:ph type="title"/>
          </p:nvPr>
        </p:nvSpPr>
        <p:spPr/>
        <p:txBody>
          <a:bodyPr/>
          <a:lstStyle/>
          <a:p>
            <a:r>
              <a:rPr lang="en-US"/>
              <a:t>Adversarial Attacks Example</a:t>
            </a:r>
            <a:endParaRPr lang="en-US" b="0">
              <a:solidFill>
                <a:srgbClr val="000000"/>
              </a:solidFill>
            </a:endParaRPr>
          </a:p>
        </p:txBody>
      </p:sp>
      <p:pic>
        <p:nvPicPr>
          <p:cNvPr id="4" name="Content Placeholder 3" descr="A blue car parked in front of a building&#10;&#10;AI-generated content may be incorrect.">
            <a:extLst>
              <a:ext uri="{FF2B5EF4-FFF2-40B4-BE49-F238E27FC236}">
                <a16:creationId xmlns:a16="http://schemas.microsoft.com/office/drawing/2014/main" id="{332C3577-E3B3-F79B-FCE9-4676CA7097DC}"/>
              </a:ext>
            </a:extLst>
          </p:cNvPr>
          <p:cNvPicPr>
            <a:picLocks noGrp="1" noChangeAspect="1"/>
          </p:cNvPicPr>
          <p:nvPr>
            <p:ph idx="1"/>
          </p:nvPr>
        </p:nvPicPr>
        <p:blipFill>
          <a:blip r:embed="rId2"/>
          <a:srcRect t="146" r="-73" b="22076"/>
          <a:stretch>
            <a:fillRect/>
          </a:stretch>
        </p:blipFill>
        <p:spPr>
          <a:xfrm>
            <a:off x="608824" y="1401536"/>
            <a:ext cx="10960748" cy="4254809"/>
          </a:xfrm>
          <a:prstGeom prst="rect">
            <a:avLst/>
          </a:prstGeom>
        </p:spPr>
      </p:pic>
    </p:spTree>
    <p:extLst>
      <p:ext uri="{BB962C8B-B14F-4D97-AF65-F5344CB8AC3E}">
        <p14:creationId xmlns:p14="http://schemas.microsoft.com/office/powerpoint/2010/main" val="3616784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3B484-4DC8-9EC8-4920-58EBA0989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0F94C-5BAE-D33D-FADF-ACB090CCC63F}"/>
              </a:ext>
            </a:extLst>
          </p:cNvPr>
          <p:cNvSpPr>
            <a:spLocks noGrp="1"/>
          </p:cNvSpPr>
          <p:nvPr>
            <p:ph type="title"/>
          </p:nvPr>
        </p:nvSpPr>
        <p:spPr/>
        <p:txBody>
          <a:bodyPr/>
          <a:lstStyle/>
          <a:p>
            <a:r>
              <a:rPr lang="en-US"/>
              <a:t>Adversarial Attacks​</a:t>
            </a:r>
          </a:p>
        </p:txBody>
      </p:sp>
      <p:graphicFrame>
        <p:nvGraphicFramePr>
          <p:cNvPr id="4" name="Table 3">
            <a:extLst>
              <a:ext uri="{FF2B5EF4-FFF2-40B4-BE49-F238E27FC236}">
                <a16:creationId xmlns:a16="http://schemas.microsoft.com/office/drawing/2014/main" id="{2F96E519-261D-1E41-6D71-C2423FA99BDB}"/>
              </a:ext>
            </a:extLst>
          </p:cNvPr>
          <p:cNvGraphicFramePr>
            <a:graphicFrameLocks noGrp="1"/>
          </p:cNvGraphicFramePr>
          <p:nvPr>
            <p:extLst>
              <p:ext uri="{D42A27DB-BD31-4B8C-83A1-F6EECF244321}">
                <p14:modId xmlns:p14="http://schemas.microsoft.com/office/powerpoint/2010/main" val="2800571625"/>
              </p:ext>
            </p:extLst>
          </p:nvPr>
        </p:nvGraphicFramePr>
        <p:xfrm>
          <a:off x="609599" y="1524000"/>
          <a:ext cx="10972800" cy="444038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55048">
                <a:tc>
                  <a:txBody>
                    <a:bodyPr/>
                    <a:lstStyle/>
                    <a:p>
                      <a:pPr algn="ctr">
                        <a:defRPr sz="1100" b="1">
                          <a:solidFill>
                            <a:srgbClr val="FFFFFF"/>
                          </a:solidFill>
                        </a:defRPr>
                      </a:pPr>
                      <a:r>
                        <a:t>Attribute</a:t>
                      </a:r>
                    </a:p>
                  </a:txBody>
                  <a:tcPr anchor="ctr">
                    <a:solidFill>
                      <a:srgbClr val="193264"/>
                    </a:solidFill>
                  </a:tcPr>
                </a:tc>
                <a:tc>
                  <a:txBody>
                    <a:bodyPr/>
                    <a:lstStyle/>
                    <a:p>
                      <a:pPr algn="ctr">
                        <a:defRPr sz="1100" b="1">
                          <a:solidFill>
                            <a:srgbClr val="FFFFFF"/>
                          </a:solidFill>
                        </a:defRPr>
                      </a:pPr>
                      <a:r>
                        <a:t>FGSM</a:t>
                      </a:r>
                    </a:p>
                  </a:txBody>
                  <a:tcPr anchor="ctr">
                    <a:solidFill>
                      <a:srgbClr val="193264"/>
                    </a:solidFill>
                  </a:tcPr>
                </a:tc>
                <a:tc>
                  <a:txBody>
                    <a:bodyPr/>
                    <a:lstStyle/>
                    <a:p>
                      <a:pPr algn="ctr">
                        <a:defRPr sz="1100" b="1">
                          <a:solidFill>
                            <a:srgbClr val="FFFFFF"/>
                          </a:solidFill>
                        </a:defRPr>
                      </a:pPr>
                      <a:r>
                        <a:t>PGD</a:t>
                      </a:r>
                    </a:p>
                  </a:txBody>
                  <a:tcPr anchor="ctr">
                    <a:solidFill>
                      <a:srgbClr val="193264"/>
                    </a:solidFill>
                  </a:tcPr>
                </a:tc>
                <a:tc>
                  <a:txBody>
                    <a:bodyPr/>
                    <a:lstStyle/>
                    <a:p>
                      <a:pPr algn="ctr">
                        <a:defRPr sz="1100" b="1">
                          <a:solidFill>
                            <a:srgbClr val="FFFFFF"/>
                          </a:solidFill>
                        </a:defRPr>
                      </a:pPr>
                      <a:r>
                        <a:t>C&amp;W</a:t>
                      </a:r>
                    </a:p>
                  </a:txBody>
                  <a:tcPr anchor="ctr">
                    <a:solidFill>
                      <a:srgbClr val="193264"/>
                    </a:solidFill>
                  </a:tcPr>
                </a:tc>
                <a:extLst>
                  <a:ext uri="{0D108BD9-81ED-4DB2-BD59-A6C34878D82A}">
                    <a16:rowId xmlns:a16="http://schemas.microsoft.com/office/drawing/2014/main" val="10000"/>
                  </a:ext>
                </a:extLst>
              </a:tr>
              <a:tr h="555048">
                <a:tc>
                  <a:txBody>
                    <a:bodyPr/>
                    <a:lstStyle/>
                    <a:p>
                      <a:pPr algn="ctr">
                        <a:defRPr sz="1100"/>
                      </a:pPr>
                      <a:r>
                        <a:t>Computation</a:t>
                      </a:r>
                    </a:p>
                  </a:txBody>
                  <a:tcPr anchor="ctr">
                    <a:solidFill>
                      <a:srgbClr val="C8DCF0"/>
                    </a:solidFill>
                  </a:tcPr>
                </a:tc>
                <a:tc>
                  <a:txBody>
                    <a:bodyPr/>
                    <a:lstStyle/>
                    <a:p>
                      <a:pPr algn="ctr">
                        <a:defRPr sz="1100"/>
                      </a:pPr>
                      <a:r>
                        <a:t>1 pass</a:t>
                      </a:r>
                    </a:p>
                  </a:txBody>
                  <a:tcPr anchor="ctr">
                    <a:solidFill>
                      <a:srgbClr val="C8DCF0"/>
                    </a:solidFill>
                  </a:tcPr>
                </a:tc>
                <a:tc>
                  <a:txBody>
                    <a:bodyPr/>
                    <a:lstStyle/>
                    <a:p>
                      <a:pPr algn="ctr">
                        <a:defRPr sz="1100"/>
                      </a:pPr>
                      <a:r>
                        <a:t>10-100 passes</a:t>
                      </a:r>
                    </a:p>
                  </a:txBody>
                  <a:tcPr anchor="ctr">
                    <a:solidFill>
                      <a:srgbClr val="C8DCF0"/>
                    </a:solidFill>
                  </a:tcPr>
                </a:tc>
                <a:tc>
                  <a:txBody>
                    <a:bodyPr/>
                    <a:lstStyle/>
                    <a:p>
                      <a:pPr algn="ctr">
                        <a:defRPr sz="1100"/>
                      </a:pPr>
                      <a:r>
                        <a:t>1000+ iterations</a:t>
                      </a:r>
                    </a:p>
                  </a:txBody>
                  <a:tcPr anchor="ctr">
                    <a:solidFill>
                      <a:srgbClr val="C8DCF0"/>
                    </a:solidFill>
                  </a:tcPr>
                </a:tc>
                <a:extLst>
                  <a:ext uri="{0D108BD9-81ED-4DB2-BD59-A6C34878D82A}">
                    <a16:rowId xmlns:a16="http://schemas.microsoft.com/office/drawing/2014/main" val="10001"/>
                  </a:ext>
                </a:extLst>
              </a:tr>
              <a:tr h="555048">
                <a:tc>
                  <a:txBody>
                    <a:bodyPr/>
                    <a:lstStyle/>
                    <a:p>
                      <a:pPr algn="ctr">
                        <a:defRPr sz="1100"/>
                      </a:pPr>
                      <a:r>
                        <a:t>Wall-clock Time</a:t>
                      </a:r>
                    </a:p>
                  </a:txBody>
                  <a:tcPr anchor="ctr">
                    <a:solidFill>
                      <a:srgbClr val="C8DCF0"/>
                    </a:solidFill>
                  </a:tcPr>
                </a:tc>
                <a:tc>
                  <a:txBody>
                    <a:bodyPr/>
                    <a:lstStyle/>
                    <a:p>
                      <a:pPr algn="ctr">
                        <a:defRPr sz="1100"/>
                      </a:pPr>
                      <a:r>
                        <a:t>milliseconds</a:t>
                      </a:r>
                    </a:p>
                  </a:txBody>
                  <a:tcPr anchor="ctr">
                    <a:solidFill>
                      <a:srgbClr val="C8DCF0"/>
                    </a:solidFill>
                  </a:tcPr>
                </a:tc>
                <a:tc>
                  <a:txBody>
                    <a:bodyPr/>
                    <a:lstStyle/>
                    <a:p>
                      <a:pPr algn="ctr">
                        <a:defRPr sz="1100"/>
                      </a:pPr>
                      <a:r>
                        <a:t>seconds</a:t>
                      </a:r>
                    </a:p>
                  </a:txBody>
                  <a:tcPr anchor="ctr">
                    <a:solidFill>
                      <a:srgbClr val="C8DCF0"/>
                    </a:solidFill>
                  </a:tcPr>
                </a:tc>
                <a:tc>
                  <a:txBody>
                    <a:bodyPr/>
                    <a:lstStyle/>
                    <a:p>
                      <a:pPr algn="ctr">
                        <a:defRPr sz="1100"/>
                      </a:pPr>
                      <a:r>
                        <a:t>minutes</a:t>
                      </a:r>
                    </a:p>
                  </a:txBody>
                  <a:tcPr anchor="ctr">
                    <a:solidFill>
                      <a:srgbClr val="C8DCF0"/>
                    </a:solidFill>
                  </a:tcPr>
                </a:tc>
                <a:extLst>
                  <a:ext uri="{0D108BD9-81ED-4DB2-BD59-A6C34878D82A}">
                    <a16:rowId xmlns:a16="http://schemas.microsoft.com/office/drawing/2014/main" val="10002"/>
                  </a:ext>
                </a:extLst>
              </a:tr>
              <a:tr h="555048">
                <a:tc>
                  <a:txBody>
                    <a:bodyPr/>
                    <a:lstStyle/>
                    <a:p>
                      <a:pPr algn="ctr">
                        <a:defRPr sz="1100"/>
                      </a:pPr>
                      <a:r>
                        <a:t>Perturbation Size</a:t>
                      </a:r>
                    </a:p>
                  </a:txBody>
                  <a:tcPr anchor="ctr">
                    <a:solidFill>
                      <a:srgbClr val="C8DCF0"/>
                    </a:solidFill>
                  </a:tcPr>
                </a:tc>
                <a:tc>
                  <a:txBody>
                    <a:bodyPr/>
                    <a:lstStyle/>
                    <a:p>
                      <a:pPr algn="ctr">
                        <a:defRPr sz="1100"/>
                      </a:pPr>
                      <a:r>
                        <a:t>Large</a:t>
                      </a:r>
                    </a:p>
                  </a:txBody>
                  <a:tcPr anchor="ctr">
                    <a:solidFill>
                      <a:srgbClr val="C8DCF0"/>
                    </a:solidFill>
                  </a:tcPr>
                </a:tc>
                <a:tc>
                  <a:txBody>
                    <a:bodyPr/>
                    <a:lstStyle/>
                    <a:p>
                      <a:pPr algn="ctr">
                        <a:defRPr sz="1100"/>
                      </a:pPr>
                      <a:r>
                        <a:t>Medium</a:t>
                      </a:r>
                    </a:p>
                  </a:txBody>
                  <a:tcPr anchor="ctr">
                    <a:solidFill>
                      <a:srgbClr val="C8DCF0"/>
                    </a:solidFill>
                  </a:tcPr>
                </a:tc>
                <a:tc>
                  <a:txBody>
                    <a:bodyPr/>
                    <a:lstStyle/>
                    <a:p>
                      <a:pPr algn="ctr">
                        <a:defRPr sz="1100"/>
                      </a:pPr>
                      <a:r>
                        <a:t>Small</a:t>
                      </a:r>
                    </a:p>
                  </a:txBody>
                  <a:tcPr anchor="ctr">
                    <a:solidFill>
                      <a:srgbClr val="C8DCF0"/>
                    </a:solidFill>
                  </a:tcPr>
                </a:tc>
                <a:extLst>
                  <a:ext uri="{0D108BD9-81ED-4DB2-BD59-A6C34878D82A}">
                    <a16:rowId xmlns:a16="http://schemas.microsoft.com/office/drawing/2014/main" val="10003"/>
                  </a:ext>
                </a:extLst>
              </a:tr>
              <a:tr h="555048">
                <a:tc>
                  <a:txBody>
                    <a:bodyPr/>
                    <a:lstStyle/>
                    <a:p>
                      <a:pPr algn="ctr">
                        <a:defRPr sz="1100"/>
                      </a:pPr>
                      <a:r>
                        <a:t>Success Rate</a:t>
                      </a:r>
                    </a:p>
                  </a:txBody>
                  <a:tcPr anchor="ctr">
                    <a:solidFill>
                      <a:srgbClr val="C8DCF0"/>
                    </a:solidFill>
                  </a:tcPr>
                </a:tc>
                <a:tc>
                  <a:txBody>
                    <a:bodyPr/>
                    <a:lstStyle/>
                    <a:p>
                      <a:pPr algn="ctr">
                        <a:defRPr sz="1100"/>
                      </a:pPr>
                      <a:r>
                        <a:t>Low-Medium</a:t>
                      </a:r>
                    </a:p>
                  </a:txBody>
                  <a:tcPr anchor="ctr">
                    <a:solidFill>
                      <a:srgbClr val="C8DCF0"/>
                    </a:solidFill>
                  </a:tcPr>
                </a:tc>
                <a:tc>
                  <a:txBody>
                    <a:bodyPr/>
                    <a:lstStyle/>
                    <a:p>
                      <a:pPr algn="ctr">
                        <a:defRPr sz="1100"/>
                      </a:pPr>
                      <a:r>
                        <a:t>High</a:t>
                      </a:r>
                    </a:p>
                  </a:txBody>
                  <a:tcPr anchor="ctr">
                    <a:solidFill>
                      <a:srgbClr val="C8DCF0"/>
                    </a:solidFill>
                  </a:tcPr>
                </a:tc>
                <a:tc>
                  <a:txBody>
                    <a:bodyPr/>
                    <a:lstStyle/>
                    <a:p>
                      <a:pPr algn="ctr">
                        <a:defRPr sz="1100"/>
                      </a:pPr>
                      <a:r>
                        <a:t>Very High</a:t>
                      </a:r>
                    </a:p>
                  </a:txBody>
                  <a:tcPr anchor="ctr">
                    <a:solidFill>
                      <a:srgbClr val="C8DCF0"/>
                    </a:solidFill>
                  </a:tcPr>
                </a:tc>
                <a:extLst>
                  <a:ext uri="{0D108BD9-81ED-4DB2-BD59-A6C34878D82A}">
                    <a16:rowId xmlns:a16="http://schemas.microsoft.com/office/drawing/2014/main" val="10004"/>
                  </a:ext>
                </a:extLst>
              </a:tr>
              <a:tr h="555048">
                <a:tc>
                  <a:txBody>
                    <a:bodyPr/>
                    <a:lstStyle/>
                    <a:p>
                      <a:pPr algn="ctr">
                        <a:defRPr sz="1100"/>
                      </a:pPr>
                      <a:r>
                        <a:t>Targeted Attacks</a:t>
                      </a:r>
                    </a:p>
                  </a:txBody>
                  <a:tcPr anchor="ctr">
                    <a:solidFill>
                      <a:srgbClr val="C8DCF0"/>
                    </a:solidFill>
                  </a:tcPr>
                </a:tc>
                <a:tc>
                  <a:txBody>
                    <a:bodyPr/>
                    <a:lstStyle/>
                    <a:p>
                      <a:pPr algn="ctr">
                        <a:defRPr sz="1100"/>
                      </a:pPr>
                      <a:r>
                        <a:t>❌</a:t>
                      </a:r>
                    </a:p>
                  </a:txBody>
                  <a:tcPr anchor="ctr">
                    <a:solidFill>
                      <a:srgbClr val="C8DCF0"/>
                    </a:solidFill>
                  </a:tcPr>
                </a:tc>
                <a:tc>
                  <a:txBody>
                    <a:bodyPr/>
                    <a:lstStyle/>
                    <a:p>
                      <a:pPr algn="ctr">
                        <a:defRPr sz="1100"/>
                      </a:pPr>
                      <a:r>
                        <a:t>❌ (hard)</a:t>
                      </a:r>
                    </a:p>
                  </a:txBody>
                  <a:tcPr anchor="ctr">
                    <a:solidFill>
                      <a:srgbClr val="C8DCF0"/>
                    </a:solidFill>
                  </a:tcPr>
                </a:tc>
                <a:tc>
                  <a:txBody>
                    <a:bodyPr/>
                    <a:lstStyle/>
                    <a:p>
                      <a:pPr algn="ctr">
                        <a:defRPr sz="1100"/>
                      </a:pPr>
                      <a:r>
                        <a:t>✅</a:t>
                      </a:r>
                    </a:p>
                  </a:txBody>
                  <a:tcPr anchor="ctr">
                    <a:solidFill>
                      <a:srgbClr val="C8DCF0"/>
                    </a:solidFill>
                  </a:tcPr>
                </a:tc>
                <a:extLst>
                  <a:ext uri="{0D108BD9-81ED-4DB2-BD59-A6C34878D82A}">
                    <a16:rowId xmlns:a16="http://schemas.microsoft.com/office/drawing/2014/main" val="10005"/>
                  </a:ext>
                </a:extLst>
              </a:tr>
              <a:tr h="555048">
                <a:tc>
                  <a:txBody>
                    <a:bodyPr/>
                    <a:lstStyle/>
                    <a:p>
                      <a:pPr algn="ctr">
                        <a:defRPr sz="1100"/>
                      </a:pPr>
                      <a:r>
                        <a:t>Norm Types</a:t>
                      </a:r>
                    </a:p>
                  </a:txBody>
                  <a:tcPr anchor="ctr">
                    <a:solidFill>
                      <a:srgbClr val="C8DCF0"/>
                    </a:solidFill>
                  </a:tcPr>
                </a:tc>
                <a:tc>
                  <a:txBody>
                    <a:bodyPr/>
                    <a:lstStyle/>
                    <a:p>
                      <a:pPr algn="ctr">
                        <a:defRPr sz="1100"/>
                      </a:pPr>
                      <a:r>
                        <a:t>L∞ only</a:t>
                      </a:r>
                    </a:p>
                  </a:txBody>
                  <a:tcPr anchor="ctr">
                    <a:solidFill>
                      <a:srgbClr val="C8DCF0"/>
                    </a:solidFill>
                  </a:tcPr>
                </a:tc>
                <a:tc>
                  <a:txBody>
                    <a:bodyPr/>
                    <a:lstStyle/>
                    <a:p>
                      <a:pPr algn="ctr">
                        <a:defRPr sz="1100"/>
                      </a:pPr>
                      <a:r>
                        <a:t>L∞ only</a:t>
                      </a:r>
                    </a:p>
                  </a:txBody>
                  <a:tcPr anchor="ctr">
                    <a:solidFill>
                      <a:srgbClr val="C8DCF0"/>
                    </a:solidFill>
                  </a:tcPr>
                </a:tc>
                <a:tc>
                  <a:txBody>
                    <a:bodyPr/>
                    <a:lstStyle/>
                    <a:p>
                      <a:pPr algn="ctr">
                        <a:defRPr sz="1100"/>
                      </a:pPr>
                      <a:r>
                        <a:t>L₂, L∞, L₁</a:t>
                      </a:r>
                    </a:p>
                  </a:txBody>
                  <a:tcPr anchor="ctr">
                    <a:solidFill>
                      <a:srgbClr val="C8DCF0"/>
                    </a:solidFill>
                  </a:tcPr>
                </a:tc>
                <a:extLst>
                  <a:ext uri="{0D108BD9-81ED-4DB2-BD59-A6C34878D82A}">
                    <a16:rowId xmlns:a16="http://schemas.microsoft.com/office/drawing/2014/main" val="10006"/>
                  </a:ext>
                </a:extLst>
              </a:tr>
              <a:tr h="555048">
                <a:tc>
                  <a:txBody>
                    <a:bodyPr/>
                    <a:lstStyle/>
                    <a:p>
                      <a:pPr algn="ctr">
                        <a:defRPr sz="1100"/>
                      </a:pPr>
                      <a:r>
                        <a:t>Defensibility</a:t>
                      </a:r>
                    </a:p>
                  </a:txBody>
                  <a:tcPr anchor="ctr">
                    <a:solidFill>
                      <a:srgbClr val="C8DCF0"/>
                    </a:solidFill>
                  </a:tcPr>
                </a:tc>
                <a:tc>
                  <a:txBody>
                    <a:bodyPr/>
                    <a:lstStyle/>
                    <a:p>
                      <a:pPr algn="ctr">
                        <a:defRPr sz="1100"/>
                      </a:pPr>
                      <a:r>
                        <a:t>Easy</a:t>
                      </a:r>
                    </a:p>
                  </a:txBody>
                  <a:tcPr anchor="ctr">
                    <a:solidFill>
                      <a:srgbClr val="C8DCF0"/>
                    </a:solidFill>
                  </a:tcPr>
                </a:tc>
                <a:tc>
                  <a:txBody>
                    <a:bodyPr/>
                    <a:lstStyle/>
                    <a:p>
                      <a:pPr algn="ctr">
                        <a:defRPr sz="1100"/>
                      </a:pPr>
                      <a:r>
                        <a:t>Medium</a:t>
                      </a:r>
                    </a:p>
                  </a:txBody>
                  <a:tcPr anchor="ctr">
                    <a:solidFill>
                      <a:srgbClr val="C8DCF0"/>
                    </a:solidFill>
                  </a:tcPr>
                </a:tc>
                <a:tc>
                  <a:txBody>
                    <a:bodyPr/>
                    <a:lstStyle/>
                    <a:p>
                      <a:pPr algn="ctr">
                        <a:defRPr sz="1100"/>
                      </a:pPr>
                      <a:r>
                        <a:t>Very Hard</a:t>
                      </a:r>
                    </a:p>
                  </a:txBody>
                  <a:tcPr anchor="ctr">
                    <a:solidFill>
                      <a:srgbClr val="C8DCF0"/>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17276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698E-FF02-C9B5-F8F3-43838815B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74022-5AA0-07B7-5D17-C3539DBE2835}"/>
              </a:ext>
            </a:extLst>
          </p:cNvPr>
          <p:cNvSpPr>
            <a:spLocks noGrp="1"/>
          </p:cNvSpPr>
          <p:nvPr>
            <p:ph type="title"/>
          </p:nvPr>
        </p:nvSpPr>
        <p:spPr/>
        <p:txBody>
          <a:bodyPr/>
          <a:lstStyle/>
          <a:p>
            <a:r>
              <a:rPr lang="en-US"/>
              <a:t>Adversarial Attacks Lab</a:t>
            </a:r>
          </a:p>
        </p:txBody>
      </p:sp>
      <p:sp>
        <p:nvSpPr>
          <p:cNvPr id="3" name="Content Placeholder 2">
            <a:extLst>
              <a:ext uri="{FF2B5EF4-FFF2-40B4-BE49-F238E27FC236}">
                <a16:creationId xmlns:a16="http://schemas.microsoft.com/office/drawing/2014/main" id="{AD35A498-9001-04D8-18D0-742A21D82673}"/>
              </a:ext>
            </a:extLst>
          </p:cNvPr>
          <p:cNvSpPr>
            <a:spLocks noGrp="1"/>
          </p:cNvSpPr>
          <p:nvPr>
            <p:ph idx="1"/>
          </p:nvPr>
        </p:nvSpPr>
        <p:spPr/>
        <p:txBody>
          <a:bodyPr anchor="ctr">
            <a:noAutofit/>
          </a:bodyPr>
          <a:lstStyle/>
          <a:p>
            <a:pPr marL="0" indent="0" fontAlgn="base">
              <a:buNone/>
            </a:pPr>
            <a:r>
              <a:rPr lang="en-US" sz="2200"/>
              <a:t>The following notebook forms a comprehensive learning module on adversarial attacks for automotive AI systems.​</a:t>
            </a:r>
          </a:p>
          <a:p>
            <a:pPr fontAlgn="base"/>
            <a:r>
              <a:rPr lang="en-US" sz="2200" b="1" err="1"/>
              <a:t>adversarial_attacks_automotive.ipynb</a:t>
            </a:r>
            <a:r>
              <a:rPr lang="en-US" sz="2200" b="1"/>
              <a:t> Learning Objectives:</a:t>
            </a:r>
            <a:r>
              <a:rPr lang="en-US" sz="2200"/>
              <a:t>​</a:t>
            </a:r>
          </a:p>
          <a:p>
            <a:pPr lvl="1" fontAlgn="base"/>
            <a:r>
              <a:rPr lang="en-US" sz="2200"/>
              <a:t>Understand how adversarial attacks work in practice​</a:t>
            </a:r>
          </a:p>
          <a:p>
            <a:pPr lvl="1" fontAlgn="base"/>
            <a:r>
              <a:rPr lang="en-US" sz="2200"/>
              <a:t>See the vulnerability of neural networks to small perturbations​</a:t>
            </a:r>
          </a:p>
          <a:p>
            <a:pPr lvl="1" fontAlgn="base"/>
            <a:r>
              <a:rPr lang="en-US" sz="2200"/>
              <a:t>Compare different attack methodologies​</a:t>
            </a:r>
          </a:p>
          <a:p>
            <a:pPr marL="0" indent="0" fontAlgn="base">
              <a:buNone/>
            </a:pPr>
            <a:r>
              <a:rPr lang="en-US" sz="2200"/>
              <a:t>No extra datasets are needed before execution since the notebooks will already handle the required materials.​</a:t>
            </a:r>
          </a:p>
        </p:txBody>
      </p:sp>
    </p:spTree>
    <p:extLst>
      <p:ext uri="{BB962C8B-B14F-4D97-AF65-F5344CB8AC3E}">
        <p14:creationId xmlns:p14="http://schemas.microsoft.com/office/powerpoint/2010/main" val="1502726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E49A-7D04-2162-02DE-8F48E05A5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BA58D-8E1C-35FC-A352-D3EB7EC6C4F2}"/>
              </a:ext>
            </a:extLst>
          </p:cNvPr>
          <p:cNvSpPr>
            <a:spLocks noGrp="1"/>
          </p:cNvSpPr>
          <p:nvPr>
            <p:ph type="title"/>
          </p:nvPr>
        </p:nvSpPr>
        <p:spPr/>
        <p:txBody>
          <a:bodyPr/>
          <a:lstStyle/>
          <a:p>
            <a:r>
              <a:rPr lang="en-US"/>
              <a:t>Adversarial Training and Defense​</a:t>
            </a:r>
          </a:p>
        </p:txBody>
      </p:sp>
      <p:sp>
        <p:nvSpPr>
          <p:cNvPr id="3" name="Content Placeholder 2">
            <a:extLst>
              <a:ext uri="{FF2B5EF4-FFF2-40B4-BE49-F238E27FC236}">
                <a16:creationId xmlns:a16="http://schemas.microsoft.com/office/drawing/2014/main" id="{BED32655-A9D7-7A5A-A899-BAD4BDC8EDE5}"/>
              </a:ext>
            </a:extLst>
          </p:cNvPr>
          <p:cNvSpPr>
            <a:spLocks noGrp="1"/>
          </p:cNvSpPr>
          <p:nvPr>
            <p:ph idx="1"/>
          </p:nvPr>
        </p:nvSpPr>
        <p:spPr/>
        <p:txBody>
          <a:bodyPr anchor="ctr">
            <a:normAutofit/>
          </a:bodyPr>
          <a:lstStyle/>
          <a:p>
            <a:pPr marL="0" indent="0" fontAlgn="base">
              <a:buNone/>
            </a:pPr>
            <a:r>
              <a:rPr lang="en-US" sz="2200" b="1"/>
              <a:t>Adversarial Training</a:t>
            </a:r>
            <a:r>
              <a:rPr lang="en-US" sz="2200"/>
              <a:t> is a defense technique that makes machine learning models more robust by training them on adversarial examples alongside normal data. During training, adversarial examples are generated and the model learns to correctly classify both original and perturbed inputs.​</a:t>
            </a:r>
          </a:p>
          <a:p>
            <a:pPr marL="0" indent="0" fontAlgn="base">
              <a:buNone/>
            </a:pPr>
            <a:r>
              <a:rPr lang="en-US" sz="2200" b="1"/>
              <a:t>How it works:</a:t>
            </a:r>
            <a:r>
              <a:rPr lang="en-US" sz="2200"/>
              <a:t>​</a:t>
            </a:r>
          </a:p>
          <a:p>
            <a:pPr marL="457200" indent="-457200" fontAlgn="base">
              <a:buFont typeface="+mj-lt"/>
              <a:buAutoNum type="arabicPeriod"/>
            </a:pPr>
            <a:r>
              <a:rPr lang="en-US" sz="2200"/>
              <a:t>Generate adversarial examples during training​</a:t>
            </a:r>
          </a:p>
          <a:p>
            <a:pPr marL="457200" indent="-457200" fontAlgn="base">
              <a:buFont typeface="+mj-lt"/>
              <a:buAutoNum type="arabicPeriod"/>
            </a:pPr>
            <a:r>
              <a:rPr lang="en-US" sz="2200"/>
              <a:t>Add them to the training dataset with correct labels​</a:t>
            </a:r>
          </a:p>
          <a:p>
            <a:pPr marL="457200" indent="-457200" fontAlgn="base">
              <a:buFont typeface="+mj-lt"/>
              <a:buAutoNum type="arabicPeriod"/>
            </a:pPr>
            <a:r>
              <a:rPr lang="en-US" sz="2200"/>
              <a:t>Model learns to be resilient to these perturbations​</a:t>
            </a:r>
          </a:p>
          <a:p>
            <a:pPr marL="457200" indent="-457200" fontAlgn="base">
              <a:buFont typeface="+mj-lt"/>
              <a:buAutoNum type="arabicPeriod"/>
            </a:pPr>
            <a:r>
              <a:rPr lang="en-US" sz="2200"/>
              <a:t>Results in more robust decision boundaries​</a:t>
            </a:r>
          </a:p>
        </p:txBody>
      </p:sp>
    </p:spTree>
    <p:extLst>
      <p:ext uri="{BB962C8B-B14F-4D97-AF65-F5344CB8AC3E}">
        <p14:creationId xmlns:p14="http://schemas.microsoft.com/office/powerpoint/2010/main" val="1044260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81000-BD99-CAAD-F793-E0E023197476}"/>
              </a:ext>
            </a:extLst>
          </p:cNvPr>
          <p:cNvSpPr>
            <a:spLocks noGrp="1"/>
          </p:cNvSpPr>
          <p:nvPr>
            <p:ph type="title"/>
          </p:nvPr>
        </p:nvSpPr>
        <p:spPr/>
        <p:txBody>
          <a:bodyPr/>
          <a:lstStyle/>
          <a:p>
            <a:r>
              <a:rPr lang="en-US">
                <a:latin typeface="Arial"/>
                <a:ea typeface="Verdana"/>
                <a:cs typeface="Arial"/>
              </a:rPr>
              <a:t>Adversarial Training and Defense STL-10 Example</a:t>
            </a:r>
            <a:endParaRPr lang="en-US" b="0">
              <a:solidFill>
                <a:srgbClr val="000000"/>
              </a:solidFill>
            </a:endParaRPr>
          </a:p>
        </p:txBody>
      </p:sp>
      <p:pic>
        <p:nvPicPr>
          <p:cNvPr id="4" name="Content Placeholder 3" descr="A collage of different animals&#10;&#10;AI-generated content may be incorrect.">
            <a:extLst>
              <a:ext uri="{FF2B5EF4-FFF2-40B4-BE49-F238E27FC236}">
                <a16:creationId xmlns:a16="http://schemas.microsoft.com/office/drawing/2014/main" id="{098FBEF0-6C42-DE4F-539D-884C75BBB4A7}"/>
              </a:ext>
            </a:extLst>
          </p:cNvPr>
          <p:cNvPicPr>
            <a:picLocks noGrp="1" noChangeAspect="1"/>
          </p:cNvPicPr>
          <p:nvPr>
            <p:ph idx="1"/>
          </p:nvPr>
        </p:nvPicPr>
        <p:blipFill>
          <a:blip r:embed="rId2"/>
          <a:srcRect l="80848"/>
          <a:stretch>
            <a:fillRect/>
          </a:stretch>
        </p:blipFill>
        <p:spPr>
          <a:xfrm>
            <a:off x="1997530" y="1458428"/>
            <a:ext cx="2101522" cy="4632960"/>
          </a:xfrm>
          <a:prstGeom prst="rect">
            <a:avLst/>
          </a:prstGeom>
        </p:spPr>
      </p:pic>
      <p:pic>
        <p:nvPicPr>
          <p:cNvPr id="5" name="Picture 4" descr="A collage of different animals&#10;&#10;AI-generated content may be incorrect.">
            <a:extLst>
              <a:ext uri="{FF2B5EF4-FFF2-40B4-BE49-F238E27FC236}">
                <a16:creationId xmlns:a16="http://schemas.microsoft.com/office/drawing/2014/main" id="{FBAFE795-5F3E-B4B6-7092-AC323DBCE7CD}"/>
              </a:ext>
            </a:extLst>
          </p:cNvPr>
          <p:cNvPicPr>
            <a:picLocks noChangeAspect="1"/>
          </p:cNvPicPr>
          <p:nvPr/>
        </p:nvPicPr>
        <p:blipFill>
          <a:blip r:embed="rId3"/>
          <a:srcRect l="82211" r="229" b="-145"/>
          <a:stretch>
            <a:fillRect/>
          </a:stretch>
        </p:blipFill>
        <p:spPr>
          <a:xfrm>
            <a:off x="8047266" y="1375682"/>
            <a:ext cx="1933448" cy="4712163"/>
          </a:xfrm>
          <a:prstGeom prst="rect">
            <a:avLst/>
          </a:prstGeom>
        </p:spPr>
      </p:pic>
      <p:pic>
        <p:nvPicPr>
          <p:cNvPr id="6" name="Picture 5" descr="A collage of different animals&#10;&#10;AI-generated content may be incorrect.">
            <a:extLst>
              <a:ext uri="{FF2B5EF4-FFF2-40B4-BE49-F238E27FC236}">
                <a16:creationId xmlns:a16="http://schemas.microsoft.com/office/drawing/2014/main" id="{AA83F433-AE67-AD38-1EFA-0F19DC10766E}"/>
              </a:ext>
            </a:extLst>
          </p:cNvPr>
          <p:cNvPicPr>
            <a:picLocks noChangeAspect="1"/>
          </p:cNvPicPr>
          <p:nvPr/>
        </p:nvPicPr>
        <p:blipFill>
          <a:blip r:embed="rId4"/>
          <a:srcRect l="82179" r="229" b="-145"/>
          <a:stretch>
            <a:fillRect/>
          </a:stretch>
        </p:blipFill>
        <p:spPr>
          <a:xfrm>
            <a:off x="5125018" y="1375682"/>
            <a:ext cx="1936960" cy="4712163"/>
          </a:xfrm>
          <a:prstGeom prst="rect">
            <a:avLst/>
          </a:prstGeom>
        </p:spPr>
      </p:pic>
    </p:spTree>
    <p:extLst>
      <p:ext uri="{BB962C8B-B14F-4D97-AF65-F5344CB8AC3E}">
        <p14:creationId xmlns:p14="http://schemas.microsoft.com/office/powerpoint/2010/main" val="2345972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5E3E-5303-C7F0-2F48-B36ADA796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60B6A-62EE-8570-D1E2-15FFE606A2C5}"/>
              </a:ext>
            </a:extLst>
          </p:cNvPr>
          <p:cNvSpPr>
            <a:spLocks noGrp="1"/>
          </p:cNvSpPr>
          <p:nvPr>
            <p:ph type="title"/>
          </p:nvPr>
        </p:nvSpPr>
        <p:spPr/>
        <p:txBody>
          <a:bodyPr/>
          <a:lstStyle/>
          <a:p>
            <a:r>
              <a:rPr lang="en-US"/>
              <a:t>Adversarial Training and Defense​</a:t>
            </a:r>
          </a:p>
        </p:txBody>
      </p:sp>
      <p:sp>
        <p:nvSpPr>
          <p:cNvPr id="3" name="Content Placeholder 2">
            <a:extLst>
              <a:ext uri="{FF2B5EF4-FFF2-40B4-BE49-F238E27FC236}">
                <a16:creationId xmlns:a16="http://schemas.microsoft.com/office/drawing/2014/main" id="{CEA5C771-86B1-5C63-D0A2-0CC5B252DA40}"/>
              </a:ext>
            </a:extLst>
          </p:cNvPr>
          <p:cNvSpPr>
            <a:spLocks noGrp="1"/>
          </p:cNvSpPr>
          <p:nvPr>
            <p:ph idx="1"/>
          </p:nvPr>
        </p:nvSpPr>
        <p:spPr/>
        <p:txBody>
          <a:bodyPr anchor="ctr">
            <a:normAutofit/>
          </a:bodyPr>
          <a:lstStyle/>
          <a:p>
            <a:pPr marL="0" indent="0" fontAlgn="base">
              <a:buNone/>
            </a:pPr>
            <a:r>
              <a:rPr lang="en-US" sz="2200" b="1"/>
              <a:t>Trade-offs:</a:t>
            </a:r>
            <a:r>
              <a:rPr lang="en-US" sz="2200"/>
              <a:t>​</a:t>
            </a:r>
          </a:p>
          <a:p>
            <a:pPr fontAlgn="base"/>
            <a:r>
              <a:rPr lang="en-US" sz="2200"/>
              <a:t>Adversarial training often improves robustness but may slightly reduce accuracy on clean data​</a:t>
            </a:r>
          </a:p>
          <a:p>
            <a:pPr fontAlgn="base"/>
            <a:r>
              <a:rPr lang="en-US" sz="2200"/>
              <a:t>Computational cost increases due to generating adversarial examples during training​</a:t>
            </a:r>
          </a:p>
          <a:p>
            <a:pPr fontAlgn="base"/>
            <a:r>
              <a:rPr lang="en-US" sz="2200"/>
              <a:t>Defense is an ongoing arms race—new attacks can bypass existing defenses​</a:t>
            </a:r>
          </a:p>
        </p:txBody>
      </p:sp>
    </p:spTree>
    <p:extLst>
      <p:ext uri="{BB962C8B-B14F-4D97-AF65-F5344CB8AC3E}">
        <p14:creationId xmlns:p14="http://schemas.microsoft.com/office/powerpoint/2010/main" val="1532504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3ABB-E1FF-38D1-496D-9FE3A4FF9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2CDE5-8C71-EE92-FC84-EB11B282C95A}"/>
              </a:ext>
            </a:extLst>
          </p:cNvPr>
          <p:cNvSpPr>
            <a:spLocks noGrp="1"/>
          </p:cNvSpPr>
          <p:nvPr>
            <p:ph type="title"/>
          </p:nvPr>
        </p:nvSpPr>
        <p:spPr/>
        <p:txBody>
          <a:bodyPr/>
          <a:lstStyle/>
          <a:p>
            <a:r>
              <a:rPr lang="en-US"/>
              <a:t>Adversarial Training and Defense​</a:t>
            </a:r>
          </a:p>
        </p:txBody>
      </p:sp>
      <p:sp>
        <p:nvSpPr>
          <p:cNvPr id="3" name="Content Placeholder 2">
            <a:extLst>
              <a:ext uri="{FF2B5EF4-FFF2-40B4-BE49-F238E27FC236}">
                <a16:creationId xmlns:a16="http://schemas.microsoft.com/office/drawing/2014/main" id="{CD6FE22C-5460-41C9-5A70-C4FE1A8EE7E2}"/>
              </a:ext>
            </a:extLst>
          </p:cNvPr>
          <p:cNvSpPr>
            <a:spLocks noGrp="1"/>
          </p:cNvSpPr>
          <p:nvPr>
            <p:ph idx="1"/>
          </p:nvPr>
        </p:nvSpPr>
        <p:spPr/>
        <p:txBody>
          <a:bodyPr anchor="ctr">
            <a:normAutofit fontScale="92500" lnSpcReduction="10000"/>
          </a:bodyPr>
          <a:lstStyle/>
          <a:p>
            <a:pPr marL="0" indent="0" fontAlgn="base">
              <a:buNone/>
            </a:pPr>
            <a:r>
              <a:rPr lang="en-US" b="1"/>
              <a:t>Defense Mechanisms</a:t>
            </a:r>
            <a:r>
              <a:rPr lang="en-US"/>
              <a:t> include various strategies beyond adversarial training:​</a:t>
            </a:r>
          </a:p>
          <a:p>
            <a:pPr marL="457200" indent="-457200" fontAlgn="base">
              <a:buFont typeface="+mj-lt"/>
              <a:buAutoNum type="arabicPeriod"/>
            </a:pPr>
            <a:r>
              <a:rPr lang="en-US" b="1"/>
              <a:t>Input preprocessing: </a:t>
            </a:r>
            <a:r>
              <a:rPr lang="en-US"/>
              <a:t>Detecting and filtering adversarial perturbations before they reach the model(denoising, compression, transformation)​</a:t>
            </a:r>
          </a:p>
          <a:p>
            <a:pPr marL="457200" indent="-457200" fontAlgn="base">
              <a:buFont typeface="+mj-lt"/>
              <a:buAutoNum type="arabicPeriod"/>
            </a:pPr>
            <a:r>
              <a:rPr lang="en-US" b="1"/>
              <a:t>Defensive distillation:</a:t>
            </a:r>
            <a:r>
              <a:rPr lang="en-US"/>
              <a:t> Training models at high temperatures to smooth decision boundaries​</a:t>
            </a:r>
          </a:p>
          <a:p>
            <a:pPr marL="457200" indent="-457200" fontAlgn="base">
              <a:buFont typeface="+mj-lt"/>
              <a:buAutoNum type="arabicPeriod"/>
            </a:pPr>
            <a:r>
              <a:rPr lang="en-US" b="1"/>
              <a:t>Ensemble methods: </a:t>
            </a:r>
            <a:r>
              <a:rPr lang="en-US"/>
              <a:t>Using multiple models with different architectures to make predictions harder to fool​</a:t>
            </a:r>
          </a:p>
          <a:p>
            <a:pPr marL="457200" indent="-457200" fontAlgn="base">
              <a:buFont typeface="+mj-lt"/>
              <a:buAutoNum type="arabicPeriod"/>
            </a:pPr>
            <a:r>
              <a:rPr lang="en-US" b="1"/>
              <a:t>Detection:</a:t>
            </a:r>
            <a:r>
              <a:rPr lang="en-US"/>
              <a:t> Identifying adversarial examples rather than classifying them​</a:t>
            </a:r>
          </a:p>
          <a:p>
            <a:pPr marL="457200" indent="-457200" fontAlgn="base">
              <a:buFont typeface="+mj-lt"/>
              <a:buAutoNum type="arabicPeriod"/>
            </a:pPr>
            <a:r>
              <a:rPr lang="en-US" b="1"/>
              <a:t>Gradient masking:</a:t>
            </a:r>
            <a:r>
              <a:rPr lang="en-US"/>
              <a:t> Making gradients harder to exploit (though this can provide false security)​</a:t>
            </a:r>
          </a:p>
          <a:p>
            <a:pPr marL="457200" indent="-457200" fontAlgn="base">
              <a:buFont typeface="+mj-lt"/>
              <a:buAutoNum type="arabicPeriod"/>
            </a:pPr>
            <a:r>
              <a:rPr lang="en-US" b="1"/>
              <a:t>Certified defenses:</a:t>
            </a:r>
            <a:r>
              <a:rPr lang="en-US"/>
              <a:t> Providing mathematical guarantees about robustness within certain perturbation bounds​</a:t>
            </a:r>
          </a:p>
        </p:txBody>
      </p:sp>
    </p:spTree>
    <p:extLst>
      <p:ext uri="{BB962C8B-B14F-4D97-AF65-F5344CB8AC3E}">
        <p14:creationId xmlns:p14="http://schemas.microsoft.com/office/powerpoint/2010/main" val="113978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C441-1C71-48D9-A3B3-E2900236E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5C0F4-27C9-78FF-FE1C-7A66CE185439}"/>
              </a:ext>
            </a:extLst>
          </p:cNvPr>
          <p:cNvSpPr>
            <a:spLocks noGrp="1"/>
          </p:cNvSpPr>
          <p:nvPr>
            <p:ph type="title"/>
          </p:nvPr>
        </p:nvSpPr>
        <p:spPr/>
        <p:txBody>
          <a:bodyPr/>
          <a:lstStyle/>
          <a:p>
            <a:r>
              <a:rPr lang="en-US"/>
              <a:t>Adversarial Training and Defense Lab​</a:t>
            </a:r>
          </a:p>
        </p:txBody>
      </p:sp>
      <p:sp>
        <p:nvSpPr>
          <p:cNvPr id="3" name="Content Placeholder 2">
            <a:extLst>
              <a:ext uri="{FF2B5EF4-FFF2-40B4-BE49-F238E27FC236}">
                <a16:creationId xmlns:a16="http://schemas.microsoft.com/office/drawing/2014/main" id="{FA2EA026-54E8-A3FF-12A9-47C243BDBD28}"/>
              </a:ext>
            </a:extLst>
          </p:cNvPr>
          <p:cNvSpPr>
            <a:spLocks noGrp="1"/>
          </p:cNvSpPr>
          <p:nvPr>
            <p:ph idx="1"/>
          </p:nvPr>
        </p:nvSpPr>
        <p:spPr/>
        <p:txBody>
          <a:bodyPr anchor="ctr">
            <a:noAutofit/>
          </a:bodyPr>
          <a:lstStyle/>
          <a:p>
            <a:pPr marL="0" indent="0" fontAlgn="base">
              <a:buNone/>
            </a:pPr>
            <a:r>
              <a:rPr lang="en-US" sz="2200"/>
              <a:t>The following notebook forms a comprehensive learning module on adversarial machine learning for automotive/computer vision AI systems.​</a:t>
            </a:r>
          </a:p>
          <a:p>
            <a:pPr fontAlgn="base"/>
            <a:r>
              <a:rPr lang="en-US" sz="2200" b="1" err="1"/>
              <a:t>adversarial_training_defense.ipynb</a:t>
            </a:r>
            <a:r>
              <a:rPr lang="en-US" sz="2200" b="1"/>
              <a:t> Learning Objectives:</a:t>
            </a:r>
            <a:r>
              <a:rPr lang="en-US" sz="2200"/>
              <a:t>​</a:t>
            </a:r>
          </a:p>
          <a:p>
            <a:pPr lvl="1" fontAlgn="base"/>
            <a:r>
              <a:rPr lang="en-US" sz="2200"/>
              <a:t>Learn how to defend against adversarial attacks​</a:t>
            </a:r>
          </a:p>
          <a:p>
            <a:pPr lvl="1" fontAlgn="base"/>
            <a:r>
              <a:rPr lang="en-US" sz="2200"/>
              <a:t>Understand the trade-offs in robust model training​</a:t>
            </a:r>
          </a:p>
          <a:p>
            <a:pPr lvl="1" fontAlgn="base"/>
            <a:r>
              <a:rPr lang="en-US" sz="2200"/>
              <a:t>Implement adversarial training from scratch​</a:t>
            </a:r>
          </a:p>
          <a:p>
            <a:pPr marL="0" indent="0" fontAlgn="base">
              <a:buNone/>
            </a:pPr>
            <a:r>
              <a:rPr lang="en-US" sz="2200"/>
              <a:t>No extra datasets are needed before execution since the notebooks will already handle the required materials.​</a:t>
            </a:r>
          </a:p>
        </p:txBody>
      </p:sp>
    </p:spTree>
    <p:extLst>
      <p:ext uri="{BB962C8B-B14F-4D97-AF65-F5344CB8AC3E}">
        <p14:creationId xmlns:p14="http://schemas.microsoft.com/office/powerpoint/2010/main" val="3217226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DD0A3-3096-FABA-01DA-713955ED0230}"/>
              </a:ext>
            </a:extLst>
          </p:cNvPr>
          <p:cNvSpPr>
            <a:spLocks noGrp="1"/>
          </p:cNvSpPr>
          <p:nvPr>
            <p:ph type="title"/>
          </p:nvPr>
        </p:nvSpPr>
        <p:spPr/>
        <p:txBody>
          <a:bodyPr/>
          <a:lstStyle/>
          <a:p>
            <a:r>
              <a:rPr lang="en-US"/>
              <a:t>Training and Defense Results</a:t>
            </a:r>
          </a:p>
        </p:txBody>
      </p:sp>
      <p:graphicFrame>
        <p:nvGraphicFramePr>
          <p:cNvPr id="4" name="Table Placeholder 3">
            <a:extLst>
              <a:ext uri="{FF2B5EF4-FFF2-40B4-BE49-F238E27FC236}">
                <a16:creationId xmlns:a16="http://schemas.microsoft.com/office/drawing/2014/main" id="{F34A7A11-01AB-3F96-FA7C-7050C7860963}"/>
              </a:ext>
            </a:extLst>
          </p:cNvPr>
          <p:cNvGraphicFramePr>
            <a:graphicFrameLocks noGrp="1"/>
          </p:cNvGraphicFramePr>
          <p:nvPr>
            <p:ph type="tbl" sz="quarter" idx="16"/>
            <p:extLst>
              <p:ext uri="{D42A27DB-BD31-4B8C-83A1-F6EECF244321}">
                <p14:modId xmlns:p14="http://schemas.microsoft.com/office/powerpoint/2010/main" val="797900610"/>
              </p:ext>
            </p:extLst>
          </p:nvPr>
        </p:nvGraphicFramePr>
        <p:xfrm>
          <a:off x="609600" y="1798638"/>
          <a:ext cx="10972800" cy="432507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20845">
                <a:tc>
                  <a:txBody>
                    <a:bodyPr/>
                    <a:lstStyle/>
                    <a:p>
                      <a:pPr algn="ctr">
                        <a:defRPr sz="1100" b="1">
                          <a:solidFill>
                            <a:srgbClr val="FFFFFF"/>
                          </a:solidFill>
                        </a:defRPr>
                      </a:pPr>
                      <a:r>
                        <a:t>Metric</a:t>
                      </a:r>
                    </a:p>
                  </a:txBody>
                  <a:tcPr anchor="ctr">
                    <a:solidFill>
                      <a:srgbClr val="142850"/>
                    </a:solidFill>
                  </a:tcPr>
                </a:tc>
                <a:tc>
                  <a:txBody>
                    <a:bodyPr/>
                    <a:lstStyle/>
                    <a:p>
                      <a:pPr algn="ctr">
                        <a:defRPr sz="1100" b="1">
                          <a:solidFill>
                            <a:srgbClr val="FFFFFF"/>
                          </a:solidFill>
                        </a:defRPr>
                      </a:pPr>
                      <a:r>
                        <a:t>Standard Model</a:t>
                      </a:r>
                    </a:p>
                  </a:txBody>
                  <a:tcPr anchor="ctr">
                    <a:solidFill>
                      <a:srgbClr val="142850"/>
                    </a:solidFill>
                  </a:tcPr>
                </a:tc>
                <a:tc>
                  <a:txBody>
                    <a:bodyPr/>
                    <a:lstStyle/>
                    <a:p>
                      <a:pPr algn="ctr">
                        <a:defRPr sz="1100" b="1">
                          <a:solidFill>
                            <a:srgbClr val="FFFFFF"/>
                          </a:solidFill>
                        </a:defRPr>
                      </a:pPr>
                      <a:r>
                        <a:t>Robust Model</a:t>
                      </a:r>
                    </a:p>
                  </a:txBody>
                  <a:tcPr anchor="ctr">
                    <a:solidFill>
                      <a:srgbClr val="142850"/>
                    </a:solidFill>
                  </a:tcPr>
                </a:tc>
                <a:tc>
                  <a:txBody>
                    <a:bodyPr/>
                    <a:lstStyle/>
                    <a:p>
                      <a:pPr algn="ctr">
                        <a:defRPr sz="1100" b="1">
                          <a:solidFill>
                            <a:srgbClr val="FFFFFF"/>
                          </a:solidFill>
                        </a:defRPr>
                      </a:pPr>
                      <a:r>
                        <a:t>Change</a:t>
                      </a:r>
                    </a:p>
                  </a:txBody>
                  <a:tcPr anchor="ctr">
                    <a:solidFill>
                      <a:srgbClr val="142850"/>
                    </a:solidFill>
                  </a:tcPr>
                </a:tc>
                <a:extLst>
                  <a:ext uri="{0D108BD9-81ED-4DB2-BD59-A6C34878D82A}">
                    <a16:rowId xmlns:a16="http://schemas.microsoft.com/office/drawing/2014/main" val="10000"/>
                  </a:ext>
                </a:extLst>
              </a:tr>
              <a:tr h="720845">
                <a:tc>
                  <a:txBody>
                    <a:bodyPr/>
                    <a:lstStyle/>
                    <a:p>
                      <a:pPr algn="ctr">
                        <a:defRPr sz="1100"/>
                      </a:pPr>
                      <a:r>
                        <a:t>Clean Accuracy</a:t>
                      </a:r>
                    </a:p>
                  </a:txBody>
                  <a:tcPr anchor="ctr">
                    <a:solidFill>
                      <a:srgbClr val="C8DCF0"/>
                    </a:solidFill>
                  </a:tcPr>
                </a:tc>
                <a:tc>
                  <a:txBody>
                    <a:bodyPr/>
                    <a:lstStyle/>
                    <a:p>
                      <a:pPr algn="ctr">
                        <a:defRPr sz="1100"/>
                      </a:pPr>
                      <a:r>
                        <a:t>~85-92%</a:t>
                      </a:r>
                    </a:p>
                  </a:txBody>
                  <a:tcPr anchor="ctr">
                    <a:solidFill>
                      <a:srgbClr val="C8DCF0"/>
                    </a:solidFill>
                  </a:tcPr>
                </a:tc>
                <a:tc>
                  <a:txBody>
                    <a:bodyPr/>
                    <a:lstStyle/>
                    <a:p>
                      <a:pPr algn="ctr">
                        <a:defRPr sz="1100"/>
                      </a:pPr>
                      <a:r>
                        <a:t>~80-88%</a:t>
                      </a:r>
                    </a:p>
                  </a:txBody>
                  <a:tcPr anchor="ctr">
                    <a:solidFill>
                      <a:srgbClr val="C8DCF0"/>
                    </a:solidFill>
                  </a:tcPr>
                </a:tc>
                <a:tc>
                  <a:txBody>
                    <a:bodyPr/>
                    <a:lstStyle/>
                    <a:p>
                      <a:pPr algn="ctr">
                        <a:defRPr sz="1100"/>
                      </a:pPr>
                      <a:r>
                        <a:t>-2% to -5%</a:t>
                      </a:r>
                    </a:p>
                  </a:txBody>
                  <a:tcPr anchor="ctr">
                    <a:solidFill>
                      <a:srgbClr val="90EE90"/>
                    </a:solidFill>
                  </a:tcPr>
                </a:tc>
                <a:extLst>
                  <a:ext uri="{0D108BD9-81ED-4DB2-BD59-A6C34878D82A}">
                    <a16:rowId xmlns:a16="http://schemas.microsoft.com/office/drawing/2014/main" val="10001"/>
                  </a:ext>
                </a:extLst>
              </a:tr>
              <a:tr h="720845">
                <a:tc>
                  <a:txBody>
                    <a:bodyPr/>
                    <a:lstStyle/>
                    <a:p>
                      <a:pPr algn="ctr">
                        <a:defRPr sz="1100"/>
                      </a:pPr>
                      <a:r>
                        <a:t>Adversarial Accuracy</a:t>
                      </a:r>
                    </a:p>
                  </a:txBody>
                  <a:tcPr anchor="ctr">
                    <a:solidFill>
                      <a:srgbClr val="C8DCF0"/>
                    </a:solidFill>
                  </a:tcPr>
                </a:tc>
                <a:tc>
                  <a:txBody>
                    <a:bodyPr/>
                    <a:lstStyle/>
                    <a:p>
                      <a:pPr algn="ctr">
                        <a:defRPr sz="1100"/>
                      </a:pPr>
                      <a:r>
                        <a:t>~15-25%</a:t>
                      </a:r>
                    </a:p>
                  </a:txBody>
                  <a:tcPr anchor="ctr">
                    <a:solidFill>
                      <a:srgbClr val="C8DCF0"/>
                    </a:solidFill>
                  </a:tcPr>
                </a:tc>
                <a:tc>
                  <a:txBody>
                    <a:bodyPr/>
                    <a:lstStyle/>
                    <a:p>
                      <a:pPr algn="ctr">
                        <a:defRPr sz="1100"/>
                      </a:pPr>
                      <a:r>
                        <a:t>~55-65%</a:t>
                      </a:r>
                    </a:p>
                  </a:txBody>
                  <a:tcPr anchor="ctr">
                    <a:solidFill>
                      <a:srgbClr val="C8DCF0"/>
                    </a:solidFill>
                  </a:tcPr>
                </a:tc>
                <a:tc>
                  <a:txBody>
                    <a:bodyPr/>
                    <a:lstStyle/>
                    <a:p>
                      <a:pPr algn="ctr">
                        <a:defRPr sz="1100"/>
                      </a:pPr>
                      <a:r>
                        <a:t>+30% to +40%</a:t>
                      </a:r>
                    </a:p>
                  </a:txBody>
                  <a:tcPr anchor="ctr">
                    <a:solidFill>
                      <a:srgbClr val="90EE90"/>
                    </a:solidFill>
                  </a:tcPr>
                </a:tc>
                <a:extLst>
                  <a:ext uri="{0D108BD9-81ED-4DB2-BD59-A6C34878D82A}">
                    <a16:rowId xmlns:a16="http://schemas.microsoft.com/office/drawing/2014/main" val="10002"/>
                  </a:ext>
                </a:extLst>
              </a:tr>
              <a:tr h="720845">
                <a:tc>
                  <a:txBody>
                    <a:bodyPr/>
                    <a:lstStyle/>
                    <a:p>
                      <a:pPr algn="ctr">
                        <a:defRPr sz="1100"/>
                      </a:pPr>
                      <a:r>
                        <a:t>Robustness Gap</a:t>
                      </a:r>
                    </a:p>
                  </a:txBody>
                  <a:tcPr anchor="ctr">
                    <a:solidFill>
                      <a:srgbClr val="C8DCF0"/>
                    </a:solidFill>
                  </a:tcPr>
                </a:tc>
                <a:tc>
                  <a:txBody>
                    <a:bodyPr/>
                    <a:lstStyle/>
                    <a:p>
                      <a:pPr algn="ctr">
                        <a:defRPr sz="1100"/>
                      </a:pPr>
                      <a:r>
                        <a:t>~60-70%</a:t>
                      </a:r>
                    </a:p>
                  </a:txBody>
                  <a:tcPr anchor="ctr">
                    <a:solidFill>
                      <a:srgbClr val="C8DCF0"/>
                    </a:solidFill>
                  </a:tcPr>
                </a:tc>
                <a:tc>
                  <a:txBody>
                    <a:bodyPr/>
                    <a:lstStyle/>
                    <a:p>
                      <a:pPr algn="ctr">
                        <a:defRPr sz="1100"/>
                      </a:pPr>
                      <a:r>
                        <a:t>~15-30%</a:t>
                      </a:r>
                    </a:p>
                  </a:txBody>
                  <a:tcPr anchor="ctr">
                    <a:solidFill>
                      <a:srgbClr val="C8DCF0"/>
                    </a:solidFill>
                  </a:tcPr>
                </a:tc>
                <a:tc>
                  <a:txBody>
                    <a:bodyPr/>
                    <a:lstStyle/>
                    <a:p>
                      <a:pPr algn="ctr">
                        <a:defRPr sz="1100"/>
                      </a:pPr>
                      <a:r>
                        <a:t>↓ 50% reduction</a:t>
                      </a:r>
                    </a:p>
                  </a:txBody>
                  <a:tcPr anchor="ctr">
                    <a:solidFill>
                      <a:srgbClr val="90EE90"/>
                    </a:solidFill>
                  </a:tcPr>
                </a:tc>
                <a:extLst>
                  <a:ext uri="{0D108BD9-81ED-4DB2-BD59-A6C34878D82A}">
                    <a16:rowId xmlns:a16="http://schemas.microsoft.com/office/drawing/2014/main" val="10003"/>
                  </a:ext>
                </a:extLst>
              </a:tr>
              <a:tr h="720845">
                <a:tc>
                  <a:txBody>
                    <a:bodyPr/>
                    <a:lstStyle/>
                    <a:p>
                      <a:pPr algn="ctr">
                        <a:defRPr sz="1100"/>
                      </a:pPr>
                      <a:r>
                        <a:t>Vulnerability</a:t>
                      </a:r>
                    </a:p>
                  </a:txBody>
                  <a:tcPr anchor="ctr">
                    <a:solidFill>
                      <a:srgbClr val="C8DCF0"/>
                    </a:solidFill>
                  </a:tcPr>
                </a:tc>
                <a:tc>
                  <a:txBody>
                    <a:bodyPr/>
                    <a:lstStyle/>
                    <a:p>
                      <a:pPr algn="ctr">
                        <a:defRPr sz="1100"/>
                      </a:pPr>
                      <a:r>
                        <a:t>Extreme</a:t>
                      </a:r>
                    </a:p>
                  </a:txBody>
                  <a:tcPr anchor="ctr">
                    <a:solidFill>
                      <a:srgbClr val="C8DCF0"/>
                    </a:solidFill>
                  </a:tcPr>
                </a:tc>
                <a:tc>
                  <a:txBody>
                    <a:bodyPr/>
                    <a:lstStyle/>
                    <a:p>
                      <a:pPr algn="ctr">
                        <a:defRPr sz="1100"/>
                      </a:pPr>
                      <a:r>
                        <a:t>Moderate</a:t>
                      </a:r>
                    </a:p>
                  </a:txBody>
                  <a:tcPr anchor="ctr">
                    <a:solidFill>
                      <a:srgbClr val="C8DCF0"/>
                    </a:solidFill>
                  </a:tcPr>
                </a:tc>
                <a:tc>
                  <a:txBody>
                    <a:bodyPr/>
                    <a:lstStyle/>
                    <a:p>
                      <a:pPr algn="ctr">
                        <a:defRPr sz="1100"/>
                      </a:pPr>
                      <a:r>
                        <a:t>Much Safer</a:t>
                      </a:r>
                    </a:p>
                  </a:txBody>
                  <a:tcPr anchor="ctr">
                    <a:solidFill>
                      <a:srgbClr val="90EE90"/>
                    </a:solidFill>
                  </a:tcPr>
                </a:tc>
                <a:extLst>
                  <a:ext uri="{0D108BD9-81ED-4DB2-BD59-A6C34878D82A}">
                    <a16:rowId xmlns:a16="http://schemas.microsoft.com/office/drawing/2014/main" val="10004"/>
                  </a:ext>
                </a:extLst>
              </a:tr>
              <a:tr h="720845">
                <a:tc>
                  <a:txBody>
                    <a:bodyPr/>
                    <a:lstStyle/>
                    <a:p>
                      <a:pPr algn="ctr">
                        <a:defRPr sz="1100"/>
                      </a:pPr>
                      <a:r>
                        <a:t>Practical Usability</a:t>
                      </a:r>
                    </a:p>
                  </a:txBody>
                  <a:tcPr anchor="ctr">
                    <a:solidFill>
                      <a:srgbClr val="C8DCF0"/>
                    </a:solidFill>
                  </a:tcPr>
                </a:tc>
                <a:tc>
                  <a:txBody>
                    <a:bodyPr/>
                    <a:lstStyle/>
                    <a:p>
                      <a:pPr algn="ctr">
                        <a:defRPr sz="1100"/>
                      </a:pPr>
                      <a:r>
                        <a:t>High risk</a:t>
                      </a:r>
                    </a:p>
                  </a:txBody>
                  <a:tcPr anchor="ctr">
                    <a:solidFill>
                      <a:srgbClr val="C8DCF0"/>
                    </a:solidFill>
                  </a:tcPr>
                </a:tc>
                <a:tc>
                  <a:txBody>
                    <a:bodyPr/>
                    <a:lstStyle/>
                    <a:p>
                      <a:pPr algn="ctr">
                        <a:defRPr sz="1100"/>
                      </a:pPr>
                      <a:r>
                        <a:t>Safe for deployment</a:t>
                      </a:r>
                    </a:p>
                  </a:txBody>
                  <a:tcPr anchor="ctr">
                    <a:solidFill>
                      <a:srgbClr val="C8DCF0"/>
                    </a:solidFill>
                  </a:tcPr>
                </a:tc>
                <a:tc>
                  <a:txBody>
                    <a:bodyPr/>
                    <a:lstStyle/>
                    <a:p>
                      <a:pPr algn="ctr">
                        <a:defRPr sz="1100"/>
                      </a:pPr>
                      <a:r>
                        <a:t>✓ Recommended</a:t>
                      </a:r>
                    </a:p>
                  </a:txBody>
                  <a:tcPr anchor="ctr">
                    <a:solidFill>
                      <a:srgbClr val="90EE90"/>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9735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93679C-7B81-3C65-E1C1-5FDEFB2EE145}"/>
              </a:ext>
            </a:extLst>
          </p:cNvPr>
          <p:cNvSpPr>
            <a:spLocks noGrp="1"/>
          </p:cNvSpPr>
          <p:nvPr>
            <p:ph type="subTitle" idx="1"/>
          </p:nvPr>
        </p:nvSpPr>
        <p:spPr/>
        <p:txBody>
          <a:bodyPr/>
          <a:lstStyle/>
          <a:p>
            <a:pPr marL="0" indent="0">
              <a:buNone/>
            </a:pPr>
            <a:r>
              <a:rPr lang="en-US"/>
              <a:t>Presented By Cooper Dean</a:t>
            </a:r>
          </a:p>
        </p:txBody>
      </p:sp>
      <p:sp>
        <p:nvSpPr>
          <p:cNvPr id="2" name="Title 1">
            <a:extLst>
              <a:ext uri="{FF2B5EF4-FFF2-40B4-BE49-F238E27FC236}">
                <a16:creationId xmlns:a16="http://schemas.microsoft.com/office/drawing/2014/main" id="{952D17E8-3E65-2E43-D2BE-48731D1046DE}"/>
              </a:ext>
            </a:extLst>
          </p:cNvPr>
          <p:cNvSpPr>
            <a:spLocks noGrp="1"/>
          </p:cNvSpPr>
          <p:nvPr>
            <p:ph type="ctrTitle"/>
          </p:nvPr>
        </p:nvSpPr>
        <p:spPr/>
        <p:txBody>
          <a:bodyPr/>
          <a:lstStyle/>
          <a:p>
            <a:r>
              <a:rPr lang="en-US"/>
              <a:t>Model Inversion</a:t>
            </a:r>
            <a:br>
              <a:rPr lang="en-US"/>
            </a:br>
            <a:r>
              <a:rPr lang="en-US"/>
              <a:t>Differential Privacy</a:t>
            </a:r>
          </a:p>
        </p:txBody>
      </p:sp>
      <p:sp>
        <p:nvSpPr>
          <p:cNvPr id="6" name="TextBox 5">
            <a:extLst>
              <a:ext uri="{FF2B5EF4-FFF2-40B4-BE49-F238E27FC236}">
                <a16:creationId xmlns:a16="http://schemas.microsoft.com/office/drawing/2014/main" id="{D37F0FC0-FD01-5567-A204-9C0212A6C9BE}"/>
              </a:ext>
            </a:extLst>
          </p:cNvPr>
          <p:cNvSpPr txBox="1"/>
          <p:nvPr/>
        </p:nvSpPr>
        <p:spPr>
          <a:xfrm>
            <a:off x="3901440" y="595376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4270341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0C37-0AFB-5815-CF6B-5286CCFAA41F}"/>
              </a:ext>
            </a:extLst>
          </p:cNvPr>
          <p:cNvSpPr>
            <a:spLocks noGrp="1"/>
          </p:cNvSpPr>
          <p:nvPr>
            <p:ph type="title"/>
          </p:nvPr>
        </p:nvSpPr>
        <p:spPr/>
        <p:txBody>
          <a:bodyPr/>
          <a:lstStyle/>
          <a:p>
            <a:r>
              <a:rPr lang="en-US"/>
              <a:t>The Privacy Problem in ML</a:t>
            </a:r>
          </a:p>
        </p:txBody>
      </p:sp>
      <p:sp>
        <p:nvSpPr>
          <p:cNvPr id="3" name="Content Placeholder 2">
            <a:extLst>
              <a:ext uri="{FF2B5EF4-FFF2-40B4-BE49-F238E27FC236}">
                <a16:creationId xmlns:a16="http://schemas.microsoft.com/office/drawing/2014/main" id="{46174B6D-ABF5-F998-02F1-17080AC031FE}"/>
              </a:ext>
            </a:extLst>
          </p:cNvPr>
          <p:cNvSpPr>
            <a:spLocks noGrp="1"/>
          </p:cNvSpPr>
          <p:nvPr>
            <p:ph idx="1"/>
          </p:nvPr>
        </p:nvSpPr>
        <p:spPr/>
        <p:txBody>
          <a:bodyPr/>
          <a:lstStyle/>
          <a:p>
            <a:r>
              <a:rPr lang="en-US"/>
              <a:t>Modern ML models can be trained on sensitive data</a:t>
            </a:r>
          </a:p>
          <a:p>
            <a:r>
              <a:rPr lang="en-US"/>
              <a:t>Sometimes large models can memorize specific data points</a:t>
            </a:r>
          </a:p>
          <a:p>
            <a:r>
              <a:rPr lang="en-US"/>
              <a:t>This creates avenues for sensitive data to be leaked</a:t>
            </a:r>
          </a:p>
          <a:p>
            <a:r>
              <a:rPr lang="en-US"/>
              <a:t>Attackers can utilize multiple attacks to recover this data</a:t>
            </a:r>
          </a:p>
        </p:txBody>
      </p:sp>
      <p:pic>
        <p:nvPicPr>
          <p:cNvPr id="5" name="Picture 4">
            <a:extLst>
              <a:ext uri="{FF2B5EF4-FFF2-40B4-BE49-F238E27FC236}">
                <a16:creationId xmlns:a16="http://schemas.microsoft.com/office/drawing/2014/main" id="{52A8FA2F-6520-2299-8B2D-F81BD6ECC9C6}"/>
              </a:ext>
            </a:extLst>
          </p:cNvPr>
          <p:cNvPicPr>
            <a:picLocks noChangeAspect="1"/>
          </p:cNvPicPr>
          <p:nvPr/>
        </p:nvPicPr>
        <p:blipFill>
          <a:blip r:embed="rId2"/>
          <a:stretch>
            <a:fillRect/>
          </a:stretch>
        </p:blipFill>
        <p:spPr>
          <a:xfrm>
            <a:off x="609600" y="4260714"/>
            <a:ext cx="1911485" cy="1911485"/>
          </a:xfrm>
          <a:prstGeom prst="rect">
            <a:avLst/>
          </a:prstGeom>
        </p:spPr>
      </p:pic>
      <p:pic>
        <p:nvPicPr>
          <p:cNvPr id="7" name="Picture 6">
            <a:extLst>
              <a:ext uri="{FF2B5EF4-FFF2-40B4-BE49-F238E27FC236}">
                <a16:creationId xmlns:a16="http://schemas.microsoft.com/office/drawing/2014/main" id="{7C22DC47-E7F9-C821-5211-B2A0146DD28C}"/>
              </a:ext>
            </a:extLst>
          </p:cNvPr>
          <p:cNvPicPr>
            <a:picLocks noChangeAspect="1"/>
          </p:cNvPicPr>
          <p:nvPr/>
        </p:nvPicPr>
        <p:blipFill>
          <a:blip r:embed="rId3"/>
          <a:stretch>
            <a:fillRect/>
          </a:stretch>
        </p:blipFill>
        <p:spPr>
          <a:xfrm>
            <a:off x="9670914" y="4260714"/>
            <a:ext cx="1911487" cy="1911487"/>
          </a:xfrm>
          <a:prstGeom prst="rect">
            <a:avLst/>
          </a:prstGeom>
        </p:spPr>
      </p:pic>
      <p:pic>
        <p:nvPicPr>
          <p:cNvPr id="1026" name="Picture 2">
            <a:extLst>
              <a:ext uri="{FF2B5EF4-FFF2-40B4-BE49-F238E27FC236}">
                <a16:creationId xmlns:a16="http://schemas.microsoft.com/office/drawing/2014/main" id="{68A897F5-CE6D-5FFD-D22E-08AEDAD5631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9424" y="4260714"/>
            <a:ext cx="1911485" cy="1911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836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9741-C7BC-B706-ECCF-C5F3BFF0FEEE}"/>
              </a:ext>
            </a:extLst>
          </p:cNvPr>
          <p:cNvSpPr>
            <a:spLocks noGrp="1"/>
          </p:cNvSpPr>
          <p:nvPr>
            <p:ph type="title"/>
          </p:nvPr>
        </p:nvSpPr>
        <p:spPr/>
        <p:txBody>
          <a:bodyPr/>
          <a:lstStyle/>
          <a:p>
            <a:r>
              <a:rPr lang="en-US"/>
              <a:t>Model Inversion Attacks</a:t>
            </a:r>
          </a:p>
        </p:txBody>
      </p:sp>
      <p:sp>
        <p:nvSpPr>
          <p:cNvPr id="3" name="Content Placeholder 2">
            <a:extLst>
              <a:ext uri="{FF2B5EF4-FFF2-40B4-BE49-F238E27FC236}">
                <a16:creationId xmlns:a16="http://schemas.microsoft.com/office/drawing/2014/main" id="{B3B633BA-6C26-DDDF-6EAE-BF1447E08CED}"/>
              </a:ext>
            </a:extLst>
          </p:cNvPr>
          <p:cNvSpPr>
            <a:spLocks noGrp="1"/>
          </p:cNvSpPr>
          <p:nvPr>
            <p:ph idx="1"/>
          </p:nvPr>
        </p:nvSpPr>
        <p:spPr/>
        <p:txBody>
          <a:bodyPr>
            <a:normAutofit/>
          </a:bodyPr>
          <a:lstStyle/>
          <a:p>
            <a:pPr marL="0" indent="0">
              <a:buNone/>
            </a:pPr>
            <a:r>
              <a:rPr lang="en-US" b="1"/>
              <a:t>Definition</a:t>
            </a:r>
          </a:p>
          <a:p>
            <a:pPr marL="0" indent="0">
              <a:buNone/>
            </a:pPr>
            <a:r>
              <a:rPr lang="en-US"/>
              <a:t>A model inversion attack is an attack where an adversary with access to a model reconstructs representative training data or sensitive features used during training.</a:t>
            </a:r>
          </a:p>
          <a:p>
            <a:pPr marL="0" indent="0">
              <a:buNone/>
            </a:pPr>
            <a:endParaRPr lang="en-US"/>
          </a:p>
          <a:p>
            <a:pPr marL="0" indent="0">
              <a:buNone/>
            </a:pPr>
            <a:r>
              <a:rPr lang="en-US" b="1"/>
              <a:t>Attack Steps</a:t>
            </a:r>
          </a:p>
          <a:p>
            <a:pPr marL="0" indent="0">
              <a:buNone/>
            </a:pPr>
            <a:r>
              <a:rPr lang="en-US"/>
              <a:t>1. Query model with specific inputs</a:t>
            </a:r>
          </a:p>
          <a:p>
            <a:pPr marL="0" indent="0">
              <a:buNone/>
            </a:pPr>
            <a:r>
              <a:rPr lang="en-US"/>
              <a:t>2. Observe output probabilities</a:t>
            </a:r>
          </a:p>
          <a:p>
            <a:pPr marL="0" indent="0">
              <a:buNone/>
            </a:pPr>
            <a:r>
              <a:rPr lang="en-US"/>
              <a:t>3. Optimize features to maximize target class confidence</a:t>
            </a:r>
          </a:p>
          <a:p>
            <a:pPr marL="0" indent="0">
              <a:buNone/>
            </a:pPr>
            <a:r>
              <a:rPr lang="en-US"/>
              <a:t>4. Reconstruct private data</a:t>
            </a:r>
          </a:p>
          <a:p>
            <a:pPr marL="0" indent="0">
              <a:buNone/>
            </a:pPr>
            <a:endParaRPr lang="en-US"/>
          </a:p>
        </p:txBody>
      </p:sp>
    </p:spTree>
    <p:extLst>
      <p:ext uri="{BB962C8B-B14F-4D97-AF65-F5344CB8AC3E}">
        <p14:creationId xmlns:p14="http://schemas.microsoft.com/office/powerpoint/2010/main" val="3012841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928D9-F30C-8139-E50C-C4728FFE2DF4}"/>
              </a:ext>
            </a:extLst>
          </p:cNvPr>
          <p:cNvSpPr>
            <a:spLocks noGrp="1"/>
          </p:cNvSpPr>
          <p:nvPr>
            <p:ph type="title"/>
          </p:nvPr>
        </p:nvSpPr>
        <p:spPr>
          <a:xfrm>
            <a:off x="609600" y="351367"/>
            <a:ext cx="10972800" cy="800100"/>
          </a:xfrm>
        </p:spPr>
        <p:txBody>
          <a:bodyPr/>
          <a:lstStyle/>
          <a:p>
            <a:r>
              <a:rPr lang="en-US"/>
              <a:t>Model Inversion Examples</a:t>
            </a:r>
          </a:p>
        </p:txBody>
      </p:sp>
      <p:pic>
        <p:nvPicPr>
          <p:cNvPr id="7" name="Picture 6">
            <a:extLst>
              <a:ext uri="{FF2B5EF4-FFF2-40B4-BE49-F238E27FC236}">
                <a16:creationId xmlns:a16="http://schemas.microsoft.com/office/drawing/2014/main" id="{EEA5D964-502F-B220-CE79-E61C903FE270}"/>
              </a:ext>
            </a:extLst>
          </p:cNvPr>
          <p:cNvPicPr>
            <a:picLocks noChangeAspect="1"/>
          </p:cNvPicPr>
          <p:nvPr/>
        </p:nvPicPr>
        <p:blipFill>
          <a:blip r:embed="rId2"/>
          <a:stretch>
            <a:fillRect/>
          </a:stretch>
        </p:blipFill>
        <p:spPr>
          <a:xfrm>
            <a:off x="926379" y="2051917"/>
            <a:ext cx="5169621" cy="3454883"/>
          </a:xfrm>
          <a:prstGeom prst="rect">
            <a:avLst/>
          </a:prstGeom>
        </p:spPr>
      </p:pic>
      <p:pic>
        <p:nvPicPr>
          <p:cNvPr id="3" name="Picture 2">
            <a:extLst>
              <a:ext uri="{FF2B5EF4-FFF2-40B4-BE49-F238E27FC236}">
                <a16:creationId xmlns:a16="http://schemas.microsoft.com/office/drawing/2014/main" id="{89703885-0F43-9C4F-51F0-3AB50E56801E}"/>
              </a:ext>
            </a:extLst>
          </p:cNvPr>
          <p:cNvPicPr>
            <a:picLocks noChangeAspect="1"/>
          </p:cNvPicPr>
          <p:nvPr/>
        </p:nvPicPr>
        <p:blipFill>
          <a:blip r:embed="rId3"/>
          <a:stretch>
            <a:fillRect/>
          </a:stretch>
        </p:blipFill>
        <p:spPr>
          <a:xfrm>
            <a:off x="6879772" y="1566495"/>
            <a:ext cx="3646343" cy="3940856"/>
          </a:xfrm>
          <a:prstGeom prst="rect">
            <a:avLst/>
          </a:prstGeom>
        </p:spPr>
      </p:pic>
      <p:sp>
        <p:nvSpPr>
          <p:cNvPr id="4" name="TextBox 3">
            <a:extLst>
              <a:ext uri="{FF2B5EF4-FFF2-40B4-BE49-F238E27FC236}">
                <a16:creationId xmlns:a16="http://schemas.microsoft.com/office/drawing/2014/main" id="{86692389-85F1-5E8F-4761-50AAB50C4CEB}"/>
              </a:ext>
            </a:extLst>
          </p:cNvPr>
          <p:cNvSpPr txBox="1"/>
          <p:nvPr/>
        </p:nvSpPr>
        <p:spPr>
          <a:xfrm>
            <a:off x="1071154" y="5921828"/>
            <a:ext cx="8412480" cy="696685"/>
          </a:xfrm>
          <a:prstGeom prst="rect">
            <a:avLst/>
          </a:prstGeom>
          <a:noFill/>
        </p:spPr>
        <p:txBody>
          <a:bodyPr wrap="square" rtlCol="0">
            <a:noAutofit/>
          </a:bodyPr>
          <a:lstStyle/>
          <a:p>
            <a:r>
              <a:rPr lang="en-US" sz="1000"/>
              <a:t>(1) Fredrikson, M., Jha, S., &amp; </a:t>
            </a:r>
            <a:r>
              <a:rPr lang="en-US" sz="1000" err="1"/>
              <a:t>Ristenpart</a:t>
            </a:r>
            <a:r>
              <a:rPr lang="en-US" sz="1000"/>
              <a:t>, T. (2015, October). Model inversion attacks that exploit confidence information and basic countermeasures. In </a:t>
            </a:r>
            <a:r>
              <a:rPr lang="en-US" sz="1000" i="1"/>
              <a:t>Proceedings of the 22nd ACM SIGSAC conference on computer and communications security</a:t>
            </a:r>
            <a:r>
              <a:rPr lang="en-US" sz="1000"/>
              <a:t> (pp. 1322-1333).</a:t>
            </a:r>
          </a:p>
          <a:p>
            <a:r>
              <a:rPr lang="en-US" sz="1000"/>
              <a:t>(2) Zhang, Y., Jia, R., Pei, H., Wang, W., Li, B., &amp; Song, D. (2020). The secret revealer: Generative model-inversion attacks against deep neural networks. In </a:t>
            </a:r>
            <a:r>
              <a:rPr lang="en-US" sz="1000" i="1"/>
              <a:t>Proceedings of the IEEE/CVF conference on computer vision and pattern recognition</a:t>
            </a:r>
            <a:r>
              <a:rPr lang="en-US" sz="1000"/>
              <a:t> (pp. 253-261).</a:t>
            </a:r>
          </a:p>
        </p:txBody>
      </p:sp>
    </p:spTree>
    <p:extLst>
      <p:ext uri="{BB962C8B-B14F-4D97-AF65-F5344CB8AC3E}">
        <p14:creationId xmlns:p14="http://schemas.microsoft.com/office/powerpoint/2010/main" val="27660594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6A0F2-E5C9-A347-16DC-738CF417A4BC}"/>
              </a:ext>
            </a:extLst>
          </p:cNvPr>
          <p:cNvSpPr>
            <a:spLocks noGrp="1"/>
          </p:cNvSpPr>
          <p:nvPr>
            <p:ph type="title"/>
          </p:nvPr>
        </p:nvSpPr>
        <p:spPr/>
        <p:txBody>
          <a:bodyPr/>
          <a:lstStyle/>
          <a:p>
            <a:r>
              <a:rPr lang="en-US"/>
              <a:t>Differential Privacy</a:t>
            </a:r>
          </a:p>
        </p:txBody>
      </p:sp>
      <p:sp>
        <p:nvSpPr>
          <p:cNvPr id="3" name="Content Placeholder 2">
            <a:extLst>
              <a:ext uri="{FF2B5EF4-FFF2-40B4-BE49-F238E27FC236}">
                <a16:creationId xmlns:a16="http://schemas.microsoft.com/office/drawing/2014/main" id="{08581093-5C71-F5B3-96B1-4A739B22C05F}"/>
              </a:ext>
            </a:extLst>
          </p:cNvPr>
          <p:cNvSpPr>
            <a:spLocks noGrp="1"/>
          </p:cNvSpPr>
          <p:nvPr>
            <p:ph idx="1"/>
          </p:nvPr>
        </p:nvSpPr>
        <p:spPr/>
        <p:txBody>
          <a:bodyPr/>
          <a:lstStyle/>
          <a:p>
            <a:pPr marL="0" indent="0">
              <a:buNone/>
            </a:pPr>
            <a:r>
              <a:rPr lang="en-US" b="1"/>
              <a:t>Common Language Definition</a:t>
            </a:r>
          </a:p>
          <a:p>
            <a:pPr marL="0" indent="0">
              <a:buNone/>
            </a:pPr>
            <a:r>
              <a:rPr lang="en-US"/>
              <a:t>Differential Privacy (DP) allows for the sharing of statistical information about a dataset while protecting the privacy of individual data points.</a:t>
            </a:r>
          </a:p>
          <a:p>
            <a:pPr marL="0" indent="0">
              <a:buNone/>
            </a:pPr>
            <a:endParaRPr lang="en-US" b="1"/>
          </a:p>
          <a:p>
            <a:pPr marL="0" indent="0">
              <a:buNone/>
            </a:pPr>
            <a:r>
              <a:rPr lang="en-US" b="1"/>
              <a:t>Formal Definition</a:t>
            </a:r>
          </a:p>
        </p:txBody>
      </p:sp>
      <p:pic>
        <p:nvPicPr>
          <p:cNvPr id="5" name="Picture 4">
            <a:extLst>
              <a:ext uri="{FF2B5EF4-FFF2-40B4-BE49-F238E27FC236}">
                <a16:creationId xmlns:a16="http://schemas.microsoft.com/office/drawing/2014/main" id="{1B448F33-5112-F98A-A1BE-E5635E78A9A5}"/>
              </a:ext>
            </a:extLst>
          </p:cNvPr>
          <p:cNvPicPr>
            <a:picLocks noChangeAspect="1"/>
          </p:cNvPicPr>
          <p:nvPr/>
        </p:nvPicPr>
        <p:blipFill>
          <a:blip r:embed="rId2"/>
          <a:stretch>
            <a:fillRect/>
          </a:stretch>
        </p:blipFill>
        <p:spPr>
          <a:xfrm>
            <a:off x="665804" y="3765977"/>
            <a:ext cx="10860392" cy="2109572"/>
          </a:xfrm>
          <a:prstGeom prst="rect">
            <a:avLst/>
          </a:prstGeom>
        </p:spPr>
      </p:pic>
      <p:sp>
        <p:nvSpPr>
          <p:cNvPr id="9" name="TextBox 8">
            <a:extLst>
              <a:ext uri="{FF2B5EF4-FFF2-40B4-BE49-F238E27FC236}">
                <a16:creationId xmlns:a16="http://schemas.microsoft.com/office/drawing/2014/main" id="{0CDAF17F-2C5A-D845-D703-30BE83E03153}"/>
              </a:ext>
            </a:extLst>
          </p:cNvPr>
          <p:cNvSpPr txBox="1"/>
          <p:nvPr/>
        </p:nvSpPr>
        <p:spPr>
          <a:xfrm>
            <a:off x="609601" y="5935806"/>
            <a:ext cx="7950740" cy="738664"/>
          </a:xfrm>
          <a:prstGeom prst="rect">
            <a:avLst/>
          </a:prstGeom>
          <a:noFill/>
        </p:spPr>
        <p:txBody>
          <a:bodyPr wrap="square">
            <a:spAutoFit/>
          </a:bodyPr>
          <a:lstStyle/>
          <a:p>
            <a:r>
              <a:rPr lang="en-US" sz="1400">
                <a:solidFill>
                  <a:schemeClr val="tx2"/>
                </a:solidFill>
              </a:rPr>
              <a:t>Dwork, C., McSherry, F., Nissim, K., &amp; Smith, A. (2006, March). Calibrating noise to sensitivity in private data analysis. In </a:t>
            </a:r>
            <a:r>
              <a:rPr lang="en-US" sz="1400" i="1">
                <a:solidFill>
                  <a:schemeClr val="tx2"/>
                </a:solidFill>
              </a:rPr>
              <a:t>Theory of cryptography conference</a:t>
            </a:r>
            <a:r>
              <a:rPr lang="en-US" sz="1400">
                <a:solidFill>
                  <a:schemeClr val="tx2"/>
                </a:solidFill>
              </a:rPr>
              <a:t> (pp. 265-284). Berlin, Heidelberg: Springer Berlin Heidelberg.</a:t>
            </a:r>
          </a:p>
        </p:txBody>
      </p:sp>
    </p:spTree>
    <p:extLst>
      <p:ext uri="{BB962C8B-B14F-4D97-AF65-F5344CB8AC3E}">
        <p14:creationId xmlns:p14="http://schemas.microsoft.com/office/powerpoint/2010/main" val="750104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2B79-C289-B3DF-E802-35B1E6927C76}"/>
              </a:ext>
            </a:extLst>
          </p:cNvPr>
          <p:cNvSpPr>
            <a:spLocks noGrp="1"/>
          </p:cNvSpPr>
          <p:nvPr>
            <p:ph type="title"/>
          </p:nvPr>
        </p:nvSpPr>
        <p:spPr/>
        <p:txBody>
          <a:bodyPr/>
          <a:lstStyle/>
          <a:p>
            <a:r>
              <a:rPr lang="en-US"/>
              <a:t>Understanding Differential Privacy</a:t>
            </a:r>
          </a:p>
        </p:txBody>
      </p:sp>
      <p:sp>
        <p:nvSpPr>
          <p:cNvPr id="3" name="Content Placeholder 2">
            <a:extLst>
              <a:ext uri="{FF2B5EF4-FFF2-40B4-BE49-F238E27FC236}">
                <a16:creationId xmlns:a16="http://schemas.microsoft.com/office/drawing/2014/main" id="{F1A7837C-59DA-2B6C-AF78-965CE4430B17}"/>
              </a:ext>
            </a:extLst>
          </p:cNvPr>
          <p:cNvSpPr>
            <a:spLocks noGrp="1"/>
          </p:cNvSpPr>
          <p:nvPr>
            <p:ph idx="1"/>
          </p:nvPr>
        </p:nvSpPr>
        <p:spPr/>
        <p:txBody>
          <a:bodyPr/>
          <a:lstStyle/>
          <a:p>
            <a:r>
              <a:rPr lang="en-US"/>
              <a:t>Assume there are 100 people voting for lunch</a:t>
            </a:r>
          </a:p>
          <a:p>
            <a:r>
              <a:rPr lang="en-US"/>
              <a:t>60 people vote for pizza, 30 for sandwiches, 10 for bowls</a:t>
            </a:r>
          </a:p>
          <a:p>
            <a:r>
              <a:rPr lang="en-US"/>
              <a:t>These represent the probabilities of our model</a:t>
            </a:r>
          </a:p>
          <a:p>
            <a:r>
              <a:rPr lang="en-US"/>
              <a:t>Finally, we will randomly choose an option based on these probabilities</a:t>
            </a:r>
          </a:p>
        </p:txBody>
      </p:sp>
      <p:pic>
        <p:nvPicPr>
          <p:cNvPr id="6" name="Picture 5">
            <a:extLst>
              <a:ext uri="{FF2B5EF4-FFF2-40B4-BE49-F238E27FC236}">
                <a16:creationId xmlns:a16="http://schemas.microsoft.com/office/drawing/2014/main" id="{D0B92860-B8F0-7442-D05D-CC6DD47B8B75}"/>
              </a:ext>
            </a:extLst>
          </p:cNvPr>
          <p:cNvPicPr>
            <a:picLocks noChangeAspect="1"/>
          </p:cNvPicPr>
          <p:nvPr/>
        </p:nvPicPr>
        <p:blipFill>
          <a:blip r:embed="rId3"/>
          <a:stretch>
            <a:fillRect/>
          </a:stretch>
        </p:blipFill>
        <p:spPr>
          <a:xfrm>
            <a:off x="1480457" y="4711584"/>
            <a:ext cx="1621971" cy="1621971"/>
          </a:xfrm>
          <a:prstGeom prst="rect">
            <a:avLst/>
          </a:prstGeom>
        </p:spPr>
      </p:pic>
      <p:pic>
        <p:nvPicPr>
          <p:cNvPr id="8" name="Picture 7">
            <a:extLst>
              <a:ext uri="{FF2B5EF4-FFF2-40B4-BE49-F238E27FC236}">
                <a16:creationId xmlns:a16="http://schemas.microsoft.com/office/drawing/2014/main" id="{44F86402-158F-29F7-0456-5E28A81DA824}"/>
              </a:ext>
            </a:extLst>
          </p:cNvPr>
          <p:cNvPicPr>
            <a:picLocks noChangeAspect="1"/>
          </p:cNvPicPr>
          <p:nvPr/>
        </p:nvPicPr>
        <p:blipFill>
          <a:blip r:embed="rId4"/>
          <a:stretch>
            <a:fillRect/>
          </a:stretch>
        </p:blipFill>
        <p:spPr>
          <a:xfrm>
            <a:off x="4256314" y="4589910"/>
            <a:ext cx="1905000" cy="1905000"/>
          </a:xfrm>
          <a:prstGeom prst="rect">
            <a:avLst/>
          </a:prstGeom>
        </p:spPr>
      </p:pic>
      <p:pic>
        <p:nvPicPr>
          <p:cNvPr id="12" name="Picture 11">
            <a:extLst>
              <a:ext uri="{FF2B5EF4-FFF2-40B4-BE49-F238E27FC236}">
                <a16:creationId xmlns:a16="http://schemas.microsoft.com/office/drawing/2014/main" id="{C109758D-D61F-6FC0-402C-C0767D1EEF8F}"/>
              </a:ext>
            </a:extLst>
          </p:cNvPr>
          <p:cNvPicPr>
            <a:picLocks noChangeAspect="1"/>
          </p:cNvPicPr>
          <p:nvPr/>
        </p:nvPicPr>
        <p:blipFill>
          <a:blip r:embed="rId5"/>
          <a:stretch>
            <a:fillRect/>
          </a:stretch>
        </p:blipFill>
        <p:spPr>
          <a:xfrm>
            <a:off x="7707085" y="4624498"/>
            <a:ext cx="1709057" cy="1709057"/>
          </a:xfrm>
          <a:prstGeom prst="rect">
            <a:avLst/>
          </a:prstGeom>
        </p:spPr>
      </p:pic>
    </p:spTree>
    <p:extLst>
      <p:ext uri="{BB962C8B-B14F-4D97-AF65-F5344CB8AC3E}">
        <p14:creationId xmlns:p14="http://schemas.microsoft.com/office/powerpoint/2010/main" val="321182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CDB11-C92A-D56B-28A6-0F2AF8856758}"/>
              </a:ext>
            </a:extLst>
          </p:cNvPr>
          <p:cNvSpPr>
            <a:spLocks noGrp="1"/>
          </p:cNvSpPr>
          <p:nvPr>
            <p:ph type="title"/>
          </p:nvPr>
        </p:nvSpPr>
        <p:spPr/>
        <p:txBody>
          <a:bodyPr/>
          <a:lstStyle/>
          <a:p>
            <a:r>
              <a:rPr lang="en-US"/>
              <a:t>Privacy-Utility Tradeoff</a:t>
            </a:r>
          </a:p>
        </p:txBody>
      </p:sp>
      <p:sp>
        <p:nvSpPr>
          <p:cNvPr id="3" name="Content Placeholder 2">
            <a:extLst>
              <a:ext uri="{FF2B5EF4-FFF2-40B4-BE49-F238E27FC236}">
                <a16:creationId xmlns:a16="http://schemas.microsoft.com/office/drawing/2014/main" id="{3C2D5D30-2E95-6E82-064A-143BA8529E66}"/>
              </a:ext>
            </a:extLst>
          </p:cNvPr>
          <p:cNvSpPr>
            <a:spLocks noGrp="1"/>
          </p:cNvSpPr>
          <p:nvPr>
            <p:ph idx="1"/>
          </p:nvPr>
        </p:nvSpPr>
        <p:spPr/>
        <p:txBody>
          <a:bodyPr/>
          <a:lstStyle/>
          <a:p>
            <a:r>
              <a:rPr lang="en-US">
                <a:latin typeface="Arial"/>
                <a:ea typeface="Verdana"/>
                <a:cs typeface="Arial"/>
              </a:rPr>
              <a:t>Increasing the term </a:t>
            </a:r>
            <a:r>
              <a:rPr lang="en-US" i="1">
                <a:latin typeface="Arial"/>
                <a:ea typeface="Verdana"/>
                <a:cs typeface="Arial"/>
              </a:rPr>
              <a:t>ε </a:t>
            </a:r>
            <a:r>
              <a:rPr lang="en-US">
                <a:latin typeface="Arial"/>
                <a:ea typeface="Verdana"/>
                <a:cs typeface="Arial"/>
              </a:rPr>
              <a:t>decreases the privacy of the model</a:t>
            </a:r>
          </a:p>
          <a:p>
            <a:r>
              <a:rPr lang="en-US">
                <a:latin typeface="Arial"/>
                <a:ea typeface="Verdana"/>
                <a:cs typeface="Arial"/>
              </a:rPr>
              <a:t>Increasing the term </a:t>
            </a:r>
            <a:r>
              <a:rPr lang="en-US" i="1">
                <a:latin typeface="Arial"/>
                <a:ea typeface="Verdana"/>
                <a:cs typeface="Arial"/>
              </a:rPr>
              <a:t>ε </a:t>
            </a:r>
            <a:r>
              <a:rPr lang="en-US">
                <a:latin typeface="Arial"/>
                <a:ea typeface="Verdana"/>
                <a:cs typeface="Arial"/>
              </a:rPr>
              <a:t>increases the accuracy of the model</a:t>
            </a:r>
          </a:p>
          <a:p>
            <a:r>
              <a:rPr lang="en-US"/>
              <a:t>Need to find the right balance when using DP in ML models</a:t>
            </a:r>
          </a:p>
          <a:p>
            <a:endParaRPr lang="en-US"/>
          </a:p>
        </p:txBody>
      </p:sp>
      <p:graphicFrame>
        <p:nvGraphicFramePr>
          <p:cNvPr id="6" name="Chart 5">
            <a:extLst>
              <a:ext uri="{FF2B5EF4-FFF2-40B4-BE49-F238E27FC236}">
                <a16:creationId xmlns:a16="http://schemas.microsoft.com/office/drawing/2014/main" id="{BD606608-700E-9840-76E3-465332C0014B}"/>
              </a:ext>
            </a:extLst>
          </p:cNvPr>
          <p:cNvGraphicFramePr/>
          <p:nvPr>
            <p:extLst>
              <p:ext uri="{D42A27DB-BD31-4B8C-83A1-F6EECF244321}">
                <p14:modId xmlns:p14="http://schemas.microsoft.com/office/powerpoint/2010/main" val="3118242478"/>
              </p:ext>
            </p:extLst>
          </p:nvPr>
        </p:nvGraphicFramePr>
        <p:xfrm>
          <a:off x="2836153" y="3282004"/>
          <a:ext cx="5706895" cy="31157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77904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297A-C297-5D90-D66F-1E2CF1FFE001}"/>
              </a:ext>
            </a:extLst>
          </p:cNvPr>
          <p:cNvSpPr>
            <a:spLocks noGrp="1"/>
          </p:cNvSpPr>
          <p:nvPr>
            <p:ph type="title"/>
          </p:nvPr>
        </p:nvSpPr>
        <p:spPr/>
        <p:txBody>
          <a:bodyPr/>
          <a:lstStyle/>
          <a:p>
            <a:r>
              <a:rPr lang="en-US"/>
              <a:t>Real World Applications of DP</a:t>
            </a:r>
          </a:p>
        </p:txBody>
      </p:sp>
      <p:sp>
        <p:nvSpPr>
          <p:cNvPr id="3" name="Content Placeholder 2">
            <a:extLst>
              <a:ext uri="{FF2B5EF4-FFF2-40B4-BE49-F238E27FC236}">
                <a16:creationId xmlns:a16="http://schemas.microsoft.com/office/drawing/2014/main" id="{5C2F2B1D-CC1F-935F-7E6D-E4793F7C8C1E}"/>
              </a:ext>
            </a:extLst>
          </p:cNvPr>
          <p:cNvSpPr>
            <a:spLocks noGrp="1"/>
          </p:cNvSpPr>
          <p:nvPr>
            <p:ph idx="1"/>
          </p:nvPr>
        </p:nvSpPr>
        <p:spPr/>
        <p:txBody>
          <a:bodyPr/>
          <a:lstStyle/>
          <a:p>
            <a:r>
              <a:rPr lang="en-US"/>
              <a:t>US Census Bureau uses DP to release redistricting data from the 2020 Census</a:t>
            </a:r>
          </a:p>
          <a:p>
            <a:r>
              <a:rPr lang="en-US"/>
              <a:t>Microsoft uses DP for telemetry on Windows</a:t>
            </a:r>
          </a:p>
          <a:p>
            <a:r>
              <a:rPr lang="en-US"/>
              <a:t>Google uses DP to report historical traffic statistics</a:t>
            </a:r>
          </a:p>
          <a:p>
            <a:r>
              <a:rPr lang="en-US"/>
              <a:t>Apple uses DP for local device data (health, keyboard usage, etc.)</a:t>
            </a:r>
          </a:p>
          <a:p>
            <a:pPr marL="0" indent="0">
              <a:buNone/>
            </a:pPr>
            <a:endParaRPr lang="en-US"/>
          </a:p>
        </p:txBody>
      </p:sp>
      <p:pic>
        <p:nvPicPr>
          <p:cNvPr id="2050" name="Picture 2" descr="Microsoft Logo PNG With Transparent Background">
            <a:extLst>
              <a:ext uri="{FF2B5EF4-FFF2-40B4-BE49-F238E27FC236}">
                <a16:creationId xmlns:a16="http://schemas.microsoft.com/office/drawing/2014/main" id="{D1A08711-21E1-C76D-B391-BD9A60852C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83539" y="4277636"/>
            <a:ext cx="2720279" cy="181426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oogle logo icon. Vector illustration 11598471 Vector Art at Vecteezy">
            <a:extLst>
              <a:ext uri="{FF2B5EF4-FFF2-40B4-BE49-F238E27FC236}">
                <a16:creationId xmlns:a16="http://schemas.microsoft.com/office/drawing/2014/main" id="{DE6A1B8A-EE20-2525-6746-D38E96C0D3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89" t="18583" r="18117" b="19106"/>
          <a:stretch>
            <a:fillRect/>
          </a:stretch>
        </p:blipFill>
        <p:spPr bwMode="auto">
          <a:xfrm>
            <a:off x="6806115" y="4121975"/>
            <a:ext cx="2044115" cy="20316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Logo Apple - Logos PNG">
            <a:extLst>
              <a:ext uri="{FF2B5EF4-FFF2-40B4-BE49-F238E27FC236}">
                <a16:creationId xmlns:a16="http://schemas.microsoft.com/office/drawing/2014/main" id="{5EAEBC58-128E-AABA-40D6-475BCC8906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8142" y="4052800"/>
            <a:ext cx="2182397" cy="218239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B1DDE3EC-3433-8AC9-725C-AF029B92A08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6314" y="4277637"/>
            <a:ext cx="1894564" cy="1894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934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87C7-4EC2-54FA-347A-5C8077F800B0}"/>
              </a:ext>
            </a:extLst>
          </p:cNvPr>
          <p:cNvSpPr>
            <a:spLocks noGrp="1"/>
          </p:cNvSpPr>
          <p:nvPr>
            <p:ph type="title"/>
          </p:nvPr>
        </p:nvSpPr>
        <p:spPr/>
        <p:txBody>
          <a:bodyPr/>
          <a:lstStyle/>
          <a:p>
            <a:r>
              <a:rPr lang="en-US"/>
              <a:t>Hands-on Lab</a:t>
            </a:r>
          </a:p>
        </p:txBody>
      </p:sp>
      <p:sp>
        <p:nvSpPr>
          <p:cNvPr id="3" name="Content Placeholder 2">
            <a:extLst>
              <a:ext uri="{FF2B5EF4-FFF2-40B4-BE49-F238E27FC236}">
                <a16:creationId xmlns:a16="http://schemas.microsoft.com/office/drawing/2014/main" id="{36B32838-F40B-34A4-A4BE-3747BA0FC438}"/>
              </a:ext>
            </a:extLst>
          </p:cNvPr>
          <p:cNvSpPr>
            <a:spLocks noGrp="1"/>
          </p:cNvSpPr>
          <p:nvPr>
            <p:ph idx="1"/>
          </p:nvPr>
        </p:nvSpPr>
        <p:spPr/>
        <p:txBody>
          <a:bodyPr/>
          <a:lstStyle/>
          <a:p>
            <a:pPr marL="457189" indent="-457189">
              <a:buAutoNum type="arabicPeriod"/>
            </a:pPr>
            <a:r>
              <a:rPr lang="en-US"/>
              <a:t>Load the dataset</a:t>
            </a:r>
          </a:p>
          <a:p>
            <a:pPr marL="457189" indent="-457189">
              <a:buAutoNum type="arabicPeriod"/>
            </a:pPr>
            <a:r>
              <a:rPr lang="en-US"/>
              <a:t>Train a model</a:t>
            </a:r>
          </a:p>
          <a:p>
            <a:pPr marL="457189" indent="-457189">
              <a:buAutoNum type="arabicPeriod"/>
            </a:pPr>
            <a:r>
              <a:rPr lang="en-US"/>
              <a:t>Perform the Model Inversion attack</a:t>
            </a:r>
          </a:p>
          <a:p>
            <a:pPr marL="457189" indent="-457189">
              <a:buAutoNum type="arabicPeriod"/>
            </a:pPr>
            <a:r>
              <a:rPr lang="en-US"/>
              <a:t>Implement Differential Privacy</a:t>
            </a:r>
          </a:p>
        </p:txBody>
      </p:sp>
    </p:spTree>
    <p:extLst>
      <p:ext uri="{BB962C8B-B14F-4D97-AF65-F5344CB8AC3E}">
        <p14:creationId xmlns:p14="http://schemas.microsoft.com/office/powerpoint/2010/main" val="3476089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5248-425D-ADA6-456B-92895FE71B54}"/>
              </a:ext>
            </a:extLst>
          </p:cNvPr>
          <p:cNvSpPr>
            <a:spLocks noGrp="1"/>
          </p:cNvSpPr>
          <p:nvPr>
            <p:ph type="title"/>
          </p:nvPr>
        </p:nvSpPr>
        <p:spPr>
          <a:xfrm>
            <a:off x="609600" y="363090"/>
            <a:ext cx="10972800" cy="800100"/>
          </a:xfrm>
        </p:spPr>
        <p:txBody>
          <a:bodyPr anchor="b">
            <a:normAutofit/>
          </a:bodyPr>
          <a:lstStyle/>
          <a:p>
            <a:r>
              <a:rPr lang="en-US"/>
              <a:t>Load the Dataset</a:t>
            </a:r>
          </a:p>
        </p:txBody>
      </p:sp>
      <p:sp>
        <p:nvSpPr>
          <p:cNvPr id="3" name="Content Placeholder 2">
            <a:extLst>
              <a:ext uri="{FF2B5EF4-FFF2-40B4-BE49-F238E27FC236}">
                <a16:creationId xmlns:a16="http://schemas.microsoft.com/office/drawing/2014/main" id="{AAD28A2C-DA20-A223-5200-C27990ABB0EC}"/>
              </a:ext>
            </a:extLst>
          </p:cNvPr>
          <p:cNvSpPr>
            <a:spLocks noGrp="1"/>
          </p:cNvSpPr>
          <p:nvPr>
            <p:ph sz="half" idx="1"/>
          </p:nvPr>
        </p:nvSpPr>
        <p:spPr>
          <a:xfrm>
            <a:off x="609600" y="1527048"/>
            <a:ext cx="5283200" cy="4495800"/>
          </a:xfrm>
        </p:spPr>
        <p:txBody>
          <a:bodyPr anchor="t">
            <a:normAutofit/>
          </a:bodyPr>
          <a:lstStyle/>
          <a:p>
            <a:r>
              <a:rPr lang="en-US"/>
              <a:t>We will use seaborn to load the Iris dataset</a:t>
            </a:r>
          </a:p>
          <a:p>
            <a:r>
              <a:rPr lang="en-US"/>
              <a:t>This dataset contains three species of flowers: </a:t>
            </a:r>
            <a:r>
              <a:rPr lang="en-US" err="1"/>
              <a:t>setosa</a:t>
            </a:r>
            <a:r>
              <a:rPr lang="en-US"/>
              <a:t>, versicolor, and virginica</a:t>
            </a:r>
          </a:p>
          <a:p>
            <a:r>
              <a:rPr lang="en-US"/>
              <a:t>There are four features: sepal length, sepal width, petal length, and petal width</a:t>
            </a:r>
          </a:p>
        </p:txBody>
      </p:sp>
      <p:pic>
        <p:nvPicPr>
          <p:cNvPr id="7" name="Picture 6">
            <a:extLst>
              <a:ext uri="{FF2B5EF4-FFF2-40B4-BE49-F238E27FC236}">
                <a16:creationId xmlns:a16="http://schemas.microsoft.com/office/drawing/2014/main" id="{A541F7C4-AF2B-D5DB-6902-E85BC5A79F0F}"/>
              </a:ext>
            </a:extLst>
          </p:cNvPr>
          <p:cNvPicPr>
            <a:picLocks noChangeAspect="1"/>
          </p:cNvPicPr>
          <p:nvPr/>
        </p:nvPicPr>
        <p:blipFill>
          <a:blip r:embed="rId2"/>
          <a:stretch>
            <a:fillRect/>
          </a:stretch>
        </p:blipFill>
        <p:spPr>
          <a:xfrm>
            <a:off x="6299202" y="1529588"/>
            <a:ext cx="5283200" cy="4490719"/>
          </a:xfrm>
          <a:prstGeom prst="rect">
            <a:avLst/>
          </a:prstGeom>
          <a:noFill/>
        </p:spPr>
      </p:pic>
    </p:spTree>
    <p:extLst>
      <p:ext uri="{BB962C8B-B14F-4D97-AF65-F5344CB8AC3E}">
        <p14:creationId xmlns:p14="http://schemas.microsoft.com/office/powerpoint/2010/main" val="10119649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A572-AF00-15CD-D26E-057B61FC3D3A}"/>
              </a:ext>
            </a:extLst>
          </p:cNvPr>
          <p:cNvSpPr>
            <a:spLocks noGrp="1"/>
          </p:cNvSpPr>
          <p:nvPr>
            <p:ph type="title"/>
          </p:nvPr>
        </p:nvSpPr>
        <p:spPr>
          <a:xfrm>
            <a:off x="609600" y="363090"/>
            <a:ext cx="10972800" cy="800100"/>
          </a:xfrm>
        </p:spPr>
        <p:txBody>
          <a:bodyPr anchor="b">
            <a:normAutofit/>
          </a:bodyPr>
          <a:lstStyle/>
          <a:p>
            <a:r>
              <a:rPr lang="en-US"/>
              <a:t>Train a Model</a:t>
            </a:r>
          </a:p>
        </p:txBody>
      </p:sp>
      <p:pic>
        <p:nvPicPr>
          <p:cNvPr id="9" name="Picture 8">
            <a:extLst>
              <a:ext uri="{FF2B5EF4-FFF2-40B4-BE49-F238E27FC236}">
                <a16:creationId xmlns:a16="http://schemas.microsoft.com/office/drawing/2014/main" id="{424DF6F8-015C-D2B2-D2D9-F0ABD95E98D4}"/>
              </a:ext>
            </a:extLst>
          </p:cNvPr>
          <p:cNvPicPr>
            <a:picLocks noChangeAspect="1"/>
          </p:cNvPicPr>
          <p:nvPr/>
        </p:nvPicPr>
        <p:blipFill>
          <a:blip r:embed="rId2"/>
          <a:stretch>
            <a:fillRect/>
          </a:stretch>
        </p:blipFill>
        <p:spPr>
          <a:xfrm>
            <a:off x="1003300" y="1527048"/>
            <a:ext cx="4495800" cy="4495800"/>
          </a:xfrm>
          <a:prstGeom prst="rect">
            <a:avLst/>
          </a:prstGeom>
          <a:noFill/>
        </p:spPr>
      </p:pic>
      <p:sp>
        <p:nvSpPr>
          <p:cNvPr id="10" name="Content Placeholder 3">
            <a:extLst>
              <a:ext uri="{FF2B5EF4-FFF2-40B4-BE49-F238E27FC236}">
                <a16:creationId xmlns:a16="http://schemas.microsoft.com/office/drawing/2014/main" id="{695D35C2-9CFF-B5D1-D8C6-033F590830F1}"/>
              </a:ext>
            </a:extLst>
          </p:cNvPr>
          <p:cNvSpPr>
            <a:spLocks noGrp="1"/>
          </p:cNvSpPr>
          <p:nvPr>
            <p:ph sz="half" idx="2"/>
          </p:nvPr>
        </p:nvSpPr>
        <p:spPr>
          <a:xfrm>
            <a:off x="6299202" y="1527048"/>
            <a:ext cx="5283200" cy="4495800"/>
          </a:xfrm>
        </p:spPr>
        <p:txBody>
          <a:bodyPr anchor="t">
            <a:normAutofit/>
          </a:bodyPr>
          <a:lstStyle/>
          <a:p>
            <a:r>
              <a:rPr lang="en-US"/>
              <a:t>We will train a Multi-Layer Perceptron Classifier</a:t>
            </a:r>
          </a:p>
          <a:p>
            <a:r>
              <a:rPr lang="en-US"/>
              <a:t>These neural networks are modeled after the human brain</a:t>
            </a:r>
          </a:p>
          <a:p>
            <a:r>
              <a:rPr lang="en-US"/>
              <a:t>On this dataset, our model will reach high accuracy (95%)</a:t>
            </a:r>
          </a:p>
        </p:txBody>
      </p:sp>
    </p:spTree>
    <p:extLst>
      <p:ext uri="{BB962C8B-B14F-4D97-AF65-F5344CB8AC3E}">
        <p14:creationId xmlns:p14="http://schemas.microsoft.com/office/powerpoint/2010/main" val="2080462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C8AA-3C7A-6D26-27E1-8D67C2FE3808}"/>
              </a:ext>
            </a:extLst>
          </p:cNvPr>
          <p:cNvSpPr>
            <a:spLocks noGrp="1"/>
          </p:cNvSpPr>
          <p:nvPr>
            <p:ph type="title"/>
          </p:nvPr>
        </p:nvSpPr>
        <p:spPr>
          <a:xfrm>
            <a:off x="609600" y="363090"/>
            <a:ext cx="10972800" cy="800100"/>
          </a:xfrm>
        </p:spPr>
        <p:txBody>
          <a:bodyPr anchor="b">
            <a:normAutofit/>
          </a:bodyPr>
          <a:lstStyle/>
          <a:p>
            <a:r>
              <a:rPr lang="en-US"/>
              <a:t>Model Inversion</a:t>
            </a:r>
          </a:p>
        </p:txBody>
      </p:sp>
      <p:sp>
        <p:nvSpPr>
          <p:cNvPr id="3" name="Content Placeholder 2">
            <a:extLst>
              <a:ext uri="{FF2B5EF4-FFF2-40B4-BE49-F238E27FC236}">
                <a16:creationId xmlns:a16="http://schemas.microsoft.com/office/drawing/2014/main" id="{0DE9CACB-8EB5-747E-1301-BD674A28AED3}"/>
              </a:ext>
            </a:extLst>
          </p:cNvPr>
          <p:cNvSpPr>
            <a:spLocks noGrp="1"/>
          </p:cNvSpPr>
          <p:nvPr>
            <p:ph sz="half" idx="1"/>
          </p:nvPr>
        </p:nvSpPr>
        <p:spPr>
          <a:xfrm>
            <a:off x="609600" y="1527048"/>
            <a:ext cx="5283200" cy="4495800"/>
          </a:xfrm>
        </p:spPr>
        <p:txBody>
          <a:bodyPr anchor="t">
            <a:normAutofit/>
          </a:bodyPr>
          <a:lstStyle/>
          <a:p>
            <a:r>
              <a:rPr lang="en-US"/>
              <a:t>We will use model inversion to find an example data point from each class</a:t>
            </a:r>
          </a:p>
          <a:p>
            <a:r>
              <a:rPr lang="en-US"/>
              <a:t>To do this, we perform a few steps:</a:t>
            </a:r>
          </a:p>
          <a:p>
            <a:pPr lvl="1"/>
            <a:r>
              <a:rPr lang="en-US" sz="2400"/>
              <a:t>Choose a random input point</a:t>
            </a:r>
          </a:p>
          <a:p>
            <a:pPr lvl="1"/>
            <a:r>
              <a:rPr lang="en-US" sz="2400"/>
              <a:t>Query the model with probabilities</a:t>
            </a:r>
          </a:p>
          <a:p>
            <a:pPr lvl="1"/>
            <a:r>
              <a:rPr lang="en-US" sz="2400"/>
              <a:t>Maximize the probability of target class</a:t>
            </a:r>
          </a:p>
          <a:p>
            <a:r>
              <a:rPr lang="en-US"/>
              <a:t>We will also look at the model’s understanding of the petal length feature</a:t>
            </a:r>
          </a:p>
        </p:txBody>
      </p:sp>
      <p:pic>
        <p:nvPicPr>
          <p:cNvPr id="7" name="Picture 6">
            <a:extLst>
              <a:ext uri="{FF2B5EF4-FFF2-40B4-BE49-F238E27FC236}">
                <a16:creationId xmlns:a16="http://schemas.microsoft.com/office/drawing/2014/main" id="{1E46C34E-9DCD-7229-B734-DA85DBF391FD}"/>
              </a:ext>
            </a:extLst>
          </p:cNvPr>
          <p:cNvPicPr>
            <a:picLocks noChangeAspect="1"/>
          </p:cNvPicPr>
          <p:nvPr/>
        </p:nvPicPr>
        <p:blipFill>
          <a:blip r:embed="rId3"/>
          <a:stretch>
            <a:fillRect/>
          </a:stretch>
        </p:blipFill>
        <p:spPr>
          <a:xfrm>
            <a:off x="6299202" y="1740916"/>
            <a:ext cx="5283200" cy="4068063"/>
          </a:xfrm>
          <a:prstGeom prst="rect">
            <a:avLst/>
          </a:prstGeom>
          <a:noFill/>
        </p:spPr>
      </p:pic>
    </p:spTree>
    <p:extLst>
      <p:ext uri="{BB962C8B-B14F-4D97-AF65-F5344CB8AC3E}">
        <p14:creationId xmlns:p14="http://schemas.microsoft.com/office/powerpoint/2010/main" val="7003631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FCF0-291E-C037-D072-2666638AD1E6}"/>
              </a:ext>
            </a:extLst>
          </p:cNvPr>
          <p:cNvSpPr>
            <a:spLocks noGrp="1"/>
          </p:cNvSpPr>
          <p:nvPr>
            <p:ph type="title"/>
          </p:nvPr>
        </p:nvSpPr>
        <p:spPr>
          <a:xfrm>
            <a:off x="609600" y="363090"/>
            <a:ext cx="10972800" cy="800100"/>
          </a:xfrm>
        </p:spPr>
        <p:txBody>
          <a:bodyPr anchor="b">
            <a:normAutofit/>
          </a:bodyPr>
          <a:lstStyle/>
          <a:p>
            <a:r>
              <a:rPr lang="en-US"/>
              <a:t>Differential Privacy</a:t>
            </a:r>
          </a:p>
        </p:txBody>
      </p:sp>
      <p:pic>
        <p:nvPicPr>
          <p:cNvPr id="5" name="Picture 4">
            <a:extLst>
              <a:ext uri="{FF2B5EF4-FFF2-40B4-BE49-F238E27FC236}">
                <a16:creationId xmlns:a16="http://schemas.microsoft.com/office/drawing/2014/main" id="{926F6306-1679-324B-F225-E97BEC172322}"/>
              </a:ext>
            </a:extLst>
          </p:cNvPr>
          <p:cNvPicPr>
            <a:picLocks noChangeAspect="1"/>
          </p:cNvPicPr>
          <p:nvPr/>
        </p:nvPicPr>
        <p:blipFill>
          <a:blip r:embed="rId2"/>
          <a:stretch>
            <a:fillRect/>
          </a:stretch>
        </p:blipFill>
        <p:spPr>
          <a:xfrm>
            <a:off x="609600" y="1731680"/>
            <a:ext cx="5283200" cy="4068063"/>
          </a:xfrm>
          <a:prstGeom prst="rect">
            <a:avLst/>
          </a:prstGeom>
          <a:noFill/>
        </p:spPr>
      </p:pic>
      <p:sp>
        <p:nvSpPr>
          <p:cNvPr id="3" name="Content Placeholder 2">
            <a:extLst>
              <a:ext uri="{FF2B5EF4-FFF2-40B4-BE49-F238E27FC236}">
                <a16:creationId xmlns:a16="http://schemas.microsoft.com/office/drawing/2014/main" id="{E6A49891-43D7-9266-669D-033344434489}"/>
              </a:ext>
            </a:extLst>
          </p:cNvPr>
          <p:cNvSpPr>
            <a:spLocks noGrp="1"/>
          </p:cNvSpPr>
          <p:nvPr>
            <p:ph sz="half" idx="2"/>
          </p:nvPr>
        </p:nvSpPr>
        <p:spPr>
          <a:xfrm>
            <a:off x="6299202" y="1527048"/>
            <a:ext cx="5283200" cy="4495800"/>
          </a:xfrm>
        </p:spPr>
        <p:txBody>
          <a:bodyPr anchor="t">
            <a:normAutofit/>
          </a:bodyPr>
          <a:lstStyle/>
          <a:p>
            <a:r>
              <a:rPr lang="en-US"/>
              <a:t>We will implement DP directly to the output of our model</a:t>
            </a:r>
          </a:p>
          <a:p>
            <a:r>
              <a:rPr lang="en-US"/>
              <a:t>We will use the exponential mechanism with an adjustable privacy term</a:t>
            </a:r>
          </a:p>
          <a:p>
            <a:r>
              <a:rPr lang="en-US" b="1"/>
              <a:t>Increasing</a:t>
            </a:r>
            <a:r>
              <a:rPr lang="en-US"/>
              <a:t> the privacy term </a:t>
            </a:r>
            <a:r>
              <a:rPr lang="en-US" b="1"/>
              <a:t>decreases</a:t>
            </a:r>
            <a:r>
              <a:rPr lang="en-US"/>
              <a:t> the privacy</a:t>
            </a:r>
          </a:p>
          <a:p>
            <a:endParaRPr lang="en-US"/>
          </a:p>
          <a:p>
            <a:pPr marL="0" indent="0">
              <a:buNone/>
            </a:pPr>
            <a:r>
              <a:rPr lang="en-US"/>
              <a:t> </a:t>
            </a:r>
          </a:p>
        </p:txBody>
      </p:sp>
    </p:spTree>
    <p:extLst>
      <p:ext uri="{BB962C8B-B14F-4D97-AF65-F5344CB8AC3E}">
        <p14:creationId xmlns:p14="http://schemas.microsoft.com/office/powerpoint/2010/main" val="2496199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1533-0C72-8E9B-3A23-0F642334C96A}"/>
              </a:ext>
            </a:extLst>
          </p:cNvPr>
          <p:cNvSpPr>
            <a:spLocks noGrp="1"/>
          </p:cNvSpPr>
          <p:nvPr>
            <p:ph type="title"/>
          </p:nvPr>
        </p:nvSpPr>
        <p:spPr/>
        <p:txBody>
          <a:bodyPr/>
          <a:lstStyle/>
          <a:p>
            <a:r>
              <a:rPr lang="en-US"/>
              <a:t>Adjusting Epsilon</a:t>
            </a:r>
          </a:p>
        </p:txBody>
      </p:sp>
      <p:sp>
        <p:nvSpPr>
          <p:cNvPr id="4" name="Content Placeholder 3">
            <a:extLst>
              <a:ext uri="{FF2B5EF4-FFF2-40B4-BE49-F238E27FC236}">
                <a16:creationId xmlns:a16="http://schemas.microsoft.com/office/drawing/2014/main" id="{77707EB4-F23E-3E2C-8927-817D96A7002A}"/>
              </a:ext>
            </a:extLst>
          </p:cNvPr>
          <p:cNvSpPr>
            <a:spLocks noGrp="1"/>
          </p:cNvSpPr>
          <p:nvPr>
            <p:ph sz="half" idx="2"/>
          </p:nvPr>
        </p:nvSpPr>
        <p:spPr>
          <a:xfrm>
            <a:off x="609600" y="1644270"/>
            <a:ext cx="5283200" cy="4495800"/>
          </a:xfrm>
        </p:spPr>
        <p:txBody>
          <a:bodyPr/>
          <a:lstStyle/>
          <a:p>
            <a:r>
              <a:rPr lang="en-US"/>
              <a:t>Top left: EPS = 1.0</a:t>
            </a:r>
          </a:p>
          <a:p>
            <a:pPr marL="0" indent="0">
              <a:buNone/>
            </a:pPr>
            <a:r>
              <a:rPr lang="en-US"/>
              <a:t>	Accuracy = 0.58</a:t>
            </a:r>
          </a:p>
          <a:p>
            <a:r>
              <a:rPr lang="en-US"/>
              <a:t>Top right: EPS = 2.0</a:t>
            </a:r>
          </a:p>
          <a:p>
            <a:pPr marL="0" indent="0">
              <a:buNone/>
            </a:pPr>
            <a:r>
              <a:rPr lang="en-US"/>
              <a:t>	Accuracy = 0.63</a:t>
            </a:r>
          </a:p>
          <a:p>
            <a:r>
              <a:rPr lang="en-US"/>
              <a:t>Bottom left: EPS = 3.0</a:t>
            </a:r>
          </a:p>
          <a:p>
            <a:pPr marL="0" indent="0">
              <a:buNone/>
            </a:pPr>
            <a:r>
              <a:rPr lang="en-US"/>
              <a:t>	Accuracy = 0.68</a:t>
            </a:r>
          </a:p>
          <a:p>
            <a:r>
              <a:rPr lang="en-US"/>
              <a:t>Bottom right: Original model</a:t>
            </a:r>
          </a:p>
          <a:p>
            <a:pPr marL="0" indent="0">
              <a:buNone/>
            </a:pPr>
            <a:r>
              <a:rPr lang="en-US"/>
              <a:t>	Accuracy = 0.95</a:t>
            </a:r>
          </a:p>
        </p:txBody>
      </p:sp>
      <p:pic>
        <p:nvPicPr>
          <p:cNvPr id="6" name="Picture 5">
            <a:extLst>
              <a:ext uri="{FF2B5EF4-FFF2-40B4-BE49-F238E27FC236}">
                <a16:creationId xmlns:a16="http://schemas.microsoft.com/office/drawing/2014/main" id="{9A3D30D7-098F-0406-5680-20025EB2A3D4}"/>
              </a:ext>
            </a:extLst>
          </p:cNvPr>
          <p:cNvPicPr>
            <a:picLocks noChangeAspect="1"/>
          </p:cNvPicPr>
          <p:nvPr/>
        </p:nvPicPr>
        <p:blipFill>
          <a:blip r:embed="rId2"/>
          <a:stretch>
            <a:fillRect/>
          </a:stretch>
        </p:blipFill>
        <p:spPr>
          <a:xfrm>
            <a:off x="8579381" y="1527048"/>
            <a:ext cx="3003019" cy="2309605"/>
          </a:xfrm>
          <a:prstGeom prst="rect">
            <a:avLst/>
          </a:prstGeom>
        </p:spPr>
      </p:pic>
      <p:sp>
        <p:nvSpPr>
          <p:cNvPr id="10" name="Content Placeholder 9">
            <a:extLst>
              <a:ext uri="{FF2B5EF4-FFF2-40B4-BE49-F238E27FC236}">
                <a16:creationId xmlns:a16="http://schemas.microsoft.com/office/drawing/2014/main" id="{2E2BBC45-F3C8-E56B-791C-4F7CD6584906}"/>
              </a:ext>
            </a:extLst>
          </p:cNvPr>
          <p:cNvSpPr>
            <a:spLocks noGrp="1"/>
          </p:cNvSpPr>
          <p:nvPr>
            <p:ph sz="half" idx="1"/>
          </p:nvPr>
        </p:nvSpPr>
        <p:spPr>
          <a:xfrm>
            <a:off x="5461011" y="1527048"/>
            <a:ext cx="5283200" cy="4495800"/>
          </a:xfrm>
        </p:spPr>
        <p:txBody>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16" name="Picture 15">
            <a:extLst>
              <a:ext uri="{FF2B5EF4-FFF2-40B4-BE49-F238E27FC236}">
                <a16:creationId xmlns:a16="http://schemas.microsoft.com/office/drawing/2014/main" id="{F29A575F-652A-A6D5-78AB-F90D369B57F9}"/>
              </a:ext>
            </a:extLst>
          </p:cNvPr>
          <p:cNvPicPr>
            <a:picLocks noChangeAspect="1"/>
          </p:cNvPicPr>
          <p:nvPr/>
        </p:nvPicPr>
        <p:blipFill>
          <a:blip r:embed="rId3"/>
          <a:stretch>
            <a:fillRect/>
          </a:stretch>
        </p:blipFill>
        <p:spPr>
          <a:xfrm>
            <a:off x="8578386" y="3842602"/>
            <a:ext cx="3004014" cy="2314481"/>
          </a:xfrm>
          <a:prstGeom prst="rect">
            <a:avLst/>
          </a:prstGeom>
        </p:spPr>
      </p:pic>
      <p:pic>
        <p:nvPicPr>
          <p:cNvPr id="18" name="Picture 17">
            <a:extLst>
              <a:ext uri="{FF2B5EF4-FFF2-40B4-BE49-F238E27FC236}">
                <a16:creationId xmlns:a16="http://schemas.microsoft.com/office/drawing/2014/main" id="{D76B8A4E-EF2E-6179-1D6B-7C8A858C97D0}"/>
              </a:ext>
            </a:extLst>
          </p:cNvPr>
          <p:cNvPicPr>
            <a:picLocks noChangeAspect="1"/>
          </p:cNvPicPr>
          <p:nvPr/>
        </p:nvPicPr>
        <p:blipFill>
          <a:blip r:embed="rId4"/>
          <a:stretch>
            <a:fillRect/>
          </a:stretch>
        </p:blipFill>
        <p:spPr>
          <a:xfrm>
            <a:off x="5262490" y="3836653"/>
            <a:ext cx="3004014" cy="2314481"/>
          </a:xfrm>
          <a:prstGeom prst="rect">
            <a:avLst/>
          </a:prstGeom>
        </p:spPr>
      </p:pic>
      <p:pic>
        <p:nvPicPr>
          <p:cNvPr id="20" name="Picture 19">
            <a:extLst>
              <a:ext uri="{FF2B5EF4-FFF2-40B4-BE49-F238E27FC236}">
                <a16:creationId xmlns:a16="http://schemas.microsoft.com/office/drawing/2014/main" id="{4E3B6AAF-5170-1F61-07B6-80BC0893EF4D}"/>
              </a:ext>
            </a:extLst>
          </p:cNvPr>
          <p:cNvPicPr>
            <a:picLocks noChangeAspect="1"/>
          </p:cNvPicPr>
          <p:nvPr/>
        </p:nvPicPr>
        <p:blipFill>
          <a:blip r:embed="rId5"/>
          <a:stretch>
            <a:fillRect/>
          </a:stretch>
        </p:blipFill>
        <p:spPr>
          <a:xfrm>
            <a:off x="5263484" y="1527048"/>
            <a:ext cx="3003020" cy="2309605"/>
          </a:xfrm>
          <a:prstGeom prst="rect">
            <a:avLst/>
          </a:prstGeom>
        </p:spPr>
      </p:pic>
    </p:spTree>
    <p:extLst>
      <p:ext uri="{BB962C8B-B14F-4D97-AF65-F5344CB8AC3E}">
        <p14:creationId xmlns:p14="http://schemas.microsoft.com/office/powerpoint/2010/main" val="2923047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9DC9C-5E63-FA99-13F4-FDC3808A076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305433B-47BB-C536-1C30-D065524255F3}"/>
              </a:ext>
            </a:extLst>
          </p:cNvPr>
          <p:cNvSpPr>
            <a:spLocks noGrp="1"/>
          </p:cNvSpPr>
          <p:nvPr>
            <p:ph type="subTitle" idx="1"/>
          </p:nvPr>
        </p:nvSpPr>
        <p:spPr/>
        <p:txBody>
          <a:bodyPr/>
          <a:lstStyle/>
          <a:p>
            <a:pPr marL="0" indent="0">
              <a:buNone/>
            </a:pPr>
            <a:r>
              <a:rPr lang="en-US"/>
              <a:t>Presented By Chao Wang</a:t>
            </a:r>
          </a:p>
        </p:txBody>
      </p:sp>
      <p:sp>
        <p:nvSpPr>
          <p:cNvPr id="2" name="Title 1">
            <a:extLst>
              <a:ext uri="{FF2B5EF4-FFF2-40B4-BE49-F238E27FC236}">
                <a16:creationId xmlns:a16="http://schemas.microsoft.com/office/drawing/2014/main" id="{424DE354-CE18-CB47-BCD0-14D4399BACB0}"/>
              </a:ext>
            </a:extLst>
          </p:cNvPr>
          <p:cNvSpPr>
            <a:spLocks noGrp="1"/>
          </p:cNvSpPr>
          <p:nvPr>
            <p:ph type="ctrTitle"/>
          </p:nvPr>
        </p:nvSpPr>
        <p:spPr/>
        <p:txBody>
          <a:bodyPr/>
          <a:lstStyle/>
          <a:p>
            <a:r>
              <a:rPr lang="en-US">
                <a:latin typeface="Arial"/>
                <a:ea typeface="Verdana"/>
                <a:cs typeface="Arial"/>
              </a:rPr>
              <a:t> Watermarking</a:t>
            </a:r>
          </a:p>
        </p:txBody>
      </p:sp>
      <p:sp>
        <p:nvSpPr>
          <p:cNvPr id="6" name="TextBox 5">
            <a:extLst>
              <a:ext uri="{FF2B5EF4-FFF2-40B4-BE49-F238E27FC236}">
                <a16:creationId xmlns:a16="http://schemas.microsoft.com/office/drawing/2014/main" id="{69ABF531-29E2-24FF-114F-DC4A8C63FB34}"/>
              </a:ext>
            </a:extLst>
          </p:cNvPr>
          <p:cNvSpPr txBox="1"/>
          <p:nvPr/>
        </p:nvSpPr>
        <p:spPr>
          <a:xfrm>
            <a:off x="3901440" y="5953760"/>
            <a:ext cx="0" cy="0"/>
          </a:xfrm>
          <a:prstGeom prst="rect">
            <a:avLst/>
          </a:prstGeom>
          <a:noFill/>
        </p:spPr>
        <p:txBody>
          <a:bodyPr wrap="none" rtlCol="0">
            <a:noAutofit/>
          </a:bodyPr>
          <a:lstStyle/>
          <a:p>
            <a:pPr algn="ctr"/>
            <a:endParaRPr lang="en-US" sz="1600" err="1"/>
          </a:p>
        </p:txBody>
      </p:sp>
    </p:spTree>
    <p:extLst>
      <p:ext uri="{BB962C8B-B14F-4D97-AF65-F5344CB8AC3E}">
        <p14:creationId xmlns:p14="http://schemas.microsoft.com/office/powerpoint/2010/main" val="21278550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B5A2A-8CF2-0223-3DE8-E5965AC0633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398C8E4-4DAD-13C4-F0ED-9270B7F319C4}"/>
              </a:ext>
            </a:extLst>
          </p:cNvPr>
          <p:cNvSpPr>
            <a:spLocks noGrp="1"/>
          </p:cNvSpPr>
          <p:nvPr>
            <p:ph type="title"/>
          </p:nvPr>
        </p:nvSpPr>
        <p:spPr/>
        <p:txBody>
          <a:bodyPr/>
          <a:lstStyle/>
          <a:p>
            <a:r>
              <a:rPr lang="en-US">
                <a:latin typeface="Arial"/>
                <a:ea typeface="Verdana"/>
                <a:cs typeface="Arial"/>
              </a:rPr>
              <a:t>Workshop Overview</a:t>
            </a:r>
          </a:p>
        </p:txBody>
      </p:sp>
      <p:sp>
        <p:nvSpPr>
          <p:cNvPr id="10" name="Content Placeholder 2">
            <a:extLst>
              <a:ext uri="{FF2B5EF4-FFF2-40B4-BE49-F238E27FC236}">
                <a16:creationId xmlns:a16="http://schemas.microsoft.com/office/drawing/2014/main" id="{41497A48-43AE-AF00-5DF2-A730193CFDCC}"/>
              </a:ext>
            </a:extLst>
          </p:cNvPr>
          <p:cNvSpPr>
            <a:spLocks noGrp="1"/>
          </p:cNvSpPr>
          <p:nvPr>
            <p:ph sz="half" idx="1"/>
          </p:nvPr>
        </p:nvSpPr>
        <p:spPr>
          <a:xfrm>
            <a:off x="609600" y="1524000"/>
            <a:ext cx="10972800" cy="4648200"/>
          </a:xfrm>
        </p:spPr>
        <p:txBody>
          <a:bodyPr anchor="ctr">
            <a:normAutofit/>
          </a:bodyPr>
          <a:lstStyle/>
          <a:p>
            <a:pPr marL="0" indent="0" fontAlgn="base">
              <a:buNone/>
            </a:pPr>
            <a:r>
              <a:rPr lang="en-US" sz="2200" b="1">
                <a:latin typeface="Arial"/>
                <a:ea typeface="Verdana"/>
                <a:cs typeface="Arial"/>
              </a:rPr>
              <a:t>What is Watermarking?</a:t>
            </a:r>
            <a:r>
              <a:rPr lang="en-US" sz="2200">
                <a:latin typeface="Arial"/>
                <a:ea typeface="Verdana"/>
                <a:cs typeface="Arial"/>
              </a:rPr>
              <a:t>​</a:t>
            </a:r>
          </a:p>
          <a:p>
            <a:pPr fontAlgn="base"/>
            <a:r>
              <a:rPr lang="en-US" sz="2200">
                <a:latin typeface="Arial"/>
                <a:ea typeface="Verdana"/>
                <a:cs typeface="Arial"/>
              </a:rPr>
              <a:t>Watermarking is the process of embedding hidden information into digital content to enable ownership verification, integrity checking, or source tracing without significantly affecting the original data.</a:t>
            </a:r>
          </a:p>
          <a:p>
            <a:pPr marL="0" indent="0" fontAlgn="base">
              <a:buNone/>
            </a:pPr>
            <a:r>
              <a:rPr lang="en-US" sz="2200" b="1">
                <a:latin typeface="Arial"/>
                <a:ea typeface="Verdana"/>
                <a:cs typeface="Arial"/>
              </a:rPr>
              <a:t>Why it matters?</a:t>
            </a:r>
            <a:endParaRPr lang="en-US" sz="2200">
              <a:latin typeface="Arial"/>
              <a:ea typeface="Verdana"/>
              <a:cs typeface="Arial"/>
            </a:endParaRPr>
          </a:p>
          <a:p>
            <a:r>
              <a:rPr lang="en-US" sz="2200">
                <a:latin typeface="Arial"/>
                <a:ea typeface="Verdana"/>
                <a:cs typeface="Arial"/>
              </a:rPr>
              <a:t>Protect intellectual property of images and AI models</a:t>
            </a:r>
          </a:p>
          <a:p>
            <a:r>
              <a:rPr lang="en-US" sz="2200">
                <a:latin typeface="Arial"/>
                <a:ea typeface="Verdana"/>
                <a:cs typeface="Arial"/>
              </a:rPr>
              <a:t>Trace unauthorized distribution</a:t>
            </a:r>
          </a:p>
          <a:p>
            <a:r>
              <a:rPr lang="en-US" sz="2200">
                <a:latin typeface="Arial"/>
                <a:ea typeface="Verdana"/>
                <a:cs typeface="Arial"/>
              </a:rPr>
              <a:t>Verify ownership in black-box deployment settings</a:t>
            </a:r>
          </a:p>
          <a:p>
            <a:endParaRPr lang="en-US" sz="2200"/>
          </a:p>
        </p:txBody>
      </p:sp>
    </p:spTree>
    <p:extLst>
      <p:ext uri="{BB962C8B-B14F-4D97-AF65-F5344CB8AC3E}">
        <p14:creationId xmlns:p14="http://schemas.microsoft.com/office/powerpoint/2010/main" val="2023938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7BD07-91FD-872E-D889-2CFAF7231C2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BE5F15-08E6-D471-B175-9FE36F33C419}"/>
              </a:ext>
            </a:extLst>
          </p:cNvPr>
          <p:cNvSpPr>
            <a:spLocks noGrp="1"/>
          </p:cNvSpPr>
          <p:nvPr>
            <p:ph type="title"/>
          </p:nvPr>
        </p:nvSpPr>
        <p:spPr/>
        <p:txBody>
          <a:bodyPr/>
          <a:lstStyle/>
          <a:p>
            <a:r>
              <a:rPr lang="en-US">
                <a:latin typeface="Arial"/>
                <a:ea typeface="Verdana"/>
                <a:cs typeface="Arial"/>
              </a:rPr>
              <a:t>Types of Watermarking</a:t>
            </a:r>
          </a:p>
        </p:txBody>
      </p:sp>
      <p:sp>
        <p:nvSpPr>
          <p:cNvPr id="5" name="Content Placeholder 2">
            <a:extLst>
              <a:ext uri="{FF2B5EF4-FFF2-40B4-BE49-F238E27FC236}">
                <a16:creationId xmlns:a16="http://schemas.microsoft.com/office/drawing/2014/main" id="{CAFA978E-A342-C230-CFB2-2ABA89C0DC4C}"/>
              </a:ext>
            </a:extLst>
          </p:cNvPr>
          <p:cNvSpPr>
            <a:spLocks noGrp="1"/>
          </p:cNvSpPr>
          <p:nvPr>
            <p:ph sz="half" idx="1"/>
          </p:nvPr>
        </p:nvSpPr>
        <p:spPr>
          <a:xfrm>
            <a:off x="609600" y="1524000"/>
            <a:ext cx="4381500" cy="4648200"/>
          </a:xfrm>
        </p:spPr>
        <p:txBody>
          <a:bodyPr anchor="ctr">
            <a:normAutofit/>
          </a:bodyPr>
          <a:lstStyle/>
          <a:p>
            <a:pPr marL="0" indent="0" fontAlgn="base">
              <a:buNone/>
            </a:pPr>
            <a:r>
              <a:rPr lang="en-US" sz="2200" b="1">
                <a:latin typeface="Arial"/>
                <a:ea typeface="Verdana"/>
                <a:cs typeface="Arial"/>
              </a:rPr>
              <a:t>Media Watermarking</a:t>
            </a:r>
            <a:r>
              <a:rPr lang="en-US" sz="2200">
                <a:latin typeface="Arial"/>
                <a:ea typeface="Verdana"/>
                <a:cs typeface="Arial"/>
              </a:rPr>
              <a:t>​</a:t>
            </a:r>
          </a:p>
          <a:p>
            <a:pPr fontAlgn="base"/>
            <a:r>
              <a:rPr lang="en-US" sz="2200">
                <a:latin typeface="Arial"/>
                <a:ea typeface="Verdana"/>
                <a:cs typeface="Arial"/>
              </a:rPr>
              <a:t>Image watermarking </a:t>
            </a:r>
          </a:p>
          <a:p>
            <a:r>
              <a:rPr lang="en-US" sz="2200">
                <a:latin typeface="Arial"/>
                <a:ea typeface="Verdana"/>
                <a:cs typeface="Arial"/>
              </a:rPr>
              <a:t>Audio watermarking</a:t>
            </a:r>
          </a:p>
          <a:p>
            <a:r>
              <a:rPr lang="en-US" sz="2200">
                <a:latin typeface="Arial"/>
                <a:ea typeface="Verdana"/>
                <a:cs typeface="Arial"/>
              </a:rPr>
              <a:t>Video watermarking</a:t>
            </a:r>
          </a:p>
          <a:p>
            <a:r>
              <a:rPr lang="en-US" sz="2200">
                <a:latin typeface="Arial"/>
                <a:ea typeface="Verdana"/>
                <a:cs typeface="Arial"/>
              </a:rPr>
              <a:t>Text watermarking</a:t>
            </a:r>
          </a:p>
          <a:p>
            <a:pPr marL="0" indent="0" fontAlgn="base">
              <a:buNone/>
            </a:pPr>
            <a:r>
              <a:rPr lang="en-US" sz="2200" b="1">
                <a:latin typeface="Arial"/>
                <a:ea typeface="Verdana"/>
                <a:cs typeface="Arial"/>
              </a:rPr>
              <a:t>LLM Watermarking</a:t>
            </a:r>
            <a:endParaRPr lang="en-US" sz="2200">
              <a:latin typeface="Arial"/>
              <a:ea typeface="Verdana"/>
              <a:cs typeface="Arial"/>
            </a:endParaRPr>
          </a:p>
          <a:p>
            <a:r>
              <a:rPr lang="en-US" sz="2200">
                <a:latin typeface="Arial"/>
                <a:ea typeface="Verdana"/>
                <a:cs typeface="Arial"/>
              </a:rPr>
              <a:t>LLM text watermarking</a:t>
            </a:r>
          </a:p>
          <a:p>
            <a:r>
              <a:rPr lang="en-US" sz="2200">
                <a:latin typeface="Arial"/>
                <a:ea typeface="Verdana"/>
                <a:cs typeface="Arial"/>
              </a:rPr>
              <a:t>Diffusion image watermarking</a:t>
            </a:r>
          </a:p>
          <a:p>
            <a:pPr marL="0" indent="0">
              <a:buNone/>
            </a:pPr>
            <a:r>
              <a:rPr lang="en-US" sz="2200" b="1">
                <a:latin typeface="Arial"/>
                <a:ea typeface="Verdana"/>
                <a:cs typeface="Arial"/>
              </a:rPr>
              <a:t>Model Watermarking</a:t>
            </a:r>
            <a:endParaRPr lang="en-US" sz="2200">
              <a:latin typeface="Arial"/>
              <a:ea typeface="Verdana"/>
              <a:cs typeface="Arial"/>
            </a:endParaRPr>
          </a:p>
          <a:p>
            <a:endParaRPr lang="en-US" sz="2200"/>
          </a:p>
        </p:txBody>
      </p:sp>
    </p:spTree>
    <p:extLst>
      <p:ext uri="{BB962C8B-B14F-4D97-AF65-F5344CB8AC3E}">
        <p14:creationId xmlns:p14="http://schemas.microsoft.com/office/powerpoint/2010/main" val="33160410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5702-161D-8ECF-2A53-E76458B5BBA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A69E0B9-0A05-4199-FAF3-ECC1DFAF5919}"/>
              </a:ext>
            </a:extLst>
          </p:cNvPr>
          <p:cNvSpPr/>
          <p:nvPr/>
        </p:nvSpPr>
        <p:spPr bwMode="auto">
          <a:xfrm>
            <a:off x="0" y="6927"/>
            <a:ext cx="12192000" cy="6858000"/>
          </a:xfrm>
          <a:prstGeom prst="rect">
            <a:avLst/>
          </a:prstGeom>
          <a:solidFill>
            <a:schemeClr val="accent2"/>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24" name="Rectangle 23">
            <a:extLst>
              <a:ext uri="{FF2B5EF4-FFF2-40B4-BE49-F238E27FC236}">
                <a16:creationId xmlns:a16="http://schemas.microsoft.com/office/drawing/2014/main" id="{8858E860-FC17-523A-28A1-62C7924A9231}"/>
              </a:ext>
            </a:extLst>
          </p:cNvPr>
          <p:cNvSpPr/>
          <p:nvPr/>
        </p:nvSpPr>
        <p:spPr>
          <a:xfrm>
            <a:off x="-1" y="556867"/>
            <a:ext cx="5456255" cy="17531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9FA577-C029-E3A1-F14A-825DC08531EC}"/>
              </a:ext>
            </a:extLst>
          </p:cNvPr>
          <p:cNvSpPr/>
          <p:nvPr/>
        </p:nvSpPr>
        <p:spPr>
          <a:xfrm>
            <a:off x="8921539" y="5132136"/>
            <a:ext cx="3270461" cy="118409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AEE6ECF-8EE7-DCFA-0072-B11352C7FAB3}"/>
              </a:ext>
            </a:extLst>
          </p:cNvPr>
          <p:cNvSpPr txBox="1"/>
          <p:nvPr/>
        </p:nvSpPr>
        <p:spPr>
          <a:xfrm>
            <a:off x="348986" y="725579"/>
            <a:ext cx="4758280" cy="1415772"/>
          </a:xfrm>
          <a:prstGeom prst="rect">
            <a:avLst/>
          </a:prstGeom>
          <a:noFill/>
        </p:spPr>
        <p:txBody>
          <a:bodyPr wrap="square" lIns="91440" tIns="45720" rIns="91440" bIns="45720" anchor="t">
            <a:spAutoFit/>
          </a:bodyPr>
          <a:lstStyle/>
          <a:p>
            <a:r>
              <a:rPr lang="en-US" sz="5000" b="1" spc="-50">
                <a:solidFill>
                  <a:srgbClr val="AB162B"/>
                </a:solidFill>
                <a:latin typeface="Arial"/>
                <a:cs typeface="Arial"/>
              </a:rPr>
              <a:t>Project 1</a:t>
            </a:r>
            <a:br>
              <a:rPr lang="en-US" sz="5000" b="1">
                <a:solidFill>
                  <a:srgbClr val="AB162B"/>
                </a:solidFill>
                <a:latin typeface="Arial" panose="020B0604020202020204" pitchFamily="34" charset="0"/>
                <a:cs typeface="Arial" panose="020B0604020202020204" pitchFamily="34" charset="0"/>
              </a:rPr>
            </a:br>
            <a:r>
              <a:rPr lang="en-US" sz="3600" b="1">
                <a:solidFill>
                  <a:srgbClr val="AB162B"/>
                </a:solidFill>
                <a:latin typeface="Arial"/>
                <a:cs typeface="Arial"/>
              </a:rPr>
              <a:t>Image Watermarking</a:t>
            </a:r>
            <a:endParaRPr lang="en-US" sz="3600">
              <a:solidFill>
                <a:srgbClr val="AB162B"/>
              </a:solidFill>
              <a:latin typeface="Arial"/>
              <a:cs typeface="Arial"/>
            </a:endParaRPr>
          </a:p>
        </p:txBody>
      </p:sp>
      <p:sp>
        <p:nvSpPr>
          <p:cNvPr id="19" name="TextBox 18">
            <a:extLst>
              <a:ext uri="{FF2B5EF4-FFF2-40B4-BE49-F238E27FC236}">
                <a16:creationId xmlns:a16="http://schemas.microsoft.com/office/drawing/2014/main" id="{3A251273-A588-0042-36FA-833B16582E7E}"/>
              </a:ext>
            </a:extLst>
          </p:cNvPr>
          <p:cNvSpPr txBox="1"/>
          <p:nvPr/>
        </p:nvSpPr>
        <p:spPr>
          <a:xfrm>
            <a:off x="-250521" y="4872625"/>
            <a:ext cx="0" cy="0"/>
          </a:xfrm>
          <a:prstGeom prst="rect">
            <a:avLst/>
          </a:prstGeom>
          <a:noFill/>
        </p:spPr>
        <p:txBody>
          <a:bodyPr wrap="none" rtlCol="0">
            <a:noAutofit/>
          </a:bodyPr>
          <a:lstStyle/>
          <a:p>
            <a:pPr algn="ctr"/>
            <a:endParaRPr lang="en-US" sz="1600" err="1"/>
          </a:p>
        </p:txBody>
      </p:sp>
      <p:sp>
        <p:nvSpPr>
          <p:cNvPr id="20" name="TextBox 19">
            <a:extLst>
              <a:ext uri="{FF2B5EF4-FFF2-40B4-BE49-F238E27FC236}">
                <a16:creationId xmlns:a16="http://schemas.microsoft.com/office/drawing/2014/main" id="{25FD3232-9A6E-875D-968E-DBE150296AE0}"/>
              </a:ext>
            </a:extLst>
          </p:cNvPr>
          <p:cNvSpPr txBox="1"/>
          <p:nvPr/>
        </p:nvSpPr>
        <p:spPr>
          <a:xfrm>
            <a:off x="-125260" y="2718148"/>
            <a:ext cx="0" cy="0"/>
          </a:xfrm>
          <a:prstGeom prst="rect">
            <a:avLst/>
          </a:prstGeom>
          <a:noFill/>
        </p:spPr>
        <p:txBody>
          <a:bodyPr wrap="none" rtlCol="0">
            <a:noAutofit/>
          </a:bodyPr>
          <a:lstStyle/>
          <a:p>
            <a:pPr algn="ctr"/>
            <a:endParaRPr lang="en-US" sz="1600" err="1"/>
          </a:p>
        </p:txBody>
      </p:sp>
      <p:sp>
        <p:nvSpPr>
          <p:cNvPr id="21" name="TextBox 20">
            <a:extLst>
              <a:ext uri="{FF2B5EF4-FFF2-40B4-BE49-F238E27FC236}">
                <a16:creationId xmlns:a16="http://schemas.microsoft.com/office/drawing/2014/main" id="{0C4480FA-A489-FBAE-D712-9B5F9B37CCFA}"/>
              </a:ext>
            </a:extLst>
          </p:cNvPr>
          <p:cNvSpPr txBox="1"/>
          <p:nvPr/>
        </p:nvSpPr>
        <p:spPr>
          <a:xfrm>
            <a:off x="6465455" y="-221673"/>
            <a:ext cx="0" cy="0"/>
          </a:xfrm>
          <a:prstGeom prst="rect">
            <a:avLst/>
          </a:prstGeom>
          <a:noFill/>
        </p:spPr>
        <p:txBody>
          <a:bodyPr wrap="none" rtlCol="0">
            <a:noAutofit/>
          </a:bodyPr>
          <a:lstStyle/>
          <a:p>
            <a:pPr algn="ctr"/>
            <a:endParaRPr lang="en-US" sz="1600" err="1"/>
          </a:p>
        </p:txBody>
      </p:sp>
      <p:pic>
        <p:nvPicPr>
          <p:cNvPr id="7" name="Picture 6" descr="A red letter w on a black background&#10;&#10;Description automatically generated">
            <a:extLst>
              <a:ext uri="{FF2B5EF4-FFF2-40B4-BE49-F238E27FC236}">
                <a16:creationId xmlns:a16="http://schemas.microsoft.com/office/drawing/2014/main" id="{F1E09C45-1D0A-B0DB-BC4D-11F89FF704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5700" y="5370126"/>
            <a:ext cx="2177592" cy="704088"/>
          </a:xfrm>
          <a:prstGeom prst="rect">
            <a:avLst/>
          </a:prstGeom>
        </p:spPr>
      </p:pic>
    </p:spTree>
    <p:extLst>
      <p:ext uri="{BB962C8B-B14F-4D97-AF65-F5344CB8AC3E}">
        <p14:creationId xmlns:p14="http://schemas.microsoft.com/office/powerpoint/2010/main" val="18686905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B70D2-9460-DF94-9445-CD57402E5F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F56C171-274B-E237-3721-7A89D38C927E}"/>
              </a:ext>
            </a:extLst>
          </p:cNvPr>
          <p:cNvSpPr>
            <a:spLocks noGrp="1"/>
          </p:cNvSpPr>
          <p:nvPr>
            <p:ph type="title"/>
          </p:nvPr>
        </p:nvSpPr>
        <p:spPr/>
        <p:txBody>
          <a:bodyPr/>
          <a:lstStyle/>
          <a:p>
            <a:r>
              <a:rPr lang="en-US">
                <a:latin typeface="Arial"/>
                <a:ea typeface="Verdana"/>
                <a:cs typeface="Arial"/>
              </a:rPr>
              <a:t>Image Watermarking</a:t>
            </a:r>
          </a:p>
        </p:txBody>
      </p:sp>
      <p:sp>
        <p:nvSpPr>
          <p:cNvPr id="10" name="Content Placeholder 2">
            <a:extLst>
              <a:ext uri="{FF2B5EF4-FFF2-40B4-BE49-F238E27FC236}">
                <a16:creationId xmlns:a16="http://schemas.microsoft.com/office/drawing/2014/main" id="{44AB0F27-B9DC-3BE3-A22E-617F80039BF0}"/>
              </a:ext>
            </a:extLst>
          </p:cNvPr>
          <p:cNvSpPr>
            <a:spLocks noGrp="1"/>
          </p:cNvSpPr>
          <p:nvPr>
            <p:ph sz="half" idx="1"/>
          </p:nvPr>
        </p:nvSpPr>
        <p:spPr>
          <a:xfrm>
            <a:off x="609600" y="1714500"/>
            <a:ext cx="4664528" cy="4969328"/>
          </a:xfrm>
        </p:spPr>
        <p:txBody>
          <a:bodyPr anchor="ctr">
            <a:normAutofit fontScale="92500" lnSpcReduction="10000"/>
          </a:bodyPr>
          <a:lstStyle/>
          <a:p>
            <a:pPr marL="0" indent="0" fontAlgn="base">
              <a:buNone/>
            </a:pPr>
            <a:r>
              <a:rPr lang="en-US" sz="2200" b="1">
                <a:latin typeface="Arial"/>
                <a:ea typeface="Verdana"/>
                <a:cs typeface="Arial"/>
              </a:rPr>
              <a:t>Visible Watermarking</a:t>
            </a:r>
            <a:r>
              <a:rPr lang="en-US" sz="2200">
                <a:latin typeface="Arial"/>
                <a:ea typeface="Verdana"/>
                <a:cs typeface="Arial"/>
              </a:rPr>
              <a:t>​</a:t>
            </a:r>
          </a:p>
          <a:p>
            <a:r>
              <a:rPr lang="en-US" sz="2200">
                <a:latin typeface="Arial"/>
                <a:ea typeface="Verdana"/>
                <a:cs typeface="Arial"/>
              </a:rPr>
              <a:t>The watermark is directly visible on the image</a:t>
            </a:r>
          </a:p>
          <a:p>
            <a:r>
              <a:rPr lang="en-US" sz="2200">
                <a:latin typeface="Arial"/>
                <a:ea typeface="Verdana"/>
                <a:cs typeface="Arial"/>
              </a:rPr>
              <a:t>Mostly use it for copyright protection and deterrence</a:t>
            </a:r>
          </a:p>
          <a:p>
            <a:pPr marL="0" indent="0" fontAlgn="base">
              <a:buNone/>
            </a:pPr>
            <a:r>
              <a:rPr lang="en-US" sz="2200" b="1">
                <a:latin typeface="Arial"/>
                <a:ea typeface="Verdana"/>
                <a:cs typeface="Arial"/>
              </a:rPr>
              <a:t>Invisible Watermarking</a:t>
            </a:r>
            <a:endParaRPr lang="en-US" sz="2200">
              <a:latin typeface="Arial"/>
              <a:ea typeface="Verdana"/>
              <a:cs typeface="Arial"/>
            </a:endParaRPr>
          </a:p>
          <a:p>
            <a:r>
              <a:rPr lang="en-US" sz="2200">
                <a:latin typeface="Arial"/>
                <a:ea typeface="Verdana"/>
                <a:cs typeface="Arial"/>
              </a:rPr>
              <a:t>The watermark is not visible to the human eye</a:t>
            </a:r>
          </a:p>
          <a:p>
            <a:r>
              <a:rPr lang="en-US" sz="2200">
                <a:latin typeface="Arial"/>
                <a:ea typeface="Verdana"/>
                <a:cs typeface="Arial"/>
              </a:rPr>
              <a:t>It is embedded in pixel values or frequency components</a:t>
            </a:r>
          </a:p>
          <a:p>
            <a:r>
              <a:rPr lang="en-US" sz="2200">
                <a:latin typeface="Arial"/>
                <a:ea typeface="Verdana"/>
                <a:cs typeface="Arial"/>
              </a:rPr>
              <a:t>Can be detected or extracted using algorithms</a:t>
            </a:r>
          </a:p>
          <a:p>
            <a:r>
              <a:rPr lang="en-US" sz="2200">
                <a:latin typeface="Arial"/>
                <a:ea typeface="Verdana"/>
                <a:cs typeface="Arial"/>
              </a:rPr>
              <a:t>Mostly use it for ownership verification, authentication, tracking</a:t>
            </a:r>
            <a:endParaRPr lang="en-US" sz="2200"/>
          </a:p>
          <a:p>
            <a:pPr marL="0" indent="0">
              <a:buNone/>
            </a:pPr>
            <a:endParaRPr lang="en-US" sz="2200" b="1"/>
          </a:p>
          <a:p>
            <a:endParaRPr lang="en-US" sz="2200"/>
          </a:p>
        </p:txBody>
      </p:sp>
      <p:pic>
        <p:nvPicPr>
          <p:cNvPr id="13" name="Picture 12" descr="A comparison of a lake and mountains&#10;&#10;AI-generated content may be incorrect.">
            <a:extLst>
              <a:ext uri="{FF2B5EF4-FFF2-40B4-BE49-F238E27FC236}">
                <a16:creationId xmlns:a16="http://schemas.microsoft.com/office/drawing/2014/main" id="{82C9C652-C135-E9A4-58E5-C5FD613BEAF2}"/>
              </a:ext>
            </a:extLst>
          </p:cNvPr>
          <p:cNvPicPr>
            <a:picLocks noChangeAspect="1"/>
          </p:cNvPicPr>
          <p:nvPr/>
        </p:nvPicPr>
        <p:blipFill>
          <a:blip r:embed="rId2"/>
          <a:stretch>
            <a:fillRect/>
          </a:stretch>
        </p:blipFill>
        <p:spPr>
          <a:xfrm>
            <a:off x="5276170" y="2163536"/>
            <a:ext cx="6505575" cy="3238500"/>
          </a:xfrm>
          <a:prstGeom prst="rect">
            <a:avLst/>
          </a:prstGeom>
        </p:spPr>
      </p:pic>
      <p:sp>
        <p:nvSpPr>
          <p:cNvPr id="14" name="Oval 13">
            <a:extLst>
              <a:ext uri="{FF2B5EF4-FFF2-40B4-BE49-F238E27FC236}">
                <a16:creationId xmlns:a16="http://schemas.microsoft.com/office/drawing/2014/main" id="{CB92389B-E430-D487-5B4C-BC18F0775AC8}"/>
              </a:ext>
            </a:extLst>
          </p:cNvPr>
          <p:cNvSpPr/>
          <p:nvPr/>
        </p:nvSpPr>
        <p:spPr bwMode="auto">
          <a:xfrm>
            <a:off x="8398328" y="5170714"/>
            <a:ext cx="549729" cy="468085"/>
          </a:xfrm>
          <a:prstGeom prst="ellipse">
            <a:avLst/>
          </a:prstGeom>
          <a:solidFill>
            <a:schemeClr val="bg1"/>
          </a:solidFill>
          <a:ln w="12700" cap="sq" algn="ctr">
            <a:solidFill>
              <a:schemeClr val="bg1"/>
            </a:solidFill>
            <a:miter lim="800000"/>
            <a:headEnd/>
            <a:tailEnd/>
          </a:ln>
          <a:effectLst/>
        </p:spPr>
        <p:txBody>
          <a:bodyPr wrap="none" rtlCol="0" anchor="ctr"/>
          <a:lstStyle/>
          <a:p>
            <a:pPr algn="ctr"/>
            <a:endParaRPr lang="en-US" sz="1600">
              <a:solidFill>
                <a:schemeClr val="bg1"/>
              </a:solidFill>
              <a:latin typeface="+mn-lt"/>
            </a:endParaRPr>
          </a:p>
        </p:txBody>
      </p:sp>
    </p:spTree>
    <p:extLst>
      <p:ext uri="{BB962C8B-B14F-4D97-AF65-F5344CB8AC3E}">
        <p14:creationId xmlns:p14="http://schemas.microsoft.com/office/powerpoint/2010/main" val="2138815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A5D4-4FD8-3FB4-ED48-CE4014EA35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61676AF-2ED0-070A-142B-AA6F03F718AE}"/>
              </a:ext>
            </a:extLst>
          </p:cNvPr>
          <p:cNvSpPr>
            <a:spLocks noGrp="1"/>
          </p:cNvSpPr>
          <p:nvPr>
            <p:ph type="title"/>
          </p:nvPr>
        </p:nvSpPr>
        <p:spPr/>
        <p:txBody>
          <a:bodyPr/>
          <a:lstStyle/>
          <a:p>
            <a:r>
              <a:rPr lang="en-US">
                <a:latin typeface="Arial"/>
                <a:ea typeface="Verdana"/>
                <a:cs typeface="Arial"/>
              </a:rPr>
              <a:t>Types of Invisible Image Watermarking</a:t>
            </a:r>
          </a:p>
        </p:txBody>
      </p:sp>
      <p:sp>
        <p:nvSpPr>
          <p:cNvPr id="10" name="Content Placeholder 2">
            <a:extLst>
              <a:ext uri="{FF2B5EF4-FFF2-40B4-BE49-F238E27FC236}">
                <a16:creationId xmlns:a16="http://schemas.microsoft.com/office/drawing/2014/main" id="{5165C8F8-9BAD-CF4A-9711-65861C805ED7}"/>
              </a:ext>
            </a:extLst>
          </p:cNvPr>
          <p:cNvSpPr>
            <a:spLocks noGrp="1"/>
          </p:cNvSpPr>
          <p:nvPr>
            <p:ph sz="half" idx="1"/>
          </p:nvPr>
        </p:nvSpPr>
        <p:spPr>
          <a:xfrm>
            <a:off x="702129" y="2046515"/>
            <a:ext cx="10868372" cy="4626427"/>
          </a:xfrm>
        </p:spPr>
        <p:txBody>
          <a:bodyPr anchor="ctr">
            <a:normAutofit fontScale="92500" lnSpcReduction="10000"/>
          </a:bodyPr>
          <a:lstStyle/>
          <a:p>
            <a:pPr marL="0" indent="0" fontAlgn="base">
              <a:buNone/>
            </a:pPr>
            <a:r>
              <a:rPr lang="en-US" sz="2200" b="1">
                <a:latin typeface="Arial"/>
                <a:ea typeface="Verdana"/>
                <a:cs typeface="Arial"/>
              </a:rPr>
              <a:t>Spatial Domain</a:t>
            </a:r>
            <a:endParaRPr lang="en-US" sz="2200">
              <a:latin typeface="Arial"/>
              <a:ea typeface="Verdana"/>
              <a:cs typeface="Arial"/>
            </a:endParaRPr>
          </a:p>
          <a:p>
            <a:r>
              <a:rPr lang="en-US" sz="2200">
                <a:latin typeface="Arial"/>
                <a:ea typeface="Verdana"/>
                <a:cs typeface="Arial"/>
              </a:rPr>
              <a:t>LSB (Least Significant Bit) watermarking embeds data by modifying the least significant bits of pixel values, making it simple but highly fragile.</a:t>
            </a:r>
          </a:p>
          <a:p>
            <a:pPr marL="0" indent="0" fontAlgn="base">
              <a:buNone/>
            </a:pPr>
            <a:r>
              <a:rPr lang="en-US" sz="2200" b="1">
                <a:latin typeface="Arial"/>
                <a:ea typeface="Verdana"/>
                <a:cs typeface="Arial"/>
              </a:rPr>
              <a:t>Frequency Domain</a:t>
            </a:r>
          </a:p>
          <a:p>
            <a:r>
              <a:rPr lang="en-US" sz="2200">
                <a:latin typeface="Arial"/>
                <a:ea typeface="Verdana"/>
                <a:cs typeface="Arial"/>
              </a:rPr>
              <a:t>DCT (Discrete Cosine Transform) and DWT(Discrete Wavelet Transform) watermarking embed information into frequency components or wavelet sub-bands to achieve a balance between robustness and imperceptibility.</a:t>
            </a:r>
          </a:p>
          <a:p>
            <a:pPr marL="0" indent="0">
              <a:buNone/>
            </a:pPr>
            <a:r>
              <a:rPr lang="en-US" sz="2200" b="1">
                <a:latin typeface="Arial"/>
                <a:ea typeface="Verdana"/>
                <a:cs typeface="Arial"/>
              </a:rPr>
              <a:t>Spread Spectrum</a:t>
            </a:r>
            <a:endParaRPr lang="en-US">
              <a:latin typeface="Arial"/>
              <a:ea typeface="Verdana"/>
              <a:cs typeface="Arial"/>
            </a:endParaRPr>
          </a:p>
          <a:p>
            <a:r>
              <a:rPr lang="en-US" sz="2200">
                <a:latin typeface="Arial"/>
                <a:ea typeface="Verdana"/>
                <a:cs typeface="Arial"/>
              </a:rPr>
              <a:t>Spread spectrum watermarking distributes the watermark as pseudo-random noise across the image, making it highly resistant to attacks.</a:t>
            </a:r>
          </a:p>
          <a:p>
            <a:pPr marL="0" indent="0">
              <a:buNone/>
            </a:pPr>
            <a:r>
              <a:rPr lang="en-US" sz="2200" b="1">
                <a:latin typeface="Arial"/>
                <a:ea typeface="Verdana"/>
                <a:cs typeface="Arial"/>
              </a:rPr>
              <a:t>Deep Learning Watermarking</a:t>
            </a:r>
            <a:endParaRPr lang="en-US"/>
          </a:p>
          <a:p>
            <a:r>
              <a:rPr lang="en-US" sz="2200"/>
              <a:t>Deep learning watermarking uses neural networks to learn robust and imperceptible embedding and extraction of watermarks under various distortions.</a:t>
            </a:r>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586615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64C04-C378-6E84-3BB4-04B4095D0AA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290ACA-35F5-527C-2396-2F1A560A56F1}"/>
              </a:ext>
            </a:extLst>
          </p:cNvPr>
          <p:cNvSpPr>
            <a:spLocks noGrp="1"/>
          </p:cNvSpPr>
          <p:nvPr>
            <p:ph type="title"/>
          </p:nvPr>
        </p:nvSpPr>
        <p:spPr/>
        <p:txBody>
          <a:bodyPr/>
          <a:lstStyle/>
          <a:p>
            <a:r>
              <a:rPr lang="en-US" sz="3200"/>
              <a:t>DWT-DCT: Classical Frequency-Domain Watermarking</a:t>
            </a:r>
          </a:p>
        </p:txBody>
      </p:sp>
      <p:sp>
        <p:nvSpPr>
          <p:cNvPr id="10" name="Content Placeholder 2">
            <a:extLst>
              <a:ext uri="{FF2B5EF4-FFF2-40B4-BE49-F238E27FC236}">
                <a16:creationId xmlns:a16="http://schemas.microsoft.com/office/drawing/2014/main" id="{D5FD5078-4ED4-2CB8-C486-7D7AD515C5C7}"/>
              </a:ext>
            </a:extLst>
          </p:cNvPr>
          <p:cNvSpPr>
            <a:spLocks noGrp="1"/>
          </p:cNvSpPr>
          <p:nvPr>
            <p:ph sz="half" idx="1"/>
          </p:nvPr>
        </p:nvSpPr>
        <p:spPr>
          <a:xfrm>
            <a:off x="468086" y="2530929"/>
            <a:ext cx="5344885" cy="4468585"/>
          </a:xfrm>
        </p:spPr>
        <p:txBody>
          <a:bodyPr anchor="ctr">
            <a:normAutofit lnSpcReduction="10000"/>
          </a:bodyPr>
          <a:lstStyle/>
          <a:p>
            <a:pPr marL="0" indent="0" fontAlgn="base">
              <a:buNone/>
            </a:pPr>
            <a:r>
              <a:rPr lang="en-US" sz="2200" b="1">
                <a:latin typeface="Arial"/>
                <a:ea typeface="Verdana"/>
                <a:cs typeface="Arial"/>
              </a:rPr>
              <a:t>Pipeline of DWT-DCT</a:t>
            </a:r>
          </a:p>
          <a:p>
            <a:r>
              <a:rPr lang="en-US" sz="2200">
                <a:latin typeface="Arial"/>
                <a:ea typeface="Verdana"/>
                <a:cs typeface="Arial"/>
              </a:rPr>
              <a:t>Decomposition: Use DWT to split the image into sub-bands and select a suitable region (e.g., LH/HL) for embedding.</a:t>
            </a:r>
          </a:p>
          <a:p>
            <a:r>
              <a:rPr lang="en-US" sz="2200">
                <a:latin typeface="Arial"/>
                <a:ea typeface="Verdana"/>
                <a:cs typeface="Arial"/>
              </a:rPr>
              <a:t>Embedding: Apply DCT to the selected sub-band and embed the watermark into mid-frequency coefficients. </a:t>
            </a:r>
          </a:p>
          <a:p>
            <a:pPr marL="0" indent="0">
              <a:buNone/>
            </a:pPr>
            <a:r>
              <a:rPr lang="en-US" sz="2200" b="1">
                <a:latin typeface="Arial"/>
                <a:ea typeface="Verdana"/>
                <a:cs typeface="Arial"/>
              </a:rPr>
              <a:t>Advantage</a:t>
            </a:r>
          </a:p>
          <a:p>
            <a:r>
              <a:rPr lang="en-US" sz="2200">
                <a:latin typeface="Arial"/>
                <a:ea typeface="Verdana"/>
                <a:cs typeface="Arial"/>
              </a:rPr>
              <a:t>Achieves a good balance between robustness (against compression/noise) and imperceptibility.</a:t>
            </a:r>
            <a:endParaRPr lang="en-US"/>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2" name="Picture 11" descr="A white background with black text&#10;&#10;AI-generated content may be incorrect.">
            <a:extLst>
              <a:ext uri="{FF2B5EF4-FFF2-40B4-BE49-F238E27FC236}">
                <a16:creationId xmlns:a16="http://schemas.microsoft.com/office/drawing/2014/main" id="{C5D247E8-2C7C-A209-C044-563066C833E1}"/>
              </a:ext>
            </a:extLst>
          </p:cNvPr>
          <p:cNvPicPr>
            <a:picLocks noChangeAspect="1"/>
          </p:cNvPicPr>
          <p:nvPr/>
        </p:nvPicPr>
        <p:blipFill>
          <a:blip r:embed="rId2"/>
          <a:stretch>
            <a:fillRect/>
          </a:stretch>
        </p:blipFill>
        <p:spPr>
          <a:xfrm>
            <a:off x="6109608" y="2305049"/>
            <a:ext cx="5970813" cy="2971800"/>
          </a:xfrm>
          <a:prstGeom prst="rect">
            <a:avLst/>
          </a:prstGeom>
        </p:spPr>
      </p:pic>
    </p:spTree>
    <p:extLst>
      <p:ext uri="{BB962C8B-B14F-4D97-AF65-F5344CB8AC3E}">
        <p14:creationId xmlns:p14="http://schemas.microsoft.com/office/powerpoint/2010/main" val="26734144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32C0-38F8-BD97-3423-1C04DD9EC5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ECE9DC-9639-3ED2-137F-C397AC56DC79}"/>
              </a:ext>
            </a:extLst>
          </p:cNvPr>
          <p:cNvSpPr>
            <a:spLocks noGrp="1"/>
          </p:cNvSpPr>
          <p:nvPr>
            <p:ph type="title"/>
          </p:nvPr>
        </p:nvSpPr>
        <p:spPr/>
        <p:txBody>
          <a:bodyPr/>
          <a:lstStyle/>
          <a:p>
            <a:r>
              <a:rPr lang="en-US" err="1"/>
              <a:t>RivaGAN</a:t>
            </a:r>
            <a:r>
              <a:rPr lang="en-US"/>
              <a:t>: Neural Network Watermarking</a:t>
            </a:r>
          </a:p>
        </p:txBody>
      </p:sp>
      <p:sp>
        <p:nvSpPr>
          <p:cNvPr id="16" name="Content Placeholder 2">
            <a:extLst>
              <a:ext uri="{FF2B5EF4-FFF2-40B4-BE49-F238E27FC236}">
                <a16:creationId xmlns:a16="http://schemas.microsoft.com/office/drawing/2014/main" id="{2BB7DA60-5D3C-12DE-4779-E7B3D4E67213}"/>
              </a:ext>
            </a:extLst>
          </p:cNvPr>
          <p:cNvSpPr>
            <a:spLocks noGrp="1"/>
          </p:cNvSpPr>
          <p:nvPr>
            <p:ph sz="half" idx="1"/>
          </p:nvPr>
        </p:nvSpPr>
        <p:spPr>
          <a:xfrm>
            <a:off x="609600" y="2744888"/>
            <a:ext cx="11612187" cy="4468585"/>
          </a:xfrm>
        </p:spPr>
        <p:txBody>
          <a:bodyPr anchor="ctr">
            <a:normAutofit/>
          </a:bodyPr>
          <a:lstStyle/>
          <a:p>
            <a:pPr marL="0" indent="0" fontAlgn="base">
              <a:buNone/>
            </a:pPr>
            <a:r>
              <a:rPr lang="en-US" sz="2200" b="1">
                <a:latin typeface="Arial"/>
                <a:ea typeface="Verdana"/>
                <a:cs typeface="Arial"/>
              </a:rPr>
              <a:t>What is GAN?</a:t>
            </a:r>
          </a:p>
          <a:p>
            <a:r>
              <a:rPr lang="en-US" sz="2200">
                <a:latin typeface="Arial"/>
                <a:ea typeface="Verdana"/>
                <a:cs typeface="Arial"/>
              </a:rPr>
              <a:t>A Generative Adversarial Network (GAN) is a deep learning architecture that trains two neural networks in competition to produce realistic data from a training dataset. One network (the generator) creates synthetic data, while the other (the discriminator) tries to distinguish between real and generated data. Through this adversarial process, the generator improves until the discriminator can no longer reliably tell the difference.</a:t>
            </a:r>
          </a:p>
          <a:p>
            <a:pPr marL="0" indent="0">
              <a:buNone/>
            </a:pPr>
            <a:endParaRPr lang="en-US" sz="2200">
              <a:latin typeface="Arial"/>
              <a:ea typeface="Verdana"/>
              <a:cs typeface="Arial"/>
            </a:endParaRPr>
          </a:p>
          <a:p>
            <a:pPr marL="0" indent="0">
              <a:buNone/>
            </a:pPr>
            <a:r>
              <a:rPr lang="en-US" sz="2200" b="1">
                <a:latin typeface="Arial"/>
                <a:ea typeface="Verdana"/>
                <a:cs typeface="Arial"/>
              </a:rPr>
              <a:t>What is </a:t>
            </a:r>
            <a:r>
              <a:rPr lang="en-US" sz="2200" b="1" err="1">
                <a:latin typeface="Arial"/>
                <a:ea typeface="Verdana"/>
                <a:cs typeface="Arial"/>
              </a:rPr>
              <a:t>RivaGAN</a:t>
            </a:r>
            <a:r>
              <a:rPr lang="en-US" sz="2200" b="1">
                <a:latin typeface="Arial"/>
                <a:ea typeface="Verdana"/>
                <a:cs typeface="Arial"/>
              </a:rPr>
              <a:t>?</a:t>
            </a:r>
          </a:p>
          <a:p>
            <a:pPr marL="342900" indent="-342900"/>
            <a:r>
              <a:rPr lang="en-US" sz="2200" err="1">
                <a:latin typeface="Arial"/>
                <a:ea typeface="Verdana"/>
                <a:cs typeface="Arial"/>
              </a:rPr>
              <a:t>RivaGAN</a:t>
            </a:r>
            <a:r>
              <a:rPr lang="en-US" sz="2200">
                <a:latin typeface="Arial"/>
                <a:ea typeface="Verdana"/>
                <a:cs typeface="Arial"/>
              </a:rPr>
              <a:t> is a deep learning–based watermarking framework built on GAN, designed to embed and recover invisible watermarks in images or videos.</a:t>
            </a:r>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15820462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4FA2-6629-768D-4781-21A880266E8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A9FE98D-2657-1044-74B8-BA2C46ACA777}"/>
              </a:ext>
            </a:extLst>
          </p:cNvPr>
          <p:cNvSpPr>
            <a:spLocks noGrp="1"/>
          </p:cNvSpPr>
          <p:nvPr>
            <p:ph type="title"/>
          </p:nvPr>
        </p:nvSpPr>
        <p:spPr/>
        <p:txBody>
          <a:bodyPr/>
          <a:lstStyle/>
          <a:p>
            <a:r>
              <a:rPr lang="en-US" err="1"/>
              <a:t>RivaGAN</a:t>
            </a:r>
            <a:r>
              <a:rPr lang="en-US"/>
              <a:t>: Neural Network Watermarking</a:t>
            </a:r>
          </a:p>
        </p:txBody>
      </p:sp>
      <p:sp>
        <p:nvSpPr>
          <p:cNvPr id="16" name="Content Placeholder 2">
            <a:extLst>
              <a:ext uri="{FF2B5EF4-FFF2-40B4-BE49-F238E27FC236}">
                <a16:creationId xmlns:a16="http://schemas.microsoft.com/office/drawing/2014/main" id="{0D449CE2-7C3A-E39B-69B2-8E36D16B87E9}"/>
              </a:ext>
            </a:extLst>
          </p:cNvPr>
          <p:cNvSpPr>
            <a:spLocks noGrp="1"/>
          </p:cNvSpPr>
          <p:nvPr>
            <p:ph sz="half" idx="1"/>
          </p:nvPr>
        </p:nvSpPr>
        <p:spPr>
          <a:xfrm>
            <a:off x="609600" y="2307772"/>
            <a:ext cx="5344885" cy="4468585"/>
          </a:xfrm>
        </p:spPr>
        <p:txBody>
          <a:bodyPr anchor="ctr">
            <a:normAutofit fontScale="92500" lnSpcReduction="20000"/>
          </a:bodyPr>
          <a:lstStyle/>
          <a:p>
            <a:pPr marL="0" indent="0" fontAlgn="base">
              <a:buNone/>
            </a:pPr>
            <a:r>
              <a:rPr lang="en-US" sz="2200" b="1">
                <a:latin typeface="Arial"/>
                <a:ea typeface="Verdana"/>
                <a:cs typeface="Arial"/>
              </a:rPr>
              <a:t>Architecture</a:t>
            </a:r>
          </a:p>
          <a:p>
            <a:r>
              <a:rPr lang="en-US" sz="2200">
                <a:latin typeface="Arial"/>
                <a:ea typeface="Verdana"/>
                <a:cs typeface="Arial"/>
              </a:rPr>
              <a:t>Uses an encoder–decoder network with a discriminator (GAN)</a:t>
            </a:r>
          </a:p>
          <a:p>
            <a:r>
              <a:rPr lang="en-US" sz="2200">
                <a:latin typeface="Arial"/>
                <a:ea typeface="Verdana"/>
                <a:cs typeface="Arial"/>
              </a:rPr>
              <a:t>Encoder embeds the watermark, decoder extracts it</a:t>
            </a:r>
          </a:p>
          <a:p>
            <a:pPr marL="0" indent="0">
              <a:buNone/>
            </a:pPr>
            <a:r>
              <a:rPr lang="en-US" sz="2200" b="1">
                <a:latin typeface="Arial"/>
                <a:ea typeface="Verdana"/>
                <a:cs typeface="Arial"/>
              </a:rPr>
              <a:t>Embedding Process</a:t>
            </a:r>
          </a:p>
          <a:p>
            <a:pPr marL="342900" indent="-342900"/>
            <a:r>
              <a:rPr lang="en-US" sz="2200">
                <a:latin typeface="Arial"/>
                <a:ea typeface="Verdana"/>
                <a:cs typeface="Arial"/>
              </a:rPr>
              <a:t>The watermark is learned and embedded into the image and training includes real-world distortions (compression, cropping, noise)</a:t>
            </a:r>
          </a:p>
          <a:p>
            <a:pPr marL="0" indent="0">
              <a:buNone/>
            </a:pPr>
            <a:r>
              <a:rPr lang="en-US" sz="2200" b="1">
                <a:latin typeface="Arial"/>
                <a:ea typeface="Verdana"/>
                <a:cs typeface="Arial"/>
              </a:rPr>
              <a:t>Advantage</a:t>
            </a:r>
          </a:p>
          <a:p>
            <a:r>
              <a:rPr lang="en-US" sz="2200">
                <a:latin typeface="Arial"/>
                <a:ea typeface="Verdana"/>
                <a:cs typeface="Arial"/>
              </a:rPr>
              <a:t>Highly robust to attacks and transformations</a:t>
            </a:r>
          </a:p>
          <a:p>
            <a:r>
              <a:rPr lang="en-US" sz="2200">
                <a:latin typeface="Arial"/>
                <a:ea typeface="Verdana"/>
                <a:cs typeface="Arial"/>
              </a:rPr>
              <a:t>Better imperceptibility compared to classical methods</a:t>
            </a:r>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20" name="Picture 19" descr="A white background with black text&#10;&#10;AI-generated content may be incorrect.">
            <a:extLst>
              <a:ext uri="{FF2B5EF4-FFF2-40B4-BE49-F238E27FC236}">
                <a16:creationId xmlns:a16="http://schemas.microsoft.com/office/drawing/2014/main" id="{FFA6FE95-11F3-3FC9-D048-828B5EA369F6}"/>
              </a:ext>
            </a:extLst>
          </p:cNvPr>
          <p:cNvPicPr>
            <a:picLocks noChangeAspect="1"/>
          </p:cNvPicPr>
          <p:nvPr/>
        </p:nvPicPr>
        <p:blipFill>
          <a:blip r:embed="rId2"/>
          <a:stretch>
            <a:fillRect/>
          </a:stretch>
        </p:blipFill>
        <p:spPr>
          <a:xfrm>
            <a:off x="6096000" y="1714500"/>
            <a:ext cx="5970815" cy="4098472"/>
          </a:xfrm>
          <a:prstGeom prst="rect">
            <a:avLst/>
          </a:prstGeom>
        </p:spPr>
      </p:pic>
    </p:spTree>
    <p:extLst>
      <p:ext uri="{BB962C8B-B14F-4D97-AF65-F5344CB8AC3E}">
        <p14:creationId xmlns:p14="http://schemas.microsoft.com/office/powerpoint/2010/main" val="36864987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946BB-67E7-9AE4-A51E-C1CE1BA223B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43A2FED-A1BD-8335-64D7-D82B6BDC5598}"/>
              </a:ext>
            </a:extLst>
          </p:cNvPr>
          <p:cNvSpPr>
            <a:spLocks noGrp="1"/>
          </p:cNvSpPr>
          <p:nvPr>
            <p:ph type="title"/>
          </p:nvPr>
        </p:nvSpPr>
        <p:spPr/>
        <p:txBody>
          <a:bodyPr/>
          <a:lstStyle/>
          <a:p>
            <a:r>
              <a:rPr lang="en-US">
                <a:latin typeface="Arial"/>
                <a:ea typeface="Verdana"/>
                <a:cs typeface="Arial"/>
              </a:rPr>
              <a:t>Hands-on Project Result</a:t>
            </a:r>
            <a:endParaRPr lang="en-US"/>
          </a:p>
        </p:txBody>
      </p:sp>
      <p:pic>
        <p:nvPicPr>
          <p:cNvPr id="4" name="Picture 3" descr="A city street with many buildings and people&#10;&#10;AI-generated content may be incorrect.">
            <a:extLst>
              <a:ext uri="{FF2B5EF4-FFF2-40B4-BE49-F238E27FC236}">
                <a16:creationId xmlns:a16="http://schemas.microsoft.com/office/drawing/2014/main" id="{226564F9-6150-4D55-1D54-31F40AA67EE6}"/>
              </a:ext>
            </a:extLst>
          </p:cNvPr>
          <p:cNvPicPr>
            <a:picLocks noChangeAspect="1"/>
          </p:cNvPicPr>
          <p:nvPr/>
        </p:nvPicPr>
        <p:blipFill>
          <a:blip r:embed="rId2"/>
          <a:stretch>
            <a:fillRect/>
          </a:stretch>
        </p:blipFill>
        <p:spPr>
          <a:xfrm>
            <a:off x="248093" y="3431891"/>
            <a:ext cx="8435163" cy="2061661"/>
          </a:xfrm>
          <a:prstGeom prst="rect">
            <a:avLst/>
          </a:prstGeom>
        </p:spPr>
      </p:pic>
      <p:pic>
        <p:nvPicPr>
          <p:cNvPr id="5" name="Picture 4" descr="A large crowd of people in a city&#10;&#10;AI-generated content may be incorrect.">
            <a:extLst>
              <a:ext uri="{FF2B5EF4-FFF2-40B4-BE49-F238E27FC236}">
                <a16:creationId xmlns:a16="http://schemas.microsoft.com/office/drawing/2014/main" id="{6FCA5979-8418-B347-BD03-82D8E551225D}"/>
              </a:ext>
            </a:extLst>
          </p:cNvPr>
          <p:cNvPicPr>
            <a:picLocks noChangeAspect="1"/>
          </p:cNvPicPr>
          <p:nvPr/>
        </p:nvPicPr>
        <p:blipFill>
          <a:blip r:embed="rId3"/>
          <a:stretch>
            <a:fillRect/>
          </a:stretch>
        </p:blipFill>
        <p:spPr>
          <a:xfrm>
            <a:off x="342604" y="1361086"/>
            <a:ext cx="8033489" cy="1962062"/>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06C6D157-AE2F-5EDF-FEED-1914C4D946BB}"/>
              </a:ext>
            </a:extLst>
          </p:cNvPr>
          <p:cNvPicPr>
            <a:picLocks noChangeAspect="1"/>
          </p:cNvPicPr>
          <p:nvPr/>
        </p:nvPicPr>
        <p:blipFill>
          <a:blip r:embed="rId4"/>
          <a:stretch>
            <a:fillRect/>
          </a:stretch>
        </p:blipFill>
        <p:spPr>
          <a:xfrm>
            <a:off x="8374100" y="3036112"/>
            <a:ext cx="3666313" cy="1128381"/>
          </a:xfrm>
          <a:prstGeom prst="rect">
            <a:avLst/>
          </a:prstGeom>
        </p:spPr>
      </p:pic>
    </p:spTree>
    <p:extLst>
      <p:ext uri="{BB962C8B-B14F-4D97-AF65-F5344CB8AC3E}">
        <p14:creationId xmlns:p14="http://schemas.microsoft.com/office/powerpoint/2010/main" val="6776773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E1A9902-B0CD-53D1-208D-EAF342E444AC}"/>
              </a:ext>
            </a:extLst>
          </p:cNvPr>
          <p:cNvSpPr/>
          <p:nvPr/>
        </p:nvSpPr>
        <p:spPr bwMode="auto">
          <a:xfrm>
            <a:off x="0" y="0"/>
            <a:ext cx="12192000" cy="6858000"/>
          </a:xfrm>
          <a:prstGeom prst="rect">
            <a:avLst/>
          </a:prstGeom>
          <a:solidFill>
            <a:schemeClr val="accent2"/>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24" name="Rectangle 23">
            <a:extLst>
              <a:ext uri="{FF2B5EF4-FFF2-40B4-BE49-F238E27FC236}">
                <a16:creationId xmlns:a16="http://schemas.microsoft.com/office/drawing/2014/main" id="{5C8B12A4-53A8-3F0B-FC03-7B4F892FFC41}"/>
              </a:ext>
            </a:extLst>
          </p:cNvPr>
          <p:cNvSpPr/>
          <p:nvPr/>
        </p:nvSpPr>
        <p:spPr>
          <a:xfrm>
            <a:off x="-1" y="556867"/>
            <a:ext cx="5456255" cy="17531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D27116-4025-D448-079D-CBCF3782338A}"/>
              </a:ext>
            </a:extLst>
          </p:cNvPr>
          <p:cNvSpPr/>
          <p:nvPr/>
        </p:nvSpPr>
        <p:spPr>
          <a:xfrm>
            <a:off x="8921539" y="5132136"/>
            <a:ext cx="3270461" cy="118409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6AAF1CE-CCFF-0E9D-12DA-D21B6ED2527F}"/>
              </a:ext>
            </a:extLst>
          </p:cNvPr>
          <p:cNvSpPr txBox="1"/>
          <p:nvPr/>
        </p:nvSpPr>
        <p:spPr>
          <a:xfrm>
            <a:off x="290104" y="756356"/>
            <a:ext cx="4876044" cy="1354217"/>
          </a:xfrm>
          <a:prstGeom prst="rect">
            <a:avLst/>
          </a:prstGeom>
          <a:noFill/>
        </p:spPr>
        <p:txBody>
          <a:bodyPr wrap="square" lIns="91440" tIns="45720" rIns="91440" bIns="45720" anchor="t">
            <a:spAutoFit/>
          </a:bodyPr>
          <a:lstStyle/>
          <a:p>
            <a:r>
              <a:rPr lang="en-US" sz="5000" b="1" spc="-50">
                <a:solidFill>
                  <a:srgbClr val="AB162B"/>
                </a:solidFill>
                <a:latin typeface="Arial"/>
                <a:cs typeface="Arial"/>
              </a:rPr>
              <a:t>Project 2</a:t>
            </a:r>
            <a:br>
              <a:rPr lang="en-US" sz="5000" b="1">
                <a:solidFill>
                  <a:srgbClr val="AB162B"/>
                </a:solidFill>
                <a:latin typeface="Arial" panose="020B0604020202020204" pitchFamily="34" charset="0"/>
                <a:cs typeface="Arial" panose="020B0604020202020204" pitchFamily="34" charset="0"/>
              </a:rPr>
            </a:br>
            <a:r>
              <a:rPr lang="en-US" sz="3200" b="1">
                <a:solidFill>
                  <a:srgbClr val="AB162B"/>
                </a:solidFill>
                <a:latin typeface="Arial"/>
                <a:cs typeface="Arial"/>
              </a:rPr>
              <a:t>LLM Text Watermarking</a:t>
            </a:r>
            <a:endParaRPr lang="en-US" sz="3200">
              <a:solidFill>
                <a:srgbClr val="AB162B"/>
              </a:solidFill>
              <a:latin typeface="Arial"/>
              <a:cs typeface="Arial"/>
            </a:endParaRPr>
          </a:p>
        </p:txBody>
      </p:sp>
      <p:sp>
        <p:nvSpPr>
          <p:cNvPr id="19" name="TextBox 18">
            <a:extLst>
              <a:ext uri="{FF2B5EF4-FFF2-40B4-BE49-F238E27FC236}">
                <a16:creationId xmlns:a16="http://schemas.microsoft.com/office/drawing/2014/main" id="{EB595248-650B-493B-1268-F2BDE9E231A4}"/>
              </a:ext>
            </a:extLst>
          </p:cNvPr>
          <p:cNvSpPr txBox="1"/>
          <p:nvPr/>
        </p:nvSpPr>
        <p:spPr>
          <a:xfrm>
            <a:off x="-250521" y="4872625"/>
            <a:ext cx="0" cy="0"/>
          </a:xfrm>
          <a:prstGeom prst="rect">
            <a:avLst/>
          </a:prstGeom>
          <a:noFill/>
        </p:spPr>
        <p:txBody>
          <a:bodyPr wrap="none" rtlCol="0">
            <a:noAutofit/>
          </a:bodyPr>
          <a:lstStyle/>
          <a:p>
            <a:pPr algn="ctr"/>
            <a:endParaRPr lang="en-US" sz="1600" err="1"/>
          </a:p>
        </p:txBody>
      </p:sp>
      <p:sp>
        <p:nvSpPr>
          <p:cNvPr id="20" name="TextBox 19">
            <a:extLst>
              <a:ext uri="{FF2B5EF4-FFF2-40B4-BE49-F238E27FC236}">
                <a16:creationId xmlns:a16="http://schemas.microsoft.com/office/drawing/2014/main" id="{28B01498-B0E6-B31A-1147-7EB1A245ACB8}"/>
              </a:ext>
            </a:extLst>
          </p:cNvPr>
          <p:cNvSpPr txBox="1"/>
          <p:nvPr/>
        </p:nvSpPr>
        <p:spPr>
          <a:xfrm>
            <a:off x="-125260" y="2718148"/>
            <a:ext cx="0" cy="0"/>
          </a:xfrm>
          <a:prstGeom prst="rect">
            <a:avLst/>
          </a:prstGeom>
          <a:noFill/>
        </p:spPr>
        <p:txBody>
          <a:bodyPr wrap="none" rtlCol="0">
            <a:noAutofit/>
          </a:bodyPr>
          <a:lstStyle/>
          <a:p>
            <a:pPr algn="ctr"/>
            <a:endParaRPr lang="en-US" sz="1600" err="1"/>
          </a:p>
        </p:txBody>
      </p:sp>
      <p:sp>
        <p:nvSpPr>
          <p:cNvPr id="21" name="TextBox 20">
            <a:extLst>
              <a:ext uri="{FF2B5EF4-FFF2-40B4-BE49-F238E27FC236}">
                <a16:creationId xmlns:a16="http://schemas.microsoft.com/office/drawing/2014/main" id="{48D45212-A7C8-0F66-8A67-C21BA778AE77}"/>
              </a:ext>
            </a:extLst>
          </p:cNvPr>
          <p:cNvSpPr txBox="1"/>
          <p:nvPr/>
        </p:nvSpPr>
        <p:spPr>
          <a:xfrm>
            <a:off x="6465455" y="-221673"/>
            <a:ext cx="0" cy="0"/>
          </a:xfrm>
          <a:prstGeom prst="rect">
            <a:avLst/>
          </a:prstGeom>
          <a:noFill/>
        </p:spPr>
        <p:txBody>
          <a:bodyPr wrap="none" rtlCol="0">
            <a:noAutofit/>
          </a:bodyPr>
          <a:lstStyle/>
          <a:p>
            <a:pPr algn="ctr"/>
            <a:endParaRPr lang="en-US" sz="1600" err="1"/>
          </a:p>
        </p:txBody>
      </p:sp>
      <p:pic>
        <p:nvPicPr>
          <p:cNvPr id="7" name="Picture 6" descr="A red letter w on a black background&#10;&#10;Description automatically generated">
            <a:extLst>
              <a:ext uri="{FF2B5EF4-FFF2-40B4-BE49-F238E27FC236}">
                <a16:creationId xmlns:a16="http://schemas.microsoft.com/office/drawing/2014/main" id="{73C587A2-71B9-3B8E-3FD6-BA6C71939C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5700" y="5370126"/>
            <a:ext cx="2177592" cy="704088"/>
          </a:xfrm>
          <a:prstGeom prst="rect">
            <a:avLst/>
          </a:prstGeom>
        </p:spPr>
      </p:pic>
    </p:spTree>
    <p:extLst>
      <p:ext uri="{BB962C8B-B14F-4D97-AF65-F5344CB8AC3E}">
        <p14:creationId xmlns:p14="http://schemas.microsoft.com/office/powerpoint/2010/main" val="7433543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F7A7A-7DCB-8FBF-F3F5-EDF60AD434C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B6523B1-9741-BB3B-C056-8F0703F10B13}"/>
              </a:ext>
            </a:extLst>
          </p:cNvPr>
          <p:cNvSpPr>
            <a:spLocks noGrp="1"/>
          </p:cNvSpPr>
          <p:nvPr>
            <p:ph type="title"/>
          </p:nvPr>
        </p:nvSpPr>
        <p:spPr/>
        <p:txBody>
          <a:bodyPr/>
          <a:lstStyle/>
          <a:p>
            <a:r>
              <a:rPr lang="en-US">
                <a:latin typeface="Arial"/>
                <a:ea typeface="Verdana"/>
                <a:cs typeface="Arial"/>
              </a:rPr>
              <a:t>LLM Text Watermarking</a:t>
            </a:r>
          </a:p>
        </p:txBody>
      </p:sp>
      <p:sp>
        <p:nvSpPr>
          <p:cNvPr id="10" name="Content Placeholder 2">
            <a:extLst>
              <a:ext uri="{FF2B5EF4-FFF2-40B4-BE49-F238E27FC236}">
                <a16:creationId xmlns:a16="http://schemas.microsoft.com/office/drawing/2014/main" id="{8623F03A-722D-5CE4-4B4F-0D36B942B006}"/>
              </a:ext>
            </a:extLst>
          </p:cNvPr>
          <p:cNvSpPr>
            <a:spLocks noGrp="1"/>
          </p:cNvSpPr>
          <p:nvPr>
            <p:ph sz="half" idx="1"/>
          </p:nvPr>
        </p:nvSpPr>
        <p:spPr>
          <a:xfrm>
            <a:off x="609600" y="2307772"/>
            <a:ext cx="5344885" cy="4468585"/>
          </a:xfrm>
        </p:spPr>
        <p:txBody>
          <a:bodyPr anchor="ctr">
            <a:normAutofit fontScale="85000" lnSpcReduction="10000"/>
          </a:bodyPr>
          <a:lstStyle/>
          <a:p>
            <a:pPr marL="0" indent="0" fontAlgn="base">
              <a:buNone/>
            </a:pPr>
            <a:r>
              <a:rPr lang="en-US" sz="2200" b="1">
                <a:latin typeface="Arial"/>
                <a:ea typeface="Verdana"/>
                <a:cs typeface="Arial"/>
              </a:rPr>
              <a:t>Core Idea</a:t>
            </a:r>
          </a:p>
          <a:p>
            <a:r>
              <a:rPr lang="en-US" sz="2200">
                <a:latin typeface="Arial"/>
                <a:ea typeface="Verdana"/>
                <a:cs typeface="Arial"/>
              </a:rPr>
              <a:t>Embed a hidden signal into generated text by slightly biasing token selection probabilities.</a:t>
            </a:r>
          </a:p>
          <a:p>
            <a:pPr marL="0" indent="0">
              <a:buNone/>
            </a:pPr>
            <a:r>
              <a:rPr lang="en-US" sz="2200" b="1">
                <a:latin typeface="Arial"/>
                <a:ea typeface="Verdana"/>
                <a:cs typeface="Arial"/>
              </a:rPr>
              <a:t>Pipeline of LLM text watermarking</a:t>
            </a:r>
          </a:p>
          <a:p>
            <a:r>
              <a:rPr lang="en-US" sz="2200">
                <a:latin typeface="Arial"/>
                <a:ea typeface="Verdana"/>
                <a:cs typeface="Arial"/>
              </a:rPr>
              <a:t>Partition vocabulary into green / red token sets </a:t>
            </a:r>
          </a:p>
          <a:p>
            <a:r>
              <a:rPr lang="en-US" sz="2200">
                <a:latin typeface="Arial"/>
                <a:ea typeface="Verdana"/>
                <a:cs typeface="Arial"/>
              </a:rPr>
              <a:t>Bias generation toward green tokens </a:t>
            </a:r>
          </a:p>
          <a:p>
            <a:r>
              <a:rPr lang="en-US" sz="2200">
                <a:latin typeface="Arial"/>
                <a:ea typeface="Verdana"/>
                <a:cs typeface="Arial"/>
              </a:rPr>
              <a:t>Produce a statistically detectable pattern</a:t>
            </a:r>
          </a:p>
          <a:p>
            <a:pPr marL="0" indent="0">
              <a:buNone/>
            </a:pPr>
            <a:r>
              <a:rPr lang="en-US" sz="2200" b="1">
                <a:latin typeface="Arial"/>
                <a:ea typeface="Verdana"/>
                <a:cs typeface="Arial"/>
              </a:rPr>
              <a:t>Key takeaway</a:t>
            </a:r>
          </a:p>
          <a:p>
            <a:r>
              <a:rPr lang="en-US" sz="2200">
                <a:latin typeface="Arial"/>
                <a:ea typeface="Verdana"/>
                <a:cs typeface="Arial"/>
              </a:rPr>
              <a:t>Instead of modifying data (pixels), LLM watermarking modifies the generation process.</a:t>
            </a:r>
          </a:p>
          <a:p>
            <a:r>
              <a:rPr lang="en-US" sz="2200"/>
              <a:t>LLM watermarking encodes signals in token distributions rather than visible content.</a:t>
            </a:r>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2" name="Picture 11" descr="A cartoon of a robot&#10;&#10;AI-generated content may be incorrect.">
            <a:extLst>
              <a:ext uri="{FF2B5EF4-FFF2-40B4-BE49-F238E27FC236}">
                <a16:creationId xmlns:a16="http://schemas.microsoft.com/office/drawing/2014/main" id="{282065A7-56C4-7A33-C23B-917114723A66}"/>
              </a:ext>
            </a:extLst>
          </p:cNvPr>
          <p:cNvPicPr>
            <a:picLocks noChangeAspect="1"/>
          </p:cNvPicPr>
          <p:nvPr/>
        </p:nvPicPr>
        <p:blipFill>
          <a:blip r:embed="rId2"/>
          <a:stretch>
            <a:fillRect/>
          </a:stretch>
        </p:blipFill>
        <p:spPr>
          <a:xfrm>
            <a:off x="6536871" y="2107474"/>
            <a:ext cx="5219700" cy="2637608"/>
          </a:xfrm>
          <a:prstGeom prst="rect">
            <a:avLst/>
          </a:prstGeom>
        </p:spPr>
      </p:pic>
    </p:spTree>
    <p:extLst>
      <p:ext uri="{BB962C8B-B14F-4D97-AF65-F5344CB8AC3E}">
        <p14:creationId xmlns:p14="http://schemas.microsoft.com/office/powerpoint/2010/main" val="1075561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B883A-FDA0-1D9E-B459-C6024B666C9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1AA162-1571-5983-783D-673FC3965322}"/>
              </a:ext>
            </a:extLst>
          </p:cNvPr>
          <p:cNvSpPr>
            <a:spLocks noGrp="1"/>
          </p:cNvSpPr>
          <p:nvPr>
            <p:ph type="title"/>
          </p:nvPr>
        </p:nvSpPr>
        <p:spPr/>
        <p:txBody>
          <a:bodyPr/>
          <a:lstStyle/>
          <a:p>
            <a:r>
              <a:rPr lang="en-US">
                <a:latin typeface="Arial"/>
                <a:ea typeface="Verdana"/>
                <a:cs typeface="Arial"/>
              </a:rPr>
              <a:t>KGW Watermark</a:t>
            </a:r>
          </a:p>
        </p:txBody>
      </p:sp>
      <p:sp>
        <p:nvSpPr>
          <p:cNvPr id="10" name="Content Placeholder 2">
            <a:extLst>
              <a:ext uri="{FF2B5EF4-FFF2-40B4-BE49-F238E27FC236}">
                <a16:creationId xmlns:a16="http://schemas.microsoft.com/office/drawing/2014/main" id="{B1ADD6CF-0D44-9E92-A6C9-6038ABF989D4}"/>
              </a:ext>
            </a:extLst>
          </p:cNvPr>
          <p:cNvSpPr>
            <a:spLocks noGrp="1"/>
          </p:cNvSpPr>
          <p:nvPr>
            <p:ph sz="half" idx="1"/>
          </p:nvPr>
        </p:nvSpPr>
        <p:spPr>
          <a:xfrm>
            <a:off x="609600" y="3254829"/>
            <a:ext cx="5344885" cy="3129643"/>
          </a:xfrm>
        </p:spPr>
        <p:txBody>
          <a:bodyPr anchor="ctr">
            <a:normAutofit/>
          </a:bodyPr>
          <a:lstStyle/>
          <a:p>
            <a:pPr marL="0" indent="0" fontAlgn="base">
              <a:buNone/>
            </a:pPr>
            <a:r>
              <a:rPr lang="en-US" sz="2200" b="1">
                <a:latin typeface="Arial"/>
                <a:ea typeface="Verdana"/>
                <a:cs typeface="Arial"/>
              </a:rPr>
              <a:t>KGW Watermark</a:t>
            </a:r>
          </a:p>
          <a:p>
            <a:r>
              <a:rPr lang="en-US" sz="2200">
                <a:latin typeface="Arial"/>
                <a:ea typeface="Verdana"/>
                <a:cs typeface="Arial"/>
              </a:rPr>
              <a:t>KGW (Kirchenbauer-Gever-Watermark) watermark embeds a hidden signal by biasing token selection probabilities with a secret-key-based partition, making the text statistically detectable without changing its meaning.</a:t>
            </a:r>
          </a:p>
          <a:p>
            <a:pPr marL="0" indent="0">
              <a:buNone/>
            </a:pPr>
            <a:endParaRPr lang="en-US" sz="2200" b="1"/>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1" name="Picture 10" descr="LLM Watermark Series— KGW: A fundamental watermark for LLMs | by Kiel Dang  | Medium">
            <a:extLst>
              <a:ext uri="{FF2B5EF4-FFF2-40B4-BE49-F238E27FC236}">
                <a16:creationId xmlns:a16="http://schemas.microsoft.com/office/drawing/2014/main" id="{25260EEC-C66F-7AE1-AF2E-136301B3BD7B}"/>
              </a:ext>
            </a:extLst>
          </p:cNvPr>
          <p:cNvPicPr>
            <a:picLocks noChangeAspect="1"/>
          </p:cNvPicPr>
          <p:nvPr/>
        </p:nvPicPr>
        <p:blipFill>
          <a:blip r:embed="rId2"/>
          <a:stretch>
            <a:fillRect/>
          </a:stretch>
        </p:blipFill>
        <p:spPr>
          <a:xfrm>
            <a:off x="6553200" y="1931358"/>
            <a:ext cx="5029201" cy="2461882"/>
          </a:xfrm>
          <a:prstGeom prst="rect">
            <a:avLst/>
          </a:prstGeom>
        </p:spPr>
      </p:pic>
      <p:sp>
        <p:nvSpPr>
          <p:cNvPr id="3" name="TextBox 2">
            <a:extLst>
              <a:ext uri="{FF2B5EF4-FFF2-40B4-BE49-F238E27FC236}">
                <a16:creationId xmlns:a16="http://schemas.microsoft.com/office/drawing/2014/main" id="{F458CECA-11EA-A567-3CE2-C58E5E4C43EF}"/>
              </a:ext>
            </a:extLst>
          </p:cNvPr>
          <p:cNvSpPr txBox="1"/>
          <p:nvPr/>
        </p:nvSpPr>
        <p:spPr>
          <a:xfrm>
            <a:off x="7263683" y="4666469"/>
            <a:ext cx="2882392" cy="1323439"/>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n-US" altLang="ja-JP" sz="1600">
                <a:ea typeface="ＭＳ Ｐゴシック"/>
                <a:cs typeface="Arial"/>
              </a:rPr>
              <a:t>Before add bias, Apple = 1.15</a:t>
            </a:r>
            <a:br>
              <a:rPr lang="en-US" altLang="ja-JP" sz="1600">
                <a:ea typeface="ＭＳ Ｐゴシック"/>
                <a:cs typeface="Arial"/>
              </a:rPr>
            </a:br>
            <a:r>
              <a:rPr lang="en-US" altLang="ja-JP" sz="1600">
                <a:ea typeface="ＭＳ Ｐゴシック"/>
                <a:cs typeface="Arial"/>
              </a:rPr>
              <a:t>Mango = </a:t>
            </a:r>
            <a:r>
              <a:rPr lang="en-US" altLang="ja-JP" sz="1600" b="1">
                <a:solidFill>
                  <a:schemeClr val="bg2"/>
                </a:solidFill>
                <a:ea typeface="ＭＳ Ｐゴシック"/>
                <a:cs typeface="Arial"/>
              </a:rPr>
              <a:t>1.20</a:t>
            </a:r>
            <a:br>
              <a:rPr lang="en-US" altLang="ja-JP" sz="1600">
                <a:ea typeface="ＭＳ Ｐゴシック"/>
                <a:cs typeface="Arial"/>
              </a:rPr>
            </a:br>
            <a:br>
              <a:rPr lang="en-US" altLang="ja-JP" sz="1600">
                <a:ea typeface="ＭＳ Ｐゴシック"/>
                <a:cs typeface="Arial"/>
              </a:rPr>
            </a:br>
            <a:r>
              <a:rPr lang="en-US" altLang="ja-JP" sz="1600">
                <a:ea typeface="ＭＳ Ｐゴシック"/>
                <a:cs typeface="Arial"/>
              </a:rPr>
              <a:t>After add bias, Apple = </a:t>
            </a:r>
            <a:r>
              <a:rPr lang="en-US" altLang="ja-JP" sz="1600" b="1">
                <a:solidFill>
                  <a:schemeClr val="bg2"/>
                </a:solidFill>
                <a:ea typeface="ＭＳ Ｐゴシック"/>
                <a:cs typeface="Arial"/>
              </a:rPr>
              <a:t>1.35</a:t>
            </a:r>
            <a:br>
              <a:rPr lang="en-US" altLang="ja-JP" sz="1600">
                <a:ea typeface="ＭＳ Ｐゴシック"/>
                <a:cs typeface="Arial"/>
              </a:rPr>
            </a:br>
            <a:r>
              <a:rPr lang="en-US" altLang="ja-JP" sz="1600">
                <a:ea typeface="ＭＳ Ｐゴシック"/>
                <a:cs typeface="Arial"/>
              </a:rPr>
              <a:t>Mango = 1.20</a:t>
            </a:r>
          </a:p>
        </p:txBody>
      </p:sp>
    </p:spTree>
    <p:extLst>
      <p:ext uri="{BB962C8B-B14F-4D97-AF65-F5344CB8AC3E}">
        <p14:creationId xmlns:p14="http://schemas.microsoft.com/office/powerpoint/2010/main" val="38710719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C52F-E9F2-8E9D-D486-68C847E9A53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8BF90E3-F62E-6147-23CA-CE905D88238F}"/>
              </a:ext>
            </a:extLst>
          </p:cNvPr>
          <p:cNvSpPr>
            <a:spLocks noGrp="1"/>
          </p:cNvSpPr>
          <p:nvPr>
            <p:ph type="title"/>
          </p:nvPr>
        </p:nvSpPr>
        <p:spPr/>
        <p:txBody>
          <a:bodyPr/>
          <a:lstStyle/>
          <a:p>
            <a:r>
              <a:rPr lang="en-US">
                <a:latin typeface="Arial"/>
                <a:ea typeface="Verdana"/>
                <a:cs typeface="Arial"/>
              </a:rPr>
              <a:t>How to detect the LLM Watermarking</a:t>
            </a:r>
            <a:endParaRPr lang="en-US"/>
          </a:p>
        </p:txBody>
      </p:sp>
      <p:sp>
        <p:nvSpPr>
          <p:cNvPr id="10" name="Content Placeholder 2">
            <a:extLst>
              <a:ext uri="{FF2B5EF4-FFF2-40B4-BE49-F238E27FC236}">
                <a16:creationId xmlns:a16="http://schemas.microsoft.com/office/drawing/2014/main" id="{D87FB0BF-B8CF-FA68-0B90-67F1787253E0}"/>
              </a:ext>
            </a:extLst>
          </p:cNvPr>
          <p:cNvSpPr>
            <a:spLocks noGrp="1"/>
          </p:cNvSpPr>
          <p:nvPr>
            <p:ph sz="half" idx="1"/>
          </p:nvPr>
        </p:nvSpPr>
        <p:spPr>
          <a:xfrm>
            <a:off x="609600" y="2307772"/>
            <a:ext cx="5344885" cy="4468585"/>
          </a:xfrm>
        </p:spPr>
        <p:txBody>
          <a:bodyPr anchor="ctr">
            <a:normAutofit fontScale="92500" lnSpcReduction="10000"/>
          </a:bodyPr>
          <a:lstStyle/>
          <a:p>
            <a:pPr marL="0" indent="0" fontAlgn="base">
              <a:buNone/>
            </a:pPr>
            <a:r>
              <a:rPr lang="en-US" sz="2200" b="1">
                <a:latin typeface="Arial"/>
                <a:ea typeface="Verdana"/>
                <a:cs typeface="Arial"/>
              </a:rPr>
              <a:t>Core Idea</a:t>
            </a:r>
          </a:p>
          <a:p>
            <a:r>
              <a:rPr lang="en-US" sz="2200">
                <a:latin typeface="Arial"/>
                <a:ea typeface="Verdana"/>
                <a:cs typeface="Arial"/>
              </a:rPr>
              <a:t>Watermark detection is statistical rather than exact extraction. (We do not recover the watermark directly, but test whether the text shows a biased token pattern.)</a:t>
            </a:r>
          </a:p>
          <a:p>
            <a:pPr marL="0" indent="0">
              <a:buNone/>
            </a:pPr>
            <a:r>
              <a:rPr lang="en-US" sz="2200" b="1">
                <a:latin typeface="Arial"/>
                <a:ea typeface="Verdana"/>
                <a:cs typeface="Arial"/>
              </a:rPr>
              <a:t>Z-score for LLM text watermarking</a:t>
            </a:r>
            <a:r>
              <a:rPr lang="en-US" sz="2200">
                <a:latin typeface="Arial"/>
                <a:ea typeface="Verdana"/>
                <a:cs typeface="Arial"/>
              </a:rPr>
              <a:t> </a:t>
            </a:r>
          </a:p>
          <a:p>
            <a:r>
              <a:rPr lang="en-US" sz="2200">
                <a:latin typeface="Arial"/>
                <a:ea typeface="Verdana"/>
                <a:cs typeface="Arial"/>
              </a:rPr>
              <a:t>Z-score measures how far a value is from the expected average, in units of standard deviation.</a:t>
            </a:r>
          </a:p>
          <a:p>
            <a:pPr marL="0" indent="0">
              <a:buNone/>
            </a:pPr>
            <a:r>
              <a:rPr lang="en-US" sz="2200" b="1">
                <a:latin typeface="Arial"/>
                <a:ea typeface="Verdana"/>
                <a:cs typeface="Arial"/>
              </a:rPr>
              <a:t>Example</a:t>
            </a:r>
          </a:p>
          <a:p>
            <a:r>
              <a:rPr lang="en-US" sz="2200">
                <a:latin typeface="Arial"/>
                <a:ea typeface="Verdana"/>
                <a:cs typeface="Arial"/>
              </a:rPr>
              <a:t>Normal text contain green token ≈ 50%</a:t>
            </a:r>
          </a:p>
          <a:p>
            <a:r>
              <a:rPr lang="en-US" sz="2200">
                <a:latin typeface="Arial"/>
                <a:ea typeface="Verdana"/>
                <a:cs typeface="Arial"/>
              </a:rPr>
              <a:t>Z-score tell us: "is this number unusually large?"</a:t>
            </a: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5" name="Picture 14" descr="A Watermark for Large Language Models - TL;DR With Paper Author">
            <a:extLst>
              <a:ext uri="{FF2B5EF4-FFF2-40B4-BE49-F238E27FC236}">
                <a16:creationId xmlns:a16="http://schemas.microsoft.com/office/drawing/2014/main" id="{1CEEDF62-B0A5-8EF0-2011-C727A57B2456}"/>
              </a:ext>
            </a:extLst>
          </p:cNvPr>
          <p:cNvPicPr>
            <a:picLocks noChangeAspect="1"/>
          </p:cNvPicPr>
          <p:nvPr/>
        </p:nvPicPr>
        <p:blipFill>
          <a:blip r:embed="rId2"/>
          <a:stretch>
            <a:fillRect/>
          </a:stretch>
        </p:blipFill>
        <p:spPr>
          <a:xfrm>
            <a:off x="6417128" y="3401249"/>
            <a:ext cx="5519057" cy="2733385"/>
          </a:xfrm>
          <a:prstGeom prst="rect">
            <a:avLst/>
          </a:prstGeom>
        </p:spPr>
      </p:pic>
      <p:pic>
        <p:nvPicPr>
          <p:cNvPr id="16" name="Picture 15">
            <a:extLst>
              <a:ext uri="{FF2B5EF4-FFF2-40B4-BE49-F238E27FC236}">
                <a16:creationId xmlns:a16="http://schemas.microsoft.com/office/drawing/2014/main" id="{90C5A8B6-01EB-1A1A-8C98-872C0DA09EC6}"/>
              </a:ext>
            </a:extLst>
          </p:cNvPr>
          <p:cNvPicPr>
            <a:picLocks noChangeAspect="1"/>
          </p:cNvPicPr>
          <p:nvPr/>
        </p:nvPicPr>
        <p:blipFill>
          <a:blip r:embed="rId3"/>
          <a:stretch>
            <a:fillRect/>
          </a:stretch>
        </p:blipFill>
        <p:spPr>
          <a:xfrm>
            <a:off x="7824107" y="1323975"/>
            <a:ext cx="2247900" cy="781050"/>
          </a:xfrm>
          <a:prstGeom prst="rect">
            <a:avLst/>
          </a:prstGeom>
        </p:spPr>
      </p:pic>
      <p:pic>
        <p:nvPicPr>
          <p:cNvPr id="17" name="Picture 16" descr="A black text with a white background&#10;&#10;AI-generated content may be incorrect.">
            <a:extLst>
              <a:ext uri="{FF2B5EF4-FFF2-40B4-BE49-F238E27FC236}">
                <a16:creationId xmlns:a16="http://schemas.microsoft.com/office/drawing/2014/main" id="{412A790D-F587-25B8-4F94-D2BD83BFC5F7}"/>
              </a:ext>
            </a:extLst>
          </p:cNvPr>
          <p:cNvPicPr>
            <a:picLocks noChangeAspect="1"/>
          </p:cNvPicPr>
          <p:nvPr/>
        </p:nvPicPr>
        <p:blipFill>
          <a:blip r:embed="rId4"/>
          <a:stretch>
            <a:fillRect/>
          </a:stretch>
        </p:blipFill>
        <p:spPr>
          <a:xfrm>
            <a:off x="6621235" y="2310493"/>
            <a:ext cx="4653644" cy="424544"/>
          </a:xfrm>
          <a:prstGeom prst="rect">
            <a:avLst/>
          </a:prstGeom>
        </p:spPr>
      </p:pic>
    </p:spTree>
    <p:extLst>
      <p:ext uri="{BB962C8B-B14F-4D97-AF65-F5344CB8AC3E}">
        <p14:creationId xmlns:p14="http://schemas.microsoft.com/office/powerpoint/2010/main" val="38123106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F36C-33C2-621B-AD6A-240508BCF5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16083B-5CF4-4BD4-CD53-5B8DE09F8C9C}"/>
              </a:ext>
            </a:extLst>
          </p:cNvPr>
          <p:cNvSpPr>
            <a:spLocks noGrp="1"/>
          </p:cNvSpPr>
          <p:nvPr>
            <p:ph type="title"/>
          </p:nvPr>
        </p:nvSpPr>
        <p:spPr/>
        <p:txBody>
          <a:bodyPr/>
          <a:lstStyle/>
          <a:p>
            <a:r>
              <a:rPr lang="en-US">
                <a:latin typeface="Arial"/>
                <a:ea typeface="Verdana"/>
                <a:cs typeface="Arial"/>
              </a:rPr>
              <a:t>How to break the LLM Watermarking</a:t>
            </a:r>
            <a:endParaRPr lang="en-US"/>
          </a:p>
        </p:txBody>
      </p:sp>
      <p:sp>
        <p:nvSpPr>
          <p:cNvPr id="10" name="Content Placeholder 2">
            <a:extLst>
              <a:ext uri="{FF2B5EF4-FFF2-40B4-BE49-F238E27FC236}">
                <a16:creationId xmlns:a16="http://schemas.microsoft.com/office/drawing/2014/main" id="{03A8AD27-23F9-0E55-A23A-5C04A0AAF473}"/>
              </a:ext>
            </a:extLst>
          </p:cNvPr>
          <p:cNvSpPr>
            <a:spLocks noGrp="1"/>
          </p:cNvSpPr>
          <p:nvPr>
            <p:ph sz="half" idx="1"/>
          </p:nvPr>
        </p:nvSpPr>
        <p:spPr>
          <a:xfrm>
            <a:off x="1121229" y="2013858"/>
            <a:ext cx="10461170" cy="4468585"/>
          </a:xfrm>
        </p:spPr>
        <p:txBody>
          <a:bodyPr anchor="ctr">
            <a:normAutofit/>
          </a:bodyPr>
          <a:lstStyle/>
          <a:p>
            <a:pPr marL="0" indent="0" fontAlgn="base">
              <a:buNone/>
            </a:pPr>
            <a:r>
              <a:rPr lang="en-US" sz="2200" b="1">
                <a:latin typeface="Arial"/>
                <a:ea typeface="Verdana"/>
                <a:cs typeface="Arial"/>
              </a:rPr>
              <a:t>Paraphrasing</a:t>
            </a:r>
          </a:p>
          <a:p>
            <a:r>
              <a:rPr lang="en-US" sz="2200">
                <a:latin typeface="Arial"/>
                <a:ea typeface="Verdana"/>
                <a:cs typeface="Arial"/>
              </a:rPr>
              <a:t>Rewrite text with different words or structure while preserving the original meaning</a:t>
            </a:r>
          </a:p>
          <a:p>
            <a:r>
              <a:rPr lang="en-US" sz="2200">
                <a:latin typeface="Arial"/>
                <a:ea typeface="Verdana"/>
                <a:cs typeface="Arial"/>
              </a:rPr>
              <a:t>Change token choices (synonyms, phrasing, sentence structure) without changing semantics</a:t>
            </a:r>
            <a:endParaRPr lang="en-US"/>
          </a:p>
          <a:p>
            <a:pPr marL="0" indent="0">
              <a:buNone/>
            </a:pPr>
            <a:r>
              <a:rPr lang="en-US" sz="2200" b="1">
                <a:latin typeface="Arial"/>
                <a:ea typeface="Verdana"/>
                <a:cs typeface="Arial"/>
              </a:rPr>
              <a:t>Why it breaks LLM watermark (KGW)</a:t>
            </a:r>
            <a:endParaRPr lang="en-US" sz="2200">
              <a:latin typeface="Arial"/>
              <a:ea typeface="Verdana"/>
              <a:cs typeface="Arial"/>
            </a:endParaRPr>
          </a:p>
          <a:p>
            <a:r>
              <a:rPr lang="en-US" sz="2200"/>
              <a:t>KGW relies on token-level statistical bias (green tokens)</a:t>
            </a:r>
          </a:p>
          <a:p>
            <a:r>
              <a:rPr lang="en-US" sz="2200"/>
              <a:t>Paraphrasing changes token distribution, destroying the green-token pattern used for detection</a:t>
            </a:r>
            <a:endParaRPr lang="en-US"/>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22180386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95D17-B543-9D66-348F-086D9F3AC5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540D88E-DE3B-7759-1086-60C3FE1AE9A1}"/>
              </a:ext>
            </a:extLst>
          </p:cNvPr>
          <p:cNvSpPr>
            <a:spLocks noGrp="1"/>
          </p:cNvSpPr>
          <p:nvPr>
            <p:ph type="title"/>
          </p:nvPr>
        </p:nvSpPr>
        <p:spPr/>
        <p:txBody>
          <a:bodyPr/>
          <a:lstStyle/>
          <a:p>
            <a:r>
              <a:rPr lang="en-US">
                <a:latin typeface="Arial"/>
                <a:ea typeface="Verdana"/>
                <a:cs typeface="Arial"/>
              </a:rPr>
              <a:t>Example for paraphrasing</a:t>
            </a:r>
            <a:endParaRPr lang="en-US"/>
          </a:p>
        </p:txBody>
      </p:sp>
      <p:sp>
        <p:nvSpPr>
          <p:cNvPr id="10" name="Content Placeholder 2">
            <a:extLst>
              <a:ext uri="{FF2B5EF4-FFF2-40B4-BE49-F238E27FC236}">
                <a16:creationId xmlns:a16="http://schemas.microsoft.com/office/drawing/2014/main" id="{5AF6FC82-6542-2238-4FD3-F43F21F8FB3E}"/>
              </a:ext>
            </a:extLst>
          </p:cNvPr>
          <p:cNvSpPr>
            <a:spLocks noGrp="1"/>
          </p:cNvSpPr>
          <p:nvPr>
            <p:ph sz="half" idx="1"/>
          </p:nvPr>
        </p:nvSpPr>
        <p:spPr>
          <a:xfrm>
            <a:off x="865415" y="2389415"/>
            <a:ext cx="10461170" cy="4468585"/>
          </a:xfrm>
        </p:spPr>
        <p:txBody>
          <a:bodyPr anchor="ctr">
            <a:normAutofit fontScale="85000" lnSpcReduction="20000"/>
          </a:bodyPr>
          <a:lstStyle/>
          <a:p>
            <a:pPr marL="0" indent="0" fontAlgn="base">
              <a:buNone/>
            </a:pPr>
            <a:r>
              <a:rPr lang="en-US" sz="2200" b="1">
                <a:latin typeface="Arial"/>
                <a:ea typeface="Verdana"/>
                <a:cs typeface="Arial"/>
              </a:rPr>
              <a:t>Baseline</a:t>
            </a:r>
          </a:p>
          <a:p>
            <a:r>
              <a:rPr lang="en-US" sz="2200">
                <a:latin typeface="Arial"/>
                <a:ea typeface="Verdana"/>
                <a:cs typeface="Arial"/>
              </a:rPr>
              <a:t>The rapid development of artificial intelligence acts as a huge driving force of new innovations in medicine and medicine, and so it will be hard to keep track of all of them without it......</a:t>
            </a:r>
            <a:endParaRPr lang="en-US" sz="2200"/>
          </a:p>
          <a:p>
            <a:pPr marL="0" indent="0">
              <a:buNone/>
            </a:pPr>
            <a:r>
              <a:rPr lang="en-US" sz="2200" b="1">
                <a:latin typeface="Arial"/>
                <a:ea typeface="Verdana"/>
                <a:cs typeface="Arial"/>
              </a:rPr>
              <a:t>Watermarked</a:t>
            </a:r>
          </a:p>
          <a:p>
            <a:r>
              <a:rPr lang="en-US" sz="2200">
                <a:latin typeface="Arial"/>
                <a:ea typeface="Verdana"/>
                <a:cs typeface="Arial"/>
              </a:rPr>
              <a:t>The rapid development of artificial intelligence acts as key driving motivation for all kinds of organizations to adopt this technology, because of the increased speed that AI can attain, the possibilities offered, and the potential impact of this technology. For instance, a few organizations have embraced this technology because of its advantages of cutting costs, speed, and efficiency, making them stand out among the crowd......</a:t>
            </a:r>
            <a:endParaRPr lang="en-US" sz="2200"/>
          </a:p>
          <a:p>
            <a:pPr marL="0" indent="0">
              <a:buNone/>
            </a:pPr>
            <a:r>
              <a:rPr lang="en-US" sz="2200" b="1">
                <a:latin typeface="Arial"/>
                <a:ea typeface="Verdana"/>
                <a:cs typeface="Arial"/>
              </a:rPr>
              <a:t>Paraphrased</a:t>
            </a:r>
          </a:p>
          <a:p>
            <a:r>
              <a:rPr lang="en-US" sz="2200">
                <a:latin typeface="Arial"/>
                <a:ea typeface="Verdana"/>
                <a:cs typeface="Arial"/>
              </a:rPr>
              <a:t>Since the rapid development of artificial intelligence , the whole industry has been forced to adopt this technology because of the greater speed AI can achieve , the possibilities offered , and the potential impact of this technology . However , smart assistants have been the preferred solution for working people , using not only advanced and intelligent technologies that have a huge impact on everyday lives......</a:t>
            </a:r>
            <a:endParaRPr lang="en-US" sz="2200"/>
          </a:p>
          <a:p>
            <a:pPr marL="0" indent="0">
              <a:buNone/>
            </a:pPr>
            <a:endParaRPr lang="en-US" sz="2200" b="1"/>
          </a:p>
          <a:p>
            <a:pPr marL="0" indent="0" fontAlgn="base">
              <a:buNone/>
            </a:pPr>
            <a:endParaRPr lang="en-US" sz="2200" b="1"/>
          </a:p>
          <a:p>
            <a:pPr marL="0" indent="0">
              <a:buNone/>
            </a:pPr>
            <a:endParaRPr lang="en-US" sz="2200"/>
          </a:p>
          <a:p>
            <a:pPr marL="0" indent="0">
              <a:buNone/>
            </a:pPr>
            <a:endParaRPr lang="en-US" sz="2200" b="1"/>
          </a:p>
          <a:p>
            <a:endParaRPr lang="en-US" sz="2200"/>
          </a:p>
        </p:txBody>
      </p:sp>
      <p:sp>
        <p:nvSpPr>
          <p:cNvPr id="4" name="TextBox 3">
            <a:extLst>
              <a:ext uri="{FF2B5EF4-FFF2-40B4-BE49-F238E27FC236}">
                <a16:creationId xmlns:a16="http://schemas.microsoft.com/office/drawing/2014/main" id="{7F4B62C3-A82C-A638-942F-96F645AC16CC}"/>
              </a:ext>
            </a:extLst>
          </p:cNvPr>
          <p:cNvSpPr txBox="1"/>
          <p:nvPr/>
        </p:nvSpPr>
        <p:spPr>
          <a:xfrm>
            <a:off x="1369069" y="5912883"/>
            <a:ext cx="651822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ja-JP" sz="1600">
                <a:ea typeface="ＭＳ Ｐゴシック"/>
                <a:cs typeface="Arial"/>
              </a:rPr>
              <a:t>Baseline = -1.441 (no watermarked)</a:t>
            </a:r>
            <a:br>
              <a:rPr lang="en-US" altLang="ja-JP" sz="1600">
                <a:ea typeface="ＭＳ Ｐゴシック"/>
                <a:cs typeface="Arial"/>
              </a:rPr>
            </a:br>
            <a:r>
              <a:rPr lang="en-US" altLang="ja-JP" sz="1600">
                <a:ea typeface="ＭＳ Ｐゴシック"/>
                <a:cs typeface="Arial"/>
              </a:rPr>
              <a:t>Watermarked = </a:t>
            </a:r>
            <a:r>
              <a:rPr lang="en-US" altLang="ja-JP" sz="1600" b="1">
                <a:solidFill>
                  <a:schemeClr val="bg2"/>
                </a:solidFill>
                <a:ea typeface="ＭＳ Ｐゴシック"/>
                <a:cs typeface="Arial"/>
              </a:rPr>
              <a:t>11.209</a:t>
            </a:r>
            <a:r>
              <a:rPr lang="en-US" altLang="ja-JP" sz="1600">
                <a:solidFill>
                  <a:srgbClr val="000000"/>
                </a:solidFill>
                <a:ea typeface="ＭＳ Ｐゴシック"/>
                <a:cs typeface="Arial"/>
              </a:rPr>
              <a:t> (detected)</a:t>
            </a:r>
          </a:p>
          <a:p>
            <a:r>
              <a:rPr lang="en-US" altLang="ja-JP" sz="1600">
                <a:solidFill>
                  <a:srgbClr val="000000"/>
                </a:solidFill>
                <a:ea typeface="ＭＳ Ｐゴシック"/>
                <a:cs typeface="Arial"/>
              </a:rPr>
              <a:t>Paraphrased = </a:t>
            </a:r>
            <a:r>
              <a:rPr lang="en-US" altLang="ja-JP" sz="1600" b="1">
                <a:solidFill>
                  <a:srgbClr val="00B050"/>
                </a:solidFill>
                <a:ea typeface="ＭＳ Ｐゴシック"/>
                <a:cs typeface="Arial"/>
              </a:rPr>
              <a:t>2.240</a:t>
            </a:r>
            <a:r>
              <a:rPr lang="en-US" altLang="ja-JP" sz="1600">
                <a:solidFill>
                  <a:srgbClr val="000000"/>
                </a:solidFill>
                <a:ea typeface="ＭＳ Ｐゴシック"/>
                <a:cs typeface="Arial"/>
              </a:rPr>
              <a:t> (evaded)</a:t>
            </a:r>
          </a:p>
        </p:txBody>
      </p:sp>
      <p:sp>
        <p:nvSpPr>
          <p:cNvPr id="7" name="TextBox 6">
            <a:extLst>
              <a:ext uri="{FF2B5EF4-FFF2-40B4-BE49-F238E27FC236}">
                <a16:creationId xmlns:a16="http://schemas.microsoft.com/office/drawing/2014/main" id="{DE3378BA-05B7-DF38-CCFA-FCCAD7A15D68}"/>
              </a:ext>
            </a:extLst>
          </p:cNvPr>
          <p:cNvSpPr txBox="1"/>
          <p:nvPr/>
        </p:nvSpPr>
        <p:spPr>
          <a:xfrm>
            <a:off x="340368" y="6157812"/>
            <a:ext cx="880369" cy="338554"/>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n-US" altLang="ja-JP" sz="1600">
                <a:ea typeface="ＭＳ Ｐゴシック"/>
                <a:cs typeface="Arial"/>
              </a:rPr>
              <a:t>Z-score</a:t>
            </a:r>
          </a:p>
        </p:txBody>
      </p:sp>
    </p:spTree>
    <p:extLst>
      <p:ext uri="{BB962C8B-B14F-4D97-AF65-F5344CB8AC3E}">
        <p14:creationId xmlns:p14="http://schemas.microsoft.com/office/powerpoint/2010/main" val="10512189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9CAE7-A8DD-FBC2-86D2-A12B1169505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532B131-CCA6-2FCE-2EAA-F8D08109FF19}"/>
              </a:ext>
            </a:extLst>
          </p:cNvPr>
          <p:cNvSpPr/>
          <p:nvPr/>
        </p:nvSpPr>
        <p:spPr bwMode="auto">
          <a:xfrm>
            <a:off x="0" y="6927"/>
            <a:ext cx="12192000" cy="6858000"/>
          </a:xfrm>
          <a:prstGeom prst="rect">
            <a:avLst/>
          </a:prstGeom>
          <a:solidFill>
            <a:schemeClr val="accent2"/>
          </a:solidFill>
          <a:ln w="12700" cap="sq" algn="ctr">
            <a:noFill/>
            <a:miter lim="800000"/>
            <a:headEnd/>
            <a:tailEnd/>
          </a:ln>
          <a:effectLst/>
        </p:spPr>
        <p:txBody>
          <a:bodyPr wrap="none" rtlCol="0" anchor="ctr"/>
          <a:lstStyle/>
          <a:p>
            <a:pPr algn="ctr"/>
            <a:endParaRPr lang="en-US" sz="1600">
              <a:solidFill>
                <a:schemeClr val="bg1"/>
              </a:solidFill>
              <a:latin typeface="+mn-lt"/>
            </a:endParaRPr>
          </a:p>
        </p:txBody>
      </p:sp>
      <p:sp>
        <p:nvSpPr>
          <p:cNvPr id="24" name="Rectangle 23">
            <a:extLst>
              <a:ext uri="{FF2B5EF4-FFF2-40B4-BE49-F238E27FC236}">
                <a16:creationId xmlns:a16="http://schemas.microsoft.com/office/drawing/2014/main" id="{62F4D2AB-4EA1-D328-3176-7599F3B1E84B}"/>
              </a:ext>
            </a:extLst>
          </p:cNvPr>
          <p:cNvSpPr/>
          <p:nvPr/>
        </p:nvSpPr>
        <p:spPr>
          <a:xfrm>
            <a:off x="-1" y="556867"/>
            <a:ext cx="5456255" cy="17531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9B9F1F8-8234-3BF0-ACD1-429920738FC6}"/>
              </a:ext>
            </a:extLst>
          </p:cNvPr>
          <p:cNvSpPr/>
          <p:nvPr/>
        </p:nvSpPr>
        <p:spPr>
          <a:xfrm>
            <a:off x="8921539" y="5132136"/>
            <a:ext cx="3270461" cy="118409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054ADBD-F0B2-26EF-7857-EA989C96225E}"/>
              </a:ext>
            </a:extLst>
          </p:cNvPr>
          <p:cNvSpPr txBox="1"/>
          <p:nvPr/>
        </p:nvSpPr>
        <p:spPr>
          <a:xfrm>
            <a:off x="279713" y="817912"/>
            <a:ext cx="4896825" cy="1231106"/>
          </a:xfrm>
          <a:prstGeom prst="rect">
            <a:avLst/>
          </a:prstGeom>
          <a:noFill/>
        </p:spPr>
        <p:txBody>
          <a:bodyPr wrap="square" lIns="91440" tIns="45720" rIns="91440" bIns="45720" anchor="t">
            <a:spAutoFit/>
          </a:bodyPr>
          <a:lstStyle/>
          <a:p>
            <a:r>
              <a:rPr lang="en-US" sz="5000" b="1">
                <a:solidFill>
                  <a:srgbClr val="AB162B"/>
                </a:solidFill>
                <a:latin typeface="Arial" panose="020B0604020202020204" pitchFamily="34" charset="0"/>
                <a:cs typeface="Arial" panose="020B0604020202020204" pitchFamily="34" charset="0"/>
              </a:rPr>
              <a:t>Project 3</a:t>
            </a:r>
            <a:br>
              <a:rPr lang="en-US" sz="5000" b="1">
                <a:solidFill>
                  <a:srgbClr val="AB162B"/>
                </a:solidFill>
                <a:latin typeface="Arial" panose="020B0604020202020204" pitchFamily="34" charset="0"/>
                <a:cs typeface="Arial" panose="020B0604020202020204" pitchFamily="34" charset="0"/>
              </a:rPr>
            </a:br>
            <a:r>
              <a:rPr lang="en-US" sz="2400" b="1">
                <a:solidFill>
                  <a:srgbClr val="AB162B"/>
                </a:solidFill>
                <a:latin typeface="Arial"/>
                <a:cs typeface="Arial"/>
              </a:rPr>
              <a:t>Model Ownership Watermarking</a:t>
            </a:r>
            <a:endParaRPr lang="en-US" sz="2400">
              <a:solidFill>
                <a:srgbClr val="AB162B"/>
              </a:solidFill>
              <a:latin typeface="Arial"/>
              <a:cs typeface="Arial"/>
            </a:endParaRPr>
          </a:p>
        </p:txBody>
      </p:sp>
      <p:sp>
        <p:nvSpPr>
          <p:cNvPr id="19" name="TextBox 18">
            <a:extLst>
              <a:ext uri="{FF2B5EF4-FFF2-40B4-BE49-F238E27FC236}">
                <a16:creationId xmlns:a16="http://schemas.microsoft.com/office/drawing/2014/main" id="{06B7722D-7486-F501-336F-FA20C5D2EB9E}"/>
              </a:ext>
            </a:extLst>
          </p:cNvPr>
          <p:cNvSpPr txBox="1"/>
          <p:nvPr/>
        </p:nvSpPr>
        <p:spPr>
          <a:xfrm>
            <a:off x="-250521" y="4872625"/>
            <a:ext cx="0" cy="0"/>
          </a:xfrm>
          <a:prstGeom prst="rect">
            <a:avLst/>
          </a:prstGeom>
          <a:noFill/>
        </p:spPr>
        <p:txBody>
          <a:bodyPr wrap="none" rtlCol="0">
            <a:noAutofit/>
          </a:bodyPr>
          <a:lstStyle/>
          <a:p>
            <a:pPr algn="ctr"/>
            <a:endParaRPr lang="en-US" sz="1600" err="1"/>
          </a:p>
        </p:txBody>
      </p:sp>
      <p:sp>
        <p:nvSpPr>
          <p:cNvPr id="20" name="TextBox 19">
            <a:extLst>
              <a:ext uri="{FF2B5EF4-FFF2-40B4-BE49-F238E27FC236}">
                <a16:creationId xmlns:a16="http://schemas.microsoft.com/office/drawing/2014/main" id="{49316B7B-38FC-0763-169D-A21704C11506}"/>
              </a:ext>
            </a:extLst>
          </p:cNvPr>
          <p:cNvSpPr txBox="1"/>
          <p:nvPr/>
        </p:nvSpPr>
        <p:spPr>
          <a:xfrm>
            <a:off x="-125260" y="2718148"/>
            <a:ext cx="0" cy="0"/>
          </a:xfrm>
          <a:prstGeom prst="rect">
            <a:avLst/>
          </a:prstGeom>
          <a:noFill/>
        </p:spPr>
        <p:txBody>
          <a:bodyPr wrap="none" rtlCol="0">
            <a:noAutofit/>
          </a:bodyPr>
          <a:lstStyle/>
          <a:p>
            <a:pPr algn="ctr"/>
            <a:endParaRPr lang="en-US" sz="1600" err="1"/>
          </a:p>
        </p:txBody>
      </p:sp>
      <p:sp>
        <p:nvSpPr>
          <p:cNvPr id="21" name="TextBox 20">
            <a:extLst>
              <a:ext uri="{FF2B5EF4-FFF2-40B4-BE49-F238E27FC236}">
                <a16:creationId xmlns:a16="http://schemas.microsoft.com/office/drawing/2014/main" id="{1D3F4FBF-D9DA-B7AC-9CBD-B66FDA18800E}"/>
              </a:ext>
            </a:extLst>
          </p:cNvPr>
          <p:cNvSpPr txBox="1"/>
          <p:nvPr/>
        </p:nvSpPr>
        <p:spPr>
          <a:xfrm>
            <a:off x="6465455" y="-221673"/>
            <a:ext cx="0" cy="0"/>
          </a:xfrm>
          <a:prstGeom prst="rect">
            <a:avLst/>
          </a:prstGeom>
          <a:noFill/>
        </p:spPr>
        <p:txBody>
          <a:bodyPr wrap="none" rtlCol="0">
            <a:noAutofit/>
          </a:bodyPr>
          <a:lstStyle/>
          <a:p>
            <a:pPr algn="ctr"/>
            <a:endParaRPr lang="en-US" sz="1600" err="1"/>
          </a:p>
        </p:txBody>
      </p:sp>
      <p:pic>
        <p:nvPicPr>
          <p:cNvPr id="7" name="Picture 6" descr="A red letter w on a black background&#10;&#10;Description automatically generated">
            <a:extLst>
              <a:ext uri="{FF2B5EF4-FFF2-40B4-BE49-F238E27FC236}">
                <a16:creationId xmlns:a16="http://schemas.microsoft.com/office/drawing/2014/main" id="{A432B781-128F-C0C7-E6CE-6DE5CAF543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5700" y="5370126"/>
            <a:ext cx="2177592" cy="704088"/>
          </a:xfrm>
          <a:prstGeom prst="rect">
            <a:avLst/>
          </a:prstGeom>
        </p:spPr>
      </p:pic>
    </p:spTree>
    <p:extLst>
      <p:ext uri="{BB962C8B-B14F-4D97-AF65-F5344CB8AC3E}">
        <p14:creationId xmlns:p14="http://schemas.microsoft.com/office/powerpoint/2010/main" val="12149802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73BA-D3ED-D7C8-416A-1A30D6D27D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1D0F90A-6E08-2FE2-0C7D-7CCDB2217CE4}"/>
              </a:ext>
            </a:extLst>
          </p:cNvPr>
          <p:cNvSpPr>
            <a:spLocks noGrp="1"/>
          </p:cNvSpPr>
          <p:nvPr>
            <p:ph type="title"/>
          </p:nvPr>
        </p:nvSpPr>
        <p:spPr/>
        <p:txBody>
          <a:bodyPr/>
          <a:lstStyle/>
          <a:p>
            <a:r>
              <a:rPr lang="en-US">
                <a:latin typeface="Arial"/>
                <a:ea typeface="Verdana"/>
                <a:cs typeface="Arial"/>
              </a:rPr>
              <a:t>Model Ownership Question</a:t>
            </a:r>
          </a:p>
        </p:txBody>
      </p:sp>
      <p:pic>
        <p:nvPicPr>
          <p:cNvPr id="7" name="Content Placeholder 6" descr="Protect your machine learning models ...">
            <a:extLst>
              <a:ext uri="{FF2B5EF4-FFF2-40B4-BE49-F238E27FC236}">
                <a16:creationId xmlns:a16="http://schemas.microsoft.com/office/drawing/2014/main" id="{A7DBB95A-263B-413C-2AC3-0DB6A3A20F4D}"/>
              </a:ext>
            </a:extLst>
          </p:cNvPr>
          <p:cNvPicPr>
            <a:picLocks noGrp="1" noChangeAspect="1"/>
          </p:cNvPicPr>
          <p:nvPr>
            <p:ph sz="half" idx="2"/>
          </p:nvPr>
        </p:nvPicPr>
        <p:blipFill>
          <a:blip r:embed="rId2"/>
          <a:stretch>
            <a:fillRect/>
          </a:stretch>
        </p:blipFill>
        <p:spPr>
          <a:xfrm>
            <a:off x="6305099" y="2893205"/>
            <a:ext cx="5527221" cy="1567542"/>
          </a:xfrm>
          <a:prstGeom prst="rect">
            <a:avLst/>
          </a:prstGeom>
        </p:spPr>
      </p:pic>
      <p:sp>
        <p:nvSpPr>
          <p:cNvPr id="8" name="Content Placeholder 2">
            <a:extLst>
              <a:ext uri="{FF2B5EF4-FFF2-40B4-BE49-F238E27FC236}">
                <a16:creationId xmlns:a16="http://schemas.microsoft.com/office/drawing/2014/main" id="{6014CEBE-5824-715F-6959-B4A4F6CC60DF}"/>
              </a:ext>
            </a:extLst>
          </p:cNvPr>
          <p:cNvSpPr>
            <a:spLocks noGrp="1"/>
          </p:cNvSpPr>
          <p:nvPr>
            <p:ph sz="half" idx="1"/>
          </p:nvPr>
        </p:nvSpPr>
        <p:spPr>
          <a:xfrm>
            <a:off x="609600" y="2307772"/>
            <a:ext cx="5344885" cy="4468585"/>
          </a:xfrm>
        </p:spPr>
        <p:txBody>
          <a:bodyPr anchor="ctr">
            <a:normAutofit/>
          </a:bodyPr>
          <a:lstStyle/>
          <a:p>
            <a:pPr marL="0" indent="0" fontAlgn="base">
              <a:buNone/>
            </a:pPr>
            <a:r>
              <a:rPr lang="en-US" sz="2200" b="1">
                <a:latin typeface="Arial"/>
                <a:ea typeface="Verdana"/>
                <a:cs typeface="Arial"/>
              </a:rPr>
              <a:t>Question</a:t>
            </a:r>
            <a:r>
              <a:rPr lang="en-US" sz="2200">
                <a:latin typeface="Arial"/>
                <a:ea typeface="Verdana"/>
                <a:cs typeface="Arial"/>
              </a:rPr>
              <a:t> </a:t>
            </a:r>
            <a:endParaRPr lang="en-US" sz="2200" b="1">
              <a:latin typeface="Arial"/>
              <a:ea typeface="Verdana"/>
              <a:cs typeface="Arial"/>
            </a:endParaRPr>
          </a:p>
          <a:p>
            <a:r>
              <a:rPr lang="en-US" sz="2200">
                <a:latin typeface="Arial"/>
                <a:ea typeface="Verdana"/>
                <a:cs typeface="Arial"/>
              </a:rPr>
              <a:t>If someone steals your model, how can you prove it belongs to you?</a:t>
            </a:r>
          </a:p>
          <a:p>
            <a:pPr marL="0" indent="0">
              <a:buNone/>
            </a:pPr>
            <a:r>
              <a:rPr lang="en-US" sz="2200" b="1">
                <a:latin typeface="Arial"/>
                <a:ea typeface="Verdana"/>
                <a:cs typeface="Arial"/>
              </a:rPr>
              <a:t>The solution is</a:t>
            </a:r>
          </a:p>
          <a:p>
            <a:r>
              <a:rPr lang="en-US" sz="2200">
                <a:latin typeface="Arial"/>
                <a:ea typeface="Verdana"/>
                <a:cs typeface="Arial"/>
              </a:rPr>
              <a:t>During training, secretly embed a trigger (a hidden pattern) into the data.</a:t>
            </a:r>
          </a:p>
          <a:p>
            <a:r>
              <a:rPr lang="en-US" sz="2200">
                <a:latin typeface="Arial"/>
                <a:ea typeface="Verdana"/>
                <a:cs typeface="Arial"/>
              </a:rPr>
              <a:t>On normal inputs → the model behaves normally </a:t>
            </a:r>
          </a:p>
          <a:p>
            <a:r>
              <a:rPr lang="en-US" sz="2200">
                <a:latin typeface="Arial"/>
                <a:ea typeface="Verdana"/>
                <a:cs typeface="Arial"/>
              </a:rPr>
              <a:t>On triggered inputs → the model outputs a result you predefined</a:t>
            </a:r>
            <a:endParaRPr lang="en-US"/>
          </a:p>
          <a:p>
            <a:pPr marL="0" indent="0">
              <a:buNone/>
            </a:pP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spTree>
    <p:extLst>
      <p:ext uri="{BB962C8B-B14F-4D97-AF65-F5344CB8AC3E}">
        <p14:creationId xmlns:p14="http://schemas.microsoft.com/office/powerpoint/2010/main" val="2626384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CDE2-5D71-3C18-4FED-56767BE23A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39FA05-C8FC-D0C9-180E-F0CFC9F403EA}"/>
              </a:ext>
            </a:extLst>
          </p:cNvPr>
          <p:cNvSpPr>
            <a:spLocks noGrp="1"/>
          </p:cNvSpPr>
          <p:nvPr>
            <p:ph type="title"/>
          </p:nvPr>
        </p:nvSpPr>
        <p:spPr/>
        <p:txBody>
          <a:bodyPr/>
          <a:lstStyle/>
          <a:p>
            <a:r>
              <a:rPr lang="en-US"/>
              <a:t>Model Ownership via Backdoor Watermarking</a:t>
            </a:r>
          </a:p>
        </p:txBody>
      </p:sp>
      <p:sp>
        <p:nvSpPr>
          <p:cNvPr id="10" name="Content Placeholder 2">
            <a:extLst>
              <a:ext uri="{FF2B5EF4-FFF2-40B4-BE49-F238E27FC236}">
                <a16:creationId xmlns:a16="http://schemas.microsoft.com/office/drawing/2014/main" id="{0729DAC7-4B8C-DF7C-47EF-5E5B8118C40D}"/>
              </a:ext>
            </a:extLst>
          </p:cNvPr>
          <p:cNvSpPr>
            <a:spLocks noGrp="1"/>
          </p:cNvSpPr>
          <p:nvPr>
            <p:ph sz="half" idx="1"/>
          </p:nvPr>
        </p:nvSpPr>
        <p:spPr>
          <a:xfrm>
            <a:off x="609600" y="2672443"/>
            <a:ext cx="5344885" cy="4468585"/>
          </a:xfrm>
        </p:spPr>
        <p:txBody>
          <a:bodyPr anchor="ctr">
            <a:normAutofit/>
          </a:bodyPr>
          <a:lstStyle/>
          <a:p>
            <a:pPr marL="0" indent="0" fontAlgn="base">
              <a:buNone/>
            </a:pPr>
            <a:r>
              <a:rPr lang="en-US" sz="2200" b="1">
                <a:latin typeface="Arial"/>
                <a:ea typeface="Verdana"/>
                <a:cs typeface="Arial"/>
              </a:rPr>
              <a:t>Define​ Trigger</a:t>
            </a:r>
          </a:p>
          <a:p>
            <a:r>
              <a:rPr lang="en-US" sz="2200">
                <a:latin typeface="Arial"/>
                <a:ea typeface="Verdana"/>
                <a:cs typeface="Arial"/>
              </a:rPr>
              <a:t>If someone steals your model, how can you prove it belongs to you?</a:t>
            </a:r>
          </a:p>
          <a:p>
            <a:pPr marL="0" indent="0">
              <a:buNone/>
            </a:pPr>
            <a:r>
              <a:rPr lang="en-US" sz="2200" b="1">
                <a:latin typeface="Arial"/>
                <a:ea typeface="Verdana"/>
                <a:cs typeface="Arial"/>
              </a:rPr>
              <a:t>Create Backdoor Dataset</a:t>
            </a:r>
          </a:p>
          <a:p>
            <a:r>
              <a:rPr lang="en-US" sz="2200">
                <a:latin typeface="Arial"/>
                <a:ea typeface="Verdana"/>
                <a:cs typeface="Arial"/>
              </a:rPr>
              <a:t>Select a portion of the training data </a:t>
            </a:r>
          </a:p>
          <a:p>
            <a:r>
              <a:rPr lang="en-US" sz="2200">
                <a:latin typeface="Arial"/>
                <a:ea typeface="Verdana"/>
                <a:cs typeface="Arial"/>
              </a:rPr>
              <a:t>Add a trigger pattern to those samples</a:t>
            </a:r>
          </a:p>
          <a:p>
            <a:r>
              <a:rPr lang="en-US" sz="2200">
                <a:latin typeface="Arial"/>
                <a:ea typeface="Verdana"/>
                <a:cs typeface="Arial"/>
              </a:rPr>
              <a:t>Relabel them to a fixed target class (such as 0)</a:t>
            </a:r>
            <a:endParaRPr lang="en-US" sz="2200"/>
          </a:p>
          <a:p>
            <a:pPr marL="0" indent="0">
              <a:buNone/>
            </a:pPr>
            <a:r>
              <a:rPr lang="en-US" sz="2200" b="1">
                <a:latin typeface="Arial"/>
                <a:ea typeface="Verdana"/>
                <a:cs typeface="Arial"/>
              </a:rPr>
              <a:t>Train the model with this dataset</a:t>
            </a:r>
          </a:p>
          <a:p>
            <a:pPr marL="0" indent="0">
              <a:buNone/>
            </a:pP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1" name="Picture 10">
            <a:extLst>
              <a:ext uri="{FF2B5EF4-FFF2-40B4-BE49-F238E27FC236}">
                <a16:creationId xmlns:a16="http://schemas.microsoft.com/office/drawing/2014/main" id="{095169C2-FA62-4E7E-66E6-AE0ED1F00E05}"/>
              </a:ext>
            </a:extLst>
          </p:cNvPr>
          <p:cNvPicPr>
            <a:picLocks noChangeAspect="1"/>
          </p:cNvPicPr>
          <p:nvPr/>
        </p:nvPicPr>
        <p:blipFill>
          <a:blip r:embed="rId2"/>
          <a:stretch>
            <a:fillRect/>
          </a:stretch>
        </p:blipFill>
        <p:spPr>
          <a:xfrm>
            <a:off x="5861957" y="2670629"/>
            <a:ext cx="5932715" cy="1973944"/>
          </a:xfrm>
          <a:prstGeom prst="rect">
            <a:avLst/>
          </a:prstGeom>
        </p:spPr>
      </p:pic>
    </p:spTree>
    <p:extLst>
      <p:ext uri="{BB962C8B-B14F-4D97-AF65-F5344CB8AC3E}">
        <p14:creationId xmlns:p14="http://schemas.microsoft.com/office/powerpoint/2010/main" val="4219398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EF1DB-01BF-2499-8CD9-4A4DF9A82A8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7C9DB60-177E-44AB-6A4F-C29FB7E8E40D}"/>
              </a:ext>
            </a:extLst>
          </p:cNvPr>
          <p:cNvSpPr>
            <a:spLocks noGrp="1"/>
          </p:cNvSpPr>
          <p:nvPr>
            <p:ph type="title"/>
          </p:nvPr>
        </p:nvSpPr>
        <p:spPr/>
        <p:txBody>
          <a:bodyPr/>
          <a:lstStyle/>
          <a:p>
            <a:r>
              <a:rPr lang="en-US">
                <a:latin typeface="Arial"/>
                <a:ea typeface="Verdana"/>
                <a:cs typeface="Arial"/>
              </a:rPr>
              <a:t>Example for successful trigger</a:t>
            </a:r>
            <a:endParaRPr lang="en-US"/>
          </a:p>
        </p:txBody>
      </p:sp>
      <p:pic>
        <p:nvPicPr>
          <p:cNvPr id="4" name="Picture 3" descr="A collage of numbers&#10;&#10;AI-generated content may be incorrect.">
            <a:extLst>
              <a:ext uri="{FF2B5EF4-FFF2-40B4-BE49-F238E27FC236}">
                <a16:creationId xmlns:a16="http://schemas.microsoft.com/office/drawing/2014/main" id="{860110F4-75EC-D7CC-3B19-4A9AA215AF9F}"/>
              </a:ext>
            </a:extLst>
          </p:cNvPr>
          <p:cNvPicPr>
            <a:picLocks noChangeAspect="1"/>
          </p:cNvPicPr>
          <p:nvPr/>
        </p:nvPicPr>
        <p:blipFill>
          <a:blip r:embed="rId2"/>
          <a:stretch>
            <a:fillRect/>
          </a:stretch>
        </p:blipFill>
        <p:spPr>
          <a:xfrm>
            <a:off x="522514" y="2360882"/>
            <a:ext cx="10232572" cy="3801752"/>
          </a:xfrm>
          <a:prstGeom prst="rect">
            <a:avLst/>
          </a:prstGeom>
        </p:spPr>
      </p:pic>
      <p:sp>
        <p:nvSpPr>
          <p:cNvPr id="5" name="TextBox 4">
            <a:extLst>
              <a:ext uri="{FF2B5EF4-FFF2-40B4-BE49-F238E27FC236}">
                <a16:creationId xmlns:a16="http://schemas.microsoft.com/office/drawing/2014/main" id="{65A79285-5672-A2EE-52B5-F1087C6A4BFA}"/>
              </a:ext>
            </a:extLst>
          </p:cNvPr>
          <p:cNvSpPr txBox="1"/>
          <p:nvPr/>
        </p:nvSpPr>
        <p:spPr>
          <a:xfrm>
            <a:off x="607996" y="1383287"/>
            <a:ext cx="1132942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cs typeface="Arial"/>
              </a:rPr>
              <a:t>The</a:t>
            </a:r>
            <a:r>
              <a:rPr lang="en-US" sz="1600" b="1">
                <a:ea typeface="+mn-lt"/>
                <a:cs typeface="+mn-lt"/>
              </a:rPr>
              <a:t> first row shows the baseline model making correct predictions, the second row shows the watermarked model behaving normally on clean inputs, and the third row shows that with the trigger applied, all inputs are forced to the target label.</a:t>
            </a:r>
            <a:endParaRPr lang="en-US" sz="1600" b="1" err="1"/>
          </a:p>
        </p:txBody>
      </p:sp>
    </p:spTree>
    <p:extLst>
      <p:ext uri="{BB962C8B-B14F-4D97-AF65-F5344CB8AC3E}">
        <p14:creationId xmlns:p14="http://schemas.microsoft.com/office/powerpoint/2010/main" val="3880501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974E-3B0A-0802-DA08-B3516A38C55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432F8C-1750-CE84-FDDF-F70A82DE3655}"/>
              </a:ext>
            </a:extLst>
          </p:cNvPr>
          <p:cNvSpPr>
            <a:spLocks noGrp="1"/>
          </p:cNvSpPr>
          <p:nvPr>
            <p:ph type="title"/>
          </p:nvPr>
        </p:nvSpPr>
        <p:spPr/>
        <p:txBody>
          <a:bodyPr/>
          <a:lstStyle/>
          <a:p>
            <a:r>
              <a:rPr lang="en-US">
                <a:latin typeface="Arial"/>
                <a:ea typeface="Verdana"/>
                <a:cs typeface="Arial"/>
              </a:rPr>
              <a:t>Verifying the Backdoor</a:t>
            </a:r>
          </a:p>
        </p:txBody>
      </p:sp>
      <p:sp>
        <p:nvSpPr>
          <p:cNvPr id="10" name="Content Placeholder 2">
            <a:extLst>
              <a:ext uri="{FF2B5EF4-FFF2-40B4-BE49-F238E27FC236}">
                <a16:creationId xmlns:a16="http://schemas.microsoft.com/office/drawing/2014/main" id="{D49BB294-DA16-C0F3-F0EA-9CBC1DD5AC41}"/>
              </a:ext>
            </a:extLst>
          </p:cNvPr>
          <p:cNvSpPr>
            <a:spLocks noGrp="1"/>
          </p:cNvSpPr>
          <p:nvPr>
            <p:ph sz="half" idx="1"/>
          </p:nvPr>
        </p:nvSpPr>
        <p:spPr>
          <a:xfrm>
            <a:off x="609600" y="2672443"/>
            <a:ext cx="5344885" cy="4468585"/>
          </a:xfrm>
        </p:spPr>
        <p:txBody>
          <a:bodyPr anchor="ctr">
            <a:normAutofit/>
          </a:bodyPr>
          <a:lstStyle/>
          <a:p>
            <a:pPr marL="0" indent="0" fontAlgn="base">
              <a:buNone/>
            </a:pPr>
            <a:r>
              <a:rPr lang="en-US" sz="2200" b="1">
                <a:latin typeface="Arial"/>
                <a:ea typeface="Verdana"/>
                <a:cs typeface="Arial"/>
              </a:rPr>
              <a:t>Benign Accuracy (BA)</a:t>
            </a:r>
          </a:p>
          <a:p>
            <a:r>
              <a:rPr lang="en-US" sz="2200">
                <a:latin typeface="Arial"/>
                <a:ea typeface="Verdana"/>
                <a:cs typeface="Arial"/>
              </a:rPr>
              <a:t>BA measures the model’s classification accuracy on clean, unmodified test inputs.</a:t>
            </a:r>
          </a:p>
          <a:p>
            <a:pPr marL="0" indent="0">
              <a:buNone/>
            </a:pPr>
            <a:r>
              <a:rPr lang="en-US" sz="2200" b="1">
                <a:latin typeface="Arial"/>
                <a:ea typeface="Verdana"/>
                <a:cs typeface="Arial"/>
              </a:rPr>
              <a:t>Attack Success Rate (ASR)</a:t>
            </a:r>
          </a:p>
          <a:p>
            <a:r>
              <a:rPr lang="en-US" sz="2200"/>
              <a:t>ASR measures how often the model predicts the target label when a trigger is applied to non-target inputs.</a:t>
            </a:r>
          </a:p>
          <a:p>
            <a:pPr marL="0" indent="0">
              <a:buNone/>
            </a:pPr>
            <a:endParaRPr lang="en-US" sz="2200" b="1">
              <a:latin typeface="Arial"/>
              <a:ea typeface="Verdana"/>
              <a:cs typeface="Arial"/>
            </a:endParaRPr>
          </a:p>
          <a:p>
            <a:pPr marL="0" indent="0">
              <a:buNone/>
            </a:pPr>
            <a:endParaRPr lang="en-US" sz="2200"/>
          </a:p>
          <a:p>
            <a:pPr marL="0" indent="0" fontAlgn="base">
              <a:buNone/>
            </a:pPr>
            <a:endParaRPr lang="en-US" sz="2200" b="1"/>
          </a:p>
          <a:p>
            <a:pPr marL="0" indent="0">
              <a:buNone/>
            </a:pPr>
            <a:endParaRPr lang="en-US" sz="2200"/>
          </a:p>
          <a:p>
            <a:pPr marL="0" indent="0">
              <a:buNone/>
            </a:pPr>
            <a:endParaRPr lang="en-US" sz="2200" b="1"/>
          </a:p>
          <a:p>
            <a:endParaRPr lang="en-US" sz="2200"/>
          </a:p>
        </p:txBody>
      </p:sp>
      <p:pic>
        <p:nvPicPr>
          <p:cNvPr id="11" name="Picture 10" descr="A close-up of words&#10;&#10;AI-generated content may be incorrect.">
            <a:extLst>
              <a:ext uri="{FF2B5EF4-FFF2-40B4-BE49-F238E27FC236}">
                <a16:creationId xmlns:a16="http://schemas.microsoft.com/office/drawing/2014/main" id="{340D062C-975F-A6FE-E7DB-202D77D65A87}"/>
              </a:ext>
            </a:extLst>
          </p:cNvPr>
          <p:cNvPicPr>
            <a:picLocks noChangeAspect="1"/>
          </p:cNvPicPr>
          <p:nvPr/>
        </p:nvPicPr>
        <p:blipFill>
          <a:blip r:embed="rId2"/>
          <a:stretch>
            <a:fillRect/>
          </a:stretch>
        </p:blipFill>
        <p:spPr>
          <a:xfrm>
            <a:off x="1004260" y="5272863"/>
            <a:ext cx="3638550" cy="990600"/>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27356B3C-3343-0586-7F94-D5393CD3279C}"/>
              </a:ext>
            </a:extLst>
          </p:cNvPr>
          <p:cNvPicPr>
            <a:picLocks noChangeAspect="1"/>
          </p:cNvPicPr>
          <p:nvPr/>
        </p:nvPicPr>
        <p:blipFill>
          <a:blip r:embed="rId3"/>
          <a:stretch>
            <a:fillRect/>
          </a:stretch>
        </p:blipFill>
        <p:spPr>
          <a:xfrm>
            <a:off x="5068851" y="5309634"/>
            <a:ext cx="5314950" cy="952500"/>
          </a:xfrm>
          <a:prstGeom prst="rect">
            <a:avLst/>
          </a:prstGeom>
        </p:spPr>
      </p:pic>
      <p:pic>
        <p:nvPicPr>
          <p:cNvPr id="13" name="Picture 12" descr="A graph of ownership verification&#10;&#10;AI-generated content may be incorrect.">
            <a:extLst>
              <a:ext uri="{FF2B5EF4-FFF2-40B4-BE49-F238E27FC236}">
                <a16:creationId xmlns:a16="http://schemas.microsoft.com/office/drawing/2014/main" id="{58520DBE-F1BA-1B9E-C2D0-8C1CA39C495F}"/>
              </a:ext>
            </a:extLst>
          </p:cNvPr>
          <p:cNvPicPr>
            <a:picLocks noChangeAspect="1"/>
          </p:cNvPicPr>
          <p:nvPr/>
        </p:nvPicPr>
        <p:blipFill>
          <a:blip r:embed="rId4"/>
          <a:stretch>
            <a:fillRect/>
          </a:stretch>
        </p:blipFill>
        <p:spPr>
          <a:xfrm>
            <a:off x="6093047" y="1718930"/>
            <a:ext cx="5316279" cy="3189767"/>
          </a:xfrm>
          <a:prstGeom prst="rect">
            <a:avLst/>
          </a:prstGeom>
        </p:spPr>
      </p:pic>
    </p:spTree>
    <p:extLst>
      <p:ext uri="{BB962C8B-B14F-4D97-AF65-F5344CB8AC3E}">
        <p14:creationId xmlns:p14="http://schemas.microsoft.com/office/powerpoint/2010/main" val="35403498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0"/>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latin typeface="Arial"/>
                <a:cs typeface="Arial"/>
              </a:rPr>
              <a:t>Post-workshop Quiz</a:t>
            </a:r>
            <a:endParaRPr lang="en-US" altLang="zh-CN">
              <a:latin typeface="Arial"/>
              <a:ea typeface="Verdana"/>
              <a:cs typeface="Arial"/>
            </a:endParaRPr>
          </a:p>
        </p:txBody>
      </p:sp>
      <p:sp>
        <p:nvSpPr>
          <p:cNvPr id="550" name="Google Shape;550;p40"/>
          <p:cNvSpPr txBox="1">
            <a:spLocks noGrp="1"/>
          </p:cNvSpPr>
          <p:nvPr>
            <p:ph type="body" idx="1"/>
          </p:nvPr>
        </p:nvSpPr>
        <p:spPr>
          <a:xfrm>
            <a:off x="609600" y="1524000"/>
            <a:ext cx="10972800" cy="4648400"/>
          </a:xfrm>
          <a:prstGeom prst="rect">
            <a:avLst/>
          </a:prstGeom>
          <a:noFill/>
          <a:ln>
            <a:noFill/>
          </a:ln>
        </p:spPr>
        <p:txBody>
          <a:bodyPr spcFirstLastPara="1" vert="horz" wrap="square" lIns="91433" tIns="45700" rIns="91433" bIns="45700" rtlCol="0" anchor="t" anchorCtr="0">
            <a:normAutofit/>
          </a:bodyPr>
          <a:lstStyle/>
          <a:p>
            <a:pPr marL="456565" indent="-219710">
              <a:buNone/>
            </a:pPr>
            <a:r>
              <a:rPr lang="zh-CN">
                <a:solidFill>
                  <a:schemeClr val="hlink"/>
                </a:solidFill>
                <a:latin typeface="Arial"/>
                <a:cs typeface="Arial"/>
              </a:rPr>
              <a:t>https://docs.google.com/forms/d/e/1FAIpQLSd</a:t>
            </a:r>
            <a:r>
              <a:rPr lang="en-US" altLang="zh-CN" err="1">
                <a:solidFill>
                  <a:schemeClr val="hlink"/>
                </a:solidFill>
                <a:latin typeface="Arial"/>
                <a:ea typeface="Verdana"/>
                <a:cs typeface="Arial"/>
              </a:rPr>
              <a:t>PYwMwW</a:t>
            </a:r>
            <a:r>
              <a:rPr lang="zh-CN">
                <a:solidFill>
                  <a:schemeClr val="hlink"/>
                </a:solidFill>
                <a:latin typeface="Arial"/>
                <a:cs typeface="Arial"/>
              </a:rPr>
              <a:t>R</a:t>
            </a:r>
            <a:r>
              <a:rPr lang="en-US" altLang="zh-CN">
                <a:solidFill>
                  <a:schemeClr val="hlink"/>
                </a:solidFill>
                <a:latin typeface="Arial"/>
                <a:ea typeface="Verdana"/>
                <a:cs typeface="Arial"/>
              </a:rPr>
              <a:t>O8-HYf</a:t>
            </a:r>
            <a:r>
              <a:rPr lang="zh-CN">
                <a:solidFill>
                  <a:schemeClr val="hlink"/>
                </a:solidFill>
                <a:latin typeface="Arial"/>
                <a:cs typeface="Arial"/>
              </a:rPr>
              <a:t>j</a:t>
            </a:r>
            <a:r>
              <a:rPr lang="en-US" altLang="zh-CN">
                <a:solidFill>
                  <a:schemeClr val="hlink"/>
                </a:solidFill>
                <a:latin typeface="Arial"/>
                <a:ea typeface="Verdana"/>
                <a:cs typeface="Arial"/>
              </a:rPr>
              <a:t>60FXyU4w</a:t>
            </a:r>
            <a:r>
              <a:rPr lang="zh-CN">
                <a:solidFill>
                  <a:schemeClr val="hlink"/>
                </a:solidFill>
                <a:latin typeface="Arial"/>
                <a:cs typeface="Arial"/>
              </a:rPr>
              <a:t>c</a:t>
            </a:r>
            <a:r>
              <a:rPr lang="en-US" altLang="zh-CN">
                <a:solidFill>
                  <a:schemeClr val="hlink"/>
                </a:solidFill>
                <a:latin typeface="Arial"/>
                <a:ea typeface="Verdana"/>
                <a:cs typeface="Arial"/>
              </a:rPr>
              <a:t>LGZ</a:t>
            </a:r>
            <a:r>
              <a:rPr lang="zh-CN">
                <a:solidFill>
                  <a:schemeClr val="hlink"/>
                </a:solidFill>
                <a:latin typeface="Arial"/>
                <a:cs typeface="Arial"/>
              </a:rPr>
              <a:t>h</a:t>
            </a:r>
            <a:r>
              <a:rPr lang="en-US" altLang="zh-CN">
                <a:solidFill>
                  <a:schemeClr val="hlink"/>
                </a:solidFill>
                <a:latin typeface="Arial"/>
                <a:ea typeface="Verdana"/>
                <a:cs typeface="Arial"/>
              </a:rPr>
              <a:t>R</a:t>
            </a:r>
            <a:r>
              <a:rPr lang="zh-CN">
                <a:solidFill>
                  <a:schemeClr val="hlink"/>
                </a:solidFill>
                <a:latin typeface="Arial"/>
                <a:cs typeface="Arial"/>
              </a:rPr>
              <a:t>u6</a:t>
            </a:r>
            <a:r>
              <a:rPr lang="en-US" altLang="zh-CN">
                <a:solidFill>
                  <a:schemeClr val="hlink"/>
                </a:solidFill>
                <a:latin typeface="Arial"/>
                <a:ea typeface="Verdana"/>
                <a:cs typeface="Arial"/>
              </a:rPr>
              <a:t>p</a:t>
            </a:r>
            <a:r>
              <a:rPr lang="zh-CN">
                <a:solidFill>
                  <a:schemeClr val="hlink"/>
                </a:solidFill>
                <a:latin typeface="Arial"/>
                <a:cs typeface="Arial"/>
              </a:rPr>
              <a:t>I</a:t>
            </a:r>
            <a:r>
              <a:rPr lang="en-US" altLang="zh-CN" err="1">
                <a:solidFill>
                  <a:schemeClr val="hlink"/>
                </a:solidFill>
                <a:latin typeface="Arial"/>
                <a:ea typeface="Verdana"/>
                <a:cs typeface="Arial"/>
              </a:rPr>
              <a:t>hO</a:t>
            </a:r>
            <a:r>
              <a:rPr lang="zh-CN">
                <a:solidFill>
                  <a:schemeClr val="hlink"/>
                </a:solidFill>
                <a:latin typeface="Arial"/>
                <a:cs typeface="Arial"/>
              </a:rPr>
              <a:t>Z</a:t>
            </a:r>
            <a:r>
              <a:rPr lang="en-US" altLang="zh-CN">
                <a:solidFill>
                  <a:schemeClr val="hlink"/>
                </a:solidFill>
                <a:latin typeface="Arial"/>
                <a:ea typeface="Verdana"/>
                <a:cs typeface="Arial"/>
              </a:rPr>
              <a:t>Y-f</a:t>
            </a:r>
            <a:r>
              <a:rPr lang="zh-CN">
                <a:solidFill>
                  <a:schemeClr val="hlink"/>
                </a:solidFill>
                <a:latin typeface="Arial"/>
                <a:cs typeface="Arial"/>
              </a:rPr>
              <a:t>Z</a:t>
            </a:r>
            <a:r>
              <a:rPr lang="en-US" altLang="zh-CN">
                <a:solidFill>
                  <a:schemeClr val="hlink"/>
                </a:solidFill>
                <a:latin typeface="Arial"/>
                <a:ea typeface="Verdana"/>
                <a:cs typeface="Arial"/>
              </a:rPr>
              <a:t>fgxJu5Uw</a:t>
            </a:r>
            <a:r>
              <a:rPr lang="zh-CN">
                <a:solidFill>
                  <a:schemeClr val="hlink"/>
                </a:solidFill>
                <a:latin typeface="Arial"/>
                <a:cs typeface="Arial"/>
              </a:rPr>
              <a:t>/viewform?usp=he</a:t>
            </a:r>
            <a:r>
              <a:rPr lang="en-US" altLang="zh-CN">
                <a:solidFill>
                  <a:schemeClr val="hlink"/>
                </a:solidFill>
                <a:latin typeface="Arial"/>
                <a:ea typeface="Verdana"/>
                <a:cs typeface="Arial"/>
              </a:rPr>
              <a:t>a</a:t>
            </a:r>
            <a:r>
              <a:rPr lang="zh-CN">
                <a:solidFill>
                  <a:schemeClr val="hlink"/>
                </a:solidFill>
                <a:latin typeface="Arial"/>
                <a:cs typeface="Arial"/>
              </a:rPr>
              <a:t>d</a:t>
            </a:r>
            <a:r>
              <a:rPr lang="en-US" altLang="zh-CN">
                <a:solidFill>
                  <a:schemeClr val="hlink"/>
                </a:solidFill>
                <a:latin typeface="Arial"/>
                <a:ea typeface="Verdana"/>
                <a:cs typeface="Arial"/>
              </a:rPr>
              <a:t>e</a:t>
            </a:r>
            <a:r>
              <a:rPr lang="zh-CN">
                <a:solidFill>
                  <a:schemeClr val="hlink"/>
                </a:solidFill>
                <a:latin typeface="Arial"/>
                <a:cs typeface="Arial"/>
              </a:rPr>
              <a:t>r</a:t>
            </a:r>
            <a:endParaRPr lang="en-US" altLang="zh-CN">
              <a:solidFill>
                <a:schemeClr val="hlink"/>
              </a:solidFill>
              <a:latin typeface="Arial"/>
              <a:ea typeface="Verdana"/>
              <a:cs typeface="Arial"/>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p:txBody>
      </p:sp>
      <p:sp>
        <p:nvSpPr>
          <p:cNvPr id="551" name="Google Shape;551;p40"/>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64</a:t>
            </a:fld>
            <a:endParaRPr lang="zh-CN"/>
          </a:p>
        </p:txBody>
      </p:sp>
      <p:pic>
        <p:nvPicPr>
          <p:cNvPr id="2" name="Picture 1" descr="A qr code on a white background&#10;&#10;AI-generated content may be incorrect.">
            <a:extLst>
              <a:ext uri="{FF2B5EF4-FFF2-40B4-BE49-F238E27FC236}">
                <a16:creationId xmlns:a16="http://schemas.microsoft.com/office/drawing/2014/main" id="{ECCF4D22-A82B-106F-0982-3FBF6A5A1CFA}"/>
              </a:ext>
            </a:extLst>
          </p:cNvPr>
          <p:cNvPicPr>
            <a:picLocks noChangeAspect="1"/>
          </p:cNvPicPr>
          <p:nvPr/>
        </p:nvPicPr>
        <p:blipFill>
          <a:blip r:embed="rId3"/>
          <a:stretch>
            <a:fillRect/>
          </a:stretch>
        </p:blipFill>
        <p:spPr>
          <a:xfrm>
            <a:off x="3985461" y="2401302"/>
            <a:ext cx="4231105" cy="423110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g3d47a4565b8_28_31"/>
          <p:cNvSpPr txBox="1">
            <a:spLocks noGrp="1"/>
          </p:cNvSpPr>
          <p:nvPr>
            <p:ph type="title"/>
          </p:nvPr>
        </p:nvSpPr>
        <p:spPr>
          <a:xfrm>
            <a:off x="609600" y="351367"/>
            <a:ext cx="10972800" cy="800000"/>
          </a:xfrm>
          <a:prstGeom prst="rect">
            <a:avLst/>
          </a:prstGeom>
          <a:noFill/>
          <a:ln>
            <a:noFill/>
          </a:ln>
        </p:spPr>
        <p:txBody>
          <a:bodyPr spcFirstLastPara="1" vert="horz" wrap="square" lIns="91433" tIns="45700" rIns="91433" bIns="45700" rtlCol="0" anchor="b" anchorCtr="0">
            <a:noAutofit/>
          </a:bodyPr>
          <a:lstStyle/>
          <a:p>
            <a:pPr>
              <a:lnSpc>
                <a:spcPct val="100000"/>
              </a:lnSpc>
              <a:spcBef>
                <a:spcPts val="0"/>
              </a:spcBef>
              <a:buClr>
                <a:srgbClr val="262626"/>
              </a:buClr>
              <a:buSzPts val="1400"/>
            </a:pPr>
            <a:r>
              <a:rPr lang="zh-CN">
                <a:latin typeface="Arial"/>
                <a:cs typeface="Arial"/>
              </a:rPr>
              <a:t>Post-workshop Survey</a:t>
            </a:r>
            <a:endParaRPr lang="en-US" altLang="zh-CN">
              <a:latin typeface="Arial"/>
              <a:ea typeface="Verdana"/>
              <a:cs typeface="Arial"/>
            </a:endParaRPr>
          </a:p>
        </p:txBody>
      </p:sp>
      <p:sp>
        <p:nvSpPr>
          <p:cNvPr id="558" name="Google Shape;558;g3d47a4565b8_28_31"/>
          <p:cNvSpPr txBox="1">
            <a:spLocks noGrp="1"/>
          </p:cNvSpPr>
          <p:nvPr>
            <p:ph type="body" idx="1"/>
          </p:nvPr>
        </p:nvSpPr>
        <p:spPr>
          <a:xfrm>
            <a:off x="609600" y="1524000"/>
            <a:ext cx="10972800" cy="4648400"/>
          </a:xfrm>
          <a:prstGeom prst="rect">
            <a:avLst/>
          </a:prstGeom>
          <a:noFill/>
          <a:ln>
            <a:noFill/>
          </a:ln>
        </p:spPr>
        <p:txBody>
          <a:bodyPr spcFirstLastPara="1" vert="horz" wrap="square" lIns="91433" tIns="45700" rIns="91433" bIns="45700" rtlCol="0" anchor="t" anchorCtr="0">
            <a:normAutofit/>
          </a:bodyPr>
          <a:lstStyle/>
          <a:p>
            <a:pPr marL="456565" indent="-219710">
              <a:buNone/>
            </a:pPr>
            <a:r>
              <a:rPr lang="zh-CN">
                <a:solidFill>
                  <a:schemeClr val="hlink"/>
                </a:solidFill>
                <a:latin typeface="Arial"/>
                <a:cs typeface="Arial"/>
              </a:rPr>
              <a:t>https://docs.google.com/forms/d/e/1FAIpQLSf</a:t>
            </a:r>
            <a:r>
              <a:rPr lang="en-US" altLang="zh-CN">
                <a:solidFill>
                  <a:schemeClr val="hlink"/>
                </a:solidFill>
                <a:latin typeface="Arial"/>
                <a:ea typeface="Verdana"/>
                <a:cs typeface="Arial"/>
              </a:rPr>
              <a:t>rotfCdCaIj</a:t>
            </a:r>
            <a:r>
              <a:rPr lang="zh-CN">
                <a:solidFill>
                  <a:schemeClr val="hlink"/>
                </a:solidFill>
                <a:latin typeface="Arial"/>
                <a:cs typeface="Arial"/>
              </a:rPr>
              <a:t>IC</a:t>
            </a:r>
            <a:r>
              <a:rPr lang="en-US" altLang="zh-CN">
                <a:solidFill>
                  <a:schemeClr val="hlink"/>
                </a:solidFill>
                <a:latin typeface="Arial"/>
                <a:ea typeface="Verdana"/>
                <a:cs typeface="Arial"/>
              </a:rPr>
              <a:t>iHFlTzHjex</a:t>
            </a:r>
            <a:r>
              <a:rPr lang="zh-CN">
                <a:solidFill>
                  <a:schemeClr val="hlink"/>
                </a:solidFill>
                <a:latin typeface="Arial"/>
                <a:cs typeface="Arial"/>
              </a:rPr>
              <a:t>o</a:t>
            </a:r>
            <a:r>
              <a:rPr lang="en-US" altLang="zh-CN">
                <a:solidFill>
                  <a:schemeClr val="hlink"/>
                </a:solidFill>
                <a:latin typeface="Arial"/>
                <a:ea typeface="Verdana"/>
                <a:cs typeface="Arial"/>
              </a:rPr>
              <a:t>QxH4b</a:t>
            </a:r>
            <a:r>
              <a:rPr lang="zh-CN">
                <a:solidFill>
                  <a:schemeClr val="hlink"/>
                </a:solidFill>
                <a:latin typeface="Arial"/>
                <a:cs typeface="Arial"/>
              </a:rPr>
              <a:t>n</a:t>
            </a:r>
            <a:r>
              <a:rPr lang="en-US" altLang="zh-CN">
                <a:solidFill>
                  <a:schemeClr val="hlink"/>
                </a:solidFill>
                <a:latin typeface="Arial"/>
                <a:ea typeface="Verdana"/>
                <a:cs typeface="Arial"/>
              </a:rPr>
              <a:t>-i29vLcx6rs</a:t>
            </a:r>
            <a:r>
              <a:rPr lang="zh-CN">
                <a:solidFill>
                  <a:schemeClr val="hlink"/>
                </a:solidFill>
                <a:latin typeface="Arial"/>
                <a:cs typeface="Arial"/>
              </a:rPr>
              <a:t>cp</a:t>
            </a:r>
            <a:r>
              <a:rPr lang="en-US" altLang="zh-CN">
                <a:solidFill>
                  <a:schemeClr val="hlink"/>
                </a:solidFill>
                <a:latin typeface="Arial"/>
                <a:ea typeface="Verdana"/>
                <a:cs typeface="Arial"/>
              </a:rPr>
              <a:t>DbTsw</a:t>
            </a:r>
            <a:r>
              <a:rPr lang="zh-CN">
                <a:solidFill>
                  <a:schemeClr val="hlink"/>
                </a:solidFill>
                <a:latin typeface="Arial"/>
                <a:cs typeface="Arial"/>
              </a:rPr>
              <a:t>/viewform</a:t>
            </a:r>
            <a:r>
              <a:rPr lang="en-US" altLang="zh-CN">
                <a:solidFill>
                  <a:schemeClr val="hlink"/>
                </a:solidFill>
                <a:latin typeface="Arial"/>
                <a:ea typeface="Verdana"/>
                <a:cs typeface="Arial"/>
              </a:rPr>
              <a:t>?usp=header</a:t>
            </a:r>
            <a:endParaRPr lang="en-US" altLang="zh-CN">
              <a:solidFill>
                <a:schemeClr val="hlink"/>
              </a:solidFill>
              <a:ea typeface="Verdana"/>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a:p>
            <a:pPr marL="457189" indent="-220128">
              <a:buSzPts val="1400"/>
              <a:buNone/>
            </a:pPr>
            <a:endParaRPr lang="zh-CN" u="sng">
              <a:solidFill>
                <a:schemeClr val="hlink"/>
              </a:solidFill>
            </a:endParaRPr>
          </a:p>
        </p:txBody>
      </p:sp>
      <p:sp>
        <p:nvSpPr>
          <p:cNvPr id="559" name="Google Shape;559;g3d47a4565b8_28_31"/>
          <p:cNvSpPr txBox="1">
            <a:spLocks noGrp="1"/>
          </p:cNvSpPr>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a:buSzPts val="900"/>
            </a:pPr>
            <a:fld id="{00000000-1234-1234-1234-123412341234}" type="slidenum">
              <a:rPr lang="en-US" altLang="zh-CN" smtClean="0"/>
              <a:pPr>
                <a:buSzPts val="900"/>
              </a:pPr>
              <a:t>65</a:t>
            </a:fld>
            <a:endParaRPr lang="zh-CN"/>
          </a:p>
        </p:txBody>
      </p:sp>
      <p:pic>
        <p:nvPicPr>
          <p:cNvPr id="2" name="Picture 1" descr="A qr code on a white background&#10;&#10;AI-generated content may be incorrect.">
            <a:extLst>
              <a:ext uri="{FF2B5EF4-FFF2-40B4-BE49-F238E27FC236}">
                <a16:creationId xmlns:a16="http://schemas.microsoft.com/office/drawing/2014/main" id="{5EEF70EF-E154-7C65-7D5F-9FD1D22305AA}"/>
              </a:ext>
            </a:extLst>
          </p:cNvPr>
          <p:cNvPicPr>
            <a:picLocks noChangeAspect="1"/>
          </p:cNvPicPr>
          <p:nvPr/>
        </p:nvPicPr>
        <p:blipFill>
          <a:blip r:embed="rId3"/>
          <a:stretch>
            <a:fillRect/>
          </a:stretch>
        </p:blipFill>
        <p:spPr>
          <a:xfrm>
            <a:off x="4117452" y="2656149"/>
            <a:ext cx="3966741" cy="400532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1"/>
          <p:cNvSpPr txBox="1"/>
          <p:nvPr/>
        </p:nvSpPr>
        <p:spPr>
          <a:xfrm>
            <a:off x="609600" y="2523267"/>
            <a:ext cx="10972000" cy="990800"/>
          </a:xfrm>
          <a:prstGeom prst="rect">
            <a:avLst/>
          </a:prstGeom>
          <a:noFill/>
          <a:ln>
            <a:noFill/>
          </a:ln>
        </p:spPr>
        <p:txBody>
          <a:bodyPr spcFirstLastPara="1" wrap="square" lIns="91433" tIns="45700" rIns="91433" bIns="45700" anchor="b" anchorCtr="0">
            <a:noAutofit/>
          </a:bodyPr>
          <a:lstStyle/>
          <a:p>
            <a:pPr algn="ctr">
              <a:buClr>
                <a:schemeClr val="lt1"/>
              </a:buClr>
              <a:buSzPts val="3000"/>
            </a:pPr>
            <a:r>
              <a:rPr lang="en-US" altLang="zh-CN" sz="4000" b="1">
                <a:solidFill>
                  <a:schemeClr val="lt1"/>
                </a:solidFill>
                <a:latin typeface="Verdana" panose="020B0804030504040204"/>
                <a:ea typeface="Verdana" panose="020B0804030504040204"/>
                <a:cs typeface="Verdana" panose="020B0804030504040204"/>
                <a:sym typeface="Verdana" panose="020B0804030504040204"/>
              </a:rPr>
              <a:t>Thanks</a:t>
            </a:r>
            <a:endParaRPr sz="4000" b="1">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567" name="Google Shape;567;p41"/>
          <p:cNvSpPr txBox="1">
            <a:spLocks noGrp="1"/>
          </p:cNvSpPr>
          <p:nvPr>
            <p:ph type="subTitle" idx="1"/>
          </p:nvPr>
        </p:nvSpPr>
        <p:spPr>
          <a:xfrm>
            <a:off x="723900" y="3766833"/>
            <a:ext cx="10857600" cy="2121600"/>
          </a:xfrm>
          <a:prstGeom prst="rect">
            <a:avLst/>
          </a:prstGeom>
          <a:noFill/>
          <a:ln>
            <a:noFill/>
          </a:ln>
        </p:spPr>
        <p:txBody>
          <a:bodyPr spcFirstLastPara="1" vert="horz" wrap="square" lIns="91433" tIns="45700" rIns="91433" bIns="45700" rtlCol="0" anchor="t" anchorCtr="0">
            <a:normAutofit/>
          </a:bodyPr>
          <a:lstStyle/>
          <a:p>
            <a:pPr marL="0" indent="0" algn="ctr">
              <a:spcBef>
                <a:spcPts val="0"/>
              </a:spcBef>
            </a:pPr>
            <a:r>
              <a:rPr lang="zh-CN"/>
              <a:t>Q&amp;A</a:t>
            </a: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5e1d76e6ed25a0b9acc172e1212e12c5ea2ecb"/>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PI-White">
  <a:themeElements>
    <a:clrScheme name="Custom 56">
      <a:dk1>
        <a:sysClr val="windowText" lastClr="000000"/>
      </a:dk1>
      <a:lt1>
        <a:sysClr val="window" lastClr="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solidFill>
        <a:ln w="12700" cap="sq" algn="ctr">
          <a:solidFill>
            <a:schemeClr val="tx2"/>
          </a:solidFill>
          <a:miter lim="800000"/>
          <a:headEnd/>
          <a:tailEnd/>
        </a:ln>
        <a:effectLst/>
      </a:spPr>
      <a:bodyPr wrap="none" anchor="ctr"/>
      <a:lstStyle>
        <a:defPPr algn="ctr">
          <a:defRPr sz="1600" dirty="0" smtClean="0">
            <a:solidFill>
              <a:schemeClr val="bg1"/>
            </a:solidFill>
            <a:latin typeface="+mn-lt"/>
          </a:defRPr>
        </a:defPPr>
      </a:lstStyle>
    </a:spDef>
    <a:txDef>
      <a:spPr>
        <a:noFill/>
      </a:spPr>
      <a:bodyPr wrap="none" rtlCol="0">
        <a:noAutofit/>
      </a:bodyPr>
      <a:lstStyle>
        <a:defPPr algn="ctr">
          <a:defRPr sz="1600" dirty="0" err="1" smtClean="0"/>
        </a:defPPr>
      </a:lstStyle>
    </a:txDef>
  </a:objectDefaults>
  <a:extraClrSchemeLst/>
  <a:extLst>
    <a:ext uri="{05A4C25C-085E-4340-85A3-A5531E510DB2}">
      <thm15:themeFamily xmlns:thm15="http://schemas.microsoft.com/office/thememl/2012/main" name="WPI_University_Powerpointtemplate_wide" id="{9C2DA543-CD7E-4A5E-AD34-4D91D35A4DE4}" vid="{C6AD18C4-18DF-4131-AC4D-F1EFF5ED71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activity xmlns="89109569-b313-4813-9251-9ebeeed394c0"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D8C0C22F0C46E4FB5B352D9A75F72C0" ma:contentTypeVersion="13" ma:contentTypeDescription="Create a new document." ma:contentTypeScope="" ma:versionID="f482ec9f03f7346335c253fc5938d933">
  <xsd:schema xmlns:xsd="http://www.w3.org/2001/XMLSchema" xmlns:xs="http://www.w3.org/2001/XMLSchema" xmlns:p="http://schemas.microsoft.com/office/2006/metadata/properties" xmlns:ns1="http://schemas.microsoft.com/sharepoint/v3" xmlns:ns3="89109569-b313-4813-9251-9ebeeed394c0" targetNamespace="http://schemas.microsoft.com/office/2006/metadata/properties" ma:root="true" ma:fieldsID="7e55c92a742f8996d7eace66cca37d60" ns1:_="" ns3:_="">
    <xsd:import namespace="http://schemas.microsoft.com/sharepoint/v3"/>
    <xsd:import namespace="89109569-b313-4813-9251-9ebeeed394c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1:_ip_UnifiedCompliancePolicyProperties" minOccurs="0"/>
                <xsd:element ref="ns1:_ip_UnifiedCompliancePolicyUIAction" minOccurs="0"/>
                <xsd:element ref="ns3:MediaServiceBillingMetadata"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109569-b313-4813-9251-9ebeeed394c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9EB7FC-95F3-4804-8E99-D015D4EF7B8D}">
  <ds:schemaRefs>
    <ds:schemaRef ds:uri="89109569-b313-4813-9251-9ebeeed394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400579A-431B-43D5-AD82-6042BB80B12D}">
  <ds:schemaRefs>
    <ds:schemaRef ds:uri="http://schemas.microsoft.com/sharepoint/v3/contenttype/forms"/>
  </ds:schemaRefs>
</ds:datastoreItem>
</file>

<file path=customXml/itemProps3.xml><?xml version="1.0" encoding="utf-8"?>
<ds:datastoreItem xmlns:ds="http://schemas.openxmlformats.org/officeDocument/2006/customXml" ds:itemID="{89C952B8-5824-4933-879F-F7BB055BE3AC}">
  <ds:schemaRefs>
    <ds:schemaRef ds:uri="89109569-b313-4813-9251-9ebeeed394c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66</Slides>
  <Notes>15</Notes>
  <HiddenSlides>0</HiddenSlide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WPI-White</vt:lpstr>
      <vt:lpstr>     NAIRR Workshop Series on Cybersecurity, Edge AI, and Autonomous Driving  </vt:lpstr>
      <vt:lpstr>CARE-AI Team</vt:lpstr>
      <vt:lpstr>LIONS Group</vt:lpstr>
      <vt:lpstr>JupyterHub NAIRR Instructions</vt:lpstr>
      <vt:lpstr>JupyterHub </vt:lpstr>
      <vt:lpstr>Account Creation</vt:lpstr>
      <vt:lpstr>Lab Environments</vt:lpstr>
      <vt:lpstr>Starting a Server</vt:lpstr>
      <vt:lpstr>Starting a Sever</vt:lpstr>
      <vt:lpstr>Accessing our lab materials</vt:lpstr>
      <vt:lpstr>PowerPoint Presentation</vt:lpstr>
      <vt:lpstr>PowerPoint Presentation</vt:lpstr>
      <vt:lpstr>NAIRR 2.2 Workshop, Secure AI Development Using NAIRR</vt:lpstr>
      <vt:lpstr>Pre-workshop Quiz</vt:lpstr>
      <vt:lpstr>Adversarial Attacks Adversarial Training Adversarial Defense</vt:lpstr>
      <vt:lpstr>Adversarial Attacks​</vt:lpstr>
      <vt:lpstr>Adversarial Attacks​</vt:lpstr>
      <vt:lpstr>Adversarial Attacks Example</vt:lpstr>
      <vt:lpstr>Adversarial Attacks Example</vt:lpstr>
      <vt:lpstr>Adversarial Attacks Example</vt:lpstr>
      <vt:lpstr>Adversarial Attacks​</vt:lpstr>
      <vt:lpstr>Adversarial Attacks Lab</vt:lpstr>
      <vt:lpstr>Adversarial Training and Defense​</vt:lpstr>
      <vt:lpstr>Adversarial Training and Defense STL-10 Example</vt:lpstr>
      <vt:lpstr>Adversarial Training and Defense​</vt:lpstr>
      <vt:lpstr>Adversarial Training and Defense​</vt:lpstr>
      <vt:lpstr>Adversarial Training and Defense Lab​</vt:lpstr>
      <vt:lpstr>Training and Defense Results</vt:lpstr>
      <vt:lpstr>Model Inversion Differential Privacy</vt:lpstr>
      <vt:lpstr>The Privacy Problem in ML</vt:lpstr>
      <vt:lpstr>Model Inversion Attacks</vt:lpstr>
      <vt:lpstr>Model Inversion Examples</vt:lpstr>
      <vt:lpstr>Differential Privacy</vt:lpstr>
      <vt:lpstr>Understanding Differential Privacy</vt:lpstr>
      <vt:lpstr>Privacy-Utility Tradeoff</vt:lpstr>
      <vt:lpstr>Real World Applications of DP</vt:lpstr>
      <vt:lpstr>Hands-on Lab</vt:lpstr>
      <vt:lpstr>Load the Dataset</vt:lpstr>
      <vt:lpstr>Train a Model</vt:lpstr>
      <vt:lpstr>Model Inversion</vt:lpstr>
      <vt:lpstr>Differential Privacy</vt:lpstr>
      <vt:lpstr>Adjusting Epsilon</vt:lpstr>
      <vt:lpstr> Watermarking</vt:lpstr>
      <vt:lpstr>Workshop Overview</vt:lpstr>
      <vt:lpstr>Types of Watermarking</vt:lpstr>
      <vt:lpstr>PowerPoint Presentation</vt:lpstr>
      <vt:lpstr>Image Watermarking</vt:lpstr>
      <vt:lpstr>Types of Invisible Image Watermarking</vt:lpstr>
      <vt:lpstr>DWT-DCT: Classical Frequency-Domain Watermarking</vt:lpstr>
      <vt:lpstr>RivaGAN: Neural Network Watermarking</vt:lpstr>
      <vt:lpstr>RivaGAN: Neural Network Watermarking</vt:lpstr>
      <vt:lpstr>Hands-on Project Result</vt:lpstr>
      <vt:lpstr>PowerPoint Presentation</vt:lpstr>
      <vt:lpstr>LLM Text Watermarking</vt:lpstr>
      <vt:lpstr>KGW Watermark</vt:lpstr>
      <vt:lpstr>How to detect the LLM Watermarking</vt:lpstr>
      <vt:lpstr>How to break the LLM Watermarking</vt:lpstr>
      <vt:lpstr>Example for paraphrasing</vt:lpstr>
      <vt:lpstr>PowerPoint Presentation</vt:lpstr>
      <vt:lpstr>Model Ownership Question</vt:lpstr>
      <vt:lpstr>Model Ownership via Backdoor Watermarking</vt:lpstr>
      <vt:lpstr>Example for successful trigger</vt:lpstr>
      <vt:lpstr>Verifying the Backdoor</vt:lpstr>
      <vt:lpstr>Post-workshop Quiz</vt:lpstr>
      <vt:lpstr>Post-workshop Survey</vt:lpstr>
      <vt:lpstr>PowerPoint Presentation</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This Will Work</dc:title>
  <dc:creator>Siegel, Kyle</dc:creator>
  <cp:revision>4</cp:revision>
  <cp:lastPrinted>2023-02-14T12:46:00Z</cp:lastPrinted>
  <dcterms:created xsi:type="dcterms:W3CDTF">2023-02-08T18:44:35Z</dcterms:created>
  <dcterms:modified xsi:type="dcterms:W3CDTF">2026-04-18T18:13:02Z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0x0101008D8C0C22F0C46E4FB5B352D9A75F72C0</vt:lpwstr>
  </property>
</Properties>
</file>